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7A7CD1C1-8639-4775-9145-4B559E5D9A8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G-TORA: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차량 그래프에서 오프로딩을 예측하는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GNN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발표는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G-TORA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차량 네트워크의 오프로딩을 어떻게 그래프 문제로 바꾸는지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핵심은 학습 단계와 운용 단계를 분리하는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유전 알고리즘이 먼저 오프로딩 라벨을 만들고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GNN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그 라벨을 지도학습으로 배웁니다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기지국에서 현재 차량 그래프를 받아 결정을 예측합니다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iet-doi | p. 1, title and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 Communications 2025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https://doi.org/10.1049/cmu2.70064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1FC4489-CD0A-4FCD-AE81-D8E74613416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차량 수와 연결이 계속 달라진다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한 기지국이 한 방향 도로를 덮고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차량 수와 링크가 시간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변하는 상황을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task vehicle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계산을 요청하고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service vehicle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유휴 자원을 제공합니다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고정 차원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이 가변 입력을 처리하기 어렵고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부족한 자리는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채우거나 범위를 넘는 차량을 따로 다루게 된다고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iet-doi | pp. 2–4, §§1 and 3.1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 Communications 2025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https://doi.org/10.1049/cmu2.70064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1CAFCD8-39A5-4AD4-8BA5-E4D96D9CAE7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차량 오프로딩 구조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그림은 논문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§3.1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편집 가능한 개념도로 옮긴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차량이 기지국 범위에 들어오면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상태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위치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 능력을 전송하고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기지국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오프로딩을 결정합니다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vehicle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실행하거나 하나 이상의 가까운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service vehicle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후보와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V2V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링크를 통해 오프로딩할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cloud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경로를 실제 시스템 모델에 넣지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iet-doi | p. 4, Fig. 1 and §3.1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 Communications 2025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https://doi.org/10.1049/cmu2.70064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10CF497-0D9F-4D7A-AAE3-A459E079B37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그래프의 정점과 엣지는 무엇을 뜻하는가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차량 네트워크를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G_t=(V_t,E_t)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service vehicle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모두 정점입니다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정점은 입력 데이터 크기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계산 요구량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service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정점은 계산 능력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f_j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엣지는 통신 링크이며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transmission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갖습니다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기지국이 수집한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 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상태가 이 그래프를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iet-doi | pp. 4, 7, §§3.1 and 4.3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 Communications 2025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https://doi.org/10.1049/cmu2.70064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660455F-4CCA-4A9E-BCC7-DBC8A01C6BD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local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지연 구성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c_i/f_i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Eq.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V2V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transmission delay d_i/R_i,j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Eq.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service vehicle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배정한 주파수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f_i,j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compute delay c_i/f_i,j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결과 데이터가 입력보다 훨씬 작다고 가정해 반환 지연을 무시합니다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가정은 결과가 큰 작업에는 바로 적용할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iet-doi | pp. 4–5, Eqs. 1–4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 Communications 2025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https://doi.org/10.1049/cmu2.70064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C4BD886-0967-4E92-88B2-B4C2B1F219F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목표와 두 제약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경로 선택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service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용량 준수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걸친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response delay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합을 최소화합니다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service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선택을 정확히 하나만 갖게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service vehicle 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들에게 배정한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compute capacity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합이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f_j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넘지 못하게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선택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indicator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임을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이 조합적 선택과 연속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resource allocation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때문에 문제를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NP-hard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iet-doi | p. 5, Eqs. 5–7 and C1–C3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 Communications 2025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https://doi.org/10.1049/cmu2.70064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6D66901-5F52-4CC9-958B-9AACBF620FD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고정된 선택 뒤의 자원 배분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구분은 과장 방지에 중요합니다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p.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본문은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x_i,j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결정되면 원 문제가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convex optimization problem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단순화된다고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이어지는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GNN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절은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prediction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설명할 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고정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 allocation solver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해를 전개하지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이 발표는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직접 출력이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 decision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이라고만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iet-doi | p. 5, §3.4 after Eq. 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 Communications 2025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https://doi.org/10.1049/cmu2.70064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C41CE4F-0D86-4517-96CE-E5A010B85BE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가변 차량 수에서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쓰는 이유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비교는 논문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정의와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동기에서 나옵니다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MLP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고정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input/output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차원을 가정하므로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차량이 적을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채우고 많을 때 초과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vehicle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가변 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처리하도록 사용됩니다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이것은 임의로 큰 네트워크에서의 성능 보장이나 복잡도 정리를 뜻하지는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iet-doi | pp. 2, 7, 9, §§1, 4.3, 5.2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 Communications 2025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https://doi.org/10.1049/cmu2.70064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6618F1C-9A20-4628-A1E8-60487E477FB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G-TORA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라벨 생성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추론 흐름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§4.1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세 단계로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preparation, offline training, online inference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data preparation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instance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 decision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offline 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이용해 지도학습합니다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마지막으로 저장된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 station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배치해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vehicle network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예측합니다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iet-doi | pp. 5–6, Fig. 2 and §4.1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 Communications 2025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https://doi.org/10.1049/cmu2.70064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68332F4-5CF3-4594-86B2-7E890F4D3CA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GA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오프로딩 라벨을 어떻게 만드는가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population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시작해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chromosome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total response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계산하고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roulette-wheel selection, crossover probability P_c, mutation probability P_m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적용합니다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exhaustive search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많은 조합을 검사해야 하므로 다항 시간에 풀기 어렵다고 설명하고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approximate solution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위한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heuristic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이 결과를 최적 해라고 부르지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iet-doi | pp. 6–7, §4.2 and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 Communications 2025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https://doi.org/10.1049/cmu2.70064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3046609-FEA1-43D6-9963-46DDDE596CB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GA fitness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식에는 재현상 빈틈이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fitness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response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inversely proportional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 7 Algorithm 1 line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Eval(Q^k)=beta(1-beta)^(k-1)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형 식을 적고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Eq.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가는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정의하지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슬라이드는 논문의 오류를 단정하는 것이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재현 시 추가 명세가 필요하다는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source-grounded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iet-doi | pp. 6–7, §4.2 and Algorithm 1 line 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 Communications 2025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https://doi.org/10.1049/cmu2.70064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3D87599-738F-439A-B7DC-4232BC379F2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GNN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node feature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link feature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c_i, computing 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f_j,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transmission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둔다고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p. 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computational capability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demand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 feature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[0,1] min-max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real-time SNR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동적으로 조절한다고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task, service, channel raw feature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GNN 2 layers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들어가는 그림입니다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iet-doi | pp. 7–8, Fig. 3 and §4.3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 Communications 2025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https://doi.org/10.1049/cmu2.70064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D242CC4-4D09-4884-AFE1-7E4FBC6BCC0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GNN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이웃 정보 집계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인접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hidden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aggregate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message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Eq.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 feature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attention-weighted message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concatenate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learned transformation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적용합니다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Eq.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normalized attention alpha_i,j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second-order neighborhood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정보를 모으기 위해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GNN layer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그림은 논문이 명시한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adjacent-node aggregation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넘어 임의의 물리적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message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방향을 만들지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iet-doi | pp. 7–8, Eqs. 8–10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 Communications 2025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https://doi.org/10.1049/cmu2.70064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0051BCF-CE95-4334-BD4F-20CBB08EF6C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edge embedding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 decision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GNN layer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vehicle embedding, service vehicle embedding, link hidden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MLP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Eq. 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 feature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feature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결합해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x_i,j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MLP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추론한다고 적습니다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본문은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vehicle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service vehicle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classify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결정한다고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이것은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하나만 독립 분류하는 구조로 설명하면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iet-doi | pp. 7–8, Fig. 3 and Eq. 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 Communications 2025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https://doi.org/10.1049/cmu2.70064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B624069-DE05-4F3B-B8E1-B3060952932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지도학습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loop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raw vehicle information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nodes, edges, attributes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graph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바꾸고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batch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 forward, attention aggregation, offloading output, GA 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comparison, cross-entropy loss, backpropagation, Adam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반복합니다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종료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trained GNN 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 station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저장합니다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이 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GA-supervised cross-entropy 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iet-doi | p. 8, Algorithm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 Communications 2025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https://doi.org/10.1049/cmu2.70064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FCC5868-91D7-4DFE-8AA5-A3B1C3B7F1B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가상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trace: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경로 비교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이것은 설명용으로 새로 만든 숫자이며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결과나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GNN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출력이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d=10 MB, c=10^9 cycles, local f_i=1 GHz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1.00 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관측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 MB/s, service allocation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 GHz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가정하면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0.10+0.25=0.35 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반환 지연은 논문의 가정대로 넣지 않았습니다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capacity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선택도 만족해야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iet-doi | pp. 4–5, Eqs. 2–4 and C1–C2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 Communications 2025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https://doi.org/10.1049/cmu2.70064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26017B8-689D-4C1D-AB07-F9C0E821E0F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시뮬레이션 입력과 학습 설정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data, cycles, capacity, transmit power, bandwidth, distance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옮겼습니다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noise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 dBm/Hz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인쇄되어 있어 여기서는 부호를 임의로 고치지 않았습니다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p.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convolution layers, node embedding 256, MLP hidden 128, 3000 epochs, Adam initial learning rate 10^-3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hardware/software environment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field deployment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조건을 주장하지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iet-doi | pp. 8–9, Table 1 and §5.1.2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 Communications 2025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https://doi.org/10.1049/cmu2.70064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9B72655-33E2-4618-9C6F-A3D6B6F9D94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 대상이 측정하는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trade-off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§5.2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GA, hill climbing CH, fixed-dimension MLP, online multi-armed bandit OMAB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특히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MLP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차량 수가 입력 차원보다 많으면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extra task vehicle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computation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적으면 남은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dimension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채웁니다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이후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proposed method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줄여 부릅니다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iet-doi | p. 9, §5.2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 Communications 2025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https://doi.org/10.1049/cmu2.70064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EF2B6B2-897D-4296-A9DA-39EDC237D57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task vehicle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늘린 비교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§5.3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service vehicle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고정하고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vehicle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p.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 task vehicle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GNN processing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17%, 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1%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높지만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MLP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26%, OMAB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41%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낮다고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GNN inference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0.03 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작지만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OMAB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MLP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더 낮습니다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total delay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결과를 각각의 부분 지연 최저와 혼동하면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iet-doi | pp. 9–10, Figs. 4–7 and §5.3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 Communications 2025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https://doi.org/10.1049/cmu2.70064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E2BD910-9B5B-4D00-A42E-FBAA208B66F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transmit power sweep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결과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§5.4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Figs. 8–10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transmit 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0.5 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변화시킵니다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p.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processing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endpoints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방법별로 보고하며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p. 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problem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일정하므로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inference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따라 상대적으로 변하지 않는다고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GNN total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1.135 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0.780 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낮아졌다고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결과는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 sweep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iet-doi | pp. 10–11, Figs. 8–10 and §5.4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 Communications 2025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https://doi.org/10.1049/cmu2.70064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9EFF9DD-D8B6-4348-90F3-5564FED599F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service compute capacity sweep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§5.5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service vehicle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computing capacity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 GHz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 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processing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capacity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증가와 함께 낮아지는 모양을 보여 주고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Fig. 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GNN total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0.923 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0.817 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내려간다고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inference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total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더 크게 영향을 주어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변화가 작다고 해석합니다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iet-doi | pp. 11–12, Figs. 11–12 and §5.5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 Communications 2025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https://doi.org/10.1049/cmu2.70064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C16E021-B2A4-4F9D-8941-658817BDF89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성립하는 범위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Abstract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variable-sized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dynamic topology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적합하다고 주장합니다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하지만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§5.3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node-count experiment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vehicle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service vehicle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논문에는 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정리나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distribution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밖의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generalization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측정이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발표에서는 이 조건부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evidence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일반 설계 동기를 분리합니다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iet-doi | pp. 1, 7, 9–10, Abstract, §4.3, §5.3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 Communications 2025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https://doi.org/10.1049/cmu2.70064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0D4E9DE-304D-4A36-BC35-ABC44B6E57E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논문이 직접 밝힌 적용 한계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Conclusion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GA-generated labels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large volumes of network topology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의존하는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부담을 첫 한계로 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둘째로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 slot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static communication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가정해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 mobility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fast-changing connectivity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완전히 표현하지 못한다고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QoS deadlines, reliability, sub-task dependencies, multi-hop transmission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현재 구현 범위가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future 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나열됩니다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Availability Statement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공유되지 않는다고 적습니다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iet-doi | p. 12, §6 and Data Availability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 Communications 2025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https://doi.org/10.1049/cmu2.70064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FFF1EA9-5B59-488F-B55E-91C77AA95D3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G-TORA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한 문장씩 다시 연결하기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마지막으로 다섯 층을 분리해 기억하면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시스템은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task/service vehicle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V2V 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response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offline teacher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만들며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GNN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two-layer neighbor aggregation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edge-level decision prediction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배웁니다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결과는 명시된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 envelope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 읽고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GA label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명세와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static slot 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한계를 함께 보아야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iet-doi | pp. 4–12, §§3–6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IET Communications 2025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https://doi.org/10.1049/cmu2.70064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0703736-5A50-465B-8E03-8514614D455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G-TORA: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차량 그래프에서 오프로딩을 예측하는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GNN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 Neural Network-Based Task Offloading and Resource Allocation for Scalable Vehicular Networks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Menghan Shao · Rongqing Zhang · Liuqing Yang (2025)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가변 차량 수와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V2V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링크를 그래프로 입력해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GA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라벨을 모사하는 지도학습 모델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iet-doi p. 1, title and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문제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차량 수와 연결이 계속 달라진다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기지국 범위 안에서도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vehicle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service vehicle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수가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slot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마다 바뀐다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838080" y="2171880"/>
            <a:ext cx="1069308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차량은 들어오고 나가며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가까운 차량과의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V2V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링크도 달라진다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3"/>
          <p:cNvSpPr/>
          <p:nvPr/>
        </p:nvSpPr>
        <p:spPr>
          <a:xfrm>
            <a:off x="838080" y="317484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4"/>
          <p:cNvSpPr/>
          <p:nvPr/>
        </p:nvSpPr>
        <p:spPr>
          <a:xfrm>
            <a:off x="838080" y="3213000"/>
            <a:ext cx="1069308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vehicle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계산이 부족할 수 있고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service vehicle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유휴 계산 자원을 제공한다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838080" y="4216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6"/>
          <p:cNvSpPr/>
          <p:nvPr/>
        </p:nvSpPr>
        <p:spPr>
          <a:xfrm>
            <a:off x="838080" y="4254480"/>
            <a:ext cx="1069308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고정 길이 벡터를 쓰는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MLP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차량 수가 바뀌면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padding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별도 처리가 필요하다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7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" name="Text 8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입력의 핵심은 차량 목록만이 아니라 현재의 연결 구조다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9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" name="Text 10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iet-doi pp. 2–4, §§1 and 3.1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1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slot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차량 오프로딩 구조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기지국은 정보를 모으고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task vehicle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또는 가까운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service vehicle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선택한다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mechanism-lane-control"/>
          <p:cNvSpPr/>
          <p:nvPr/>
        </p:nvSpPr>
        <p:spPr>
          <a:xfrm>
            <a:off x="660240" y="22096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control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mechanism-lane-execution"/>
          <p:cNvSpPr/>
          <p:nvPr/>
        </p:nvSpPr>
        <p:spPr>
          <a:xfrm>
            <a:off x="660240" y="37720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execution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mechanism-edge-s1-segment-1"/>
          <p:cNvSpPr/>
          <p:nvPr/>
        </p:nvSpPr>
        <p:spPr>
          <a:xfrm>
            <a:off x="3809880" y="29905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" name="mechanism-edge-s1-label"/>
          <p:cNvSpPr/>
          <p:nvPr/>
        </p:nvSpPr>
        <p:spPr>
          <a:xfrm>
            <a:off x="3517920" y="234936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 entry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mechanism-edge-s2-segment-1"/>
          <p:cNvSpPr/>
          <p:nvPr/>
        </p:nvSpPr>
        <p:spPr>
          <a:xfrm>
            <a:off x="6362640" y="2990520"/>
            <a:ext cx="160920" cy="36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" name="mechanism-edge-s2-segment-2"/>
          <p:cNvSpPr/>
          <p:nvPr/>
        </p:nvSpPr>
        <p:spPr>
          <a:xfrm>
            <a:off x="6523560" y="2990520"/>
            <a:ext cx="360" cy="135900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" name="mechanism-edge-s2-segment-3"/>
          <p:cNvSpPr/>
          <p:nvPr/>
        </p:nvSpPr>
        <p:spPr>
          <a:xfrm>
            <a:off x="6523560" y="4349520"/>
            <a:ext cx="321480" cy="36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" name="mechanism-edge-s2-label"/>
          <p:cNvSpPr/>
          <p:nvPr/>
        </p:nvSpPr>
        <p:spPr>
          <a:xfrm>
            <a:off x="6070680" y="243216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decision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mechanism-edge-s3-segment-1"/>
          <p:cNvSpPr/>
          <p:nvPr/>
        </p:nvSpPr>
        <p:spPr>
          <a:xfrm>
            <a:off x="6362640" y="4552920"/>
            <a:ext cx="3214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" name="mechanism-edge-s3-segment-2"/>
          <p:cNvSpPr/>
          <p:nvPr/>
        </p:nvSpPr>
        <p:spPr>
          <a:xfrm>
            <a:off x="6684120" y="4552920"/>
            <a:ext cx="360" cy="2030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mechanism-edge-s3-segment-3"/>
          <p:cNvSpPr/>
          <p:nvPr/>
        </p:nvSpPr>
        <p:spPr>
          <a:xfrm>
            <a:off x="6684120" y="475596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" name="mechanism-edge-s4-segment-1"/>
          <p:cNvSpPr/>
          <p:nvPr/>
        </p:nvSpPr>
        <p:spPr>
          <a:xfrm>
            <a:off x="8915400" y="45529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" name="mechanism-edge-s4-label"/>
          <p:cNvSpPr/>
          <p:nvPr/>
        </p:nvSpPr>
        <p:spPr>
          <a:xfrm>
            <a:off x="8623440" y="399420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V2V when chosen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mechanism-node-state"/>
          <p:cNvSpPr/>
          <p:nvPr/>
        </p:nvSpPr>
        <p:spPr>
          <a:xfrm>
            <a:off x="1739880" y="2577960"/>
            <a:ext cx="206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vehicle state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mechanism-node-state-queue-1"/>
          <p:cNvSpPr/>
          <p:nvPr/>
        </p:nvSpPr>
        <p:spPr>
          <a:xfrm>
            <a:off x="1739880" y="283212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state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mechanism-node-state-queue-2"/>
          <p:cNvSpPr/>
          <p:nvPr/>
        </p:nvSpPr>
        <p:spPr>
          <a:xfrm>
            <a:off x="1739880" y="302256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position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mechanism-node-state-queue-3"/>
          <p:cNvSpPr/>
          <p:nvPr/>
        </p:nvSpPr>
        <p:spPr>
          <a:xfrm>
            <a:off x="1739880" y="321300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compute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mechanism-node-bs"/>
          <p:cNvSpPr/>
          <p:nvPr/>
        </p:nvSpPr>
        <p:spPr>
          <a:xfrm>
            <a:off x="4292640" y="26607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base station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collect state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make decision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mechanism-node-task"/>
          <p:cNvSpPr/>
          <p:nvPr/>
        </p:nvSpPr>
        <p:spPr>
          <a:xfrm>
            <a:off x="4292640" y="4235400"/>
            <a:ext cx="206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vehicle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mechanism-node-task-queue-1"/>
          <p:cNvSpPr/>
          <p:nvPr/>
        </p:nvSpPr>
        <p:spPr>
          <a:xfrm>
            <a:off x="4292640" y="448956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input d_i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mechanism-node-task-queue-2"/>
          <p:cNvSpPr/>
          <p:nvPr/>
        </p:nvSpPr>
        <p:spPr>
          <a:xfrm>
            <a:off x="4292640" y="468000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cycles c_i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mechanism-node-choice"/>
          <p:cNvSpPr/>
          <p:nvPr/>
        </p:nvSpPr>
        <p:spPr>
          <a:xfrm>
            <a:off x="6845400" y="42228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offload choice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or V2V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service vehicle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mechanism-node-service"/>
          <p:cNvSpPr/>
          <p:nvPr/>
        </p:nvSpPr>
        <p:spPr>
          <a:xfrm>
            <a:off x="9398160" y="42228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service vehicle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allocated CPU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f_i,j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25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" name="Text 26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기지국이 결정하지만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 경로는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task-to-service V2V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2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9" name="Text 2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iet-doi p. 4, Fig. 1 and §3.1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2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그래프의 정점과 엣지는 무엇을 뜻하는가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정점은 차량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엣지는 차량 간 통신 링크이며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feature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역할에 따라 다르다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mechanism-lane-graph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graph G_t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mechanism-edge-g1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5" name="mechanism-edge-g2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6" name="mechanism-edge-g2-label"/>
          <p:cNvSpPr/>
          <p:nvPr/>
        </p:nvSpPr>
        <p:spPr>
          <a:xfrm>
            <a:off x="6070680" y="321300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rate R_i,j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mechanism-edge-g3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8" name="mechanism-node-t-node"/>
          <p:cNvSpPr/>
          <p:nvPr/>
        </p:nvSpPr>
        <p:spPr>
          <a:xfrm>
            <a:off x="1739880" y="3454560"/>
            <a:ext cx="206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task-node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mechanism-node-t-node-queue-1"/>
          <p:cNvSpPr/>
          <p:nvPr/>
        </p:nvSpPr>
        <p:spPr>
          <a:xfrm>
            <a:off x="1739880" y="370836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input d_i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mechanism-node-t-node-queue-2"/>
          <p:cNvSpPr/>
          <p:nvPr/>
        </p:nvSpPr>
        <p:spPr>
          <a:xfrm>
            <a:off x="1739880" y="389880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cycles c_i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mechanism-node-link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V2V edge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link feature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transmission rate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mechanism-node-s-node"/>
          <p:cNvSpPr/>
          <p:nvPr/>
        </p:nvSpPr>
        <p:spPr>
          <a:xfrm>
            <a:off x="6845400" y="3454560"/>
            <a:ext cx="206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service-node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mechanism-node-s-node-queue-1"/>
          <p:cNvSpPr/>
          <p:nvPr/>
        </p:nvSpPr>
        <p:spPr>
          <a:xfrm>
            <a:off x="6845400" y="370836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capacity f_j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mechanism-node-s-node-queue-2"/>
          <p:cNvSpPr/>
          <p:nvPr/>
        </p:nvSpPr>
        <p:spPr>
          <a:xfrm>
            <a:off x="6845400" y="389880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nearby candidate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mechanism-node-graph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G_t=(V_t,E_t)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current topology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at slot 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5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7" name="Text 16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그래프는 현재 연결을 담으므로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노드 수가 달라도 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GNN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구조에 넣을 수 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9" name="Text 1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iet-doi pp. 4, 7, §§3.1 and 4.3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지연 구성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2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065320"/>
                <a:gridCol w="2500200"/>
                <a:gridCol w="250020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통신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논문이 세는 지연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c_i / f_i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T_i^loc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service vehicle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c_i / f_i,j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d_i / R_i,j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T_i,j^trans + T_i,j^edge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 반환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완료 뒤 전송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작다고 가정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지연에서 제외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3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4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오프로딩은 전송 시간이 추가되지만 더 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service CPU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쓸 수 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6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iet-doi pp. 4–5, Eqs. 1–4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목표와 두 제약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경로 선택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service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용량 준수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slot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들의 총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response delay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최소화한다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1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2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3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4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5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6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7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8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9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0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1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i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service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x_i,0=1; T_i^loc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offload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x_i,j=1; T_i,j^trans+T_i,j^edge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binary choice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local+all service indicators = 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capacity check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sum f_i,j ≤ f_j for each service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2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iet-doi p. 5, Eqs. 5–7 and C1–C3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고정된 선택 뒤의 자원 배분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"/>
          <p:cNvSpPr/>
          <p:nvPr/>
        </p:nvSpPr>
        <p:spPr>
          <a:xfrm>
            <a:off x="838080" y="1739880"/>
            <a:ext cx="1069308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offloading action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고정하면 남은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resource-allocation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문제가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convex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된다고 말한다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2"/>
          <p:cNvSpPr/>
          <p:nvPr/>
        </p:nvSpPr>
        <p:spPr>
          <a:xfrm>
            <a:off x="838080" y="27432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7" name="Text 3"/>
          <p:cNvSpPr/>
          <p:nvPr/>
        </p:nvSpPr>
        <p:spPr>
          <a:xfrm>
            <a:off x="838080" y="2781360"/>
            <a:ext cx="1069308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그래서 다음 절은 주로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binary offloading variable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어떻게 예측할지에 집중한다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4"/>
          <p:cNvSpPr/>
          <p:nvPr/>
        </p:nvSpPr>
        <p:spPr>
          <a:xfrm>
            <a:off x="838080" y="3784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9" name="Text 5"/>
          <p:cNvSpPr/>
          <p:nvPr/>
        </p:nvSpPr>
        <p:spPr>
          <a:xfrm>
            <a:off x="838080" y="3822840"/>
            <a:ext cx="1069308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하지만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fixed action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allocation solver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나 닫힌 형태의 해는 제시하지 않는다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1" name="Text 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GNN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자원 배분까지 어떤 계산으로 푸는지 논문만으로 재현할 수는 없다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3" name="Text 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iet-doi p. 5, §3.4 after Eq. 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가변 차량 수에서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GNN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쓰는 이유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6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174040"/>
                <a:gridCol w="3261240"/>
                <a:gridCol w="5435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 크기 변화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논문이 말한 처리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MLP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적은 차량은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 padding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MLP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범위 초과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vehicle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GNN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그래프 정점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엣지 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topology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graph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입력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7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8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scalability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주장은 가변 크기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입력을 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GNN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구조로 처리한다는 뜻이다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0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iet-doi pp. 2, 7, 9, §§1, 4.3, 5.2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G-TORA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라벨 생성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추론 흐름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label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생성과 학습은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offline,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배포된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GNN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결정 예측은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online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1. instance sample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vehicle-network parameter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뽑는다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8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9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2. GA label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offloading chromosome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탐색한다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3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4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3. supervised GNN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 label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cross-entropy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8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9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4. BS inference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decision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예측한다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3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4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운용 중 매번 해를 찾는 구조가 아니라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GNN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교사 역할을 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6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iet-doi pp. 5–6, Fig. 2 and §4.1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오프로딩 라벨을 어떻게 만드는가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chromosome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여러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vehicle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offloading decision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후보를 담는다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initial population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random decision chromosome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생성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4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5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evaluate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6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total response delay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9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0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evolve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roulette selection, crossover, mutation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4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5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best chromosome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GNN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학습용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decision label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반환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9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0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 label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exhaustive optimum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아니라 휴리스틱 탐색 결과다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2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iet-doi pp. 6–7, §4.2 and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 fitness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식에는 재현상 빈틈이 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1"/>
          <p:cNvSpPr/>
          <p:nvPr/>
        </p:nvSpPr>
        <p:spPr>
          <a:xfrm>
            <a:off x="838080" y="1739880"/>
            <a:ext cx="1069308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본문은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response delay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낮을수록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fitness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높다고 설명한다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2"/>
          <p:cNvSpPr/>
          <p:nvPr/>
        </p:nvSpPr>
        <p:spPr>
          <a:xfrm>
            <a:off x="838080" y="27432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7" name="Text 3"/>
          <p:cNvSpPr/>
          <p:nvPr/>
        </p:nvSpPr>
        <p:spPr>
          <a:xfrm>
            <a:off x="838080" y="2781360"/>
            <a:ext cx="1069308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Algorithm 1 line 5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Eval(Q^k)=beta(1-beta)^(k-1)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인쇄한다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4"/>
          <p:cNvSpPr/>
          <p:nvPr/>
        </p:nvSpPr>
        <p:spPr>
          <a:xfrm>
            <a:off x="838080" y="3784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9" name="Text 5"/>
          <p:cNvSpPr/>
          <p:nvPr/>
        </p:nvSpPr>
        <p:spPr>
          <a:xfrm>
            <a:off x="838080" y="3822840"/>
            <a:ext cx="1069308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그 식의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rank 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delay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어떻게 정해지는지는 논문이 설명하지 않는다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1" name="Text 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 label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정확한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fitness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구현은 원문만으로 완전히 복원되지 않는다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3" name="Text 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iet-doi pp. 6–7, §4.2 and Algorithm 1 line 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GNN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입력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node feature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link feature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 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demand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compute feature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min-max scaling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edge weight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SNR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조정한다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mechanism-lane-features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vehicle graph features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mechanism-edge-i1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9" name="mechanism-edge-i2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0" name="mechanism-edge-i3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1" name="mechanism-node-raw"/>
          <p:cNvSpPr/>
          <p:nvPr/>
        </p:nvSpPr>
        <p:spPr>
          <a:xfrm>
            <a:off x="1739880" y="3359160"/>
            <a:ext cx="206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raw features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mechanism-node-raw-queue-1"/>
          <p:cNvSpPr/>
          <p:nvPr/>
        </p:nvSpPr>
        <p:spPr>
          <a:xfrm>
            <a:off x="1739880" y="361332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task: d_i, c_i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mechanism-node-raw-queue-2"/>
          <p:cNvSpPr/>
          <p:nvPr/>
        </p:nvSpPr>
        <p:spPr>
          <a:xfrm>
            <a:off x="1739880" y="380376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service: f_j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mechanism-node-raw-queue-3"/>
          <p:cNvSpPr/>
          <p:nvPr/>
        </p:nvSpPr>
        <p:spPr>
          <a:xfrm>
            <a:off x="1739880" y="399420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link: rate, SNR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mechanism-node-prep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graph preparation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node min-max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SNR weight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mechanism-node-gnn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GNN layers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two-layer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aggregation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mechanism-node-embed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embeddings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task, service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and edge context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13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9" name="Text 14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feature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역할별로 다르고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link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품질도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decision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들어간다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15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1" name="Text 16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iet-doi pp. 7–8, Fig. 3 and §4.3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7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GNN layer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이웃 정보 집계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정점은 자기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hidden state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인접 정점의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message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함께 업데이트한다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6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7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8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9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0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1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2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3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4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5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6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current node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hidden state h_i^k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adjacent nodes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AGG of neighbor hidden states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attention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learned weight alpha_i,j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concatenate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self plus weighted neighbor message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next state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activation gives h_i^(k+1)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7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iet-doi pp. 7–8, Eqs. 8–10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embedding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offloading decision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까지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node, service node, link feature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합쳐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candidate edge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decision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분류한다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node embedding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service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updated state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5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6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 context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node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link feature concatenate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0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1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MLP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Linear, ReLU, LeakyReLU, Softmax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5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6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decision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vehicle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offloading output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0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1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task-service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link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판단 단위로 결합해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MLP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넣는다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iet-doi pp. 7–8, Fig. 3 and Eq. 11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지도학습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training loop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GA label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prediction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cross-entropy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GNN parameter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갱신한다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batch graph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nodes, edges, attributes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train loader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저장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1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2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GNN forward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attention aggregation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decision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출력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6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7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cross-entropy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prediction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 label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비교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1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2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Adam update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backpropagation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갱신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6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7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deploy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trained GNN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base station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저장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1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2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online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단계에서 탐색 보상을 누적하는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RL loop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이 논문에 없다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4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iet-doi p. 8, Algorithm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가상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trace: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경로 비교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 수치는 논문 실험값이 아니라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Eq. 2–4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읽기 위한 가정이다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2282760"/>
                <a:gridCol w="3696120"/>
                <a:gridCol w="23914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service vehicle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d=10 MB, c=10^9 cycles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f_i=1 GHz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rate=100 MB/s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f_i,j=4 GHz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trained GNN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service edge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10^9 / 10^9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=1.00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10/100 + 10^9/(4×10^9)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=0.10+0.25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0.35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capacity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f_i,j=4 GHz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service f_j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C1·C2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충족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좋은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V2V rate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큰 배정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전송 지연을 상쇄할 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유리하다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iet-doi pp. 4–5, Eqs. 2–4 and C1–C2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시뮬레이션 입력과 학습 설정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5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717640"/>
                <a:gridCol w="2717640"/>
                <a:gridCol w="271764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data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{10,20,50,100} MB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cycles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[1,2]×10^9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vehicle capacity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[3,5] GHz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bandwidth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 MHz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transmit power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 mW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distance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[20,500] 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GNN layers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embedding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256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epochs / optimizer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3000 / Adam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platform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Python 3.8, PyTorch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6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7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결과는 이 범위와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simulation platform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얻은 조건부 비교다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9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iet-doi pp. 8–9, Table 1 and §5.1.2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 대상이 측정하는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trade-off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2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1739160"/>
                <a:gridCol w="4674600"/>
                <a:gridCol w="44571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논문에서의 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 크기 처리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heuristic label generator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slot search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local-search heuristic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optimum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MLP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fixed DNN baseline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 padding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excess local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OMAB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epsilon-greedy online bandit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탐색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활용 조절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GNN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GA-supervised proposal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current topology graph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3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4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낮은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processing delay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빠른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inference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서로 다른 측정값이다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6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iet-doi p. 9, §5.2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vehicle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5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10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늘린 비교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service vehicle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4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고정한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simulation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89204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측정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읽을 때의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loss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GNN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수렴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4, 3000 epochs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processing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GNN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17%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높음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1%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높음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processing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GNN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MLP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26%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OMAB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41%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inference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GNN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0.03 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 14.664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31.016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total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GNN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가장 낮게 보고됨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7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조건에서만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GNN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이 조건에서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total delay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가장 낮게 보고됐다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iet-doi pp. 9–10, Figs. 4–7 and §5.3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transmit power sweep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결과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문제 크기가 고정된 상태에서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power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0.5 W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 W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바꾼다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521720"/>
                <a:gridCol w="2717640"/>
                <a:gridCol w="271764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0.5 W processing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 W processing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inference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1.056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0.690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크게 변하지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1.101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0.727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크게 변하지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GNN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1.126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0.771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크게 변하지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MLP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1.418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1.036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크게 변하지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OMAB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1.840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1.163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크게 변하지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증가로 통신 지연은 줄고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inference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거의 유지됐다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iet-doi pp. 10–11, Figs. 8–10 and §5.4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service compute capacity sweep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1"/>
          <p:cNvSpPr/>
          <p:nvPr/>
        </p:nvSpPr>
        <p:spPr>
          <a:xfrm>
            <a:off x="838080" y="1739880"/>
            <a:ext cx="1069308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평균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computing capacity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 GHz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7 GHz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올리면 모든 방법의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processing delay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감소한다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Shape 2"/>
          <p:cNvSpPr/>
          <p:nvPr/>
        </p:nvSpPr>
        <p:spPr>
          <a:xfrm>
            <a:off x="838080" y="27432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7" name="Text 3"/>
          <p:cNvSpPr/>
          <p:nvPr/>
        </p:nvSpPr>
        <p:spPr>
          <a:xfrm>
            <a:off x="838080" y="2781360"/>
            <a:ext cx="1069308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GNN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total delay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0.923 s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0.817 s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보고된다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4"/>
          <p:cNvSpPr/>
          <p:nvPr/>
        </p:nvSpPr>
        <p:spPr>
          <a:xfrm>
            <a:off x="838080" y="3784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9" name="Text 5"/>
          <p:cNvSpPr/>
          <p:nvPr/>
        </p:nvSpPr>
        <p:spPr>
          <a:xfrm>
            <a:off x="838080" y="3822840"/>
            <a:ext cx="1069308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total delay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inference delay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영향으로 비교적 안정적이라고 논문은 해석한다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Shape 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1" name="Text 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빨라져도 전체 지연은 계산 지연과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decision inference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지연의 합으로 읽어야 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Shape 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3" name="Text 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iet-doi pp. 11–12, Figs. 11–12 and §5.5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1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논문에서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scalability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성립하는 범위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1"/>
          <p:cNvSpPr/>
          <p:nvPr/>
        </p:nvSpPr>
        <p:spPr>
          <a:xfrm>
            <a:off x="838080" y="1739880"/>
            <a:ext cx="1069308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동일한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GNN architecture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다른 수의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 node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입력으로 받을 수 있다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Shape 2"/>
          <p:cNvSpPr/>
          <p:nvPr/>
        </p:nvSpPr>
        <p:spPr>
          <a:xfrm>
            <a:off x="838080" y="27432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8" name="Text 3"/>
          <p:cNvSpPr/>
          <p:nvPr/>
        </p:nvSpPr>
        <p:spPr>
          <a:xfrm>
            <a:off x="838080" y="2781360"/>
            <a:ext cx="1069308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실험에서 직접 바꾼 범위는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vehicle 5–10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대이며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service vehicle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대로 고정했다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Shape 4"/>
          <p:cNvSpPr/>
          <p:nvPr/>
        </p:nvSpPr>
        <p:spPr>
          <a:xfrm>
            <a:off x="838080" y="3784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0" name="Text 5"/>
          <p:cNvSpPr/>
          <p:nvPr/>
        </p:nvSpPr>
        <p:spPr>
          <a:xfrm>
            <a:off x="838080" y="3822840"/>
            <a:ext cx="1069308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arbitrary network size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성능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통신 비용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formal scalability theorem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제시하지 않는다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Shape 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2" name="Text 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scalability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구조적 입력 적응성과 해당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범위의 결과로 제한해 읽어야 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4" name="Text 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iet-doi pp. 1, 7, 9–10, Abstract, §4.3, §5.3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1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논문이 직접 밝힌 적용 한계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57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608920"/>
                <a:gridCol w="467460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왜 중요한가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논문이 제안한 이후 방향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 supervision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많은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topology data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label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semi-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unsupervised GNN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slot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static channel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고속 이동의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link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변화를 충분히 반영 못함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real-time dynamics model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제외한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QoS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deadline·reliability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보장하지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QoS-aware offloading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제외한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subtask dependency·multi-hop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미모델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future extension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8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9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G-TORA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decision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현재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mobility·QoS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한계를 가진다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1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iet-doi p. 12, §6 and Data Availability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G-TORA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한 문장씩 다시 연결하기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"/>
          <p:cNvSpPr/>
          <p:nvPr/>
        </p:nvSpPr>
        <p:spPr>
          <a:xfrm>
            <a:off x="660240" y="170172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2"/>
          <p:cNvSpPr/>
          <p:nvPr/>
        </p:nvSpPr>
        <p:spPr>
          <a:xfrm>
            <a:off x="1397160" y="170172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network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3"/>
          <p:cNvSpPr/>
          <p:nvPr/>
        </p:nvSpPr>
        <p:spPr>
          <a:xfrm>
            <a:off x="4152960" y="170172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task/service vehicle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V2V link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표현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4"/>
          <p:cNvSpPr/>
          <p:nvPr/>
        </p:nvSpPr>
        <p:spPr>
          <a:xfrm>
            <a:off x="1396800" y="2286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8" name="Shape 5"/>
          <p:cNvSpPr/>
          <p:nvPr/>
        </p:nvSpPr>
        <p:spPr>
          <a:xfrm>
            <a:off x="851040" y="2298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9" name="Text 6"/>
          <p:cNvSpPr/>
          <p:nvPr/>
        </p:nvSpPr>
        <p:spPr>
          <a:xfrm>
            <a:off x="660240" y="247644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7"/>
          <p:cNvSpPr/>
          <p:nvPr/>
        </p:nvSpPr>
        <p:spPr>
          <a:xfrm>
            <a:off x="1397160" y="247644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objective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8"/>
          <p:cNvSpPr/>
          <p:nvPr/>
        </p:nvSpPr>
        <p:spPr>
          <a:xfrm>
            <a:off x="4152960" y="247644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 response delay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최소화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Shape 9"/>
          <p:cNvSpPr/>
          <p:nvPr/>
        </p:nvSpPr>
        <p:spPr>
          <a:xfrm>
            <a:off x="1396800" y="30603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3" name="Shape 10"/>
          <p:cNvSpPr/>
          <p:nvPr/>
        </p:nvSpPr>
        <p:spPr>
          <a:xfrm>
            <a:off x="851040" y="30733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4" name="Text 11"/>
          <p:cNvSpPr/>
          <p:nvPr/>
        </p:nvSpPr>
        <p:spPr>
          <a:xfrm>
            <a:off x="660240" y="325116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12"/>
          <p:cNvSpPr/>
          <p:nvPr/>
        </p:nvSpPr>
        <p:spPr>
          <a:xfrm>
            <a:off x="1397160" y="325116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teacher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13"/>
          <p:cNvSpPr/>
          <p:nvPr/>
        </p:nvSpPr>
        <p:spPr>
          <a:xfrm>
            <a:off x="4152960" y="325116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 heuristic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offline decision label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생성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Shape 14"/>
          <p:cNvSpPr/>
          <p:nvPr/>
        </p:nvSpPr>
        <p:spPr>
          <a:xfrm>
            <a:off x="1396800" y="3835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8" name="Shape 15"/>
          <p:cNvSpPr/>
          <p:nvPr/>
        </p:nvSpPr>
        <p:spPr>
          <a:xfrm>
            <a:off x="851040" y="384804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9" name="Text 16"/>
          <p:cNvSpPr/>
          <p:nvPr/>
        </p:nvSpPr>
        <p:spPr>
          <a:xfrm>
            <a:off x="660240" y="402588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17"/>
          <p:cNvSpPr/>
          <p:nvPr/>
        </p:nvSpPr>
        <p:spPr>
          <a:xfrm>
            <a:off x="1397160" y="402588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learner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18"/>
          <p:cNvSpPr/>
          <p:nvPr/>
        </p:nvSpPr>
        <p:spPr>
          <a:xfrm>
            <a:off x="4152960" y="402588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two-layer GNN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link context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label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Shape 19"/>
          <p:cNvSpPr/>
          <p:nvPr/>
        </p:nvSpPr>
        <p:spPr>
          <a:xfrm>
            <a:off x="1396800" y="4609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3" name="Shape 20"/>
          <p:cNvSpPr/>
          <p:nvPr/>
        </p:nvSpPr>
        <p:spPr>
          <a:xfrm>
            <a:off x="851040" y="4622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4" name="Text 21"/>
          <p:cNvSpPr/>
          <p:nvPr/>
        </p:nvSpPr>
        <p:spPr>
          <a:xfrm>
            <a:off x="660240" y="480060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22"/>
          <p:cNvSpPr/>
          <p:nvPr/>
        </p:nvSpPr>
        <p:spPr>
          <a:xfrm>
            <a:off x="1397160" y="480060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scope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23"/>
          <p:cNvSpPr/>
          <p:nvPr/>
        </p:nvSpPr>
        <p:spPr>
          <a:xfrm>
            <a:off x="4152960" y="480060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simulation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범위와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static-slot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가정에서 해석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24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8" name="Shape 25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9" name="Text 26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가변 차량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topology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graph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입력과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GNN inference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연결한다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Shape 2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1" name="Text 2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iet-doi pp. 4–12, §§3–6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2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2026-09-12T08:14:54Z</dcterms:created>
  <dc:creator>Research Seminars</dc:creator>
  <dc:description/>
  <dc:language>ko-KR</dc:language>
  <cp:lastModifiedBy>Research Seminars</cp:lastModifiedBy>
  <dcterms:modified xsi:type="dcterms:W3CDTF">2026-09-12T08:14:54Z</dcterms:modified>
  <cp:revision>1</cp:revision>
  <dc:subject>Graph Neural Network-Based Task Offloading and Resource Allocation for Scalable Vehicular Networks</dc:subject>
  <dc:title>G-TORA: 차량 그래프에서 오프로딩을 예측하는 GNN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24</vt:r8>
  </property>
  <property fmtid="{D5CDD505-2E9C-101B-9397-08002B2CF9AE}" pid="3" name="PresentationFormat">
    <vt:lpwstr>On-screen Show (16:9)</vt:lpwstr>
  </property>
  <property fmtid="{D5CDD505-2E9C-101B-9397-08002B2CF9AE}" pid="4" name="Slides">
    <vt:r8>24</vt:r8>
  </property>
</Properties>
</file>
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User-centric Cell-free Massive MIMO: 선택적 협력
발표 대본
이 자료는 Ammar 등 survey가 하나의 새 알고리즘을 제안한다고 설명하지 않습니다. 대신 user-centric cell-free massive MIMO를 구성하는 설계 선택과 연구 문헌을 연결합니다. 핵심 질문은 모든 분산 DU가 모든 사용자를 돕는 협력을 어떻게 사용자별로 제한하면서도, 간섭 관리와 서비스 품질을 유지할 것인가입니다.
공개 출처
arxiv-v2 | title page, abstract
Ammar et al., arXiv:2104.14589v2
https://arxiv.org/abs/2104.14589v2
ieee | article record
IEEE Communications Surveys &amp; Tutorials, 24(1), 2022
https://doi.org/10.1109/COMST.2021.3135119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이 자료는 무엇을 종합하는 survey인가
발표 대본
원문은 fronthaul, CSI, cluster formation, resource allocation, latency, scalability, IRS, machine learning을 폭넓게 정리합니다. 그러므로 뒤의 표에서 서로 다른 참고문헌이 보이면, 그것은 하나의 공통 benchmark가 아니라 문제 유형의 지도입니다. 발표의 수치와 open issue도 survey가 고정한 시점의 범위로만 해석합니다.
공개 출처
arxiv-v2 | pp. 1–5, §I and Fig. 3
Ammar et al., arXiv:2104.14589v2
https://arxiv.org/abs/2104.14589v2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왜 더 촘촘한 무선망이 자동으로 쉬워지지 않는가
발표 대본
원문은 network densification이 셀 경계의 간섭과 overhead 문제를 키운다고 설명합니다. Cell-free massive MIMO는 공간적으로 분산된 DU가 협력하여 이 문제를 다루려 하지만, 모든 DU가 모든 사용자에 관여하면 CSI, fronthaul, computation 부담이 커집니다. User-centric은 이 협력의 범위를 사용자별로 제한하는 출발점입니다.
공개 출처
arxiv-v2 | pp. 1–2, §I
Ammar et al., arXiv:2104.14589v2
https://arxiv.org/abs/2104.14589v2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먼저 구분할 네 가지 용어
발표 대본
DU는 distributed unit, CU는 central unit입니다. 원문에서 fronthaul은 CU와 DU를 잇는 link이고, user-centric cluster는 무선 access에서 한 사용자를 서비스할 DU 집합입니다. 따라서 ‘cell edge가 없다’는 표현은 access service 관점이지, backhaul과 control 계층이 사라졌다는 뜻이 아닙니다. Cooperation과 coordination의 구분도 공유 정보의 양에 관한 구분입니다.
공개 출처
arxiv-v2 | p. 2 footnote 1; p. 7, §III
Ammar et al., arXiv:2104.14589v2
https://arxiv.org/abs/2104.14589v2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Cell-free와 user-centric의 차이는 협력 집합의 범위다
발표 대본
원문은 기존 cell-free가 모든 DU가 모든 사용자를 서비스하는 형태로 자주 모델링되지만, 실제로는 path loss 때문에 먼 DU의 기여가 작을 수 있다고 설명합니다. User-centric 방식은 이 암묵적 효과를 사용자별 serving set 제한으로 명시합니다. 이 그림의 두 갈래는 두 선택지를 비교하는 것이며, 같은 frame에 두 방식이 동시에 수행된다는 뜻이 아닙니다.
공개 출처
arxiv-v2 | p. 2, §I
Ammar et al., arXiv:2104.14589v2
https://arxiv.org/abs/2104.14589v2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구성한 예시: 사용자마다 다른 DU 집합
발표 대본
이는 원문의 실험이나 고정 cluster algorithm을 재현한 것이 아닙니다. U의 large-scale gain이 A, B, C에 대해 12, 8, 2이고 임의 threshold를 5로 두면 U는 A와 B를 선택합니다. V의 gain이 4, 10, 7이면 같은 threshold 아래 B와 C를 선택합니다. 이 예시는 cluster membership이 사용자 ID의 grouping이 아니라 사용자별 link 상태에 따른 선택임을 보입니다.
공개 출처
arxiv-v2 | pp. 2, 17–18, §§I,V
Ammar et al., arXiv:2104.14589v2
https://arxiv.org/abs/2104.14589v2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CU topology: single-CU와 multiple-CU는 별도 축이다
발표 대본
Fig. 4와 Table III는 multiple-CU와 single-CU architecture를 비교합니다. 원문은 described hierarchy에서 multiple-CU가 scalability와 delay 측면의 장점을 가질 수 있다고 정리하지만, Table III는 정량 benchmark가 아닙니다. Local processing을 넣으면 single-CU의 fronthaul 요구를 바꿀 수도 있습니다. 따라서 user-centric cluster와 CU topology를 한 축으로 합치면 안 됩니다.
공개 출처
arxiv-v2 | pp. 6–7, Fig. 4 and Table III
Ammar et al., arXiv:2104.14589v2
https://arxiv.org/abs/2104.14589v2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Downlink delivery mode: data와 active DU
발표 대본
원문 §II-A는 transmission mode를 data sharing과 coordination 수준으로 구분합니다. JT는 공동 transmission이고, DPS는 하나의 transmission point를 고르며, CS/CB는 data 자체는 한 DU에 두되 scheduling 또는 beamforming을 coordinated하게 정합니다. Coherent JT에는 phase synchronization이 필요하고 non-coherent transmission에는 SIC가 요구될 수 있습니다. 이 표는 mode의 정의이지 universal rate ranking이 아닙니다.
공개 출처
arxiv-v2 | p. 7, §II-A
Ammar et al., arXiv:2104.14589v2
https://arxiv.org/abs/2104.14589v2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Survey의 설계 연결을 다섯 축으로 요약
발표 대본
Fig. 3은 survey의 organization을 architecture, fronthaul, CSI, cluster formation, resource allocation, latency와 미래 연구 주제로 연결합니다. 예를 들어 cluster가 커지면 channel estimation 대상과 fronthaul 정보가 늘고, allocation 변수도 커집니다. 이 슬라이드의 화살표는 영향을 설명하는 교육용 순서이며 원문이 하나의 필수 실행 pipeline을 정했다는 뜻은 아닙니다.
공개 출처
arxiv-v2 | p. 5, Fig. 3
Ammar et al., arXiv:2104.14589v2
https://arxiv.org/abs/2104.14589v2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Fronthaul에는 user data만 흐르지 않는다
발표 대본
원문은 fronthaul에 user data 외에도 CSI, beamformers, power allocation, scheduling 같은 operational information이 오갈 수 있다고 설명합니다. 이 그림은 CU와 DU의 logical roles를 보인 교육용 도식이지, 모든 구현이 이 순서로 처리한다는 물리 deployment 도면이 아닙니다. 어떤 항목을 압축하거나 DU에서 먼저 처리하는지에 따라 fronthaul rate와 processing location이 달라집니다.
공개 출처
arxiv-v2 | pp. 7–8, §III
Ammar et al., arXiv:2104.14589v2
https://arxiv.org/abs/2104.14589v2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Fronthaul 설계는 하나의 rate 최소화 규칙이 아니다
발표 대본
§III-A는 compression, reduced cooperation, partial centralization을 포함한 fronthaul 부담 감소 접근을 논의합니다. §III-B는 wired·wireless 및 serial fronthaul을 다룹니다. 따라서 표의 항목은 공식적으로 서로 독립한 하위 절이 아니라, 두 절에서 교차해 다루는 설계 선택입니다. Compression만 선택해도 representation, quantization, estimation 위치가 달라지고, cooperation을 줄이면 shared data와 control 정보의 범위가 줄 수 있습니다.
공개 출처
arxiv-v2 | pp. 8–11, §III-A–B
Ammar et al., arXiv:2104.14589v2
https://arxiv.org/abs/2104.14589v2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Uplink compression의 세 processing 위치
발표 대본
Fig. 6은 compress-forward-estimate, estimate-compress-forward, estimate-multiply-compress-forward라는 세 uplink 절차를 보입니다. 첫 절차는 CU가 estimate를 수행하는 반면, 뒤 절차들은 DU에서 estimate 또는 multiplication을 먼저 합니다. 원문은 이들을 fronthaul capacity와 signal processing trade-off 속에서 survey하며, 모든 network configuration에 대한 하나의 보편적 순위를 주장하지 않습니다.
공개 출처
arxiv-v2 | pp. 9–10, Fig. 6 and §III-A
Ammar et al., arXiv:2104.14589v2
https://arxiv.org/abs/2104.14589v2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CSI: channel knowledge를 어떻게 얻는가
발표 대본
§IV는 favorable propagation, channel hardening, pilot assignment와 mobility를 다룹니다. 원문은 distributed or user-centric deployment에서 hardening이 약해질 수 있는 조건과 논쟁을 함께 설명합니다. 따라서 CSI가 ‘정확하다’고 가정한 allocation 결과를 소개할 때는 TDD/FDD, pilot reuse, antenna와 propagation model 같은 조건을 밝혀야 합니다.
공개 출처
arxiv-v2 | pp. 12–17, §IV
Ammar et al., arXiv:2104.14589v2
https://arxiv.org/abs/2104.14589v2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Hardening·favorable propagation의 조건
발표 대본
Eq. 6은 channel hardening을 normalized channel-gain variance의 관점에서 다룹니다. Fig. 9는 특정 antenna, shadowing, path-loss assumptions 아래 co-located와 distributed case를 비교하는 illustrative simulation입니다. Survey는 cell-free or user-centric setting에서 hardening과 favorable propagation이 언제 성립하는지 계속 점검할 필요가 있음을 강조합니다.
공개 출처
arxiv-v2 | pp. 12–15, Eq. 6 and Fig. 9
Ammar et al., arXiv:2104.14589v2
https://arxiv.org/abs/2104.14589v2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Pilot assignment의 세 비용
발표 대본
원문은 pilot assignment 정책을 centralized와 distributed, random과 heuristic 등 여러 방향으로 survey합니다. 한 cited study는 negligible contamination을 3% average spectral-efficiency decrease로 정의할 때 필요한 pilot length가 3에서 3.75만큼 줄 수 있다고 보고합니다. 이는 그 정의와 configuration 안의 결과이지, 모든 pilot policy의 정량 보장은 아닙니다.
공개 출처
arxiv-v2 | pp. 14–16, Table V and §IV-B
Ammar et al., arXiv:2104.14589v2
https://arxiv.org/abs/2104.14589v2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Cluster formation이 바꾸는 범위
발표 대본
§V는 explicit clustering이 DU computational load, CSI estimation, fronthaul overhead를 줄이고 path-loss가 큰 DU를 제거할 수 있다고 설명합니다. 동시에 cluster 구성에는 user rate, interference, fairness, mobility, coordination cost가 얽힐 수 있습니다. 그래서 앞에서 만든 threshold toy는 개념 설명일 뿐 source가 권장하는 universal membership rule이 아닙니다.
공개 출처
arxiv-v2 | pp. 17–18, §V
Ammar et al., arXiv:2104.14589v2
https://arxiv.org/abs/2104.14589v2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Cluster formation의 시간 scale과 목표를 분리한다
발표 대본
§V 본문은 인용 survey [43]을 따라 static, semi-dynamic, dynamic을 membership 갱신 정보와 time scale의 구분으로 소개합니다. Table VI는 weighted sum-rate utility, combinatorial search, static clustering을 택한 formation solution의 장단점을 요약합니다. Utility-based methods는 signal strength만이 아니라 network utility나 resource constraint를 넣을 수 있습니다. 따라서 서로 다른 논문의 cluster 결과를 비교할 때는 update time scale, information availability, objective를 함께 확인해야 합니다.
공개 출처
arxiv-v2 | pp. 17–18, §V; Table VI
Ammar et al., arXiv:2104.14589v2
https://arxiv.org/abs/2104.14589v2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Resource allocation: 먼저 무엇을 최적화하는지 적는다
발표 대본
Eq. 7의 WSR template은 user u에 대해 weight δu와 SINR γu(x)를 써서 sum δu log(1+γu(x))를 maximize하며 x는 feasible set에 속해야 한다고 씁니다. 여기서 x에는 beamformer, schedule, power와 cluster choice가 포함될 수 있습니다. Eq. 10의 EE도 rate 분자와 DU power consumption 분모의 설정에 따라 달라집니다. 표는 formula를 읽는 변수 지도를 제공합니다.
공개 출처
arxiv-v2 | pp. 18, 22; Eqs. 7 and 10
Ammar et al., arXiv:2104.14589v2
https://arxiv.org/abs/2104.14589v2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§VI의 resource-allocation taxonomy
발표 대본
원문 Table VIII는 beamforming/precoding, power, user scheduling, energy efficiency, cluster formation에 대해 metric·problem type·approach를 분류합니다. 이 슬라이드의 queue·QoS-aware policy는 §VI의 latency discussion을 요약한 것이고, distributed optimization은 별도 §VI-C discussion입니다. A method가 centralized인지 distributed인지, sum-rate인지 max–min인지, uplink인지 downlink인지에 따라 problem 자체가 달라집니다.
공개 출처
arxiv-v2 | pp. 18–25, Table VIII; §VI-C
Ammar et al., arXiv:2104.14589v2
https://arxiv.org/abs/2104.14589v2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Centralized·distributed allocation의 정보 위치
발표 대본
Survey는 centralized and distributed resource allocation을 모두 다룹니다. Centralized formulation은 넓은 CSI와 variables를 jointly optimize할 수 있지만 signaling과 computational scaling이 문제가 될 수 있습니다. Distributed methods는 per-node complexity와 overhead를 줄일 수 있으나 coupled decisions와 information loss 때문에 performance trade-off가 생길 수 있습니다. 두 가지가 동일한 algorithm의 순차 단계라고 해석하면 안 됩니다.
공개 출처
arxiv-v2 | pp. 18–28, §VI and Table XIII
Ammar et al., arXiv:2104.14589v2
https://arxiv.org/abs/2104.14589v2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Latency와 MEC는 rate maximization 밖의 state를 넣는다
발표 대본
§VII는 latency, uRLLC, MEC, queue-aware or Lyapunov-based control, punctured scheduling, synchronization과 carrier frequency offset을 함께 다룹니다. 이들은 모두 user-centric cell-free의 확정된 공통 controller가 아니라 서로 다른 cited lines of work입니다. 특히 MEC 결과는 computing model과 offloading assumption 없이 general wireless rate result로 옮길 수 없습니다.
공개 출처
arxiv-v2 | pp. 27–30, §VII
Ammar et al., arXiv:2104.14589v2
https://arxiv.org/abs/2104.14589v2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수치는 어디까지 말할 수 있는가: source 조건을 유지한다
발표 대본
이 표는 원문이 소개한 cited observations를 조건과 함께 보존한 것입니다. p. 2의 5-fold와 10-fold gain은 uncorrelated와 correlated shadow fading 조건의 small-cell comparison입니다. p. 14의 pilot length reduction은 negligible contamination 정의가 3% average SE decrease일 때의 보고입니다. p. 9의 quantization bit와 Fig. 9도 각각 인용 configuration과 simulation model의 범위를 벗어나지 않습니다.
공개 출처
arxiv-v2 | pp. 2, 9, 14; Fig. 9
Ammar et al., arXiv:2104.14589v2
https://arxiv.org/abs/2104.14589v2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Scalability, IRS, ML은 survey의 별도 연구 축이다
발표 대본
§VIII는 scalability, IRS, machine learning을 miscellaneous topics로 묶습니다. 원문은 scalable operation을 growing network를 gracefully accommodate하는 문제로 보고, distributed allocation을 한 가능한 접근으로 설명합니다. IRS와 ML의 claims 역시 survey가 나열한 cited work와 conditions에 속합니다. 이 자료는 해당 topic들을 지금의 universally settled system component로 소개하지 않습니다.
공개 출처
arxiv-v2 | pp. 30–32, §VIII
Ammar et al., arXiv:2104.14589v2
https://arxiv.org/abs/2104.14589v2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Fig. 13의 open issue를 네 연결로 읽기
발표 대본
Fig. 13은 user-centric cell-free massive MIMO의 future research directions를 architecture, CSI, resource allocation, latency와 기타 주제로 그립니다. Multi-CU fronthaul, distributed SDN, FDD CSI, pilot allocation, high mobility, robust cluster formation, scalability 등이 목록에 포함됩니다. 이 목록은 2021 survey의 research agenda이므로 최신 분야 전체를 완전하게 대변한다고 주장하지 않습니다.
공개 출처
arxiv-v2 | pp. 32–34, Fig. 13 and §IX
Ammar et al., arXiv:2104.14589v2
https://arxiv.org/abs/2104.14589v2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새 논문을 이 survey 위에서 읽는 확인표
발표 대본
이 확인표는 원문 내용을 재구성한 독해 도구입니다. Survey의 table과 figures는 서로 다른 topology, channel model, link direction, traffic assumption을 가진 연구를 묶습니다. 따라서 새 논문의 claim을 옮길 때는 어떤 users와 DUs가 cluster에 들어가며, CSI와 fronthaul information이 어디에 있고, objective와 constraints가 무엇인지부터 확인해야 합니다.
공개 출처
arxiv-v2 | pp. 1–34, §§I–IX
Ammar et al., arXiv:2104.14589v2
https://arxiv.org/abs/2104.14589v2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정리: 선택적 협력은 단일 knob가 아니다
발표 대본
이 survey의 가장 교육적인 결론은 user-centric cell-free를 하나의 protocol로 외우지 않는 것입니다. Serving cluster 선택은 useful signal만 남기는 동시에 CSI, fronthaul, computation, scheduling 변수와 latency model을 다시 바꿉니다. 따라서 한 방법의 성능이나 open issue를 재사용할 때는 source가 둔 topology, information, objective, metric을 보존해야 합니다.
공개 출처
arxiv-v2 | pp. 32–34, §IX–X
Ammar et al., arXiv:2104.14589v2
https://arxiv.org/abs/2104.14589v2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User-centric Cell-free Massive MIMO: 선택적 협력</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User-centric Cell-free Massive MIMO Networks: A Survey of Opportunities, Challenges and Solutions</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Hussein A. Ammar, Raviraj Adve, Shahram Shahbazpanahi, Gary Boudreau, Kothapalli Venkata Srinivas (2022)</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선택적 협력, fronthaul, CSI, cluster와 resource allocation을 읽는 survey 지도</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title page, abstract; ieee article record</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 자료는 무엇을 종합하는 survey인가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2021년 arXiv v2와 2022년 journal survey의 분류를 따라간다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674616"/>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읽을 때의 주의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중심 구조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user-centric cell-free massive MIMO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하나의 고정 배치가 아니다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설계 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fronthaul, CSI, cluster, allocation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강하게 연결된다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증거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인용 연구와 qualitative table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실험 조건의 순위가 아니다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survey 시점의 문헌과 open issue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표준이나 최신 통계로 읽지 않는다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논문의 기여는 단일 controller보다 설계 선택과 연구 공백을 체계적으로 연결한 데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1–5, §I and Fig. 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왜 더 촘촘한 무선망이 자동으로 쉬워지지 않는가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가까운 DU가 늘어도, 간섭과 coordination 정보량이 함께 늘어난다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더 많은 DU</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사용자 가까이에 송신점을 둘 수 있다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더 많은 링크</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유용한 신호와 간섭 후보가 함께 늘어난다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공동 결정</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CSI, data, power, scheduling을 맞춰야 한다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제한된 협력</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사용자마다 필요한 DU만 선택하는 문제가 생긴다</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cell-free의 과제는 송신점을 없애는 것이 아니라, 어떤 협력을 유지할지 정하는 것이다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1–2, §I</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먼저 구분할 네 가지 용어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access 협력과 CU–DU 관리 연결을 같은 것으로 보지 않는다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56590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용어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 자료의 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설계에서 바뀌는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공간적으로 분산된 송수신 단위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사용자에게 제공할 무선 link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DU를 관리·처리하는 central unit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control과 processing 위치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fronthaul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CU와 DU 사이의 연결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data와 운영 정보를 전달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serving cluster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사용자를 도울 DU의 집합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협력 범위와 부담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coordination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송신점 사이 정보 공유의 정도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scheduling·beamforming의 결합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user-centric은 DU 집합을 사용자별로 고르는 말이며 CU나 fronthaul의 소멸을 뜻하지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2 footnote 1; p. 7, §III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Cell-free와 user-centric의 차이는 협력 집합의 범위다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분산 DU 환경에서도 모든 DU를 쓸지, 사용자별 subset을 쓸지는 별도 선택이다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분산 DU 환경</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여러 DU와 사용자가 같은 영역에 존재</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일반 cell-free</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모든 DU 협력을 모델에 둘 수 있다</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user-centric</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사용자마다 serving DU 수를 명시적으로 제한</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공통 목적</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간섭을 관리하며 서비스 품질을 유지</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핵심 설계</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누가 누구를 도울지와 resource를 함께 결정</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2, §I</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구성한 예시: 사용자마다 다른 DU 집합</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threshold는 논문 알고리즘이 아니라 per-user cluster를 재계산해 보는 교육용 예시다</a:t>
            </a:r>
            <a:endParaRPr lang="en-US" sz="1900" dirty="0"/>
          </a:p>
        </p:txBody>
      </p:sp>
      <p:sp>
        <p:nvSpPr>
          <p:cNvPr id="4" name="mechanism-lane-cluster"/>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교육용 cluster 선택</a:t>
            </a:r>
            <a:endParaRPr lang="en-US" sz="1250" dirty="0"/>
          </a:p>
        </p:txBody>
      </p:sp>
      <p:sp>
        <p:nvSpPr>
          <p:cNvPr id="5" name="mechanism-edge-u-th-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th-uc-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uc-v-segment-1"/>
          <p:cNvSpPr/>
          <p:nvPr/>
        </p:nvSpPr>
        <p:spPr>
          <a:xfrm>
            <a:off x="8915400" y="3771900"/>
            <a:ext cx="482600" cy="0"/>
          </a:xfrm>
          <a:prstGeom prst="line">
            <a:avLst/>
          </a:prstGeom>
          <a:noFill/>
          <a:ln w="12700">
            <a:solidFill>
              <a:srgbClr val="5E6D69"/>
            </a:solidFill>
            <a:prstDash val="dash"/>
            <a:headEnd type="none"/>
            <a:tailEnd type="triangle"/>
          </a:ln>
        </p:spPr>
        <p:txBody>
          <a:bodyPr/>
          <a:lstStyle/>
          <a:p>
            <a:endParaRPr lang="ko-KR"/>
          </a:p>
        </p:txBody>
      </p:sp>
      <p:sp>
        <p:nvSpPr>
          <p:cNvPr id="8" name="mechanism-edge-uc-v-label"/>
          <p:cNvSpPr txBox="1"/>
          <p:nvPr/>
        </p:nvSpPr>
        <p:spPr>
          <a:xfrm>
            <a:off x="86233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같은 규칙</a:t>
            </a:r>
            <a:endParaRPr lang="en-US" sz="950" dirty="0"/>
          </a:p>
        </p:txBody>
      </p:sp>
      <p:sp>
        <p:nvSpPr>
          <p:cNvPr id="9" name="mechanism-node-u"/>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사용자 U</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gain: A=12, B=8, C=2</a:t>
            </a:r>
            <a:endParaRPr lang="en-US" sz="1150" dirty="0"/>
          </a:p>
        </p:txBody>
      </p:sp>
      <p:sp>
        <p:nvSpPr>
          <p:cNvPr id="10" name="mechanism-node-uv"/>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threshold 5</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5 이상인 DU만 U에 남긴다</a:t>
            </a:r>
            <a:endParaRPr lang="en-US" sz="1150" dirty="0"/>
          </a:p>
        </p:txBody>
      </p:sp>
      <p:sp>
        <p:nvSpPr>
          <p:cNvPr id="11" name="mechanism-node-uc"/>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U cluster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 B}; C는 제외</a:t>
            </a:r>
            <a:endParaRPr lang="en-US" sz="1150" dirty="0"/>
          </a:p>
        </p:txBody>
      </p:sp>
      <p:sp>
        <p:nvSpPr>
          <p:cNvPr id="12" name="mechanism-node-v"/>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사용자 V</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gain 4,10,7이면 {B,C}</a:t>
            </a:r>
            <a:endParaRPr lang="en-US" sz="115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DU 배치라도 사용자가 다르면 serving cluster도 달라질 수 있다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2, 17–18, §§I,V</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CU topology: single-CU와 multiple-CU는 별도 축이다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어떤 DU가 사용자를 돕는지와, control·processing을 어느 CU가 맡는지는 같은 질문이 아니다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892040"/>
                <a:gridCol w="337007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topology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원문의 특징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single-CU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DU와 하나의 CU를 연결하는 모델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fronthaul 요구가 클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multiple-CU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DU를 CU group에 나누는 hierarchy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survey의 qualitative scalability 논의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processing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DU 쪽에서 일부 처리를 수행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중앙 fronthaul 부담 완화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user-centric cluster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사용자의 DU 협력 집합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위 topology 위에서 별도로 구성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multiple-CU는 절대 순위가 아니라 fronthaul·delay·복잡도의 trade-off를 다루는 모형이다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6–7, Fig. 4 and Table III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Downlink delivery mode: data와 active DU</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JT, DPS, CS/CB는 cluster를 만드는 방식이 아니라 cluster 안의 delivery choice다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4783328"/>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mode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data와 active DU</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조건·부담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협력 DU가 같은 user data를 공유해 공동 송신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coherent JT는 phase synchronization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DPS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시점에는 한 transmission point를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selection과 coordination이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CS/CB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data는 한 DU에 두고 scheduling·beamforming을 조정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공유 정보의 범위를 제한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non-coherent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신호를 coherent 결합 없이 전달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수신 쪽 SIC 복잡도가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delivery mode는 rate만이 아니라 synchronization과 receiver 조건을 함께 봐야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7, §II-A</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Survey의 설계 연결을 다섯 축으로 요약</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cluster 하나의 선택이 channel estimation, fronthaul와 allocation 문제를 연쇄적으로 바꾼다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architecture</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CU topology와 delivery mode</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fronthaul</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data와 control 정보를 transport</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CSI</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pilot과 channel knowledge를 확보</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cluster</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사용자별 cooperation 범위를 선택</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allocation</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power, scheduling, latency를 조정</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survey의 taxonomy는 독립된 chapter 목록이 아니라 서로 결합된 설계 변수의 지도다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5, Fig. 3</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Fronthaul에는 user data만 흐르지 않는다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CU–DU link는 data와 channel·control information을 운반하며, 처리 위치에 따라 양이 달라진다</a:t>
            </a:r>
            <a:endParaRPr lang="en-US" sz="1900" dirty="0"/>
          </a:p>
        </p:txBody>
      </p:sp>
      <p:sp>
        <p:nvSpPr>
          <p:cNvPr id="4" name="mechanism-lane-data"/>
          <p:cNvSpPr txBox="1"/>
          <p:nvPr/>
        </p:nvSpPr>
        <p:spPr>
          <a:xfrm>
            <a:off x="660400" y="22098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data</a:t>
            </a:r>
            <a:endParaRPr lang="en-US" sz="1250" dirty="0"/>
          </a:p>
        </p:txBody>
      </p:sp>
      <p:sp>
        <p:nvSpPr>
          <p:cNvPr id="5" name="mechanism-lane-control"/>
          <p:cNvSpPr txBox="1"/>
          <p:nvPr/>
        </p:nvSpPr>
        <p:spPr>
          <a:xfrm>
            <a:off x="660400" y="37719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control</a:t>
            </a:r>
            <a:endParaRPr lang="en-US" sz="1250" dirty="0"/>
          </a:p>
        </p:txBody>
      </p:sp>
      <p:sp>
        <p:nvSpPr>
          <p:cNvPr id="6" name="mechanism-edge-d1-segment-1"/>
          <p:cNvSpPr/>
          <p:nvPr/>
        </p:nvSpPr>
        <p:spPr>
          <a:xfrm>
            <a:off x="381000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d2-segment-1"/>
          <p:cNvSpPr/>
          <p:nvPr/>
        </p:nvSpPr>
        <p:spPr>
          <a:xfrm>
            <a:off x="636270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d3-segment-1"/>
          <p:cNvSpPr/>
          <p:nvPr/>
        </p:nvSpPr>
        <p:spPr>
          <a:xfrm>
            <a:off x="891540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edge-c1-segment-1"/>
          <p:cNvSpPr/>
          <p:nvPr/>
        </p:nvSpPr>
        <p:spPr>
          <a:xfrm>
            <a:off x="3810000" y="4552950"/>
            <a:ext cx="482600" cy="0"/>
          </a:xfrm>
          <a:prstGeom prst="line">
            <a:avLst/>
          </a:prstGeom>
          <a:noFill/>
          <a:ln w="12700">
            <a:solidFill>
              <a:srgbClr val="5E6D69"/>
            </a:solidFill>
            <a:prstDash val="dash"/>
            <a:headEnd type="none"/>
            <a:tailEnd type="triangle"/>
          </a:ln>
        </p:spPr>
        <p:txBody>
          <a:bodyPr/>
          <a:lstStyle/>
          <a:p>
            <a:endParaRPr lang="ko-KR"/>
          </a:p>
        </p:txBody>
      </p:sp>
      <p:sp>
        <p:nvSpPr>
          <p:cNvPr id="10" name="mechanism-edge-c1-label"/>
          <p:cNvSpPr txBox="1"/>
          <p:nvPr/>
        </p:nvSpPr>
        <p:spPr>
          <a:xfrm>
            <a:off x="3517900" y="399415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control</a:t>
            </a:r>
            <a:endParaRPr lang="en-US" sz="950" dirty="0"/>
          </a:p>
        </p:txBody>
      </p:sp>
      <p:sp>
        <p:nvSpPr>
          <p:cNvPr id="11" name="mechanism-edge-c2-segment-1"/>
          <p:cNvSpPr/>
          <p:nvPr/>
        </p:nvSpPr>
        <p:spPr>
          <a:xfrm>
            <a:off x="6362700" y="4552950"/>
            <a:ext cx="482600" cy="0"/>
          </a:xfrm>
          <a:prstGeom prst="line">
            <a:avLst/>
          </a:prstGeom>
          <a:noFill/>
          <a:ln w="12700">
            <a:solidFill>
              <a:srgbClr val="5E6D69"/>
            </a:solidFill>
            <a:prstDash val="dash"/>
            <a:headEnd type="none"/>
            <a:tailEnd type="triangle"/>
          </a:ln>
        </p:spPr>
        <p:txBody>
          <a:bodyPr/>
          <a:lstStyle/>
          <a:p>
            <a:endParaRPr lang="ko-KR"/>
          </a:p>
        </p:txBody>
      </p:sp>
      <p:sp>
        <p:nvSpPr>
          <p:cNvPr id="12" name="mechanism-edge-c2-label"/>
          <p:cNvSpPr txBox="1"/>
          <p:nvPr/>
        </p:nvSpPr>
        <p:spPr>
          <a:xfrm>
            <a:off x="6070600" y="399415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control</a:t>
            </a:r>
            <a:endParaRPr lang="en-US" sz="950" dirty="0"/>
          </a:p>
        </p:txBody>
      </p:sp>
      <p:sp>
        <p:nvSpPr>
          <p:cNvPr id="13" name="mechanism-node-cu-data"/>
          <p:cNvSpPr/>
          <p:nvPr/>
        </p:nvSpPr>
        <p:spPr>
          <a:xfrm>
            <a:off x="1739900" y="26606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CU user data</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전송할 사용자 data</a:t>
            </a:r>
            <a:endParaRPr lang="en-US" sz="1150" dirty="0"/>
          </a:p>
        </p:txBody>
      </p:sp>
      <p:sp>
        <p:nvSpPr>
          <p:cNvPr id="14" name="mechanism-node-fh-data"/>
          <p:cNvSpPr/>
          <p:nvPr/>
        </p:nvSpPr>
        <p:spPr>
          <a:xfrm>
            <a:off x="4292600" y="26606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fronthaul</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DU까지 data를 전달</a:t>
            </a:r>
            <a:endParaRPr lang="en-US" sz="1150" dirty="0"/>
          </a:p>
        </p:txBody>
      </p:sp>
      <p:sp>
        <p:nvSpPr>
          <p:cNvPr id="15" name="mechanism-node-du-tx"/>
          <p:cNvSpPr/>
          <p:nvPr/>
        </p:nvSpPr>
        <p:spPr>
          <a:xfrm>
            <a:off x="6845300" y="26606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DU transmission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선택된 user link에 송신</a:t>
            </a:r>
            <a:endParaRPr lang="en-US" sz="1150" dirty="0"/>
          </a:p>
        </p:txBody>
      </p:sp>
      <p:sp>
        <p:nvSpPr>
          <p:cNvPr id="16" name="mechanism-node-air"/>
          <p:cNvSpPr/>
          <p:nvPr/>
        </p:nvSpPr>
        <p:spPr>
          <a:xfrm>
            <a:off x="9398000" y="26606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wireless access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사용자에게 service</a:t>
            </a:r>
            <a:endParaRPr lang="en-US" sz="1150" dirty="0"/>
          </a:p>
        </p:txBody>
      </p:sp>
      <p:sp>
        <p:nvSpPr>
          <p:cNvPr id="17" name="mechanism-node-cu-ctrl"/>
          <p:cNvSpPr/>
          <p:nvPr/>
        </p:nvSpPr>
        <p:spPr>
          <a:xfrm>
            <a:off x="1739900" y="42227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CU control</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CSI, beamformer, power, scheduling</a:t>
            </a:r>
            <a:endParaRPr lang="en-US" sz="1150" dirty="0"/>
          </a:p>
        </p:txBody>
      </p:sp>
      <p:sp>
        <p:nvSpPr>
          <p:cNvPr id="18" name="mechanism-node-fh-ctrl"/>
          <p:cNvSpPr/>
          <p:nvPr/>
        </p:nvSpPr>
        <p:spPr>
          <a:xfrm>
            <a:off x="4292600" y="42227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control transport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필요한 operational information</a:t>
            </a:r>
            <a:endParaRPr lang="en-US" sz="1150" dirty="0"/>
          </a:p>
        </p:txBody>
      </p:sp>
      <p:sp>
        <p:nvSpPr>
          <p:cNvPr id="19" name="mechanism-node-du-ctrl"/>
          <p:cNvSpPr/>
          <p:nvPr/>
        </p:nvSpPr>
        <p:spPr>
          <a:xfrm>
            <a:off x="6845300" y="42227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DU control</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local processing과 radio 설정</a:t>
            </a:r>
            <a:endParaRPr lang="en-US" sz="1150" dirty="0"/>
          </a:p>
        </p:txBody>
      </p:sp>
      <p:sp>
        <p:nvSpPr>
          <p:cNvPr id="20" name="Shape 18"/>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1" name="Text 19"/>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cluster를 줄이면 무선 link뿐 아니라 CSI·scheduling·fronthaul의 처리 범위도 함께 달라진다</a:t>
            </a:r>
            <a:endParaRPr lang="en-US" sz="1750" dirty="0"/>
          </a:p>
        </p:txBody>
      </p:sp>
      <p:sp>
        <p:nvSpPr>
          <p:cNvPr id="22" name="Shape 20"/>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3" name="Text 21"/>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7–8, §III</a:t>
            </a:r>
            <a:endParaRPr lang="en-US" sz="1050" dirty="0"/>
          </a:p>
        </p:txBody>
      </p:sp>
      <p:sp>
        <p:nvSpPr>
          <p:cNvPr id="24" name="Text 22"/>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Fronthaul 설계는 하나의 rate 최소화 규칙이 아니다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survey는 transport, compression, cooperation reduction, centralization 위치를 함께 다룬다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892040"/>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무엇을 바꾸나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원문의 위치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wired·wireless transport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CU–DU 물리 link의 전달 방식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§III-B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compression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전달하는 baseband·CSI 표현량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§III-A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reduced cooperation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data·control을 공유할 DU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§III-A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partial centralization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CU와 DU 사이의 processing 분할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§III-A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serial connection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DU를 잇는 transport 형태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§III-B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fronthaul 부담은 bit 수뿐 아니라 정보 처리 위치와 공유 범위의 결과다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8–11, §III-A–B</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Uplink compression의 세 processing 위치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 6은 세 가지 placement를 나열하며, 하나가 모든 조건에서 최선이라고 결론내리지 않는다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78272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대안</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처리 위치와 순서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compress-first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signal을 압축해 CU에 보내고 estimate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estimate-first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DU에서 estimate한 뒤 결과를 압축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multiply-first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estimate와 signal을 먼저 결합하고 압축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비교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fronthaul, DU computation, achievable rate를 함께 본다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‘compression’이라도 처리 순서가 달라지면 CU–DU가 교환하는 객체와 부담이 달라진다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9–10, Fig. 6 and §III-A</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CSI: channel knowledge를 어떻게 얻는가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pilot 수, contamination, mobility와 distributed propagation 특성이 함께 걸린다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pilot resource</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제한된 pilot sequence를 사용자에 배정</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channel estimate</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DU와 CU가 필요한 CSI를 형성</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propagation check</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hardening과 favorable propagation을 가정할지 점검</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resource decision</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CSI를 power, scheduling, beamforming에 사용</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분산 DU에서는 channel hardening을 자동 전제로 두지 않고 configuration별로 확인해야 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12–17, §IV</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Hardening·favorable propagation의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큰 antenna 수라는 말 하나만으로 distributed link의 변동성이 사라진다고 결론낼 수 없다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35224"/>
                <a:gridCol w="4348480"/>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성질</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무엇을 뜻하나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survey의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channel hardening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정규화한 channel gain의 변동이 작아지는 성질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적절한 antenna·통계 조건이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favorable propagation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다른 user channel이 충분히 직교에 가까워지는 성질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spatial distribution과 propagation에 좌우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co-located와 distributed shadowing model의 simulation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field measurement 또는 보편 결론이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design implication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pilot·beamforming·rate model의 가정을 재점검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cluster가 바뀌면 조건도 바뀜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hardening 가정은 cluster·antenna·shadowing 조건과 분리해 읽을 수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12–15, Eq. 6 and Fig. 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Pilot assignment의 세 비용</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pilot을 더 길게 쓰거나 더 정교하게 배정할수록 다른 resource를 덜 남긴다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4022344"/>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정책 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줄이려는 비용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함께 확인할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orthogonal pilot 확대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pilot contamination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coherence block 안의 overhead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reuse-aware assignment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강한 pilot interference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large-scale CSI와 computation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centralized selection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global contamination objective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fronthaul·central processing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distributed selection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overhead과 scalability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coupled user decision의 손실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pilot assignment는 SE와 coherence resource·coordination 조건을 함께 읽어야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14–16, Table V and §IV-B</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Cluster formation이 바꾸는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membership을 바꾸면 유용한 signal, CSI workload, fronthaul traffic, optimization dimension이 동시에 바뀐다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candidate DU</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사용자 근처의 여러 link를 관측</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membership rule</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distance, gain, utility, resource 조건을 반영</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selected cluster</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강한 DU는 협력하고 약한 link는 제외</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system burden</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CSI·fronthaul·computation 범위가 함께 변함</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cluster formation은 후속 allocation의 변수 수와 feasibility를 바꾸는 선택이다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17–18, §V</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Cluster formation의 시간 scale과 목표를 분리한다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§V 본문은 static·semi-dynamic·dynamic construction을 구분하고, Table VI는 선택된 formation solution의 장단점을 요약한다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457192"/>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형태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membership 갱신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핵심 trade-off</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장기간 같은 또는 천천히 변하는 정보로 구성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낮은 signaling, environment 변화 반영 제한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semi-dynamic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large-scale fading 등 느린 channel 정보에 맞춰 갱신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overhead와 adaptation의 절충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dynamic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빠른 state와 resource 상황을 반영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control·computation 부담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utility-based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rate·interference·cost 같은 목표를 함께 반영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utility 정의에 따라 해가 달라짐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‘최적 cluster’는 update frequency와 utility definition 없이 하나로 정해지지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17–18, §V; Table VI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Resource allocation: 먼저 무엇을 최적화하는지 적는다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link state라도 WSR, energy efficiency, QoS constraint는 다른 decision을 만들 수 있다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892040"/>
                <a:gridCol w="337007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목표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교육용 읽기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변수 예</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WSR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sum of weight times log of 1 plus SINR을 크게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power, beamformer, schedule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spectrum당 전송량을 크게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pilot, power, user selection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rate와 소비 power의 비를 고려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radiated·circuit power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QoS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최저 rate·delay·reliability를 만족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admission, power, cluster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allocation 비교 전에는 objective, feasible set, link direction을 맞춰야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18, 22; Eqs. 7 and 10</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§VI의 resource-allocation taxonomy</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Table VIII는 metric·problem type·approach를 map하고, §VI는 latency와 distributed operation까지 더 넓게 종합한다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152648"/>
                <a:gridCol w="4131056"/>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allocation family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접근의 예</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반드시 붙일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power allocation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max–min, WSR, fractional programming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UL/DL, CSI, power constraint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scheduling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 selection, queue·QoS-aware policy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traffic model, latency target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cluster allocation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AP/DU association, cooperation control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cluster metric, update scale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distributed optimization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updates와 information exchange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message scope, convergence, loss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Table VIII와 §VI의 방법은 metric과 가정이 달라 바로 순위화할 수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18–25, Table VIII; §VI-C</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Centralized·distributed allocation의 정보 위치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경로는 대안적인 formulation이며 실제 설계에서는 hybrid가 가능하다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공통 입력</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CSI, queue·QoS, power, cluster 상태</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centralized</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넓은 state를 모아 joint decision을 계산</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distributed</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local decision과 제한된 message를 반복</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같은 확인</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feasibility, signaling, computation, utility</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조건부 선택</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규모와 coordination capacity에 맞춰 설계</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18–28, §VI and Table XIII</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Latency와 MEC는 rate maximization 밖의 state를 넣는다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delay target이 있으면 traffic arrival, queue, execution, synchronization까지 model 범위가 넓어진다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5000752"/>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추가로 봐야 할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survey의 상태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uRLLC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latency와 reliability target, finite resource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research challenge로 survey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offload·execution·queue와 radio allocation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cell-free와의 결합을 논의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Lyapunov control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queue stability와 energy·rate penalty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일부 cited approach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punctured scheduling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다른 service 요구의 resource 분할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조건부 접근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synchronization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분산 DU의 time·phase consistency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 구현 제약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low latency claim에는 rate 외에 traffic·queue·execution model이 필요하다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27–30, §VII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수치는 어디까지 말할 수 있는가: source 조건을 유지한다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survey가 인용한 개별 연구의 결과는 configuration과 정의를 떼어내면 의미가 달라진다</a:t>
            </a:r>
            <a:endParaRPr lang="en-US" sz="1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696208"/>
                <a:gridCol w="4022344"/>
                <a:gridCol w="315264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reported observation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 condition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말하지 말아야 할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5배·10배 gain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인용 연구의 small-cell 대비, shadow fading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cell-free의 보편 gain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pilot length 3–3.75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 average-SE decrease를 negligible contamination으로 정의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pilot 정책의 일반 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 bit 초과 quantization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특정 연구의 perfect-fronthaul 접근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fronthaul의 필요 bit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9 difference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명시된 antenna·shadowing·path-loss simulation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field deployment의 결론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survey의 수치는 결론의 장식이 아니라 조건을 확인해야만 재사용할 수 있는 문헌 evidence다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2, 9, 14; Fig. 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Scalability, IRS, ML은 survey의 별도 연구 축이다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이 chapter들은 하나의 통합 성능 수치를 내는 것이 아니라 future direction과 cited approach를 정리한다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5000752"/>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왜 나타나는가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scalability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DU·user·decision variable 증가를 감당</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distributed allocation은 한 route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propagation environment를 조절하는 추가 요소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인용 study의 assumptions에 한정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machine learning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복잡한 mapping이나 online decision을 근사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 training, generalization 조건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partial cooperation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link·message를 공유하지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service loss와 overhead를 같이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scalability claim에는 state·message·training cost를 함께 모델링해야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30–32, §VIII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 13의 open issue를 네 연결로 읽기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2021 survey의 공백은 architecture·CSI·resource·service requirement가 만나는 곳에 남아 있다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architecture</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multi-CU fronthaul과 distributed SDN</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CSI</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FDD CSI, pilot allocation, high mobility</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resource</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robust cluster와 scalable allocation</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service</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delay, synchronization, emerging applications</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open issue는 한 algorithm보다 여러 layer를 함께 맞춰야 하는 결합 문제다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32–34, Fig. 13 and §IX</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새 논문을 이 survey 위에서 읽는 확인표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결과 숫자보다 먼저 model과 coordination boundary를 맞추면 비교 오류를 줄일 수 있다</a:t>
            </a:r>
            <a:endParaRPr lang="en-US" sz="1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4457192"/>
                <a:gridCol w="337007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확인할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왜 중요한가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누가 협력하나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cluster rule, size, update 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CSI·fronthaul burden을 정함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누가 계산하나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single/multiple CU, DU processing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delay·complexity를 정함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무엇을 최적화하나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WSR, EE, QoS, queue, reliability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objective별 숫자 비교를 막음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무엇을 알고 있나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CSI, TDD/FDD, mobility, pilot reuse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rate·hardening 가정을 정함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어떤 evidence인가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simulation·citation·taxonomy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universal claim을 막음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user-centric 연구는 cluster·information·objective·condition을 함께 읽는다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1–34, §§I–IX</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정리: 선택적 협력은 단일 knob가 아니다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user-centric cell-free는 per-user cluster를 중심으로 radio, transport, estimation, control 문제를 다시 묶는다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사용자별 cluster는 fixed cell을 완화하지만 CU·fronthaul은 남는다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cluster, CSI, fronthaul, allocation은 coupled decision이다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centralized·distributed, coherent·non-coherent는 조건과 부담이 다르다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survey table과 수치는 공통 leaderboard가 아니라 문헌 지도다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open issue는 2021 survey 시점의 연구 출발점이다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설계 주장은 cluster·information·objective·condition을 함께 말해야 비교 가능하다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32–34, §IX–X</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User-centric Cell-free Massive MIMO: 선택적 협력</dc:title>
  <dc:subject>User-centric Cell-free Massive MIMO Networks: A Survey of Opportunities, Challenges and Solutions</dc:subject>
  <dc:creator>Research Seminars</dc:creator>
  <cp:lastModifiedBy>Research Seminars</cp:lastModifiedBy>
  <cp:revision>1</cp:revision>
  <dcterms:created xsi:type="dcterms:W3CDTF">2026-09-12T07:58:37Z</dcterms:created>
  <dcterms:modified xsi:type="dcterms:W3CDTF">2026-09-12T07:58:37Z</dcterms:modified>
</cp:coreProperties>
</file>
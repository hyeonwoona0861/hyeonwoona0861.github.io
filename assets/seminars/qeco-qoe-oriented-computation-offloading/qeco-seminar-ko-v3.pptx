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28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D25A535F-D7E8-481B-BA6A-EBBFB34D0CF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QECO: 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중심 계산 오프로딩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Rahmaty, Shah-Mansouri, Movaghar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문제는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처리할지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보낼지를 매번 정하는 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여부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delay,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묶고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관측 가능한 정보로 결정을 내리도록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D3QN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추론을 수행하고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연계된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network, 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유지하며 학습을 돕습니다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 |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Publisher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https://doi.org/10.1109/TNSE.2025.3556809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C70524-F988-49F3-99DE-A03DDD62AEB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만드는 선택 충돌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넣으면 전송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피할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느리거나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길면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 자원을 이용하지만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transmission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무선 전송을 거쳐야 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영향을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고정하는 방식보다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상태에 따라 선택을 바꾸는 정책이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미래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완전히 알지 못하는 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이 선택을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1-3, Introduction and System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E023B41-F4D7-414A-89EE-2A5435A0F6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구조를 따라가겠습니다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복제하는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경로 중 하나만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local-computation FIFO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FIFO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넣고 전송이 끝난 뒤 선택한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있으며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활성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용량을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처리되거나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delay, energy,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여부로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확정됩니다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3-5, Fig. 1 and Eqs. (1)-(16)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C1AAA38-B5AB-4A9E-8B69-42FCECADF9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Local-computation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Offloaded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도착하는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FIFO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활성 상태인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집합을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generalized processor sharing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방식으로 계산 용량을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활동은 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받는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몫에 영향을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끝에 활성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b_j(t)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broadcast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기록이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 history H(t)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3-5, Fig. 1 and Eqs. (5)-(18)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3EB68A-A926-421A-9595-7B271D89E87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Deadline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종료를 정하는 과정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밀도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가지고 들어옵니다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보낼지를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route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기다리고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 route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전송 대기와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대기를 모두 겪습니다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용량은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수에 따라 나뉘므로 완료 시점은 미래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영향을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Deadline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필요한 처리를 끝내지 못한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시간 구조 때문에 선택 시점과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 시점이 분리됩니다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3-5, Eqs. (1)-(16)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5CEF73F-1F17-4104-A8DF-B012229F2BC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 목표와 의사결정 단위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자신의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관측하고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목표는 한 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할인된 장기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가지고 어떤 모델이나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선택했는지 알지 못해도 결정을 내리도록 설계합니다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broadcast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queue count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관측 범위를 이해해야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표현을 과장하지 않을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5-6, Eq. (24)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C06D709-D605-425F-8585-D76062DB597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snapshot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식은 여섯 구성요소를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size λ, local-computation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δ^C, transmission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δ^T,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η^E, battery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φ, workload history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과거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구성된 행렬입니다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끝에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broadcast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미래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알지 못하며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변화 패턴을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6, Eqs. (17)-(18)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D7DC492-F24E-4B73-BEC7-33809E74585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통과한다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입력 경로를 분리해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들어가며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시간 순서에 따른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active 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변화를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λ,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queue, battery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거치지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직접 전달됩니다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경로는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합쳐지고 두 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ReLU dense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거쳐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처리하는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구조로 설명하면 부정확합니다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6-7, Fig. 2 and Sec. 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7372B0-6DAE-4462-AB21-66F91702F3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a_i(t)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local-computation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선택한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여부와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최적화하지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Evaluation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하나를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 and 6, Eq. (19)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31C0E4D-C201-47AD-941E-B227344572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Offload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target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보낼지를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payload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 association j_i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capacity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기준으로 정해지고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dashed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control·training message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j_i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방향으로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나중에 관측되면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 tuple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 방향으로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parameter θ_i^E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반환합니다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우연히 같을 수는 있지만 역할과 선택 규칙은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7-9, Algorithms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16A50EF-4412-4C52-A989-8BAAEF63EB2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QoE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가지 근거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per-task 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reinforcement learning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상수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가중한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없고 사용한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음수만 부여합니다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사용자의 만족도를 반영하려는 모델링 지표이지만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표준화된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human-subject 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측정으로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5-6, Eqs. (20)-(24)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07860F-618B-4EA5-BE59-2F213BC2A1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Battery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비중을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 = φD + (1 − φ)E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Performance mode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비중이 커지고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ultra power-saving mode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비중이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결정하지는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Queue, task size, deadline, EN backlog,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함께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quantity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정의하지만 둘을 결합하기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절차와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reward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수치를 제시된 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명시하지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preference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구조와 실험 결과는 설명할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물리 단위를 그대로 대입하는 범용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주장할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6, Eqs. (22)-(23); p. 10,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595D307-B295-462E-9AB6-823AB720C7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정규화된 교실 예시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식을 이해하기 위한 정규화된 교실 예시이며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 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0.75,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가정하면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완료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되면 논문 식에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되어 완료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 preference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순위를 바꾸는 원리를 보여 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계산한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6, Eqs. (22)-(23)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F4D4DB6-FA22-4C9C-98CE-5936FB5680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관측되는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a(t)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고른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s(t+1)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관측할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처리를 거치면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아직 모를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현재 시점에 처리되거나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과거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F_i^t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관측된 뒤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state, action, QoE,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묶어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일반적인 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-step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그림처럼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즉시 나타난다고 설명하면 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구조를 놓치게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8-9, Algorithm 1 and delayed QoE passage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1D48F39-D3D7-4A6A-9CC9-FDABCF972C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학습하는 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Q-value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틀을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1−ε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확률로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Q-value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확률로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관측된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현재 평가값과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Q-value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 pattern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forecasting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6-8, Fig. 2 and Eq. (26)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AE40E27-3B44-48A7-894B-54634E917A8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D3QN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D3QN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layers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만든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갈라집니다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자체의 가치를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추정하고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상대적으로 얼마나 유리한지를 추정합니다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+ A − mean(A)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평균을 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제거하면서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 상대 차이는 유지됩니다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계산은 서로 다른 역할입니다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6-7, Fig. 2 and Eq. (25)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198817-D730-42C8-9748-89A3D3F1F8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D3QN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이루는 세 역할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용어를 구분하겠습니다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active queue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Dueling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나눠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값을 평가하게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actor-critic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구조를 사용하지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2 and 6-9, Fig. 2 and Eqs. (25)-(29)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3552EE9-28DA-4EE6-869C-E5A41E3C86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Double DQN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선택과 평가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방향을 정확히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바로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곱한 다음 값을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Evaluation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state-action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최소화하도록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평가한다고 뒤집으면 논문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역할이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9, Eqs. (27)-(29)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43D5E5-4E04-48C4-A3D4-013736522A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MD 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소유권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책임을 구분하겠습니다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보내 최신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ε-greedy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나중에 관측되면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associated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buffer M_i, evaluation network E_i, target network T_i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Network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copy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일어나고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전달받은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shared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공동 학습하는 구조도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7-9, Algorithms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EB2258E-C6EE-4A3E-9C61-3269523210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Associated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Associated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minibatch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뽑고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Evaluation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θ_i^E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업데이트합니다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배수가 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복사합니다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도착한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최신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θ_i^E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9, Algorithm 2 and Eqs. (27)-(29)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1A507A-351A-4323-B520-F1685E4E9A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선택을 바꾸는 과정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흐름을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관점에서 연결하겠습니다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associated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받고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경로를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일어나면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관측하고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associated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도착해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요청할 때 갱신된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선택에 영향을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Offload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분리해서 따라가야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정확해집니다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7-9, Algorithms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7096E8A-78F8-45C7-891D-96CCD91B90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뜻하는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부르는 이유는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model,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알지 않고 자신의 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결정을 내리기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 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queue count broadcast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associated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완전히 독립된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on-device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아니고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평균내는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federated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1-2 and 7-9, Algorithms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C2A67B5-F23F-43B4-AA50-81365A1980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실험의 기본 환경은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1,000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slot, 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Batch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16, 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0.001, discount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RMSProp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ε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장기간 대표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얻기 어렵기 때문에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사용했다고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결과는 이 모델과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범위의 수치로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10, Simulation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64DAAA3-B56A-4EA4-A636-8C7DFAB8119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parameter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용량은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2.6 GHz,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42.8 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 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transmission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2.3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7.0 Mbits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CPU density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값 중 하나입니다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25, 50, 75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 compute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W, MD standby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선택과 직접 관련된 값을 우선 제시했습니다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10,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749AE94-6700-43F6-9C02-A6192E9748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 비교 대상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성능을 다섯 방법과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처리하고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결정 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PGOA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delay-sensitive distributed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DCDRL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actor-critic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기반의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DRL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수렴을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비교 집합을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목록으로 섞으면 결과의 의미가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10, Benchmark definitions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48B63B-F8AB-42AD-B5A5-9D9F98164A1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rate 250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완료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72.1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PGOA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46.8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DCDRL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증가합니다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110 MD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조건에서는 다른 방법보다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많습니다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rate 450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세 방법보다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18.6, 15.5, 13.9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110 MD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조건의 감소율은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27.4, 16.7, 23.5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소비한다고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사용 자원을 제한하기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10-11, Figs. 3-4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63F1D3-8080-4E48-937C-065FC8E6A6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결과의 조건부 해석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rate 200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다른 방법보다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일부 방법보다 높을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다른 방법이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많이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더 많이 완료하기 때문이라고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 average 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PGOA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DCDRL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44.7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110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다른 방법보다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High-load 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comparator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유지해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11, Figs. 5-6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878C601-ACCF-4E15-B1B1-F142C4EC5A6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convergence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QoE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650, DDQN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550, QECO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450 iteration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안정되는 것으로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빠른 수렴을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workload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utilization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연결해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complexity discussion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function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결과는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이론적 보장으로 일반화할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9, Complexity; p. 12, Fig.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BB2E474-42B9-4D8C-9640-3AC9BA90B0B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옮길 때 남는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normalization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수치가 제시된 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명확하지 않아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절대값을 다른 시스템에 바로 옮기기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과거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queue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 prediction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정확도를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forecasting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평가하지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넷째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task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모델에서 제외되고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convergence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6 and 9-12, Eqs. (22)-(23), Secs. VI-VII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3059BD8-CC3F-4433-897D-03894F40D39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기술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기술 경계를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Network Science and Engineering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논문이며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QECO-Adapt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연구와 결과나 구조를 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관측하고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Associated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evaluation-target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Offload target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정의가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Federated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call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결론에서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언급되며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구성요소가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1-2, 7-9 and 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6689BF-501C-4C89-9D84-4C12E24845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흐름을 네 단계로 기억할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선택에는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 queue, battery,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backlog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완료되거나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뒤에야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확정되고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넷째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evaluation-target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학습하고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요청에 갱신된 값을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결과는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completion, delay, energy, 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3-12, System Model through Evaluation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ED91B07-C372-4C08-879B-C7455DAF78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공개적으로 확인할 수 있는 출처입니다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journal article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정식 식별 정보입니다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arXiv v3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저자들이 공개한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manuscript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GitHub repository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42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인용된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자료의 식과 실험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기준으로 정리했으며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repository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논문 근거의 대체물로 사용하지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 |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Publisher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https://doi.org/10.1109/TNSE.2025.3556809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article record and Ref. [42]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Xplore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https://ieeexplore.ieee.org/document/10946841/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version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manuscript record, arXiv:2311.02525v3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https://arxiv.org/abs/2311.02525v3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| repository root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QECO source-code repository cited by the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https://github.com/ImanRHT/QECO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F043C9-C1EA-403C-A1EE-C5963D0331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QECO: QoE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중심 계산 오프로딩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QECO: A QoE-Oriented Computation Offloading Algorithm Based on Deep Reinforcement Learning for Mobile Edge Computing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Iman Rahmaty, Hamed Shah-Mansouri, Ali Movaghar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동적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workload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각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mobile device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장기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학습하는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doi article record; ieee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만드는 선택 충돌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항상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항상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하는 정책은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병목을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717640"/>
                <a:gridCol w="27176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자원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주요 위험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결정에 필요한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CPU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긴 대기와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backlog, 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 전송과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비용과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혼잡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queue, EN workload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불확실한 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상태와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 history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오프로딩 문제는 빠른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선택보다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함께 예측하는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1-3, Introduction and System Model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x=0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FIFO, x=1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transmission FIFO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거쳐 선택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가는 상호 배타적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mechanism-lane-md-local"/>
          <p:cNvSpPr/>
          <p:nvPr/>
        </p:nvSpPr>
        <p:spPr>
          <a:xfrm>
            <a:off x="660240" y="2209680"/>
            <a:ext cx="863280" cy="9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 local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mechanism-lane-md-offload"/>
          <p:cNvSpPr/>
          <p:nvPr/>
        </p:nvSpPr>
        <p:spPr>
          <a:xfrm>
            <a:off x="660240" y="3156120"/>
            <a:ext cx="863280" cy="9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 offload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mechanism-lane-en-1"/>
          <p:cNvSpPr/>
          <p:nvPr/>
        </p:nvSpPr>
        <p:spPr>
          <a:xfrm>
            <a:off x="660240" y="4102200"/>
            <a:ext cx="863280" cy="9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EN1: MD i queue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mechanism-lane-en-k"/>
          <p:cNvSpPr/>
          <p:nvPr/>
        </p:nvSpPr>
        <p:spPr>
          <a:xfrm>
            <a:off x="660240" y="5048280"/>
            <a:ext cx="863280" cy="9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EN1: MD k queue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mechanism-edge-task-local-segment-1"/>
          <p:cNvSpPr/>
          <p:nvPr/>
        </p:nvSpPr>
        <p:spPr>
          <a:xfrm>
            <a:off x="3299400" y="24793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mechanism-edge-task-local-segment-2"/>
          <p:cNvSpPr/>
          <p:nvPr/>
        </p:nvSpPr>
        <p:spPr>
          <a:xfrm>
            <a:off x="3620880" y="2479320"/>
            <a:ext cx="360" cy="2034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mechanism-edge-task-local-segment-3"/>
          <p:cNvSpPr/>
          <p:nvPr/>
        </p:nvSpPr>
        <p:spPr>
          <a:xfrm>
            <a:off x="3620880" y="26827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mechanism-edge-local-cpu-segment-1"/>
          <p:cNvSpPr/>
          <p:nvPr/>
        </p:nvSpPr>
        <p:spPr>
          <a:xfrm>
            <a:off x="5341320" y="2682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mechanism-edge-task-tx-segment-1"/>
          <p:cNvSpPr/>
          <p:nvPr/>
        </p:nvSpPr>
        <p:spPr>
          <a:xfrm>
            <a:off x="3299400" y="288576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mechanism-edge-task-tx-segment-2"/>
          <p:cNvSpPr/>
          <p:nvPr/>
        </p:nvSpPr>
        <p:spPr>
          <a:xfrm>
            <a:off x="3460320" y="2885760"/>
            <a:ext cx="360" cy="74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mechanism-edge-task-tx-segment-3"/>
          <p:cNvSpPr/>
          <p:nvPr/>
        </p:nvSpPr>
        <p:spPr>
          <a:xfrm>
            <a:off x="3460320" y="362880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mechanism-edge-tx-en1-segment-1"/>
          <p:cNvSpPr/>
          <p:nvPr/>
        </p:nvSpPr>
        <p:spPr>
          <a:xfrm>
            <a:off x="5341320" y="362880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mechanism-edge-tx-en1-segment-2"/>
          <p:cNvSpPr/>
          <p:nvPr/>
        </p:nvSpPr>
        <p:spPr>
          <a:xfrm>
            <a:off x="5502240" y="3628800"/>
            <a:ext cx="360" cy="9460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mechanism-edge-tx-en1-segment-3"/>
          <p:cNvSpPr/>
          <p:nvPr/>
        </p:nvSpPr>
        <p:spPr>
          <a:xfrm>
            <a:off x="5502240" y="4574880"/>
            <a:ext cx="23641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mechanism-edge-en1-service-segment-1"/>
          <p:cNvSpPr/>
          <p:nvPr/>
        </p:nvSpPr>
        <p:spPr>
          <a:xfrm>
            <a:off x="9425880" y="457488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mechanism-edge-en1-service-segment-2"/>
          <p:cNvSpPr/>
          <p:nvPr/>
        </p:nvSpPr>
        <p:spPr>
          <a:xfrm flipV="1">
            <a:off x="9747360" y="437184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mechanism-edge-en1-service-segment-3"/>
          <p:cNvSpPr/>
          <p:nvPr/>
        </p:nvSpPr>
        <p:spPr>
          <a:xfrm>
            <a:off x="9747360" y="43718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mechanism-edge-oth-service-segment-1"/>
          <p:cNvSpPr/>
          <p:nvPr/>
        </p:nvSpPr>
        <p:spPr>
          <a:xfrm>
            <a:off x="9425880" y="55213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mechanism-edge-oth-service-segment-2"/>
          <p:cNvSpPr/>
          <p:nvPr/>
        </p:nvSpPr>
        <p:spPr>
          <a:xfrm flipV="1">
            <a:off x="9586800" y="4778280"/>
            <a:ext cx="360" cy="74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mechanism-edge-oth-service-segment-3"/>
          <p:cNvSpPr/>
          <p:nvPr/>
        </p:nvSpPr>
        <p:spPr>
          <a:xfrm>
            <a:off x="9586800" y="477828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node-new-task"/>
          <p:cNvSpPr/>
          <p:nvPr/>
        </p:nvSpPr>
        <p:spPr>
          <a:xfrm>
            <a:off x="1739880" y="2352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x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x=0 local / x=1 transmit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mechanism-node-local-fifo"/>
          <p:cNvSpPr/>
          <p:nvPr/>
        </p:nvSpPr>
        <p:spPr>
          <a:xfrm>
            <a:off x="3782160" y="236520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x=0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mechanism-node-local-fifo-queue-1"/>
          <p:cNvSpPr/>
          <p:nvPr/>
        </p:nvSpPr>
        <p:spPr>
          <a:xfrm>
            <a:off x="3782160" y="26193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앞선 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node-local-fifo-queue-2"/>
          <p:cNvSpPr/>
          <p:nvPr/>
        </p:nvSpPr>
        <p:spPr>
          <a:xfrm>
            <a:off x="3782160" y="28098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md-cpu"/>
          <p:cNvSpPr/>
          <p:nvPr/>
        </p:nvSpPr>
        <p:spPr>
          <a:xfrm>
            <a:off x="5824080" y="2352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 CPU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task FIFO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tx-fifo"/>
          <p:cNvSpPr/>
          <p:nvPr/>
        </p:nvSpPr>
        <p:spPr>
          <a:xfrm>
            <a:off x="3782160" y="331164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x=1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node-tx-fifo-queue-1"/>
          <p:cNvSpPr/>
          <p:nvPr/>
        </p:nvSpPr>
        <p:spPr>
          <a:xfrm>
            <a:off x="3782160" y="356544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앞선 전송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mechanism-node-tx-fifo-queue-2"/>
          <p:cNvSpPr/>
          <p:nvPr/>
        </p:nvSpPr>
        <p:spPr>
          <a:xfrm>
            <a:off x="3782160" y="375588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mechanism-node-en1-i-queue"/>
          <p:cNvSpPr/>
          <p:nvPr/>
        </p:nvSpPr>
        <p:spPr>
          <a:xfrm>
            <a:off x="7866360" y="43527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EN1: i queue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mechanism-node-en1-i-queue-queue-1"/>
          <p:cNvSpPr/>
          <p:nvPr/>
        </p:nvSpPr>
        <p:spPr>
          <a:xfrm>
            <a:off x="7866360" y="46069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i 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mechanism-node-en1-gps"/>
          <p:cNvSpPr/>
          <p:nvPr/>
        </p:nvSpPr>
        <p:spPr>
          <a:xfrm>
            <a:off x="9908640" y="424512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EN1 GPS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활성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queue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node-en1-k-queue"/>
          <p:cNvSpPr/>
          <p:nvPr/>
        </p:nvSpPr>
        <p:spPr>
          <a:xfrm>
            <a:off x="7866360" y="529920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EN1: k queue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mechanism-node-en1-k-queue-queue-1"/>
          <p:cNvSpPr/>
          <p:nvPr/>
        </p:nvSpPr>
        <p:spPr>
          <a:xfrm>
            <a:off x="7866360" y="55530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k 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3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Text 3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3-5, Fig. 1 and Eqs. (1)-(16)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대기 위치와 처리 주체를 구분해야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의미가 선명해진다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391480"/>
                <a:gridCol w="239148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자원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Local-computation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FIFO, deadline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 처리 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Transmission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FIFO,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Edge-computation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활성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끼리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용량 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 queue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b_j(t)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 자원 수요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끝에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broadcast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줄로 처리하지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용량을 나눠 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3-5, Fig. 1 and Eqs. (5)-(18)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종료를 정하는 과정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기다린 뒤 처리되며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deadline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전에 끝나지 않으면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Size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density, deadline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가진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도착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Route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FIFO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transmission FIFO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선택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queue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queue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처리 시작을 늦춤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 또는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 끝나면 완료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끝내지 못하면 즉시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처리에 여러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걸리므로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시점이 분리된다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3-5, Eqs. (1)-(16)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연구 목표와 의사결정 단위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model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받지 않고 자신의 장기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최적화한다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의사결정 시점은 새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도착한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 slot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정책은 관측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특정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대응시킨다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discounted QoE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기대 합을 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최대화하는 것이다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model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직접 입력하지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workload history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공유된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queue count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얻는다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distributed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의미는 제한된 관측으로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독립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고른다는 데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5-6, Eq. (24)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snapshot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task, MD queue,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직전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 queue, battery mode, EN workload history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묶는다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결정에 주는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λ_i(t)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전송량과 계산량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δ_i^C, δ_i^T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transmission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backlog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η_i^E(t−1)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backlog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φ_i(t)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mode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T_s 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 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 패턴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H(t)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미래 값을 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oracle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과거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queue count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행렬이다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6, Eqs. (17)-(18)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History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통과한다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일반 항목과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 workload 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입력 경로를 거친다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mechanism-lane-history"/>
          <p:cNvSpPr/>
          <p:nvPr/>
        </p:nvSpPr>
        <p:spPr>
          <a:xfrm>
            <a:off x="660240" y="2209680"/>
            <a:ext cx="86328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과거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workload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mechanism-lane-snapshot"/>
          <p:cNvSpPr/>
          <p:nvPr/>
        </p:nvSpPr>
        <p:spPr>
          <a:xfrm>
            <a:off x="660240" y="4102200"/>
            <a:ext cx="86328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mechanism-edge-history-lstm-segment-1"/>
          <p:cNvSpPr/>
          <p:nvPr/>
        </p:nvSpPr>
        <p:spPr>
          <a:xfrm>
            <a:off x="3299400" y="31557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mechanism-edge-state-direct-segment-1"/>
          <p:cNvSpPr/>
          <p:nvPr/>
        </p:nvSpPr>
        <p:spPr>
          <a:xfrm>
            <a:off x="3299400" y="5047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mechanism-edge-lstm-dense-segment-1"/>
          <p:cNvSpPr/>
          <p:nvPr/>
        </p:nvSpPr>
        <p:spPr>
          <a:xfrm>
            <a:off x="5341320" y="315576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mechanism-edge-lstm-dense-segment-2"/>
          <p:cNvSpPr/>
          <p:nvPr/>
        </p:nvSpPr>
        <p:spPr>
          <a:xfrm>
            <a:off x="5502240" y="3155760"/>
            <a:ext cx="360" cy="168912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mechanism-edge-lstm-dense-segment-3"/>
          <p:cNvSpPr/>
          <p:nvPr/>
        </p:nvSpPr>
        <p:spPr>
          <a:xfrm>
            <a:off x="5502240" y="484488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mechanism-edge-direct-dense-segment-1"/>
          <p:cNvSpPr/>
          <p:nvPr/>
        </p:nvSpPr>
        <p:spPr>
          <a:xfrm>
            <a:off x="5341320" y="504792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mechanism-edge-direct-dense-segment-2"/>
          <p:cNvSpPr/>
          <p:nvPr/>
        </p:nvSpPr>
        <p:spPr>
          <a:xfrm>
            <a:off x="5663160" y="5047920"/>
            <a:ext cx="360" cy="2034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mechanism-edge-direct-dense-segment-3"/>
          <p:cNvSpPr/>
          <p:nvPr/>
        </p:nvSpPr>
        <p:spPr>
          <a:xfrm>
            <a:off x="5663160" y="52513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mechanism-edge-dense-1-2-segment-1"/>
          <p:cNvSpPr/>
          <p:nvPr/>
        </p:nvSpPr>
        <p:spPr>
          <a:xfrm>
            <a:off x="7383600" y="50479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mechanism-edge-dense-duel-segment-1"/>
          <p:cNvSpPr/>
          <p:nvPr/>
        </p:nvSpPr>
        <p:spPr>
          <a:xfrm>
            <a:off x="9425880" y="5047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mechanism-node-h-matrix"/>
          <p:cNvSpPr/>
          <p:nvPr/>
        </p:nvSpPr>
        <p:spPr>
          <a:xfrm>
            <a:off x="1739880" y="2793960"/>
            <a:ext cx="15591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H(t)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8" name="Table 0"/>
          <p:cNvGraphicFramePr/>
          <p:nvPr/>
        </p:nvGraphicFramePr>
        <p:xfrm>
          <a:off x="1739880" y="3022560"/>
          <a:ext cx="1559160" cy="500040"/>
        </p:xfrm>
        <a:graphic>
          <a:graphicData uri="http://schemas.openxmlformats.org/drawingml/2006/table">
            <a:tbl>
              <a:tblPr/>
              <a:tblGrid>
                <a:gridCol w="779760"/>
                <a:gridCol w="779760"/>
              </a:tblGrid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9" name="mechanism-node-lstm"/>
          <p:cNvSpPr/>
          <p:nvPr/>
        </p:nvSpPr>
        <p:spPr>
          <a:xfrm>
            <a:off x="3782160" y="28256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부하 순서만 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mechanism-node-other-state"/>
          <p:cNvSpPr/>
          <p:nvPr/>
        </p:nvSpPr>
        <p:spPr>
          <a:xfrm>
            <a:off x="1739880" y="47181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나머지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Task·queue·battery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mechanism-node-direct-input"/>
          <p:cNvSpPr/>
          <p:nvPr/>
        </p:nvSpPr>
        <p:spPr>
          <a:xfrm>
            <a:off x="3782160" y="47181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직접 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거치지 않음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mechanism-node-dense-1"/>
          <p:cNvSpPr/>
          <p:nvPr/>
        </p:nvSpPr>
        <p:spPr>
          <a:xfrm>
            <a:off x="5824080" y="47181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입력 경로를 결합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mechanism-node-dense-2"/>
          <p:cNvSpPr/>
          <p:nvPr/>
        </p:nvSpPr>
        <p:spPr>
          <a:xfrm>
            <a:off x="7866360" y="47181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mechanism-node-dueling-in"/>
          <p:cNvSpPr/>
          <p:nvPr/>
        </p:nvSpPr>
        <p:spPr>
          <a:xfrm>
            <a:off x="9908640" y="47181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V/A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branch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공유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2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6-7, Fig. 2 and Sec. 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index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주파수나 전송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연속 제어하지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discrete route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391480"/>
                <a:gridCol w="347868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x_i(t)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x_i(t)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Transmission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y_i,j(t)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target j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x_i(t)=1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Q-value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ε-greedy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전송 여부뿐 아니라 어느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보낼지도 포함된다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 and 6, Eq. (19)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EN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구분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Solid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dashed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방향이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training·control message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나타낸다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mechanism-lane-execution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mechanism-lane-training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edge-task-route-segment-1"/>
          <p:cNvSpPr/>
          <p:nvPr/>
        </p:nvSpPr>
        <p:spPr>
          <a:xfrm>
            <a:off x="3809880" y="278748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mechanism-edge-task-route-segment-2"/>
          <p:cNvSpPr/>
          <p:nvPr/>
        </p:nvSpPr>
        <p:spPr>
          <a:xfrm>
            <a:off x="413172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mechanism-edge-task-route-segment-3"/>
          <p:cNvSpPr/>
          <p:nvPr/>
        </p:nvSpPr>
        <p:spPr>
          <a:xfrm>
            <a:off x="4131720" y="2990520"/>
            <a:ext cx="27133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mechanism-edge-task-route-label"/>
          <p:cNvSpPr/>
          <p:nvPr/>
        </p:nvSpPr>
        <p:spPr>
          <a:xfrm>
            <a:off x="4955040" y="27622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route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mechanism-edge-target-queue-segment-1"/>
          <p:cNvSpPr/>
          <p:nvPr/>
        </p:nvSpPr>
        <p:spPr>
          <a:xfrm>
            <a:off x="8915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mechanism-edge-model-link-segment-1"/>
          <p:cNvSpPr/>
          <p:nvPr/>
        </p:nvSpPr>
        <p:spPr>
          <a:xfrm>
            <a:off x="3809880" y="3193920"/>
            <a:ext cx="16092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mechanism-edge-model-link-segment-2"/>
          <p:cNvSpPr/>
          <p:nvPr/>
        </p:nvSpPr>
        <p:spPr>
          <a:xfrm>
            <a:off x="3970800" y="3193920"/>
            <a:ext cx="360" cy="135900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mechanism-edge-model-link-segment-3"/>
          <p:cNvSpPr/>
          <p:nvPr/>
        </p:nvSpPr>
        <p:spPr>
          <a:xfrm>
            <a:off x="3970800" y="4552920"/>
            <a:ext cx="287424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mechanism-edge-model-link-label"/>
          <p:cNvSpPr/>
          <p:nvPr/>
        </p:nvSpPr>
        <p:spPr>
          <a:xfrm>
            <a:off x="4874760" y="432432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→요청</a:t>
            </a: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후속경험 ←</a:t>
            </a: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mechanism-edge-train-store-segment-1"/>
          <p:cNvSpPr/>
          <p:nvPr/>
        </p:nvSpPr>
        <p:spPr>
          <a:xfrm>
            <a:off x="891540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mechanism-node-md-i"/>
          <p:cNvSpPr/>
          <p:nvPr/>
        </p:nvSpPr>
        <p:spPr>
          <a:xfrm>
            <a:off x="173988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 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요청 전송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mechanism-node-target-en"/>
          <p:cNvSpPr/>
          <p:nvPr/>
        </p:nvSpPr>
        <p:spPr>
          <a:xfrm>
            <a:off x="684540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 j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Q-value action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mechanism-node-exec-queue"/>
          <p:cNvSpPr/>
          <p:nvPr/>
        </p:nvSpPr>
        <p:spPr>
          <a:xfrm>
            <a:off x="9398160" y="27687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 i queue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mechanism-node-exec-queue-queue-1"/>
          <p:cNvSpPr/>
          <p:nvPr/>
        </p:nvSpPr>
        <p:spPr>
          <a:xfrm>
            <a:off x="9398160" y="30225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전송된 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mechanism-node-training-en"/>
          <p:cNvSpPr/>
          <p:nvPr/>
        </p:nvSpPr>
        <p:spPr>
          <a:xfrm>
            <a:off x="684540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EN j_i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최대 전송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capacity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연계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mechanism-node-train-state"/>
          <p:cNvSpPr/>
          <p:nvPr/>
        </p:nvSpPr>
        <p:spPr>
          <a:xfrm>
            <a:off x="939816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학습 상태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Replay·evaluation·target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선택 기준과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message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7-9, Algorithms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 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세 가지 근거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완료 여부를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경계로 두고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battery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결합한다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미치는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processed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reward 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받음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delay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도착부터 처리까지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edge, standby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(1−φ)E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drop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전에 완료하지 못함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없이 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받음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표준 사용자 설문 점수가 아니라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평가하는 학습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5-6, Eqs. (20)-(24)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비중을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 = φD + (1 − φ)E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φ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delay,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낮은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φ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비중을 키운다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608920"/>
                <a:gridCol w="271764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mode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강조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Performance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높은 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saving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뜻하지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Ultra saving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뜻하지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 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미기재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수치도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II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Preference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구조는 분명하지만 물리 단위를 합친 범용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옮길 근거는 부족하다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6, Eqs. (22)-(23); p. 10,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정규화된 교실 예시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R=10, φ=0.75, D=2, E=4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가정해 계산하되 논문 실험값과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478680"/>
                <a:gridCol w="282636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Processed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0.75×2 + 0.25×4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10 − 2.5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Dropped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E=4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0.25×2 + 0.75×4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10 − 3.5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정규화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parameter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 해석 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바뀌면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평가가 달라지고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completion 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6, Eqs. (22)-(23)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여러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 관측되는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시점의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거친 뒤 완료 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될 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확정된다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mechanism-lane-task-tim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시간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mechanism-edge-dec-next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mechanism-edge-next-run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mechanism-edge-run-outcome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mechanism-edge-out-upload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mechanism-node-decision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s(t), a(t)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저장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mechanism-node-next-state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t+1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s(t+1)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q(t)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mechanism-node-queue-run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진행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·EN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mechanism-node-outcome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완료 또는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q(t)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mechanism-node-exp-upload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업로드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tuple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j_i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전송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mechanism-axis-line"/>
          <p:cNvSpPr/>
          <p:nvPr/>
        </p:nvSpPr>
        <p:spPr>
          <a:xfrm>
            <a:off x="1676160" y="5079960"/>
            <a:ext cx="98553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mechanism-axis-tick-1"/>
          <p:cNvSpPr/>
          <p:nvPr/>
        </p:nvSpPr>
        <p:spPr>
          <a:xfrm>
            <a:off x="216396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mechanism-axis-tick-2"/>
          <p:cNvSpPr/>
          <p:nvPr/>
        </p:nvSpPr>
        <p:spPr>
          <a:xfrm>
            <a:off x="420624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mechanism-axis-tick-3"/>
          <p:cNvSpPr/>
          <p:nvPr/>
        </p:nvSpPr>
        <p:spPr>
          <a:xfrm>
            <a:off x="62485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mechanism-axis-tick-4"/>
          <p:cNvSpPr/>
          <p:nvPr/>
        </p:nvSpPr>
        <p:spPr>
          <a:xfrm>
            <a:off x="829044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mechanism-axis-tick-5"/>
          <p:cNvSpPr/>
          <p:nvPr/>
        </p:nvSpPr>
        <p:spPr>
          <a:xfrm>
            <a:off x="103327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later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현재 끝난 과거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모아 원래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전송한다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8-9, Algorithm 1 and delayed QoE passage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학습하는 값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discrete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이후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discounted QoE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평가한다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Task, queue, battery, workload history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vector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offload 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장기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ε-greedy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1−ε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argmax,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action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종료 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오차를 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최적화하는 예측기보다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장기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근사하는 함수다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6-8, Fig. 2 and Eq. (26)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D3QN feature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vector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일반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만든 공통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advantage branch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공유한다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mechanism-lane-history"/>
          <p:cNvSpPr/>
          <p:nvPr/>
        </p:nvSpPr>
        <p:spPr>
          <a:xfrm>
            <a:off x="660240" y="2209680"/>
            <a:ext cx="863280" cy="12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History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mechanism-lane-value"/>
          <p:cNvSpPr/>
          <p:nvPr/>
        </p:nvSpPr>
        <p:spPr>
          <a:xfrm>
            <a:off x="660240" y="3471480"/>
            <a:ext cx="863280" cy="12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State·value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mechanism-lane-advantage"/>
          <p:cNvSpPr/>
          <p:nvPr/>
        </p:nvSpPr>
        <p:spPr>
          <a:xfrm>
            <a:off x="660240" y="4732920"/>
            <a:ext cx="863280" cy="12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Advantage stream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mechanism-edge-history-lstm-segment-1"/>
          <p:cNvSpPr/>
          <p:nvPr/>
        </p:nvSpPr>
        <p:spPr>
          <a:xfrm>
            <a:off x="3299400" y="28404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mechanism-edge-lstm-dense-segment-1"/>
          <p:cNvSpPr/>
          <p:nvPr/>
        </p:nvSpPr>
        <p:spPr>
          <a:xfrm>
            <a:off x="5341320" y="2840400"/>
            <a:ext cx="24156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mechanism-edge-lstm-dense-segment-2"/>
          <p:cNvSpPr/>
          <p:nvPr/>
        </p:nvSpPr>
        <p:spPr>
          <a:xfrm>
            <a:off x="5582880" y="2840400"/>
            <a:ext cx="360" cy="10584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mechanism-edge-lstm-dense-segment-3"/>
          <p:cNvSpPr/>
          <p:nvPr/>
        </p:nvSpPr>
        <p:spPr>
          <a:xfrm>
            <a:off x="5582880" y="389880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mechanism-edge-state-dense-segment-1"/>
          <p:cNvSpPr/>
          <p:nvPr/>
        </p:nvSpPr>
        <p:spPr>
          <a:xfrm>
            <a:off x="3299400" y="410184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mechanism-edge-state-dense-segment-2"/>
          <p:cNvSpPr/>
          <p:nvPr/>
        </p:nvSpPr>
        <p:spPr>
          <a:xfrm>
            <a:off x="3620880" y="4101840"/>
            <a:ext cx="360" cy="2034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mechanism-edge-state-dense-segment-3"/>
          <p:cNvSpPr/>
          <p:nvPr/>
        </p:nvSpPr>
        <p:spPr>
          <a:xfrm>
            <a:off x="3620880" y="4305240"/>
            <a:ext cx="2203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mechanism-edge-dense-value-segment-1"/>
          <p:cNvSpPr/>
          <p:nvPr/>
        </p:nvSpPr>
        <p:spPr>
          <a:xfrm>
            <a:off x="7383600" y="389880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mechanism-edge-dense-value-segment-2"/>
          <p:cNvSpPr/>
          <p:nvPr/>
        </p:nvSpPr>
        <p:spPr>
          <a:xfrm>
            <a:off x="7705440" y="389880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mechanism-edge-dense-value-segment-3"/>
          <p:cNvSpPr/>
          <p:nvPr/>
        </p:nvSpPr>
        <p:spPr>
          <a:xfrm>
            <a:off x="7705440" y="41018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mechanism-edge-dense-adv-segment-1"/>
          <p:cNvSpPr/>
          <p:nvPr/>
        </p:nvSpPr>
        <p:spPr>
          <a:xfrm>
            <a:off x="7383600" y="43052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mechanism-edge-dense-adv-segment-2"/>
          <p:cNvSpPr/>
          <p:nvPr/>
        </p:nvSpPr>
        <p:spPr>
          <a:xfrm>
            <a:off x="7544520" y="4305240"/>
            <a:ext cx="360" cy="1058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mechanism-edge-dense-adv-segment-3"/>
          <p:cNvSpPr/>
          <p:nvPr/>
        </p:nvSpPr>
        <p:spPr>
          <a:xfrm>
            <a:off x="7544520" y="536328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mechanism-edge-value-q-segment-1"/>
          <p:cNvSpPr/>
          <p:nvPr/>
        </p:nvSpPr>
        <p:spPr>
          <a:xfrm>
            <a:off x="9425880" y="410184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mechanism-edge-value-q-segment-2"/>
          <p:cNvSpPr/>
          <p:nvPr/>
        </p:nvSpPr>
        <p:spPr>
          <a:xfrm flipV="1">
            <a:off x="9747360" y="389880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mechanism-edge-value-q-segment-3"/>
          <p:cNvSpPr/>
          <p:nvPr/>
        </p:nvSpPr>
        <p:spPr>
          <a:xfrm>
            <a:off x="9747360" y="389880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mechanism-edge-advantage-q-segment-1"/>
          <p:cNvSpPr/>
          <p:nvPr/>
        </p:nvSpPr>
        <p:spPr>
          <a:xfrm>
            <a:off x="9425880" y="536328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mechanism-edge-advantage-q-segment-2"/>
          <p:cNvSpPr/>
          <p:nvPr/>
        </p:nvSpPr>
        <p:spPr>
          <a:xfrm flipV="1">
            <a:off x="9586800" y="4305240"/>
            <a:ext cx="360" cy="1058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mechanism-edge-advantage-q-segment-3"/>
          <p:cNvSpPr/>
          <p:nvPr/>
        </p:nvSpPr>
        <p:spPr>
          <a:xfrm>
            <a:off x="9586800" y="430524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mechanism-node-d3qn-history"/>
          <p:cNvSpPr/>
          <p:nvPr/>
        </p:nvSpPr>
        <p:spPr>
          <a:xfrm>
            <a:off x="1739880" y="2478600"/>
            <a:ext cx="15591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H(t)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9" name="Table 0"/>
          <p:cNvGraphicFramePr/>
          <p:nvPr/>
        </p:nvGraphicFramePr>
        <p:xfrm>
          <a:off x="1739880" y="2707200"/>
          <a:ext cx="1559160" cy="500040"/>
        </p:xfrm>
        <a:graphic>
          <a:graphicData uri="http://schemas.openxmlformats.org/drawingml/2006/table">
            <a:tbl>
              <a:tblPr/>
              <a:tblGrid>
                <a:gridCol w="779760"/>
                <a:gridCol w="779760"/>
              </a:tblGrid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0" name="mechanism-node-d3qn-state"/>
          <p:cNvSpPr/>
          <p:nvPr/>
        </p:nvSpPr>
        <p:spPr>
          <a:xfrm>
            <a:off x="1739880" y="3772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나머지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Task·queue·battery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mechanism-node-d3qn-lstm"/>
          <p:cNvSpPr/>
          <p:nvPr/>
        </p:nvSpPr>
        <p:spPr>
          <a:xfrm>
            <a:off x="3782160" y="2510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H(t)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mechanism-node-dense-stack"/>
          <p:cNvSpPr/>
          <p:nvPr/>
        </p:nvSpPr>
        <p:spPr>
          <a:xfrm>
            <a:off x="5824080" y="3772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1 /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결합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mechanism-node-value-head"/>
          <p:cNvSpPr/>
          <p:nvPr/>
        </p:nvSpPr>
        <p:spPr>
          <a:xfrm>
            <a:off x="7866360" y="3772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V(s)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value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mechanism-node-adv-head"/>
          <p:cNvSpPr/>
          <p:nvPr/>
        </p:nvSpPr>
        <p:spPr>
          <a:xfrm>
            <a:off x="7866360" y="503352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A(s,a)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vector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mechanism-node-q-combine"/>
          <p:cNvSpPr/>
          <p:nvPr/>
        </p:nvSpPr>
        <p:spPr>
          <a:xfrm>
            <a:off x="9908640" y="3772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Q(s,a)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+ A − mean(A)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3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3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6-7, Fig. 2 and Eq. (25)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3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D3QN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이루는 세 역할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LSTM, dueling, Double 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같은 문제를 세 번 부르는 이름이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80484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맡는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H(t)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 workload sequence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V(s)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A(s,a)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나눠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선택과 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frame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State-action 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Discounted QoE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근사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D3QN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결합하고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 feature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2 and 6-9, Fig. 2 and Eqs. (25)-(29)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 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선택과 평가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Evaluation 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고르고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sample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s(n+1)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계산에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Evaluation net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argmax_a Q^E(s(n+1),a)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net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Q^T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평가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 q(n)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곱한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더함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Evaluation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Q^E(s(n),a(n))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제곱 오차를 줄임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forward architecture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sample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만드는 규칙이다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9, Eqs. (27)-(29)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inference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training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소유권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받아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고르고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associated EN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학습 상태를 유지한다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78332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보유 또는 수행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주고받는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ε-greedy inference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UpdateRequest, experience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EN j_i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 buffer M_i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Evaluation net E_i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학습 대상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θ_i^E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반환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net T_i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주기적으로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θ_i^E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복사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추론하고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associated EN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7-9, Algorithms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Associated EN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끝난 뒤 도착한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sampling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시작한다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Experience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s, a, q, s_next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j_i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i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전용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buffer M_i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기록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Minibatch sample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Buffer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experience collection 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Evaluation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 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Q^E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제곱 오차를 최소화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copy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ReplaceThreshold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θ^E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θ^T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복사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delayed experience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재사용하면서 학습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변화를 늦춘다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9, Algorithm 2 and Eqs. (27)-(29)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다음 선택을 바꾸는 과정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인과 흐름은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요청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route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delayed QoE, EN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응답으로 이어진다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요청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받은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associated 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θ^E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받음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고르고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처리를 시작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Delayed outcome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processed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dropped QoE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 training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evaluation net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나중 요청에서 갱신된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θ^E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inference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 replay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거쳐 이후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Q-value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반영된다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7-9, Algorithms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distributed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뜻하는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제한 관측으로 분산되지만 학습은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associated EN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별로 수행된다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23972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포함하지 않는 구조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고르는가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자신의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controller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정보가 필요한가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불필요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학습하는가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Associated 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 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어떻게 아는가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Broadcast history H(t)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완전 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분산성은 제한된 관측을 이용한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선택에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1-2 and 7-9, Algorithms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실험은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없이 고정된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simulation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1,000 episode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5658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 MD, 5 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부하와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수를 별도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1,000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τ=0.1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16, rate 0.001, γ=0.9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RMSProp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선택에서 점차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범위에서 얻은 값이다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10, Simulation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parameter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계산 성능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분포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deadline, power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값을 고정한다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56588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 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2.6 GHz, EN 42.8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속도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Transmission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 Mbps, MD power 2.3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delay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1.0-7.0 Mbits, arrival 150 task/s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density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0.197, 0.297, 0.397 ×10³ cycle/bit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slot, 25%, 50%, 75%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제한과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환경에 적용할 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함께 확인해야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10,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 비교 대상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LC, FO, 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단순 정책이고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PGOA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DCDRL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기존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방법이다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521784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Local-only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offload, 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Offload-only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없는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PGOA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Delay-sensitive distributed optimization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전략적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MD-EN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상호작용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DCDRL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Actor-critic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distributed DRL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Queuing MEC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비교이며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목록과 목적이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10, Benchmark definitions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 비율은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workload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comparator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붙여야 정확하다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391480"/>
                <a:gridCol w="336996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Comparator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rate 250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Completed 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+72.1%, +46.8%, +28.6%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RD, PGOA, DCDRL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110 MD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Completed 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+22.8%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방법 전체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rate 450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−18.6%, −15.5%, −13.9%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RD, PGOA, DCDRL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110 MD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−27.4%, −16.7%, −23.5%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RD, PGOA, DCDRL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더 많이 소비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LC/FO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세 비교법보다 개선됐지만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낮지는 않았다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10-11, Figs. 3-4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결과의 조건부 해석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High-load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더 많은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완료하면 평균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오히려 높아질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391480"/>
                <a:gridCol w="32612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rate 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12.4%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방법 대비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rate &gt;350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 방법보다 높을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타 방법의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 MD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QoE 0.57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+70.3%, +44.7%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PGOA, DCDRL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110 MD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QoE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+24.8%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방법 대비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350-450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QoE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+42.6%, +28.5%, +22.6%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RD, PGOA, DCDRL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delay, energy, QoE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읽어야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만든 비교 착시를 피할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11, Figs. 5-6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convergence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평균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안정되는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iteration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비교하지만 수학적 수렴 보장은 제공하지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717640"/>
                <a:gridCol w="27176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안정화 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 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Vanilla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650 iteration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550 iteration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target rule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450 iteration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D3QN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Formal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제시되지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Function approximation DRL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open problem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명시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450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회는 해당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안정화 시점이며 수렴 증명이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9, Complexity; p. 12, Fig.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옮길 때 남는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성능과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mobile-edge deployment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사이에는 측정되지 않은 구간이 남아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43484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traffic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일반화 미검증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 scaling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미기재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 normalization, 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수치 불명확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이식에 주의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 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불확실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H(t)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과거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 queue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예측 정확도 별도 실험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dependency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Call 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future 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open problem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명시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배포의 비용과 안정성은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simulation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밖에서 검증해야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6 and 9-12, Eqs. (22)-(23), Secs. VI-VII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정확한 기술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이름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위치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구조를 분리하면 후속 연구와의 혼동을 줄일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3484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구분해야 할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정체성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2025 TNSE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 offloading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QECO-Adapt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inference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 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D3QN 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offload 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동일시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방식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EN-assisted per-MD Double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Federated learning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actor-critic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simulation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conditioned 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on-device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 ≠ QECO-Adapt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inference ≠ MD training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1-2, 7-9 and 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선택에서 시작해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delayed QoE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EN-assisted learning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돌아오는 구조다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queue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특정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가는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discrete 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4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 backlog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battery, EN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 history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6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끝나야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확정되고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associated EN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8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학습해 다음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0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completion, delay, energy, QoE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tradeoff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조건별로 보여 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2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QECO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선택과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EN-assisted D3QN training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결합한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4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3-12, System Model through Evaluation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기록과 공개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manuscript,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저자가 논문에 인용한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 repository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91356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식별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Publisher DOI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정식 논문 식별자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10.1109/TNSE.2025.3556809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IEEE Xplore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Journal article 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Document 10946841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manuscript 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arXiv:2311.02525v3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Author 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재현성 확인용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repository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github.com/ImanRHT/QECO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알고리즘과 수치는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journal paper, 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구현 자료로 구분한다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doi article record; ieee article record and Ref. [42]; arxiv-v3 version record; code repository root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2026-09-12T04:42:05Z</dcterms:created>
  <dc:creator>Research Seminars</dc:creator>
  <dc:description/>
  <dc:language>ko-KR</dc:language>
  <cp:lastModifiedBy>Research Seminars</cp:lastModifiedBy>
  <dcterms:modified xsi:type="dcterms:W3CDTF">2026-09-12T04:42:05Z</dcterms:modified>
  <cp:revision>1</cp:revision>
  <dc:subject>QECO: A QoE-Oriented Computation Offloading Algorithm Based on Deep Reinforcement Learning for Mobile Edge Computing</dc:subject>
  <dc:title>QECO: QoE 중심 계산 오프로딩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32</vt:r8>
  </property>
  <property fmtid="{D5CDD505-2E9C-101B-9397-08002B2CF9AE}" pid="3" name="PresentationFormat">
    <vt:lpwstr>On-screen Show (16:9)</vt:lpwstr>
  </property>
  <property fmtid="{D5CDD505-2E9C-101B-9397-08002B2CF9AE}" pid="4" name="Slides">
    <vt:r8>32</vt:r8>
  </property>
</Properties>
</file>
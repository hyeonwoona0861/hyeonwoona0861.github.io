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QECO: QoE 중심 계산 오프로딩
발표 대본
이 자료는 Rahmaty, Shah-Mansouri, Movaghar의 QECO 논문을 설명합니다. 핵심 문제는 새 task를 mobile device에서 처리할지, 어느 edge node로 보낼지를 매번 정하는 일입니다. 논문은 task 완료 여부, delay, energy를 한 QoE reward로 묶고, 각 MD가 관측 가능한 정보로 결정을 내리도록 D3QN을 사용합니다. 이때 MD는 추론을 수행하고, 연계된 EN은 MD별 replay buffer와 evaluation network, target network를 유지하며 학습을 돕습니다.
공개 출처
doi | article record
Publisher DOI record
https://doi.org/10.1109/TNSE.2025.3556809
ieee | p. 1, Abstract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한 task가 만드는 선택 충돌
발표 대본
새 task를 local queue에 넣으면 전송 energy를 피할 수 있지만 MD CPU가 느리거나 queue가 길면 deadline을 넘길 수 있습니다. Offload하면 EN의 계산 자원을 이용하지만 먼저 MD transmission queue와 무선 전송을 거쳐야 하고, 선택한 EN의 workload에도 영향을 받습니다. 따라서 한 route를 고정하는 방식보다 현재 task와 queue 상태에 따라 선택을 바꾸는 정책이 필요합니다. QECO는 미래 load를 완전히 알지 못하는 조건에서 history를 사용해 이 선택을 학습합니다.
공개 출처
ieee | pp. 1-3, Introduction and System Model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MD와 EN의 실제 queue 경로
발표 대본
논문의 queue 구조를 따라가겠습니다. 새 task를 복제하는 것이 아니라 action x가 두 경로 중 하나만 고릅니다. x=0이면 local-computation FIFO에 넣고 MD CPU가 처리합니다. x=1이면 transmission FIFO에 넣고 전송이 끝난 뒤 선택한 EN의 MD i 전용 FIFO로 보냅니다. 같은 EN에는 다른 MD k의 FIFO도 있으며, GPS가 모든 활성 MD queue 사이에 EN 계산 용량을 나눕니다. 각 route에서 task가 deadline 안에 처리되거나 drop될 때 delay, energy, 완료 여부로 QoE가 확정됩니다.
공개 출처
ieee | pp. 3-5, Fig. 1 and Eqs. (1)-(16)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세 queue의 역할
발표 대본
Local-computation queue와 transmission queue는 각각 MD 안에 있습니다. Offloaded task가 도착하는 EN에는 MD마다 별도 FIFO queue가 있습니다. EN은 한 slot에서 활성 상태인 MD queue 집합을 만들고 generalized processor sharing 방식으로 계산 용량을 나눕니다. 따라서 다른 MD의 활동은 내 task가 받는 EN 계산 몫에 영향을 줍니다. EN은 각 slot 끝에 활성 queue 수 b_j(t)를 broadcast하고, 이 기록이 workload history H(t)를 구성합니다.
공개 출처
ieee | pp. 3-5, Fig. 1 and Eqs. (5)-(18)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Deadline이 task 종료를 정하는 과정
발표 대본
Task는 size, 계산 밀도, deadline을 가지고 들어옵니다. Action은 어느 queue로 보낼지를 정합니다. Local route에서는 기존 local task를 기다리고, edge route에서는 전송 대기와 EN의 MD별 queue 대기를 모두 겪습니다. EN 계산 용량은 active queue 수에 따라 나뉘므로 완료 시점은 미래 workload의 영향을 받습니다. Deadline 마지막 slot까지 필요한 처리를 끝내지 못한 task는 drop됩니다. 이 시간 구조 때문에 선택 시점과 QoE 관측 시점이 분리됩니다.
공개 출처
ieee | pp. 3-5, Eqs. (1)-(16)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연구 목표와 의사결정 단위
발표 대본
QECO의 agent 단위는 각 MD입니다. 새 task를 받은 MD는 자신의 state를 관측하고 local 또는 offload action을 고릅니다. 목표는 한 번의 delay나 energy가 아니라 할인된 장기 QoE 합입니다. 논문은 다른 MD가 어떤 task를 가지고 어떤 모델이나 action을 선택했는지 알지 못해도 결정을 내리도록 설계합니다. 다만 EN이 broadcast하는 active queue count history는 state에 포함됩니다. 이 관측 범위를 이해해야 distributed라는 표현을 과장하지 않을 수 있습니다.
공개 출처
ieee | pp. 5-6, Eq. (24)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MD가 보는 state snapshot
발표 대본
논문의 state 식은 여섯 구성요소를 포함합니다. 새 task size λ, local-computation 대기 δ^C, transmission 대기 δ^T, 직전 slot의 EN별 내 queue 길이 η^E, battery 상태 φ, workload history H입니다. H는 T_s개 과거 slot과 J개 EN으로 구성된 행렬입니다. EN은 slot 끝에 active queue 수를 broadcast합니다. MD는 미래 workload를 직접 알지 못하며, LSTM은 이 history에서 변화 패턴을 학습합니다.
공개 출처
ieee | p. 6, Eqs. (17)-(18)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History만 LSTM을 통과한다
발표 대본
Fig. 2의 입력 경로를 분리해 보겠습니다. H(t)만 LSTM으로 들어가며, LSTM은 시간 순서에 따른 EN active queue 변화를 처리합니다. λ, 두 MD queue 대기, EN별 내 queue, battery 상태는 LSTM을 거치지 않고 dense layer로 직접 전달됩니다. 두 경로는 첫 dense layer에서 합쳐지고 두 개의 ReLU dense layer를 거쳐 dueling branch의 공통 feature가 됩니다. 따라서 전체 state를 sequence로 처리하는 LSTM-only 구조로 설명하면 부정확합니다.
공개 출처
ieee | pp. 6-7, Fig. 2 and Sec. V-A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Action은 route와 EN index를 함께 정한다
발표 대본
Action a_i(t)는 x와 y의 tuple입니다. x가 0이면 새 task를 local-computation queue에 넣습니다. x가 1이면 transmission queue에 넣고 y가 선택한 한 EN으로 보냅니다. 즉 offload 여부와 target 선택을 한 discrete action 안에서 처리합니다. QECO는 이 논문에서 CPU frequency나 transmission power를 action으로 최적화하지 않습니다. Evaluation network는 가능한 discrete action마다 Q-value를 내고 MD가 ε-greedy로 하나를 선택합니다.
공개 출처
ieee | pp. 3 and 6, Eq. (19)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Offload target과 training EN의 구분
발표 대본
Offload target j는 현재 task를 어느 EN의 computation queue로 보낼지를 정합니다. 이 solid 경로는 task 실행 payload입니다. Training association j_i는 최대 transmission capacity 기준으로 정해지고, dashed 경로는 task 실행과 다른 control·training message입니다. MD에서 j_i 방향으로 먼저 UpdateRequest를 보내고 task 결과가 나중에 관측되면 experience tuple을 보냅니다. 반대 방향으로 j_i는 현재 evaluation parameter θ_i^E를 MD에 반환합니다. 두 EN이 우연히 같을 수는 있지만 역할과 선택 규칙은 다릅니다.
공개 출처
ieee | pp. 7-9, Algorithms 1-2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QoE reward의 세 가지 근거
발표 대본
논문은 per-task QoE를 reinforcement learning reward로 사용합니다. 완료한 task에는 상수 R에서 weighted cost를 뺍니다. Cost는 delay와 energy를 battery 상태 φ로 가중한 값입니다. Drop된 task에는 completion reward가 없고 사용한 energy의 음수만 부여합니다. 이 QoE는 사용자의 만족도를 반영하려는 모델링 지표이지만, 표준화된 human-subject QoE 측정으로 해석하면 안 됩니다.
공개 출처
ieee | pp. 5-6, Eqs. (20)-(24)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Battery가 delay와 energy 비중을 바꾼다
발표 대본
Cost 식은 C = φD + (1 − φ)E입니다. Performance mode에서는 delay 비중이 커지고, ultra power-saving mode에서는 energy 비중이 커집니다. 그러나 φ 하나만 action을 결정하지는 않습니다. Queue, task size, deadline, EN backlog, history도 함께 state에 들어갑니다. 또 논문은 delay를 slot으로, energy를 energy quantity로 정의하지만 둘을 결합하기 위한 normalization 절차와 completion reward R의 수치를 제시된 식과 Table II에서 명시하지 않습니다. 따라서 식의 preference 구조와 실험 결과는 설명할 수 있지만, 물리 단위를 그대로 대입하는 범용 utility라고 주장할 수는 없습니다.
공개 출처
ieee | p. 6, Eqs. (22)-(23); p. 10, Table II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정규화된 교실 예시
발표 대본
이 계산은 식을 이해하기 위한 정규화된 교실 예시이며 논문의 simulation parameter가 아닙니다. R을 10, φ를 0.75, D를 2, E를 4로 가정하면 cost는 2.5이고 완료 QoE는 7.5입니다. 같은 task가 drop되면 논문 식에 따라 reward는 −E이므로 −4입니다. φ를 0.25로 바꾸면 cost가 3.5가 되어 완료 QoE는 6.5가 됩니다. 이 예시는 battery preference가 같은 delay와 energy의 순위를 바꾸는 원리를 보여 주며 Joule이나 실제 slot 값을 계산한 결과가 아닙니다.
공개 출처
ieee | p. 6, Eqs. (22)-(23)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Reward가 여러 slot 뒤에 관측되는 이유
발표 대본
Action a(t)를 고른 다음 slot에 s(t+1)은 관측할 수 있지만, task가 여러 slot 동안 queue와 처리를 거치면 q(t)는 아직 모를 수 있습니다. Algorithm 1은 현재 시점에 처리되거나 drop된 과거 task의 index 집합 F_i^t를 찾습니다. 각 task 결과가 관측된 뒤 원래 state, action, QoE, 그 다음 state를 묶어 training EN에 보냅니다. 따라서 일반적인 한-step 그림처럼 모든 reward가 t+1에 즉시 나타난다고 설명하면 이 논문의 queue 시간 구조를 놓치게 됩니다.
공개 출처
ieee | pp. 8-9, Algorithm 1 and delayed QoE passage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DQN이 학습하는 값
발표 대본
QECO는 DQN의 Q-value 학습 틀을 사용합니다. Network는 state를 받아 local action과 EN별 offload action마다 Q-value를 냅니다. MD는 1−ε의 확률로 가장 큰 Q-value action을 선택하고 ε의 확률로 random action을 고릅니다. Task 결과가 관측된 뒤 training EN은 experience를 사용해 현재 평가값과 target Q-value의 차이를 줄입니다. LSTM의 workload pattern 처리는 이 Q-network 안의 feature 경로이며, 별도의 forecasting model이 아닙니다.
공개 출처
ieee | pp. 6-8, Fig. 2 and Eq. (26)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D3QN feature에서 Q vector까지
발표 대본
D3QN architecture의 dueling 부분입니다. LSTM과 dense layers가 만든 공통 feature가 V branch와 A branch로 갈라집니다. V는 state 자체의 가치를 scalar로 추정하고 A는 각 action이 그 state에서 상대적으로 얼마나 유리한지를 추정합니다. Output은 V + A − mean(A)로 계산합니다. 평균을 빼면 advantage의 공통 offset을 제거하면서 action 간 상대 차이는 유지됩니다. 이 dueling 결합과 Double DQN target 계산은 서로 다른 역할입니다.
공개 출처
ieee | pp. 6-7, Fig. 2 and Eq. (25)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D3QN을 이루는 세 역할
발표 대본
용어를 구분하겠습니다. LSTM은 EN active queue history를 처리합니다. Dueling architecture는 공통 feature 뒤에서 state value와 action advantage를 나눠 계산합니다. Double DQN은 training target을 만들 때 evaluation network가 다음 action을 고르고 target network가 그 action의 값을 평가하게 합니다. 전체 DQN frame은 state-action의 discounted QoE를 Q-value로 학습합니다. 논문은 actor-critic이나 PPO 구조를 사용하지 않습니다.
공개 출처
ieee | pp. 2 and 6-9, Fig. 2 and Eqs. (25)-(29)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Double DQN target의 선택과 평가
발표 대본
Double DQN의 방향을 정확히 보겠습니다. 먼저 evaluation network가 다음 state에서 가장 큰 action을 고릅니다. 그다음 target network가 바로 그 action의 Q-value를 계산합니다. 현재 sample의 QoE q와 γ를 곱한 다음 값을 더해 target Q를 만듭니다. Evaluation network는 현재 state-action Q와 이 target 사이의 squared error를 최소화하도록 학습합니다. Target network가 action을 고르고 evaluation network가 평가한다고 뒤집으면 논문 식 27과 28의 역할이 바뀝니다.
공개 출처
ieee | p. 9, Eqs. (27)-(29)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MD inference와 EN training의 소유권
발표 대본
MD와 EN의 책임을 구분하겠습니다. MD는 새 task가 오면 training EN에 UpdateRequest를 보내 최신 evaluation parameter를 받고, 현재 state의 Q-values로 ε-greedy action을 고릅니다. QoE가 나중에 관측되면 experience를 training EN에 보냅니다. Training EN은 associated MD마다 replay buffer M_i, evaluation network E_i, target network T_i를 유지합니다. Network training과 target copy는 EN에서 일어나고 MD는 전달받은 evaluation parameter로 inference합니다. 하나의 global shared model을 모든 MD가 공동 학습하는 구조도 아닙니다.
공개 출처
ieee | pp. 7-9, Algorithms 1-2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Associated EN의 replay 학습
발표 대본
Associated EN은 experience를 받으면 MD i 전용 replay buffer에 저장합니다. 이어서 random minibatch를 뽑고 각 sample에 대해 Double DQN target을 계산합니다. Evaluation network의 현재 Q와 target Q 사이 squared error를 줄이도록 θ_i^E를 업데이트합니다. Count가 ReplaceThreshold의 배수가 되면 evaluation parameter를 target network로 복사합니다. 새 task가 도착한 MD가 다음 UpdateRequest를 보낼 때 EN은 최신 θ_i^E를 반환합니다.
공개 출처
ieee | p. 9, Algorithm 2 and Eqs. (27)-(29)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한 experience가 다음 선택을 바꾸는 과정
발표 대본
전체 흐름을 한 task 관점에서 연결하겠습니다. MD는 associated EN에서 evaluation parameter를 받고 현재 task action을 선택합니다. Task는 local 또는 offload queue 경로를 실행합니다. 완료나 drop이 여러 slot 뒤 일어나면 MD가 QoE를 관측하고 experience를 associated EN에 보냅니다. EN은 replay와 Double DQN target으로 evaluation network를 학습합니다. 이후 새 task가 도착해 MD가 다시 parameter를 요청할 때 갱신된 network가 다음 선택에 영향을 줍니다. Offload target과 training EN을 분리해서 따라가야 이 loop가 정확해집니다.
공개 출처
ieee | pp. 7-9, Algorithms 1-2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논문에서 distributed가 뜻하는 범위
발표 대본
논문이 distributed라고 부르는 이유는 각 MD가 다른 MD의 task와 offloading model, action을 알지 않고 자신의 관측 state로 결정을 내리기 때문입니다. EN workload에 대해서는 slot별 active queue count broadcast와 그 history를 사용합니다. Training은 associated EN이 MD별 replay와 network로 수행합니다. 따라서 완전히 독립된 on-device learning도 아니고, 여러 MD가 gradient나 parameter를 평균내는 federated learning도 아닙니다.
공개 출처
ieee | pp. 1-2 and 7-9, Algorithms 1-2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Simulation과 training 조건
발표 대본
실험의 기본 환경은 50개 MD와 5개 EN입니다. 1,000 episode를 사용하고 episode마다 100 slot, slot 길이는 0.1초입니다. Batch size는 16, learning rate는 0.001, discount factor는 0.9이며 RMSProp을 사용합니다. ε는 1에서 0.01로 줄어듭니다. 논문은 장기간 대표 sample을 얻기 어렵기 때문에 실제 dataset 없이 simulation을 사용했다고 밝힙니다. 따라서 결과는 이 모델과 parameter 범위의 수치로 읽어야 합니다.
공개 출처
ieee | p. 10, Simulation Setup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주요 MEC parameter
발표 대본
Table II의 핵심 조건입니다. MD 계산 용량은 2.6 GHz, EN은 42.8 GHz입니다. 전송률은 14 Mbps이고 MD transmission power는 2.3 W입니다. Task size는 1.0부터 7.0 Mbits까지, CPU density는 세 값 중 하나입니다. Deadline은 10 slot로 1초이고 battery level은 25, 50, 75퍼센트입니다. EN compute power는 5 W, MD standby power는 0.1 W입니다. 화면에는 route 선택과 직접 관련된 값을 우선 제시했습니다.
공개 출처
ieee | p. 10, Table II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Task 성능 비교 대상
발표 대본
논문은 task 성능을 다섯 방법과 비교합니다. LC는 모든 task를 local에서 처리하고, FO는 모두 offload하되 target EN을 random으로 고릅니다. RD는 local과 offload 결정 및 target을 random으로 고릅니다. PGOA는 delay-sensitive distributed optimization이며, DCDRL은 actor-critic 기반의 기존 distributed DRL 방법입니다. 별도로 Fig. 7은 QECO의 network 학습 수렴을 vanilla DQN과 DDQN에 비교합니다. 두 비교 집합을 한 baseline 목록으로 섞으면 결과의 의미가 달라집니다.
공개 출처
ieee | p. 10, Benchmark definitions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완료 task와 energy 결과
발표 대본
Fig. 3에서 arrival rate 250일 때 완료 task 수는 RD 대비 72.1퍼센트, PGOA 대비 46.8퍼센트, DCDRL 대비 28.6퍼센트 증가합니다. 110 MD 조건에서는 다른 방법보다 최소 22.8퍼센트 많습니다. Fig. 4에서 arrival rate 450의 total energy는 같은 세 방법보다 각각 18.6, 15.5, 13.9퍼센트 낮습니다. 110 MD 조건의 감소율은 27.4, 16.7, 23.5퍼센트입니다. 다만 논문은 QECO가 LC와 FO보다 energy를 더 소비한다고 설명합니다. LC와 FO가 사용 자원을 제한하기 때문입니다.
공개 출처
ieee | pp. 10-11, Figs. 3-4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 Delay와 QoE 결과의 조건부 해석
발표 대본
Fig. 5에서 arrival rate 200일 때 QECO의 average delay는 다른 방법보다 최소 12.4퍼센트 낮습니다. 그러나 arrival rate가 350을 넘으면 QECO delay가 일부 방법보다 높을 수 있습니다. 논문은 다른 방법이 task를 더 많이 drop하는 반면 QECO는 더 많이 완료하기 때문이라고 설명합니다. Fig. 6에서 70 MD일 때 QECO average QoE는 0.57이며 PGOA보다 70.3퍼센트, DCDRL보다 44.7퍼센트 높습니다. 110 MD에서는 다른 방법보다 최소 24.8퍼센트 높습니다. High-load QoE 비교도 comparator 순서를 유지해 읽어야 합니다.
공개 출처
ieee | p. 11, Figs. 5-6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Network 구성별 empirical convergence
발표 대본
Fig. 7에서 average QoE curve는 DQN 약 650, DDQN 약 550, QECO 약 450 iteration 뒤 안정되는 것으로 보고됩니다. 논문은 QECO의 빠른 수렴을 LSTM workload prediction과 resource utilization에 연결해 설명합니다. 그러나 Section V의 complexity discussion은 neural function approximation을 사용하는 DRL의 convergence guarantee가 open problem이라고 명시합니다. 따라서 이 결과는 특정 simulation의 empirical curve이며 이론적 보장으로 일반화할 수 없습니다.
공개 출처
ieee | p. 9, Complexity; p. 12, Fig. 7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 결과를 옮길 때 남는 한계
발표 대본
첫째, 논문은 실제 dataset 없이 simulation을 사용합니다. 둘째, delay와 energy normalization 및 R 수치가 제시된 식과 Table II에서 명확하지 않아 QoE 절대값을 다른 시스템에 바로 옮기기 어렵습니다. 셋째, H(t)는 과거 active queue count이며 LSTM의 workload prediction 정확도를 별도 forecasting metric으로 평가하지 않습니다. 넷째, task dependency는 모델에서 제외되고 call graph는 future work로 남습니다. 마지막으로 formal convergence guarantee도 open problem입니다.
공개 출처
ieee | pp. 6 and 9-12, Eqs. (22)-(23), Secs. VI-VII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QECO의 정확한 기술 경계
발표 대본
마지막으로 기술 경계를 정리합니다. 이 자료의 QECO는 2025년 IEEE Transactions on Network Science and Engineering 논문이며 별도의 QECO-Adapt 연구와 결과나 구조를 섞지 않습니다. MD는 state를 관측하고 evaluation parameter로 action을 추론합니다. Associated EN은 MD별 replay와 evaluation-target network를 학습합니다. Offload target EN과 training EN도 정의가 다릅니다. Federated learning과 task call graph는 결론에서 future work로 언급되며 현재 QECO 구성요소가 아닙니다.
공개 출처
ieee | pp. 1-2, 7-9 and 12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QECO의 핵심 흐름
발표 대본
QECO의 흐름을 네 단계로 기억할 수 있습니다. 첫째, 새 task가 오면 MD가 local 또는 한 EN으로 보내는 action을 고릅니다. 둘째, 이 선택에는 MD queue, battery, EN별 내 backlog와 workload history가 쓰입니다. 셋째, task가 완료되거나 drop된 뒤에야 QoE가 확정되고 experience가 training EN으로 갑니다. 넷째, EN은 MD별 replay와 evaluation-target network를 학습하고 이후 parameter 요청에 갱신된 값을 제공합니다. 실험 결과는 이 queue simulation 안에서 completion, delay, energy, QoE를 함께 읽어야 합니다.
공개 출처
ieee | pp. 3-12, System Model through Evaluation
IEEE Xplore article record
https://ieeexplore.ieee.org/document/10946841/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 공개 출처
발표 대본
공개적으로 확인할 수 있는 출처입니다. DOI와 IEEE Xplore record는 2025 journal article의 정식 식별 정보입니다. arXiv v3는 저자들이 공개한 manuscript record이며 journal reference와 DOI를 연결합니다. GitHub repository는 논문 reference 42에 인용된 source code입니다. 이 자료의 식과 실험 수치는 journal paper를 기준으로 정리했으며 code repository를 논문 근거의 대체물로 사용하지 않았습니다.
공개 출처
doi | article record
Publisher DOI record
https://doi.org/10.1109/TNSE.2025.3556809
ieee | article record and Ref. [42]
IEEE Xplore article record
https://ieeexplore.ieee.org/document/10946841/
arxiv-v3 | version record
Public manuscript record, arXiv:2311.02525v3
https://arxiv.org/abs/2311.02525v3
code | repository root
QECO source-code repository cited by the paper
https://github.com/ImanRHT/QECO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QECO: QoE 중심 계산 오프로딩</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QECO: A QoE-Oriented Computation Offloading Algorithm Based on Deep Reinforcement Learning for Mobile Edge Computing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Iman Rahmaty, Hamed Shah-Mansouri, Ali Movaghar (2025)</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동적 edge workload에서 각 mobile device의 장기 QoE를 학습하는 방법</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doi article record; ieee p. 1,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task가 만드는 선택 충돌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항상 local 또는 항상 offload하는 정책은 서로 다른 queue 병목을 만든다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717800"/>
                <a:gridCol w="271780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사용 자원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주요 위험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결정에 필요한 정보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 CPU와 local queue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긴 대기와 deadline 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backlog, task 요구량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offload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무선 전송과 EN 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전송 비용과 EN 혼잡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전송 queue, EN workload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QECO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상태마다 route 변경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불확실한 미래 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관측 상태와 workload history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오프로딩 문제는 빠른 server 선택보다 두 route의 queue 결과를 함께 예측하는 문제다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1-3, Introduction and System Model</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MD와 EN의 실제 queue 경로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x=0은 local FIFO, x=1은 transmission FIFO를 거쳐 선택 EN으로 가는 상호 배타적 action이다</a:t>
            </a:r>
            <a:endParaRPr lang="en-US" sz="1900" dirty="0"/>
          </a:p>
        </p:txBody>
      </p:sp>
      <p:sp>
        <p:nvSpPr>
          <p:cNvPr id="4" name="mechanism-lane-md-local"/>
          <p:cNvSpPr txBox="1"/>
          <p:nvPr/>
        </p:nvSpPr>
        <p:spPr>
          <a:xfrm>
            <a:off x="660400" y="2209800"/>
            <a:ext cx="863600" cy="94615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MD local 경로</a:t>
            </a:r>
            <a:endParaRPr lang="en-US" sz="1250" dirty="0"/>
          </a:p>
        </p:txBody>
      </p:sp>
      <p:sp>
        <p:nvSpPr>
          <p:cNvPr id="5" name="mechanism-lane-md-offload"/>
          <p:cNvSpPr txBox="1"/>
          <p:nvPr/>
        </p:nvSpPr>
        <p:spPr>
          <a:xfrm>
            <a:off x="660400" y="3155950"/>
            <a:ext cx="863600" cy="94615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MD offload 경로</a:t>
            </a:r>
            <a:endParaRPr lang="en-US" sz="1250" dirty="0"/>
          </a:p>
        </p:txBody>
      </p:sp>
      <p:sp>
        <p:nvSpPr>
          <p:cNvPr id="6" name="mechanism-lane-en-1"/>
          <p:cNvSpPr txBox="1"/>
          <p:nvPr/>
        </p:nvSpPr>
        <p:spPr>
          <a:xfrm>
            <a:off x="660400" y="4102100"/>
            <a:ext cx="863600" cy="94615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EN1: MD i queue</a:t>
            </a:r>
            <a:endParaRPr lang="en-US" sz="1250" dirty="0"/>
          </a:p>
        </p:txBody>
      </p:sp>
      <p:sp>
        <p:nvSpPr>
          <p:cNvPr id="7" name="mechanism-lane-en-k"/>
          <p:cNvSpPr txBox="1"/>
          <p:nvPr/>
        </p:nvSpPr>
        <p:spPr>
          <a:xfrm>
            <a:off x="660400" y="5048250"/>
            <a:ext cx="863600" cy="94615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EN1: MD k queue</a:t>
            </a:r>
            <a:endParaRPr lang="en-US" sz="1250" dirty="0"/>
          </a:p>
        </p:txBody>
      </p:sp>
      <p:sp>
        <p:nvSpPr>
          <p:cNvPr id="8" name="mechanism-edge-task-local-segment-1"/>
          <p:cNvSpPr/>
          <p:nvPr/>
        </p:nvSpPr>
        <p:spPr>
          <a:xfrm>
            <a:off x="3299460" y="2479675"/>
            <a:ext cx="321733" cy="0"/>
          </a:xfrm>
          <a:prstGeom prst="line">
            <a:avLst/>
          </a:prstGeom>
          <a:noFill/>
          <a:ln w="12700">
            <a:solidFill>
              <a:srgbClr val="0D685C"/>
            </a:solidFill>
            <a:prstDash val="solid"/>
            <a:headEnd type="none"/>
            <a:tailEnd type="none"/>
          </a:ln>
        </p:spPr>
        <p:txBody>
          <a:bodyPr/>
          <a:lstStyle/>
          <a:p>
            <a:endParaRPr lang="ko-KR"/>
          </a:p>
        </p:txBody>
      </p:sp>
      <p:sp>
        <p:nvSpPr>
          <p:cNvPr id="9" name="mechanism-edge-task-local-segment-2"/>
          <p:cNvSpPr/>
          <p:nvPr/>
        </p:nvSpPr>
        <p:spPr>
          <a:xfrm>
            <a:off x="3621193" y="2479675"/>
            <a:ext cx="0" cy="203200"/>
          </a:xfrm>
          <a:prstGeom prst="line">
            <a:avLst/>
          </a:prstGeom>
          <a:noFill/>
          <a:ln w="12700">
            <a:solidFill>
              <a:srgbClr val="0D685C"/>
            </a:solidFill>
            <a:prstDash val="solid"/>
            <a:headEnd type="none"/>
            <a:tailEnd type="none"/>
          </a:ln>
        </p:spPr>
        <p:txBody>
          <a:bodyPr/>
          <a:lstStyle/>
          <a:p>
            <a:endParaRPr lang="ko-KR"/>
          </a:p>
        </p:txBody>
      </p:sp>
      <p:sp>
        <p:nvSpPr>
          <p:cNvPr id="10" name="mechanism-edge-task-local-segment-3"/>
          <p:cNvSpPr/>
          <p:nvPr/>
        </p:nvSpPr>
        <p:spPr>
          <a:xfrm>
            <a:off x="3621193" y="2682875"/>
            <a:ext cx="160867"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local-cpu-segment-1"/>
          <p:cNvSpPr/>
          <p:nvPr/>
        </p:nvSpPr>
        <p:spPr>
          <a:xfrm>
            <a:off x="5341620" y="2682875"/>
            <a:ext cx="482600" cy="0"/>
          </a:xfrm>
          <a:prstGeom prst="line">
            <a:avLst/>
          </a:prstGeom>
          <a:noFill/>
          <a:ln w="12700">
            <a:solidFill>
              <a:srgbClr val="0D685C"/>
            </a:solidFill>
            <a:prstDash val="solid"/>
            <a:headEnd type="none"/>
            <a:tailEnd type="triangle"/>
          </a:ln>
        </p:spPr>
        <p:txBody>
          <a:bodyPr/>
          <a:lstStyle/>
          <a:p>
            <a:endParaRPr lang="ko-KR"/>
          </a:p>
        </p:txBody>
      </p:sp>
      <p:sp>
        <p:nvSpPr>
          <p:cNvPr id="12" name="mechanism-edge-task-tx-segment-1"/>
          <p:cNvSpPr/>
          <p:nvPr/>
        </p:nvSpPr>
        <p:spPr>
          <a:xfrm>
            <a:off x="3299460" y="2886075"/>
            <a:ext cx="160867" cy="0"/>
          </a:xfrm>
          <a:prstGeom prst="line">
            <a:avLst/>
          </a:prstGeom>
          <a:noFill/>
          <a:ln w="12700">
            <a:solidFill>
              <a:srgbClr val="0D685C"/>
            </a:solidFill>
            <a:prstDash val="solid"/>
            <a:headEnd type="none"/>
            <a:tailEnd type="none"/>
          </a:ln>
        </p:spPr>
        <p:txBody>
          <a:bodyPr/>
          <a:lstStyle/>
          <a:p>
            <a:endParaRPr lang="ko-KR"/>
          </a:p>
        </p:txBody>
      </p:sp>
      <p:sp>
        <p:nvSpPr>
          <p:cNvPr id="13" name="mechanism-edge-task-tx-segment-2"/>
          <p:cNvSpPr/>
          <p:nvPr/>
        </p:nvSpPr>
        <p:spPr>
          <a:xfrm>
            <a:off x="3460327" y="2886075"/>
            <a:ext cx="0" cy="742950"/>
          </a:xfrm>
          <a:prstGeom prst="line">
            <a:avLst/>
          </a:prstGeom>
          <a:noFill/>
          <a:ln w="12700">
            <a:solidFill>
              <a:srgbClr val="0D685C"/>
            </a:solidFill>
            <a:prstDash val="solid"/>
            <a:headEnd type="none"/>
            <a:tailEnd type="none"/>
          </a:ln>
        </p:spPr>
        <p:txBody>
          <a:bodyPr/>
          <a:lstStyle/>
          <a:p>
            <a:endParaRPr lang="ko-KR"/>
          </a:p>
        </p:txBody>
      </p:sp>
      <p:sp>
        <p:nvSpPr>
          <p:cNvPr id="14" name="mechanism-edge-task-tx-segment-3"/>
          <p:cNvSpPr/>
          <p:nvPr/>
        </p:nvSpPr>
        <p:spPr>
          <a:xfrm>
            <a:off x="3460327" y="3629025"/>
            <a:ext cx="321733" cy="0"/>
          </a:xfrm>
          <a:prstGeom prst="line">
            <a:avLst/>
          </a:prstGeom>
          <a:noFill/>
          <a:ln w="12700">
            <a:solidFill>
              <a:srgbClr val="0D685C"/>
            </a:solidFill>
            <a:prstDash val="solid"/>
            <a:headEnd type="none"/>
            <a:tailEnd type="triangle"/>
          </a:ln>
        </p:spPr>
        <p:txBody>
          <a:bodyPr/>
          <a:lstStyle/>
          <a:p>
            <a:endParaRPr lang="ko-KR"/>
          </a:p>
        </p:txBody>
      </p:sp>
      <p:sp>
        <p:nvSpPr>
          <p:cNvPr id="15" name="mechanism-edge-tx-en1-segment-1"/>
          <p:cNvSpPr/>
          <p:nvPr/>
        </p:nvSpPr>
        <p:spPr>
          <a:xfrm>
            <a:off x="5341620" y="3629025"/>
            <a:ext cx="160867" cy="0"/>
          </a:xfrm>
          <a:prstGeom prst="line">
            <a:avLst/>
          </a:prstGeom>
          <a:noFill/>
          <a:ln w="12700">
            <a:solidFill>
              <a:srgbClr val="0D685C"/>
            </a:solidFill>
            <a:prstDash val="solid"/>
            <a:headEnd type="none"/>
            <a:tailEnd type="none"/>
          </a:ln>
        </p:spPr>
        <p:txBody>
          <a:bodyPr/>
          <a:lstStyle/>
          <a:p>
            <a:endParaRPr lang="ko-KR"/>
          </a:p>
        </p:txBody>
      </p:sp>
      <p:sp>
        <p:nvSpPr>
          <p:cNvPr id="16" name="mechanism-edge-tx-en1-segment-2"/>
          <p:cNvSpPr/>
          <p:nvPr/>
        </p:nvSpPr>
        <p:spPr>
          <a:xfrm>
            <a:off x="5502487" y="3629025"/>
            <a:ext cx="0" cy="946150"/>
          </a:xfrm>
          <a:prstGeom prst="line">
            <a:avLst/>
          </a:prstGeom>
          <a:noFill/>
          <a:ln w="12700">
            <a:solidFill>
              <a:srgbClr val="0D685C"/>
            </a:solidFill>
            <a:prstDash val="solid"/>
            <a:headEnd type="none"/>
            <a:tailEnd type="none"/>
          </a:ln>
        </p:spPr>
        <p:txBody>
          <a:bodyPr/>
          <a:lstStyle/>
          <a:p>
            <a:endParaRPr lang="ko-KR"/>
          </a:p>
        </p:txBody>
      </p:sp>
      <p:sp>
        <p:nvSpPr>
          <p:cNvPr id="17" name="mechanism-edge-tx-en1-segment-3"/>
          <p:cNvSpPr/>
          <p:nvPr/>
        </p:nvSpPr>
        <p:spPr>
          <a:xfrm>
            <a:off x="5502487" y="4575175"/>
            <a:ext cx="2363893" cy="0"/>
          </a:xfrm>
          <a:prstGeom prst="line">
            <a:avLst/>
          </a:prstGeom>
          <a:noFill/>
          <a:ln w="12700">
            <a:solidFill>
              <a:srgbClr val="0D685C"/>
            </a:solidFill>
            <a:prstDash val="solid"/>
            <a:headEnd type="none"/>
            <a:tailEnd type="triangle"/>
          </a:ln>
        </p:spPr>
        <p:txBody>
          <a:bodyPr/>
          <a:lstStyle/>
          <a:p>
            <a:endParaRPr lang="ko-KR"/>
          </a:p>
        </p:txBody>
      </p:sp>
      <p:sp>
        <p:nvSpPr>
          <p:cNvPr id="18" name="mechanism-edge-en1-service-segment-1"/>
          <p:cNvSpPr/>
          <p:nvPr/>
        </p:nvSpPr>
        <p:spPr>
          <a:xfrm>
            <a:off x="9425940" y="4575175"/>
            <a:ext cx="321733" cy="0"/>
          </a:xfrm>
          <a:prstGeom prst="line">
            <a:avLst/>
          </a:prstGeom>
          <a:noFill/>
          <a:ln w="12700">
            <a:solidFill>
              <a:srgbClr val="0D685C"/>
            </a:solidFill>
            <a:prstDash val="solid"/>
            <a:headEnd type="none"/>
            <a:tailEnd type="none"/>
          </a:ln>
        </p:spPr>
        <p:txBody>
          <a:bodyPr/>
          <a:lstStyle/>
          <a:p>
            <a:endParaRPr lang="ko-KR"/>
          </a:p>
        </p:txBody>
      </p:sp>
      <p:sp>
        <p:nvSpPr>
          <p:cNvPr id="19" name="mechanism-edge-en1-service-segment-2"/>
          <p:cNvSpPr/>
          <p:nvPr/>
        </p:nvSpPr>
        <p:spPr>
          <a:xfrm flipV="1">
            <a:off x="9747673" y="4371975"/>
            <a:ext cx="0" cy="203200"/>
          </a:xfrm>
          <a:prstGeom prst="line">
            <a:avLst/>
          </a:prstGeom>
          <a:noFill/>
          <a:ln w="12700">
            <a:solidFill>
              <a:srgbClr val="0D685C"/>
            </a:solidFill>
            <a:prstDash val="solid"/>
            <a:headEnd type="none"/>
            <a:tailEnd type="none"/>
          </a:ln>
        </p:spPr>
        <p:txBody>
          <a:bodyPr/>
          <a:lstStyle/>
          <a:p>
            <a:endParaRPr lang="ko-KR"/>
          </a:p>
        </p:txBody>
      </p:sp>
      <p:sp>
        <p:nvSpPr>
          <p:cNvPr id="20" name="mechanism-edge-en1-service-segment-3"/>
          <p:cNvSpPr/>
          <p:nvPr/>
        </p:nvSpPr>
        <p:spPr>
          <a:xfrm>
            <a:off x="9747673" y="4371975"/>
            <a:ext cx="160867" cy="0"/>
          </a:xfrm>
          <a:prstGeom prst="line">
            <a:avLst/>
          </a:prstGeom>
          <a:noFill/>
          <a:ln w="12700">
            <a:solidFill>
              <a:srgbClr val="0D685C"/>
            </a:solidFill>
            <a:prstDash val="solid"/>
            <a:headEnd type="none"/>
            <a:tailEnd type="triangle"/>
          </a:ln>
        </p:spPr>
        <p:txBody>
          <a:bodyPr/>
          <a:lstStyle/>
          <a:p>
            <a:endParaRPr lang="ko-KR"/>
          </a:p>
        </p:txBody>
      </p:sp>
      <p:sp>
        <p:nvSpPr>
          <p:cNvPr id="21" name="mechanism-edge-oth-service-segment-1"/>
          <p:cNvSpPr/>
          <p:nvPr/>
        </p:nvSpPr>
        <p:spPr>
          <a:xfrm>
            <a:off x="9425940" y="5521325"/>
            <a:ext cx="160867" cy="0"/>
          </a:xfrm>
          <a:prstGeom prst="line">
            <a:avLst/>
          </a:prstGeom>
          <a:noFill/>
          <a:ln w="12700">
            <a:solidFill>
              <a:srgbClr val="0D685C"/>
            </a:solidFill>
            <a:prstDash val="solid"/>
            <a:headEnd type="none"/>
            <a:tailEnd type="none"/>
          </a:ln>
        </p:spPr>
        <p:txBody>
          <a:bodyPr/>
          <a:lstStyle/>
          <a:p>
            <a:endParaRPr lang="ko-KR"/>
          </a:p>
        </p:txBody>
      </p:sp>
      <p:sp>
        <p:nvSpPr>
          <p:cNvPr id="22" name="mechanism-edge-oth-service-segment-2"/>
          <p:cNvSpPr/>
          <p:nvPr/>
        </p:nvSpPr>
        <p:spPr>
          <a:xfrm flipV="1">
            <a:off x="9586807" y="4778375"/>
            <a:ext cx="0" cy="742950"/>
          </a:xfrm>
          <a:prstGeom prst="line">
            <a:avLst/>
          </a:prstGeom>
          <a:noFill/>
          <a:ln w="12700">
            <a:solidFill>
              <a:srgbClr val="0D685C"/>
            </a:solidFill>
            <a:prstDash val="solid"/>
            <a:headEnd type="none"/>
            <a:tailEnd type="none"/>
          </a:ln>
        </p:spPr>
        <p:txBody>
          <a:bodyPr/>
          <a:lstStyle/>
          <a:p>
            <a:endParaRPr lang="ko-KR"/>
          </a:p>
        </p:txBody>
      </p:sp>
      <p:sp>
        <p:nvSpPr>
          <p:cNvPr id="23" name="mechanism-edge-oth-service-segment-3"/>
          <p:cNvSpPr/>
          <p:nvPr/>
        </p:nvSpPr>
        <p:spPr>
          <a:xfrm>
            <a:off x="9586807" y="4778375"/>
            <a:ext cx="321733" cy="0"/>
          </a:xfrm>
          <a:prstGeom prst="line">
            <a:avLst/>
          </a:prstGeom>
          <a:noFill/>
          <a:ln w="12700">
            <a:solidFill>
              <a:srgbClr val="0D685C"/>
            </a:solidFill>
            <a:prstDash val="solid"/>
            <a:headEnd type="none"/>
            <a:tailEnd type="triangle"/>
          </a:ln>
        </p:spPr>
        <p:txBody>
          <a:bodyPr/>
          <a:lstStyle/>
          <a:p>
            <a:endParaRPr lang="ko-KR"/>
          </a:p>
        </p:txBody>
      </p:sp>
      <p:sp>
        <p:nvSpPr>
          <p:cNvPr id="24" name="mechanism-node-new-task"/>
          <p:cNvSpPr/>
          <p:nvPr/>
        </p:nvSpPr>
        <p:spPr>
          <a:xfrm>
            <a:off x="1739900" y="2352675"/>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Action x 선택</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x=0 local / x=1 transmit</a:t>
            </a:r>
            <a:endParaRPr lang="en-US" sz="1150" dirty="0"/>
          </a:p>
        </p:txBody>
      </p:sp>
      <p:sp>
        <p:nvSpPr>
          <p:cNvPr id="25" name="mechanism-node-local-fifo"/>
          <p:cNvSpPr txBox="1"/>
          <p:nvPr/>
        </p:nvSpPr>
        <p:spPr>
          <a:xfrm>
            <a:off x="3782060" y="2365375"/>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Local x=0</a:t>
            </a:r>
            <a:endParaRPr lang="en-US" sz="1150" dirty="0"/>
          </a:p>
        </p:txBody>
      </p:sp>
      <p:sp>
        <p:nvSpPr>
          <p:cNvPr id="26" name="mechanism-node-local-fifo-queue-1"/>
          <p:cNvSpPr/>
          <p:nvPr/>
        </p:nvSpPr>
        <p:spPr>
          <a:xfrm>
            <a:off x="3782060" y="2619375"/>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앞선 task</a:t>
            </a:r>
            <a:endParaRPr lang="en-US" sz="950" dirty="0"/>
          </a:p>
        </p:txBody>
      </p:sp>
      <p:sp>
        <p:nvSpPr>
          <p:cNvPr id="27" name="mechanism-node-local-fifo-queue-2"/>
          <p:cNvSpPr/>
          <p:nvPr/>
        </p:nvSpPr>
        <p:spPr>
          <a:xfrm>
            <a:off x="3782060" y="2809875"/>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새 task</a:t>
            </a:r>
            <a:endParaRPr lang="en-US" sz="950" dirty="0"/>
          </a:p>
        </p:txBody>
      </p:sp>
      <p:sp>
        <p:nvSpPr>
          <p:cNvPr id="28" name="mechanism-node-md-cpu"/>
          <p:cNvSpPr/>
          <p:nvPr/>
        </p:nvSpPr>
        <p:spPr>
          <a:xfrm>
            <a:off x="5824220" y="2352675"/>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MD CPU</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Local task FIFO 처리</a:t>
            </a:r>
            <a:endParaRPr lang="en-US" sz="1150" dirty="0"/>
          </a:p>
        </p:txBody>
      </p:sp>
      <p:sp>
        <p:nvSpPr>
          <p:cNvPr id="29" name="mechanism-node-tx-fifo"/>
          <p:cNvSpPr txBox="1"/>
          <p:nvPr/>
        </p:nvSpPr>
        <p:spPr>
          <a:xfrm>
            <a:off x="3782060" y="3311525"/>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전송 x=1</a:t>
            </a:r>
            <a:endParaRPr lang="en-US" sz="1150" dirty="0"/>
          </a:p>
        </p:txBody>
      </p:sp>
      <p:sp>
        <p:nvSpPr>
          <p:cNvPr id="30" name="mechanism-node-tx-fifo-queue-1"/>
          <p:cNvSpPr/>
          <p:nvPr/>
        </p:nvSpPr>
        <p:spPr>
          <a:xfrm>
            <a:off x="3782060" y="3565525"/>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앞선 전송</a:t>
            </a:r>
            <a:endParaRPr lang="en-US" sz="950" dirty="0"/>
          </a:p>
        </p:txBody>
      </p:sp>
      <p:sp>
        <p:nvSpPr>
          <p:cNvPr id="31" name="mechanism-node-tx-fifo-queue-2"/>
          <p:cNvSpPr/>
          <p:nvPr/>
        </p:nvSpPr>
        <p:spPr>
          <a:xfrm>
            <a:off x="3782060" y="3756025"/>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새 task</a:t>
            </a:r>
            <a:endParaRPr lang="en-US" sz="950" dirty="0"/>
          </a:p>
        </p:txBody>
      </p:sp>
      <p:sp>
        <p:nvSpPr>
          <p:cNvPr id="32" name="mechanism-node-en1-i-queue"/>
          <p:cNvSpPr txBox="1"/>
          <p:nvPr/>
        </p:nvSpPr>
        <p:spPr>
          <a:xfrm>
            <a:off x="7866380" y="4352925"/>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EN1: i queue</a:t>
            </a:r>
            <a:endParaRPr lang="en-US" sz="1150" dirty="0"/>
          </a:p>
        </p:txBody>
      </p:sp>
      <p:sp>
        <p:nvSpPr>
          <p:cNvPr id="33" name="mechanism-node-en1-i-queue-queue-1"/>
          <p:cNvSpPr/>
          <p:nvPr/>
        </p:nvSpPr>
        <p:spPr>
          <a:xfrm>
            <a:off x="7866380" y="4606925"/>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MD i task</a:t>
            </a:r>
            <a:endParaRPr lang="en-US" sz="950" dirty="0"/>
          </a:p>
        </p:txBody>
      </p:sp>
      <p:sp>
        <p:nvSpPr>
          <p:cNvPr id="34" name="mechanism-node-en1-gps"/>
          <p:cNvSpPr/>
          <p:nvPr/>
        </p:nvSpPr>
        <p:spPr>
          <a:xfrm>
            <a:off x="9908540" y="4244975"/>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EN1 GPS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활성 MD queue에 CPU 공유</a:t>
            </a:r>
            <a:endParaRPr lang="en-US" sz="1150" dirty="0"/>
          </a:p>
        </p:txBody>
      </p:sp>
      <p:sp>
        <p:nvSpPr>
          <p:cNvPr id="35" name="mechanism-node-en1-k-queue"/>
          <p:cNvSpPr txBox="1"/>
          <p:nvPr/>
        </p:nvSpPr>
        <p:spPr>
          <a:xfrm>
            <a:off x="7866380" y="5299075"/>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EN1: k queue</a:t>
            </a:r>
            <a:endParaRPr lang="en-US" sz="1150" dirty="0"/>
          </a:p>
        </p:txBody>
      </p:sp>
      <p:sp>
        <p:nvSpPr>
          <p:cNvPr id="36" name="mechanism-node-en1-k-queue-queue-1"/>
          <p:cNvSpPr/>
          <p:nvPr/>
        </p:nvSpPr>
        <p:spPr>
          <a:xfrm>
            <a:off x="7866380" y="5553075"/>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MD k task</a:t>
            </a:r>
            <a:endParaRPr lang="en-US" sz="950" dirty="0"/>
          </a:p>
        </p:txBody>
      </p:sp>
      <p:sp>
        <p:nvSpPr>
          <p:cNvPr id="37" name="Shape 3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8" name="Text 3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3-5, Fig. 1 and Eqs. (1)-(16)</a:t>
            </a:r>
            <a:endParaRPr lang="en-US" sz="1050" dirty="0"/>
          </a:p>
        </p:txBody>
      </p:sp>
      <p:sp>
        <p:nvSpPr>
          <p:cNvPr id="39" name="Text 3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세 queue의 역할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대기 위치와 처리 주체를 구분해야 state와 reward의 의미가 선명해진다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391664"/>
                <a:gridCol w="2391664"/>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Queue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위치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처리 자원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모델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Local-computation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MD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 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FIFO, deadline 시 처리 또는 drop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Transmission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MD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무선 link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FIFO, 선택 EN으로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Edge-computation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EN의 MD별 queue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 CPU</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활성 queue끼리 GPS로 용량 공유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Active queue count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EN마다 b_j(t)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공유 자원 수요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Slot 끝에 EN이 broadcast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EN 하나가 모든 task를 한 줄로 처리하지 않고 MD별 queue에 용량을 나눠 준다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3-5, Fig. 1 and Eqs. (5)-(18)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Deadline이 task 종료를 정하는 과정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Task는 route의 queue를 기다린 뒤 처리되며 deadline 전에 끝나지 않으면 drop된다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Task 도착</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Size와 CPU density, deadline을 가진 task가 slot t에 도착</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Route 배정</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Local FIFO 또는 transmission FIFO와 선택 EN queue로 이동</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Queue 대기</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앞선 task와 EN의 active queue 수가 처리 시작을 늦춤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처리 또는 drop</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Deadline 안에 끝나면 완료, 끝내지 못하면 즉시 drop</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Queue 처리에 여러 slot이 걸리므로 action과 reward 관측 시점이 분리된다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3-5, Eqs. (1)-(16)</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연구 목표와 의사결정 단위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MD는 다른 MD의 task model이나 action을 받지 않고 자신의 장기 QoE를 최적화한다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의사결정 시점은 새 task가 도착한 time slot이다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정책은 관측 state를 local 또는 특정 EN action에 대응시킨다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목표는 discounted QoE의 기대 합을 각 MD별로 최대화하는 것이다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다른 MD의 action과 task model은 직접 입력하지 않는다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EN workload history는 공유된 active queue count에서 얻는다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distributed 의미는 제한된 관측으로 각 MD가 독립 action을 고른다는 데 있다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5-6, Eq. (24)</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MD가 보는 state snapshot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State는 새 task, MD queue, 직전 EN queue, battery mode, EN workload history를 묶는다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131056"/>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State 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관측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결정에 주는 정보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λ_i(t)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task size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전송량과 계산량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δ_i^C, δ_i^T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Local과 transmission 대기 slot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 내부 backlog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η_i^E(t−1)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EN의 내 queue 길이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 target별 backlog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φ_i(t)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Battery mode 또는 level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Delay와 energy 가중치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T_s slot 동안 EN별 active queue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Workload 변화 패턴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H(t)는 미래 값을 주는 oracle이 아니라 과거 active queue count의 행렬이다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6, Eqs. (17)-(18)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History만 LSTM을 통과한다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현재 state의 일반 항목과 EN workload sequence는 서로 다른 입력 경로를 거친다</a:t>
            </a:r>
            <a:endParaRPr lang="en-US" sz="1900" dirty="0"/>
          </a:p>
        </p:txBody>
      </p:sp>
      <p:sp>
        <p:nvSpPr>
          <p:cNvPr id="4" name="mechanism-lane-history"/>
          <p:cNvSpPr txBox="1"/>
          <p:nvPr/>
        </p:nvSpPr>
        <p:spPr>
          <a:xfrm>
            <a:off x="660400" y="2209800"/>
            <a:ext cx="863600" cy="18923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과거 workload</a:t>
            </a:r>
            <a:endParaRPr lang="en-US" sz="1250" dirty="0"/>
          </a:p>
        </p:txBody>
      </p:sp>
      <p:sp>
        <p:nvSpPr>
          <p:cNvPr id="5" name="mechanism-lane-snapshot"/>
          <p:cNvSpPr txBox="1"/>
          <p:nvPr/>
        </p:nvSpPr>
        <p:spPr>
          <a:xfrm>
            <a:off x="660400" y="4102100"/>
            <a:ext cx="863600" cy="18923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현재 state</a:t>
            </a:r>
            <a:endParaRPr lang="en-US" sz="1250" dirty="0"/>
          </a:p>
        </p:txBody>
      </p:sp>
      <p:sp>
        <p:nvSpPr>
          <p:cNvPr id="6" name="mechanism-edge-history-lstm-segment-1"/>
          <p:cNvSpPr/>
          <p:nvPr/>
        </p:nvSpPr>
        <p:spPr>
          <a:xfrm>
            <a:off x="3299460" y="31559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state-direct-segment-1"/>
          <p:cNvSpPr/>
          <p:nvPr/>
        </p:nvSpPr>
        <p:spPr>
          <a:xfrm>
            <a:off x="3299460" y="504825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lstm-dense-segment-1"/>
          <p:cNvSpPr/>
          <p:nvPr/>
        </p:nvSpPr>
        <p:spPr>
          <a:xfrm>
            <a:off x="5341620" y="3155950"/>
            <a:ext cx="160867" cy="0"/>
          </a:xfrm>
          <a:prstGeom prst="line">
            <a:avLst/>
          </a:prstGeom>
          <a:noFill/>
          <a:ln w="12700">
            <a:solidFill>
              <a:srgbClr val="0D685C"/>
            </a:solidFill>
            <a:prstDash val="solid"/>
            <a:headEnd type="none"/>
            <a:tailEnd type="none"/>
          </a:ln>
        </p:spPr>
        <p:txBody>
          <a:bodyPr/>
          <a:lstStyle/>
          <a:p>
            <a:endParaRPr lang="ko-KR"/>
          </a:p>
        </p:txBody>
      </p:sp>
      <p:sp>
        <p:nvSpPr>
          <p:cNvPr id="9" name="mechanism-edge-lstm-dense-segment-2"/>
          <p:cNvSpPr/>
          <p:nvPr/>
        </p:nvSpPr>
        <p:spPr>
          <a:xfrm>
            <a:off x="5502487" y="3155950"/>
            <a:ext cx="0" cy="1689100"/>
          </a:xfrm>
          <a:prstGeom prst="line">
            <a:avLst/>
          </a:prstGeom>
          <a:noFill/>
          <a:ln w="12700">
            <a:solidFill>
              <a:srgbClr val="0D685C"/>
            </a:solidFill>
            <a:prstDash val="solid"/>
            <a:headEnd type="none"/>
            <a:tailEnd type="none"/>
          </a:ln>
        </p:spPr>
        <p:txBody>
          <a:bodyPr/>
          <a:lstStyle/>
          <a:p>
            <a:endParaRPr lang="ko-KR"/>
          </a:p>
        </p:txBody>
      </p:sp>
      <p:sp>
        <p:nvSpPr>
          <p:cNvPr id="10" name="mechanism-edge-lstm-dense-segment-3"/>
          <p:cNvSpPr/>
          <p:nvPr/>
        </p:nvSpPr>
        <p:spPr>
          <a:xfrm>
            <a:off x="5502487" y="4845050"/>
            <a:ext cx="321733"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direct-dense-segment-1"/>
          <p:cNvSpPr/>
          <p:nvPr/>
        </p:nvSpPr>
        <p:spPr>
          <a:xfrm>
            <a:off x="5341620" y="5048250"/>
            <a:ext cx="321733" cy="0"/>
          </a:xfrm>
          <a:prstGeom prst="line">
            <a:avLst/>
          </a:prstGeom>
          <a:noFill/>
          <a:ln w="12700">
            <a:solidFill>
              <a:srgbClr val="0D685C"/>
            </a:solidFill>
            <a:prstDash val="solid"/>
            <a:headEnd type="none"/>
            <a:tailEnd type="none"/>
          </a:ln>
        </p:spPr>
        <p:txBody>
          <a:bodyPr/>
          <a:lstStyle/>
          <a:p>
            <a:endParaRPr lang="ko-KR"/>
          </a:p>
        </p:txBody>
      </p:sp>
      <p:sp>
        <p:nvSpPr>
          <p:cNvPr id="12" name="mechanism-edge-direct-dense-segment-2"/>
          <p:cNvSpPr/>
          <p:nvPr/>
        </p:nvSpPr>
        <p:spPr>
          <a:xfrm>
            <a:off x="5663353" y="5048250"/>
            <a:ext cx="0" cy="203200"/>
          </a:xfrm>
          <a:prstGeom prst="line">
            <a:avLst/>
          </a:prstGeom>
          <a:noFill/>
          <a:ln w="12700">
            <a:solidFill>
              <a:srgbClr val="0D685C"/>
            </a:solidFill>
            <a:prstDash val="solid"/>
            <a:headEnd type="none"/>
            <a:tailEnd type="none"/>
          </a:ln>
        </p:spPr>
        <p:txBody>
          <a:bodyPr/>
          <a:lstStyle/>
          <a:p>
            <a:endParaRPr lang="ko-KR"/>
          </a:p>
        </p:txBody>
      </p:sp>
      <p:sp>
        <p:nvSpPr>
          <p:cNvPr id="13" name="mechanism-edge-direct-dense-segment-3"/>
          <p:cNvSpPr/>
          <p:nvPr/>
        </p:nvSpPr>
        <p:spPr>
          <a:xfrm>
            <a:off x="5663353" y="5251450"/>
            <a:ext cx="160867" cy="0"/>
          </a:xfrm>
          <a:prstGeom prst="line">
            <a:avLst/>
          </a:prstGeom>
          <a:noFill/>
          <a:ln w="12700">
            <a:solidFill>
              <a:srgbClr val="0D685C"/>
            </a:solidFill>
            <a:prstDash val="solid"/>
            <a:headEnd type="none"/>
            <a:tailEnd type="triangle"/>
          </a:ln>
        </p:spPr>
        <p:txBody>
          <a:bodyPr/>
          <a:lstStyle/>
          <a:p>
            <a:endParaRPr lang="ko-KR"/>
          </a:p>
        </p:txBody>
      </p:sp>
      <p:sp>
        <p:nvSpPr>
          <p:cNvPr id="14" name="mechanism-edge-dense-1-2-segment-1"/>
          <p:cNvSpPr/>
          <p:nvPr/>
        </p:nvSpPr>
        <p:spPr>
          <a:xfrm>
            <a:off x="7383780" y="5048250"/>
            <a:ext cx="482600" cy="0"/>
          </a:xfrm>
          <a:prstGeom prst="line">
            <a:avLst/>
          </a:prstGeom>
          <a:noFill/>
          <a:ln w="12700">
            <a:solidFill>
              <a:srgbClr val="0D685C"/>
            </a:solidFill>
            <a:prstDash val="solid"/>
            <a:headEnd type="none"/>
            <a:tailEnd type="triangle"/>
          </a:ln>
        </p:spPr>
        <p:txBody>
          <a:bodyPr/>
          <a:lstStyle/>
          <a:p>
            <a:endParaRPr lang="ko-KR"/>
          </a:p>
        </p:txBody>
      </p:sp>
      <p:sp>
        <p:nvSpPr>
          <p:cNvPr id="15" name="mechanism-edge-dense-duel-segment-1"/>
          <p:cNvSpPr/>
          <p:nvPr/>
        </p:nvSpPr>
        <p:spPr>
          <a:xfrm>
            <a:off x="9425940" y="5048250"/>
            <a:ext cx="482600" cy="0"/>
          </a:xfrm>
          <a:prstGeom prst="line">
            <a:avLst/>
          </a:prstGeom>
          <a:noFill/>
          <a:ln w="12700">
            <a:solidFill>
              <a:srgbClr val="0D685C"/>
            </a:solidFill>
            <a:prstDash val="solid"/>
            <a:headEnd type="none"/>
            <a:tailEnd type="triangle"/>
          </a:ln>
        </p:spPr>
        <p:txBody>
          <a:bodyPr/>
          <a:lstStyle/>
          <a:p>
            <a:endParaRPr lang="ko-KR"/>
          </a:p>
        </p:txBody>
      </p:sp>
      <p:sp>
        <p:nvSpPr>
          <p:cNvPr id="16" name="mechanism-node-h-matrix"/>
          <p:cNvSpPr txBox="1"/>
          <p:nvPr/>
        </p:nvSpPr>
        <p:spPr>
          <a:xfrm>
            <a:off x="1739900" y="2794000"/>
            <a:ext cx="1559560" cy="215900"/>
          </a:xfrm>
          <a:prstGeom prst="rect">
            <a:avLst/>
          </a:prstGeom>
          <a:noFill/>
          <a:ln/>
        </p:spPr>
        <p:txBody>
          <a:bodyPr wrap="square" lIns="0" tIns="0" rIns="0" bIns="0" rtlCol="0" anchor="ctr"/>
          <a:lstStyle/>
          <a:p>
            <a:pPr algn="ctr" indent="0" marL="0">
              <a:lnSpc>
                <a:spcPct val="120000"/>
              </a:lnSpc>
              <a:buNone/>
            </a:pPr>
            <a:r>
              <a:rPr lang="en-US" sz="1100" b="1" dirty="0">
                <a:solidFill>
                  <a:srgbClr val="0D685C"/>
                </a:solidFill>
                <a:latin typeface="AppleGothic" pitchFamily="34" charset="0"/>
                <a:ea typeface="AppleGothic" pitchFamily="34" charset="-122"/>
                <a:cs typeface="AppleGothic" pitchFamily="34" charset="-120"/>
              </a:rPr>
              <a:t>H(t)</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1739900" y="3022600"/>
          <a:ext cx="1559560" cy="495300"/>
        </p:xfrm>
        <a:graphic>
          <a:graphicData uri="http://schemas.openxmlformats.org/drawingml/2006/table">
            <a:tbl>
              <a:tblPr/>
              <a:tblGrid>
                <a:gridCol w="779780"/>
                <a:gridCol w="779780"/>
              </a:tblGrid>
              <a:tr h="165100">
                <a:tc>
                  <a:txBody>
                    <a:bodyPr/>
                    <a:lstStyle/>
                    <a:p>
                      <a:pPr algn="ctr" indent="0" marL="0">
                        <a:buNone/>
                      </a:pPr>
                      <a:r>
                        <a:rPr lang="en-US" sz="950" b="1" dirty="0">
                          <a:solidFill>
                            <a:srgbClr val="0D685C"/>
                          </a:solidFill>
                          <a:latin typeface="AppleGothic" pitchFamily="34" charset="0"/>
                          <a:ea typeface="AppleGothic" pitchFamily="34" charset="-122"/>
                          <a:cs typeface="AppleGothic" pitchFamily="34" charset="-120"/>
                        </a:rPr>
                        <a:t>EN1</a:t>
                      </a:r>
                      <a:endParaRPr lang="en-US" sz="95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D685C"/>
                          </a:solidFill>
                          <a:latin typeface="AppleGothic" pitchFamily="34" charset="0"/>
                          <a:ea typeface="AppleGothic" pitchFamily="34" charset="-122"/>
                          <a:cs typeface="AppleGothic" pitchFamily="34" charset="-120"/>
                        </a:rPr>
                        <a:t>EN2</a:t>
                      </a:r>
                      <a:endParaRPr lang="en-US" sz="95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65100">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2</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1</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65100">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3</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2</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18" name="mechanism-node-lstm"/>
          <p:cNvSpPr/>
          <p:nvPr/>
        </p:nvSpPr>
        <p:spPr>
          <a:xfrm>
            <a:off x="3782060" y="28257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LSTM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과거 부하 순서만 처리</a:t>
            </a:r>
            <a:endParaRPr lang="en-US" sz="1150" dirty="0"/>
          </a:p>
        </p:txBody>
      </p:sp>
      <p:sp>
        <p:nvSpPr>
          <p:cNvPr id="19" name="mechanism-node-other-state"/>
          <p:cNvSpPr/>
          <p:nvPr/>
        </p:nvSpPr>
        <p:spPr>
          <a:xfrm>
            <a:off x="1739900" y="47180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나머지 state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Task·queue·battery</a:t>
            </a:r>
            <a:endParaRPr lang="en-US" sz="1150" dirty="0"/>
          </a:p>
        </p:txBody>
      </p:sp>
      <p:sp>
        <p:nvSpPr>
          <p:cNvPr id="20" name="mechanism-node-direct-input"/>
          <p:cNvSpPr/>
          <p:nvPr/>
        </p:nvSpPr>
        <p:spPr>
          <a:xfrm>
            <a:off x="3782060" y="47180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직접 입력</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LSTM을 거치지 않음</a:t>
            </a:r>
            <a:endParaRPr lang="en-US" sz="1150" dirty="0"/>
          </a:p>
        </p:txBody>
      </p:sp>
      <p:sp>
        <p:nvSpPr>
          <p:cNvPr id="21" name="mechanism-node-dense-1"/>
          <p:cNvSpPr/>
          <p:nvPr/>
        </p:nvSpPr>
        <p:spPr>
          <a:xfrm>
            <a:off x="5824220" y="47180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Dense 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두 입력 경로를 결합</a:t>
            </a:r>
            <a:endParaRPr lang="en-US" sz="1150" dirty="0"/>
          </a:p>
        </p:txBody>
      </p:sp>
      <p:sp>
        <p:nvSpPr>
          <p:cNvPr id="22" name="mechanism-node-dense-2"/>
          <p:cNvSpPr/>
          <p:nvPr/>
        </p:nvSpPr>
        <p:spPr>
          <a:xfrm>
            <a:off x="7866380" y="47180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Dense 2</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공통 feature 생성</a:t>
            </a:r>
            <a:endParaRPr lang="en-US" sz="1150" dirty="0"/>
          </a:p>
        </p:txBody>
      </p:sp>
      <p:sp>
        <p:nvSpPr>
          <p:cNvPr id="23" name="mechanism-node-dueling-in"/>
          <p:cNvSpPr/>
          <p:nvPr/>
        </p:nvSpPr>
        <p:spPr>
          <a:xfrm>
            <a:off x="9908540" y="471805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V/A 입력</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두 branch가 공유</a:t>
            </a:r>
            <a:endParaRPr lang="en-US" sz="1150" dirty="0"/>
          </a:p>
        </p:txBody>
      </p:sp>
      <p:sp>
        <p:nvSpPr>
          <p:cNvPr id="24" name="Shape 2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6-7, Fig. 2 and Sec. V-A</a:t>
            </a:r>
            <a:endParaRPr lang="en-US" sz="1050" dirty="0"/>
          </a:p>
        </p:txBody>
      </p:sp>
      <p:sp>
        <p:nvSpPr>
          <p:cNvPr id="26" name="Text 2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Action은 route와 EN index를 함께 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QECO는 CPU 주파수나 전송 power를 연속 제어하지 않고 discrete route를 선택한다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391664"/>
                <a:gridCol w="3478784"/>
                <a:gridCol w="282651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Action 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실제 효과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적용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x_i(t)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queue에 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task 도착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x_i(t)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Transmission queue에 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task 도착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y_i,j(t)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EN만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 target j 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x_i(t)=1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1개와 EN별 offload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action의 Q-value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ε-greedy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offload action에는 전송 여부뿐 아니라 어느 EN queue로 보낼지도 포함된다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3 and 6, Eq. (19)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Offload target과 training EN의 구분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Solid는 task 실행, dashed는 방향이 다른 training·control message를 나타낸다</a:t>
            </a:r>
            <a:endParaRPr lang="en-US" sz="1900" dirty="0"/>
          </a:p>
        </p:txBody>
      </p:sp>
      <p:sp>
        <p:nvSpPr>
          <p:cNvPr id="4" name="mechanism-lane-execution"/>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Task 실행</a:t>
            </a:r>
            <a:endParaRPr lang="en-US" sz="1250" dirty="0"/>
          </a:p>
        </p:txBody>
      </p:sp>
      <p:sp>
        <p:nvSpPr>
          <p:cNvPr id="5" name="mechanism-lane-training"/>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Model 학습</a:t>
            </a:r>
            <a:endParaRPr lang="en-US" sz="1250" dirty="0"/>
          </a:p>
        </p:txBody>
      </p:sp>
      <p:sp>
        <p:nvSpPr>
          <p:cNvPr id="6" name="mechanism-edge-task-route-segment-1"/>
          <p:cNvSpPr/>
          <p:nvPr/>
        </p:nvSpPr>
        <p:spPr>
          <a:xfrm>
            <a:off x="3810000" y="2787650"/>
            <a:ext cx="321733" cy="0"/>
          </a:xfrm>
          <a:prstGeom prst="line">
            <a:avLst/>
          </a:prstGeom>
          <a:noFill/>
          <a:ln w="12700">
            <a:solidFill>
              <a:srgbClr val="0D685C"/>
            </a:solidFill>
            <a:prstDash val="solid"/>
            <a:headEnd type="none"/>
            <a:tailEnd type="none"/>
          </a:ln>
        </p:spPr>
        <p:txBody>
          <a:bodyPr/>
          <a:lstStyle/>
          <a:p>
            <a:endParaRPr lang="ko-KR"/>
          </a:p>
        </p:txBody>
      </p:sp>
      <p:sp>
        <p:nvSpPr>
          <p:cNvPr id="7" name="mechanism-edge-task-route-segment-2"/>
          <p:cNvSpPr/>
          <p:nvPr/>
        </p:nvSpPr>
        <p:spPr>
          <a:xfrm>
            <a:off x="4131733" y="2787650"/>
            <a:ext cx="0" cy="203200"/>
          </a:xfrm>
          <a:prstGeom prst="line">
            <a:avLst/>
          </a:prstGeom>
          <a:noFill/>
          <a:ln w="12700">
            <a:solidFill>
              <a:srgbClr val="0D685C"/>
            </a:solidFill>
            <a:prstDash val="solid"/>
            <a:headEnd type="none"/>
            <a:tailEnd type="none"/>
          </a:ln>
        </p:spPr>
        <p:txBody>
          <a:bodyPr/>
          <a:lstStyle/>
          <a:p>
            <a:endParaRPr lang="ko-KR"/>
          </a:p>
        </p:txBody>
      </p:sp>
      <p:sp>
        <p:nvSpPr>
          <p:cNvPr id="8" name="mechanism-edge-task-route-segment-3"/>
          <p:cNvSpPr/>
          <p:nvPr/>
        </p:nvSpPr>
        <p:spPr>
          <a:xfrm>
            <a:off x="4131733" y="2990850"/>
            <a:ext cx="2713567"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task-route-label"/>
          <p:cNvSpPr txBox="1"/>
          <p:nvPr/>
        </p:nvSpPr>
        <p:spPr>
          <a:xfrm>
            <a:off x="4955117" y="27622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Task route</a:t>
            </a:r>
            <a:endParaRPr lang="en-US" sz="950" dirty="0"/>
          </a:p>
        </p:txBody>
      </p:sp>
      <p:sp>
        <p:nvSpPr>
          <p:cNvPr id="10" name="mechanism-edge-target-queue-segment-1"/>
          <p:cNvSpPr/>
          <p:nvPr/>
        </p:nvSpPr>
        <p:spPr>
          <a:xfrm>
            <a:off x="89154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model-link-segment-1"/>
          <p:cNvSpPr/>
          <p:nvPr/>
        </p:nvSpPr>
        <p:spPr>
          <a:xfrm>
            <a:off x="3810000" y="3194050"/>
            <a:ext cx="160867" cy="0"/>
          </a:xfrm>
          <a:prstGeom prst="line">
            <a:avLst/>
          </a:prstGeom>
          <a:noFill/>
          <a:ln w="12700">
            <a:solidFill>
              <a:srgbClr val="5E6D69"/>
            </a:solidFill>
            <a:prstDash val="dash"/>
            <a:headEnd type="triangle"/>
            <a:tailEnd type="none"/>
          </a:ln>
        </p:spPr>
        <p:txBody>
          <a:bodyPr/>
          <a:lstStyle/>
          <a:p>
            <a:endParaRPr lang="ko-KR"/>
          </a:p>
        </p:txBody>
      </p:sp>
      <p:sp>
        <p:nvSpPr>
          <p:cNvPr id="12" name="mechanism-edge-model-link-segment-2"/>
          <p:cNvSpPr/>
          <p:nvPr/>
        </p:nvSpPr>
        <p:spPr>
          <a:xfrm>
            <a:off x="3970867" y="3194050"/>
            <a:ext cx="0" cy="1358900"/>
          </a:xfrm>
          <a:prstGeom prst="line">
            <a:avLst/>
          </a:prstGeom>
          <a:noFill/>
          <a:ln w="12700">
            <a:solidFill>
              <a:srgbClr val="5E6D69"/>
            </a:solidFill>
            <a:prstDash val="dash"/>
            <a:headEnd type="none"/>
            <a:tailEnd type="none"/>
          </a:ln>
        </p:spPr>
        <p:txBody>
          <a:bodyPr/>
          <a:lstStyle/>
          <a:p>
            <a:endParaRPr lang="ko-KR"/>
          </a:p>
        </p:txBody>
      </p:sp>
      <p:sp>
        <p:nvSpPr>
          <p:cNvPr id="13" name="mechanism-edge-model-link-segment-3"/>
          <p:cNvSpPr/>
          <p:nvPr/>
        </p:nvSpPr>
        <p:spPr>
          <a:xfrm>
            <a:off x="3970867" y="4552950"/>
            <a:ext cx="2874433" cy="0"/>
          </a:xfrm>
          <a:prstGeom prst="line">
            <a:avLst/>
          </a:prstGeom>
          <a:noFill/>
          <a:ln w="12700">
            <a:solidFill>
              <a:srgbClr val="5E6D69"/>
            </a:solidFill>
            <a:prstDash val="dash"/>
            <a:headEnd type="none"/>
            <a:tailEnd type="triangle"/>
          </a:ln>
        </p:spPr>
        <p:txBody>
          <a:bodyPr/>
          <a:lstStyle/>
          <a:p>
            <a:endParaRPr lang="ko-KR"/>
          </a:p>
        </p:txBody>
      </p:sp>
      <p:sp>
        <p:nvSpPr>
          <p:cNvPr id="14" name="mechanism-edge-model-link-label"/>
          <p:cNvSpPr txBox="1"/>
          <p:nvPr/>
        </p:nvSpPr>
        <p:spPr>
          <a:xfrm>
            <a:off x="4874683" y="4324350"/>
            <a:ext cx="1066800" cy="190500"/>
          </a:xfrm>
          <a:prstGeom prst="rect">
            <a:avLst/>
          </a:prstGeom>
          <a:noFill/>
          <a:ln/>
        </p:spPr>
        <p:txBody>
          <a:bodyPr wrap="square" lIns="0" tIns="0" rIns="0" bIns="0" rtlCol="0" anchor="ctr"/>
          <a:lstStyle/>
          <a:p>
            <a:pPr algn="ctr" indent="0" marL="0">
              <a:lnSpc>
                <a:spcPct val="120000"/>
              </a:lnSpc>
              <a:buNone/>
            </a:pPr>
            <a:r>
              <a:rPr lang="en-US" sz="950" b="1" dirty="0">
                <a:solidFill>
                  <a:srgbClr val="173C37"/>
                </a:solidFill>
                <a:latin typeface="AppleGothic" pitchFamily="34" charset="0"/>
                <a:ea typeface="AppleGothic" pitchFamily="34" charset="-122"/>
                <a:cs typeface="AppleGothic" pitchFamily="34" charset="-120"/>
              </a:rPr>
              <a:t>→요청·후속경험 ←θE</a:t>
            </a:r>
            <a:endParaRPr lang="en-US" sz="950" dirty="0"/>
          </a:p>
        </p:txBody>
      </p:sp>
      <p:sp>
        <p:nvSpPr>
          <p:cNvPr id="15" name="mechanism-edge-train-store-segment-1"/>
          <p:cNvSpPr/>
          <p:nvPr/>
        </p:nvSpPr>
        <p:spPr>
          <a:xfrm>
            <a:off x="89154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6" name="mechanism-node-md-i"/>
          <p:cNvSpPr/>
          <p:nvPr/>
        </p:nvSpPr>
        <p:spPr>
          <a:xfrm>
            <a:off x="17399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MD i</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Action 선택·요청 전송</a:t>
            </a:r>
            <a:endParaRPr lang="en-US" sz="1150" dirty="0"/>
          </a:p>
        </p:txBody>
      </p:sp>
      <p:sp>
        <p:nvSpPr>
          <p:cNvPr id="17" name="mechanism-node-target-en"/>
          <p:cNvSpPr/>
          <p:nvPr/>
        </p:nvSpPr>
        <p:spPr>
          <a:xfrm>
            <a:off x="68453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실행 EN j</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Q-value action으로 선택</a:t>
            </a:r>
            <a:endParaRPr lang="en-US" sz="1150" dirty="0"/>
          </a:p>
        </p:txBody>
      </p:sp>
      <p:sp>
        <p:nvSpPr>
          <p:cNvPr id="18" name="mechanism-node-exec-queue"/>
          <p:cNvSpPr txBox="1"/>
          <p:nvPr/>
        </p:nvSpPr>
        <p:spPr>
          <a:xfrm>
            <a:off x="9398000" y="276860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MD i queue</a:t>
            </a:r>
            <a:endParaRPr lang="en-US" sz="1150" dirty="0"/>
          </a:p>
        </p:txBody>
      </p:sp>
      <p:sp>
        <p:nvSpPr>
          <p:cNvPr id="19" name="mechanism-node-exec-queue-queue-1"/>
          <p:cNvSpPr/>
          <p:nvPr/>
        </p:nvSpPr>
        <p:spPr>
          <a:xfrm>
            <a:off x="9398000" y="302260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전송된 task</a:t>
            </a:r>
            <a:endParaRPr lang="en-US" sz="950" dirty="0"/>
          </a:p>
        </p:txBody>
      </p:sp>
      <p:sp>
        <p:nvSpPr>
          <p:cNvPr id="20" name="mechanism-node-training-en"/>
          <p:cNvSpPr/>
          <p:nvPr/>
        </p:nvSpPr>
        <p:spPr>
          <a:xfrm>
            <a:off x="68453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Training EN j_i</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최대 전송 capacity로 연계</a:t>
            </a:r>
            <a:endParaRPr lang="en-US" sz="1150" dirty="0"/>
          </a:p>
        </p:txBody>
      </p:sp>
      <p:sp>
        <p:nvSpPr>
          <p:cNvPr id="21" name="mechanism-node-train-state"/>
          <p:cNvSpPr/>
          <p:nvPr/>
        </p:nvSpPr>
        <p:spPr>
          <a:xfrm>
            <a:off x="93980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MD별 학습 상태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Replay·evaluation·target</a:t>
            </a:r>
            <a:endParaRPr lang="en-US" sz="1150" dirty="0"/>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Task 실행 EN과 model 학습 EN은 선택 기준과 message가 다르다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7-9, Algorithms 1-2</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QoE reward의 세 가지 근거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완료 여부를 reward 경계로 두고 delay와 energy를 battery weight로 결합한다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348480"/>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 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Reward에 미치는 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완료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Deadline 안에 processed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Completion reward R을 받음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delay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도착부터 처리까지 slot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Cost의 φD 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전송, edge, standby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Cost의 (1−φ)E 항</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drop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Deadline 전에 완료하지 못함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 없이 −E만 받음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QoE는 표준 사용자 설문 점수가 아니라 이 MDP에서 task 결과를 평가하는 학습 reward다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5-6, Eqs. (20)-(24)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Battery가 delay와 energy 비중을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 = φD + (1 − φ)E이며 높은 φ는 delay, 낮은 φ는 energy의 비중을 키운다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2609088"/>
                <a:gridCol w="2717800"/>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Battery mode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φ의 방향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Cost에서 강조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Performance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높은 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Delay 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state도 action에 영향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 saving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Delay와 energy 절충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고정 route를 뜻하지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Ultra saving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낮은 쪽</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항상 offload를 뜻하지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단위 경계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논문에 normalization 미기재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Slot과 energy를 한 cost로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R의 수치도 Table II에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Preference 구조는 분명하지만 물리 단위를 합친 범용 score로 옮길 근거는 부족하다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6, Eqs. (22)-(23); p. 10, Table 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정규화된 교실 예시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R=10, φ=0.75, D=2, E=4를 가정해 계산하되 논문 실험값과 구분한다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478784"/>
                <a:gridCol w="2826512"/>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Cost 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QoE 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Processed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0.75×2 + 0.25×4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10 − 2.5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Dropped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 energy E=4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φ가 0.25라면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0.25×2 + 0.75×4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10 − 3.5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모두 정규화 score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Paper parameter가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단위 해석 금지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D와 E에서도 φ가 바뀌면 action 평가가 달라지고 drop에는 completion reward가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6, Eqs. (22)-(23)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Reward가 여러 slot 뒤에 관측되는 이유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Action 시점의 task는 queue를 거친 뒤 완료 또는 drop될 때 QoE가 확정된다</a:t>
            </a:r>
            <a:endParaRPr lang="en-US" sz="1900" dirty="0"/>
          </a:p>
        </p:txBody>
      </p:sp>
      <p:sp>
        <p:nvSpPr>
          <p:cNvPr id="4" name="mechanism-lane-task-tim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원래 task의 시간</a:t>
            </a:r>
            <a:endParaRPr lang="en-US" sz="1250" dirty="0"/>
          </a:p>
        </p:txBody>
      </p:sp>
      <p:sp>
        <p:nvSpPr>
          <p:cNvPr id="5" name="mechanism-edge-dec-next-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next-run-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run-outcome-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out-upload-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decision"/>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결정 slot 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s(t), a(t)를 저장</a:t>
            </a:r>
            <a:endParaRPr lang="en-US" sz="1150" dirty="0"/>
          </a:p>
        </p:txBody>
      </p:sp>
      <p:sp>
        <p:nvSpPr>
          <p:cNvPr id="10" name="mechanism-node-next-state"/>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다음 slot t+1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s(t+1) 관측, q(t) 미정</a:t>
            </a:r>
            <a:endParaRPr lang="en-US" sz="1150" dirty="0"/>
          </a:p>
        </p:txBody>
      </p:sp>
      <p:sp>
        <p:nvSpPr>
          <p:cNvPr id="11" name="mechanism-node-queue-run"/>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Queue 진행</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Local·전송·EN 처리</a:t>
            </a:r>
            <a:endParaRPr lang="en-US" sz="1150" dirty="0"/>
          </a:p>
        </p:txBody>
      </p:sp>
      <p:sp>
        <p:nvSpPr>
          <p:cNvPr id="12" name="mechanism-node-outcome"/>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완료 또는 drop</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과거 task의 q(t) 확정</a:t>
            </a:r>
            <a:endParaRPr lang="en-US" sz="1150" dirty="0"/>
          </a:p>
        </p:txBody>
      </p:sp>
      <p:sp>
        <p:nvSpPr>
          <p:cNvPr id="13" name="mechanism-node-exp-upload"/>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EN 업로드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원래 tuple을 j_i에 전송</a:t>
            </a:r>
            <a:endParaRPr lang="en-US" sz="1150" dirty="0"/>
          </a:p>
        </p:txBody>
      </p:sp>
      <p:sp>
        <p:nvSpPr>
          <p:cNvPr id="14" name="mechanism-axis-line"/>
          <p:cNvSpPr/>
          <p:nvPr/>
        </p:nvSpPr>
        <p:spPr>
          <a:xfrm>
            <a:off x="1676400" y="5080000"/>
            <a:ext cx="9855200" cy="0"/>
          </a:xfrm>
          <a:prstGeom prst="line">
            <a:avLst/>
          </a:prstGeom>
          <a:noFill/>
          <a:ln w="12700">
            <a:solidFill>
              <a:srgbClr val="5E6D69"/>
            </a:solidFill>
            <a:prstDash val="solid"/>
            <a:headEnd type="none"/>
            <a:tailEnd type="none"/>
          </a:ln>
        </p:spPr>
        <p:txBody>
          <a:bodyPr/>
          <a:lstStyle/>
          <a:p>
            <a:endParaRPr lang="ko-KR"/>
          </a:p>
        </p:txBody>
      </p:sp>
      <p:sp>
        <p:nvSpPr>
          <p:cNvPr id="15" name="mechanism-axis-tick-1"/>
          <p:cNvSpPr txBox="1"/>
          <p:nvPr/>
        </p:nvSpPr>
        <p:spPr>
          <a:xfrm>
            <a:off x="216408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a:t>
            </a:r>
            <a:endParaRPr lang="en-US" sz="950" dirty="0"/>
          </a:p>
        </p:txBody>
      </p:sp>
      <p:sp>
        <p:nvSpPr>
          <p:cNvPr id="16" name="mechanism-axis-tick-2"/>
          <p:cNvSpPr txBox="1"/>
          <p:nvPr/>
        </p:nvSpPr>
        <p:spPr>
          <a:xfrm>
            <a:off x="420624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t+1</a:t>
            </a:r>
            <a:endParaRPr lang="en-US" sz="950" dirty="0"/>
          </a:p>
        </p:txBody>
      </p:sp>
      <p:sp>
        <p:nvSpPr>
          <p:cNvPr id="17" name="mechanism-axis-tick-3"/>
          <p:cNvSpPr txBox="1"/>
          <p:nvPr/>
        </p:nvSpPr>
        <p:spPr>
          <a:xfrm>
            <a:off x="624840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t+2</a:t>
            </a:r>
            <a:endParaRPr lang="en-US" sz="950" dirty="0"/>
          </a:p>
        </p:txBody>
      </p:sp>
      <p:sp>
        <p:nvSpPr>
          <p:cNvPr id="18" name="mechanism-axis-tick-4"/>
          <p:cNvSpPr txBox="1"/>
          <p:nvPr/>
        </p:nvSpPr>
        <p:spPr>
          <a:xfrm>
            <a:off x="829056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t+3</a:t>
            </a:r>
            <a:endParaRPr lang="en-US" sz="950" dirty="0"/>
          </a:p>
        </p:txBody>
      </p:sp>
      <p:sp>
        <p:nvSpPr>
          <p:cNvPr id="19" name="mechanism-axis-tick-5"/>
          <p:cNvSpPr txBox="1"/>
          <p:nvPr/>
        </p:nvSpPr>
        <p:spPr>
          <a:xfrm>
            <a:off x="10332720" y="5118100"/>
            <a:ext cx="711200" cy="203200"/>
          </a:xfrm>
          <a:prstGeom prst="rect">
            <a:avLst/>
          </a:prstGeom>
          <a:noFill/>
          <a:ln/>
        </p:spPr>
        <p:txBody>
          <a:bodyPr wrap="square" lIns="0" tIns="0" rIns="0" bIns="0" rtlCol="0" anchor="ctr"/>
          <a:lstStyle/>
          <a:p>
            <a:pPr algn="ctr" indent="0" marL="0">
              <a:lnSpc>
                <a:spcPct val="120000"/>
              </a:lnSpc>
              <a:buNone/>
            </a:pPr>
            <a:r>
              <a:rPr lang="en-US" sz="950" dirty="0">
                <a:solidFill>
                  <a:srgbClr val="173C37"/>
                </a:solidFill>
                <a:latin typeface="Arial" pitchFamily="34" charset="0"/>
                <a:ea typeface="Arial" pitchFamily="34" charset="-122"/>
                <a:cs typeface="Arial" pitchFamily="34" charset="-120"/>
              </a:rPr>
              <a:t>later</a:t>
            </a:r>
            <a:endParaRPr lang="en-US" sz="950" dirty="0"/>
          </a:p>
        </p:txBody>
      </p:sp>
      <p:sp>
        <p:nvSpPr>
          <p:cNvPr id="20" name="Shape 1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1" name="Text 1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Algorithm 1은 현재 끝난 과거 task의 QoE를 모아 원래 experience를 전송한다</a:t>
            </a:r>
            <a:endParaRPr lang="en-US" sz="1750" dirty="0"/>
          </a:p>
        </p:txBody>
      </p:sp>
      <p:sp>
        <p:nvSpPr>
          <p:cNvPr id="22" name="Shape 2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3" name="Text 2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8-9, Algorithm 1 and delayed QoE passage</a:t>
            </a:r>
            <a:endParaRPr lang="en-US" sz="1050" dirty="0"/>
          </a:p>
        </p:txBody>
      </p:sp>
      <p:sp>
        <p:nvSpPr>
          <p:cNvPr id="24" name="Text 2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DQN이 학습하는 값</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discrete action의 Q-value는 현재 QoE와 이후 discounted QoE를 함께 평가한다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State s</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Task, queue, battery, workload history를 관측</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Q vector</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Local과 각 EN offload action의 장기 QoE를 추정</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ε-greedy</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확률 1−ε로 argmax, 확률 ε로 random action</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Experience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종료 뒤 QoE를 포함한 sample로 Q 오차를 학습</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DQN은 workload를 직접 최적화하는 예측기보다 state와 action의 장기 QoE를 근사하는 함수다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6-8, Fig. 2 and Eq. (26)</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D3QN feature에서 Q vector까지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LSTM과 일반 state가 만든 공통 feature를 value와 advantage branch가 공유한다</a:t>
            </a:r>
            <a:endParaRPr lang="en-US" sz="1900" dirty="0"/>
          </a:p>
        </p:txBody>
      </p:sp>
      <p:sp>
        <p:nvSpPr>
          <p:cNvPr id="4" name="mechanism-lane-history"/>
          <p:cNvSpPr txBox="1"/>
          <p:nvPr/>
        </p:nvSpPr>
        <p:spPr>
          <a:xfrm>
            <a:off x="660400" y="2209800"/>
            <a:ext cx="863600" cy="1261533"/>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History 경로</a:t>
            </a:r>
            <a:endParaRPr lang="en-US" sz="1250" dirty="0"/>
          </a:p>
        </p:txBody>
      </p:sp>
      <p:sp>
        <p:nvSpPr>
          <p:cNvPr id="5" name="mechanism-lane-value"/>
          <p:cNvSpPr txBox="1"/>
          <p:nvPr/>
        </p:nvSpPr>
        <p:spPr>
          <a:xfrm>
            <a:off x="660400" y="3471333"/>
            <a:ext cx="863600" cy="1261533"/>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State·value</a:t>
            </a:r>
            <a:endParaRPr lang="en-US" sz="1250" dirty="0"/>
          </a:p>
        </p:txBody>
      </p:sp>
      <p:sp>
        <p:nvSpPr>
          <p:cNvPr id="6" name="mechanism-lane-advantage"/>
          <p:cNvSpPr txBox="1"/>
          <p:nvPr/>
        </p:nvSpPr>
        <p:spPr>
          <a:xfrm>
            <a:off x="660400" y="4732867"/>
            <a:ext cx="863600" cy="1261533"/>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Advantage stream</a:t>
            </a:r>
            <a:endParaRPr lang="en-US" sz="1250" dirty="0"/>
          </a:p>
        </p:txBody>
      </p:sp>
      <p:sp>
        <p:nvSpPr>
          <p:cNvPr id="7" name="mechanism-edge-history-lstm-segment-1"/>
          <p:cNvSpPr/>
          <p:nvPr/>
        </p:nvSpPr>
        <p:spPr>
          <a:xfrm>
            <a:off x="3299460" y="2840567"/>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lstm-dense-segment-1"/>
          <p:cNvSpPr/>
          <p:nvPr/>
        </p:nvSpPr>
        <p:spPr>
          <a:xfrm>
            <a:off x="5341620" y="2840567"/>
            <a:ext cx="241300" cy="0"/>
          </a:xfrm>
          <a:prstGeom prst="line">
            <a:avLst/>
          </a:prstGeom>
          <a:noFill/>
          <a:ln w="12700">
            <a:solidFill>
              <a:srgbClr val="0D685C"/>
            </a:solidFill>
            <a:prstDash val="solid"/>
            <a:headEnd type="none"/>
            <a:tailEnd type="none"/>
          </a:ln>
        </p:spPr>
        <p:txBody>
          <a:bodyPr/>
          <a:lstStyle/>
          <a:p>
            <a:endParaRPr lang="ko-KR"/>
          </a:p>
        </p:txBody>
      </p:sp>
      <p:sp>
        <p:nvSpPr>
          <p:cNvPr id="9" name="mechanism-edge-lstm-dense-segment-2"/>
          <p:cNvSpPr/>
          <p:nvPr/>
        </p:nvSpPr>
        <p:spPr>
          <a:xfrm>
            <a:off x="5582920" y="2840567"/>
            <a:ext cx="0" cy="1058333"/>
          </a:xfrm>
          <a:prstGeom prst="line">
            <a:avLst/>
          </a:prstGeom>
          <a:noFill/>
          <a:ln w="12700">
            <a:solidFill>
              <a:srgbClr val="0D685C"/>
            </a:solidFill>
            <a:prstDash val="solid"/>
            <a:headEnd type="none"/>
            <a:tailEnd type="none"/>
          </a:ln>
        </p:spPr>
        <p:txBody>
          <a:bodyPr/>
          <a:lstStyle/>
          <a:p>
            <a:endParaRPr lang="ko-KR"/>
          </a:p>
        </p:txBody>
      </p:sp>
      <p:sp>
        <p:nvSpPr>
          <p:cNvPr id="10" name="mechanism-edge-lstm-dense-segment-3"/>
          <p:cNvSpPr/>
          <p:nvPr/>
        </p:nvSpPr>
        <p:spPr>
          <a:xfrm>
            <a:off x="5582920" y="3898900"/>
            <a:ext cx="24130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state-dense-segment-1"/>
          <p:cNvSpPr/>
          <p:nvPr/>
        </p:nvSpPr>
        <p:spPr>
          <a:xfrm>
            <a:off x="3299460" y="4102100"/>
            <a:ext cx="321733" cy="0"/>
          </a:xfrm>
          <a:prstGeom prst="line">
            <a:avLst/>
          </a:prstGeom>
          <a:noFill/>
          <a:ln w="12700">
            <a:solidFill>
              <a:srgbClr val="0D685C"/>
            </a:solidFill>
            <a:prstDash val="solid"/>
            <a:headEnd type="none"/>
            <a:tailEnd type="none"/>
          </a:ln>
        </p:spPr>
        <p:txBody>
          <a:bodyPr/>
          <a:lstStyle/>
          <a:p>
            <a:endParaRPr lang="ko-KR"/>
          </a:p>
        </p:txBody>
      </p:sp>
      <p:sp>
        <p:nvSpPr>
          <p:cNvPr id="12" name="mechanism-edge-state-dense-segment-2"/>
          <p:cNvSpPr/>
          <p:nvPr/>
        </p:nvSpPr>
        <p:spPr>
          <a:xfrm>
            <a:off x="3621193" y="4102100"/>
            <a:ext cx="0" cy="203200"/>
          </a:xfrm>
          <a:prstGeom prst="line">
            <a:avLst/>
          </a:prstGeom>
          <a:noFill/>
          <a:ln w="12700">
            <a:solidFill>
              <a:srgbClr val="0D685C"/>
            </a:solidFill>
            <a:prstDash val="solid"/>
            <a:headEnd type="none"/>
            <a:tailEnd type="none"/>
          </a:ln>
        </p:spPr>
        <p:txBody>
          <a:bodyPr/>
          <a:lstStyle/>
          <a:p>
            <a:endParaRPr lang="ko-KR"/>
          </a:p>
        </p:txBody>
      </p:sp>
      <p:sp>
        <p:nvSpPr>
          <p:cNvPr id="13" name="mechanism-edge-state-dense-segment-3"/>
          <p:cNvSpPr/>
          <p:nvPr/>
        </p:nvSpPr>
        <p:spPr>
          <a:xfrm>
            <a:off x="3621193" y="4305300"/>
            <a:ext cx="2203027" cy="0"/>
          </a:xfrm>
          <a:prstGeom prst="line">
            <a:avLst/>
          </a:prstGeom>
          <a:noFill/>
          <a:ln w="12700">
            <a:solidFill>
              <a:srgbClr val="0D685C"/>
            </a:solidFill>
            <a:prstDash val="solid"/>
            <a:headEnd type="none"/>
            <a:tailEnd type="triangle"/>
          </a:ln>
        </p:spPr>
        <p:txBody>
          <a:bodyPr/>
          <a:lstStyle/>
          <a:p>
            <a:endParaRPr lang="ko-KR"/>
          </a:p>
        </p:txBody>
      </p:sp>
      <p:sp>
        <p:nvSpPr>
          <p:cNvPr id="14" name="mechanism-edge-dense-value-segment-1"/>
          <p:cNvSpPr/>
          <p:nvPr/>
        </p:nvSpPr>
        <p:spPr>
          <a:xfrm>
            <a:off x="7383780" y="3898900"/>
            <a:ext cx="321733" cy="0"/>
          </a:xfrm>
          <a:prstGeom prst="line">
            <a:avLst/>
          </a:prstGeom>
          <a:noFill/>
          <a:ln w="12700">
            <a:solidFill>
              <a:srgbClr val="0D685C"/>
            </a:solidFill>
            <a:prstDash val="solid"/>
            <a:headEnd type="none"/>
            <a:tailEnd type="none"/>
          </a:ln>
        </p:spPr>
        <p:txBody>
          <a:bodyPr/>
          <a:lstStyle/>
          <a:p>
            <a:endParaRPr lang="ko-KR"/>
          </a:p>
        </p:txBody>
      </p:sp>
      <p:sp>
        <p:nvSpPr>
          <p:cNvPr id="15" name="mechanism-edge-dense-value-segment-2"/>
          <p:cNvSpPr/>
          <p:nvPr/>
        </p:nvSpPr>
        <p:spPr>
          <a:xfrm>
            <a:off x="7705513" y="3898900"/>
            <a:ext cx="0" cy="203200"/>
          </a:xfrm>
          <a:prstGeom prst="line">
            <a:avLst/>
          </a:prstGeom>
          <a:noFill/>
          <a:ln w="12700">
            <a:solidFill>
              <a:srgbClr val="0D685C"/>
            </a:solidFill>
            <a:prstDash val="solid"/>
            <a:headEnd type="none"/>
            <a:tailEnd type="none"/>
          </a:ln>
        </p:spPr>
        <p:txBody>
          <a:bodyPr/>
          <a:lstStyle/>
          <a:p>
            <a:endParaRPr lang="ko-KR"/>
          </a:p>
        </p:txBody>
      </p:sp>
      <p:sp>
        <p:nvSpPr>
          <p:cNvPr id="16" name="mechanism-edge-dense-value-segment-3"/>
          <p:cNvSpPr/>
          <p:nvPr/>
        </p:nvSpPr>
        <p:spPr>
          <a:xfrm>
            <a:off x="7705513" y="4102100"/>
            <a:ext cx="160867" cy="0"/>
          </a:xfrm>
          <a:prstGeom prst="line">
            <a:avLst/>
          </a:prstGeom>
          <a:noFill/>
          <a:ln w="12700">
            <a:solidFill>
              <a:srgbClr val="0D685C"/>
            </a:solidFill>
            <a:prstDash val="solid"/>
            <a:headEnd type="none"/>
            <a:tailEnd type="triangle"/>
          </a:ln>
        </p:spPr>
        <p:txBody>
          <a:bodyPr/>
          <a:lstStyle/>
          <a:p>
            <a:endParaRPr lang="ko-KR"/>
          </a:p>
        </p:txBody>
      </p:sp>
      <p:sp>
        <p:nvSpPr>
          <p:cNvPr id="17" name="mechanism-edge-dense-adv-segment-1"/>
          <p:cNvSpPr/>
          <p:nvPr/>
        </p:nvSpPr>
        <p:spPr>
          <a:xfrm>
            <a:off x="7383780" y="4305300"/>
            <a:ext cx="160867" cy="0"/>
          </a:xfrm>
          <a:prstGeom prst="line">
            <a:avLst/>
          </a:prstGeom>
          <a:noFill/>
          <a:ln w="12700">
            <a:solidFill>
              <a:srgbClr val="0D685C"/>
            </a:solidFill>
            <a:prstDash val="solid"/>
            <a:headEnd type="none"/>
            <a:tailEnd type="none"/>
          </a:ln>
        </p:spPr>
        <p:txBody>
          <a:bodyPr/>
          <a:lstStyle/>
          <a:p>
            <a:endParaRPr lang="ko-KR"/>
          </a:p>
        </p:txBody>
      </p:sp>
      <p:sp>
        <p:nvSpPr>
          <p:cNvPr id="18" name="mechanism-edge-dense-adv-segment-2"/>
          <p:cNvSpPr/>
          <p:nvPr/>
        </p:nvSpPr>
        <p:spPr>
          <a:xfrm>
            <a:off x="7544647" y="4305300"/>
            <a:ext cx="0" cy="1058333"/>
          </a:xfrm>
          <a:prstGeom prst="line">
            <a:avLst/>
          </a:prstGeom>
          <a:noFill/>
          <a:ln w="12700">
            <a:solidFill>
              <a:srgbClr val="0D685C"/>
            </a:solidFill>
            <a:prstDash val="solid"/>
            <a:headEnd type="none"/>
            <a:tailEnd type="none"/>
          </a:ln>
        </p:spPr>
        <p:txBody>
          <a:bodyPr/>
          <a:lstStyle/>
          <a:p>
            <a:endParaRPr lang="ko-KR"/>
          </a:p>
        </p:txBody>
      </p:sp>
      <p:sp>
        <p:nvSpPr>
          <p:cNvPr id="19" name="mechanism-edge-dense-adv-segment-3"/>
          <p:cNvSpPr/>
          <p:nvPr/>
        </p:nvSpPr>
        <p:spPr>
          <a:xfrm>
            <a:off x="7544647" y="5363633"/>
            <a:ext cx="321733" cy="0"/>
          </a:xfrm>
          <a:prstGeom prst="line">
            <a:avLst/>
          </a:prstGeom>
          <a:noFill/>
          <a:ln w="12700">
            <a:solidFill>
              <a:srgbClr val="0D685C"/>
            </a:solidFill>
            <a:prstDash val="solid"/>
            <a:headEnd type="none"/>
            <a:tailEnd type="triangle"/>
          </a:ln>
        </p:spPr>
        <p:txBody>
          <a:bodyPr/>
          <a:lstStyle/>
          <a:p>
            <a:endParaRPr lang="ko-KR"/>
          </a:p>
        </p:txBody>
      </p:sp>
      <p:sp>
        <p:nvSpPr>
          <p:cNvPr id="20" name="mechanism-edge-value-q-segment-1"/>
          <p:cNvSpPr/>
          <p:nvPr/>
        </p:nvSpPr>
        <p:spPr>
          <a:xfrm>
            <a:off x="9425940" y="4102100"/>
            <a:ext cx="321733" cy="0"/>
          </a:xfrm>
          <a:prstGeom prst="line">
            <a:avLst/>
          </a:prstGeom>
          <a:noFill/>
          <a:ln w="12700">
            <a:solidFill>
              <a:srgbClr val="0D685C"/>
            </a:solidFill>
            <a:prstDash val="solid"/>
            <a:headEnd type="none"/>
            <a:tailEnd type="none"/>
          </a:ln>
        </p:spPr>
        <p:txBody>
          <a:bodyPr/>
          <a:lstStyle/>
          <a:p>
            <a:endParaRPr lang="ko-KR"/>
          </a:p>
        </p:txBody>
      </p:sp>
      <p:sp>
        <p:nvSpPr>
          <p:cNvPr id="21" name="mechanism-edge-value-q-segment-2"/>
          <p:cNvSpPr/>
          <p:nvPr/>
        </p:nvSpPr>
        <p:spPr>
          <a:xfrm flipV="1">
            <a:off x="9747673" y="3898900"/>
            <a:ext cx="0" cy="203200"/>
          </a:xfrm>
          <a:prstGeom prst="line">
            <a:avLst/>
          </a:prstGeom>
          <a:noFill/>
          <a:ln w="12700">
            <a:solidFill>
              <a:srgbClr val="0D685C"/>
            </a:solidFill>
            <a:prstDash val="solid"/>
            <a:headEnd type="none"/>
            <a:tailEnd type="none"/>
          </a:ln>
        </p:spPr>
        <p:txBody>
          <a:bodyPr/>
          <a:lstStyle/>
          <a:p>
            <a:endParaRPr lang="ko-KR"/>
          </a:p>
        </p:txBody>
      </p:sp>
      <p:sp>
        <p:nvSpPr>
          <p:cNvPr id="22" name="mechanism-edge-value-q-segment-3"/>
          <p:cNvSpPr/>
          <p:nvPr/>
        </p:nvSpPr>
        <p:spPr>
          <a:xfrm>
            <a:off x="9747673" y="3898900"/>
            <a:ext cx="160867" cy="0"/>
          </a:xfrm>
          <a:prstGeom prst="line">
            <a:avLst/>
          </a:prstGeom>
          <a:noFill/>
          <a:ln w="12700">
            <a:solidFill>
              <a:srgbClr val="0D685C"/>
            </a:solidFill>
            <a:prstDash val="solid"/>
            <a:headEnd type="none"/>
            <a:tailEnd type="triangle"/>
          </a:ln>
        </p:spPr>
        <p:txBody>
          <a:bodyPr/>
          <a:lstStyle/>
          <a:p>
            <a:endParaRPr lang="ko-KR"/>
          </a:p>
        </p:txBody>
      </p:sp>
      <p:sp>
        <p:nvSpPr>
          <p:cNvPr id="23" name="mechanism-edge-advantage-q-segment-1"/>
          <p:cNvSpPr/>
          <p:nvPr/>
        </p:nvSpPr>
        <p:spPr>
          <a:xfrm>
            <a:off x="9425940" y="5363633"/>
            <a:ext cx="160867" cy="0"/>
          </a:xfrm>
          <a:prstGeom prst="line">
            <a:avLst/>
          </a:prstGeom>
          <a:noFill/>
          <a:ln w="12700">
            <a:solidFill>
              <a:srgbClr val="0D685C"/>
            </a:solidFill>
            <a:prstDash val="solid"/>
            <a:headEnd type="none"/>
            <a:tailEnd type="none"/>
          </a:ln>
        </p:spPr>
        <p:txBody>
          <a:bodyPr/>
          <a:lstStyle/>
          <a:p>
            <a:endParaRPr lang="ko-KR"/>
          </a:p>
        </p:txBody>
      </p:sp>
      <p:sp>
        <p:nvSpPr>
          <p:cNvPr id="24" name="mechanism-edge-advantage-q-segment-2"/>
          <p:cNvSpPr/>
          <p:nvPr/>
        </p:nvSpPr>
        <p:spPr>
          <a:xfrm flipV="1">
            <a:off x="9586807" y="4305300"/>
            <a:ext cx="0" cy="1058333"/>
          </a:xfrm>
          <a:prstGeom prst="line">
            <a:avLst/>
          </a:prstGeom>
          <a:noFill/>
          <a:ln w="12700">
            <a:solidFill>
              <a:srgbClr val="0D685C"/>
            </a:solidFill>
            <a:prstDash val="solid"/>
            <a:headEnd type="none"/>
            <a:tailEnd type="none"/>
          </a:ln>
        </p:spPr>
        <p:txBody>
          <a:bodyPr/>
          <a:lstStyle/>
          <a:p>
            <a:endParaRPr lang="ko-KR"/>
          </a:p>
        </p:txBody>
      </p:sp>
      <p:sp>
        <p:nvSpPr>
          <p:cNvPr id="25" name="mechanism-edge-advantage-q-segment-3"/>
          <p:cNvSpPr/>
          <p:nvPr/>
        </p:nvSpPr>
        <p:spPr>
          <a:xfrm>
            <a:off x="9586807" y="4305300"/>
            <a:ext cx="321733" cy="0"/>
          </a:xfrm>
          <a:prstGeom prst="line">
            <a:avLst/>
          </a:prstGeom>
          <a:noFill/>
          <a:ln w="12700">
            <a:solidFill>
              <a:srgbClr val="0D685C"/>
            </a:solidFill>
            <a:prstDash val="solid"/>
            <a:headEnd type="none"/>
            <a:tailEnd type="triangle"/>
          </a:ln>
        </p:spPr>
        <p:txBody>
          <a:bodyPr/>
          <a:lstStyle/>
          <a:p>
            <a:endParaRPr lang="ko-KR"/>
          </a:p>
        </p:txBody>
      </p:sp>
      <p:sp>
        <p:nvSpPr>
          <p:cNvPr id="26" name="mechanism-node-d3qn-history"/>
          <p:cNvSpPr txBox="1"/>
          <p:nvPr/>
        </p:nvSpPr>
        <p:spPr>
          <a:xfrm>
            <a:off x="1739900" y="2478617"/>
            <a:ext cx="1559560" cy="215900"/>
          </a:xfrm>
          <a:prstGeom prst="rect">
            <a:avLst/>
          </a:prstGeom>
          <a:noFill/>
          <a:ln/>
        </p:spPr>
        <p:txBody>
          <a:bodyPr wrap="square" lIns="0" tIns="0" rIns="0" bIns="0" rtlCol="0" anchor="ctr"/>
          <a:lstStyle/>
          <a:p>
            <a:pPr algn="ctr" indent="0" marL="0">
              <a:lnSpc>
                <a:spcPct val="120000"/>
              </a:lnSpc>
              <a:buNone/>
            </a:pPr>
            <a:r>
              <a:rPr lang="en-US" sz="1100" b="1" dirty="0">
                <a:solidFill>
                  <a:srgbClr val="0D685C"/>
                </a:solidFill>
                <a:latin typeface="AppleGothic" pitchFamily="34" charset="0"/>
                <a:ea typeface="AppleGothic" pitchFamily="34" charset="-122"/>
                <a:cs typeface="AppleGothic" pitchFamily="34" charset="-120"/>
              </a:rPr>
              <a:t>H(t)</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1739900" y="2707217"/>
          <a:ext cx="1559560" cy="495300"/>
        </p:xfrm>
        <a:graphic>
          <a:graphicData uri="http://schemas.openxmlformats.org/drawingml/2006/table">
            <a:tbl>
              <a:tblPr/>
              <a:tblGrid>
                <a:gridCol w="779780"/>
                <a:gridCol w="779780"/>
              </a:tblGrid>
              <a:tr h="165100">
                <a:tc>
                  <a:txBody>
                    <a:bodyPr/>
                    <a:lstStyle/>
                    <a:p>
                      <a:pPr algn="ctr" indent="0" marL="0">
                        <a:buNone/>
                      </a:pPr>
                      <a:r>
                        <a:rPr lang="en-US" sz="950" b="1" dirty="0">
                          <a:solidFill>
                            <a:srgbClr val="0D685C"/>
                          </a:solidFill>
                          <a:latin typeface="AppleGothic" pitchFamily="34" charset="0"/>
                          <a:ea typeface="AppleGothic" pitchFamily="34" charset="-122"/>
                          <a:cs typeface="AppleGothic" pitchFamily="34" charset="-120"/>
                        </a:rPr>
                        <a:t>EN1</a:t>
                      </a:r>
                      <a:endParaRPr lang="en-US" sz="95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D685C"/>
                          </a:solidFill>
                          <a:latin typeface="AppleGothic" pitchFamily="34" charset="0"/>
                          <a:ea typeface="AppleGothic" pitchFamily="34" charset="-122"/>
                          <a:cs typeface="AppleGothic" pitchFamily="34" charset="-120"/>
                        </a:rPr>
                        <a:t>EN2</a:t>
                      </a:r>
                      <a:endParaRPr lang="en-US" sz="95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65100">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2</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1</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65100">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3</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3C37"/>
                          </a:solidFill>
                          <a:latin typeface="AppleGothic" pitchFamily="34" charset="0"/>
                          <a:ea typeface="AppleGothic" pitchFamily="34" charset="-122"/>
                          <a:cs typeface="AppleGothic" pitchFamily="34" charset="-120"/>
                        </a:rPr>
                        <a:t>2</a:t>
                      </a:r>
                      <a:endParaRPr lang="en-US" sz="900" dirty="0">
                        <a:latin typeface="AppleGothic" charset="0"/>
                        <a:ea typeface="AppleGothic" charset="0"/>
                        <a:cs typeface="AppleGothic" charset="0"/>
                      </a:endParaRPr>
                    </a:p>
                  </a:txBody>
                  <a:tcPr marL="12700" marR="12700" marT="12700" marB="12700" anchor="mid">
                    <a:lnL w="6350" cap="flat" cmpd="sng" algn="ctr">
                      <a:solidFill>
                        <a:srgbClr val="C9D8D4"/>
                      </a:solidFill>
                      <a:prstDash val="solid"/>
                      <a:round/>
                      <a:headEnd type="none" w="med" len="med"/>
                      <a:tailEnd type="none" w="med" len="med"/>
                    </a:lnL>
                    <a:lnR w="6350" cap="flat" cmpd="sng" algn="ctr">
                      <a:solidFill>
                        <a:srgbClr val="C9D8D4"/>
                      </a:solidFill>
                      <a:prstDash val="solid"/>
                      <a:round/>
                      <a:headEnd type="none" w="med" len="med"/>
                      <a:tailEnd type="none" w="med" len="med"/>
                    </a:lnR>
                    <a:lnT w="6350" cap="flat" cmpd="sng" algn="ctr">
                      <a:solidFill>
                        <a:srgbClr val="C9D8D4"/>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28" name="mechanism-node-d3qn-state"/>
          <p:cNvSpPr/>
          <p:nvPr/>
        </p:nvSpPr>
        <p:spPr>
          <a:xfrm>
            <a:off x="1739900" y="37719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나머지 state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Task·queue·battery</a:t>
            </a:r>
            <a:endParaRPr lang="en-US" sz="1150" dirty="0"/>
          </a:p>
        </p:txBody>
      </p:sp>
      <p:sp>
        <p:nvSpPr>
          <p:cNvPr id="29" name="mechanism-node-d3qn-lstm"/>
          <p:cNvSpPr/>
          <p:nvPr/>
        </p:nvSpPr>
        <p:spPr>
          <a:xfrm>
            <a:off x="3782060" y="2510367"/>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LSTM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H(t)만 sequence 처리</a:t>
            </a:r>
            <a:endParaRPr lang="en-US" sz="1150" dirty="0"/>
          </a:p>
        </p:txBody>
      </p:sp>
      <p:sp>
        <p:nvSpPr>
          <p:cNvPr id="30" name="mechanism-node-dense-stack"/>
          <p:cNvSpPr/>
          <p:nvPr/>
        </p:nvSpPr>
        <p:spPr>
          <a:xfrm>
            <a:off x="5824220" y="37719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Dense 1 / 2</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입력 결합·공통 feature</a:t>
            </a:r>
            <a:endParaRPr lang="en-US" sz="1150" dirty="0"/>
          </a:p>
        </p:txBody>
      </p:sp>
      <p:sp>
        <p:nvSpPr>
          <p:cNvPr id="31" name="mechanism-node-value-head"/>
          <p:cNvSpPr/>
          <p:nvPr/>
        </p:nvSpPr>
        <p:spPr>
          <a:xfrm>
            <a:off x="7866380" y="37719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V(s)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Scalar value</a:t>
            </a:r>
            <a:endParaRPr lang="en-US" sz="1150" dirty="0"/>
          </a:p>
        </p:txBody>
      </p:sp>
      <p:sp>
        <p:nvSpPr>
          <p:cNvPr id="32" name="mechanism-node-adv-head"/>
          <p:cNvSpPr/>
          <p:nvPr/>
        </p:nvSpPr>
        <p:spPr>
          <a:xfrm>
            <a:off x="7866380" y="5033433"/>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A(s,a)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Action vector</a:t>
            </a:r>
            <a:endParaRPr lang="en-US" sz="1150" dirty="0"/>
          </a:p>
        </p:txBody>
      </p:sp>
      <p:sp>
        <p:nvSpPr>
          <p:cNvPr id="33" name="mechanism-node-q-combine"/>
          <p:cNvSpPr/>
          <p:nvPr/>
        </p:nvSpPr>
        <p:spPr>
          <a:xfrm>
            <a:off x="9908540" y="37719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Q(s,a)</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V + A − mean(A)</a:t>
            </a:r>
            <a:endParaRPr lang="en-US" sz="1150" dirty="0"/>
          </a:p>
        </p:txBody>
      </p:sp>
      <p:sp>
        <p:nvSpPr>
          <p:cNvPr id="34" name="Shape 3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5" name="Text 3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6-7, Fig. 2 and Eq. (25)</a:t>
            </a:r>
            <a:endParaRPr lang="en-US" sz="1050" dirty="0"/>
          </a:p>
        </p:txBody>
      </p:sp>
      <p:sp>
        <p:nvSpPr>
          <p:cNvPr id="36" name="Text 3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D3QN을 이루는 세 역할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LSTM, dueling, Double DQN은 같은 문제를 세 번 부르는 이름이 아니다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804920"/>
                <a:gridCol w="467461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처리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QECO에서 맡는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LSTM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H(t)의 EN workload sequence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과거 load 변화의 feature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Dueling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공통 feature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V(s)와 A(s,a)를 나눠 Q 구성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Double 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state의 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선택과 평가 network 분리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 frame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State-action value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Discounted QoE를 Q-value로 근사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D3QN은 dueling과 Double DQN을 결합하고 LSTM feature를 더한 Q-network다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2 and 6-9, Fig. 2 and Eqs. (25)-(29)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Double DQN target의 선택과 평가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Evaluation network가 다음 action을 고르고 target network가 그 action의 Q-value를 계산한다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다음 state</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Replay sample의 s(n+1)을 두 network 계산에 사용</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Evaluation net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argmax_a Q^E(s(n+1),a)로 다음 action을 선택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Target net</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선택된 action의 Q^T 값을 평가</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Target Q</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QoE q(n)와 γ 곱한 target 값을 더함</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Evaluation update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Q^E(s(n),a(n))와 target의 제곱 오차를 줄임</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Dueling은 forward architecture이고 Double DQN은 replay sample의 target을 만드는 규칙이다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9, Eqs. (27)-(29)</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MD inference와 EN training의 소유권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MD는 parameter를 받아 action을 고르고 associated EN은 MD별 학습 상태를 유지한다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783328"/>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보유 또는 수행</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주고받는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 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state 관측과 ε-greedy inference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UpdateRequest, experience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 EN j_i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 i 전용 replay buffer M_i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완료한 task의 experience 수신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Evaluation net E_i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Q와 학습 대상 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θ_i^E를 MD에 반환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net T_i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Target Q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주기적으로 θ_i^E를 복사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MD는 추론하고 associated EN은 MD별 replay와 network를 학습한다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7-9, Algorithms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Associated EN의 replay 학습</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Task가 끝난 뒤 도착한 experience가 replay sampling과 두 network update를 시작한다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Experience 수신</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MD i가 s, a, q, s_next를 EN j_i에 전송</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Replay 저장</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EN은 MD i 전용 buffer M_i에 기록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Minibatch sample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Buffer에서 experience collection N을 random 추출</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Evaluation update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Double DQN target과 Q^E의 제곱 오차를 최소화</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Target copy</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ReplaceThreshold마다 θ^E를 θ^T로 복사</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Replay와 target network는 delayed experience를 재사용하면서 학습 target의 변화를 늦춘다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9, Algorithm 2 and Eqs. (27)-(29)</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experience가 다음 선택을 바꾸는 과정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QECO의 인과 흐름은 parameter 요청, route 실행, delayed QoE, EN 학습, 다음 parameter 응답으로 이어진다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Parameter 요청</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새 task를 받은 MD가 associated EN에서 θ^E를 받음</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Action과 실행</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MD가 route와 EN target을 고르고 queue 처리를 시작</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Delayed outcome</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slot 뒤 processed 또는 dropped QoE를 관측</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EN training</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Experience를 replay하고 evaluation net을 update</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다음 선택</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나중 요청에서 갱신된 θ^E가 MD inference에 사용</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현재 action의 결과는 EN replay를 거쳐 이후 task의 Q-value에 반영된다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7-9, Algorithms 1-2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논문에서 distributed가 뜻하는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Action은 MD별 제한 관측으로 분산되지만 학습은 associated EN에서 MD별로 수행된다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4239768"/>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QECO의 답</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포함하지 않는 구조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누가 action을 고르는가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MD가 자신의 state로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중앙 controller의 joint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MD 정보가 필요한가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model과 action은 불필요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MD의 policy 공유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누가 network를 학습하는가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Associated EN이 MD별 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 내부 end-to-end 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 load는 어떻게 아는가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Broadcast history H(t)를 관측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workload 완전 관측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QECO의 분산성은 제한된 관측을 이용한 MD별 action 선택에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1-2 and 7-9, Algorithms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Simulation과 training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실험은 실제 dataset 없이 고정된 MEC simulation에서 1,000 episode를 학습한다</a:t>
            </a:r>
            <a:endParaRPr lang="en-US" sz="1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565904"/>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System 규모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50 MD, 5 EN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부하와 MD 수를 별도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Episode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1,000회, 각 100 slot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Slot 길이 τ=0.1 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Batch 16, rate 0.001, γ=0.9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RMSProp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Exploration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ε가 1에서 0.01로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초기 random 선택에서 점차 greedy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dataset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Simulation에서 experience 수집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결과는 이 simulation과 parameter 범위에서 얻은 값이다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10, Simulation Setup</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주요 MEC parameter</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II는 계산 성능, 전송률, task 분포, deadline, power 값을 고정한다</a:t>
            </a:r>
            <a:endParaRPr lang="en-US" sz="1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4565904"/>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Parameter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모델에서의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Compute capacity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 2.6 GHz, EN 42.8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Local과 edge 처리 속도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Transmission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14 Mbps, MD power 2.3 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 delay와 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1.0-7.0 Mbits, arrival 150 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workload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density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0.197, 0.297, 0.397 ×10³ cycle/bit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계산량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Deadline과 battery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slot, 25%, 50%, 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s 제한과 QoE weight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다른 MEC 환경에 적용할 때 Table II의 task와 battery 조건을 함께 확인해야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10, Table 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Task 성능 비교 대상</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LC, FO, RD는 단순 정책이고 PGOA와 DCDRL은 기존 offloading 방법이다</a:t>
            </a:r>
            <a:endParaRPr lang="en-US" sz="1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5218176"/>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Method</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Action 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task를 MD에서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Local-only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task offload, EN은 random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Offload-only 기준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또는 offload와 target을 random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없는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PGOA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Delay-sensitive distributed optimization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전략적 MD-EN 상호작용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DCDRL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Actor-critic 기반 distributed DRL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Queuing MEC의 기존 DRL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DQN과 DDQN은 Fig. 7의 convergence 비교이며 이 task 성능 baseline 목록과 목적이 다르다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10, Benchmark definitions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완료 task와 energy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비교 비율은 workload 조건과 comparator를 함께 붙여야 정확하다</a:t>
            </a:r>
            <a:endParaRPr lang="en-US" sz="1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2391664"/>
                <a:gridCol w="3370072"/>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Metric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QECO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Comparator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 rate 250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Completed 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+72.1%, +46.8%, +28.6%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RD, PGOA, DCDRL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110 MD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Completed 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최소 +22.8%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방법 전체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 rate 450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Total 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−18.6%, −15.5%, −13.9%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RD, PGOA, DCDRL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110 MD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Total 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−27.4%, −16.7%, −23.5%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RD, PGOA, DCDRL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예외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LC와 FO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QECO가 더 많이 소비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LC/FO 자원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QECO는 세 비교법보다 개선됐지만 LC와 FO보다 energy가 낮지는 않았다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10-11, Figs. 3-4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Delay와 QoE 결과의 조건부 해석</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High-load에서 더 많은 task를 완료하면 평균 delay가 오히려 높아질 수 있다</a:t>
            </a:r>
            <a:endParaRPr lang="en-US" sz="1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2391664"/>
                <a:gridCol w="3261360"/>
                <a:gridCol w="26090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Metric</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QECO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 rate 200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Average delay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최소 12.4% 낮음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방법 대비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 rate &gt;350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Average delay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일부 방법보다 높을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타 방법의 drop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70 MD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Average QoE 0.57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+70.3%, +44.7%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PGOA, DCDRL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110 MD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Average QoE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최소 +24.8%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방법 대비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 350-450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Average QoE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+42.6%, +28.5%, +22.6%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RD, PGOA, DCDRL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완료 수, 평균 delay, energy, QoE를 함께 읽어야 drop이 만든 비교 착시를 피할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11, Figs. 5-6</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Network 구성별 empirical convergence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7은 평균 QoE가 안정되는 iteration을 비교하지만 수학적 수렴 보장은 제공하지 않는다</a:t>
            </a:r>
            <a:endParaRPr lang="en-US" sz="19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2717800"/>
                <a:gridCol w="2717800"/>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Network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안정화 시점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포함 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읽는 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Vanilla 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650 iteration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Q-network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Simulation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550 iteration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Double target rule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Simulation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QECO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450 iteration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LSTM과 D3QN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Simulation curve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Formal guarantee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제시되지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Function approximation DRL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논문이 open problem으로 명시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약 450회는 해당 simulation의 안정화 시점이며 수렴 증명이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 9, Complexity; p. 12, Fig. 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결과를 옮길 때 남는 한계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Simulation 성능과 실제 mobile-edge deployment 사이에는 측정되지 않은 구간이 남아 있다</a:t>
            </a:r>
            <a:endParaRPr lang="en-US" sz="19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4348480"/>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근거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dataset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Simulation으로 experience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현장 traffic 일반화 미검증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QoE scaling 미기재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D와 E normalization, R 수치 불명확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절대 score 이식에 주의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EN load 불확실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H(t)는 과거 active queue count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LSTM 예측 정확도 별도 실험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dependency 제외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Call graph는 future 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독립 task 모델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Convergence 보장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논문이 open problem으로 명시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7은 empirical evidence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실제 배포의 비용과 안정성은 이 queue simulation 밖에서 검증해야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6 and 9-12, Eqs. (22)-(23), Secs. VI-VII</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QECO의 정확한 기술 경계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이름, 실행 위치, 학습 구조를 분리하면 후속 연구와의 혼동을 줄일 수 있다</a:t>
            </a:r>
            <a:endParaRPr lang="en-US" sz="19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348480"/>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 논문의 QECO</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구분해야 할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 정체성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2025 TNSE의 QoE offloading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QECO-Adapt 연구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 역할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 관측과 action inference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 내부 전체 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 역할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MD별 replay와 D3QN training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offload target과 동일시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 방식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EN-assisted per-MD Double 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Federated learning과 actor-critic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근거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 simulation의 conditioned result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on-device 성능 보장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QECO ≠ QECO-Adapt이며 MD inference ≠ MD training이다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1-2, 7-9 and 12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QECO의 핵심 흐름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task의 route 선택에서 시작해 delayed QoE와 EN-assisted learning으로 돌아오는 구조다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MD는 local queue 또는 특정 EN으로 가는 discrete action을 고른다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State는 MD backlog와 battery, EN별 내 queue와 workload history를 포함한다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Task가 끝나야 QoE가 확정되고 experience가 associated EN으로 간다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EN은 MD별 replay와 두 network를 학습해 다음 parameter를 제공한다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Simulation은 completion, delay, energy, QoE의 tradeoff를 조건별로 보여 준다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QECO는 MD별 선택과 EN-assisted D3QN training을 결합한 queue 정책이다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pp. 3-12, System Model through Evaluation</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공개 출처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 기록과 공개 manuscript, 저자가 논문에 인용한 code repository를 구분한다</a:t>
            </a:r>
            <a:endParaRPr lang="en-US" sz="1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913632"/>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용도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식별 정보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Publisher DOI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정식 논문 식별자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10.1109/TNSE.2025.3556809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IEEE Xplore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Journal article record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Document 10946841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 v3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공개 manuscript record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arXiv:2311.02525v3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Author code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재현성 확인용 repository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github.com/ImanRHT/QECO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알고리즘과 수치는 journal paper, code는 구현 자료로 구분한다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doi article record; ieee article record and Ref. [42]; arxiv-v3 version record; code repository root</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32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QECO: QoE 중심 계산 오프로딩</dc:title>
  <dc:subject>QECO: A QoE-Oriented Computation Offloading Algorithm Based on Deep Reinforcement Learning for Mobile Edge Computing</dc:subject>
  <dc:creator>Research Seminars</dc:creator>
  <cp:lastModifiedBy>Research Seminars</cp:lastModifiedBy>
  <cp:revision>1</cp:revision>
  <dcterms:created xsi:type="dcterms:W3CDTF">2026-09-12T04:42:05Z</dcterms:created>
  <dcterms:modified xsi:type="dcterms:W3CDTF">2026-09-12T04:42:05Z</dcterms:modified>
</cp:coreProperties>
</file>
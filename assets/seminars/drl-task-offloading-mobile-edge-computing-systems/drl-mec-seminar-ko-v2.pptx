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4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1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2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3.xml" ContentType="application/vnd.openxmlformats-officedocument.presentationml.slide+xml"/>
  <Override PartName="/ppt/slides/slide21.xml" ContentType="application/vnd.openxmlformats-officedocument.presentationml.slide+xml"/>
  <Override PartName="/ppt/slides/slide12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fld id="{264F4DBD-F8BD-4BB3-83FF-259CF8E68D9C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대기열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마감시한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MEC Offloading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위한 분산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자료는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Wong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논문을 따라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mobile device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처리할지 또는 어느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 node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보낼지를 고르는 문제를 소개합니다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핵심은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offloading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자체가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deadline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넣었을 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feedback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늦게 오고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 load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보이지 않는다는 점입니다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model-free distributed DRL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이를 다루며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LSTM, dueling DQN, double DQN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함께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title, abstract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Tang and Wong — Deep Reinforcement Learning for Task Offloading in Mobile Edge Computing Systems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https://doi.org/10.1109/TMC.2020.3036871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9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5BB42B2-20CD-4EE0-B8EC-AB1D63648D6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3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왜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slot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안에 끝난다고 가정할 수 없을까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기존 비교 연구 일부는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처리와 전송이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slot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다음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도착 전 끝난다고 두었습니다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non-divisible 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device queue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 queue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여러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지날 수 있게 모델링합니다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도착했을 때 현재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과거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결과를 물려받고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바로 다음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관측되지 않을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1986–1988, §1–2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Tang and Wong — Deep Reinforcement Learning for Task Offloading in Mobile Edge Computing Systems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https://doi.org/10.1109/TMC.2020.3036871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2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9D6C12B-0942-43A9-9358-6370FF10471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3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먼저 고정해야 하는 모델 경계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나누지 않고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하나의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보냅니다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Device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computation FIFO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transmission FIFO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갖고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device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마다 하나의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FIFO queue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가집니다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Edge CPU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active queue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들에게 동일하게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capacity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나눕니다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Wireless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orthogonal channel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constant transmission rate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두므로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radio interference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packet error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포함한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production scheduler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일반화하면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1986–1989, §2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Tang and Wong — Deep Reinforcement Learning for Task Offloading in Mobile Edge Computing Systems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https://doi.org/10.1109/TMC.2020.3036871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5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7036DFD-05ED-4C9B-BEFB-CED6B142F03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3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만나는 세 대기 지점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교육용으로 풀어 쓴 도식입니다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device computation queue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transmission queue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들어갑니다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Transmission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끝난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선택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해당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device queue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도착하고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edge CPU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active device queues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capacity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equal-share GPS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배분합니다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offload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라는 배타적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결과를 비교하기 위한 것이지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동시에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실행한다는 뜻이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1987–1989, Fig. 1, §2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Tang and Wong — Deep Reinforcement Learning for Task Offloading in Mobile Edge Computing Systems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https://doi.org/10.1109/TMC.2020.3036871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B98BB12-A932-409F-A645-19EC80742F6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4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 slot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순서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enqueue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service,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다음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slot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processing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transmission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어느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완료되면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queue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다음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다음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beginning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시작한다고 둡니다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순서는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wait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transmission wait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계산할 때 이전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completion/drop slot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으로부터 정해집니다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그림의 흐름은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within-slot procedure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보여 주며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칸을 별도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transmission frame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이라고 뜻하지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1987, §2.1; Eqs. 2–6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Tang and Wong — Deep Reinforcement Learning for Task Offloading in Mobile Edge Computing Systems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https://doi.org/10.1109/TMC.2020.3036871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1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B48D91C-A12D-4CFC-8C31-3423116B466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4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 local FIFO wait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completion·drop slot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계산한다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번째 행은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직접 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example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Task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completion slot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slot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들어가려 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wait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 slots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Local completion/drop slot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waiting, size, device CPU capacity, slot duration, processing density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사용해 계산한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service end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deadline end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중 작은 값입니다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방식이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transmission queue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에도 적용되지만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edge processing completion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미래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active queue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수에 따라 결정되어 선택 순간에는 알 수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1987–1988, Eqs. 2–6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Tang and Wong — Deep Reinforcement Learning for Task Offloading in Mobile Edge Computing Systems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https://doi.org/10.1109/TMC.2020.3036871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DC1E368-5848-43D3-A6B4-F7585D0C1C7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4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 edge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처리 지연은 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순간에 확정되지 않는가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 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device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유지하고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active queue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집합의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equal processing capacity share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받습니다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B_n(t)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arrivals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기존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queue length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의해 시간에 따라 바뀌므로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현재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결정할 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future edge queuing delay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unknown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그래서 그것을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직접 넣지 않고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broadcast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past active-queue counts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history matrix H(t)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넣습니다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1988–1989, Eqs. 7–13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Tang and Wong — Deep Reinforcement Learning for Task Offloading in Mobile Edge Computing Systems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https://doi.org/10.1109/TMC.2020.3036871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7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6EB338B-C25C-4DD0-BBC2-FC86BF4F5B3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4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관측 가능한 것과 예측해야 할 것을 분리한다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 Eq. 13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size, computation wait, transmission wait, prior-slot own edge-queue vector,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그리고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H(t)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H(t)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column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 node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past slot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하나에 대응하며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값은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active queue count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 node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slot end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이를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broadcast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한다고 가정합니다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Footnote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future edge queuing delay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decision 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알 수 없으므로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제외했다고 명시합니다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1989, Eqs. 12–13, footnotes 2–3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Tang and Wong — Deep Reinforcement Learning for Task Offloading in Mobile Edge Computing Systems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https://doi.org/10.1109/TMC.2020.3036871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0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1D7E11E-6ADC-4493-803C-A65921128A2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9. 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인가’와 ‘어느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인가’의 결합이다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x_m(t)=1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processing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x_m(t)=0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offloading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 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 vector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정확히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 node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가리킵니다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 space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표기는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binary vector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placement feasibility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구분은 여러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destination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fraction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보낼 수 있는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partial offloading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모델과 다릅니다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1987, Eq. 1; p. 1989, Eq. 14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Tang and Wong — Deep Reinforcement Learning for Task Offloading in Mobile Edge Computing Systems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https://doi.org/10.1109/TMC.2020.3036871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3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A7D2A19-6BBB-482D-811B-0BF2C158AB5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10. 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discounted cost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최소화한다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Processed 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arrival slot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completed slot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까지의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Dropped 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delay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positive constant C penalty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받습니다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device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discount factor gamma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expected long-term cost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최소화하는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policy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찾습니다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즉 이 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epsilon-greedy exploitation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maximum 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minimum Q-value 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고릅니다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Energy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subscription fee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extension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언급될 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 experiment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들어가지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1989–1990, Eqs. 15–19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Tang and Wong — Deep Reinforcement Learning for Task Offloading in Mobile Edge Computing Systems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https://doi.org/10.1109/TMC.2020.3036871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0D427E0-47C3-44E8-8583-FCB773E1E7D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11. current feature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load history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input path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current state features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H(t)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input path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넣습니다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Task size, local/transmission waits, own edge queue vector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FC input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H(t)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LSTM input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들어갑니다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LSTM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last unit output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load-level dynamics information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다음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layer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전달합니다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Two FC layers use ReLU; A&amp;V layer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 advantage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 value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별도로 학습합니다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matrix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숫자는 구조를 보이기 위한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editable example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 dataset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값이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1990–1991, Figs. 2–3, §4.1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Tang and Wong — Deep Reinforcement Learning for Task Offloading in Mobile Edge Computing Systems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https://doi.org/10.1109/TMC.2020.3036871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B7BF345-875E-4AE2-B272-A3C6D404132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6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12. dueling DQN: state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자체의 비용과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차이를 나눈다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 Eq. 20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Q(s,a)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V(s)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A(s,a)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합에서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 advantage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평균을 뺀 형태로 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자체에서 발생하는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expected long-term cost portion, 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 choice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더하는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portion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slide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split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neural computation branches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MEC system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value queue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advantage queue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있다는 뜻이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1991, §4.1.4, Eq. 20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Tang and Wong — Deep Reinforcement Learning for Task Offloading in Mobile Edge Computing Systems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https://doi.org/10.1109/TMC.2020.3036871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2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F20537A-C356-4417-A38A-B125C0C6A96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6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13. runtime 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edge-assisted learning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분리된다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mobile device 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training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돕는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assigned edge n_m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device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parameter request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current Net_m vector u_m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받고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epsilon-greedy 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선택합니다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processed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dropped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되어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관측되면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device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delayed experience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보냅니다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아래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feedback lane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그 완료된 과거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experience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D_m, Net_m(k+1), Target Net_m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진행하는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bounded unroll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current 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나중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feedback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역방향 화살표로 그리지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Edge node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device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replay memory, evaluation Net, Target Net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유지합니다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1991–1993, Algorithms 1–2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Tang and Wong — Deep Reinforcement Learning for Task Offloading in Mobile Edge Computing Systems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https://doi.org/10.1109/TMC.2020.3036871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5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4D48798-5B51-4FF0-B9D4-72F34CE235B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6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14. multi-slot 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delayed cost feedback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일반적인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one-step teaching example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달리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 slot 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t+1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시작에 관측되지 않을 수 있다고 명시합니다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completed-or-dropped 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original arrival slot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들을 포함하는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정의하고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experience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 node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전송합니다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H(t) history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 broadcast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이미 알 수 있으므로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 says the device need not transmit it again with the experience.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1992–1993, Eq. 23, Algorithms 1–2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Tang and Wong — Deep Reinforcement Learning for Task Offloading in Mobile Edge Computing Systems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https://doi.org/10.1109/TMC.2020.3036871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8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AFF82D9-247E-4E60-A0F8-110D05F05E9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7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15. double DQN target: action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선택과 평가를 분리한다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 Eq. 25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evaluation Net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next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minimum-Q 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고릅니다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Eq. 26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Net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평가하여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immediate cost c_i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discounted target 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Edge node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squared difference loss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줄여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Net parameters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Replace Threshold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Net parameters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복사합니다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double DQN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traditional DQN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expected long-term cost estimation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개선할 수 있다고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1993, Eqs. 24–26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Tang and Wong — Deep Reinforcement Learning for Task Offloading in Mobile Edge Computing Systems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https://doi.org/10.1109/TMC.2020.3036871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1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BA73061-09B8-4D59-A96B-8469BE395F5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7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구성 예시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local queue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만으로 기다림을 다시 계산해 보자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slide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2-slot service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deadline 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construction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제시한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rule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wait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계산만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Previous completion slot 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new arrival slot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wait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Then service start is slot 6, and 2 service slots yield completion slot 7 under the paper’s inclusive slot accounting. Because 7 is earlier than deadline end slot 8, task is processed and its delay is 5 slots. Edge side future B_n(t)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unknown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이므로 숫자를 임의로 넣어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prediction example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처럼 보이지 않게 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1987–1988, Eqs. 2–3; constructed example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Tang and Wong — Deep Reinforcement Learning for Task Offloading in Mobile Edge Computing Systems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https://doi.org/10.1109/TMC.2020.3036871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4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89D9B92-913B-4003-BF0F-B4719DCB1DF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7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17.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비교 방법은 무엇을 다르게 가정하는가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Method comparison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 Offl., random offloading, PGOA, ULOOF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포함됩니다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PGOA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potential game best response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기반하고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source footnote 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PGOA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each task processing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one time slot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안에 끝난다고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assume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ULOOF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historical observations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capacity estimation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비교는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exact algorithmic equivalence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증명하는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ablation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 simulation under the stated settings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1994–1995, §5.2, footnote 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Tang and Wong — Deep Reinforcement Learning for Task Offloading in Mobile Edge Computing Systems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https://doi.org/10.1109/TMC.2020.3036871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7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3FD8447-9FD7-42B4-BB4C-0BB6466A281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7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18. reported result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읽기 위한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simulation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Section 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simulation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50 mobile devices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five edge nodes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둡니다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Table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slot duration 0.1 second, device CPU 2.5 GHz, edge CPU 41.8 GHz, transmission rate 14 Mbps, task size 2.0 to 5.0 Mbits, deadline 10 slots, arrival probability 0.3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둡니다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Neural 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batch size 16, learning rate 0.001, gamma 0.9, RMSProp, decreasing exploration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Fig. 4 convergence study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stationary environment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100-slot episode 1,000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개를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1993–1994, Table 1, §5.1, Fig. 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Tang and Wong — Deep Reinforcement Learning for Task Offloading in Mobile Edge Computing Systems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https://doi.org/10.1109/TMC.2020.3036871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0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3D66B36-F5D6-4E7E-9EEB-1E5295D6E8D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8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19. drop ratio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average delay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반드시 함께 읽는다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dropped-task ratio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dropped tasks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total arrivals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나눈 값으로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average delay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processed tasks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average delay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정의합니다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Figure 5 discussion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high arrival probability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더 많은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drop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되어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average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제외되면 일부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method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average delay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낮아질 수 있다고 명시합니다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proposed DRL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drop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더 적으므로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high load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method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average delay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더 클 수도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contradiction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metric definition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결과입니다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1995, §5.2, Fig. 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Tang and Wong — Deep Reinforcement Learning for Task Offloading in Mobile Edge Computing Systems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https://doi.org/10.1109/TMC.2020.3036871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3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C3C117A-2B66-47DB-83E5-FD560FBCB16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8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20. 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보고한 조건부 결과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 numbers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conditions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함께 남깁니다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Arrival probability 0.1 to 0.5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DRL drop ratio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0.2 below, benchmarks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0.5 above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report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Deadline 0.6 second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drop-ratio reduction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65.8 to 79.3 percent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Deadline 1.4 seconds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DRL average delay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0.54 second around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converge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other methods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0.84 second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exceed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Figure 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80 devices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drop ratio below 0.05, 150 devices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PGOA·ULOOF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9.0 percent lower average delay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report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observations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wireless error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interference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1995, Figs. 5–7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Tang and Wong — Deep Reinforcement Learning for Task Offloading in Mobile Edge Computing Systems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https://doi.org/10.1109/TMC.2020.3036871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6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B39CDB8-A8A7-4317-B167-C08589DA76A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8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21.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논문이 보여 주지 않은 것까지 확장하지 않는다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Section 4.2.3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neural networks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 values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approximate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DRL algorithm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convergence guarantee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이라고 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Section 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simplified wireless modeling, practical demo evaluation, computational complexity, network-parameter transmission, non-stationary environment, strategic interaction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directions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Paper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energy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subscription fees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할 수 있다고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mention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energy optimization result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report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queue 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failure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 boundary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1993, 1995–1996, §4.2.3, §6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Tang and Wong — Deep Reinforcement Learning for Task Offloading in Mobile Edge Computing Systems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https://doi.org/10.1109/TMC.2020.3036871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9" name="PlaceHolder 3"/>
          <p:cNvSpPr>
            <a:spLocks noGrp="1"/>
          </p:cNvSpPr>
          <p:nvPr>
            <p:ph type="sldNum" idx="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E5311C6-0ABE-4D24-8476-BAEC5A6D8AB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9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핵심 정리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마지막으로 다섯 연결을 기억하면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Queue and deadline change the meaning of an action; unknown future edge load means the state must use history rather than unavailable future delay; DQN additions have distinct roles; device-side action and edge-side learning are not the same procedure; and source metrics require joint reading. Reported gains are conditioned simulation findings, while convergence and deployment questions remain open.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abstract; §§2–6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Tang and Wong — Deep Reinforcement Learning for Task Offloading in Mobile Edge Computing Systems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https://doi.org/10.1109/TMC.2020.3036871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2" name="PlaceHolder 3"/>
          <p:cNvSpPr>
            <a:spLocks noGrp="1"/>
          </p:cNvSpPr>
          <p:nvPr>
            <p:ph type="sldNum" idx="2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FD0993C-E21F-4D49-93F8-2DA06FDEBDB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215640" cy="6857640"/>
          </a:xfrm>
          <a:prstGeom prst="rect">
            <a:avLst/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" name="Text 1"/>
          <p:cNvSpPr/>
          <p:nvPr/>
        </p:nvSpPr>
        <p:spPr>
          <a:xfrm>
            <a:off x="888840" y="888840"/>
            <a:ext cx="8762760" cy="13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대기열</a:t>
            </a: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마감시한 </a:t>
            </a: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MEC Offloading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위한 분산 </a:t>
            </a: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DRL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888840" y="2413080"/>
            <a:ext cx="9651600" cy="13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Deep Reinforcement Learning for Task Offloading in Mobile Edge Computing Systems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888840" y="4076640"/>
            <a:ext cx="965196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" name="Text 4"/>
          <p:cNvSpPr/>
          <p:nvPr/>
        </p:nvSpPr>
        <p:spPr>
          <a:xfrm>
            <a:off x="888840" y="4368960"/>
            <a:ext cx="96516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Ming Tang and Vincent W. S. Wong (2022)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888840" y="5245200"/>
            <a:ext cx="96516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새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위치 선택이 이전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대기와 미래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edge load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의해 바뀌는 상황을 다룬다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" name="Text 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title, abstract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왜 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slot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안에 끝난다고 가정할 수 없을까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새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지연은 자기 선택만이 아니라 앞선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service·transfer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다른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device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edge load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영향을 받는다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새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slot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시작에 확률적으로 도착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위치 선택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또는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하나를 선택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FIFO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대기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앞선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남아 있으면 기다림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여러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slot service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처리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전송은 이어질 수 있음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완료 또는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drop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deadline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끝에서 아직 미완료면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drop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5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6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논문의 난점은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multi-slot queue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결과와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feedback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시점을 밀어낸다는 것이다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8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1986–1988, §1–2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먼저 고정해야 하는 모델 경계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덱의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algorithm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설명은 논문이 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task·wireless·edge scheduling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가정 안에서만 성립한다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52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4892040"/>
                <a:gridCol w="38048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논문의 모델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설명 경계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non-divisible, deadline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분할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병렬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edge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실행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device queue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 compute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transmission FIFO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새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둘 중 하나만 선택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wireless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orthogonal channel, constant rate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error·interference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미포함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edge CPU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device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FIFO queue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equal-share GPS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우선순위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scheduler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decision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device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 observation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으로 선택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runtime central selector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3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4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결과를 읽기 전에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 non-divisibility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queue service rule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함께 확인해야 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6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1986–1989, §2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새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만나는 세 대기 지점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local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선택은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device compute queue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offload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선택은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transmission queue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선택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edge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device queue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간다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mechanism-lane-local"/>
          <p:cNvSpPr/>
          <p:nvPr/>
        </p:nvSpPr>
        <p:spPr>
          <a:xfrm>
            <a:off x="660240" y="2209680"/>
            <a:ext cx="863280" cy="156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local path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mechanism-lane-offload"/>
          <p:cNvSpPr/>
          <p:nvPr/>
        </p:nvSpPr>
        <p:spPr>
          <a:xfrm>
            <a:off x="660240" y="3772080"/>
            <a:ext cx="863280" cy="156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offload path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mechanism-edge-l1-segment-1"/>
          <p:cNvSpPr/>
          <p:nvPr/>
        </p:nvSpPr>
        <p:spPr>
          <a:xfrm>
            <a:off x="3299400" y="29905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3" name="mechanism-edge-l2-segment-1"/>
          <p:cNvSpPr/>
          <p:nvPr/>
        </p:nvSpPr>
        <p:spPr>
          <a:xfrm>
            <a:off x="5341320" y="29905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4" name="mechanism-edge-o1-segment-1"/>
          <p:cNvSpPr/>
          <p:nvPr/>
        </p:nvSpPr>
        <p:spPr>
          <a:xfrm>
            <a:off x="3299400" y="45529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5" name="mechanism-edge-o2-segment-1"/>
          <p:cNvSpPr/>
          <p:nvPr/>
        </p:nvSpPr>
        <p:spPr>
          <a:xfrm>
            <a:off x="5341320" y="45529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6" name="mechanism-edge-o3-segment-1"/>
          <p:cNvSpPr/>
          <p:nvPr/>
        </p:nvSpPr>
        <p:spPr>
          <a:xfrm>
            <a:off x="7383600" y="45529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7" name="mechanism-edge-o4-segment-1"/>
          <p:cNvSpPr/>
          <p:nvPr/>
        </p:nvSpPr>
        <p:spPr>
          <a:xfrm>
            <a:off x="9425880" y="45529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8" name="mechanism-node-task-local"/>
          <p:cNvSpPr/>
          <p:nvPr/>
        </p:nvSpPr>
        <p:spPr>
          <a:xfrm>
            <a:off x="1739880" y="266076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new task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x = 1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mechanism-node-local-q"/>
          <p:cNvSpPr/>
          <p:nvPr/>
        </p:nvSpPr>
        <p:spPr>
          <a:xfrm>
            <a:off x="3782160" y="2673360"/>
            <a:ext cx="1559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compute FIFO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mechanism-node-local-q-queue-1"/>
          <p:cNvSpPr/>
          <p:nvPr/>
        </p:nvSpPr>
        <p:spPr>
          <a:xfrm>
            <a:off x="3782160" y="2927520"/>
            <a:ext cx="155916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earlier job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mechanism-node-local-q-queue-2"/>
          <p:cNvSpPr/>
          <p:nvPr/>
        </p:nvSpPr>
        <p:spPr>
          <a:xfrm>
            <a:off x="3782160" y="3117960"/>
            <a:ext cx="155916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new task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mechanism-node-local-cpu"/>
          <p:cNvSpPr/>
          <p:nvPr/>
        </p:nvSpPr>
        <p:spPr>
          <a:xfrm>
            <a:off x="5824080" y="266076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device CPU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완료 또는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deadline drop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mechanism-node-task-off"/>
          <p:cNvSpPr/>
          <p:nvPr/>
        </p:nvSpPr>
        <p:spPr>
          <a:xfrm>
            <a:off x="1739880" y="42228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new task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x = 0, edge 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mechanism-node-tx-q"/>
          <p:cNvSpPr/>
          <p:nvPr/>
        </p:nvSpPr>
        <p:spPr>
          <a:xfrm>
            <a:off x="3782160" y="4235400"/>
            <a:ext cx="1559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tx FIFO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mechanism-node-tx-q-queue-1"/>
          <p:cNvSpPr/>
          <p:nvPr/>
        </p:nvSpPr>
        <p:spPr>
          <a:xfrm>
            <a:off x="3782160" y="4489560"/>
            <a:ext cx="155916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prior tx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mechanism-node-tx-q-queue-2"/>
          <p:cNvSpPr/>
          <p:nvPr/>
        </p:nvSpPr>
        <p:spPr>
          <a:xfrm>
            <a:off x="3782160" y="4680000"/>
            <a:ext cx="155916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new task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mechanism-node-wireless"/>
          <p:cNvSpPr/>
          <p:nvPr/>
        </p:nvSpPr>
        <p:spPr>
          <a:xfrm>
            <a:off x="5824080" y="42228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wireless link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chosen edge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transfer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mechanism-node-edge-q"/>
          <p:cNvSpPr/>
          <p:nvPr/>
        </p:nvSpPr>
        <p:spPr>
          <a:xfrm>
            <a:off x="7866360" y="4235400"/>
            <a:ext cx="1559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edge m queue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mechanism-node-edge-q-queue-1"/>
          <p:cNvSpPr/>
          <p:nvPr/>
        </p:nvSpPr>
        <p:spPr>
          <a:xfrm>
            <a:off x="7866360" y="4489560"/>
            <a:ext cx="155916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earlier task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mechanism-node-edge-q-queue-2"/>
          <p:cNvSpPr/>
          <p:nvPr/>
        </p:nvSpPr>
        <p:spPr>
          <a:xfrm>
            <a:off x="7866360" y="4680000"/>
            <a:ext cx="155916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received task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mechanism-node-edge-cpu"/>
          <p:cNvSpPr/>
          <p:nvPr/>
        </p:nvSpPr>
        <p:spPr>
          <a:xfrm>
            <a:off x="9908640" y="42228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edge CPU share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active queues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equal share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Shape 24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3" name="Text 25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offload path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transmission wait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만이 아니라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edge-side queue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CPU share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까지 포함한다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2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5" name="Text 2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1987–1989, Fig. 1, §2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2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slot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순서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enqueue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뒤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service,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다음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job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다음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slot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완료된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job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있어도 같은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slot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안에서 뒤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job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즉시 시작시키지 않는 규칙이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waiting calculation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기준이다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slot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시작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새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 arrival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state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관측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3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4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action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queue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 destination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결정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8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9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enqueue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FIFO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추가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3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4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service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현재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job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transfer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또는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process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8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9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다음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slot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완료 뒤 다음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job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시작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3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4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‘완료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slot’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‘다음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job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start slot’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구분해야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queue waiting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한 칸 틀리지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6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1987, §2.1; Eqs. 2–6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 FIFO wait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completion·drop slot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계산한다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source Eq. 2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이전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local jobs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끝나는 가장 늦은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slot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사용한다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20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043800"/>
                <a:gridCol w="4348440"/>
                <a:gridCol w="34786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상황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뜻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new task at slot 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latest earlier l_comp − t + 1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아직 남은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FIFO wait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earlier job ends at 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 arrives at 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wait = 5 − 3 + 1 = 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 service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ceil(size / per-slot capacity)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필요한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service slot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deadline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min(service end, t + tau − 1)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완료 또는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drop slot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1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2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deadline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대기 뒤의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service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끝나는 시점과 경쟁하며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늦으면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drop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시킨다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4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1987–1988, Eqs. 2–6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처리 지연은 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action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순간에 확정되지 않는가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edge 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active queue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수가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slot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마다 바뀌면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 m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받는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CPU share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도 바뀐다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Shape 2"/>
          <p:cNvSpPr/>
          <p:nvPr/>
        </p:nvSpPr>
        <p:spPr>
          <a:xfrm>
            <a:off x="6095880" y="2705040"/>
            <a:ext cx="360" cy="1904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9" name="Shape 3"/>
          <p:cNvSpPr/>
          <p:nvPr/>
        </p:nvSpPr>
        <p:spPr>
          <a:xfrm>
            <a:off x="3301920" y="2895480"/>
            <a:ext cx="5587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0" name="Shape 4"/>
          <p:cNvSpPr/>
          <p:nvPr/>
        </p:nvSpPr>
        <p:spPr>
          <a:xfrm>
            <a:off x="330192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1" name="Shape 5"/>
          <p:cNvSpPr/>
          <p:nvPr/>
        </p:nvSpPr>
        <p:spPr>
          <a:xfrm>
            <a:off x="888984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2" name="Shape 6"/>
          <p:cNvSpPr/>
          <p:nvPr/>
        </p:nvSpPr>
        <p:spPr>
          <a:xfrm>
            <a:off x="330192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3" name="Shape 7"/>
          <p:cNvSpPr/>
          <p:nvPr/>
        </p:nvSpPr>
        <p:spPr>
          <a:xfrm>
            <a:off x="3301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4" name="Shape 8"/>
          <p:cNvSpPr/>
          <p:nvPr/>
        </p:nvSpPr>
        <p:spPr>
          <a:xfrm>
            <a:off x="888984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5" name="Shape 9"/>
          <p:cNvSpPr/>
          <p:nvPr/>
        </p:nvSpPr>
        <p:spPr>
          <a:xfrm>
            <a:off x="6730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6" name="Shape 10"/>
          <p:cNvSpPr/>
          <p:nvPr/>
        </p:nvSpPr>
        <p:spPr>
          <a:xfrm>
            <a:off x="546084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7" name="Shape 11"/>
          <p:cNvSpPr/>
          <p:nvPr/>
        </p:nvSpPr>
        <p:spPr>
          <a:xfrm>
            <a:off x="673092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8" name="Shape 12"/>
          <p:cNvSpPr/>
          <p:nvPr/>
        </p:nvSpPr>
        <p:spPr>
          <a:xfrm>
            <a:off x="6095880" y="5181480"/>
            <a:ext cx="360" cy="3301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9" name="Text 13"/>
          <p:cNvSpPr/>
          <p:nvPr/>
        </p:nvSpPr>
        <p:spPr>
          <a:xfrm>
            <a:off x="4191120" y="21081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edge n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14"/>
          <p:cNvSpPr/>
          <p:nvPr/>
        </p:nvSpPr>
        <p:spPr>
          <a:xfrm>
            <a:off x="4191120" y="238752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one CPU, per-device FIFO queues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15"/>
          <p:cNvSpPr/>
          <p:nvPr/>
        </p:nvSpPr>
        <p:spPr>
          <a:xfrm>
            <a:off x="127008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active queue count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16"/>
          <p:cNvSpPr/>
          <p:nvPr/>
        </p:nvSpPr>
        <p:spPr>
          <a:xfrm>
            <a:off x="127008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B_n(t)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slot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마다 변화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17"/>
          <p:cNvSpPr/>
          <p:nvPr/>
        </p:nvSpPr>
        <p:spPr>
          <a:xfrm>
            <a:off x="685800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equal CPU share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18"/>
          <p:cNvSpPr/>
          <p:nvPr/>
        </p:nvSpPr>
        <p:spPr>
          <a:xfrm>
            <a:off x="685800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active queue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마다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f_n / B_n(t)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19"/>
          <p:cNvSpPr/>
          <p:nvPr/>
        </p:nvSpPr>
        <p:spPr>
          <a:xfrm>
            <a:off x="4191120" y="457200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future edge service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20"/>
          <p:cNvSpPr/>
          <p:nvPr/>
        </p:nvSpPr>
        <p:spPr>
          <a:xfrm>
            <a:off x="4191120" y="485136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앞으로의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B_n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몰라 확정 불가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21"/>
          <p:cNvSpPr/>
          <p:nvPr/>
        </p:nvSpPr>
        <p:spPr>
          <a:xfrm>
            <a:off x="4191120" y="561348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history</a:t>
            </a: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사용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22"/>
          <p:cNvSpPr/>
          <p:nvPr/>
        </p:nvSpPr>
        <p:spPr>
          <a:xfrm>
            <a:off x="4191120" y="589284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past load counts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state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포함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0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1988–1989, Eqs. 7–13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state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에는 관측 가능한 것과 예측해야 할 것을 분리한다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device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자신의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queue state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edge load history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쓰지만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future edge queue waiting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모른다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54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043800"/>
                <a:gridCol w="4131000"/>
                <a:gridCol w="36961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state component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어떻게 얻나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 size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새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arrival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 observation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이번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service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량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local·tx wait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device FIFO completion history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이미 생긴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device backlog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edge queue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벡터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전송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완료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·drop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edge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남은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own bits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부하 이력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H(t)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edge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active-count broadcast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edge congestion pattern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future edge wait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결정 시 알 수 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직접 넣지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5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6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LSTM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입력은 미래 정답이 아니라 공개된 과거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active-queue count sequence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8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1989, Eqs. 12–13, footnotes 2–3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‘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인가’와 ‘어느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인가’의 결합이다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새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있을 때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action a_m(t)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binary x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destination vector 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구성된다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62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1630440"/>
                <a:gridCol w="3804840"/>
                <a:gridCol w="32612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x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y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queue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y_m,n = 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device computation FIFO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edge 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전송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만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y_m,n = 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device tx FIFO → edge 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 조건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x = 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sum over n of y_m,n = 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edge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하나만 선택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허용 안 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여러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동시에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 splitting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3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4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binary offloading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하나를 고르는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whole-task placement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splitting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6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1987, Eq. 1; p. 1989, Eq. 14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reward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아니라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discounted cost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최소화한다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논문에서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작다는 것은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state-action pair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expected long-term cost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작다는 뜻이다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processed task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arrival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부터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completion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까지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delay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4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5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dropped task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positive fixed penalty C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9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0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no arrival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cost 0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4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5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discount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future cost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gamma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적용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9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0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policy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expected long-term cost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최소화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4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5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processed-task delay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뿐 아니라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deadline drop penalty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까지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action cost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넣는다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7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1989–1990, Eqs. 15–19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current feature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load history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두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input path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LSTM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H(t)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temporal pattern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FC path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현재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task·queue feature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 estimation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연결한다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mechanism-lane-current"/>
          <p:cNvSpPr/>
          <p:nvPr/>
        </p:nvSpPr>
        <p:spPr>
          <a:xfrm>
            <a:off x="660240" y="2209680"/>
            <a:ext cx="863280" cy="156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current observation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mechanism-lane-history"/>
          <p:cNvSpPr/>
          <p:nvPr/>
        </p:nvSpPr>
        <p:spPr>
          <a:xfrm>
            <a:off x="660240" y="3772080"/>
            <a:ext cx="863280" cy="156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load history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mechanism-edge-c1-segment-1"/>
          <p:cNvSpPr/>
          <p:nvPr/>
        </p:nvSpPr>
        <p:spPr>
          <a:xfrm>
            <a:off x="3299400" y="2990520"/>
            <a:ext cx="160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4" name="mechanism-edge-c1-segment-2"/>
          <p:cNvSpPr/>
          <p:nvPr/>
        </p:nvSpPr>
        <p:spPr>
          <a:xfrm flipV="1">
            <a:off x="3460320" y="2787480"/>
            <a:ext cx="360" cy="2030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5" name="mechanism-edge-c1-segment-3"/>
          <p:cNvSpPr/>
          <p:nvPr/>
        </p:nvSpPr>
        <p:spPr>
          <a:xfrm>
            <a:off x="3460320" y="2787480"/>
            <a:ext cx="2363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6" name="mechanism-edge-c2-segment-1"/>
          <p:cNvSpPr/>
          <p:nvPr/>
        </p:nvSpPr>
        <p:spPr>
          <a:xfrm>
            <a:off x="7383600" y="29905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7" name="mechanism-edge-c3-segment-1"/>
          <p:cNvSpPr/>
          <p:nvPr/>
        </p:nvSpPr>
        <p:spPr>
          <a:xfrm>
            <a:off x="9425880" y="29905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8" name="mechanism-edge-h1-segment-1"/>
          <p:cNvSpPr/>
          <p:nvPr/>
        </p:nvSpPr>
        <p:spPr>
          <a:xfrm>
            <a:off x="3299400" y="45529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9" name="mechanism-edge-h2-segment-1"/>
          <p:cNvSpPr/>
          <p:nvPr/>
        </p:nvSpPr>
        <p:spPr>
          <a:xfrm>
            <a:off x="5341320" y="4552920"/>
            <a:ext cx="24156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0" name="mechanism-edge-h2-segment-2"/>
          <p:cNvSpPr/>
          <p:nvPr/>
        </p:nvSpPr>
        <p:spPr>
          <a:xfrm flipV="1">
            <a:off x="5582880" y="3193920"/>
            <a:ext cx="360" cy="135900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1" name="mechanism-edge-h2-segment-3"/>
          <p:cNvSpPr/>
          <p:nvPr/>
        </p:nvSpPr>
        <p:spPr>
          <a:xfrm>
            <a:off x="5582880" y="3193920"/>
            <a:ext cx="2412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2" name="mechanism-edge-h2-label"/>
          <p:cNvSpPr/>
          <p:nvPr/>
        </p:nvSpPr>
        <p:spPr>
          <a:xfrm>
            <a:off x="5049360" y="2432160"/>
            <a:ext cx="10663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encoded history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mechanism-node-curstate"/>
          <p:cNvSpPr/>
          <p:nvPr/>
        </p:nvSpPr>
        <p:spPr>
          <a:xfrm>
            <a:off x="1739880" y="266076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current state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size; comp/tx wait; q_edge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mechanism-node-fc"/>
          <p:cNvSpPr/>
          <p:nvPr/>
        </p:nvSpPr>
        <p:spPr>
          <a:xfrm>
            <a:off x="5824080" y="266076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FC layers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two ReLU FC layers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mechanism-node-heads"/>
          <p:cNvSpPr/>
          <p:nvPr/>
        </p:nvSpPr>
        <p:spPr>
          <a:xfrm>
            <a:off x="7866360" y="266076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 and V heads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advantage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state value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mechanism-node-q"/>
          <p:cNvSpPr/>
          <p:nvPr/>
        </p:nvSpPr>
        <p:spPr>
          <a:xfrm>
            <a:off x="9908640" y="266076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 values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action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long-term cost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mechanism-node-history"/>
          <p:cNvSpPr/>
          <p:nvPr/>
        </p:nvSpPr>
        <p:spPr>
          <a:xfrm>
            <a:off x="1739880" y="4191120"/>
            <a:ext cx="1559160" cy="21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H(t)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8" name="Table 0"/>
          <p:cNvGraphicFramePr/>
          <p:nvPr/>
        </p:nvGraphicFramePr>
        <p:xfrm>
          <a:off x="1739880" y="4419720"/>
          <a:ext cx="1559160" cy="500040"/>
        </p:xfrm>
        <a:graphic>
          <a:graphicData uri="http://schemas.openxmlformats.org/drawingml/2006/table">
            <a:tbl>
              <a:tblPr/>
              <a:tblGrid>
                <a:gridCol w="519840"/>
                <a:gridCol w="519840"/>
                <a:gridCol w="519840"/>
              </a:tblGrid>
              <a:tr h="164880">
                <a:tc>
                  <a:txBody>
                    <a:bodyPr lIns="12600" tIns="12600" rIns="12600" bIns="1260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past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600" marR="12600" marT="12600" marB="12600">
                    <a:lnL w="6480">
                      <a:solidFill>
                        <a:srgbClr val="C9D8D4"/>
                      </a:solidFill>
                      <a:prstDash val="solid"/>
                    </a:lnL>
                    <a:lnR w="6480">
                      <a:solidFill>
                        <a:srgbClr val="C9D8D4"/>
                      </a:solidFill>
                      <a:prstDash val="solid"/>
                    </a:lnR>
                    <a:lnT w="6480">
                      <a:solidFill>
                        <a:srgbClr val="C9D8D4"/>
                      </a:solidFill>
                      <a:prstDash val="solid"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600" tIns="12600" rIns="12600" bIns="1260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edge 1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600" marR="12600" marT="12600" marB="12600">
                    <a:lnL w="6480">
                      <a:solidFill>
                        <a:srgbClr val="C9D8D4"/>
                      </a:solidFill>
                      <a:prstDash val="solid"/>
                    </a:lnL>
                    <a:lnR w="6480">
                      <a:solidFill>
                        <a:srgbClr val="C9D8D4"/>
                      </a:solidFill>
                      <a:prstDash val="solid"/>
                    </a:lnR>
                    <a:lnT w="6480">
                      <a:solidFill>
                        <a:srgbClr val="C9D8D4"/>
                      </a:solidFill>
                      <a:prstDash val="solid"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600" tIns="12600" rIns="12600" bIns="1260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edge 2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600" marR="12600" marT="12600" marB="12600">
                    <a:lnL w="6480">
                      <a:solidFill>
                        <a:srgbClr val="C9D8D4"/>
                      </a:solidFill>
                      <a:prstDash val="solid"/>
                    </a:lnL>
                    <a:lnR w="6480">
                      <a:solidFill>
                        <a:srgbClr val="C9D8D4"/>
                      </a:solidFill>
                      <a:prstDash val="solid"/>
                    </a:lnR>
                    <a:lnT w="6480">
                      <a:solidFill>
                        <a:srgbClr val="C9D8D4"/>
                      </a:solidFill>
                      <a:prstDash val="solid"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64880">
                <a:tc>
                  <a:txBody>
                    <a:bodyPr lIns="12600" tIns="12600" rIns="12600" bIns="1260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older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600" marR="12600" marT="12600" marB="12600">
                    <a:lnL w="6480">
                      <a:solidFill>
                        <a:srgbClr val="C9D8D4"/>
                      </a:solidFill>
                      <a:prstDash val="solid"/>
                    </a:lnL>
                    <a:lnR w="6480">
                      <a:solidFill>
                        <a:srgbClr val="C9D8D4"/>
                      </a:solidFill>
                      <a:prstDash val="solid"/>
                    </a:lnR>
                    <a:lnT w="6480">
                      <a:solidFill>
                        <a:srgbClr val="C9D8D4"/>
                      </a:solidFill>
                      <a:prstDash val="solid"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600" tIns="12600" rIns="12600" bIns="1260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600" marR="12600" marT="12600" marB="12600">
                    <a:lnL w="6480">
                      <a:solidFill>
                        <a:srgbClr val="C9D8D4"/>
                      </a:solidFill>
                      <a:prstDash val="solid"/>
                    </a:lnL>
                    <a:lnR w="6480">
                      <a:solidFill>
                        <a:srgbClr val="C9D8D4"/>
                      </a:solidFill>
                      <a:prstDash val="solid"/>
                    </a:lnR>
                    <a:lnT w="6480">
                      <a:solidFill>
                        <a:srgbClr val="C9D8D4"/>
                      </a:solidFill>
                      <a:prstDash val="solid"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600" tIns="12600" rIns="12600" bIns="1260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600" marR="12600" marT="12600" marB="12600">
                    <a:lnL w="6480">
                      <a:solidFill>
                        <a:srgbClr val="C9D8D4"/>
                      </a:solidFill>
                      <a:prstDash val="solid"/>
                    </a:lnL>
                    <a:lnR w="6480">
                      <a:solidFill>
                        <a:srgbClr val="C9D8D4"/>
                      </a:solidFill>
                      <a:prstDash val="solid"/>
                    </a:lnR>
                    <a:lnT w="6480">
                      <a:solidFill>
                        <a:srgbClr val="C9D8D4"/>
                      </a:solidFill>
                      <a:prstDash val="solid"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64880">
                <a:tc>
                  <a:txBody>
                    <a:bodyPr lIns="12600" tIns="12600" rIns="12600" bIns="1260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recent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600" marR="12600" marT="12600" marB="12600">
                    <a:lnL w="6480">
                      <a:solidFill>
                        <a:srgbClr val="C9D8D4"/>
                      </a:solidFill>
                      <a:prstDash val="solid"/>
                    </a:lnL>
                    <a:lnR w="6480">
                      <a:solidFill>
                        <a:srgbClr val="C9D8D4"/>
                      </a:solidFill>
                      <a:prstDash val="solid"/>
                    </a:lnR>
                    <a:lnT w="6480">
                      <a:solidFill>
                        <a:srgbClr val="C9D8D4"/>
                      </a:solidFill>
                      <a:prstDash val="solid"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600" tIns="12600" rIns="12600" bIns="1260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600" marR="12600" marT="12600" marB="12600">
                    <a:lnL w="6480">
                      <a:solidFill>
                        <a:srgbClr val="C9D8D4"/>
                      </a:solidFill>
                      <a:prstDash val="solid"/>
                    </a:lnL>
                    <a:lnR w="6480">
                      <a:solidFill>
                        <a:srgbClr val="C9D8D4"/>
                      </a:solidFill>
                      <a:prstDash val="solid"/>
                    </a:lnR>
                    <a:lnT w="6480">
                      <a:solidFill>
                        <a:srgbClr val="C9D8D4"/>
                      </a:solidFill>
                      <a:prstDash val="solid"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600" tIns="12600" rIns="12600" bIns="1260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600" marR="12600" marT="12600" marB="12600">
                    <a:lnL w="6480">
                      <a:solidFill>
                        <a:srgbClr val="C9D8D4"/>
                      </a:solidFill>
                      <a:prstDash val="solid"/>
                    </a:lnL>
                    <a:lnR w="6480">
                      <a:solidFill>
                        <a:srgbClr val="C9D8D4"/>
                      </a:solidFill>
                      <a:prstDash val="solid"/>
                    </a:lnR>
                    <a:lnT w="6480">
                      <a:solidFill>
                        <a:srgbClr val="C9D8D4"/>
                      </a:solidFill>
                      <a:prstDash val="solid"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9" name="mechanism-node-lstm"/>
          <p:cNvSpPr/>
          <p:nvPr/>
        </p:nvSpPr>
        <p:spPr>
          <a:xfrm>
            <a:off x="3782160" y="42228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LSTM sequence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load dynamics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encode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Shape 20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1" name="Text 21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history path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future load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정답이 아니라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past load variation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 estimator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전달한다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Shape 2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3" name="Text 2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1990–1991, Figs. 2–3, §4.1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 2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dueling DQN: state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자체의 비용과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action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차이를 나눈다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state value V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action advantage A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결합하되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A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평균을 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identifiability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맞춘다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Shape 2"/>
          <p:cNvSpPr/>
          <p:nvPr/>
        </p:nvSpPr>
        <p:spPr>
          <a:xfrm>
            <a:off x="6095880" y="2705040"/>
            <a:ext cx="360" cy="1904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8" name="Shape 3"/>
          <p:cNvSpPr/>
          <p:nvPr/>
        </p:nvSpPr>
        <p:spPr>
          <a:xfrm>
            <a:off x="3301920" y="2895480"/>
            <a:ext cx="5587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9" name="Shape 4"/>
          <p:cNvSpPr/>
          <p:nvPr/>
        </p:nvSpPr>
        <p:spPr>
          <a:xfrm>
            <a:off x="330192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0" name="Shape 5"/>
          <p:cNvSpPr/>
          <p:nvPr/>
        </p:nvSpPr>
        <p:spPr>
          <a:xfrm>
            <a:off x="888984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1" name="Shape 6"/>
          <p:cNvSpPr/>
          <p:nvPr/>
        </p:nvSpPr>
        <p:spPr>
          <a:xfrm>
            <a:off x="330192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2" name="Shape 7"/>
          <p:cNvSpPr/>
          <p:nvPr/>
        </p:nvSpPr>
        <p:spPr>
          <a:xfrm>
            <a:off x="3301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3" name="Shape 8"/>
          <p:cNvSpPr/>
          <p:nvPr/>
        </p:nvSpPr>
        <p:spPr>
          <a:xfrm>
            <a:off x="888984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4" name="Shape 9"/>
          <p:cNvSpPr/>
          <p:nvPr/>
        </p:nvSpPr>
        <p:spPr>
          <a:xfrm>
            <a:off x="6730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5" name="Shape 10"/>
          <p:cNvSpPr/>
          <p:nvPr/>
        </p:nvSpPr>
        <p:spPr>
          <a:xfrm>
            <a:off x="546084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6" name="Shape 11"/>
          <p:cNvSpPr/>
          <p:nvPr/>
        </p:nvSpPr>
        <p:spPr>
          <a:xfrm>
            <a:off x="673092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7" name="Shape 12"/>
          <p:cNvSpPr/>
          <p:nvPr/>
        </p:nvSpPr>
        <p:spPr>
          <a:xfrm>
            <a:off x="6095880" y="5181480"/>
            <a:ext cx="360" cy="3301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8" name="Text 13"/>
          <p:cNvSpPr/>
          <p:nvPr/>
        </p:nvSpPr>
        <p:spPr>
          <a:xfrm>
            <a:off x="4191120" y="21081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encoded state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14"/>
          <p:cNvSpPr/>
          <p:nvPr/>
        </p:nvSpPr>
        <p:spPr>
          <a:xfrm>
            <a:off x="4191120" y="238752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현재 특성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+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부하 이력 표현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15"/>
          <p:cNvSpPr/>
          <p:nvPr/>
        </p:nvSpPr>
        <p:spPr>
          <a:xfrm>
            <a:off x="127008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 head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16"/>
          <p:cNvSpPr/>
          <p:nvPr/>
        </p:nvSpPr>
        <p:spPr>
          <a:xfrm>
            <a:off x="127008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state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만드는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expected cost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 17"/>
          <p:cNvSpPr/>
          <p:nvPr/>
        </p:nvSpPr>
        <p:spPr>
          <a:xfrm>
            <a:off x="685800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 head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 18"/>
          <p:cNvSpPr/>
          <p:nvPr/>
        </p:nvSpPr>
        <p:spPr>
          <a:xfrm>
            <a:off x="685800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action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별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cost difference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19"/>
          <p:cNvSpPr/>
          <p:nvPr/>
        </p:nvSpPr>
        <p:spPr>
          <a:xfrm>
            <a:off x="4191120" y="457200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center A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 20"/>
          <p:cNvSpPr/>
          <p:nvPr/>
        </p:nvSpPr>
        <p:spPr>
          <a:xfrm>
            <a:off x="4191120" y="485136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action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평균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 21"/>
          <p:cNvSpPr/>
          <p:nvPr/>
        </p:nvSpPr>
        <p:spPr>
          <a:xfrm>
            <a:off x="4191120" y="561348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Q(s,a)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22"/>
          <p:cNvSpPr/>
          <p:nvPr/>
        </p:nvSpPr>
        <p:spPr>
          <a:xfrm>
            <a:off x="4191120" y="589284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 + A − mean(A)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9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1991, §4.1.4, Eq. 20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runtime action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edge-assisted learning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분리된다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device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current Net parameter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행동하고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assigned edge node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device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memory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networks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training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mechanism-lane-device"/>
          <p:cNvSpPr/>
          <p:nvPr/>
        </p:nvSpPr>
        <p:spPr>
          <a:xfrm>
            <a:off x="660240" y="2209680"/>
            <a:ext cx="863280" cy="104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at mobile device m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mechanism-lane-edge"/>
          <p:cNvSpPr/>
          <p:nvPr/>
        </p:nvSpPr>
        <p:spPr>
          <a:xfrm>
            <a:off x="660240" y="3251160"/>
            <a:ext cx="863280" cy="104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at assigned edge n_m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mechanism-lane-feedback"/>
          <p:cNvSpPr/>
          <p:nvPr/>
        </p:nvSpPr>
        <p:spPr>
          <a:xfrm>
            <a:off x="660240" y="4292640"/>
            <a:ext cx="863280" cy="104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delayed feedback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mechanism-edge-d1-segment-1"/>
          <p:cNvSpPr/>
          <p:nvPr/>
        </p:nvSpPr>
        <p:spPr>
          <a:xfrm>
            <a:off x="3809880" y="2730240"/>
            <a:ext cx="160920" cy="360"/>
          </a:xfrm>
          <a:prstGeom prst="line">
            <a:avLst/>
          </a:prstGeom>
          <a:ln w="12700">
            <a:solidFill>
              <a:srgbClr val="5E6D69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7" name="mechanism-edge-d1-segment-2"/>
          <p:cNvSpPr/>
          <p:nvPr/>
        </p:nvSpPr>
        <p:spPr>
          <a:xfrm>
            <a:off x="3970800" y="2730240"/>
            <a:ext cx="360" cy="1041480"/>
          </a:xfrm>
          <a:prstGeom prst="line">
            <a:avLst/>
          </a:prstGeom>
          <a:ln w="12700">
            <a:solidFill>
              <a:srgbClr val="5E6D69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8" name="mechanism-edge-d1-segment-3"/>
          <p:cNvSpPr/>
          <p:nvPr/>
        </p:nvSpPr>
        <p:spPr>
          <a:xfrm>
            <a:off x="3970800" y="3771720"/>
            <a:ext cx="321480" cy="360"/>
          </a:xfrm>
          <a:prstGeom prst="line">
            <a:avLst/>
          </a:prstGeom>
          <a:ln w="12700">
            <a:solidFill>
              <a:srgbClr val="5E6D69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9" name="mechanism-edge-d1-label"/>
          <p:cNvSpPr/>
          <p:nvPr/>
        </p:nvSpPr>
        <p:spPr>
          <a:xfrm>
            <a:off x="3517920" y="2171880"/>
            <a:ext cx="10663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parameter request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mechanism-edge-d2-segment-1"/>
          <p:cNvSpPr/>
          <p:nvPr/>
        </p:nvSpPr>
        <p:spPr>
          <a:xfrm>
            <a:off x="6362640" y="3771720"/>
            <a:ext cx="160920" cy="360"/>
          </a:xfrm>
          <a:prstGeom prst="line">
            <a:avLst/>
          </a:prstGeom>
          <a:ln w="12700">
            <a:solidFill>
              <a:srgbClr val="5E6D69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1" name="mechanism-edge-d2-segment-2"/>
          <p:cNvSpPr/>
          <p:nvPr/>
        </p:nvSpPr>
        <p:spPr>
          <a:xfrm flipV="1">
            <a:off x="6523560" y="2730240"/>
            <a:ext cx="360" cy="1041480"/>
          </a:xfrm>
          <a:prstGeom prst="line">
            <a:avLst/>
          </a:prstGeom>
          <a:ln w="12700">
            <a:solidFill>
              <a:srgbClr val="5E6D69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2" name="mechanism-edge-d2-segment-3"/>
          <p:cNvSpPr/>
          <p:nvPr/>
        </p:nvSpPr>
        <p:spPr>
          <a:xfrm>
            <a:off x="6523560" y="2730240"/>
            <a:ext cx="321480" cy="360"/>
          </a:xfrm>
          <a:prstGeom prst="line">
            <a:avLst/>
          </a:prstGeom>
          <a:ln w="12700">
            <a:solidFill>
              <a:srgbClr val="5E6D69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3" name="mechanism-edge-d2-label"/>
          <p:cNvSpPr/>
          <p:nvPr/>
        </p:nvSpPr>
        <p:spPr>
          <a:xfrm>
            <a:off x="6070680" y="2171880"/>
            <a:ext cx="10663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u_m reply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mechanism-edge-d3-segment-1"/>
          <p:cNvSpPr/>
          <p:nvPr/>
        </p:nvSpPr>
        <p:spPr>
          <a:xfrm>
            <a:off x="8915400" y="273024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5" name="mechanism-edge-e1-segment-1"/>
          <p:cNvSpPr/>
          <p:nvPr/>
        </p:nvSpPr>
        <p:spPr>
          <a:xfrm>
            <a:off x="3809880" y="481320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6" name="mechanism-edge-e2-segment-1"/>
          <p:cNvSpPr/>
          <p:nvPr/>
        </p:nvSpPr>
        <p:spPr>
          <a:xfrm>
            <a:off x="6362640" y="481320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7" name="mechanism-edge-e3-segment-1"/>
          <p:cNvSpPr/>
          <p:nvPr/>
        </p:nvSpPr>
        <p:spPr>
          <a:xfrm>
            <a:off x="8915400" y="481320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8" name="mechanism-node-obs"/>
          <p:cNvSpPr/>
          <p:nvPr/>
        </p:nvSpPr>
        <p:spPr>
          <a:xfrm>
            <a:off x="1739880" y="240048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new task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current state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parameter request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mechanism-node-select"/>
          <p:cNvSpPr/>
          <p:nvPr/>
        </p:nvSpPr>
        <p:spPr>
          <a:xfrm>
            <a:off x="6845400" y="240048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epsilon-greedy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random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또는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min-Q action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mechanism-node-execute"/>
          <p:cNvSpPr/>
          <p:nvPr/>
        </p:nvSpPr>
        <p:spPr>
          <a:xfrm>
            <a:off x="9398160" y="240048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execute action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queue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넣고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service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진행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mechanism-node-net"/>
          <p:cNvSpPr/>
          <p:nvPr/>
        </p:nvSpPr>
        <p:spPr>
          <a:xfrm>
            <a:off x="429264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current Net_m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parameter request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u_m reply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mechanism-node-experience"/>
          <p:cNvSpPr/>
          <p:nvPr/>
        </p:nvSpPr>
        <p:spPr>
          <a:xfrm>
            <a:off x="1739880" y="448308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completed experience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cost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관측 뒤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device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전송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mechanism-node-memory"/>
          <p:cNvSpPr/>
          <p:nvPr/>
        </p:nvSpPr>
        <p:spPr>
          <a:xfrm>
            <a:off x="4292640" y="4495680"/>
            <a:ext cx="20696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replay memory D_m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mechanism-node-memory-queue-1"/>
          <p:cNvSpPr/>
          <p:nvPr/>
        </p:nvSpPr>
        <p:spPr>
          <a:xfrm>
            <a:off x="4292640" y="4749840"/>
            <a:ext cx="206964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s, a, c, s-next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mechanism-node-memory-queue-2"/>
          <p:cNvSpPr/>
          <p:nvPr/>
        </p:nvSpPr>
        <p:spPr>
          <a:xfrm>
            <a:off x="4292640" y="4940280"/>
            <a:ext cx="206964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older experiences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mechanism-node-update"/>
          <p:cNvSpPr/>
          <p:nvPr/>
        </p:nvSpPr>
        <p:spPr>
          <a:xfrm>
            <a:off x="6845400" y="448308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update Net_m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sample, target, loss minimize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mechanism-node-target"/>
          <p:cNvSpPr/>
          <p:nvPr/>
        </p:nvSpPr>
        <p:spPr>
          <a:xfrm>
            <a:off x="9398160" y="448308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Target Net_m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periodic parameter copy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Shape 27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9" name="Text 28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decentralized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지만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replay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learning computation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보조한다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Shape 29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1" name="Text 30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1991–1993, Algorithms 1–2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Text 31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multi-slot task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delayed cost feedback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논문은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실제로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processed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또는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dropped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slot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experience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보낸다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slot 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state s_t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action a_t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9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0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slot t+1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next state s_t+1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관측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4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5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service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계속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 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delay·drop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미확정 가능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9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0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finish slot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processed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또는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dropped task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확인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4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5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experience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s_t, a_t, c_t, s_t+1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전송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9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0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next state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cost observation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시점이 분리되므로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completed-task set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따로 만든다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2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1992–1993, Eq. 23, Algorithms 1–2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double DQN target: action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선택과 평가를 분리한다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evaluation Net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next action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고르고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Target Net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discounted future cost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평가한다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replay sample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s_i, a_i, c_i, s_i+1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0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1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choose next action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Net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min-Q action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5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6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evaluate target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Target Net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next-action Q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0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1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target cost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c_i + gamma times target Q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5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6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periodic copy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Target Net ← Net parameters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0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1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double DQN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target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next-action choice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value evaluation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분리한다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3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1993, Eqs. 24–26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구성 예시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local queue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만으로 기다림을 다시 계산해 보자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아래 숫자는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source result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아닌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Eq. 2–3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queue accounting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확인하기 위한 구성 예시다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4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935080"/>
                <a:gridCol w="4674600"/>
                <a:gridCol w="32612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slot /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prior local job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completion slot = 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queue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까지 점유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new task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arrival t = 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waiting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max(5 − 3 + 1, 0)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 slots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service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 slots, deadline end slot 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unbounded end = 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cost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completion at 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delay = 7 − 3 + 1 = 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deadline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slot 7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끝나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delay cost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받고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edge future wait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예측하지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1987–1988, Eqs. 2–3; constructed example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비교 방법은 무엇을 다르게 가정하는가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source baselines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같은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metric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아래 비교되지만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feedback·capacity model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queue assumptions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완전히 같지는 않다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5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4022280"/>
                <a:gridCol w="46746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method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 방식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논문이 밝힌 차이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 Offl.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언제나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edge capacity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사용하지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R. Offl.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random offloading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load-aware policy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PGOA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potential-game best response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one slot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내 끝난다고 가정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ULOOF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historical capacity estimation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load-estimation route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proposed DRL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history-based Q learning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multi-slot queue·delayed cost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모델링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비교 핵심은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DRL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이름보다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multi-slot queue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unknown edge load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다루는 방식이다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1994–1995, §5.2, footnote 8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reported result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읽기 위한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simulation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조건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성능 수치는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50 devices·5 edges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stationary transition/cost function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아래의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online training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결과다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6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4348440"/>
                <a:gridCol w="38048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parameter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source setting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system size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50 mobile devices, 5 edge nodes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임의 규모의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scaling proof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slot / deadline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0.1 s / 10 slots = 1 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deadline sweep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은 별도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figure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CPU / link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2.5 GHz device, 41.8 GHz edge, 14 Mbps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fixed simulation parameters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learning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batch 16, lr 0.001, gamma 0.9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exploration 1 → 0.01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environment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stationary transition and cost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non-stationarity field test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6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Table 1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Fig. 4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simulation condition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production hardware guarantee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1993–1994, Table 1, §5.1, Fig. 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drop ratio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average delay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반드시 함께 읽는다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source average delay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processed tasks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만 평균내므로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drop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늘면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average delay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내려갈 수도 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Shape 2"/>
          <p:cNvSpPr/>
          <p:nvPr/>
        </p:nvSpPr>
        <p:spPr>
          <a:xfrm>
            <a:off x="6095880" y="2705040"/>
            <a:ext cx="360" cy="1904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2" name="Shape 3"/>
          <p:cNvSpPr/>
          <p:nvPr/>
        </p:nvSpPr>
        <p:spPr>
          <a:xfrm>
            <a:off x="3301920" y="2895480"/>
            <a:ext cx="5587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3" name="Shape 4"/>
          <p:cNvSpPr/>
          <p:nvPr/>
        </p:nvSpPr>
        <p:spPr>
          <a:xfrm>
            <a:off x="330192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4" name="Shape 5"/>
          <p:cNvSpPr/>
          <p:nvPr/>
        </p:nvSpPr>
        <p:spPr>
          <a:xfrm>
            <a:off x="888984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5" name="Shape 6"/>
          <p:cNvSpPr/>
          <p:nvPr/>
        </p:nvSpPr>
        <p:spPr>
          <a:xfrm>
            <a:off x="330192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6" name="Shape 7"/>
          <p:cNvSpPr/>
          <p:nvPr/>
        </p:nvSpPr>
        <p:spPr>
          <a:xfrm>
            <a:off x="3301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7" name="Shape 8"/>
          <p:cNvSpPr/>
          <p:nvPr/>
        </p:nvSpPr>
        <p:spPr>
          <a:xfrm>
            <a:off x="888984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8" name="Shape 9"/>
          <p:cNvSpPr/>
          <p:nvPr/>
        </p:nvSpPr>
        <p:spPr>
          <a:xfrm>
            <a:off x="6730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9" name="Shape 10"/>
          <p:cNvSpPr/>
          <p:nvPr/>
        </p:nvSpPr>
        <p:spPr>
          <a:xfrm>
            <a:off x="546084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0" name="Shape 11"/>
          <p:cNvSpPr/>
          <p:nvPr/>
        </p:nvSpPr>
        <p:spPr>
          <a:xfrm>
            <a:off x="673092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1" name="Shape 12"/>
          <p:cNvSpPr/>
          <p:nvPr/>
        </p:nvSpPr>
        <p:spPr>
          <a:xfrm>
            <a:off x="6095880" y="5181480"/>
            <a:ext cx="360" cy="3301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2" name="Text 13"/>
          <p:cNvSpPr/>
          <p:nvPr/>
        </p:nvSpPr>
        <p:spPr>
          <a:xfrm>
            <a:off x="4191120" y="21081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 arrivals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Text 14"/>
          <p:cNvSpPr/>
          <p:nvPr/>
        </p:nvSpPr>
        <p:spPr>
          <a:xfrm>
            <a:off x="4191120" y="238752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모든 새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denominator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추적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Text 15"/>
          <p:cNvSpPr/>
          <p:nvPr/>
        </p:nvSpPr>
        <p:spPr>
          <a:xfrm>
            <a:off x="127008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dropped-task ratio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 16"/>
          <p:cNvSpPr/>
          <p:nvPr/>
        </p:nvSpPr>
        <p:spPr>
          <a:xfrm>
            <a:off x="127008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dropped tasks / total arrivals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Text 17"/>
          <p:cNvSpPr/>
          <p:nvPr/>
        </p:nvSpPr>
        <p:spPr>
          <a:xfrm>
            <a:off x="685800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average delay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Text 18"/>
          <p:cNvSpPr/>
          <p:nvPr/>
        </p:nvSpPr>
        <p:spPr>
          <a:xfrm>
            <a:off x="685800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processed tasks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delay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 평균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 19"/>
          <p:cNvSpPr/>
          <p:nvPr/>
        </p:nvSpPr>
        <p:spPr>
          <a:xfrm>
            <a:off x="4191120" y="457200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high-load reading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Text 20"/>
          <p:cNvSpPr/>
          <p:nvPr/>
        </p:nvSpPr>
        <p:spPr>
          <a:xfrm>
            <a:off x="4191120" y="485136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drop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delay average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빠질 수 있음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Text 21"/>
          <p:cNvSpPr/>
          <p:nvPr/>
        </p:nvSpPr>
        <p:spPr>
          <a:xfrm>
            <a:off x="4191120" y="561348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paired interpretation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Text 22"/>
          <p:cNvSpPr/>
          <p:nvPr/>
        </p:nvSpPr>
        <p:spPr>
          <a:xfrm>
            <a:off x="4191120" y="589284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metric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함께 비교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3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1995, §5.2, Fig. 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source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보고한 조건부 결과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다음 수치는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figure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sweep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나온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observation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이며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모든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MEC topology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보편적 보장은 아니다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9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152520"/>
                <a:gridCol w="3913560"/>
                <a:gridCol w="38048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sweep / condition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reported observation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읽을 때 남길 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arrival p 0.1 → 0.5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DRL drop &lt; 0.2; others &gt; 0.5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Fig. 5 simulation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deadline 0.6 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drop 65.8–79.3% lower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listed baselines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deadline ≥ 1.4 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DRL delay near 0.54 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others &gt; 0.84 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80 devices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DRL drop &lt; 0.05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Fig. 7 sweep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150 devices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delay 9.0% lower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processed-task delay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9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reported benefit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tight deadline·high modeled load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stated simulation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한정된다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1995, Figs. 5–7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논문이 보여 주지 않은 것까지 확장하지 않는다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DRL-based Q approximation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simulation evidence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valuable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하지만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source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보장하지 않은 범위를 따로 남겨야 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0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5435280"/>
                <a:gridCol w="54352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source establishes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not established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multi-slot FIFO simulation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DRL convergence proof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history-input LSTM-DQN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exact future edge-delay observation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fixed wireless and GPS comparison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error·interference field deployment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edge-assisted training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no-overhead unlimited scaling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cost extension mention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energy-optimality result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0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convergence, wireless realism, parameter overhead, non-stationarity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여전히 열린 범위다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1993, 1995–1996, §4.2.3, §6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핵심 정리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논문은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offloading action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하나를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queue, deadline, hidden edge load, delayed feedback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함께 다시 정의한다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3" name="Text 2"/>
          <p:cNvSpPr/>
          <p:nvPr/>
        </p:nvSpPr>
        <p:spPr>
          <a:xfrm>
            <a:off x="838080" y="217188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whole task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또는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one edge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가며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queue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대기한다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Shape 3"/>
          <p:cNvSpPr/>
          <p:nvPr/>
        </p:nvSpPr>
        <p:spPr>
          <a:xfrm>
            <a:off x="838080" y="27558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5" name="Text 4"/>
          <p:cNvSpPr/>
          <p:nvPr/>
        </p:nvSpPr>
        <p:spPr>
          <a:xfrm>
            <a:off x="838080" y="279396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state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known local queue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broadcast edge-load history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구분한다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Shape 5"/>
          <p:cNvSpPr/>
          <p:nvPr/>
        </p:nvSpPr>
        <p:spPr>
          <a:xfrm>
            <a:off x="838080" y="33778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7" name="Text 6"/>
          <p:cNvSpPr/>
          <p:nvPr/>
        </p:nvSpPr>
        <p:spPr>
          <a:xfrm>
            <a:off x="838080" y="341640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LSTM·dueling DQN·double DQN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history, Q decomposition, target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역할을 맡는다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Shape 7"/>
          <p:cNvSpPr/>
          <p:nvPr/>
        </p:nvSpPr>
        <p:spPr>
          <a:xfrm>
            <a:off x="838080" y="40003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9" name="Text 8"/>
          <p:cNvSpPr/>
          <p:nvPr/>
        </p:nvSpPr>
        <p:spPr>
          <a:xfrm>
            <a:off x="838080" y="403848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device action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decentralized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이고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 node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replay·training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보조한다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Shape 9"/>
          <p:cNvSpPr/>
          <p:nvPr/>
        </p:nvSpPr>
        <p:spPr>
          <a:xfrm>
            <a:off x="838080" y="462276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21" name="Text 10"/>
          <p:cNvSpPr/>
          <p:nvPr/>
        </p:nvSpPr>
        <p:spPr>
          <a:xfrm>
            <a:off x="838080" y="466092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drop ratio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processed-task delay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함께 읽어야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result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오독하지 않는다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2" name="Shape 1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23" name="Text 1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‘어디로 보낼까’는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queue-aware delayed-feedback decision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이해해야 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Shape 1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25" name="Text 1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abstract; §§2–6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6" name="Text 1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pleGothic" pitchFamily="0" charset="1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Gothic" pitchFamily="0" charset="1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LibreOffice/26.8.0.3$MacOSX_AARCH64 LibreOffice_project/bce0998afefdbc355585ca324285661a2170ba77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2026-09-12T08:31:18Z</dcterms:created>
  <dc:creator>Research Seminars</dc:creator>
  <dc:description/>
  <dc:language>ko-KR</dc:language>
  <cp:lastModifiedBy>Research Seminars</cp:lastModifiedBy>
  <dcterms:modified xsi:type="dcterms:W3CDTF">2026-09-12T08:31:18Z</dcterms:modified>
  <cp:revision>1</cp:revision>
  <dc:subject>Deep Reinforcement Learning for Task Offloading in Mobile Edge Computing Systems</dc:subject>
  <dc:title>대기열·마감시한 MEC Offloading을 위한 분산 DRL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22</vt:r8>
  </property>
  <property fmtid="{D5CDD505-2E9C-101B-9397-08002B2CF9AE}" pid="3" name="PresentationFormat">
    <vt:lpwstr>On-screen Show (16:9)</vt:lpwstr>
  </property>
  <property fmtid="{D5CDD505-2E9C-101B-9397-08002B2CF9AE}" pid="4" name="Slides">
    <vt:r8>22</vt:r8>
  </property>
</Properties>
</file>
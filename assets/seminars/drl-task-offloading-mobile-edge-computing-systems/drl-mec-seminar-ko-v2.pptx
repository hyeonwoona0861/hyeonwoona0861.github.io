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대기열·마감시한 MEC Offloading을 위한 분산 DRL
발표 대본
이 자료는 Tang과 Wong의 논문을 따라, mobile device가 새 task를 local 처리할지 또는 어느 edge node로 보낼지를 고르는 문제를 소개합니다. 핵심은 offloading 자체가 아니라 queue와 deadline을 넣었을 때 feedback가 늦게 오고 edge load가 보이지 않는다는 점입니다. 논문은 model-free distributed DRL로 이를 다루며, LSTM, dueling DQN, double DQN을 함께 사용합니다.
공개 출처
paper | title, abstract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한 slot 안에 끝난다고 가정할 수 없을까
발표 대본
기존 비교 연구 일부는 task 처리와 전송이 한 slot 안, 또는 다음 task 도착 전 끝난다고 두었습니다. 이 논문은 non-divisible task가 device queue와 edge queue에서 여러 slot을 지날 수 있게 모델링합니다. 따라서 새 task가 도착했을 때 현재 delay는 과거 action의 결과를 물려받고, task의 cost도 바로 다음 slot에 관측되지 않을 수 있습니다.
공개 출처
paper | pp. 1986–1988, §1–2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먼저 고정해야 하는 모델 경계
발표 대본
논문은 task를 나누지 않고 local 또는 하나의 edge에 보냅니다. Device는 local computation FIFO와 transmission FIFO를 갖고, edge는 각 device마다 하나의 FIFO queue를 가집니다. Edge CPU는 active queue들에게 동일하게 capacity를 나눕니다. Wireless는 orthogonal channel과 constant transmission rate를 두므로, 실제 radio interference와 packet error를 포함한 production scheduler로 일반화하면 안 됩니다.
공개 출처
paper | pp. 1986–1989, §2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새 task가 만나는 세 대기 지점
발표 대본
Figure 1을 교육용으로 풀어 쓴 도식입니다. x가 1이면 task는 device computation queue에, x가 0이면 transmission queue에 들어갑니다. Transmission이 끝난 task는 선택 edge의 해당 device queue에 도착하고, edge CPU는 active device queues에 capacity를 equal-share GPS로 배분합니다. 두 lane은 local과 offload라는 배타적 action 결과를 비교하기 위한 것이지, 한 task가 동시에 두 lane을 실행한다는 뜻이 아닙니다.
공개 출처
paper | pp. 1987–1989, Fig. 1, §2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slot 순서: enqueue 뒤 service, 다음 job은 다음 slot
발표 대본
논문은 processing 또는 transmission이 어느 slot에서 완료되면, queue의 다음 task는 다음 slot의 beginning에 시작한다고 둡니다. 이 순서는 local wait와 transmission wait을 계산할 때 이전 task의 completion/drop slot으로부터 정해집니다. 그림의 흐름은 within-slot procedure를 보여 주며, 각 칸을 별도 transmission frame이라고 뜻하지 않습니다.
공개 출처
paper | p. 1987, §2.1; Eqs. 2–6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local FIFO wait은 completion·drop slot으로 계산한다
발표 대본
두 번째 행은 source가 직접 든 example입니다. Task 1의 completion slot이 5이고 slot 3에 새 local task가 들어가려 하면 wait은 3 slots입니다. Local completion/drop slot은 waiting, size, device CPU capacity, slot duration, processing density를 사용해 계산한 service end와 deadline end 중 작은 값입니다. 같은 방식이 transmission queue에도 적용되지만, edge processing completion은 미래 active queue 수에 따라 결정되어 선택 순간에는 알 수 없습니다.
공개 출처
paper | pp. 1987–1988, Eqs. 2–6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edge 처리 지연은 왜 action 순간에 확정되지 않는가
발표 대본
Edge n은 device별 queue를 유지하고, active queue 집합의 각 queue가 equal processing capacity share를 받습니다. B_n(t)는 새 arrivals와 기존 queue length에 의해 시간에 따라 바뀌므로, 현재 action을 결정할 때 future edge queuing delay는 unknown입니다. 논문은 그래서 그것을 state에 직접 넣지 않고, edge가 broadcast하는 past active-queue counts를 history matrix H(t)로 넣습니다.
공개 출처
paper | pp. 1988–1989, Eqs. 7–13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state에는 관측 가능한 것과 예측해야 할 것을 분리한다
발표 대본
Source Eq. 13의 state는 task size, computation wait, transmission wait, prior-slot own edge-queue vector, 그리고 H(t)입니다. H(t)의 각 column은 edge node 하나, 각 row는 past slot 하나에 대응하며, 값은 active queue count입니다. 논문은 edge node가 매 slot end에 이를 broadcast한다고 가정합니다. Footnote 2는 future edge queuing delay를 decision time에 알 수 없으므로 state에서 제외했다고 명시합니다.
공개 출처
paper | p. 1989, Eqs. 12–13, footnotes 2–3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action은 ‘local인가’와 ‘어느 edge인가’의 결합이다
발표 대본
x_m(t)=1은 local processing이고 x_m(t)=0은 offloading입니다. x가 0일 때 y vector는 정확히 한 edge node를 가리킵니다. 논문의 action space 표기는 binary vector이지만 Eq. 1이 placement feasibility를 더합니다. 이 구분은 여러 destination에 task fraction을 보낼 수 있는 partial offloading 모델과 다릅니다.
공개 출처
paper | p. 1987, Eq. 1; p. 1989, Eq. 14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reward가 아니라 discounted cost를 최소화한다
발표 대본
Processed task의 cost는 arrival slot부터 completed slot까지의 delay입니다. Dropped task는 delay 대신 positive constant C penalty를 받습니다. 각 device는 discount factor gamma를 사용한 expected long-term cost를 최소화하는 policy를 찾습니다. 즉 이 논문의 epsilon-greedy exploitation은 maximum reward가 아니라 minimum Q-value action을 고릅니다. Energy와 subscription fee는 extension으로 언급될 뿐 source experiment의 cost에는 들어가지 않습니다.
공개 출처
paper | pp. 1989–1990, Eqs. 15–19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current feature와 load history의 두 input path
발표 대본
Figure 2는 current state features와 H(t)를 다른 input path로 넣습니다. Task size, local/transmission waits, own edge queue vector는 FC input으로, H(t)는 LSTM input으로 들어갑니다. LSTM의 last unit output은 load-level dynamics information을 다음 layer에 전달합니다. Two FC layers use ReLU; A&amp;V layer는 action advantage와 state value를 별도로 학습합니다. 이 matrix의 숫자는 구조를 보이기 위한 editable example이지 source dataset 값이 아닙니다.
공개 출처
paper | pp. 1990–1991, Figs. 2–3, §4.1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dueling DQN: state 자체의 비용과 action 차이를 나눈다
발표 대본
Source Eq. 20은 Q(s,a)를 V(s)와 A(s,a)의 합에서 action advantage 평균을 뺀 형태로 씁니다. V는 state 자체에서 발생하는 expected long-term cost portion, A는 action choice가 더하는 portion입니다. 이 slide의 split은 neural computation branches이며 MEC system에 value queue와 advantage queue가 있다는 뜻이 아닙니다.
공개 출처
paper | p. 1991, §4.1.4, Eq. 20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runtime action과 edge-assisted learning은 분리된다
발표 대본
각 mobile device m에는 training을 돕는 assigned edge n_m가 있습니다. 새 task에서 device는 parameter request를 보내 current Net_m vector u_m를 받고 epsilon-greedy action을 선택합니다. Task가 processed 또는 dropped되어 cost가 관측되면 device는 delayed experience를 edge로 보냅니다. 아래 feedback lane은 그 완료된 과거 task의 experience가 D_m, Net_m(k+1), Target Net_m으로 진행하는 bounded unroll입니다. 따라서 current action의 나중 feedback을 역방향 화살표로 그리지 않습니다. Edge node는 device별 replay memory, evaluation Net, Target Net을 유지합니다.
공개 출처
paper | pp. 1991–1993, Algorithms 1–2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multi-slot task의 delayed cost feedback
발표 대본
일반적인 one-step teaching example과 달리, source는 action slot t에서 task t의 cost가 t+1 시작에 관측되지 않을 수 있다고 명시합니다. 그래서 completed-or-dropped task의 original arrival slot들을 포함하는 set을 정의하고, 그 set의 각 task experience를 edge node로 전송합니다. H(t) history는 edge broadcast로 이미 알 수 있으므로 source says the device need not transmit it again with the experience.
공개 출처
paper | pp. 1992–1993, Eq. 23, Algorithms 1–2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double DQN target: action 선택과 평가를 분리한다
발표 대본
Source Eq. 25는 evaluation Net에서 next state의 minimum-Q action을 고릅니다. Eq. 26은 Target Net이 그 action의 Q를 평가하여 immediate cost c_i와 discounted target Q를 더합니다. Edge node는 squared difference loss를 줄여 Net parameters를 update하고 Replace Threshold마다 Target Net parameters를 Net에서 복사합니다. 논문은 double DQN이 traditional DQN보다 expected long-term cost estimation을 개선할 수 있다고 설명합니다.
공개 출처
paper | p. 1993, Eqs. 24–26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구성 예시: local queue만으로 기다림을 다시 계산해 보자
발표 대본
이 slide의 2-slot service와 deadline 8은 construction입니다. Source가 제시한 rule인 local wait 계산만 사용합니다. Previous completion slot 5와 new arrival slot 3에서 wait은 3입니다. Then service start is slot 6, and 2 service slots yield completion slot 7 under the paper’s inclusive slot accounting. Because 7 is earlier than deadline end slot 8, task is processed and its delay is 5 slots. Edge side future B_n(t)는 unknown이므로 숫자를 임의로 넣어 prediction example처럼 보이지 않게 했습니다.
공개 출처
paper | pp. 1987–1988, Eqs. 2–3; constructed example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비교 방법은 무엇을 다르게 가정하는가
발표 대본
Method comparison에는 No Offl., random offloading, PGOA, ULOOF가 포함됩니다. PGOA는 potential game best response에 기반하고, source footnote 8은 PGOA가 each task processing이 one time slot 안에 끝난다고 assume한다고 설명합니다. ULOOF는 historical observations에서 capacity estimation을 합니다. 이 비교는 exact algorithmic equivalence를 증명하는 ablation이 아니라 source simulation under the stated settings입니다.
공개 출처
paper | pp. 1994–1995, §5.2, footnote 8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reported result를 읽기 위한 simulation 조건
발표 대본
Section 5의 simulation은 50 mobile devices와 five edge nodes를 둡니다. Table 1은 slot duration 0.1 second, device CPU 2.5 GHz, edge CPU 41.8 GHz, transmission rate 14 Mbps, task size 2.0 to 5.0 Mbits, deadline 10 slots, arrival probability 0.3을 둡니다. Neural network는 batch size 16, learning rate 0.001, gamma 0.9, RMSProp, decreasing exploration을 사용합니다. Fig. 4 convergence study는 stationary environment에서 100-slot episode 1,000개를 사용합니다.
공개 출처
paper | pp. 1993–1994, Table 1, §5.1, Fig. 4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drop ratio와 average delay는 반드시 함께 읽는다
발표 대본
Source는 dropped-task ratio를 dropped tasks를 total arrivals로 나눈 값으로, average delay를 processed tasks의 average delay로 정의합니다. Figure 5 discussion은 high arrival probability에서 더 많은 task가 drop되어 average에서 제외되면 일부 method의 average delay가 낮아질 수 있다고 명시합니다. 또한 proposed DRL은 drop이 더 적으므로 high load에서 다른 method보다 average delay가 더 클 수도 있습니다. 이는 contradiction이 아니라 metric definition의 결과입니다.
공개 출처
paper | p. 1995, §5.2, Fig. 5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source가 보고한 조건부 결과
발표 대본
이 표는 source numbers와 그 conditions를 함께 남깁니다. Arrival probability 0.1 to 0.5에서 source는 DRL drop ratio가 0.2 below, benchmarks가 0.5 above라고 report합니다. Deadline 0.6 second에서 drop-ratio reduction은 65.8 to 79.3 percent입니다. Deadline 1.4 seconds에서 DRL average delay는 0.54 second around으로 converge하고 other methods는 0.84 second를 exceed합니다. Figure 7은 80 devices에서 drop ratio below 0.05, 150 devices에서 PGOA·ULOOF보다 9.0 percent lower average delay를 report합니다. 이 observations은 wireless error나 interference를 test하지 않습니다.
공개 출처
paper | p. 1995, Figs. 5–7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논문이 보여 주지 않은 것까지 확장하지 않는다
발표 대본
Section 4.2.3은 neural networks가 Q values를 approximate하므로 DRL algorithm의 convergence guarantee가 open이라고 말합니다. Section 6은 simplified wireless modeling, practical demo evaluation, computational complexity, network-parameter transmission, non-stationary environment, strategic interaction을 directions로 듭니다. Paper는 energy나 subscription fees를 cost에 add할 수 있다고 mention하지만 energy optimization result를 report하지 않습니다. 이는 queue model의 failure가 아니라 source boundary입니다.
공개 출처
paper | pp. 1993, 1995–1996, §4.2.3, §6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핵심 정리
발표 대본
마지막으로 다섯 연결을 기억하면 됩니다. Queue and deadline change the meaning of an action; unknown future edge load means the state must use history rather than unavailable future delay; DQN additions have distinct roles; device-side action and edge-side learning are not the same procedure; and source metrics require joint reading. Reported gains are conditioned simulation findings, while convergence and deployment questions remain open.
공개 출처
paper | abstract; §§2–6
Tang and Wong — Deep Reinforcement Learning for Task Offloading in Mobile Edge Computing Systems
https://doi.org/10.1109/TMC.2020.3036871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대기열·마감시한 MEC Offloading을 위한 분산 DRL</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Deep Reinforcement Learning for Task Offloading in Mobile Edge Computing Systems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Ming Tang and Vincent W. S. Wong (2022)</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새 task의 위치 선택이 이전 task의 대기와 미래 edge load에 의해 바뀌는 상황을 다룬다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title,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한 slot 안에 끝난다고 가정할 수 없을까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새 task의 지연은 자기 선택만이 아니라 앞선 task의 service·transfer와 다른 device의 edge load에 영향을 받는다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새 task</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slot 시작에 확률적으로 도착</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위치 선택</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또는 edge 하나를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FIFO 대기</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앞선 task가 남아 있으면 기다림</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여러 slot service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처리·전송은 이어질 수 있음</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완료 또는 drop</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deadline 끝에서 아직 미완료면 drop</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난점은 multi-slot queue가 action의 결과와 feedback 시점을 밀어낸다는 것이다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1986–1988,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먼저 고정해야 하는 모델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덱의 algorithm 설명은 논문이 둔 task·wireless·edge scheduling 가정 안에서만 성립한다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설명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non-divisible, deadline 보유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분할·병렬 edge 실행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device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compute와 transmission FIFO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task는 둘 중 하나만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wireless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orthogonal channel, constant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error·interference 미포함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device별 FIFO queue의 equal-share GPS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우선순위 scheduler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device가 local observation으로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runtime central selector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결과를 읽기 전에 task non-divisibility와 queue service rule을 함께 확인해야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1986–1989,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새 task가 만나는 세 대기 지점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local 선택은 device compute queue로, offload 선택은 transmission queue와 선택 edge의 device queue로 간다</a:t>
            </a:r>
            <a:endParaRPr lang="en-US" sz="1900" dirty="0"/>
          </a:p>
        </p:txBody>
      </p:sp>
      <p:sp>
        <p:nvSpPr>
          <p:cNvPr id="4" name="mechanism-lane-local"/>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local path</a:t>
            </a:r>
            <a:endParaRPr lang="en-US" sz="1250" dirty="0"/>
          </a:p>
        </p:txBody>
      </p:sp>
      <p:sp>
        <p:nvSpPr>
          <p:cNvPr id="5" name="mechanism-lane-offload"/>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offload path</a:t>
            </a:r>
            <a:endParaRPr lang="en-US" sz="1250" dirty="0"/>
          </a:p>
        </p:txBody>
      </p:sp>
      <p:sp>
        <p:nvSpPr>
          <p:cNvPr id="6" name="mechanism-edge-l1-segment-1"/>
          <p:cNvSpPr/>
          <p:nvPr/>
        </p:nvSpPr>
        <p:spPr>
          <a:xfrm>
            <a:off x="329946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l2-segment-1"/>
          <p:cNvSpPr/>
          <p:nvPr/>
        </p:nvSpPr>
        <p:spPr>
          <a:xfrm>
            <a:off x="534162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o1-segment-1"/>
          <p:cNvSpPr/>
          <p:nvPr/>
        </p:nvSpPr>
        <p:spPr>
          <a:xfrm>
            <a:off x="329946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o2-segment-1"/>
          <p:cNvSpPr/>
          <p:nvPr/>
        </p:nvSpPr>
        <p:spPr>
          <a:xfrm>
            <a:off x="534162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o3-segment-1"/>
          <p:cNvSpPr/>
          <p:nvPr/>
        </p:nvSpPr>
        <p:spPr>
          <a:xfrm>
            <a:off x="738378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o4-segment-1"/>
          <p:cNvSpPr/>
          <p:nvPr/>
        </p:nvSpPr>
        <p:spPr>
          <a:xfrm>
            <a:off x="942594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2" name="mechanism-node-task-local"/>
          <p:cNvSpPr/>
          <p:nvPr/>
        </p:nvSpPr>
        <p:spPr>
          <a:xfrm>
            <a:off x="173990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new task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x = 1 선택</a:t>
            </a:r>
            <a:endParaRPr lang="en-US" sz="1150" dirty="0"/>
          </a:p>
        </p:txBody>
      </p:sp>
      <p:sp>
        <p:nvSpPr>
          <p:cNvPr id="13" name="mechanism-node-local-q"/>
          <p:cNvSpPr txBox="1"/>
          <p:nvPr/>
        </p:nvSpPr>
        <p:spPr>
          <a:xfrm>
            <a:off x="3782060" y="26733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compute FIFO</a:t>
            </a:r>
            <a:endParaRPr lang="en-US" sz="1150" dirty="0"/>
          </a:p>
        </p:txBody>
      </p:sp>
      <p:sp>
        <p:nvSpPr>
          <p:cNvPr id="14" name="mechanism-node-local-q-queue-1"/>
          <p:cNvSpPr/>
          <p:nvPr/>
        </p:nvSpPr>
        <p:spPr>
          <a:xfrm>
            <a:off x="3782060" y="29273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earlier job</a:t>
            </a:r>
            <a:endParaRPr lang="en-US" sz="950" dirty="0"/>
          </a:p>
        </p:txBody>
      </p:sp>
      <p:sp>
        <p:nvSpPr>
          <p:cNvPr id="15" name="mechanism-node-local-q-queue-2"/>
          <p:cNvSpPr/>
          <p:nvPr/>
        </p:nvSpPr>
        <p:spPr>
          <a:xfrm>
            <a:off x="3782060" y="31178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new task</a:t>
            </a:r>
            <a:endParaRPr lang="en-US" sz="950" dirty="0"/>
          </a:p>
        </p:txBody>
      </p:sp>
      <p:sp>
        <p:nvSpPr>
          <p:cNvPr id="16" name="mechanism-node-local-cpu"/>
          <p:cNvSpPr/>
          <p:nvPr/>
        </p:nvSpPr>
        <p:spPr>
          <a:xfrm>
            <a:off x="582422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device CPU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완료 또는 deadline drop</a:t>
            </a:r>
            <a:endParaRPr lang="en-US" sz="1150" dirty="0"/>
          </a:p>
        </p:txBody>
      </p:sp>
      <p:sp>
        <p:nvSpPr>
          <p:cNvPr id="17" name="mechanism-node-task-off"/>
          <p:cNvSpPr/>
          <p:nvPr/>
        </p:nvSpPr>
        <p:spPr>
          <a:xfrm>
            <a:off x="173990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new task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x = 0, edge n</a:t>
            </a:r>
            <a:endParaRPr lang="en-US" sz="1150" dirty="0"/>
          </a:p>
        </p:txBody>
      </p:sp>
      <p:sp>
        <p:nvSpPr>
          <p:cNvPr id="18" name="mechanism-node-tx-q"/>
          <p:cNvSpPr txBox="1"/>
          <p:nvPr/>
        </p:nvSpPr>
        <p:spPr>
          <a:xfrm>
            <a:off x="3782060" y="42354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tx FIFO</a:t>
            </a:r>
            <a:endParaRPr lang="en-US" sz="1150" dirty="0"/>
          </a:p>
        </p:txBody>
      </p:sp>
      <p:sp>
        <p:nvSpPr>
          <p:cNvPr id="19" name="mechanism-node-tx-q-queue-1"/>
          <p:cNvSpPr/>
          <p:nvPr/>
        </p:nvSpPr>
        <p:spPr>
          <a:xfrm>
            <a:off x="3782060" y="44894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prior tx</a:t>
            </a:r>
            <a:endParaRPr lang="en-US" sz="950" dirty="0"/>
          </a:p>
        </p:txBody>
      </p:sp>
      <p:sp>
        <p:nvSpPr>
          <p:cNvPr id="20" name="mechanism-node-tx-q-queue-2"/>
          <p:cNvSpPr/>
          <p:nvPr/>
        </p:nvSpPr>
        <p:spPr>
          <a:xfrm>
            <a:off x="3782060" y="46799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new task</a:t>
            </a:r>
            <a:endParaRPr lang="en-US" sz="950" dirty="0"/>
          </a:p>
        </p:txBody>
      </p:sp>
      <p:sp>
        <p:nvSpPr>
          <p:cNvPr id="21" name="mechanism-node-wireless"/>
          <p:cNvSpPr/>
          <p:nvPr/>
        </p:nvSpPr>
        <p:spPr>
          <a:xfrm>
            <a:off x="582422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wireless link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chosen edge로 transfer</a:t>
            </a:r>
            <a:endParaRPr lang="en-US" sz="1150" dirty="0"/>
          </a:p>
        </p:txBody>
      </p:sp>
      <p:sp>
        <p:nvSpPr>
          <p:cNvPr id="22" name="mechanism-node-edge-q"/>
          <p:cNvSpPr txBox="1"/>
          <p:nvPr/>
        </p:nvSpPr>
        <p:spPr>
          <a:xfrm>
            <a:off x="7866380" y="42354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edge m queue</a:t>
            </a:r>
            <a:endParaRPr lang="en-US" sz="1150" dirty="0"/>
          </a:p>
        </p:txBody>
      </p:sp>
      <p:sp>
        <p:nvSpPr>
          <p:cNvPr id="23" name="mechanism-node-edge-q-queue-1"/>
          <p:cNvSpPr/>
          <p:nvPr/>
        </p:nvSpPr>
        <p:spPr>
          <a:xfrm>
            <a:off x="7866380" y="44894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earlier task</a:t>
            </a:r>
            <a:endParaRPr lang="en-US" sz="950" dirty="0"/>
          </a:p>
        </p:txBody>
      </p:sp>
      <p:sp>
        <p:nvSpPr>
          <p:cNvPr id="24" name="mechanism-node-edge-q-queue-2"/>
          <p:cNvSpPr/>
          <p:nvPr/>
        </p:nvSpPr>
        <p:spPr>
          <a:xfrm>
            <a:off x="7866380" y="46799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received task</a:t>
            </a:r>
            <a:endParaRPr lang="en-US" sz="950" dirty="0"/>
          </a:p>
        </p:txBody>
      </p:sp>
      <p:sp>
        <p:nvSpPr>
          <p:cNvPr id="25" name="mechanism-node-edge-cpu"/>
          <p:cNvSpPr/>
          <p:nvPr/>
        </p:nvSpPr>
        <p:spPr>
          <a:xfrm>
            <a:off x="990854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edge CPU share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active queues와 equal share</a:t>
            </a:r>
            <a:endParaRPr lang="en-US" sz="1150" dirty="0"/>
          </a:p>
        </p:txBody>
      </p:sp>
      <p:sp>
        <p:nvSpPr>
          <p:cNvPr id="26" name="Shape 2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7" name="Text 2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offload path는 transmission wait만이 아니라 edge-side queue와 CPU share까지 포함한다</a:t>
            </a:r>
            <a:endParaRPr lang="en-US" sz="1750" dirty="0"/>
          </a:p>
        </p:txBody>
      </p:sp>
      <p:sp>
        <p:nvSpPr>
          <p:cNvPr id="28" name="Shape 2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9" name="Text 2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1987–1989, Fig. 1, §2</a:t>
            </a:r>
            <a:endParaRPr lang="en-US" sz="1050" dirty="0"/>
          </a:p>
        </p:txBody>
      </p:sp>
      <p:sp>
        <p:nvSpPr>
          <p:cNvPr id="30" name="Text 2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slot 순서: enqueue 뒤 service, 다음 job은 다음 slot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완료된 job이 있어도 같은 slot 안에서 뒤 job을 즉시 시작시키지 않는 규칙이 waiting calculation의 기준이다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slot 시작</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새 task arrival과 state 관측</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queue와 edge destination 결정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enqueue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선택한 FIFO에 task 추가</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service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job이 transfer 또는 process</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다음 slot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완료 뒤 다음 job이 시작</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‘완료 slot’과 ‘다음 job의 start slot’을 구분해야 queue waiting을 한 칸 틀리지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1987, §2.1; Eqs. 2–6</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local FIFO wait은 completion·drop slot으로 계산한다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 Eq. 2는 이전 local jobs가 끝나는 가장 늦은 slot을 사용한다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34848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new task at slot 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latest earlier l_comp − t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아직 남은 FIFO wait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earlier job ends at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arrives at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wait = 5 − 3 + 1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service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ceil(size / per-slot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필요한 service slot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min(service end, t + tau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 또는 drop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deadline은 대기 뒤의 service가 끝나는 시점과 경쟁하며, 늦으면 task를 drop시킨다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1987–1988, Eqs. 2–6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edge 처리 지연은 왜 action 순간에 확정되지 않는가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edge n의 active queue 수가 slot마다 바뀌면 task m이 받는 CPU share도 바뀐다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edge n</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one CPU, per-device FIFO queues</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active queue count</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B_n(t)가 slot마다 변화</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equal CPU share</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active queue마다 f_n / B_n(t)</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future edge service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앞으로의 B_n을 몰라 확정 불가</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history를 사용</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past load counts를 state에 포함</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1988–1989, Eqs. 7–13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state에는 관측 가능한 것과 예측해야 할 것을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device는 자신의 queue state와 edge load history를 쓰지만, future edge queue waiting은 모른다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13105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 component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어떻게 얻나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arrival에서 local observation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이번 task의 service량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local·tx wait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device FIFO completion history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이미 생긴 device backlog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내 edge queue 벡터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전송·완료·drop 기록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edge에서 남은 own bits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부하 이력 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edge의 active-count broadcast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최근 edge congestion pattern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future edge wait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결정 시 알 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state에 직접 넣지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LSTM의 입력은 미래 정답이 아니라 공개된 과거 active-queue count sequence다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1989, Eqs. 12–13, footnotes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action은 ‘local인가’와 ‘어느 edge인가’의 결합이다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새 task가 있을 때 action a_m(t)는 binary x와 destination vector y로 구성된다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1630680"/>
                <a:gridCol w="380492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x</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y의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queue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y_m,n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device computation FIFO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n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n만 y_m,n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device tx FIFO → edge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 over n of y_m,n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하나만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 안 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y가 동시에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splitting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binary offloading은 edge 하나를 고르는 whole-task placement이며 splitting이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1987, Eq. 1; p. 1989, Eq. 14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reward가 아니라 discounted cost를 최소화한다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논문에서 Q가 작다는 것은 state-action pair의 expected long-term cost가 작다는 뜻이다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processed task</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arrival부터 completion까지 delay</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dropped task</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positive fixed penalty C</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 arrival</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cost 0</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discount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future cost에 gamma 적용</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policy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expected long-term cost 최소화</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processed-task delay뿐 아니라 deadline drop penalty까지 action cost에 넣는다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1989–1990, Eqs. 15–19</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current feature와 load history의 두 input path</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LSTM은 H(t)의 temporal pattern을, FC path는 현재 task·queue feature를 Q estimation에 연결한다</a:t>
            </a:r>
            <a:endParaRPr lang="en-US" sz="1900" dirty="0"/>
          </a:p>
        </p:txBody>
      </p:sp>
      <p:sp>
        <p:nvSpPr>
          <p:cNvPr id="4" name="mechanism-lane-current"/>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current observation</a:t>
            </a:r>
            <a:endParaRPr lang="en-US" sz="1250" dirty="0"/>
          </a:p>
        </p:txBody>
      </p:sp>
      <p:sp>
        <p:nvSpPr>
          <p:cNvPr id="5" name="mechanism-lane-history"/>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load history</a:t>
            </a:r>
            <a:endParaRPr lang="en-US" sz="1250" dirty="0"/>
          </a:p>
        </p:txBody>
      </p:sp>
      <p:sp>
        <p:nvSpPr>
          <p:cNvPr id="6" name="mechanism-edge-c1-segment-1"/>
          <p:cNvSpPr/>
          <p:nvPr/>
        </p:nvSpPr>
        <p:spPr>
          <a:xfrm>
            <a:off x="3299460" y="2990850"/>
            <a:ext cx="160867" cy="0"/>
          </a:xfrm>
          <a:prstGeom prst="line">
            <a:avLst/>
          </a:prstGeom>
          <a:noFill/>
          <a:ln w="12700">
            <a:solidFill>
              <a:srgbClr val="0D685C"/>
            </a:solidFill>
            <a:prstDash val="solid"/>
            <a:headEnd type="none"/>
            <a:tailEnd type="none"/>
          </a:ln>
        </p:spPr>
        <p:txBody>
          <a:bodyPr/>
          <a:lstStyle/>
          <a:p>
            <a:endParaRPr lang="ko-KR"/>
          </a:p>
        </p:txBody>
      </p:sp>
      <p:sp>
        <p:nvSpPr>
          <p:cNvPr id="7" name="mechanism-edge-c1-segment-2"/>
          <p:cNvSpPr/>
          <p:nvPr/>
        </p:nvSpPr>
        <p:spPr>
          <a:xfrm flipV="1">
            <a:off x="3460327"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8" name="mechanism-edge-c1-segment-3"/>
          <p:cNvSpPr/>
          <p:nvPr/>
        </p:nvSpPr>
        <p:spPr>
          <a:xfrm>
            <a:off x="3460327" y="2787650"/>
            <a:ext cx="2363893"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c2-segment-1"/>
          <p:cNvSpPr/>
          <p:nvPr/>
        </p:nvSpPr>
        <p:spPr>
          <a:xfrm>
            <a:off x="738378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c3-segment-1"/>
          <p:cNvSpPr/>
          <p:nvPr/>
        </p:nvSpPr>
        <p:spPr>
          <a:xfrm>
            <a:off x="942594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h1-segment-1"/>
          <p:cNvSpPr/>
          <p:nvPr/>
        </p:nvSpPr>
        <p:spPr>
          <a:xfrm>
            <a:off x="329946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h2-segment-1"/>
          <p:cNvSpPr/>
          <p:nvPr/>
        </p:nvSpPr>
        <p:spPr>
          <a:xfrm>
            <a:off x="5341620" y="4552950"/>
            <a:ext cx="241300" cy="0"/>
          </a:xfrm>
          <a:prstGeom prst="line">
            <a:avLst/>
          </a:prstGeom>
          <a:noFill/>
          <a:ln w="12700">
            <a:solidFill>
              <a:srgbClr val="0D685C"/>
            </a:solidFill>
            <a:prstDash val="solid"/>
            <a:headEnd type="none"/>
            <a:tailEnd type="none"/>
          </a:ln>
        </p:spPr>
        <p:txBody>
          <a:bodyPr/>
          <a:lstStyle/>
          <a:p>
            <a:endParaRPr lang="ko-KR"/>
          </a:p>
        </p:txBody>
      </p:sp>
      <p:sp>
        <p:nvSpPr>
          <p:cNvPr id="13" name="mechanism-edge-h2-segment-2"/>
          <p:cNvSpPr/>
          <p:nvPr/>
        </p:nvSpPr>
        <p:spPr>
          <a:xfrm flipV="1">
            <a:off x="5582920" y="3194050"/>
            <a:ext cx="0" cy="1358900"/>
          </a:xfrm>
          <a:prstGeom prst="line">
            <a:avLst/>
          </a:prstGeom>
          <a:noFill/>
          <a:ln w="12700">
            <a:solidFill>
              <a:srgbClr val="0D685C"/>
            </a:solidFill>
            <a:prstDash val="solid"/>
            <a:headEnd type="none"/>
            <a:tailEnd type="none"/>
          </a:ln>
        </p:spPr>
        <p:txBody>
          <a:bodyPr/>
          <a:lstStyle/>
          <a:p>
            <a:endParaRPr lang="ko-KR"/>
          </a:p>
        </p:txBody>
      </p:sp>
      <p:sp>
        <p:nvSpPr>
          <p:cNvPr id="14" name="mechanism-edge-h2-segment-3"/>
          <p:cNvSpPr/>
          <p:nvPr/>
        </p:nvSpPr>
        <p:spPr>
          <a:xfrm>
            <a:off x="5582920" y="3194050"/>
            <a:ext cx="2413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h2-label"/>
          <p:cNvSpPr txBox="1"/>
          <p:nvPr/>
        </p:nvSpPr>
        <p:spPr>
          <a:xfrm>
            <a:off x="5049520" y="24320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encoded history</a:t>
            </a:r>
            <a:endParaRPr lang="en-US" sz="950" dirty="0"/>
          </a:p>
        </p:txBody>
      </p:sp>
      <p:sp>
        <p:nvSpPr>
          <p:cNvPr id="16" name="mechanism-node-curstate"/>
          <p:cNvSpPr/>
          <p:nvPr/>
        </p:nvSpPr>
        <p:spPr>
          <a:xfrm>
            <a:off x="173990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current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size; comp/tx wait; q_edge</a:t>
            </a:r>
            <a:endParaRPr lang="en-US" sz="1150" dirty="0"/>
          </a:p>
        </p:txBody>
      </p:sp>
      <p:sp>
        <p:nvSpPr>
          <p:cNvPr id="17" name="mechanism-node-fc"/>
          <p:cNvSpPr/>
          <p:nvPr/>
        </p:nvSpPr>
        <p:spPr>
          <a:xfrm>
            <a:off x="582422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FC layers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two ReLU FC layers</a:t>
            </a:r>
            <a:endParaRPr lang="en-US" sz="1150" dirty="0"/>
          </a:p>
        </p:txBody>
      </p:sp>
      <p:sp>
        <p:nvSpPr>
          <p:cNvPr id="18" name="mechanism-node-heads"/>
          <p:cNvSpPr/>
          <p:nvPr/>
        </p:nvSpPr>
        <p:spPr>
          <a:xfrm>
            <a:off x="786638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 and V heads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advantage와 state value</a:t>
            </a:r>
            <a:endParaRPr lang="en-US" sz="1150" dirty="0"/>
          </a:p>
        </p:txBody>
      </p:sp>
      <p:sp>
        <p:nvSpPr>
          <p:cNvPr id="19" name="mechanism-node-q"/>
          <p:cNvSpPr/>
          <p:nvPr/>
        </p:nvSpPr>
        <p:spPr>
          <a:xfrm>
            <a:off x="990854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 values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action의 long-term cost</a:t>
            </a:r>
            <a:endParaRPr lang="en-US" sz="1150" dirty="0"/>
          </a:p>
        </p:txBody>
      </p:sp>
      <p:sp>
        <p:nvSpPr>
          <p:cNvPr id="20" name="mechanism-node-history"/>
          <p:cNvSpPr txBox="1"/>
          <p:nvPr/>
        </p:nvSpPr>
        <p:spPr>
          <a:xfrm>
            <a:off x="1739900" y="4191000"/>
            <a:ext cx="1559560" cy="215900"/>
          </a:xfrm>
          <a:prstGeom prst="rect">
            <a:avLst/>
          </a:prstGeom>
          <a:noFill/>
          <a:ln/>
        </p:spPr>
        <p:txBody>
          <a:bodyPr wrap="square" lIns="0" tIns="0" rIns="0" bIns="0" rtlCol="0" anchor="ctr"/>
          <a:lstStyle/>
          <a:p>
            <a:pPr algn="ctr" indent="0" marL="0">
              <a:lnSpc>
                <a:spcPct val="120000"/>
              </a:lnSpc>
              <a:buNone/>
            </a:pPr>
            <a:r>
              <a:rPr lang="en-US" sz="1100" b="1" dirty="0">
                <a:solidFill>
                  <a:srgbClr val="0D685C"/>
                </a:solidFill>
                <a:latin typeface="AppleGothic" pitchFamily="34" charset="0"/>
                <a:ea typeface="AppleGothic" pitchFamily="34" charset="-122"/>
                <a:cs typeface="AppleGothic" pitchFamily="34" charset="-120"/>
              </a:rPr>
              <a:t>H(t)</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1739900" y="4419600"/>
          <a:ext cx="1559560" cy="495300"/>
        </p:xfrm>
        <a:graphic>
          <a:graphicData uri="http://schemas.openxmlformats.org/drawingml/2006/table">
            <a:tbl>
              <a:tblPr/>
              <a:tblGrid>
                <a:gridCol w="519853"/>
                <a:gridCol w="519853"/>
                <a:gridCol w="519853"/>
              </a:tblGrid>
              <a:tr h="165100">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past</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edge 1</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edge 2</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older</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1</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recent</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3</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22" name="mechanism-node-lstm"/>
          <p:cNvSpPr/>
          <p:nvPr/>
        </p:nvSpPr>
        <p:spPr>
          <a:xfrm>
            <a:off x="378206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LSTM sequence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load dynamics를 encode</a:t>
            </a:r>
            <a:endParaRPr lang="en-US" sz="1150" dirty="0"/>
          </a:p>
        </p:txBody>
      </p:sp>
      <p:sp>
        <p:nvSpPr>
          <p:cNvPr id="23"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history path는 future load 정답이 아니라 past load variation을 Q estimator에 전달한다</a:t>
            </a:r>
            <a:endParaRPr lang="en-US" sz="1750" dirty="0"/>
          </a:p>
        </p:txBody>
      </p:sp>
      <p:sp>
        <p:nvSpPr>
          <p:cNvPr id="25"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1990–1991, Figs. 2–3, §4.1</a:t>
            </a:r>
            <a:endParaRPr lang="en-US" sz="1050" dirty="0"/>
          </a:p>
        </p:txBody>
      </p:sp>
      <p:sp>
        <p:nvSpPr>
          <p:cNvPr id="27"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dueling DQN: state 자체의 비용과 action 차이를 나눈다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Q는 state value V와 action advantage A를 결합하되, A의 평균을 빼 identifiability를 맞춘다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encoded state</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현재 특성 + 부하 이력 표현</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V head</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state가 만드는 expected cost</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 head</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action별 cost difference</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center A</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A에서 action 평균 A를 뺌</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Q(s,a)</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V + A − mean(A)</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1991, §4.1.4, Eq. 20</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runtime action과 edge-assisted learning은 분리된다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device는 current Net parameter로 행동하고, assigned edge node는 device별 memory와 networks를 training한다</a:t>
            </a:r>
            <a:endParaRPr lang="en-US" sz="1900" dirty="0"/>
          </a:p>
        </p:txBody>
      </p:sp>
      <p:sp>
        <p:nvSpPr>
          <p:cNvPr id="4" name="mechanism-lane-device"/>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at mobile device m</a:t>
            </a:r>
            <a:endParaRPr lang="en-US" sz="1250" dirty="0"/>
          </a:p>
        </p:txBody>
      </p:sp>
      <p:sp>
        <p:nvSpPr>
          <p:cNvPr id="5" name="mechanism-lane-edge"/>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at assigned edge n_m</a:t>
            </a:r>
            <a:endParaRPr lang="en-US" sz="1250" dirty="0"/>
          </a:p>
        </p:txBody>
      </p:sp>
      <p:sp>
        <p:nvSpPr>
          <p:cNvPr id="6" name="mechanism-lane-feedback"/>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delayed feedback</a:t>
            </a:r>
            <a:endParaRPr lang="en-US" sz="1250" dirty="0"/>
          </a:p>
        </p:txBody>
      </p:sp>
      <p:sp>
        <p:nvSpPr>
          <p:cNvPr id="7" name="mechanism-edge-d1-segment-1"/>
          <p:cNvSpPr/>
          <p:nvPr/>
        </p:nvSpPr>
        <p:spPr>
          <a:xfrm>
            <a:off x="3810000" y="2730500"/>
            <a:ext cx="160867" cy="0"/>
          </a:xfrm>
          <a:prstGeom prst="line">
            <a:avLst/>
          </a:prstGeom>
          <a:noFill/>
          <a:ln w="12700">
            <a:solidFill>
              <a:srgbClr val="5E6D69"/>
            </a:solidFill>
            <a:prstDash val="dash"/>
            <a:headEnd type="none"/>
            <a:tailEnd type="none"/>
          </a:ln>
        </p:spPr>
        <p:txBody>
          <a:bodyPr/>
          <a:lstStyle/>
          <a:p>
            <a:endParaRPr lang="ko-KR"/>
          </a:p>
        </p:txBody>
      </p:sp>
      <p:sp>
        <p:nvSpPr>
          <p:cNvPr id="8" name="mechanism-edge-d1-segment-2"/>
          <p:cNvSpPr/>
          <p:nvPr/>
        </p:nvSpPr>
        <p:spPr>
          <a:xfrm>
            <a:off x="3970867" y="2730500"/>
            <a:ext cx="0" cy="1041400"/>
          </a:xfrm>
          <a:prstGeom prst="line">
            <a:avLst/>
          </a:prstGeom>
          <a:noFill/>
          <a:ln w="12700">
            <a:solidFill>
              <a:srgbClr val="5E6D69"/>
            </a:solidFill>
            <a:prstDash val="dash"/>
            <a:headEnd type="none"/>
            <a:tailEnd type="none"/>
          </a:ln>
        </p:spPr>
        <p:txBody>
          <a:bodyPr/>
          <a:lstStyle/>
          <a:p>
            <a:endParaRPr lang="ko-KR"/>
          </a:p>
        </p:txBody>
      </p:sp>
      <p:sp>
        <p:nvSpPr>
          <p:cNvPr id="9" name="mechanism-edge-d1-segment-3"/>
          <p:cNvSpPr/>
          <p:nvPr/>
        </p:nvSpPr>
        <p:spPr>
          <a:xfrm>
            <a:off x="3970867" y="3771900"/>
            <a:ext cx="321733" cy="0"/>
          </a:xfrm>
          <a:prstGeom prst="line">
            <a:avLst/>
          </a:prstGeom>
          <a:noFill/>
          <a:ln w="12700">
            <a:solidFill>
              <a:srgbClr val="5E6D69"/>
            </a:solidFill>
            <a:prstDash val="dash"/>
            <a:headEnd type="none"/>
            <a:tailEnd type="triangle"/>
          </a:ln>
        </p:spPr>
        <p:txBody>
          <a:bodyPr/>
          <a:lstStyle/>
          <a:p>
            <a:endParaRPr lang="ko-KR"/>
          </a:p>
        </p:txBody>
      </p:sp>
      <p:sp>
        <p:nvSpPr>
          <p:cNvPr id="10" name="mechanism-edge-d1-label"/>
          <p:cNvSpPr txBox="1"/>
          <p:nvPr/>
        </p:nvSpPr>
        <p:spPr>
          <a:xfrm>
            <a:off x="3517900" y="21717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parameter request</a:t>
            </a:r>
            <a:endParaRPr lang="en-US" sz="950" dirty="0"/>
          </a:p>
        </p:txBody>
      </p:sp>
      <p:sp>
        <p:nvSpPr>
          <p:cNvPr id="11" name="mechanism-edge-d2-segment-1"/>
          <p:cNvSpPr/>
          <p:nvPr/>
        </p:nvSpPr>
        <p:spPr>
          <a:xfrm>
            <a:off x="6362700" y="3771900"/>
            <a:ext cx="160867" cy="0"/>
          </a:xfrm>
          <a:prstGeom prst="line">
            <a:avLst/>
          </a:prstGeom>
          <a:noFill/>
          <a:ln w="12700">
            <a:solidFill>
              <a:srgbClr val="5E6D69"/>
            </a:solidFill>
            <a:prstDash val="dash"/>
            <a:headEnd type="none"/>
            <a:tailEnd type="none"/>
          </a:ln>
        </p:spPr>
        <p:txBody>
          <a:bodyPr/>
          <a:lstStyle/>
          <a:p>
            <a:endParaRPr lang="ko-KR"/>
          </a:p>
        </p:txBody>
      </p:sp>
      <p:sp>
        <p:nvSpPr>
          <p:cNvPr id="12" name="mechanism-edge-d2-segment-2"/>
          <p:cNvSpPr/>
          <p:nvPr/>
        </p:nvSpPr>
        <p:spPr>
          <a:xfrm flipV="1">
            <a:off x="6523567" y="2730500"/>
            <a:ext cx="0" cy="1041400"/>
          </a:xfrm>
          <a:prstGeom prst="line">
            <a:avLst/>
          </a:prstGeom>
          <a:noFill/>
          <a:ln w="12700">
            <a:solidFill>
              <a:srgbClr val="5E6D69"/>
            </a:solidFill>
            <a:prstDash val="dash"/>
            <a:headEnd type="none"/>
            <a:tailEnd type="none"/>
          </a:ln>
        </p:spPr>
        <p:txBody>
          <a:bodyPr/>
          <a:lstStyle/>
          <a:p>
            <a:endParaRPr lang="ko-KR"/>
          </a:p>
        </p:txBody>
      </p:sp>
      <p:sp>
        <p:nvSpPr>
          <p:cNvPr id="13" name="mechanism-edge-d2-segment-3"/>
          <p:cNvSpPr/>
          <p:nvPr/>
        </p:nvSpPr>
        <p:spPr>
          <a:xfrm>
            <a:off x="6523567" y="2730500"/>
            <a:ext cx="321733" cy="0"/>
          </a:xfrm>
          <a:prstGeom prst="line">
            <a:avLst/>
          </a:prstGeom>
          <a:noFill/>
          <a:ln w="12700">
            <a:solidFill>
              <a:srgbClr val="5E6D69"/>
            </a:solidFill>
            <a:prstDash val="dash"/>
            <a:headEnd type="none"/>
            <a:tailEnd type="triangle"/>
          </a:ln>
        </p:spPr>
        <p:txBody>
          <a:bodyPr/>
          <a:lstStyle/>
          <a:p>
            <a:endParaRPr lang="ko-KR"/>
          </a:p>
        </p:txBody>
      </p:sp>
      <p:sp>
        <p:nvSpPr>
          <p:cNvPr id="14" name="mechanism-edge-d2-label"/>
          <p:cNvSpPr txBox="1"/>
          <p:nvPr/>
        </p:nvSpPr>
        <p:spPr>
          <a:xfrm>
            <a:off x="6070600" y="21717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u_m reply</a:t>
            </a:r>
            <a:endParaRPr lang="en-US" sz="950" dirty="0"/>
          </a:p>
        </p:txBody>
      </p:sp>
      <p:sp>
        <p:nvSpPr>
          <p:cNvPr id="15" name="mechanism-edge-d3-segment-1"/>
          <p:cNvSpPr/>
          <p:nvPr/>
        </p:nvSpPr>
        <p:spPr>
          <a:xfrm>
            <a:off x="8915400" y="273050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e1-segment-1"/>
          <p:cNvSpPr/>
          <p:nvPr/>
        </p:nvSpPr>
        <p:spPr>
          <a:xfrm>
            <a:off x="381000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17" name="mechanism-edge-e2-segment-1"/>
          <p:cNvSpPr/>
          <p:nvPr/>
        </p:nvSpPr>
        <p:spPr>
          <a:xfrm>
            <a:off x="636270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18" name="mechanism-edge-e3-segment-1"/>
          <p:cNvSpPr/>
          <p:nvPr/>
        </p:nvSpPr>
        <p:spPr>
          <a:xfrm>
            <a:off x="891540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19" name="mechanism-node-obs"/>
          <p:cNvSpPr/>
          <p:nvPr/>
        </p:nvSpPr>
        <p:spPr>
          <a:xfrm>
            <a:off x="1739900" y="24003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new task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current state와 parameter request</a:t>
            </a:r>
            <a:endParaRPr lang="en-US" sz="1150" dirty="0"/>
          </a:p>
        </p:txBody>
      </p:sp>
      <p:sp>
        <p:nvSpPr>
          <p:cNvPr id="20" name="mechanism-node-select"/>
          <p:cNvSpPr/>
          <p:nvPr/>
        </p:nvSpPr>
        <p:spPr>
          <a:xfrm>
            <a:off x="6845300" y="24003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epsilon-greedy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random 또는 min-Q action</a:t>
            </a:r>
            <a:endParaRPr lang="en-US" sz="1150" dirty="0"/>
          </a:p>
        </p:txBody>
      </p:sp>
      <p:sp>
        <p:nvSpPr>
          <p:cNvPr id="21" name="mechanism-node-execute"/>
          <p:cNvSpPr/>
          <p:nvPr/>
        </p:nvSpPr>
        <p:spPr>
          <a:xfrm>
            <a:off x="9398000" y="24003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execute action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queue에 넣고 service 진행</a:t>
            </a:r>
            <a:endParaRPr lang="en-US" sz="1150" dirty="0"/>
          </a:p>
        </p:txBody>
      </p:sp>
      <p:sp>
        <p:nvSpPr>
          <p:cNvPr id="22" name="mechanism-node-net"/>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current Net_m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parameter request에 u_m reply</a:t>
            </a:r>
            <a:endParaRPr lang="en-US" sz="1150" dirty="0"/>
          </a:p>
        </p:txBody>
      </p:sp>
      <p:sp>
        <p:nvSpPr>
          <p:cNvPr id="23" name="mechanism-node-experience"/>
          <p:cNvSpPr/>
          <p:nvPr/>
        </p:nvSpPr>
        <p:spPr>
          <a:xfrm>
            <a:off x="1739900" y="44831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completed experience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cost 관측 뒤 device가 전송</a:t>
            </a:r>
            <a:endParaRPr lang="en-US" sz="1150" dirty="0"/>
          </a:p>
        </p:txBody>
      </p:sp>
      <p:sp>
        <p:nvSpPr>
          <p:cNvPr id="24" name="mechanism-node-memory"/>
          <p:cNvSpPr txBox="1"/>
          <p:nvPr/>
        </p:nvSpPr>
        <p:spPr>
          <a:xfrm>
            <a:off x="4292600" y="44958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replay memory D_m</a:t>
            </a:r>
            <a:endParaRPr lang="en-US" sz="1150" dirty="0"/>
          </a:p>
        </p:txBody>
      </p:sp>
      <p:sp>
        <p:nvSpPr>
          <p:cNvPr id="25" name="mechanism-node-memory-queue-1"/>
          <p:cNvSpPr/>
          <p:nvPr/>
        </p:nvSpPr>
        <p:spPr>
          <a:xfrm>
            <a:off x="4292600" y="47498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 a, c, s-next</a:t>
            </a:r>
            <a:endParaRPr lang="en-US" sz="950" dirty="0"/>
          </a:p>
        </p:txBody>
      </p:sp>
      <p:sp>
        <p:nvSpPr>
          <p:cNvPr id="26" name="mechanism-node-memory-queue-2"/>
          <p:cNvSpPr/>
          <p:nvPr/>
        </p:nvSpPr>
        <p:spPr>
          <a:xfrm>
            <a:off x="4292600" y="49403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older experiences</a:t>
            </a:r>
            <a:endParaRPr lang="en-US" sz="950" dirty="0"/>
          </a:p>
        </p:txBody>
      </p:sp>
      <p:sp>
        <p:nvSpPr>
          <p:cNvPr id="27" name="mechanism-node-update"/>
          <p:cNvSpPr/>
          <p:nvPr/>
        </p:nvSpPr>
        <p:spPr>
          <a:xfrm>
            <a:off x="6845300" y="44831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update Net_m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sample, target, loss minimize</a:t>
            </a:r>
            <a:endParaRPr lang="en-US" sz="1150" dirty="0"/>
          </a:p>
        </p:txBody>
      </p:sp>
      <p:sp>
        <p:nvSpPr>
          <p:cNvPr id="28" name="mechanism-node-target"/>
          <p:cNvSpPr/>
          <p:nvPr/>
        </p:nvSpPr>
        <p:spPr>
          <a:xfrm>
            <a:off x="9398000" y="44831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Target Net_m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periodic parameter copy</a:t>
            </a:r>
            <a:endParaRPr lang="en-US" sz="1150" dirty="0"/>
          </a:p>
        </p:txBody>
      </p:sp>
      <p:sp>
        <p:nvSpPr>
          <p:cNvPr id="29" name="Shape 27"/>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30" name="Text 28"/>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action은 decentralized지만, replay와 learning computation은 edge가 보조한다</a:t>
            </a:r>
            <a:endParaRPr lang="en-US" sz="1750" dirty="0"/>
          </a:p>
        </p:txBody>
      </p:sp>
      <p:sp>
        <p:nvSpPr>
          <p:cNvPr id="31" name="Shape 2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2" name="Text 3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1991–1993, Algorithms 1–2</a:t>
            </a:r>
            <a:endParaRPr lang="en-US" sz="1050" dirty="0"/>
          </a:p>
        </p:txBody>
      </p:sp>
      <p:sp>
        <p:nvSpPr>
          <p:cNvPr id="33" name="Text 3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multi-slot task의 delayed cost feedback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task가 실제로 processed 또는 dropped된 slot에 그 task의 experience를 보낸다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slot 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state s_t에서 action a_t 선택</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slot t+1</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next state s_t+1 관측</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service 계속</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 t의 delay·drop은 미확정 가능</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finish slot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processed 또는 dropped task 확인</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experience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s_t, a_t, c_t, s_t+1 전송</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next state와 cost observation 시점이 분리되므로 completed-task set을 따로 만든다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1992–1993, Eq. 23, Algorithms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double DQN target: action 선택과 평가를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evaluation Net이 next action을 고르고, Target Net이 그 action의 discounted future cost를 평가한다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sample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s_i, a_i, c_i, s_i+1</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choose next action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Net에서 min-Q action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evaluate target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Target Net에서 next-action Q</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cost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c_i + gamma times target Q</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periodic copy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Target Net ← Net parameters</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double DQN은 target에서 next-action choice와 value evaluation을 분리한다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1993, Eqs. 24–26</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예시: local queue만으로 기다림을 다시 계산해 보자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숫자는 source result가 아닌, Eq. 2–3의 queue accounting을 확인하기 위한 구성 예시다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674616"/>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slot /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 local job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completion slot =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queue가 5까지 점유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new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t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waiting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max(5 − 3 + 1,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slots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slots, deadline end slot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unbounded end =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completion at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 = 7 − 3 + 1 =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task는 deadline 전 slot 7에 끝나 delay cost를 받고, edge future wait은 예측하지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1987–1988, Eqs. 2–3;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 방법은 무엇을 다르게 가정하는가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 baselines는 같은 metric 아래 비교되지만, feedback·capacity model과 queue assumptions가 완전히 같지는 않다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022344"/>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밝힌 차이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 Offl.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언제나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capacity를 사용하지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Offl.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offloading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load-aware policy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PGOA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potential-game best response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task가 one slot 내 끝난다고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ULOOF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historical capacity estimation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load-estimation route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proposed DRL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history-based Q 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multi-slot queue·delayed cost를 모델링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비교 핵심은 DRL 이름보다 multi-slot queue와 unknown edge load를 다루는 방식이다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1994–1995, §5.2, footnote 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reported result를 읽기 위한 simulation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성능 수치는 50 devices·5 edges와 stationary transition/cost function 아래의 online training 결과다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34848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parameter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 mobile devices, 5 edge nodes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규모의 scaling proof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 / deadline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 s / 10 slots = 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 sweep은 별도 figure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 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 GHz device, 41.8 GHz edge, 14 Mbps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simulation parameters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 16, lr 0.001, gamma 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exploration 1 → 0.01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environment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stationary transition and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non-stationarity field test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Table 1과 Fig. 4는 simulation condition이며 production hardware guarantee가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1993–1994, Table 1, §5.1,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drop ratio와 average delay는 반드시 함께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 average delay는 processed tasks만 평균내므로, drop이 늘면 average delay가 내려갈 수도 있다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task arrivals</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새 task를 denominator로 추적</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dropped-task ratio</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dropped tasks / total arrivals</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average delay</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processed tasks의 delay만 평균</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high-load reading</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drop이 delay average에서 빠질 수 있음</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paired interpretation</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두 metric을 함께 비교</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1995, §5.2, Fig. 5</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source가 보고한 조건부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다음 수치는 figure의 sweep에서 나온 observation이며, 모든 MEC topology의 보편적 보장은 아니다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3913632"/>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sweep /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observation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때 남길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p 0.1 → 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DRL drop &lt; 0.2; others &gt; 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5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 0.6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drop 65.8–79.3% lower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listed baselines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 ≥ 1.4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DRL delay near 0.54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others &gt; 0.84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 devices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DRL drop &lt; 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7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150 devices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 9.0% lower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processed-task 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reported benefit은 tight deadline·high modeled load의 stated simulation에 한정된다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1995, Figs. 5–7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보여 주지 않은 것까지 확장하지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DRL-based Q approximation과 simulation evidence는 valuable하지만, source가 보장하지 않은 범위를 따로 남겨야 한다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establishes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not established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multi-slot FIFO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DRL convergence proof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history-input LSTM-DQN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future edge-delay observation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wireless and GPS 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error·interference field 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edge-assisted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no-overhead unlimited scaling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 extension mention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energy-optimality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convergence, wireless realism, parameter overhead, non-stationarity는 여전히 열린 범위다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1993, 1995–1996, §4.2.3,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정리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논문은 offloading action 하나를 queue, deadline, hidden edge load, delayed feedback과 함께 다시 정의한다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whole task는 local 또는 one edge로 가며 queue에서 대기한다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state는 known local queue와 broadcast edge-load history를 구분한다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LSTM·dueling DQN·double DQN은 history, Q decomposition, target 역할을 맡는다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device action은 decentralized이고 edge node는 replay·training을 보조한다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drop ratio와 processed-task delay를 함께 읽어야 result를 오독하지 않는다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‘어디로 보낼까’는 queue-aware delayed-feedback decision으로 이해해야 한다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abstract; §§2–6</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대기열·마감시한 MEC Offloading을 위한 분산 DRL</dc:title>
  <dc:subject>Deep Reinforcement Learning for Task Offloading in Mobile Edge Computing Systems</dc:subject>
  <dc:creator>Research Seminars</dc:creator>
  <cp:lastModifiedBy>Research Seminars</cp:lastModifiedBy>
  <cp:revision>1</cp:revision>
  <dcterms:created xsi:type="dcterms:W3CDTF">2026-09-12T08:31:18Z</dcterms:created>
  <dcterms:modified xsi:type="dcterms:W3CDTF">2026-09-12T08:31:18Z</dcterms:modified>
</cp:coreProperties>
</file>
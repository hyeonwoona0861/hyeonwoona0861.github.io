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셀프리 Massive MIMO는 왜 small cell과 다른가
발표 대본
이 자료는 Ngo, Ashikhmin, Yang, Larsson, Marzetta의 논문을 교육용으로 소개합니다. 핵심은 AP 수가 많다는 사실만이 아닙니다. 모든 AP가 같은 사용자를 함께 서비스하는 셀프리 모델과, 한 AP가 한 사용자를 맡는 논문의 small-cell 기준선을 구분해야 합니다.
공개 출처
arxiv-v2 | p. 1, title and abstract
Cell-Free Massive MIMO versus Small Cells, arXiv:1602.08232v2
https://arxiv.org/pdf/1602.08232v2
ieee-doi | publication record
Cell-Free Massive MIMO versus Small Cells, IEEE TWC publication record
https://doi.org/10.1109/TWC.2017.2655515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이 덱에서 지키는 읽기 경계
발표 대본
원문은 무한대 M 분석, 유한 M achievable lower bound, 그리고 랜덤 위치·shadowing에 대한 수치 실험을 함께 사용합니다. 또한 셀프리 구현에는 큰 backhaul 부담이 따르고 small cell은 훨씬 적은 backhaul을 요구한다고 결론에서 분명히 말합니다. 따라서 이후의 숫자는 일반적인 상용망 순위가 아니라 논문의 조건부 비교입니다.
공개 출처
arxiv-v2 | pp. 3, 5-6, 10, 14-15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출발점: 약한 user의 rate를 어떻게 끌어올릴까
발표 대본
셀프리 구조에서는 많은 지리적으로 분산된 AP가 더 적은 수의 users를 같은 시간·주파수 자원에서 동시에 서비스합니다. 논문은 이 구조가 한 AP에만 의존하는 small-cell 구성보다 특히 약한 user의 throughput을 개선할 수 있는지, 그리고 pilot assignment와 power control이 그 개선에 어떤 역할을 하는지를 다룹니다.
공개 출처
arxiv-v2 | pp. 1-2, abstract and contributions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두 구조의 핵심 차이: 누가 한 user를 서비스하는가
발표 대본
논문의 small-cell baseline에서는 임의 순서의 user가 가장 큰 large-scale coefficient beta를 가진 available AP를 선택하며, 선택된 AP는 다른 user에게 더는 available하지 않습니다. 반대로 cell-free 모델은 모든 AP가 모든 user의 signal processing에 참여합니다. 이 baseline은 일반적인 모든 small-cell 설계의 정의가 아니라 이 논문의 비교 구성입니다.
공개 출처
arxiv-v2 | pp. 3, 8-9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원문의 실제 정보 흐름: local CSI, CPU aggregation
발표 대본
Uplink에서는 각 AP가 자신의 channel estimate로 matched filtering을 한 뒤 processed signal을 CPU에 보냅니다. Downlink에서는 AP가 local estimate로 conjugate beamforming을 수행합니다. CPU는 payload data와 power-control coefficient를 교환하지만, 원문은 AP가 local channel estimate를 서로 또는 CPU와 공유하지 않는다고 명시합니다. 이 흐름은 perfect backhaul을 가정합니다.
공개 출처
arxiv-v2 | pp. 3-4, System Model and Eqs. (10), (18)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한 coherence interval의 TDD 순서
발표 대본
논문은 TDD coherence interval을 uplink training, downlink payload transmission, uplink payload transmission으로 나눕니다. TDD reciprocity를 사용하므로 AP는 uplink pilot에서 얻은 estimate를 downlink processing에도 사용합니다. Reciprocity와 perfect calibration은 이 시스템 모델의 가정입니다. 원문은 collocated massive MIMO에서 calibration feasibility가 입증되었다고 언급하며, cell-free에서 imperfect calibration이 미치는 영향은 future work로 둡니다.
공개 출처
arxiv-v2 | p. 3, TDD protocol and assumptions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채널의 두 층: 빠르게 변하는 h와 느린 beta
발표 대본
원문은 g_mk를 large-scale fading beta_mk와 small-scale fading h_mk로 구성합니다. beta는 path loss와 shadow fading을 포함하며 long time-scale에서 바뀌므로 central pilot assignment와 power control에 활용할 수 있습니다. h의 independent Rayleigh model은 넓게 분산된 AP와 독립 scatterer를 가정한 분석 모델입니다.
공개 출처
arxiv-v2 | pp. 3-4, Eqs. (1), (8)-(9)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pilot contamination은 왜 생기는가
발표 대본
각 user는 tau_cf 길이의 pilot을 동시에 보냅니다. tau_cf가 K 이상이면 모두 직교 pilot을 쓸 수 있어 cross-pilot term을 없앨 수 있습니다. 그러나 일반적으로 coherence interval이 제한되므로 tau_cf가 K보다 작을 수 있고, 이때 다른 user pilot과의 inner product가 channel estimate에 남습니다. 원문은 이 항을 pilot contamination의 원인으로 설명합니다.
공개 출처
arxiv-v2 | pp. 3-4, Eqs. (2)-(9)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강의용 pilot 계산: 직교와 overlap의 차이
발표 대본
이 표는 teaching-only calculation입니다. 두 길이-2 벡터의 내적이 0이면 같은 AP가 user 1 pilot으로 project했을 때 user 2의 pilot 항은 사라집니다. 내적이 1이면 완전히 같은 pilot이라 구별되지 않습니다. 원문의 실제 pilot assignment score는 모든 AP와 다른 users의 beta 및 pilot inner product를 함께 합산하므로, 이 작은 예시는 그 한 성분만 보여 줍니다.
공개 출처
arxiv-v2 | p. 4, Eqs. (6)-(9); constructed example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DL: local conjugate beamforming과 AP별 전력 제한
발표 대본
Downlink에서 AP m은 local channel estimate의 conjugate와 user data symbol을 가중 합해 전송합니다. 원문은 각 AP에 대해 users 전체의 eta_mk gamma_mk 합이 1을 넘지 않는 constraint를 둡니다. gamma는 estimation quality 계수이므로 같은 eta라도 pilot과 large-scale fading 상태에 따라 AP budget에서 차지하는 양이 달라집니다.
공개 출처
arxiv-v2 | p. 4, Eq. (5) and constraints (6)-(8)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UL: local matched filtering 뒤 CPU sum
발표 대본
Uplink에서는 AP m이 local estimate의 conjugate로 received signal을 matched filter한 뒤, 그 processed signal을 CPU에 전달합니다. CPU가 AP마다의 결과를 합산해 user data를 검출합니다. 이 구조는 raw signal이나 all instantaneous CSI를 중앙으로 옮기는 설명과 다르며, 원문도 ideal backhaul을 가정하는 이유를 함께 밝혀 둡니다.
공개 출처
arxiv-v2 | p. 4, Eqs. (10)-(11)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channel hardening과 favorable propagation은 다르다
발표 대본
Favorable propagation은 서로 다른 users의 channel vector가 대규모 AP 조건에서 직교에 가까워지는 성질입니다. Channel hardening은 합쳐진 effective channel gain이 집중되어 user가 매 순간의 gain보다 통계에 의존해 decoding할 수 있는 성질입니다. 원문은 large-M limit에서 여러 항이 사라져도 pilot contamination은 남는다고 보입니다.
공개 출처
arxiv-v2 | pp. 5-6, Eqs. (14)-(18), Fig. 2, Remarks 3-5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large-M 분석과 finite-M rate를 과장하지 않기
발표 대본
원문의 asymptotic result는 deterministic large-scale fading coefficient 아래 M이 커지는 limit를 분석합니다. Finite-M downlink와 uplink expression은 채널 추정오차, beamforming uncertainty, interference, noise를 포함한 achievable rate lower bound입니다. 따라서 bound와 simulator outcome 모두를 deployment measurement처럼 읽어서는 안 됩니다.
공개 출처
arxiv-v2 | pp. 5-6, Eqs. (14)-(18), Theorems 1-2, Eqs. (24),(27)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greedy pilot assignment: 누구의 pilot을 바꾸는가
발표 대본
원문의 Algorithm 1은 random assignment에서 시작합니다. 각 iteration에 lowest downlink rate user를 고르고, 그 user의 pilot을 orthogonal candidate set 중 다른 users와의 beta-weighted pilot-overlap sum이 최소인 후보로 교체합니다. 이 계산은 large-scale coefficient의 slow variation을 이용하므로 CPU가 pilot index를 AP와 user에 알리는 구조입니다.
공개 출처
arxiv-v2 | p. 7, Algorithm 1 and Eqs. (29)-(31)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max-min power control: 평균이 아니라 bottleneck rate
발표 대본
논문은 downlink와 uplink 모두 per-user throughput의 minimum을 maximize합니다. Downlink는 AP-user coefficient eta_mk를, uplink는 user별 eta_k를 제어합니다. Max-min objective의 optimum에서는 source model 안에서 users의 rate가 같은 값에 맞춰진다고 설명하지만, 이 목표는 sum throughput 또는 모든 KPI의 동시 향상과 동일하지 않습니다.
공개 출처
arxiv-v2 | pp. 7-8, Eqs. (32)-(37), Propositions 1-2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DL·UL max-min의 다른 feasibility 형태
발표 대본
Downlink max-min problem은 quasiconcave여서 bisection으로 candidate rate를 정하고 second-order cone feasibility를 검사합니다. Uplink max-min problem도 quasi-linear 형태여서 bisection을 쓰지만, candidate rate feasibility는 linear program으로 확인합니다. 같은 ‘공정성’이라는 말이 두 solver의 수학적 형태까지 같다는 뜻은 아닙니다.
공개 출처
arxiv-v2 | pp. 7-8, Algorithm 2, Eqs. (34)-(35); Proposition 2, Eq. (37)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강의용 2 AP·2 user toy: service와 feasibility
발표 대본
이 표는 teaching-only construction입니다. beta는 large-scale coefficient, gamma는 estimation-quality coefficient를 흉내 낸 가상 값입니다. Small-cell column은 원문의 user-order-dependent available-AP construction을 보이고, cell-free column은 eta가 모두 1인 경우 AP별 weighted sum이 각각 0.8과 0.9라 feasibility constraint를 만족함을 보입니다. 실제 rate에는 pilot, fading, interference, noise 항이 더 들어갑니다.
공개 출처
arxiv-v2 | pp. 4, 8-9; constructed example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small cell도 같은 방식으로 DL CSI를 쓰지 않는다
발표 대본
원문은 cell-free downlink rate lower bound에서 user가 instantaneous effective channel realization을 모른 채 통계를 안다고 둡니다. Small-cell baseline의 한 AP Rayleigh channel은 channel hardening이 없으므로 user와 AP가 effective channel을 estimate해야 하며, small-cell coherence interval에는 UL과 DL training이 모두 들어갑니다. 이것이 net throughput 비교의 fairness 조건 일부입니다.
공개 출처
arxiv-v2 | pp. 5-6, 8-10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수치 결과를 읽기 위한 실험 envelope
발표 대본
원문은 1 km by 1 km 영역에서 AP와 users를 무작위 배치하고 200개의 location 및 shadow-fading realization을 생성합니다. Carrier는 1.9 GHz, bandwidth는 20 MHz, coherence interval은 200 samples입니다. Cell-free와 small-cell의 total radiated power를 맞추는 normalization도 수행합니다. 따라서 숫자를 다른 bandwidth, density, mobility에 그대로 옮길 수 없습니다.
공개 출처
arxiv-v2 | pp. 10-11, Table I and numerical setup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조건부 DL 결과: 95%-likely net throughput
발표 대본
Table II는 95%-likely downlink net throughput을 보고합니다. Greedy pilot assignment와 power control을 쓴 row에서, uncorrelated shadow fading은 cell-free 14.00 Mbit/s와 small-cell 2.08 Mbit/s, correlated shadow fading은 8.12와 0.83을 보입니다. 표의 PC는 power control이며, uncor.와 corr.는 shadow-fading correlation 조건입니다.
공개 출처
arxiv-v2 | p. 15, Table II; pp. 10-13 conditions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조건부 UL 결과: 95%-likely net throughput
발표 대본
Table III는 같은 M=100, K=40, training length 20 조건의 95%-likely uplink net throughput입니다. Greedy pilot assignment와 power control row에서 cell-free와 small cell은 uncorrelated shadowing 6.29와 2.04 Mbit/s, correlated shadowing 3.55와 0.31 Mbit/s입니다. Uplink는 local matched filtering과 CPU summation을 사용하므로 downlink beamforming result를 그대로 복사한 값이 아닙니다.
공개 출처
arxiv-v2 | p. 15, Table III; pp. 4-6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pilot과 power control은 어떤 차이를 만들었나
발표 대본
표의 DL과 UL example은 Table II와 III의 greedy plus PC, random plus PC, greedy without PC rows를 직접 비교한 것입니다. 원문은 greedy pilot assignment가 random assignment보다 95%-likely throughput을 약 20 percent 개선할 수 있고, power control의 영향이 더 크다고 해석합니다. 이 문장은 해당 simulator와 percentile 조건에 한정됩니다.
공개 출처
arxiv-v2 | pp. 12-13, Figs. 7-9; p. 15, Tables II-III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공동 service가 동일 전력을 뜻하지는 않는다
발표 대본
원문 Fig. 9는 어떤 user에게 할당된 총 downlink power의 95 percent 이상을 제공하는 AP 수를 effective AP count로 정의합니다. M=100, K=40 실험에서 pilot length에 따라 대략 10에서 20개 AP가 효과적인 기여자로 나타납니다. 이 그림은 cell-free processing이 물리적으로 모든 AP에서 동일한 power를 내보낸다는 오해를 막는 데 유용하지만, 다른 setting의 보편적인 sparsity theorem은 아닙니다.
공개 출처
arxiv-v2 | p. 12, Fig. 9 and discussion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왜 correlated shadowing이 비교를 더 어렵게 만드는가
발표 대본
원문은 correlated shadow fading을 AP와 users 사이의 위치에 의존하는 model로 생성하고, decorrelation distance 0.1 km와 correlation coefficient 0.5를 사용합니다. Greedy plus power-control row에서 shadowing correlation은 두 architecture의 95%-likely rate를 모두 낮추지만, 표에서는 cell-free와 small cell의 차이가 남습니다. 이는 측정된 도시망 결과가 아니라 이 shadow model 아래의 numerical result입니다.
공개 출처
arxiv-v2 | pp. 10, 12-15, shadow model and Tables II-III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성능표 밖에서 반드시 함께 말할 가정
발표 대본
원문은 AP와 CPU 사이 backhaul을 perfect, error-free, infinite-capacity로 둡니다. 또한 TDD reciprocity와 perfect calibration을 가정합니다. 원문은 collocated massive MIMO에서 calibration feasibility가 입증되었다고 언급하며, cell-free에서 imperfect calibration이 미치는 영향은 future work로 둡니다. 결론은 small-cell implementation이 훨씬 적은 backhaul을 필요로 한다고 말합니다. 이 제약들은 numerical rate 표와 분리하지 않고 함께 제시해야 합니다.
공개 출처
arxiv-v2 | pp. 3, 14, system assumptions and conclusion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한 문장씩 정리하면
발표 대본
이 논문은 distributed AP cooperation이 weak-user throughput을 크게 바꿀 수 있음을 분석과 numerical comparison으로 보여 줍니다. 그러나 그 설명은 local CSI processing, pilot contamination, fairness control, ideal backhaul, synchronization 및 채널 model이라는 묶음으로 완성됩니다. 발표에서 마지막 표의 숫자만 남기지 말고, 그 숫자를 성립시킨 architecture와 assumptions를 함께 회상시키는 것이 중요합니다.
공개 출처
arxiv-v2 | pp. 1-15, abstract through conclusion
Cell-Free Massive MIMO versus Small Cells, arXiv:1602.08232v2
https://arxiv.org/pdf/1602.08232v2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셀프리 Massive MIMO는 왜 small cell과 다른가</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Cell-Free Massive MIMO versus Small Cells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Hien Quoc Ngo, Alexei Ashikhmin, Hong Yang, Erik G. Larsson, Thomas L. Marzetta (2017)</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분산 AP의 공동 서비스, pilot, 공정성 제어를 원문 조건과 함께 읽기</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1, title and abstract; ieee-doi publication record</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덱에서 지키는 읽기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원문은 분석 모델과 수치 실험을 제시한다. 현장 배포 성능 보증을 직접 제시하지는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239768"/>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원문이 하는 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읽을 때의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협력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AP가 모든 user를 서비스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ideal backhaul 가정의 모델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large-M 분석과 finite-M lower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현장 측정값 자체가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 총 방사전력의 simulator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표의 조건을 유지해 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실용성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small cell backhaul이 더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구현비용을 성능표에서 숨기지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‘셀프리의 우세’는 이 논문의 모델과 비교 조건 안에서만 정확한 문장이다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3, 5-6, 10, 14-15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출발점: 약한 user의 rate를 어떻게 끌어올릴까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AP에만 의존하면 shadowing이 나쁜 user가 남는다. 논문은 AP 협력과 max-min 제어를 함께 묻는다.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분산 AP</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가까운 AP가 user마다 다르다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한 AP 서비스</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약한 link가 bottleneck이 된다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공동 서비스</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AP가 같은 data를 보낸다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max-min 제어</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가장 낮은 modeled rate를 높인다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문제는 AP를 많이 두는 것보다, 협력과 제한된 전력을 누구에게 어떻게 배분하느냐이다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1-2, abstract and contributions</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구조의 핵심 차이: 누가 한 user를 서비스하는가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둘 다 AP와 user가 분산되어 있어도, 서비스 관계와 필요한 협력이 다르다.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4457192"/>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cell-free 모델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small-cell baseline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서비스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M AP가 모든 K user를 함께 서비스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user는 한 available AP에 연결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AP들의 coherent conjugate beamforming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선택된 한 AP의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local filter 뒤 CPU가 결과를 합산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AP가 user 신호를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연결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joint service가 기본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beta를 가진 available AP를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실용 경계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backhaul·동기화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적은 backhaul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셀프리는 AP를 공동 사용하고, 이 baseline은 AP를 user별로 나눈다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3, 8-9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원문의 실제 정보 흐름: local CSI, CPU aggregation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AP가 instant CSI를 local로 쓰고, CPU는 UL 처리 결과와 slow control을 다룬다는 분업이다.</a:t>
            </a:r>
            <a:endParaRPr lang="en-US" sz="1900" dirty="0"/>
          </a:p>
        </p:txBody>
      </p:sp>
      <p:sp>
        <p:nvSpPr>
          <p:cNvPr id="4" name="mechanism-lane-ul"/>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UL</a:t>
            </a:r>
            <a:endParaRPr lang="en-US" sz="1250" dirty="0"/>
          </a:p>
        </p:txBody>
      </p:sp>
      <p:sp>
        <p:nvSpPr>
          <p:cNvPr id="5" name="mechanism-lane-dl"/>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DL</a:t>
            </a:r>
            <a:endParaRPr lang="en-US" sz="1250" dirty="0"/>
          </a:p>
        </p:txBody>
      </p:sp>
      <p:sp>
        <p:nvSpPr>
          <p:cNvPr id="6" name="mechanism-edge-u1-segment-1"/>
          <p:cNvSpPr/>
          <p:nvPr/>
        </p:nvSpPr>
        <p:spPr>
          <a:xfrm>
            <a:off x="38100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u2-segment-1"/>
          <p:cNvSpPr/>
          <p:nvPr/>
        </p:nvSpPr>
        <p:spPr>
          <a:xfrm>
            <a:off x="63627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u3-segment-1"/>
          <p:cNvSpPr/>
          <p:nvPr/>
        </p:nvSpPr>
        <p:spPr>
          <a:xfrm>
            <a:off x="89154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d1-segment-1"/>
          <p:cNvSpPr/>
          <p:nvPr/>
        </p:nvSpPr>
        <p:spPr>
          <a:xfrm>
            <a:off x="38100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d2-segment-1"/>
          <p:cNvSpPr/>
          <p:nvPr/>
        </p:nvSpPr>
        <p:spPr>
          <a:xfrm>
            <a:off x="63627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d3-segment-1"/>
          <p:cNvSpPr/>
          <p:nvPr/>
        </p:nvSpPr>
        <p:spPr>
          <a:xfrm>
            <a:off x="89154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2" name="mechanism-node-ul-user"/>
          <p:cNvSpPr/>
          <p:nvPr/>
        </p:nvSpPr>
        <p:spPr>
          <a:xfrm>
            <a:off x="17399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user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pilot·payload</a:t>
            </a:r>
            <a:endParaRPr lang="en-US" sz="1150" dirty="0"/>
          </a:p>
        </p:txBody>
      </p:sp>
      <p:sp>
        <p:nvSpPr>
          <p:cNvPr id="13" name="mechanism-node-ul-ap"/>
          <p:cNvSpPr/>
          <p:nvPr/>
        </p:nvSpPr>
        <p:spPr>
          <a:xfrm>
            <a:off x="42926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AP local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estimate·MF</a:t>
            </a:r>
            <a:endParaRPr lang="en-US" sz="1150" dirty="0"/>
          </a:p>
        </p:txBody>
      </p:sp>
      <p:sp>
        <p:nvSpPr>
          <p:cNvPr id="14" name="mechanism-node-ul-cpu"/>
          <p:cNvSpPr/>
          <p:nvPr/>
        </p:nvSpPr>
        <p:spPr>
          <a:xfrm>
            <a:off x="68453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CPU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processed sum</a:t>
            </a:r>
            <a:endParaRPr lang="en-US" sz="1150" dirty="0"/>
          </a:p>
        </p:txBody>
      </p:sp>
      <p:sp>
        <p:nvSpPr>
          <p:cNvPr id="15" name="mechanism-node-ul-out"/>
          <p:cNvSpPr/>
          <p:nvPr/>
        </p:nvSpPr>
        <p:spPr>
          <a:xfrm>
            <a:off x="93980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UL data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decoded output</a:t>
            </a:r>
            <a:endParaRPr lang="en-US" sz="1150" dirty="0"/>
          </a:p>
        </p:txBody>
      </p:sp>
      <p:sp>
        <p:nvSpPr>
          <p:cNvPr id="16" name="mechanism-node-dl-cpu"/>
          <p:cNvSpPr/>
          <p:nvPr/>
        </p:nvSpPr>
        <p:spPr>
          <a:xfrm>
            <a:off x="17399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CPU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payload·power</a:t>
            </a:r>
            <a:endParaRPr lang="en-US" sz="1150" dirty="0"/>
          </a:p>
        </p:txBody>
      </p:sp>
      <p:sp>
        <p:nvSpPr>
          <p:cNvPr id="17" name="mechanism-node-dl-ap"/>
          <p:cNvSpPr/>
          <p:nvPr/>
        </p:nvSpPr>
        <p:spPr>
          <a:xfrm>
            <a:off x="42926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AP local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conjugate</a:t>
            </a:r>
            <a:endParaRPr lang="en-US" sz="1150" dirty="0"/>
          </a:p>
        </p:txBody>
      </p:sp>
      <p:sp>
        <p:nvSpPr>
          <p:cNvPr id="18" name="mechanism-node-dl-user"/>
          <p:cNvSpPr/>
          <p:nvPr/>
        </p:nvSpPr>
        <p:spPr>
          <a:xfrm>
            <a:off x="68453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user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effective gain</a:t>
            </a:r>
            <a:endParaRPr lang="en-US" sz="1150" dirty="0"/>
          </a:p>
        </p:txBody>
      </p:sp>
      <p:sp>
        <p:nvSpPr>
          <p:cNvPr id="19" name="mechanism-node-dl-stat"/>
          <p:cNvSpPr/>
          <p:nvPr/>
        </p:nvSpPr>
        <p:spPr>
          <a:xfrm>
            <a:off x="93980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decode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channel stats</a:t>
            </a:r>
            <a:endParaRPr lang="en-US" sz="1150" dirty="0"/>
          </a:p>
        </p:txBody>
      </p:sp>
      <p:sp>
        <p:nvSpPr>
          <p:cNvPr id="20" name="Shape 1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1" name="Text 1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CPU는 all CSI 저장소가 아니라 UL 합산과 power 조정 역할을 맡는다</a:t>
            </a:r>
            <a:endParaRPr lang="en-US" sz="1750" dirty="0"/>
          </a:p>
        </p:txBody>
      </p:sp>
      <p:sp>
        <p:nvSpPr>
          <p:cNvPr id="22" name="Shape 2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3" name="Text 2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3-4, System Model and Eqs. (10), (18)</a:t>
            </a:r>
            <a:endParaRPr lang="en-US" sz="1050" dirty="0"/>
          </a:p>
        </p:txBody>
      </p:sp>
      <p:sp>
        <p:nvSpPr>
          <p:cNvPr id="24" name="Text 2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coherence interval의 TDD 순서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CSI는 DL에 앞서 UL pilot에서 얻는다. 세 구간의 길이 배분이 payload와 pilot 품질을 함께 제한한다.</a:t>
            </a:r>
            <a:endParaRPr lang="en-US" sz="1900" dirty="0"/>
          </a:p>
        </p:txBody>
      </p:sp>
      <p:sp>
        <p:nvSpPr>
          <p:cNvPr id="4" name="Text 2"/>
          <p:cNvSpPr txBox="1"/>
          <p:nvPr/>
        </p:nvSpPr>
        <p:spPr>
          <a:xfrm>
            <a:off x="660400" y="2108200"/>
            <a:ext cx="571500" cy="952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952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UL training</a:t>
            </a:r>
            <a:endParaRPr lang="en-US" sz="1900" dirty="0"/>
          </a:p>
        </p:txBody>
      </p:sp>
      <p:sp>
        <p:nvSpPr>
          <p:cNvPr id="6" name="Text 4"/>
          <p:cNvSpPr txBox="1"/>
          <p:nvPr/>
        </p:nvSpPr>
        <p:spPr>
          <a:xfrm>
            <a:off x="4152900" y="2108200"/>
            <a:ext cx="7378700" cy="952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동시 pilot으로 local CSI 추정</a:t>
            </a:r>
            <a:endParaRPr lang="en-US" sz="1650" dirty="0"/>
          </a:p>
        </p:txBody>
      </p:sp>
      <p:sp>
        <p:nvSpPr>
          <p:cNvPr id="7" name="Shape 5"/>
          <p:cNvSpPr/>
          <p:nvPr/>
        </p:nvSpPr>
        <p:spPr>
          <a:xfrm>
            <a:off x="1397000" y="307340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3086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3263900"/>
            <a:ext cx="571500" cy="952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3263900"/>
            <a:ext cx="2603500" cy="952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DL payload</a:t>
            </a:r>
            <a:endParaRPr lang="en-US" sz="1900" dirty="0"/>
          </a:p>
        </p:txBody>
      </p:sp>
      <p:sp>
        <p:nvSpPr>
          <p:cNvPr id="11" name="Text 9"/>
          <p:cNvSpPr txBox="1"/>
          <p:nvPr/>
        </p:nvSpPr>
        <p:spPr>
          <a:xfrm>
            <a:off x="4152900" y="3263900"/>
            <a:ext cx="7378700" cy="952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local conjugate transmission</a:t>
            </a:r>
            <a:endParaRPr lang="en-US" sz="1650" dirty="0"/>
          </a:p>
        </p:txBody>
      </p:sp>
      <p:sp>
        <p:nvSpPr>
          <p:cNvPr id="12" name="Shape 10"/>
          <p:cNvSpPr/>
          <p:nvPr/>
        </p:nvSpPr>
        <p:spPr>
          <a:xfrm>
            <a:off x="1397000" y="422910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4241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4419600"/>
            <a:ext cx="571500" cy="952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4419600"/>
            <a:ext cx="2603500" cy="952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UL payload</a:t>
            </a:r>
            <a:endParaRPr lang="en-US" sz="1900" dirty="0"/>
          </a:p>
        </p:txBody>
      </p:sp>
      <p:sp>
        <p:nvSpPr>
          <p:cNvPr id="16" name="Text 14"/>
          <p:cNvSpPr txBox="1"/>
          <p:nvPr/>
        </p:nvSpPr>
        <p:spPr>
          <a:xfrm>
            <a:off x="4152900" y="4419600"/>
            <a:ext cx="7378700" cy="952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local filter 뒤 CPU sum</a:t>
            </a:r>
            <a:endParaRPr lang="en-US" sz="1650" dirty="0"/>
          </a:p>
        </p:txBody>
      </p:sp>
      <p:sp>
        <p:nvSpPr>
          <p:cNvPr id="17" name="Shape 1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9" name="Text 1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더 긴 pilot은 estimation을 돕지만, 같은 coherence block 안의 payload 자리를 줄인다</a:t>
            </a:r>
            <a:endParaRPr lang="en-US" sz="1750" dirty="0"/>
          </a:p>
        </p:txBody>
      </p:sp>
      <p:sp>
        <p:nvSpPr>
          <p:cNvPr id="20" name="Shape 1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1" name="Text 1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3, TDD protocol and assumptions</a:t>
            </a:r>
            <a:endParaRPr lang="en-US" sz="1050" dirty="0"/>
          </a:p>
        </p:txBody>
      </p:sp>
      <p:sp>
        <p:nvSpPr>
          <p:cNvPr id="22" name="Text 2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채널의 두 층: 빠르게 변하는 h와 느린 beta</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원문은 g_mk를 sqrt(beta_mk)와 h_mk의 곱으로 나눈다. 두 층을 섞으면 pilot·power 설명이 흐려진다.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630680"/>
                <a:gridCol w="3261360"/>
                <a:gridCol w="21742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변화 속도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g_mk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m과 user k의 전체 채널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성분을 함께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signal processing 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h_mk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small-scale fading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빠름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Rayleigh 분석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beta_mk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path loss와 shadow fading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느림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pilot·power control의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gamma_mk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estimate quality 계수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pilot과 beta에 의존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power constraint에 등장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greedy pilot assignment는 빠른 h가 아니라 slow beta를 이용해 동작한다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3-4, Eqs. (1), (8)-(9)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pilot contamination은 왜 생기는가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training symbol이 user 수보다 부족하면 모든 user에게 직교 pilot을 줄 수 없다.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K users</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각자 unit-norm pilot을 보낸다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짧은 training</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tau_cf가 K보다 작다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pilot overlap</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inner product가 0이 아닐 수 있다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estimate 혼합</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다른 user 항이 남는다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pilot overlap이 있으면 다른 user training 항이 estimate에 섞인다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3-4, Eqs. (2)-(9)</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pilot 계산: 직교와 overlap의 차이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가상의 길이 2 pilot 예시다. 원문 실험의 user 수나 rate를 재현한 값이 아니다.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521968"/>
                <a:gridCol w="2174240"/>
                <a:gridCol w="2391664"/>
                <a:gridCol w="1739392"/>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case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user 1 pilot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user 2 pilot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inner product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estimate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직교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서로의 projected term이 사라짐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pilot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user term이 최대 겹침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부분 overlap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 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cross term이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inner product가 작을수록 이 source model에서 training 혼합 항도 작아진다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4, Eqs. (6)-(9);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DL: local conjugate beamforming과 AP별 전력 제한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AP는 모든 user의 data를 local estimate에 맞춰 더하지만, AP마다 쓸 수 있는 weighted power가 제한된다.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local estimate</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AP m이 user별 estimate를 가진다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weighted sum</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user data에 eta를 곱한다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conjugate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local estimate의 conjugate를 쓴다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AP budget</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sum eta gamma는 1 이하</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AP budget 때문에 모든 user coefficient를 함께 키울 수는 없다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4, Eq. (5) and constraints (6)-(8)</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UL: local matched filtering 뒤 CPU sum</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AP들은 user 신호를 local estimate로 filter하고, CPU는 그 processed contribution을 더한다.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UL receive</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AP가 모든 user signal을 받는다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local MF</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estimate로 원하는 user를 filter</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processed term</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AP가 scalar result를 CPU로 보낸다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CPU sum</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AP contribution을 합쳐 detect</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원문의 분산성은 CSI를 중앙에 모두 보내지 않고 local processing을 먼저 한다는 데 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4, Eqs. (10)-(11)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channel hardening과 favorable propagation은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둘 다 AP 수가 커질 때 유용하지만, 하나는 gain의 안정성이고 다른 하나는 user 간 분리다.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043936"/>
                <a:gridCol w="3043936"/>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개념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무엇이 좋아지는가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사용자 관점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원문에서의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 hardening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effective gain이 덜 흔들림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instantaneous gain 대신 통계를 쓸 여지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2의 특정 조건에서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favorable propagation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channel vector가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user 간 간섭 해석에 도움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large-M 분석의 조건부 성질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contamination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 혼합 항이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pilot을 공유한 user 구분이 어려움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large-M에서도 남는 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hardening과 propagation을 같은 말로 부르면, 무엇이 남고 무엇이 사라지는지 설명할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5-6, Eqs. (14)-(18), Fig. 2, Remarks 3-5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large-M 분석과 finite-M rate를 과장하지 않기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식은 설계를 이해시키지만, 서로 다른 주장 강도를 가진다.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3043936"/>
                <a:gridCol w="3152648"/>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원문이 보이는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남는 것 또는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말하면 안 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noise·small-scale·noncoherent 항 소거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contamination은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유한 망의 무조건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finite-M DL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achievable lower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user의 decoding knowledge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정확한 측정 throughput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finite-M UL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achievable lower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estimate와 interference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환경의 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수식은 ‘모델 아래 가능한 rate’를 설명하며, 배포 현장의 자동 성능보증은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5-6, Eqs. (14)-(18), Theorems 1-2, Eqs. (24),(27)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greedy pilot assignment: 누구의 pilot을 바꾸는가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instantaneous CSI를 다시 찾지 않는다. slow beta와 pilot overlap으로 가장 약한 DL user를 반복적으로 돕는다.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초기화</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random pilot assignment를 둔다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bottleneck</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가장 낮은 DL rate user를 찾는다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candidate score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AP·user별 beta와 overlap을 합친다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replace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최소 score pilot으로 바꾼다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repeat 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정한 update 횟수까지 반복</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greedy pilot 제어는 bottleneck user를 순차로 개선한다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7, Algorithm 1 and Eqs. (29)-(31)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max-min power control: 평균이 아니라 bottleneck rate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목표는 가장 낮은 modeled user rate를 가능한 한 높이는 것이다. 이것은 sum-rate 최대화와 다른 질문이다.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2935224"/>
                <a:gridCol w="3152648"/>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결정변수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목표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핵심 제약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AP-user coefficient eta_mk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 DL rate 최대화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AP의 weighted 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power coefficient eta_k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 UL rate 최대화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0부터 1까지의 user 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rate를 시험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bottleneck을 균등화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feasible 여부를 먼저 검사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weak user를 올리는 설계이므로, median이나 평균 rate의 변화는 별도로 확인해야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7-8, Eqs. (32)-(37), Propositions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DL·UL max-min의 다른 feasibility 형태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경우 모두 bisection으로 common rate를 시험하지만, 제약의 형태가 다르다.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target rate</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bisection으로 시험</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DL</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SOCP feasibility</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UL</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LP feasibility</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feasible?</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yes면 rate를 올림</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max-min rate</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모델 제약 안의 해</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7-8, Algorithm 2, Eqs. (34)-(35); Proposition 2, Eq. (37)</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2 AP·2 user toy: service와 feasibility</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가상 beta·gamma 값이다. 원문의 complete rate bound나 실험 수치를 재현하지 않는다.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3696208"/>
                <a:gridCol w="271780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cell-free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small-cell baseline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AP1: 0.9, 0.4 / AP2: 0.6, 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1부터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1은 AP1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available 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AP가 두 user에 모두 참여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AP1은 user 2에 unavailable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2는 AP2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gamma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AP1: 0.6, 0.2 / AP2: 0.4, 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eta=1일 때 AP1=0.8, AP2=0.9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AP budget 모두 1 이하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AP는 user 사이에 나뉨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rate ratio는 이 표에서 계산하지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toy는 joint service와 AP budget만 보이며 rate 배율은 주장하지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4, 8-9;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small cell도 같은 방식으로 DL CSI를 쓰지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셀프리에서는 hardening을 이용해 statistics decoding을 검토하지만, 단일 AP link에는 그 이득이 약하다.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23976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cell-free 원문 모델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small-cell baseline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effective channel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AP contribution의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AP의 Rayleigh channel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DL knowledge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통계에 의존한 lower bound를 분석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user가 effective channel을 추정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UL training 길이 tau_cf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UL·DL training을 모두 고려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서비스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AP들이 coherent하게 공동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serving AP가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training overhead와 channel knowledge도 throughput 비교에 반영된다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5-6, 8-10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수치 결과를 읽기 위한 실험 envelope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다음 결과표는 이 propagation·training·전력 조건에 묶여 있다.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setting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해석상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공간·carrier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km × 1 km, 1.9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AP·user placement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wireless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 MHz, noise figure 9 dB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link budget의 일부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coherence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samples, 1 ms, 200 kHz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pilot과 payload의 trade-off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전력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 total radiated 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한쪽만 더 많은 총전력을 쓰지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random realizations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통계적 simulator CDF와 percentile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표의 Mbit/s는 architecture 이름만으로 재현되는 상수가 아니라, 이 simulator 설정의 결과다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10-11, Table I and numerical setup</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조건부 DL 결과: 95%-likely net throughput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M=100, K=40, training length 20; 단위는 Mbit/s. 높을수록 95% user가 넘는 rate가 높다.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1956816"/>
                <a:gridCol w="1956816"/>
                <a:gridCol w="1956816"/>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CF uncor.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SC uncor.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CF corr.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SC corr.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 PC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 PC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no PC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5.46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setting에서 joint service와 max-min은 weak-user DL percentile을 높인다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15, Table II; pp. 10-13 conditions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조건부 UL 결과: 95%-likely net throughput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M, K, training setting의 uplink 표다. DL 수치와 같은 행이라도 같은 값이 아니다.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1956816"/>
                <a:gridCol w="1956816"/>
                <a:gridCol w="1956816"/>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CF uncor.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SC uncor.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CF corr.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SC corr.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 PC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 PC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5.54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no PC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UL percentile도 높지만, DL과 다른 processing과 rate 식을 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15, Table III; pp. 4-6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pilot과 power control은 어떤 차이를 만들었나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 Fig. 3–9와 Tables II–III는 두 제어가 모두 weak-user percentile에 영향을 줌을 보인다.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826512"/>
                <a:gridCol w="2826512"/>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DL example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UL example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안전한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PC 유무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CF uncor. 14.00 vs 5.46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CF uncor. 6.29 vs 2.71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max-min이 weak user를 강화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vs 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CF uncor. 14.00 vs 12.70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CF uncor. 6.29 vs 5.54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overlap 개선 효과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correlation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CF 14.00에서 8.12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CF 6.29에서 3.55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shadow model도 결과에 영향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 setting에서 PC 영향이 크고 greedy pilot은 추가 개선을 준다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12-13, Figs. 7-9; p. 15, Tables II-III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공동 service가 동일 전력을 뜻하지는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원문의 max-min solution에서는 user의 allocated power 중 대부분이 일부 AP에서 올 수 있다.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Fig. 9는 user power의 95% 이상을 보내는 effective AP 수를 센다.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M=100에서도 user당 약 10–20 effective AP가 관찰되는 조건이 있다.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나머지 AP의 contribution이 0이라는 일반 명제는 아니다.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이 수는 M, K, pilot length와 source power-control solution에 의존한다.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공동 서비스에서도 AP contribution은 제어되어 비대칭일 수 있다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12, Fig. 9 and discussion</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correlated shadowing이 비교를 더 어렵게 만드는가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동일한 장애물이 가까운 link들을 함께 약화시키면, 독립 shadowing보다 위치 다양성 이득이 달라진다.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478784"/>
                <a:gridCol w="2609088"/>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모델상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Table II DL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Table III UL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uncorrelated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link shadowing을 독립으로 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CF 14.00 / SC 2.08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CF 6.29 / SC 2.04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correlated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AP와 user 위치의 shadow correlation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CF 8.12 / SC 0.83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CF 3.55 / SC 0.31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읽기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 PC row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95%-likely net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95%-likely net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상관 shadowing에서도 percentile 차이는 남지만 절대 rate는 모델에 민감하다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10, 12-15, shadow model and Tables II-III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성능표 밖에서 반드시 함께 말할 가정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공동 transmission을 가능하게 하는 요소는 rate 식 밖의 시스템 요구사항이기도 하다.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913632"/>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가정 또는 제약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필요한가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실용적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perfect backhaul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CPU와 AP 사이 payload·control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transport 비용 미반영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TDD reciprocity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UL estimate를 DL에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calibration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coherent service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signal의 coherent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sync 난이도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Rayleigh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estimate·rate 분석 단순화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propagation 미보장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max-min objective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weak user rate를 향상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mean·sum 목표와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셀프리 이점은 processing과 backhaul·동기화 가정이 결합된 결과다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3, 14, system assumptions and conclusion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문장씩 정리하면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셀프리 Massive MIMO의 핵심은 ‘더 많은 AP’가 아니라, distributed local processing과 coherent joint service의 결합이다.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AP는 UL pilot으로 local CSI를 얻고 local processing을 수행한다.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pilot overlap은 estimate에 섞이며 greedy는 bottleneck을 보완한다.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max-min power control은 weakest modeled rate를 높인다.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Table II–III 차이는 정해진 simulation 조건의 evidence다.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배포 판단에는 backhaul·sync·calibration 검증이 더 필요하다.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architecture·algorithm·가정을 함께 볼 때 비교 결과를 정확히 설명할 수 있다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1-15, abstract through conclusion</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셀프리 Massive MIMO는 왜 small cell과 다른가</dc:title>
  <dc:subject>Cell-Free Massive MIMO versus Small Cells</dc:subject>
  <dc:creator>Research Seminars</dc:creator>
  <cp:lastModifiedBy>Research Seminars</cp:lastModifiedBy>
  <cp:revision>1</cp:revision>
  <dcterms:created xsi:type="dcterms:W3CDTF">2026-09-12T07:03:41Z</dcterms:created>
  <dcterms:modified xsi:type="dcterms:W3CDTF">2026-09-12T07:03:41Z</dcterms:modified>
</cp:coreProperties>
</file>
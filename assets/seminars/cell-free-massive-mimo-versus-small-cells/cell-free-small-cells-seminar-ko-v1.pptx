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11.xml" ContentType="application/vnd.openxmlformats-officedocument.presentationml.slide+xml"/>
  <Override PartName="/ppt/slides/slide22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15.xml" ContentType="application/vnd.openxmlformats-officedocument.presentationml.slide+xml"/>
  <Override PartName="/ppt/slides/slide26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21A182C7-726F-4259-A919-F427E6D5044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셀프리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Massive MIMO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small cell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다른가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Ngo, Ashikhmin, Yang, Larsson, Marzetta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논문을 교육용으로 소개합니다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수가 많다는 사실만이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같은 사용자를 함께 서비스하는 셀프리 모델과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한 사용자를 맡는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small-cell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기준선을 구분해야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p. 1, title and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Cell-Free Massive MIMO versus Small Cells, arXiv:1602.08232v2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ieee-doi | publication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Cell-Free Massive MIMO versus Small Cells, IEEE TWC publication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https://doi.org/10.1109/TWC.2017.2655515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114EA1F-CD27-4B53-BB69-FDB928F5D28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덱에서 지키는 읽기 경계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무한대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유한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 achievable lower bound,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그리고 랜덤 위치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·shadowing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수치 실험을 함께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셀프리 구현에는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backhaul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부담이 따르고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small cell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훨씬 적은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backhaul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요구한다고 결론에서 분명히 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이후의 숫자는 일반적인 상용망 순위가 아니라 논문의 조건부 비교입니다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3, 5-6, 10, 14-15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Cell-Free Massive MIMO versus Small Cells, arXiv:1602.08232v2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E8B5781-FC3E-470A-B978-AD4700B3EE1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출발점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약한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어떻게 끌어올릴까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셀프리 구조에서는 많은 지리적으로 분산된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더 적은 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같은 시간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주파수 자원에서 동시에 서비스합니다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이 구조가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에만 의존하는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small-cell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구성보다 특히 약한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throughput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개선할 수 있는지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그리고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pilot assignment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 control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그 개선에 어떤 역할을 하는지를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1-2, abstract and contributions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Cell-Free Massive MIMO versus Small Cells, arXiv:1602.08232v2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56D5D36-8377-476F-9523-7B9F85C8CBE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구조의 핵심 차이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누가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서비스하는가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small-cell 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임의 순서의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가장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large-scale coefficient beta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available 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선택하며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에게 더는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available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cell-free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모델은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signal processing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참여합니다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일반적인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small-cell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설계의 정의가 아니라 이 논문의 비교 구성입니다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3, 8-9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Cell-Free Massive MIMO versus Small Cells, arXiv:1602.08232v2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563EE3C-BE92-4B8B-B500-91B150181B9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원문의 실제 정보 흐름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local CSI, CPU aggregation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자신의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 estimate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matched filtering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processed signal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보냅니다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Downlink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estimate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conjugate beamforming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수행합니다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payload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power-control coefficient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교환하지만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channel estimate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서로 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공유하지 않는다고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흐름은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perfect backhaul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가정합니다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3-4, System Model and Eqs. (10), (18)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Cell-Free Massive MIMO versus Small Cells, arXiv:1602.08232v2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467A16B-A7F7-403D-BBEC-670B3C24DCD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coherence interval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TDD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TDD coherence interval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uplink training, downlink payload transmission, uplink payload transmission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나눕니다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TDD reciprocity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uplink pilot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얻은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estimate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downlink processing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Reciprocity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perfect calibration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이 시스템 모델의 가정입니다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collocated massive MIMO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feasibility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입증되었다고 언급하며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cell-free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imperfect calibration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미치는 영향은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future 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p. 3, TDD protocol and assumptions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Cell-Free Massive MIMO versus Small Cells, arXiv:1602.08232v2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885B843-F046-4EF7-9816-E3658123AA9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채널의 두 층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빠르게 변하는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느린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g_mk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large-scale fading beta_mk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small-scale fading h_mk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구성합니다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beta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path 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shadow fading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포함하며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long time-scale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바뀌므로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central pilot assignment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 control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활용할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independent Rayleigh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넓게 분산된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독립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scatterer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가정한 분석 모델입니다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3-4, Eqs. (1), (8)-(9)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Cell-Free Massive MIMO versus Small Cells, arXiv:1602.08232v2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C5BC6A7-4C9E-450B-81FD-E3A305E08BB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pilot contamination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왜 생기는가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tau_cf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길이의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동시에 보냅니다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tau_cf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이상이면 모두 직교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쓸 수 있어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cross-pilot term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없앨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일반적으로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coherence interval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제한되므로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tau_cf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작을 수 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이때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 pilot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inner product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 estimate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남습니다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이 항을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pilot contamination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원인으로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3-4, Eqs. (2)-(9)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Cell-Free Massive MIMO versus Small Cells, arXiv:1602.08232v2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854D230-52E7-4033-8F38-F9BC6C67249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강의용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pilot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직교와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overlap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차이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teaching-only calculation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길이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벡터의 내적이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 1 pilot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project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했을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pilot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항은 사라집니다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내적이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완전히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 구별되지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원문의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pilot assignment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beta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pilot inner product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합산하므로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작은 예시는 그 한 성분만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p. 4, Eqs. (6)-(9); constructed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Cell-Free Massive MIMO versus Small Cells, arXiv:1602.08232v2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2F0145E-5DE0-408F-B3F8-0AEA0859D04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DL: local conjugate beamforming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전력 제한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Downlink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 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channel estimate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conjugate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 data symbol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가중 합해 전송합니다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eta_mk gamma_mk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넘지 않는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constraint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gamma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estimation quality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계수이므로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large-scale fading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상태에 따라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 budget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차지하는 양이 달라집니다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p. 4, Eq. (5) and constraints (6)-(8)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Cell-Free Massive MIMO versus Small Cells, arXiv:1602.08232v2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185C1AC-34E9-41E1-8337-A2CA609E2FD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UL: local matched filtering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 sum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 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estimate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conjugate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received signal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matched filter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processed signal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전달합니다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마다의 결과를 합산해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검출합니다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구조는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raw signal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all instantaneous CSI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중앙으로 옮기는 설명과 다르며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ideal backhaul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가정하는 이유를 함께 밝혀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p. 4, Eqs. (10)-(11)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Cell-Free Massive MIMO versus Small Cells, arXiv:1602.08232v2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959B37C-D0D6-42E3-A454-1CA4AF42C4F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channel hardening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favorable propagation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다르다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Favorable propagation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서로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대규모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조건에서 직교에 가까워지는 성질입니다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Channel hardening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합쳐진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effective channel gain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집중되어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매 순간의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통계에 의존해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수 있는 성질입니다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large-M limit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여러 항이 사라져도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pilot contamination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남는다고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5-6, Eqs. (14)-(18), Fig. 2, Remarks 3-5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Cell-Free Massive MIMO versus Small Cells, arXiv:1602.08232v2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A554134-2718-4348-B4E0-9634E5FF210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large-M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분석과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finite-M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과장하지 않기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asymptotic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deterministic large-scale fading coefficient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커지는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limit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분석합니다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Finite-M downlink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uplink expression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채널 추정오차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beamforming uncertainty, interference, noise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포함한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achievable rate lower 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simulator outcome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모두를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deployment measurement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처럼 읽어서는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5-6, Eqs. (14)-(18), Theorems 1-2, Eqs. (24),(27)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Cell-Free Massive MIMO versus Small Cells, arXiv:1602.08232v2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885B3D3-9E9F-4F15-97B2-29626DE261F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greedy pilot assignment: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누구의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바꾸는가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assignment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시작합니다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iteration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lowest downlink rate 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orthogonal candidate set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beta-weighted pilot-overlap sum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최소인 후보로 교체합니다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계산은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large-scale coefficient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slow variation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이용하므로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pilot 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알리는 구조입니다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p. 7, Algorithm 1 and Eqs. (29)-(31)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Cell-Free Massive MIMO versus Small Cells, arXiv:1602.08232v2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655974A-8900-4B3F-97C5-59918C7B7F5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max-min power control: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평균이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bottleneck rate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downlink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uplink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per-user throughput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maximize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Downlink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AP-user coefficient eta_mk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uplink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eta_k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제어합니다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Max-min objective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model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같은 값에 맞춰진다고 설명하지만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목표는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sum throughput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KPI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동시 향상과 동일하지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7-8, Eqs. (32)-(37), Propositions 1-2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Cell-Free Massive MIMO versus Small Cells, arXiv:1602.08232v2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A4C698A-8813-4F66-9A4B-CDD5375DA76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DL·UL max-min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feasibility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형태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Downlink max-min problem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quasiconcave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bisection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candidate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second-order cone feasibility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검사합니다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Uplink max-min problem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quasi-linear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형태여서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bisection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쓰지만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candidate rate feasibility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linear program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확인합니다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‘공정성’이라는 말이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solver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수학적 형태까지 같다는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7-8, Algorithm 2, Eqs. (34)-(35); Proposition 2, Eq. (37)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Cell-Free Massive MIMO versus Small Cells, arXiv:1602.08232v2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1AE4218-9E8B-4153-98C8-99F4FEB1E23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강의용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AP·2 user toy: service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feasibility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teaching-only construction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beta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large-scale coefficient, gamma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estimation-quality coefficient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흉내 낸 가상 값입니다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Small-cell 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원문의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user-order-dependent available-AP construction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cell-free 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경우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weighted sum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feasibility constraint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만족함을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pilot, fading, interference, noise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항이 더 들어갑니다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4, 8-9; constructed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Cell-Free Massive MIMO versus Small Cells, arXiv:1602.08232v2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929D4AD-7741-44FA-BDA1-E95CF9C2843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small cell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같은 방식으로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DL CSI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쓰지 않는다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cell-free downlink rate lower 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instantaneous effective channel realization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모른 채 통계를 안다고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Small-cell 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 Rayleigh 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 hardening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없으므로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effective 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estimate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해야 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small-cell coherence interval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DL 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모두 들어갑니다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이것이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 throughput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fairness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 일부입니다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5-6, 8-10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Cell-Free Massive MIMO versus Small Cells, arXiv:1602.08232v2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8EC001E-408F-44FB-B378-79A2F4B3F7A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수치 결과를 읽기 위한 실험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envelope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km by 1 km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영역에서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무작위 배치하고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shadow-fading realization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생성합니다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Carrier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1.9 GHz, bandwidth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 MHz, coherence interval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200 samples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Cell-free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small-cell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total radiated power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맞추는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normalization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수행합니다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숫자를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bandwidth, density, mobility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그대로 옮길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10-11, Table I and numerical setup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Cell-Free Massive MIMO versus Small Cells, arXiv:1602.08232v2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D63CA1A-8690-41B2-B951-9848ECA8C77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95%-likely net throughput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95%-likely downlink net throughput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Greedy pilot assignment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 control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uncorrelated shadow fading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cell-free 14.00 Mbit/s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small-cell 2.08 Mbit/s, correlated shadow fading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0.83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 control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uncor.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corr.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shadow-fading correlation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p. 15, Table II; pp. 10-13 conditions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Cell-Free Massive MIMO versus Small Cells, arXiv:1602.08232v2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5569D00-34B5-428A-B50A-54CA5D11A5E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95%-likely net throughput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III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M=100, K=40, training length 20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95%-likely uplink net throughput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Greedy pilot assignment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 control 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cell-free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small cell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uncorrelated shadowing 6.29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2.04 Mbit/s, correlated shadowing 3.55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0.31 Mbit/s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Uplink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matched filtering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 summation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downlink beamforming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그대로 복사한 값이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p. 15, Table III; pp. 4-6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Cell-Free Massive MIMO versus Small Cells, arXiv:1602.08232v2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CD7F07A-B5C3-4D25-A132-D1D51D540FD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pilot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 control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어떤 차이를 만들었나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UL example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greedy plus PC, random plus PC, greedy without PC rows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직접 비교한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greedy pilot assignment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assignment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95%-likely throughput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 percent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개선할 수 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power control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영향이 더 크다고 해석합니다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문장은 해당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percentile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조건에 한정됩니다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12-13, Figs. 7-9; p. 15, Tables II-III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Cell-Free Massive MIMO versus Small Cells, arXiv:1602.08232v2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92856EF-A079-4B3C-B55C-0854155531E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공동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동일 전력을 뜻하지는 않는다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어떤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에게 할당된 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downlink power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95 percent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이상을 제공하는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effective AP count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M=100, K=40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pilot length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따라 대략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효과적인 기여자로 나타납니다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그림은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cell-free processing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물리적으로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동일한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내보낸다는 오해를 막는 데 유용하지만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setting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보편적인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sparsity theorem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p. 12, Fig. 9 and discussion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Cell-Free Massive MIMO versus Small Cells, arXiv:1602.08232v2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0DB0CF3-A11F-496E-8C66-5244BB137B4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correlated shadowing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비교를 더 어렵게 만드는가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correlated shadow fading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사이의 위치에 의존하는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생성하고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decorrelation distance 0.1 km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correlation coefficient 0.5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Greedy plus power-control 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shadowing correlation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architecture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95%-likely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모두 낮추지만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cell-free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small cell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차이가 남습니다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측정된 도시망 결과가 아니라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shadow model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numerical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10, 12-15, shadow model and Tables II-III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Cell-Free Massive MIMO versus Small Cells, arXiv:1602.08232v2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8DB6CC7-489C-4CA8-80E2-023A35DA34F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성능표 밖에서 반드시 함께 말할 가정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backhaul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perfect, error-free, infinite-capacity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TDD reciprocity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perfect calibration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가정합니다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collocated massive MIMO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feasibility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입증되었다고 언급하며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cell-free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imperfect calibration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미치는 영향은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future 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small-cell implementation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훨씬 적은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backhaul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필요로 한다고 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제약들은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numerical rate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표와 분리하지 않고 함께 제시해야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3, 14, system assumptions and conclusion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Cell-Free Massive MIMO versus Small Cells, arXiv:1602.08232v2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9DFEADA-79B9-4B29-8F24-E9C16ED7E7A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문장씩 정리하면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distributed AP cooperation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weak-user throughput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크게 바꿀 수 있음을 분석과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numerical comparison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그 설명은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CSI processing, pilot contamination, fairness control, ideal backhaul, synchronization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및 채널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묶음으로 완성됩니다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발표에서 마지막 표의 숫자만 남기지 말고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숫자를 성립시킨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architecture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assumptions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회상시키는 것이 중요합니다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1-15, abstract through conclusion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Cell-Free Massive MIMO versus Small Cells, arXiv:1602.08232v2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https://arxiv.org/pdf/1602.08232v2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9B16CA9-DA8C-4C44-9187-F4BAE23BB31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셀프리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Massive MIMO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왜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small cell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다른가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Cell-Free Massive MIMO versus Small Cells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Hien Quoc Ngo, Alexei Ashikhmin, Hong Yang, Erik G. Larsson, Thomas L. Marzetta (2017)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분산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공동 서비스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pilot,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공정성 제어를 원문 조건과 함께 읽기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p. 1, title and abstract; ieee-doi publication record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덱에서 지키는 읽기 경계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원문은 분석 모델과 수치 실험을 제시한다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현장 배포 성능 보증을 직접 제시하지는 않는다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239720"/>
                <a:gridCol w="44571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원문이 하는 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읽을 때의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협력 구조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서비스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ideal backhaul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가정의 모델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수학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large-M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분석과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finite-M lower bound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현장 측정값 자체가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동일 총 방사전력의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simulator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표의 조건을 유지해 해석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실용성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small cell backhaul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더 작음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구현비용을 성능표에서 숨기지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‘셀프리의 우세’는 이 논문의 모델과 비교 조건 안에서만 정확한 문장이다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3, 5-6, 10, 14-15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출발점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약한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rate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어떻게 끌어올릴까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에만 의존하면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shadowing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나쁜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user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남는다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협력과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max-min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제어를 함께 묻는다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분산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가까운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마다 다르다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서비스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약한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link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bottleneck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공동 서비스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같은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보낸다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max-min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제어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가장 낮은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modeled rate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높인다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문제는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많이 두는 것보다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협력과 제한된 전력을 누구에게 어떻게 배분하느냐이다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1-2, abstract and contributions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구조의 핵심 차이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누가 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서비스하는가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둘 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user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분산되어 있어도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서비스 관계와 필요한 협력이 다르다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065320"/>
                <a:gridCol w="445716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cell-free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small-cell baseline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서비스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 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 user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함께 서비스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available 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연결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들의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coherent conjugate beamforming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선택된 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전송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 local filter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CPU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결과를 합산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신호를 처리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연결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joint service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기본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beta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가진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available 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실용 경계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backhaul·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동기화 가정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더 적은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backhaul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셀프리는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공동 사용하고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baseline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별로 나눈다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3, 8-9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원문의 실제 정보 흐름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local CSI, CPU aggregation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instant CSI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쓰고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CPU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UL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처리 결과와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slow control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다룬다는 분업이다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mechanism-lane-ul"/>
          <p:cNvSpPr/>
          <p:nvPr/>
        </p:nvSpPr>
        <p:spPr>
          <a:xfrm>
            <a:off x="660240" y="2209680"/>
            <a:ext cx="863280" cy="15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UL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mechanism-lane-dl"/>
          <p:cNvSpPr/>
          <p:nvPr/>
        </p:nvSpPr>
        <p:spPr>
          <a:xfrm>
            <a:off x="660240" y="3772080"/>
            <a:ext cx="863280" cy="15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DL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mechanism-edge-u1-segment-1"/>
          <p:cNvSpPr/>
          <p:nvPr/>
        </p:nvSpPr>
        <p:spPr>
          <a:xfrm>
            <a:off x="3809880" y="29905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6" name="mechanism-edge-u2-segment-1"/>
          <p:cNvSpPr/>
          <p:nvPr/>
        </p:nvSpPr>
        <p:spPr>
          <a:xfrm>
            <a:off x="6362640" y="29905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7" name="mechanism-edge-u3-segment-1"/>
          <p:cNvSpPr/>
          <p:nvPr/>
        </p:nvSpPr>
        <p:spPr>
          <a:xfrm>
            <a:off x="8915400" y="29905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8" name="mechanism-edge-d1-segment-1"/>
          <p:cNvSpPr/>
          <p:nvPr/>
        </p:nvSpPr>
        <p:spPr>
          <a:xfrm>
            <a:off x="3809880" y="45529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9" name="mechanism-edge-d2-segment-1"/>
          <p:cNvSpPr/>
          <p:nvPr/>
        </p:nvSpPr>
        <p:spPr>
          <a:xfrm>
            <a:off x="6362640" y="45529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0" name="mechanism-edge-d3-segment-1"/>
          <p:cNvSpPr/>
          <p:nvPr/>
        </p:nvSpPr>
        <p:spPr>
          <a:xfrm>
            <a:off x="8915400" y="45529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1" name="mechanism-node-ul-user"/>
          <p:cNvSpPr/>
          <p:nvPr/>
        </p:nvSpPr>
        <p:spPr>
          <a:xfrm>
            <a:off x="1739880" y="26607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user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pilot·payload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mechanism-node-ul-ap"/>
          <p:cNvSpPr/>
          <p:nvPr/>
        </p:nvSpPr>
        <p:spPr>
          <a:xfrm>
            <a:off x="4292640" y="26607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 local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estimate·MF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mechanism-node-ul-cpu"/>
          <p:cNvSpPr/>
          <p:nvPr/>
        </p:nvSpPr>
        <p:spPr>
          <a:xfrm>
            <a:off x="6845400" y="26607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CPU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processed sum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mechanism-node-ul-out"/>
          <p:cNvSpPr/>
          <p:nvPr/>
        </p:nvSpPr>
        <p:spPr>
          <a:xfrm>
            <a:off x="9398160" y="26607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UL data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decoded output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mechanism-node-dl-cpu"/>
          <p:cNvSpPr/>
          <p:nvPr/>
        </p:nvSpPr>
        <p:spPr>
          <a:xfrm>
            <a:off x="1739880" y="42228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CPU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payload·power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mechanism-node-dl-ap"/>
          <p:cNvSpPr/>
          <p:nvPr/>
        </p:nvSpPr>
        <p:spPr>
          <a:xfrm>
            <a:off x="4292640" y="42228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 local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conjugate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mechanism-node-dl-user"/>
          <p:cNvSpPr/>
          <p:nvPr/>
        </p:nvSpPr>
        <p:spPr>
          <a:xfrm>
            <a:off x="6845400" y="42228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user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effective gain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mechanism-node-dl-stat"/>
          <p:cNvSpPr/>
          <p:nvPr/>
        </p:nvSpPr>
        <p:spPr>
          <a:xfrm>
            <a:off x="9398160" y="42228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decode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 stats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18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0" name="Text 19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all CSI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저장소가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UL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합산과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power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조정 역할을 맡는다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0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2" name="Text 21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3-4, System Model and Eqs. (10), (18)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22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coherence interval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TDD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순서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CSI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앞서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UL pilot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얻는다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세 구간의 길이 배분이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payload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pilot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품질을 함께 제한한다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2"/>
          <p:cNvSpPr/>
          <p:nvPr/>
        </p:nvSpPr>
        <p:spPr>
          <a:xfrm>
            <a:off x="660240" y="2108160"/>
            <a:ext cx="57132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3"/>
          <p:cNvSpPr/>
          <p:nvPr/>
        </p:nvSpPr>
        <p:spPr>
          <a:xfrm>
            <a:off x="1397160" y="2108160"/>
            <a:ext cx="260316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UL training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4"/>
          <p:cNvSpPr/>
          <p:nvPr/>
        </p:nvSpPr>
        <p:spPr>
          <a:xfrm>
            <a:off x="4152960" y="2108160"/>
            <a:ext cx="737820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동시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pilot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CSI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추정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5"/>
          <p:cNvSpPr/>
          <p:nvPr/>
        </p:nvSpPr>
        <p:spPr>
          <a:xfrm>
            <a:off x="1396800" y="30733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0" name="Shape 6"/>
          <p:cNvSpPr/>
          <p:nvPr/>
        </p:nvSpPr>
        <p:spPr>
          <a:xfrm>
            <a:off x="851040" y="30862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1" name="Text 7"/>
          <p:cNvSpPr/>
          <p:nvPr/>
        </p:nvSpPr>
        <p:spPr>
          <a:xfrm>
            <a:off x="660240" y="3263760"/>
            <a:ext cx="57132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8"/>
          <p:cNvSpPr/>
          <p:nvPr/>
        </p:nvSpPr>
        <p:spPr>
          <a:xfrm>
            <a:off x="1397160" y="3263760"/>
            <a:ext cx="260316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DL payload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9"/>
          <p:cNvSpPr/>
          <p:nvPr/>
        </p:nvSpPr>
        <p:spPr>
          <a:xfrm>
            <a:off x="4152960" y="3263760"/>
            <a:ext cx="737820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conjugate transmission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10"/>
          <p:cNvSpPr/>
          <p:nvPr/>
        </p:nvSpPr>
        <p:spPr>
          <a:xfrm>
            <a:off x="1396800" y="42289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5" name="Shape 11"/>
          <p:cNvSpPr/>
          <p:nvPr/>
        </p:nvSpPr>
        <p:spPr>
          <a:xfrm>
            <a:off x="851040" y="42418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6" name="Text 12"/>
          <p:cNvSpPr/>
          <p:nvPr/>
        </p:nvSpPr>
        <p:spPr>
          <a:xfrm>
            <a:off x="660240" y="4419720"/>
            <a:ext cx="57132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3"/>
          <p:cNvSpPr/>
          <p:nvPr/>
        </p:nvSpPr>
        <p:spPr>
          <a:xfrm>
            <a:off x="1397160" y="4419720"/>
            <a:ext cx="260316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UL payload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4"/>
          <p:cNvSpPr/>
          <p:nvPr/>
        </p:nvSpPr>
        <p:spPr>
          <a:xfrm>
            <a:off x="4152960" y="4419720"/>
            <a:ext cx="737820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filter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 sum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1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0" name="Shape 1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1" name="Text 1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더 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pilot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estimation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돕지만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coherence block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payload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자리를 줄인다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1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3" name="Text 1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p. 3, TDD protocol and assumptions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2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채널의 두 층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빠르게 변하는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느린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beta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원문은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g_mk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sqrt(beta_mk)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h_mk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곱으로 나눈다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층을 섞으면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pilot·power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설명이 흐려진다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630440"/>
                <a:gridCol w="3261240"/>
                <a:gridCol w="217404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뜻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변화 속도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논문에서의 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g_mk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 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전체 채널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성분을 함께 포함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signal processing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h_mk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small-scale fading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빠름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Rayleigh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분석 가정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beta_mk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path loss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shadow fading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느림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pilot·power control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입력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gamma_mk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estimate quality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pilot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beta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의존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 power constraint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등장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greedy pilot assignment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빠른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slow beta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이용해 동작한다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3-4, Eqs. (1), (8)-(9)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pilot contamination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왜 생기는가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training symbol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user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수보다 부족하면 모든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user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에게 직교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pilot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줄 수 없다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 users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unit-norm pilot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보낸다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9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0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짧은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training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tau_cf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보다 작다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4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5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pilot overlap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inner product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아닐 수 있다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9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0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estimate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혼합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다른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항이 남는다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4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5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pilot overlap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있으면 다른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 training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항이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estimate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섞인다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7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3-4, Eqs. (2)-(9)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강의용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pilot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직교와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overlap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차이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가상의 길이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 pilot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예시다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원문 실험의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user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재현한 값이 아니다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521720"/>
                <a:gridCol w="2174040"/>
                <a:gridCol w="2391480"/>
                <a:gridCol w="1739160"/>
                <a:gridCol w="30438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case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1 pilot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2 pilot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inner product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estimate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직교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[1, 0]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[0, 1]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서로의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projected term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사라짐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pilot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[1, 0]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[1, 0]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term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최대 겹침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overlap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[1, 0]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[0.6, 0.8]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cross term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남음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inner product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작을수록 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source model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training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혼합 항도 작아진다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p. 4, Eqs. (6)-(9); constructed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DL: local conjugate beamforming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전력 제한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모든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user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estimate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맞춰 더하지만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AP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마다 쓸 수 있는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weighted power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제한된다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estimate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 m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estimate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가진다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3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4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weighted sum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 data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eta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곱한다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8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9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conjugate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estimate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conjugate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쓴다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3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4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 budget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sum eta gamma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이하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8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9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 budget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때문에 모든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 coefficient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키울 수는 없다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1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p. 4, Eq. (5) and constraints (6)-(8)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UL: local matched filtering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 sum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들은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user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신호를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estimate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filter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CPU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processed contribution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더한다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UL receive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모든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 signal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받는다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9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0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MF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estimate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원하는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filter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4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5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processed term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scalar result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보낸다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9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0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CPU sum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 contribution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합쳐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detect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4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5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원문의 분산성은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CSI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중앙에 모두 보내지 않고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processing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먼저 한다는 데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7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p. 4, Eqs. (10)-(11)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 hardening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favorable propagation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다르다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둘 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수가 커질 때 유용하지만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하나는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gain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안정성이고 다른 하나는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user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간 분리다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3043800"/>
                <a:gridCol w="3043800"/>
                <a:gridCol w="23914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무엇이 좋아지는가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사용자 관점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원문에서의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channel hardening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effective gain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덜 흔들림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instantaneous gain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대신 통계를 쓸 여지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특정 조건에서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favorable propagation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서로 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channel vector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분리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간 간섭 해석에 도움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large-M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분석의 조건부 성질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pilot contamination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training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혼합 항이 남음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pilot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공유한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구분이 어려움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large-M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에서도 남는 항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hardening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propagation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같은 말로 부르면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무엇이 남고 무엇이 사라지는지 설명할 수 없다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5-6, Eqs. (14)-(18), Fig. 2, Remarks 3-5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large-M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분석과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finite-M rate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과장하지 않기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식은 설계를 이해시키지만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서로 다른 주장 강도를 가진다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847880"/>
                <a:gridCol w="3043800"/>
                <a:gridCol w="3152520"/>
                <a:gridCol w="28263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원문이 보이는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남는 것 또는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말하면 안 되는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large-M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noise·small-scale·noncoherent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 소거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pilot contamination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남음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유한 망의 무조건 보장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finite-M DL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achievable lower bound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decoding knowledge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정확한 측정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throughput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finite-M UL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achievable lower bound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estimate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interference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환경의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capacity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논문의 수식은 ‘모델 아래 가능한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rate’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설명하며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배포 현장의 자동 성능보증은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5-6, Eqs. (14)-(18), Theorems 1-2, Eqs. (24),(27)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greedy pilot assignment: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누구의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pilot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바꾸는가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instantaneous CSI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다시 찾지 않는다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 slow beta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pilot overlap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가장 약한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DL user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반복적으로 돕는다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초기화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random pilot assignment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둔다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1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2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bottleneck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가장 낮은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DL rate user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찾는다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6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7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candidate score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AP·user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beta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overlap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합친다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1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2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replace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최소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score pilot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바꾼다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6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7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repeat 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update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횟수까지 반복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1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2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greedy pilot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제어는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bottleneck user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순차로 개선한다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4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p. 7, Algorithm 1 and Eqs. (29)-(31)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max-min power control: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평균이 아니라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bottleneck rate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목표는 가장 낮은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modeled user rate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가능한 한 높이는 것이다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이것은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sum-rate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최대화와 다른 질문이다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739160"/>
                <a:gridCol w="2935080"/>
                <a:gridCol w="3152520"/>
                <a:gridCol w="30438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대상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결정변수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목표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핵심 제약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AP-user coefficient eta_mk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min DL rate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최대화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weighted power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power coefficient eta_k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min UL rate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최대화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까지의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power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rate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시험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bottleneck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균등화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feasible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여부를 먼저 검사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weak user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올리는 설계이므로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median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이나 평균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변화는 별도로 확인해야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7-8, Eqs. (32)-(37), Propositions 1-2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DL·UL max-min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다른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feasibility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형태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경우 모두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bisection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common rate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시험하지만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제약의 형태가 다르다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7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8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9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0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1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2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3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4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5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6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7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 rate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bisection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시험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DL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SOCP feasibility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UL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LP feasibility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feasible?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yes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면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rate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올림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max-min rate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모델 제약 안의 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8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7-8, Algorithm 2, Eqs. (34)-(35); Proposition 2, Eq. (37)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강의용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 AP·2 user toy: service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feasibility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beta·gamma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값이다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원문의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complete rate bound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나 실험 수치를 재현하지 않는다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739160"/>
                <a:gridCol w="3696120"/>
                <a:gridCol w="2717640"/>
                <a:gridCol w="27176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cell-free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small-cell baseline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 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beta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AP1: 0.9, 0.4 / AP2: 0.6, 0.7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부터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AP1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available AP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모두 참여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unavailable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AP2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gamma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AP1: 0.6, 0.2 / AP2: 0.4, 0.5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해당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eta=1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 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AP1=0.8, AP2=0.9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 budget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사이에 나뉨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rate ratio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이 표에서 계산하지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joint service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 budget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보이며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rate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배율은 주장하지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4, 8-9; constructed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small cell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같은 방식으로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DL CSI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쓰지 않는다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셀프리에서는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hardening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이용해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statistics decoding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검토하지만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단일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 link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에는 그 이득이 약하다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239720"/>
                <a:gridCol w="4239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cell-free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모델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small-cell baseline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effective channel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 contribution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Rayleigh channel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DL knowledge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통계에 의존한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lower bound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분석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effective channel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추정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training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UL training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길이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tau_cf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UL·DL training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모두 고려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서비스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들이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coherent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하게 공동 전송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serving 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전송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training overhead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 knowledge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throughput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비교에 반영된다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5-6, 8-10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수치 결과를 읽기 위한 실험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envelope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다음 결과표는 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propagation·training·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전력 조건에 묶여 있다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56588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setting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해석상 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·carrier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 km × 1 km, 1.9 GHz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 AP·user placement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wireless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 MHz, noise figure 9 dB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link budget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일부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coherence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200 samples, 1 ms, 200 kHz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pilot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payload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trade-off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전력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total radiated power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한쪽만 더 많은 총전력을 쓰지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200 random realizations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통계적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simulator CDF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percentile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표의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Mbit/s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architecture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이름만으로 재현되는 상수가 아니라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simulator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설정의 결과다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10-11, Table I and numerical setup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DL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95%-likely net throughput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M=100, K=40, training length 20;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단위는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Mbit/s.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높을수록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95% user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넘는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높다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1956600"/>
                <a:gridCol w="1956600"/>
                <a:gridCol w="1956600"/>
                <a:gridCol w="19566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CF uncor.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 uncor.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CF corr.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 corr.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greedy + PC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14.00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2.08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8.12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0.83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 + PC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12.70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1.37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6.95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0.54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greedy, no PC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5.46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0.86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1.58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setting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joint service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max-min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weak-user DL percentile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높인다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p. 15, Table II; pp. 10-13 conditions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UL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95%-likely net throughput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M, K, training setting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uplink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 DL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수치와 같은 행이라도 같은 값이 아니다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1956600"/>
                <a:gridCol w="1956600"/>
                <a:gridCol w="1956600"/>
                <a:gridCol w="19566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CF uncor.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 uncor.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CF corr.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 corr.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greedy + PC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6.29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2.04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3.55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0.31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 + PC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5.54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1.27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2.26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greedy, no PC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2.71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0.76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0.56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UL percentile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높지만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DL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다른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processing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rate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식을 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p. 15, Table III; pp. 4-6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pilot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power control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어떤 차이를 만들었나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Fig. 3–9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Tables II–III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두 제어가 모두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weak-user percentile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영향을 줌을 보인다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2826360"/>
                <a:gridCol w="2826360"/>
                <a:gridCol w="30438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DL example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UL example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안전한 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PC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CF uncor. 14.00 vs 5.46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CF uncor. 6.29 vs 2.71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max-min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weak user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강화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greedy vs random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CF uncor. 14.00 vs 12.70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CF uncor. 6.29 vs 5.54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pilot overlap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개선 효과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correlation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CF 14.00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8.12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CF 6.29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3.55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shadow model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 결과에 영향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setting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PC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영향이 크고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greedy pilot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추가 개선을 준다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12-13, Figs. 7-9; p. 15, Tables II-III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공동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service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동일 전력을 뜻하지는 않는다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원문의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max-min solution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user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allocated power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중 대부분이 일부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올 수 있다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2"/>
          <p:cNvSpPr/>
          <p:nvPr/>
        </p:nvSpPr>
        <p:spPr>
          <a:xfrm>
            <a:off x="838080" y="2171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Fig. 9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 power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95%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이상을 보내는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effective AP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수를 센다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Shape 3"/>
          <p:cNvSpPr/>
          <p:nvPr/>
        </p:nvSpPr>
        <p:spPr>
          <a:xfrm>
            <a:off x="838080" y="2908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2" name="Text 4"/>
          <p:cNvSpPr/>
          <p:nvPr/>
        </p:nvSpPr>
        <p:spPr>
          <a:xfrm>
            <a:off x="838080" y="29462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M=100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에서도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당 약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10–20 effective AP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관찰되는 조건이 있다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5"/>
          <p:cNvSpPr/>
          <p:nvPr/>
        </p:nvSpPr>
        <p:spPr>
          <a:xfrm>
            <a:off x="838080" y="3682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4" name="Text 6"/>
          <p:cNvSpPr/>
          <p:nvPr/>
        </p:nvSpPr>
        <p:spPr>
          <a:xfrm>
            <a:off x="838080" y="372096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나머지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contribution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이라는 일반 명제는 아니다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Shape 7"/>
          <p:cNvSpPr/>
          <p:nvPr/>
        </p:nvSpPr>
        <p:spPr>
          <a:xfrm>
            <a:off x="838080" y="44575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6" name="Text 8"/>
          <p:cNvSpPr/>
          <p:nvPr/>
        </p:nvSpPr>
        <p:spPr>
          <a:xfrm>
            <a:off x="838080" y="44956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수는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M, K, pilot length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source power-control solution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의존한다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Shape 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8" name="Text 1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공동 서비스에서도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 contribution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제어되어 비대칭일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Shape 1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0" name="Text 1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p. 12, Fig. 9 and discussion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1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correlated shadowing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비교를 더 어렵게 만드는가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동일한 장애물이 가까운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link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들을 함께 약화시키면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독립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shadowing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보다 위치 다양성 이득이 달라진다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3478680"/>
                <a:gridCol w="2608920"/>
                <a:gridCol w="26089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모델상 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 II DL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 III UL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uncorrelated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link shadowing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독립으로 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CF 14.00 / SC 2.08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CF 6.29 / SC 2.04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correlated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위치의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shadow correlation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CF 8.12 / SC 0.83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CF 3.55 / SC 0.31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greedy + PC row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95%-likely net rate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95%-likely net rate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상관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shadowing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percentile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차이는 남지만 절대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모델에 민감하다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10, 12-15, shadow model and Tables II-III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성능표 밖에서 반드시 함께 말할 가정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공동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transmission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가능하게 하는 요소는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rate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식 밖의 시스템 요구사항이기도 하다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5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3913560"/>
                <a:gridCol w="4239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가정 또는 제약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왜 필요한가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실용적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perfect backhaul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CPU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payload·control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transport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비용 미반영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TDD reciprocity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UL estimate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calibration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coherent service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 signal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coherent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sync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난이도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Rayleigh model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estimate·rate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분석 단순화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propagation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미보장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max-min objective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weak user rate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향상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mean·sum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목표와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셀프리 이점은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processing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backhaul·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동기화 가정이 결합된 결과다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3, 14, system assumptions and conclusion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문장씩 정리하면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셀프리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Massive MIMO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핵심은 ‘더 많은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AP’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아니라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distributed local processing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coherent joint service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결합이다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2"/>
          <p:cNvSpPr/>
          <p:nvPr/>
        </p:nvSpPr>
        <p:spPr>
          <a:xfrm>
            <a:off x="838080" y="21718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UL pilot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CSI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얻고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processing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수행한다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3"/>
          <p:cNvSpPr/>
          <p:nvPr/>
        </p:nvSpPr>
        <p:spPr>
          <a:xfrm>
            <a:off x="838080" y="2755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2" name="Text 4"/>
          <p:cNvSpPr/>
          <p:nvPr/>
        </p:nvSpPr>
        <p:spPr>
          <a:xfrm>
            <a:off x="838080" y="279396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pilot overlap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estimate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섞이며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greedy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bottleneck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보완한다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Shape 5"/>
          <p:cNvSpPr/>
          <p:nvPr/>
        </p:nvSpPr>
        <p:spPr>
          <a:xfrm>
            <a:off x="838080" y="3377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4" name="Text 6"/>
          <p:cNvSpPr/>
          <p:nvPr/>
        </p:nvSpPr>
        <p:spPr>
          <a:xfrm>
            <a:off x="838080" y="341640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max-min power control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weakest modeled rate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높인다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Shape 7"/>
          <p:cNvSpPr/>
          <p:nvPr/>
        </p:nvSpPr>
        <p:spPr>
          <a:xfrm>
            <a:off x="838080" y="4000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6" name="Text 8"/>
          <p:cNvSpPr/>
          <p:nvPr/>
        </p:nvSpPr>
        <p:spPr>
          <a:xfrm>
            <a:off x="838080" y="40384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II–III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차이는 정해진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simulation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evidence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Shape 9"/>
          <p:cNvSpPr/>
          <p:nvPr/>
        </p:nvSpPr>
        <p:spPr>
          <a:xfrm>
            <a:off x="838080" y="46227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8" name="Text 10"/>
          <p:cNvSpPr/>
          <p:nvPr/>
        </p:nvSpPr>
        <p:spPr>
          <a:xfrm>
            <a:off x="838080" y="466092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배포 판단에는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backhaul·sync·calibration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검증이 더 필요하다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Shape 1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0" name="Text 1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architecture·algorithm·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가정을 함께 볼 때 비교 결과를 정확히 설명할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1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2" name="Text 1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1-15, abstract through conclusion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1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2026-09-12T07:03:41Z</dcterms:created>
  <dc:creator>Research Seminars</dc:creator>
  <dc:description/>
  <dc:language>ko-KR</dc:language>
  <cp:lastModifiedBy>Research Seminars</cp:lastModifiedBy>
  <dcterms:modified xsi:type="dcterms:W3CDTF">2026-09-12T07:03:41Z</dcterms:modified>
  <cp:revision>1</cp:revision>
  <dc:subject>Cell-Free Massive MIMO versus Small Cells</dc:subject>
  <dc:title>셀프리 Massive MIMO는 왜 small cell과 다른가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26</vt:r8>
  </property>
  <property fmtid="{D5CDD505-2E9C-101B-9397-08002B2CF9AE}" pid="3" name="PresentationFormat">
    <vt:lpwstr>On-screen Show (16:9)</vt:lpwstr>
  </property>
  <property fmtid="{D5CDD505-2E9C-101B-9397-08002B2CF9AE}" pid="4" name="Slides">
    <vt:r8>26</vt:r8>
  </property>
</Properties>
</file>
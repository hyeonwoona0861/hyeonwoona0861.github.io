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Potential-Based Shaping: 목표를 바꾸지 않는 보너스
발표 대본
이 자료는 Ng, Harada, Russell의 ICML 1999 논문을 소개합니다. 핵심 질문은 reward를 더 촘촘하게 만들어 학습을 돕고 싶을 때, 그 보너스가 원래 과제에서 최선인 행동 자체를 바꾸지 않게 하려면 어떤 형태여야 하는가입니다. 결론의 수식만 암기하기보다 왜 그 수식이 경로 전체에서 상쇄되는지, 그리고 어떤 조건에서만 그 말이 성립하는지를 순서대로 보겠습니다.
공개 출처
author-paper | p. 1, title and abstract
Policy Invariance Under Reward Transformations, author-hosted ICML 1999 PDF
https://ai.stanford.edu/~ang/papers/shaping-icml99.pdf
author-record | ICML 1999 entry
Andrew Ng publication list
https://www.robotics.stanford.edu/~ang/papers.php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진행 보너스는 목표를 바꿀 수 있다
발표 대본
논문은 bicycle task와 soccer robot 사례로 policy invariance가 왜 필요한지 설명합니다. 목표 쪽으로 진행할 때만 보너스를 준 bicycle agent는 출발점 근처의 작은 원을 타며 진행 보너스를 반복해서 얻을 수 있습니다. 공을 만질 때 보상을 준 soccer agent도 공 옆에서 진동하며 touch reward를 반복할 수 있습니다. 둘 다 원래 MDP에서 해야 할 일을 잘 수행하는 policy가 아닙니다. 따라서 이 발표에서 말하는 문제는 reward가 적다는 문제가 아니라, 보너스가 최적 행동의 순위를 뒤집을 수 있다는 문제입니다.
공개 출처
author-paper | pp. 1-2, Introduction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원래 MDP와 학습용 transformed MDP
발표 대본
논문은 M을 S, A, T, γ, R로 쓰고, 추가 shaping reward F를 더한 M′에서 학습한다고 정의합니다. 중요한 것은 state, action, transition probability, discount factor는 바뀌지 않는다는 점입니다. 관찰된 원래 reward에 F를 더해 M′의 reward를 받은 것처럼 learner에 전달할 수 있습니다. 이 표의 마지막 행이 전체 논문의 질문입니다. M′에서 최적이라고 배운 policy가 원래 M에서도 최적인가를 묻습니다.
공개 출처
author-paper | pp. 2-3, Secs. 2.1-2.2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보존하려는 것은 reward 값이 아니라 행동 순위
발표 대본
여기 10과 8, 그리고 7과 5는 증명 결과를 보이기 위한 교육용 최적 action value입니다. 표에서는 고정된 s와 각 행동 a의 Q_M*(s,a)를 Q*로, shaping 후 Q_M′*(s,a)를 Q′*로 줄여 씁니다. Potential-based shaping은 같은 상태에서 모든 행동의 최적 Q값에 같은 Φ(s)를 빼므로 Q′*=Q*−Φ(s)입니다. 따라서 절대 수치는 변하지만 left와 right의 순위는 변하지 않습니다. Policy invariance와 value invariance를 구분해야 하는 이유입니다. Corollary 2가 다루는 것은 이 최적 Q와 V의 state-only 이동입니다.
공개 출처
author-paper | p. 5, Corollary 2; values are a constructed example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Transition마다 potential의 할인된 변화를 더한다
발표 대본
Potential Φ는 state에 붙인 실수값입니다. Φ가 반드시 정확한 optimal value일 필요는 없습니다. 핵심은 F를 다음 state의 Φ에 discount γ를 곱한 값에서 현재 state의 Φ를 뺀 형태로 정의하는 것입니다. 따라서 도착 state가 좋아 보인다는 이유만으로 보너스를 주는 방식과는 다릅니다. γ가 있는 discounted MDP에서 γ를 빼고 Φ(s′)−Φ(s)만 쓰면 논문의 보장 형태가 아닙니다. 다음 슬라이드에서 이 두 항이 trajectory 전체에서 왜 상쇄되는지 보겠습니다.
공개 출처
author-paper | p. 4, Theorem 1, Eq. 2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γ=1에서 closed cycle의 shaping 합은 0
발표 대본
먼저 γ가 1인 경우를 보겠습니다. u에서 v, v에서 w, w에서 다시 u로 돌아오는 cycle에서 각 transition의 potential difference를 더하면 모든 state potential이 한 번 더해지고 한 번 빠집니다. 그래서 합이 0입니다. 이것이 bicycle 사례에서 작은 원을 돌며 계속 양의 보너스를 얻는 문제가 potential difference로는 생기지 않는다는 직관입니다. 이 표는 교육용 전개이며, general theorem의 discounted case는 다음에서 γ를 포함해 다룹니다.
공개 출처
author-paper | p. 4, Main results discussion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Discounted trajectory에서도 중간 potential은 지워진다
발표 대본
시간 t의 shaping term은 γ의 t승을 곱해 return에 들어갑니다. 이를 펼치면 S1의 항은 첫 transition에서 +γΦ(S1)로 나오고 다음 transition에서 −γΦ(S1)로 나와 사라집니다. S2도 같은 방식입니다. 그래서 T까지의 합에는 시작 state의 −Φ(S0)와 마지막 residual만 남습니다. γ가 1보다 작고 Φ가 bounded이면 T가 커질수록 residual은 0으로 갑니다. 이 그림은 loop를 역방향 화살표로 그리지 않고, 실제 시간 순서로 펼친 bounded sequence입니다.
공개 출처
author-paper | p. 5, proof of sufficiency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Residual을 없애는 조건은 γ에 따라 다르다
발표 대본
Discounted infinite-horizon에서는 Φ가 bounded이면 마지막 γ 거듭제곱 항이 사라집니다. γ=1에서는 논문이 absorbing state s₀를 두고 모든 policy가 probability 1로 결국 s₀에 도달하는 proper transition model을 가정합니다. s₀에 들어간 뒤 추가 reward는 없습니다. 이때 Φ(s)를 Φ(s)−Φ(s₀)로 바꿔도 difference F는 변하지 않으므로 Φ(s₀)=0은 without loss of generality, 즉 일반성을 잃지 않는 정규화입니다. 정규화 전 terminal constant가 0이 아니라는 사실만으로 invariance가 깨지는 것은 아닙니다. Infinite-state에서는 value expectation의 존재 같은 추가 regularity도 필요합니다.
공개 출처
author-paper | pp. 2-3, Sec. 2.1; p. 5, proof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Bellman equation은 transformed Q의 형태를 고정한다
발표 대본
논문은 trajectory sum만으로 끝내지 않고 Bellman equation으로 sufficiency를 보입니다. 원래 optimal Q에서 Φ(s)를 뺀 값을 후보로 두고, R에 γΦ(s′)−Φ(s)를 더해 정리하면 transformed MDP의 Bellman optimality equation이 됩니다. γ가 1인 경우에는 terminal state의 후보 Q가 0이라는 경계도 확인합니다. Bellman equation의 uniqueness로 후보가 실제 transformed optimal Q가 됩니다. 이 순서 때문에 단지 cycle bonus가 없다는 직관보다 더 강한 policy-invariance 결론이 나옵니다.
공개 출처
author-paper | p. 5, proof of sufficiency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같은 state에서는 모든 action에 같은 값을 뺀다
발표 대본
이 표의 핵심은 Φ(s)가 a에 의존하지 않는다는 점입니다. 한 state에서 a1, a2, a3을 비교할 때 각각의 Q에서 정확히 같은 수를 뺍니다. 따라서 동점도 보존되고, optimal action set 전체가 보존됩니다. 논문은 반대 방향도 말합니다. M의 모든 optimal policy는 M′에서도 optimal이고, M′의 모든 optimal policy는 M에서도 optimal입니다. 다만 이 결론은 앞 슬라이드의 discount, boundedness, terminal 가정 안에서의 conclusion입니다.
공개 출처
author-paper | pp. 4-5, Theorem 1 and Corollary 2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‘필요’는 unknown MDP에 대한 보장의 범위다
발표 대본
Theorem 1의 necessity는 쉽게 과장되기 쉽습니다. F가 potential-based가 아니면 모든 MDP에서 반드시 실패한다는 말이 아닙니다. Appendix의 주장은 그런 F에 대해 policy ranking이 달라지는 적절한 proper transition function과 reward function을 구성할 수 있다는 것입니다. 논문도 T와 R에 대한 정보를 더 갖고 있으면 다른 shaping function을 쓸 수 있다고 바로 말합니다. 따라서 이 슬라이드에서는 fixed known MDP와 universal guarantee를 분리해 설명해야 합니다.
공개 출처
author-paper | pp. 4-5, Theorem 1 discussion; pp. 9-10, Appendix A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할인된 loop 보너스도 원래 최적 행동을 뒤집을 수 있다
발표 대본
이것은 논문 측정값이 아닌 새 교육용 discounted MDP입니다. u와 v에서 Goal로 나가면 original reward 1과 shaping 0을 받고 종료합니다. 두 loop edge의 original reward는 0이고 shaping은 각각 +1입니다. Goal의 이후 reward와 shaping은 0입니다. γ=0.9이므로 원래 즉시 goal의 return 1이 loop의 0보다 크지만, transformed loop return은 1+0.9+0.9²+…=10으로 즉시 goal의 1보다 큽니다. 이 전체 F는 potential-based가 아닙니다. Terminal의 zero self-loop shaping은 Φ(Goal)=0을 요구하고, zero goal-exit shaping은 Φ(u)=Φ(v)=0을 요구하므로 loop edge의 F=1과 모순됩니다. Discounted 설정이므로 앞 슬라이드의 γ=1 proper-policy 조건을 만족하는 반례라고 주장하지 않습니다. 필요성 정리의 전체 증명은 Appendix A에 별도로 있습니다.
공개 출처
author-paper | pp. 4-5, Theorem 1; constructed discounted example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Policy invariance와 learning speed는 다른 주장
발표 대본
Corollary와 Remark 1은 potential shaping이 optimal policy뿐 아니라 arbitrary policy value의 차이를 state offset으로 유지한다고 설명합니다. 하지만 그 결과는 Sarsa나 다른 algorithm이 몇 episode 만에 좋은 policy를 찾는지 직접 말하지 않습니다. Exploration, function approximation, optimizer, training duration, chosen potential의 질이 실제 learning curve에 영향을 줍니다. 논문의 experiment도 shaping의 보편적 유용성을 새로 증명하려는 목적보다, potential을 실제로 구성하는 방식을 보이기 위한 simple domain demonstration이라고 설명합니다.
공개 출처
author-paper | p. 5, Remark 1; p. 6, Experiments opening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Exact value와 heuristic은 모두 potential 후보
발표 대본
논문은 Φ를 어떻게 고를지에 domain expert knowledge가 필요하다고 말합니다. Φ가 true optimal value와 같으면 transformed optimal value가 0이 되어 특히 쉬운 value function이 됩니다. 하지만 이를 알고 있다면 원래 문제도 거의 푼 것처럼 보일 수 있습니다. 그래서 논문은 distance-to-goal과 subgoal structure에서 만든 거친 potential도 사용합니다. Φ0에서 절반으로 줄인 0.5Φ0도 true value와 더 멀지만, reported curve에서 learning을 도울 수 있음을 보입니다.
공개 출처
author-paper | pp. 5-7, Corollary 2 and Sec. 4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Distance-to-goal grid world의 실험 조건
발표 대본
첫 실험은 start와 goal이 opposite corner에 있는 shortest-path grid world입니다. Discounting은 없고 step reward는 −1입니다. 네 compass action은 80퍼센트 확률로 intended direction으로 가고 20퍼센트 확률로 random direction으로 갑니다. Grid 밖으로 가려 하면 state는 그대로입니다. 논문은 Sarsa, 0.10-greedy exploration, learning rate 0.02를 사용하고 40 independent run 평균을 제시합니다. 10×10과 50×50 모두 no shaping, Φ0, 0.5Φ0를 비교하므로, 결과를 설명할 때 이 protocol을 빼면 안 됩니다.
공개 출처
author-paper | pp. 6-7, Fig. 1 and footnote 4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거리 heuristic은 potential로 바꿔야 한다
발표 대본
논문은 intended move가 80퍼센트일 때 대부분 state에서 timestep당 약 0.8 Manhattan-distance progress를 만들 것이라고 추정합니다. 그래서 Φ0를 negative Manhattan distance divided by 0.8로 둡니다. Φ0가 exact optimal value라는 것은 아니며, 논문도 crude estimate라고 부릅니다. Figure 1에서는 Φ0와 0.5Φ0 모두 no-shaping보다 steps-to-goal을 낮추는 reported curve를 보입니다. 이 슬라이드는 precise curve value를 재측정해 제시하지 않으므로, source plot을 보편적 정량 benchmark로 바꾸지 않습니다.
공개 출처
author-paper | pp. 6-7, Fig. 1 and Sec. 4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Ordered subgoal은 state progress를 확장한다
발표 대본
두 번째 environment는 5×5 grid에 start와 goal, 그리고 네 subgoal flag가 있습니다. Agent는 1, 2, 3, 4, G의 순서로 방문해야 합니다. 따라서 같은 location이라도 몇 번째 flag까지 얻었는지에 따라 state가 달라집니다. 이 그림은 loop를 역방향으로 되돌려 그리는 것이 아니라, ordered progress state를 시간 순으로 펼친 것입니다. 논문은 이 state expansion 위에서 potential을 정하고, subgoal을 이미 지나갔는지까지 고려합니다.
공개 출처
author-paper | p. 7, Fig. 2a and Sec. 4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Subgoal reward도 potential jump로 구성한다
발표 대본
논문은 subgoal heuristic에서 simple potential Φ0를 만듭니다. n_s를 지금까지 얻은 subgoal 수로 두고, 남은 expected time을 거칠게 추정하는 방식입니다. Nonfinal subgoal을 얻으면 Φ가 jump하고, 그 transition의 shaping reward는 potential difference가 됩니다. 더 refined한 Φ1은 각 state의 remaining time을 estimate합니다. Figure 2에서는 Φ1이 better performance를 보이지만, 이는 reported 5×5 task의 result입니다. 핵심은 subgoal을 지나면 무조건 fixed bonus를 더하는 것이 아니라, 출발 potential과 도착 potential의 차로 계산한다는 점입니다.
공개 출처
author-paper | pp. 7-8, Fig. 2 and Sec. 4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적용 전 확인할 다섯 가지
발표 대본
이 표는 새 application에 논문의 logic을 옮길 때 사용할 수 있는 check입니다. 먼저 environment의 discount factor와 shaping 식의 γ가 같은지 확인합니다. Undiscounted episodic task라면 terminal handling과 properness를 명시합니다. Potential이 action에 따라 다르게 주어지면 같은 state에서 같은 offset을 빼는 proof가 깨질 수 있습니다. 마지막으로 theorem이 보장하지 않는 실제 sample efficiency와 approximation behavior는 반드시 empirical evaluation으로 확인해야 합니다. 이 checklist는 논문 밖의 새 시스템 성능을 보장하는 도구가 아니라, theorem의 주장 범위를 보존하는 장치입니다. 특히 γ=1에서 Φ(s₀)=0은 독립 가정이 아니라 WLOG 정규화이며, 핵심은 모든 policy의 proper absorption과 종료 후 보상 없음입니다.
공개 출처
author-paper | pp. 2-5, assumptions and Theorem 1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결론: 보너스가 바꾸면 안 되는 것은 action ranking이다
발표 대본
마지막으로 다섯 가지를 기억하면 됩니다. Potential-based shaping은 transition의 γΦ(s′)−Φ(s) 형태여야 하며, 이 형태가 trajectory와 Bellman equation에서 state-only offset을 만듭니다. 그래서 transformed MDP에서 최적인 policy가 original MDP에서도 최적입니다. 다만 necessity의 범위는 unknown MDP 전체에 대한 guarantee이고, γ와 terminal 가정은 부속 설명이 아니라 proof의 일부입니다. 마지막으로 experiments는 simple grid worlds에서 useful potential을 만들 수 있음을 보이지만, 모든 algorithm과 task에서 자동 speedup을 약속하지는 않습니다.
공개 출처
author-paper | pp. 4-8, Theorem 1, Corollary 2, and experiments
Policy Invariance Under Reward Transformations, author-hosted ICML 1999 PDF
https://ai.stanford.edu/~ang/papers/shaping-icml99.pdf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Potential-Based Shaping: 목표를 바꾸지 않는 보너스</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Policy Invariance Under Reward Transformations: Theory and Application to Reward Shaping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Andrew Y. Ng, Daishi Harada, and Stuart Russell (1999)</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추가 reward가 학습을 안내하면서도 원래 MDP의 최적 policy를 보존하려면 무엇이 필요한가</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 1, title and abstract; author-record ICML 1999 entry</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진행 보너스는 목표를 바꿀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국소적으로 좋아 보이는 event reward가 반복 가능한 loop를 더 매력적으로 만들 수 있다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원래 과제</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Goal에 도달하는 policy가 원래 reward에서 최선</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추가 보너스</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Goal 쪽으로 움직일 때마다 양의 reward를 더함</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반복 경로</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가까워지는 이동만 반복해 보너스를 누적</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정책 변화</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Goal보다 loop가 transformed reward에서 유리해질 수 있음</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Shaping은 반복 loop를 원래 goal보다 유리하게 만들 수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1-2, Introduction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원래 MDP와 학습용 transformed MDP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상태와 dynamics는 그대로 두고 learner가 받는 transition reward만 R에서 R+F로 바꾼다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391664"/>
                <a:gridCol w="326136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원래 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학습용 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바뀌지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R(s,a,s′)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R(s,a,s′) + F(s,a,s′)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transition에서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상태와 선택지는 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Dynamics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상태의 확률은 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task의 최적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중 최적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argmax가 같은가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F는 같은 transition에 덧붙이는 training reward다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2-3, Secs. 2.1-2.2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보존하려는 것은 reward 값이 아니라 행동 순위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상태에서 가능한 행동 중 어느 것이 최대 Q값을 갖는지가 원래 과제의 policy를 정한다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174240"/>
                <a:gridCol w="21742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고정된 상태 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행동 left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행동 right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Policy 판단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left가 최대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Shaping 후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 다 3만큼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보존 여부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값은 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값은 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행동은 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Q′*=Q*−Φ(s)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state offset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argmax가 유지됨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Policy invariance는 reward 값이 아니라 action ranking의 보존이다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 5, Corollary 2; values are a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Transition마다 potential의 할인된 변화를 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F는 도착 상태만의 보너스가 아니라 출발 potential을 함께 빼는 transition-level signal이다</a:t>
            </a:r>
            <a:endParaRPr lang="en-US" sz="1900" dirty="0"/>
          </a:p>
        </p:txBody>
      </p:sp>
      <p:sp>
        <p:nvSpPr>
          <p:cNvPr id="4" name="mechanism-lane-trac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한 transition</a:t>
            </a:r>
            <a:endParaRPr lang="en-US" sz="1250" dirty="0"/>
          </a:p>
        </p:txBody>
      </p:sp>
      <p:sp>
        <p:nvSpPr>
          <p:cNvPr id="5" name="mechanism-edge-to-action-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to-next-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to-reward-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state"/>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현재 state 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potential Φ(s)</a:t>
            </a:r>
            <a:endParaRPr lang="en-US" sz="1150" dirty="0"/>
          </a:p>
        </p:txBody>
      </p:sp>
      <p:sp>
        <p:nvSpPr>
          <p:cNvPr id="9" name="mechanism-node-action"/>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action 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환경 transition 실행</a:t>
            </a:r>
            <a:endParaRPr lang="en-US" sz="1150" dirty="0"/>
          </a:p>
        </p:txBody>
      </p:sp>
      <p:sp>
        <p:nvSpPr>
          <p:cNvPr id="10" name="mechanism-node-next"/>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다음 state 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potential Φ(s′)</a:t>
            </a:r>
            <a:endParaRPr lang="en-US" sz="1150" dirty="0"/>
          </a:p>
        </p:txBody>
      </p:sp>
      <p:sp>
        <p:nvSpPr>
          <p:cNvPr id="11" name="mechanism-node-shaped"/>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학습 reward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 + γΦ(s′) − Φ(s)</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Potential-based shaping의 정확한 형태는 F(s,a,s′)=γΦ(s′)−Φ(s)다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 4, Theorem 1, Eq. 2</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γ=1에서 closed cycle의 shaping 합은 0</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순수한 potential difference는 출발 state로 돌아오면 누적 보너스를 남기지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304544"/>
                <a:gridCol w="2391664"/>
                <a:gridCol w="3696208"/>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순서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Transition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Shaping term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누적에서 남는 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 → 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Φ(v) − Φ(u)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+Φ(v), −Φ(u)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 →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Φ(w) − Φ(v)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+Φ(w), −Φ(v)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 → 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Φ(u) − Φ(w)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+Φ(u), −Φ(w)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closed cycle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state 항이 상쇄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Closed loop에 양의 보너스가 남으면 순수 potential difference가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 4, Main results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Discounted trajectory에서도 중간 potential은 지워진다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시간을 앞으로 펼치면 각 state의 플러스 항과 다음 transition의 마이너스 항이 같은 γ 거듭제곱으로 만난다</a:t>
            </a:r>
            <a:endParaRPr lang="en-US" sz="1900" dirty="0"/>
          </a:p>
        </p:txBody>
      </p:sp>
      <p:sp>
        <p:nvSpPr>
          <p:cNvPr id="4" name="mechanism-lane-sequenc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trajectory</a:t>
            </a:r>
            <a:endParaRPr lang="en-US" sz="1250" dirty="0"/>
          </a:p>
        </p:txBody>
      </p:sp>
      <p:sp>
        <p:nvSpPr>
          <p:cNvPr id="5" name="mechanism-edge-e0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1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2t-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s0"/>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S₀ = 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−Φ(S₀)</a:t>
            </a:r>
            <a:endParaRPr lang="en-US" sz="1150" dirty="0"/>
          </a:p>
        </p:txBody>
      </p:sp>
      <p:sp>
        <p:nvSpPr>
          <p:cNvPr id="9" name="mechanism-node-s1"/>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S₁</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+γΦ(S₁), −γΦ(S₁)</a:t>
            </a:r>
            <a:endParaRPr lang="en-US" sz="1150" dirty="0"/>
          </a:p>
        </p:txBody>
      </p:sp>
      <p:sp>
        <p:nvSpPr>
          <p:cNvPr id="10" name="mechanism-node-s2"/>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S₂</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+γ²Φ(S₂), −γ²Φ(S₂)</a:t>
            </a:r>
            <a:endParaRPr lang="en-US" sz="1150" dirty="0"/>
          </a:p>
        </p:txBody>
      </p:sp>
      <p:sp>
        <p:nvSpPr>
          <p:cNvPr id="11" name="mechanism-node-tail"/>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남는 tail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+γ^(T+1)Φ(S_(T+1))</a:t>
            </a:r>
            <a:endParaRPr lang="en-US" sz="1150" dirty="0"/>
          </a:p>
        </p:txBody>
      </p:sp>
      <p:sp>
        <p:nvSpPr>
          <p:cNvPr id="12" name="mechanism-axis-line"/>
          <p:cNvSpPr/>
          <p:nvPr/>
        </p:nvSpPr>
        <p:spPr>
          <a:xfrm>
            <a:off x="1676400" y="5080000"/>
            <a:ext cx="9855200" cy="0"/>
          </a:xfrm>
          <a:prstGeom prst="line">
            <a:avLst/>
          </a:prstGeom>
          <a:noFill/>
          <a:ln w="12700">
            <a:solidFill>
              <a:srgbClr val="5E6D69"/>
            </a:solidFill>
            <a:prstDash val="solid"/>
            <a:headEnd type="none"/>
            <a:tailEnd type="none"/>
          </a:ln>
        </p:spPr>
        <p:txBody>
          <a:bodyPr/>
          <a:lstStyle/>
          <a:p>
            <a:endParaRPr lang="ko-KR"/>
          </a:p>
        </p:txBody>
      </p:sp>
      <p:sp>
        <p:nvSpPr>
          <p:cNvPr id="13" name="mechanism-axis-tick-1"/>
          <p:cNvSpPr txBox="1"/>
          <p:nvPr/>
        </p:nvSpPr>
        <p:spPr>
          <a:xfrm>
            <a:off x="24193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a:t>
            </a:r>
            <a:endParaRPr lang="en-US" sz="950" dirty="0"/>
          </a:p>
        </p:txBody>
      </p:sp>
      <p:sp>
        <p:nvSpPr>
          <p:cNvPr id="14" name="mechanism-axis-tick-2"/>
          <p:cNvSpPr txBox="1"/>
          <p:nvPr/>
        </p:nvSpPr>
        <p:spPr>
          <a:xfrm>
            <a:off x="49720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t+1</a:t>
            </a:r>
            <a:endParaRPr lang="en-US" sz="950" dirty="0"/>
          </a:p>
        </p:txBody>
      </p:sp>
      <p:sp>
        <p:nvSpPr>
          <p:cNvPr id="15" name="mechanism-axis-tick-3"/>
          <p:cNvSpPr txBox="1"/>
          <p:nvPr/>
        </p:nvSpPr>
        <p:spPr>
          <a:xfrm>
            <a:off x="75247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t+2</a:t>
            </a:r>
            <a:endParaRPr lang="en-US" sz="950" dirty="0"/>
          </a:p>
        </p:txBody>
      </p:sp>
      <p:sp>
        <p:nvSpPr>
          <p:cNvPr id="16" name="mechanism-axis-tick-4"/>
          <p:cNvSpPr txBox="1"/>
          <p:nvPr/>
        </p:nvSpPr>
        <p:spPr>
          <a:xfrm>
            <a:off x="1007745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later</a:t>
            </a:r>
            <a:endParaRPr lang="en-US" sz="950" dirty="0"/>
          </a:p>
        </p:txBody>
      </p:sp>
      <p:sp>
        <p:nvSpPr>
          <p:cNvPr id="17" name="Shape 1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8" name="Text 1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Σ γ^tF_t는 −Φ(S₀) + γ^(T+1)Φ(S_(T+1))로 정리된다</a:t>
            </a:r>
            <a:endParaRPr lang="en-US" sz="175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 5, proof of sufficiency</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Residual을 없애는 조건은 γ에 따라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수식의 cancellation만 보지 말고 마지막 potential을 통제하는 가정까지 함께 읽어야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043936"/>
                <a:gridCol w="304393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term의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 말할 결론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&lt; γ &lt;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Φ가 bounded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γ^(T+1)Φ(S_(T+1))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discounted return은 −Φ(s)만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γ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absorbing s₀, 모든 policy proper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결국 s₀에 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Φ(s₀)=0으로 WLOG 정규화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유한한 Φ range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boundedness가 자동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정리의 기본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infinite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regularity와 bounded Φ</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기댓값 존재도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 논문은 조건부 일반화만 언급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γ=1은 proper absorption이 핵심이며, terminal constant는 WLOG 정규화한다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2-3, Sec. 2.1; p. 5, proof</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Bellman equation은 transformed Q의 형태를 고정한다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원래 optimal Q에서 Φ(s)를 뺀 후보가 R+F를 쓰는 M′의 Bellman equation을 만족한다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원래 optimal Q</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R과 미래 최대 Q로 Bellman update</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state offset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Q_M*(s,a)에서 Φ(s)를 뺌</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 대입</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γΦ(s′)−Φ(s)를 R에 더함</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같은 Bellman 식</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후보 Q가 M′의 optimal equation을 만족</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결론</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Q_M′*(s,a)=Q_M*(s,a)−Φ(s)</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증명은 shaping return의 직관을 Bellman optimality equation으로 엄밀하게 확인한다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 5, proof of sufficiency</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state에서는 모든 action에 같은 값을 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Φ(s)는 action a가 아니라 출발 state s에만 의존하므로 action ordering을 바꾸지 않는다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717800"/>
                <a:gridCol w="3696208"/>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 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원래 Q_M*(s,a)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Shaped Q_M′*(s,a)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argmax</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a₁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Q_M*(s,a₁)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Q_M*(s,a₁) − Φ(s)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원래와 같은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a₂</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Q_M*(s,a₂)</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Q_M*(s,a₂) − Φ(s)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원래와 같은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a₃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Q_M*(s,a₃)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Q_M*(s,a₃) − Φ(s)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원래와 같은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최적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큰 원래 Q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가장 큰 index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optimal set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Potential-based shaping은 original optimal-policy set을 보존한다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4-5, Theorem 1 and Corollary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‘필요’는 unknown MDP에 대한 보장의 범위다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Non-potential F는 어떤 fixed MDP에서는 우연히 괜찮을 수 있지만 arbitrary proper MDP 전체에는 보장할 수 없다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Fixed known MDP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T와 R을 모르는 universal 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아는가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T와 R의 구조를 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 A, γ 외의 상세를 모른다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Non-potential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task에서 ranking이 우연히 보존될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proper T,R에서는 policy를 바꿀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1의 necessity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설계를 완전히 금지하지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Potential form이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정확한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task-specific analysis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universal policy-invariance 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Potential form의 necessity는 unknown MDP 전체에 대한 보장이다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4-5, Theorem 1 discussion; pp. 9-10, Appendix 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할인된 loop 보너스도 원래 최적 행동을 뒤집을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γ=0.9 예시: 원래 goal 보상은 1, loop 보상은 0이다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원래 선택</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 또는 v → Goal: R=1, F=0</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 → v</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R=0, F=+1</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 → u</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R=0, F=+1</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계속 반복</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R+F return=1/(1−0.9)=10</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원래는 즉시 Goal이 최선이지만, 잘못된 shaping 후에는 loop의 return이 10이다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4-5, Theorem 1; constructed discounted example</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Policy invariance와 learning speed는 다른 주장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Theorem은 objective ranking을 다루고, 실험은 특정 learner와 heuristic 아래의 learning curve를 보여 준다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이론으로 보임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실험 또는 별도 평가가 필요한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최적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M과 M′의 optimal set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가정이 맞는지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Near-optimal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policy에도 value offset identity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training에서 얼마나 가까운지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speed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일반적 속도 정리는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 exploration, learner에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Approximation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neural optimizer를 직접 분석하지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function approximation과 tuning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transformed reward만으로 충분하지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terminal 처리와 implementation 점검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Policy 보존 theorem은 자동 speedup theorem이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 5, Remark 1; p. 6, Experiments opening</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Exact value와 heuristic은 모두 potential 후보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Φ=V_M*는 transformed optimal value를 0으로 만들지만, theorem은 정확한 V_M*를 요구하지 않는다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34848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Potential 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Φ(s)=V_M*(s)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이상적으로 정확한 original optimal value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V_M′*(s)=0이 되는 특별한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거리 heuristic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Goal까지 남은 비용의 거친 estimate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10×10 shortest path에서 Φ₀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0.5Φ₀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정확한 value에서 더 먼 scaled heuristic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그래도 learning guidance가 될 수 있음을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Subgoal heuristic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ordered progress를 potential jump로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5×5 flags task에서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Potential은 exact optimal value일 필요가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5-7, Corollary 2 and Sec.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Distance-to-goal grid world의 실험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결과는 no-discount shortest-path task에서 Sarsa가 받은 shaping을 비교한 historical experiment다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3261360"/>
                <a:gridCol w="2717800"/>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10×10 task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50×50 task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공통 학습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시작과 goal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반대 corner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shortest-path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steps-to-goal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step −1, no discount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task 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dynamics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compass, 80% intended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dynamics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random; 경계 stay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Potential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none, Φ₀, 0.5Φ₀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Sarsa; ε=0.10; α=0.02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집계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 independent runs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 independent runs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1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Reported curve는 stochastic dynamics와 Sarsa protocol 아래의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6-7, Fig. 1 and footnote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거리 heuristic은 potential로 바꿔야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목표까지의 Manhattan distance를 0.8로 보정한 Φ₀를 사용하고, result는 reported steps-to-goal curve로 읽는다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370072"/>
                <a:gridCol w="3043936"/>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 또는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Fig. 1에서의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없는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−MANHATTAN(s,GOAL) / 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 shaping보다 빠른 학습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정확한 V_M*라는 주장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0.5Φ₀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Φ₀의 절반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 학습을 여전히 도움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task에서 같은 개선율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구성의 더 큰 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visual gap이 더 크게 보임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hardware benchmark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Result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reported Sarsa averages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steps-to-goal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RL algorithm의 speedup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거친 distance estimate도 potential form이면 learning guidance가 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6-7, Fig. 1 and Sec.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Ordered subgoal은 state progress를 확장한다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5×5 task에서는 1, 2, 3, 4, G를 정해진 순서로 방문했는지가 state에 포함된다</a:t>
            </a:r>
            <a:endParaRPr lang="en-US" sz="1900" dirty="0"/>
          </a:p>
        </p:txBody>
      </p:sp>
      <p:sp>
        <p:nvSpPr>
          <p:cNvPr id="4" name="mechanism-lane-progress"/>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collected progress</a:t>
            </a:r>
            <a:endParaRPr lang="en-US" sz="1250" dirty="0"/>
          </a:p>
        </p:txBody>
      </p:sp>
      <p:sp>
        <p:nvSpPr>
          <p:cNvPr id="5" name="mechanism-edge-e0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1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2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3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start"/>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start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아직 flag 없음</a:t>
            </a:r>
            <a:endParaRPr lang="en-US" sz="1150" dirty="0"/>
          </a:p>
        </p:txBody>
      </p:sp>
      <p:sp>
        <p:nvSpPr>
          <p:cNvPr id="10" name="mechanism-node-flag1"/>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flag 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순서 1 완료</a:t>
            </a:r>
            <a:endParaRPr lang="en-US" sz="1150" dirty="0"/>
          </a:p>
        </p:txBody>
      </p:sp>
      <p:sp>
        <p:nvSpPr>
          <p:cNvPr id="11" name="mechanism-node-flag2"/>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flag 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순서 2 완료</a:t>
            </a:r>
            <a:endParaRPr lang="en-US" sz="1150" dirty="0"/>
          </a:p>
        </p:txBody>
      </p:sp>
      <p:sp>
        <p:nvSpPr>
          <p:cNvPr id="12" name="mechanism-node-flag34"/>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flag 3·4</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남은 순서 진행</a:t>
            </a:r>
            <a:endParaRPr lang="en-US" sz="1150" dirty="0"/>
          </a:p>
        </p:txBody>
      </p:sp>
      <p:sp>
        <p:nvSpPr>
          <p:cNvPr id="13" name="mechanism-node-goal"/>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final goal</a:t>
            </a:r>
            <a:endParaRPr lang="en-US" sz="1150" dirty="0"/>
          </a:p>
        </p:txBody>
      </p:sp>
      <p:sp>
        <p:nvSpPr>
          <p:cNvPr id="14" name="mechanism-axis-line"/>
          <p:cNvSpPr/>
          <p:nvPr/>
        </p:nvSpPr>
        <p:spPr>
          <a:xfrm>
            <a:off x="1676400" y="5080000"/>
            <a:ext cx="9855200" cy="0"/>
          </a:xfrm>
          <a:prstGeom prst="line">
            <a:avLst/>
          </a:prstGeom>
          <a:noFill/>
          <a:ln w="12700">
            <a:solidFill>
              <a:srgbClr val="5E6D69"/>
            </a:solidFill>
            <a:prstDash val="solid"/>
            <a:headEnd type="none"/>
            <a:tailEnd type="none"/>
          </a:ln>
        </p:spPr>
        <p:txBody>
          <a:bodyPr/>
          <a:lstStyle/>
          <a:p>
            <a:endParaRPr lang="ko-KR"/>
          </a:p>
        </p:txBody>
      </p:sp>
      <p:sp>
        <p:nvSpPr>
          <p:cNvPr id="15" name="mechanism-axis-tick-1"/>
          <p:cNvSpPr txBox="1"/>
          <p:nvPr/>
        </p:nvSpPr>
        <p:spPr>
          <a:xfrm>
            <a:off x="216408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a:t>
            </a:r>
            <a:endParaRPr lang="en-US" sz="950" dirty="0"/>
          </a:p>
        </p:txBody>
      </p:sp>
      <p:sp>
        <p:nvSpPr>
          <p:cNvPr id="16" name="mechanism-axis-tick-2"/>
          <p:cNvSpPr txBox="1"/>
          <p:nvPr/>
        </p:nvSpPr>
        <p:spPr>
          <a:xfrm>
            <a:off x="420624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t+1</a:t>
            </a:r>
            <a:endParaRPr lang="en-US" sz="950" dirty="0"/>
          </a:p>
        </p:txBody>
      </p:sp>
      <p:sp>
        <p:nvSpPr>
          <p:cNvPr id="17" name="mechanism-axis-tick-3"/>
          <p:cNvSpPr txBox="1"/>
          <p:nvPr/>
        </p:nvSpPr>
        <p:spPr>
          <a:xfrm>
            <a:off x="624840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t+2</a:t>
            </a:r>
            <a:endParaRPr lang="en-US" sz="950" dirty="0"/>
          </a:p>
        </p:txBody>
      </p:sp>
      <p:sp>
        <p:nvSpPr>
          <p:cNvPr id="18" name="mechanism-axis-tick-4"/>
          <p:cNvSpPr txBox="1"/>
          <p:nvPr/>
        </p:nvSpPr>
        <p:spPr>
          <a:xfrm>
            <a:off x="829056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t+3</a:t>
            </a:r>
            <a:endParaRPr lang="en-US" sz="950" dirty="0"/>
          </a:p>
        </p:txBody>
      </p:sp>
      <p:sp>
        <p:nvSpPr>
          <p:cNvPr id="19" name="mechanism-axis-tick-5"/>
          <p:cNvSpPr txBox="1"/>
          <p:nvPr/>
        </p:nvSpPr>
        <p:spPr>
          <a:xfrm>
            <a:off x="1033272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later</a:t>
            </a:r>
            <a:endParaRPr lang="en-US" sz="950" dirty="0"/>
          </a:p>
        </p:txBody>
      </p:sp>
      <p:sp>
        <p:nvSpPr>
          <p:cNvPr id="20" name="Shape 1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Subgoal potential은 collected flag를 포함한 expanded state 위에 정의된다</a:t>
            </a:r>
            <a:endParaRPr lang="en-US" sz="17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 7, Fig. 2a and Sec. 4</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Subgoal reward도 potential jump로 구성한다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단순 Φ₀는 nonfinal subgoal을 지나면 jump하고, refined Φ₁는 state별 remaining time estimate를 사용한다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478784"/>
                <a:gridCol w="2935224"/>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Potential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 아이디어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Transition에서 생기는 F</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Fig. 2 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단순 Φ₀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남은 subgoal 수와 예상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nonfinal subgoal 도달 때 potential jump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 shaping보다 빠른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Refined Φ₁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state의 남은 time을 더 세밀하게 estimate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γΦ(s′)−Φ(s) 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Φ₀보다 더 좋은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5×5 ordered flags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 ranking 보존 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Sarsa averages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subgoal bonus를 임의로 누적하지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departure term도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specific task 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Subgoal bonus도 potential difference로 만들면 original goal을 대체하지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7-8, Fig. 2 and Sec.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적용 전 확인할 다섯 가지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checklist는 논문의 theorem boundary를 새 task에 옮길 때 빠뜨리기 쉬운 조건을 드러낸다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5000752"/>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확인할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놓치면 생기는 위험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Discount는?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F에 같은 γ를 사용했는가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discounted guarantee가 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Terminal은?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γ=1: proper absorption, terminal 상수 정규화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종료 tail 통제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Potential은?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Φ가 state만의 bounded function인가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preference 주입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objective는?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R과 R+F의 optimal policy를 구분했는가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보너스 loop를 task로 오인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효율은?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learner와 exploration에서 별도 evaluate했는가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invariance를 speedup으로 과장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Potential form 검증과 empirical learning evaluation은 서로 대체할 수 없는 두 단계다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2-5, assumptions and Theorem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결론: 보너스가 바꾸면 안 되는 것은 action ranking이다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Potential-based shaping은 learning signal을 추가하면서도 original MDP의 optimal-policy set을 유지하는 정리된 방법이다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F(s,a,s′)=γΦ(s′)−Φ(s)는 discounted return에서 중간 potential을 상쇄시킨다.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각 state의 Q에는 같은 −Φ(s)가 더해져 argmax가 보존된다.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필요충분은 unknown MDP 전체의 guarantee이지 fixed MDP 설계 금지가 아니다.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γ=1은 absorbing·proper, γ&lt;1은 bounded Φ가 필요하다.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Grid result는 Sarsa 조건의 evidence이며 speedup theorem은 아니다.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Bonus는 discounted potential difference로 설계해야 original action ranking을 지킨다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author-paper pp. 4-8, Theorem 1, Corollary 2, and experiments</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Potential-Based Shaping: 목표를 바꾸지 않는 보너스</dc:title>
  <dc:subject>Policy Invariance Under Reward Transformations: Theory and Application to Reward Shaping</dc:subject>
  <dc:creator>Research Seminars</dc:creator>
  <cp:lastModifiedBy>Research Seminars</cp:lastModifiedBy>
  <cp:revision>1</cp:revision>
  <dcterms:created xsi:type="dcterms:W3CDTF">2026-09-12T04:50:50Z</dcterms:created>
  <dcterms:modified xsi:type="dcterms:W3CDTF">2026-09-12T04:50:50Z</dcterms:modified>
</cp:coreProperties>
</file>
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D09AF82-DBFD-4970-AE33-7C8630D56C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DMRO: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 변화에 적응하는 작업 오프로딩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의존 작업을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local, edge, cloud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어디에서 실행할지 결정하는 문제를 어떻게 학습 문제로 바꾸는지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두 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안쪽에서는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 환경의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배치 후보를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바깥에서는 서로 다른 환경의 경험을 이용해 새 환경에서 쓸 초기 파라미터를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위치의 비용 모델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상태와 행동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시뮬레이션 결과의 조건과 한계를 차례로 살펴봅니다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title page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1F89FF-E34B-4718-9B5F-EDAFF2E6EBE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실행 위치를 작업마다 결정해야 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server,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server,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IoT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구성된 환경을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전송이 없지만 계산 능력이 작을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장치에 가깝지만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계산 능력이 작을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계산이 빠르더라도 전송이 병목이 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단순히 가장 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고르는 문제가 아니라 계산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통신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에너지의 결합을 비교하는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1–4, Sections 1 and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F68776F-92A0-482B-9E30-7B2D5397EBB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순차 의존 작업으로 표현된다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v1, data flow e1,2, task 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이어지는 순차 구조로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이름은 구조를 읽기 쉽게 줄인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점은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실행비용이 자기 계산량만으로 결정되지 않는다는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어디에서 실행됐는지에 따라 중간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전송해야 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발표에서는 이를 의존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임의 모양의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해결했다고 확대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4, eq.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D5C65A-C712-408B-A3C2-3B7980CC54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정확히 한 위치를 선택한다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배치를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one-hot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하나로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Inner 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0, 1, 2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대응합니다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서로 다른 위치를 선택할 수 있다는 의미입니다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계산을 여러 서버에 비율로 나누는 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4–5, eqs. 2, 11–12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7A98549-25AD-40B3-9ADE-323EF09AC8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위치가 전송 지연을 결정한다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읽는 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인접한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위치에서 실행되면 중간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전송 지연은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위치가 다르면 두 위치를 연결하는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때문에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상태에는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선행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실행 위치가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전송 중의 에너지는 단순화를 위해 무시하지만 전송 지연은 목적 함수에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4, eq. 4 and Section 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3F3BBC-DDC2-4952-B57B-277846798C2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 함수는 지연과 에너지를 한 비용으로 묶는다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계산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전송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(6)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(8)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에너지를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목적 함수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Q(x,b)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모델은 의사결정 자체의 지연이 짧다고 가정해 그 시간을 무시합니다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논문의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controller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측정한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4, eqs. 3–11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0CC1BE7-AE03-4D19-8427-ACBCC11DAE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모델이 포함하는 것과 제외하는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경계를 분명히 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계산과 전송의 실행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위치별 계산 에너지는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 과정의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결정을 계산하는 시간은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실제 장치의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소모나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controller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최적화했다고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이후의 시뮬레이션도 이 목적 함수에 대한 비교입니다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4, Sections 3.2–3.4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48B85DB-FF28-4A00-BF45-18B1B0FE3E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빠른데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이길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개념을 설명하기 위해 만든 예시이며 논문의 실험값이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계산량을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 million cycles, local·edge·cloud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100, 500, 1000 million cycles per second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전송은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전송은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초라고 가정했습니다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계산만 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초로 가장 빠르지만 총 지연은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선택됩니다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논문 모델에서는 앞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위치와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함께 비용을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4, eqs. 3–4; invented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7E3F119-D857-47C7-B589-4A4BE81BEC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결정을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a_i−1,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들어오는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flow,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task·flow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정보가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세 위치입니다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objective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넘어오는 전송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weighted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설명은 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음의 최소 비용을 주고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음의 최대값을 준다고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정의가 일반적인 음의 실제 비용보다 특이하므로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원문 표현을 그대로 경계 지어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5, eqs. 12–17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E081045-C345-40F2-9157-91ABCDFE900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Inner loop: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배치가 다음 결정으로 전달된다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넣어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가치를 얻고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선택한 위치로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(17)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지금 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첫 항목으로 이동합니다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위치를 알고 전송비용을 계산할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 안에서 일어나는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5, eqs. 12–17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9428964-ADC8-45D8-ADE8-505B28E8BA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배치가 이어지는 방식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논문의 결과가 아닌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앞 슬라이드 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총 지연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초가 가장 작아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계산량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500 million cycles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local·edge·cloud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지연이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5, 1, 0.5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초라고 두겠습니다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초가 추가됩니다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5.2, edge 1.0, cloud 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action sequence [edge, cloud]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만들어지는 과정만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parallel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학습은 다음 슬라이드에서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4–5, eqs. 4 and 13–17; invented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53177F-B00A-460C-A2DA-B56B459E475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서로 다른 전체 배치 후보를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S_i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복제합니다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epsilon-greedy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내고 자기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set A_j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누적해 완전한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placement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Workflow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끝에서 전체 목적 함수가 가장 작은 후보를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parallel 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서로 다른 물리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실행된다는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증거는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그림은 병렬 후보 생성 구조만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5–7, Fig. 3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7D33348-D983-433F-BEE6-AD4DA9D6C9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Algorithm 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생성과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수행한다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정확한 제어 흐름에 맞춰 압축했습니다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 x, environment E, meta-parameter 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출력은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decision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모아 후보를 완성합니다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Decision phase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도달한 뒤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작은 후보를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 phase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state, action, reward, next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다섯 번 추가한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뽑아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분기 표기는 다소 혼란스러우므로 세부 줄 번호를 단순한 표준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절차로 바꿔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7,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07AC8B-A844-4331-95C0-90D27C608A5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Replay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frozen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학습 신호를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연속해서 생성된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상관을 줄이기 위해 과거 경험을 무작위로 다시 뽑습니다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Frozen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구조가 같지만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바뀌지 않고 일정 횟수 뒤에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(18)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최신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계산하고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next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frozen parameter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두 장치는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안정화 장치입니다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Outer meta-initialization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5–7, eq. 18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dqn-paper | Methods, experience replay and target network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Human-level control through deep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F39C51-B532-4ADF-9239-345C49E8CD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(18):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추정과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섞는다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(18)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표준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학습률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즉시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 factor mu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next-state maximum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rate, mu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뜻하는 다른 문맥과도 겹쳐 사용되므로 발표에서는 학습률과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구분해서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업데이트이고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meta-parameter 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여러 환경 학습 뒤에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6, eq. 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1A95E5-8602-4CD0-AC26-3B561D0277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비교 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scheme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parallel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하나만 둔 단순화 버전으로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방식 모두 같은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placement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다루고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meta-initialization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효과로만 분해해 말할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Parallel candidate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함께 달라지기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일반 배경 출처로만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8, Section 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dqn-paper | Methods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Human-level control through deep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https://www.nature.com/articles/nature14236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650B8F-8217-45FD-87C0-7AD21B4C18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환경마다 처음부터 학습하는 문제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도입한 이유는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환경이 변할 때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낮고 다시 학습하는 데 시간이 든다는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 변화에는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local·edge·cloud computing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 bandwidth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변화가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Outer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여러 환경의 경험으로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initialization 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환경에서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local, edge, cloud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초기화된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1–2 and pp. 5–7, Sections 1 and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1F7CB9-D6CF-474C-B4F1-5323E9DE91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Algorithm 2: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환경을 바꾸며 초기값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제어 흐름을 원문 순서대로 압축했습니다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무작위로 선택해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다섯 번 추가하면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무작위로 선택하고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꺼내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parameter theta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meta-parameter 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MAML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영감으로 인용하지만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명시적인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outer meta-gradient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이를 정식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MAML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구현이라고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6–7, Section 4.2 and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maml-paper | Sections 2–3, cited background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Model-Agnostic Meta-Learning for Fast Adaptation of Deep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https://proceedings.mlr.press/v70/finn17a.html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D7023F-D441-40AA-989D-C572778CED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시간축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 간 초기화와 환경 안의 적응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위쪽은 환경 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번갈아 경험해 초기값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아래쪽은 새 환경 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초기화된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placement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초기값으로 사용된다는 관계입니다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outer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환경 변화를 판단한다고 서술하지만 자동 감지기의 구체적인 구현이나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동일한 초기값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전달하는 경로이며 배치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직접 연결되지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5–7, Fig. 2 and Algorithms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0850731-C36F-4401-89C9-90DE5B422C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표준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MAML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MAML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기반 배경으로 인용합니다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MAML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adaptation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통해 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환경을 무작위로 바꾸고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경험으로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갱신한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MAML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목적식이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공통점은 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목적이고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절차는 동일하다고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6–7, Section 4.2 and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maml-paper | Sections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Model-Agnostic Meta-Learning for Fast Adaptation of Deep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https://proceedings.mlr.press/v70/finn17a.html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BE32C86-8BAA-4959-978B-8A976F12E1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공통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명의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IoT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각각 다섯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MB,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MB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계산량은 원문에서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connected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hardware, wall-clock runtime,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 횟수와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보고되지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7, Section 5.1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54E1C6-AFD5-4819-BC2F-34542025F4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기준 환경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수치를 위치와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맞춰 다시 배열했습니다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Local, edge, cloud computing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30, 70, 150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IoT–edge 800 MB/s, edge–cloud 200 MB/s, IoT–cloud 10 MB/s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Energy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0.3, 0.15, 0.1 J/MB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 조합이 계산 속도와 통신 속도의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topology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server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조건으로 일반화된 결과는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7,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BD12E92-9F18-4D01-B3F5-85DBEB7839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수렴 실험이 알려 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후속 실험에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커질수록 변동성이 작아지는 경향을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frozen 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복사하기 때문에 그 주기마다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fluctuation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보인다고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보여 주지만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7–8, Figs. 4–5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ACC6292-19A0-4396-9485-C4B44E67C55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다섯 배치 방식의 목적 함수 값을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consumption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 function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고려합니다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표시된 시뮬레이션에서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다섯 방식 중 가장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보였고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placement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좋은 경향이라고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percent improvement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오차 막대는 제시하지 않으므로 그림에서 수치를 임의로 읽어 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8, Section 5.3 and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B0D47C-B5B3-4D89-9531-C5A51BF976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Fast-learning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환경을 다르게 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meta-training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구체화합니다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범위 안에서 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고정값입니다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170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150 MHz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IoT–cloud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 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MB/s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10 MB/s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 분리를 이해해야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portability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주장을 평가할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p. 8,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0CA197-1E64-41D7-9954-6FE7C1BD15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Fig.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8: learned initialization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조건부 이점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시작한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initialized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좋고 빠르게 수렴한다고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비교에서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meta-parameter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만든다고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 training step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정도는 크게 변하지 않아도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개선됐다고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wall-clock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 실험의 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formal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8–9, Figs. 7–8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01E73D-7964-4A6A-8460-4EDCA0C5191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결과를 안전하게 읽는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결론에서 가장 중요한 검증 경계입니다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낮은 비용은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관찰됐습니다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Meta initialization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빠른 적응도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train/test environment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설계에서 보였습니다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Parallel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후보 생성 구조이며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physical cluster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Decision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측정하지 않고 짧다고 가정했습니다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쉽게 확장할 수 있다고 말하지만 실제 구현과 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8–9, Sections 5–6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B8B1598-8A47-44FC-92CF-7BA67719F3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DMRO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흐름으로 다시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논문을 다섯 단계로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workflow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의존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local, edge, cloud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하나를 고르고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·energy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비용이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inner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 placement 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후보를 만들고 비용이 작은 후보를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넷째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outer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경험으로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initialization psi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placement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baseline,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구조와 근거의 범위를 함께 기억하면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직접 고른다는 오해를 피할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dmro-paper | pp. 3–9, Sections 3–6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DMRO arXiv record and version 1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https://arxiv.org/abs/2008.09930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D19532A-6CE3-480B-BD14-04B87BEF39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DMRO: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변화에 적응하는 작업 오프로딩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DMRO: A Deep Meta Reinforcement Learning-based Task Offloading Framework for Edge-Cloud Computing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Guanjin Qu and Huaming Wu (2020)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Local·edge·cloud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배치와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Q-learning, meta-initialization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두 학습 시간축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title page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실행 위치를 작업마다 결정해야 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391356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비용과 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없이 바로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능력과 에너지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장치와 가깝고 대역폭이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계산 자원이 작을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큰 계산 자원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먼 통신 경로와 낮은 대역폭 가능성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빠른 서버가 항상 가장 작은 전체 비용을 만드는 것은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1–4, Sections 1 and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workflow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순차 의존 작업으로 표현된다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출력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입력으로 이어진다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mechanism-lane-workflow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의존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workflow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mechanism-edge-a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mechanism-edge-a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mechanism-edge-a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mechanism-edge-a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mechanism-node-v1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v1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작업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mechanism-node-e12"/>
          <p:cNvSpPr/>
          <p:nvPr/>
        </p:nvSpPr>
        <p:spPr>
          <a:xfrm>
            <a:off x="3782160" y="354960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e1,2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mechanism-node-e12-queue-1"/>
          <p:cNvSpPr/>
          <p:nvPr/>
        </p:nvSpPr>
        <p:spPr>
          <a:xfrm>
            <a:off x="3782160" y="38037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v1 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mechanism-node-v2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v2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둘째 작업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mechanism-node-e23"/>
          <p:cNvSpPr/>
          <p:nvPr/>
        </p:nvSpPr>
        <p:spPr>
          <a:xfrm>
            <a:off x="7866360" y="354960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e2,3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mechanism-node-e23-queue-1"/>
          <p:cNvSpPr/>
          <p:nvPr/>
        </p:nvSpPr>
        <p:spPr>
          <a:xfrm>
            <a:off x="7866360" y="38037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v2 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mechanism-node-v3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v3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셋째 작업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일반적인 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식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(1)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순차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workflow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모델 대상이다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4, eq.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정확히 한 위치를 선택한다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offload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세 가지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discrete placement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2500200"/>
                <a:gridCol w="23914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a_i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배치 벡터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 0,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IoT device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 1,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 0, 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 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여러 위치에 나누어 실행하는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partition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4–5, eqs. 2, 11–12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선행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위치가 전송 지연을 결정한다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선행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지연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size ÷ IoT–edge 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size ÷ edge–cloud 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size ÷ IoT–cloud 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최선은 선행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어디에 있었는지에 따라 달라질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4, eq. 4 and Section 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 함수는 지연과 에너지를 한 비용으로 묶는다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 지연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work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 위치의 계산 능력으로 나눈다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 지연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위치가 바뀌면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size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bandwidth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나눈다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크기와 위치별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계수를 곱한다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Workflow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지연에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 ×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배치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세 위치 중 하나를 고르도록 최소화한다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상대적 중요도를 조절한다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4, eqs. 3–11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 모델이 포함하는 것과 제외하는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발표에서의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지연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computing capacity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클수록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지연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위치가 다르면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 bandwidth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작으면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계수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alpha·beta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서버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단순화를 위해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장치 비용 전체는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지연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짧다고 가정하여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최적이라는 표현은 이 논문이 정의한 비용과 가정 안에서만 성립한다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4, Sections 3.2–3.4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cloud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빠른데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이길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결과가 아닌 단일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예시이며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제외한다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696120"/>
                <a:gridCol w="250020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지연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전송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 ÷ 100 = 10.0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 ÷ 500 = 2.0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 ÷ 1000 = 1.0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계산 속도와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이동 비용을 함께 봐야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placement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정해진다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4, eqs. 3–4; invented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결정을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RL transition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S_i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action, incoming flow,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현재와 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앞선 배치와 남은 일을 함께 본다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a_i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local, 1 edge, 2 cloud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위치를 고른다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cost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지연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전송 지연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delta × 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비용으로 비교한다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action: −min F;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−max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고유의 두 수준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Next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이전 위치가 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의존 전송비용을 다음 결정에 전달한다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Meta-learning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고르는 것이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Q-network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학습한다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5, eqs. 12–17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loop: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배치가 다음 결정으로 전달된다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mechanism-lane-inner"/>
          <p:cNvSpPr/>
          <p:nvPr/>
        </p:nvSpPr>
        <p:spPr>
          <a:xfrm>
            <a:off x="660240" y="1803240"/>
            <a:ext cx="863280" cy="35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환경 안의 결정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mechanism-edge-i1-segment-1"/>
          <p:cNvSpPr/>
          <p:nvPr/>
        </p:nvSpPr>
        <p:spPr>
          <a:xfrm>
            <a:off x="329940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mechanism-edge-i2-segment-1"/>
          <p:cNvSpPr/>
          <p:nvPr/>
        </p:nvSpPr>
        <p:spPr>
          <a:xfrm>
            <a:off x="5341320" y="356868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mechanism-edge-i3-segment-1"/>
          <p:cNvSpPr/>
          <p:nvPr/>
        </p:nvSpPr>
        <p:spPr>
          <a:xfrm>
            <a:off x="7383600" y="356868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mechanism-edge-i4-segment-1"/>
          <p:cNvSpPr/>
          <p:nvPr/>
        </p:nvSpPr>
        <p:spPr>
          <a:xfrm>
            <a:off x="942588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mechanism-node-state"/>
          <p:cNvSpPr/>
          <p:nvPr/>
        </p:nvSpPr>
        <p:spPr>
          <a:xfrm>
            <a:off x="173988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S_i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위치와 남은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workflow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mechanism-node-qnet"/>
          <p:cNvSpPr/>
          <p:nvPr/>
        </p:nvSpPr>
        <p:spPr>
          <a:xfrm>
            <a:off x="378216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Q-network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value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echanism-node-action"/>
          <p:cNvSpPr/>
          <p:nvPr/>
        </p:nvSpPr>
        <p:spPr>
          <a:xfrm>
            <a:off x="5824080" y="315612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a_i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mechanism-node-action-queue-1"/>
          <p:cNvSpPr/>
          <p:nvPr/>
        </p:nvSpPr>
        <p:spPr>
          <a:xfrm>
            <a:off x="5824080" y="34099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0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mechanism-node-action-queue-2"/>
          <p:cNvSpPr/>
          <p:nvPr/>
        </p:nvSpPr>
        <p:spPr>
          <a:xfrm>
            <a:off x="5824080" y="36003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mechanism-node-action-queue-3"/>
          <p:cNvSpPr/>
          <p:nvPr/>
        </p:nvSpPr>
        <p:spPr>
          <a:xfrm>
            <a:off x="5824080" y="37908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Cloud 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mechanism-node-cost"/>
          <p:cNvSpPr/>
          <p:nvPr/>
        </p:nvSpPr>
        <p:spPr>
          <a:xfrm>
            <a:off x="786636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평가하고 경험 저장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mechanism-node-next"/>
          <p:cNvSpPr/>
          <p:nvPr/>
        </p:nvSpPr>
        <p:spPr>
          <a:xfrm>
            <a:off x="990864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S_i+1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a_i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이전 위치가 됨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순서대로 처리하므로 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일부가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5, eqs. 12–17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배치가 이어지는 방식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결과가 아닌 계산 예시이며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단계에서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608920"/>
                <a:gridCol w="38048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이전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비교한 총 지연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선택과 다음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 위치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10.0, Edge 2.1, Cloud 3.0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→ 이전 위치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위치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5.2, Edge 1.0, Cloud 0.9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→ 이전 위치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비교에는 첫 번째 선택에서 생긴 위치 정보가 실제로 들어간다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4–5, eqs. 4 and 13–17; invented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Q-network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서로 다른 전체 배치 후보를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parallel unit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물리적으로 분리된 서버라는 뜻이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mechanism-lane-lane1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mechanism-lane-lane2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mechanism-lane-lane3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mechanism-edge-p1-segment-1"/>
          <p:cNvSpPr/>
          <p:nvPr/>
        </p:nvSpPr>
        <p:spPr>
          <a:xfrm>
            <a:off x="3809880" y="3568680"/>
            <a:ext cx="1206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mechanism-edge-p1-segment-2"/>
          <p:cNvSpPr/>
          <p:nvPr/>
        </p:nvSpPr>
        <p:spPr>
          <a:xfrm flipV="1">
            <a:off x="3930480" y="273024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mechanism-edge-p1-segment-3"/>
          <p:cNvSpPr/>
          <p:nvPr/>
        </p:nvSpPr>
        <p:spPr>
          <a:xfrm>
            <a:off x="3930480" y="2730240"/>
            <a:ext cx="3618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mechanism-edge-p2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mechanism-edge-p3-segment-1"/>
          <p:cNvSpPr/>
          <p:nvPr/>
        </p:nvSpPr>
        <p:spPr>
          <a:xfrm>
            <a:off x="3809880" y="397476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mechanism-edge-p3-segment-2"/>
          <p:cNvSpPr/>
          <p:nvPr/>
        </p:nvSpPr>
        <p:spPr>
          <a:xfrm>
            <a:off x="405108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mechanism-edge-p3-segment-3"/>
          <p:cNvSpPr/>
          <p:nvPr/>
        </p:nvSpPr>
        <p:spPr>
          <a:xfrm>
            <a:off x="4051080" y="481320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mechanism-edge-p4-segment-1"/>
          <p:cNvSpPr/>
          <p:nvPr/>
        </p:nvSpPr>
        <p:spPr>
          <a:xfrm>
            <a:off x="6362640" y="27302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mechanism-edge-p5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mechanism-edge-p6-segment-1"/>
          <p:cNvSpPr/>
          <p:nvPr/>
        </p:nvSpPr>
        <p:spPr>
          <a:xfrm>
            <a:off x="636264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mechanism-edge-p7-segment-1"/>
          <p:cNvSpPr/>
          <p:nvPr/>
        </p:nvSpPr>
        <p:spPr>
          <a:xfrm>
            <a:off x="8915400" y="2730240"/>
            <a:ext cx="1206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mechanism-edge-p7-segment-2"/>
          <p:cNvSpPr/>
          <p:nvPr/>
        </p:nvSpPr>
        <p:spPr>
          <a:xfrm>
            <a:off x="9036000" y="273024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mechanism-edge-p7-segment-3"/>
          <p:cNvSpPr/>
          <p:nvPr/>
        </p:nvSpPr>
        <p:spPr>
          <a:xfrm>
            <a:off x="9036000" y="3568680"/>
            <a:ext cx="3618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mechanism-edge-p8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mechanism-edge-p9-segment-1"/>
          <p:cNvSpPr/>
          <p:nvPr/>
        </p:nvSpPr>
        <p:spPr>
          <a:xfrm>
            <a:off x="8915400" y="481320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mechanism-edge-p9-segment-2"/>
          <p:cNvSpPr/>
          <p:nvPr/>
        </p:nvSpPr>
        <p:spPr>
          <a:xfrm flipV="1">
            <a:off x="915660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mechanism-edge-p9-segment-3"/>
          <p:cNvSpPr/>
          <p:nvPr/>
        </p:nvSpPr>
        <p:spPr>
          <a:xfrm>
            <a:off x="9156600" y="397476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mechanism-node-input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Workflow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S_i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복제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mechanism-node-net1"/>
          <p:cNvSpPr/>
          <p:nvPr/>
        </p:nvSpPr>
        <p:spPr>
          <a:xfrm>
            <a:off x="4292640" y="24004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Q-unit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epsilon-greedy 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mechanism-node-net2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Q-unit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epsilon-greedy 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mechanism-node-nets"/>
          <p:cNvSpPr/>
          <p:nvPr/>
        </p:nvSpPr>
        <p:spPr>
          <a:xfrm>
            <a:off x="4292640" y="4483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Q-unit 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epsilon-greedy 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mechanism-node-cand1"/>
          <p:cNvSpPr/>
          <p:nvPr/>
        </p:nvSpPr>
        <p:spPr>
          <a:xfrm>
            <a:off x="6845400" y="24004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A1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a1, a2, …, aN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mechanism-node-cand2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A2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a1, a2, …, aN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mechanism-node-cands"/>
          <p:cNvSpPr/>
          <p:nvPr/>
        </p:nvSpPr>
        <p:spPr>
          <a:xfrm>
            <a:off x="6845400" y="4483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As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a1, a2, …, aN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mechanism-node-selec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최소 비용 후보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Q(x,b)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작은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Text 3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병렬성의 역할은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workflow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대해 여러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placement sequence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탐색하는 것이다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3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3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5–7, Fig. 3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3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생성과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Q-learning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수행한다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줄을 학습 흐름 중심으로 압축한 구조다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psi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초기화하고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복제하고 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epsilon-greedy 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완성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누적해 전체 배치를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Workflow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비용이 가장 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A_j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출력한다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경험을 저장하고 표본화해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후보 선택과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학습은 관련되지만 같은 연산 단계는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7,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memory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frozen 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학습 신호를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"/>
          <p:cNvSpPr/>
          <p:nvPr/>
        </p:nvSpPr>
        <p:spPr>
          <a:xfrm>
            <a:off x="6095880" y="2323800"/>
            <a:ext cx="360" cy="190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Shape 2"/>
          <p:cNvSpPr/>
          <p:nvPr/>
        </p:nvSpPr>
        <p:spPr>
          <a:xfrm>
            <a:off x="3301920" y="251460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Shape 3"/>
          <p:cNvSpPr/>
          <p:nvPr/>
        </p:nvSpPr>
        <p:spPr>
          <a:xfrm>
            <a:off x="330192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Shape 4"/>
          <p:cNvSpPr/>
          <p:nvPr/>
        </p:nvSpPr>
        <p:spPr>
          <a:xfrm>
            <a:off x="888984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330192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Shape 6"/>
          <p:cNvSpPr/>
          <p:nvPr/>
        </p:nvSpPr>
        <p:spPr>
          <a:xfrm>
            <a:off x="3301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Shape 7"/>
          <p:cNvSpPr/>
          <p:nvPr/>
        </p:nvSpPr>
        <p:spPr>
          <a:xfrm>
            <a:off x="888984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Shape 8"/>
          <p:cNvSpPr/>
          <p:nvPr/>
        </p:nvSpPr>
        <p:spPr>
          <a:xfrm>
            <a:off x="6730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Shape 9"/>
          <p:cNvSpPr/>
          <p:nvPr/>
        </p:nvSpPr>
        <p:spPr>
          <a:xfrm>
            <a:off x="546084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Shape 10"/>
          <p:cNvSpPr/>
          <p:nvPr/>
        </p:nvSpPr>
        <p:spPr>
          <a:xfrm>
            <a:off x="673092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Shape 11"/>
          <p:cNvSpPr/>
          <p:nvPr/>
        </p:nvSpPr>
        <p:spPr>
          <a:xfrm>
            <a:off x="6095880" y="480060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12"/>
          <p:cNvSpPr/>
          <p:nvPr/>
        </p:nvSpPr>
        <p:spPr>
          <a:xfrm>
            <a:off x="4191120" y="17272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저장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3"/>
          <p:cNvSpPr/>
          <p:nvPr/>
        </p:nvSpPr>
        <p:spPr>
          <a:xfrm>
            <a:off x="4191120" y="200664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S_i, a_i, reward, S_i+1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4"/>
          <p:cNvSpPr/>
          <p:nvPr/>
        </p:nvSpPr>
        <p:spPr>
          <a:xfrm>
            <a:off x="127008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network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5"/>
          <p:cNvSpPr/>
          <p:nvPr/>
        </p:nvSpPr>
        <p:spPr>
          <a:xfrm>
            <a:off x="127008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Q(S_i,a_i)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6"/>
          <p:cNvSpPr/>
          <p:nvPr/>
        </p:nvSpPr>
        <p:spPr>
          <a:xfrm>
            <a:off x="685800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Frozen network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7"/>
          <p:cNvSpPr/>
          <p:nvPr/>
        </p:nvSpPr>
        <p:spPr>
          <a:xfrm>
            <a:off x="685800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8"/>
          <p:cNvSpPr/>
          <p:nvPr/>
        </p:nvSpPr>
        <p:spPr>
          <a:xfrm>
            <a:off x="4191120" y="419112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Q-learning target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9"/>
          <p:cNvSpPr/>
          <p:nvPr/>
        </p:nvSpPr>
        <p:spPr>
          <a:xfrm>
            <a:off x="4191120" y="447048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즉시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할인된 미래값 결합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0"/>
          <p:cNvSpPr/>
          <p:nvPr/>
        </p:nvSpPr>
        <p:spPr>
          <a:xfrm>
            <a:off x="4191120" y="52322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update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1"/>
          <p:cNvSpPr/>
          <p:nvPr/>
        </p:nvSpPr>
        <p:spPr>
          <a:xfrm>
            <a:off x="4191120" y="55119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weight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5–7, eq. 18 and Algorithm 1; dqn-paper Methods, experience replay and target network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(18):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추정과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bootstrap 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섞는다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565272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계산한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Q(S_i,a_i)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즉시 신호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받은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Frozen 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next-state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반영하는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할인율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비중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업데이트는 한 환경의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value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학습하며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psi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만드는 식은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6, eq.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baseline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DMRO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391356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baseline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DMRO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Parallel network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개로 단순화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parallel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환경 시작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meta-parameter psi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Local·edge·cloud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동일한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Inner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frozen 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쓰는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조건의 제안법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DMRO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차별점은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공간이 아니라 병렬 후보와 환경 간 초기화 학습이다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8, Section 5.3; dqn-paper Methods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환경마다 처음부터 학습하는 문제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변화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능력과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bandwidth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조건이 달라진다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비용 관계 변화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라도 좋은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placement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달라질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기존 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환경에 맞춘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새 환경에 맞지 않을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환경에서 빠르게 학습할 시작점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psi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DMRO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meta-learning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출력은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placement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초기값이다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1–2 and pp. 5–7, Sections 1 and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2: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환경을 바꾸며 초기값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psi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 algorithm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출력은 최종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시작하고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표본화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환경을 무작위로 골라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경험 저장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환경에서 얻은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재표본화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환경을 다시 고르고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replay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훈련된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 parameter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psi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내보낸다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Outer 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특정 환경의 최적점보다 여러 환경에 쓸 시작점을 목표로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6–7, Section 4.2 and Algorithm 2; maml-paper Sections 2–3, cited background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시간축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 간 초기화와 환경 안의 적응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mechanism-lane-outer"/>
          <p:cNvSpPr/>
          <p:nvPr/>
        </p:nvSpPr>
        <p:spPr>
          <a:xfrm>
            <a:off x="660240" y="1803240"/>
            <a:ext cx="863280" cy="17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간 학습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mechanism-lane-inner"/>
          <p:cNvSpPr/>
          <p:nvPr/>
        </p:nvSpPr>
        <p:spPr>
          <a:xfrm>
            <a:off x="660240" y="3568680"/>
            <a:ext cx="863280" cy="17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환경 학습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mechanism-edge-t1-segment-1"/>
          <p:cNvSpPr/>
          <p:nvPr/>
        </p:nvSpPr>
        <p:spPr>
          <a:xfrm>
            <a:off x="3299400" y="268596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mechanism-edge-t2-segment-1"/>
          <p:cNvSpPr/>
          <p:nvPr/>
        </p:nvSpPr>
        <p:spPr>
          <a:xfrm>
            <a:off x="5341320" y="268596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mechanism-edge-t3-segment-1"/>
          <p:cNvSpPr/>
          <p:nvPr/>
        </p:nvSpPr>
        <p:spPr>
          <a:xfrm>
            <a:off x="3299400" y="445104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mechanism-edge-t3-segment-2"/>
          <p:cNvSpPr/>
          <p:nvPr/>
        </p:nvSpPr>
        <p:spPr>
          <a:xfrm>
            <a:off x="3620880" y="4451040"/>
            <a:ext cx="360" cy="2034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mechanism-edge-t3-segment-3"/>
          <p:cNvSpPr/>
          <p:nvPr/>
        </p:nvSpPr>
        <p:spPr>
          <a:xfrm>
            <a:off x="3620880" y="4654440"/>
            <a:ext cx="4245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mechanism-edge-t4-segment-1"/>
          <p:cNvSpPr/>
          <p:nvPr/>
        </p:nvSpPr>
        <p:spPr>
          <a:xfrm>
            <a:off x="7383600" y="2685960"/>
            <a:ext cx="2412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mechanism-edge-t4-segment-2"/>
          <p:cNvSpPr/>
          <p:nvPr/>
        </p:nvSpPr>
        <p:spPr>
          <a:xfrm>
            <a:off x="7624800" y="2685960"/>
            <a:ext cx="360" cy="156204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mechanism-edge-t4-segment-3"/>
          <p:cNvSpPr/>
          <p:nvPr/>
        </p:nvSpPr>
        <p:spPr>
          <a:xfrm>
            <a:off x="7624800" y="4248000"/>
            <a:ext cx="24156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mechanism-edge-t4-label"/>
          <p:cNvSpPr/>
          <p:nvPr/>
        </p:nvSpPr>
        <p:spPr>
          <a:xfrm>
            <a:off x="7091640" y="212724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초기값 전달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mechanism-edge-t5-segment-1"/>
          <p:cNvSpPr/>
          <p:nvPr/>
        </p:nvSpPr>
        <p:spPr>
          <a:xfrm>
            <a:off x="9425880" y="44510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mechanism-node-envs"/>
          <p:cNvSpPr/>
          <p:nvPr/>
        </p:nvSpPr>
        <p:spPr>
          <a:xfrm>
            <a:off x="1739880" y="227340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mechanism-node-envs-queue-1"/>
          <p:cNvSpPr/>
          <p:nvPr/>
        </p:nvSpPr>
        <p:spPr>
          <a:xfrm>
            <a:off x="1739880" y="25272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mechanism-node-envs-queue-2"/>
          <p:cNvSpPr/>
          <p:nvPr/>
        </p:nvSpPr>
        <p:spPr>
          <a:xfrm>
            <a:off x="1739880" y="271764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mechanism-node-envs-queue-3"/>
          <p:cNvSpPr/>
          <p:nvPr/>
        </p:nvSpPr>
        <p:spPr>
          <a:xfrm>
            <a:off x="1739880" y="290844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mechanism-node-meta"/>
          <p:cNvSpPr/>
          <p:nvPr/>
        </p:nvSpPr>
        <p:spPr>
          <a:xfrm>
            <a:off x="378216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환경을 바꾸며 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mechanism-node-psi"/>
          <p:cNvSpPr/>
          <p:nvPr/>
        </p:nvSpPr>
        <p:spPr>
          <a:xfrm>
            <a:off x="5824080" y="235584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초기값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psi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DNN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시작점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mechanism-node-newenv"/>
          <p:cNvSpPr/>
          <p:nvPr/>
        </p:nvSpPr>
        <p:spPr>
          <a:xfrm>
            <a:off x="173988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환경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capacity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bandwidth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mechanism-node-innerq"/>
          <p:cNvSpPr/>
          <p:nvPr/>
        </p:nvSpPr>
        <p:spPr>
          <a:xfrm>
            <a:off x="7866360" y="41212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Workflow Q-learning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mechanism-node-plan"/>
          <p:cNvSpPr/>
          <p:nvPr/>
        </p:nvSpPr>
        <p:spPr>
          <a:xfrm>
            <a:off x="9908640" y="403848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배치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mechanism-node-plan-queue-1"/>
          <p:cNvSpPr/>
          <p:nvPr/>
        </p:nvSpPr>
        <p:spPr>
          <a:xfrm>
            <a:off x="9908640" y="429264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mechanism-node-plan-queue-2"/>
          <p:cNvSpPr/>
          <p:nvPr/>
        </p:nvSpPr>
        <p:spPr>
          <a:xfrm>
            <a:off x="9908640" y="448308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mechanism-node-plan-queue-3"/>
          <p:cNvSpPr/>
          <p:nvPr/>
        </p:nvSpPr>
        <p:spPr>
          <a:xfrm>
            <a:off x="9908640" y="46735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Cloud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Meta-learning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selector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learner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시작점을 만든다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8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5–7, Fig. 2 and Algorithms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DMRO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 algorithm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표준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MAML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1310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MAML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 논문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DMRO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적응할 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환경에 쓸 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psi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distribution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표본화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environment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표본화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Inner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 adaptation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Q-learning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경험으로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Outer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Adaptation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meta-gradient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meta-gradient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식을 제시하지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안전한 명칭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Model-Agnostic Meta-Learning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MAML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영감을 받은 초기화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빠른 적응이라는 목표는 공유하지만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그대로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MAML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 부를 수는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6–7, Section 4.2 and Algorithm 2; maml-paper Sections 2–3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cloud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456588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workflow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IoT user 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workflow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실장치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50–100 MB,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10–50 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무작위 생성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10^3–10^5 MHz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무작위 표기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단위를 그대로 인용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hidden layer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폭은 제시되지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 = beta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hardware benchmark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설정된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7, Section 5.1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기준 환경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2717640"/>
                <a:gridCol w="27176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Computing 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150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IoT–edge 800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edge–cloud 200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IoT–cloud 10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 J/MB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0.15 J/MB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 J/MB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설정에서는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cloud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계산은 빠르지만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IoT–cloud link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가장 느리다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7,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수렴 실험이 알려 주는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739160"/>
                <a:gridCol w="2935080"/>
                <a:gridCol w="391356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후속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표시된 조건 중 가장 좋은 수렴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128, 256, 512, 1024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클수록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변동이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단정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copy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step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fluctuation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step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수렴 곡선은 설정 선택 근거이지 실제 의사결정 시간 측정이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7–8, Figs. 4–5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6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다섯 배치 방식의 목적 함수 값을 비교한다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배치 규칙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없는 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full-offload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 full-offload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동적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DMRO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단순화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DMRO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 방식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표시된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weight-ratio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DMRO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다섯 방식 중 가장 낮은 총비용을 보인다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8, Section 5.3 and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Fast-learning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환경을 다르게 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6" name="Table 0"/>
          <p:cNvGraphicFramePr/>
          <p:nvPr/>
        </p:nvGraphicFramePr>
        <p:xfrm>
          <a:off x="660240" y="1676520"/>
          <a:ext cx="10870920" cy="3751920"/>
        </p:xfrm>
        <a:graphic>
          <a:graphicData uri="http://schemas.openxmlformats.org/drawingml/2006/table">
            <a:tbl>
              <a:tblPr/>
              <a:tblGrid>
                <a:gridCol w="3261240"/>
                <a:gridCol w="45658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Computing 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15–25, edge 50–60, cloud 160–170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30, 70, 150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IoT–edge 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600–700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Edge–cloud 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100–150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IoT–cloud 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20–30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coefficient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0.3, 0.15, 0.1 J/MB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 parameter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학습 범위와 다른 고정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environment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평가된다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p. 8,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7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8: learned initialization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조건부 이점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630440"/>
                <a:gridCol w="2935080"/>
                <a:gridCol w="391356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없는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 parameter vs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초기화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수렴이 좋고 더 빠르게 수렴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환경의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두 초기화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몇 차례 학습 뒤 더 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실시간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speedup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train/test shift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portability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지지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 deployment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근거는 특정 환경 이동에서의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curve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adaptation 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8–9, Figs. 7–8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결과를 안전하게 읽는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근거가 있는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확장하면 안 되는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다섯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 환경의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optimum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빠른 적응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 shift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7–8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재학습이 전혀 필요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후보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machine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분산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지연을 짧다고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latency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multi-server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확장을 예상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구현과 실험으로 검증됨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시뮬레이션 근거를 제공하지만 최적성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실장치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확장성 보장은 제공하지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8–9, Sections 5–6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DMRO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흐름으로 다시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의존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workflow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중간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flow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순서대로 입력한다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1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2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위치 비용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 지연과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energy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평가한다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7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Inner Q-learning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병렬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placement sequence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2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Outer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환경에서 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시작점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psi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6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7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조건부 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정해진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environment shift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비교한다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2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DMRO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핵심은 세 위치의 순차 결정과 환경 간 초기화 학습을 분리해 결합한 것이다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4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dmro-paper pp. 3–9, Sections 3–6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2026-09-12T05:02:54Z</dcterms:created>
  <dc:creator>Research Seminars</dc:creator>
  <dc:description/>
  <dc:language>ko-KR</dc:language>
  <cp:lastModifiedBy>Research Seminars</cp:lastModifiedBy>
  <dcterms:modified xsi:type="dcterms:W3CDTF">2026-09-12T05:02:54Z</dcterms:modified>
  <cp:revision>1</cp:revision>
  <dc:subject>DMRO: A Deep Meta Reinforcement Learning-based Task Offloading Framework for Edge-Cloud Computing</dc:subject>
  <dc:title>DMRO: 환경 변화에 적응하는 작업 오프로딩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28</vt:r8>
  </property>
  <property fmtid="{D5CDD505-2E9C-101B-9397-08002B2CF9AE}" pid="3" name="PresentationFormat">
    <vt:lpwstr>On-screen Show (16:9)</vt:lpwstr>
  </property>
  <property fmtid="{D5CDD505-2E9C-101B-9397-08002B2CF9AE}" pid="4" name="Slides">
    <vt:r8>28</vt:r8>
  </property>
</Properties>
</file>
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DMRO: 환경 변화에 적응하는 작업 오프로딩
발표 대본
이 발표는 DMRO 논문이 의존 작업을 local, edge, cloud 중 어디에서 실행할지 결정하는 문제를 어떻게 학습 문제로 바꾸는지 설명합니다. 핵심은 두 층입니다. 안쪽에서는 여러 Q-network가 한 환경의 workflow 배치 후보를 만들고, 바깥에서는 서로 다른 환경의 경험을 이용해 새 환경에서 쓸 초기 파라미터를 학습합니다. 세 위치의 비용 모델, 상태와 행동, Algorithm 1과 2, 그리고 시뮬레이션 결과의 조건과 한계를 차례로 살펴봅니다.
공개 출처
dmro-paper | title page and Abstract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왜 실행 위치를 작업마다 결정해야 하는가
발표 대본
논문은 하나의 cloud server, 하나의 edge server, 여러 IoT device로 구성된 환경을 가정합니다. Local은 전송이 없지만 계산 능력이 작을 수 있고, edge는 장치에 가깝지만 cloud보다 계산 능력이 작을 수 있습니다. Cloud는 계산이 빠르더라도 전송이 병목이 될 수 있습니다. 따라서 offloading은 단순히 가장 빠른 CPU를 고르는 문제가 아니라 계산 지연, 통신 지연, 에너지의 결합을 비교하는 문제입니다.
공개 출처
dmro-paper | pp. 1–4, Sections 1 and 3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논문의 workflow는 순차 의존 작업으로 표현된다
발표 대본
논문은 workflow x를 task v1, data flow e1,2, task v2처럼 이어지는 순차 구조로 정의합니다. 이 그림의 task 이름은 구조를 읽기 쉽게 줄인 것입니다. 중요한 점은 다음 task의 실행비용이 자기 계산량만으로 결정되지 않는다는 것입니다. 선행 task가 어디에서 실행됐는지에 따라 중간 data를 전송해야 할 수 있습니다. 따라서 이 발표에서는 이를 의존 workflow라고 부르되, 임의 모양의 일반 DAG를 해결했다고 확대 해석하지 않습니다.
공개 출처
dmro-paper | p. 4, eq. 1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각 task는 정확히 한 위치를 선택한다
발표 대본
식 (2)와 식 (11)은 각 task의 배치를 세 one-hot vector 중 하나로 제한합니다. Inner RL의 action도 식 (12)에서 0, 1, 2로 대응합니다. 그러므로 DMRO에서 partial offloading이라는 표현은 workflow 안의 서로 다른 task가 서로 다른 위치를 선택할 수 있다는 의미입니다. 한 task의 계산을 여러 서버에 비율로 나누는 연속 action 문제는 아닙니다.
공개 출처
dmro-paper | pp. 4–5, eqs. 2, 11–12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선행 task 위치가 전송 지연을 결정한다
발표 대본
식 (4)의 transmission delay를 읽는 표입니다. 인접한 두 task가 같은 위치에서 실행되면 중간 data의 전송 지연은 0입니다. 위치가 다르면 두 위치를 연결하는 bandwidth로 data size를 나눕니다. 이 때문에 현재 task의 상태에는 이전 action, 즉 선행 task의 실행 위치가 포함됩니다. 논문은 전송 중의 에너지는 단순화를 위해 무시하지만 전송 지연은 목적 함수에 포함합니다.
공개 출처
dmro-paper | p. 4, eq. 4 and Section 3.3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목적 함수는 지연과 에너지를 한 비용으로 묶는다
발표 대본
식 (3)은 계산 지연, 식 (4)은 전송 지연, 식 (6)부터 (8)은 에너지를 정의합니다. 전체 목적 함수 Q(x,b)는 모든 workflow의 completion delay와 delta를 곱한 energy를 더합니다. Edge와 cloud energy에는 별도 weight alpha와 beta도 있습니다. 이 모델은 의사결정 자체의 지연이 짧다고 가정해 그 시간을 무시합니다. 따라서 논문의 결과는 controller latency를 측정한 결과가 아닙니다.
공개 출처
dmro-paper | p. 4, eqs. 3–11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비용 모델이 포함하는 것과 제외하는 것
발표 대본
모델 경계를 분명히 하겠습니다. 계산과 전송의 실행 지연, 위치별 계산 에너지는 포함됩니다. 반면 task 전송 과정의 energy와 offloading 결정을 계산하는 시간은 제외합니다. 따라서 실제 장치의 전체 battery 소모나 end-to-end controller latency까지 최적화했다고 말하면 안 됩니다. 이후의 시뮬레이션도 이 목적 함수에 대한 비교입니다.
공개 출처
dmro-paper | p. 4, Sections 3.2–3.4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교육용 계산: cloud가 가장 빠른데 edge가 이길 수 있다
발표 대본
이 수치는 개념을 설명하기 위해 만든 예시이며 논문의 실험값이 아닙니다. 계산량을 1000 million cycles, local·edge·cloud capacity를 각각 100, 500, 1000 million cycles per second로 두었습니다. Edge로 가는 전송은 0.1초, cloud로 가는 전송은 2초라고 가정했습니다. Cloud의 계산만 보면 1초로 가장 빠르지만 총 지연은 3초이고, edge는 2.1초이므로 edge가 선택됩니다. 실제 논문 모델에서는 앞 task의 위치와 energy도 함께 비용을 바꿉니다.
공개 출처
dmro-paper | p. 4, eqs. 3–4; invented example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한 task의 결정을 RL transition으로 바꾼다
발표 대본
식 (13)의 state에는 이전 action a_i−1, 들어오는 data flow, 현재 task와 이후 task·flow 정보가 들어갑니다. Action은 세 위치입니다. 식 (14)의 local objective F는 현재 task의 계산 지연, 선행 task에서 넘어오는 전송 지연, weighted energy를 더합니다. 논문의 reward 설명은 최적 action에 음의 최소 비용을 주고 다른 action에는 음의 최대값을 준다고 적습니다. 세부 reward 정의가 일반적인 음의 실제 비용보다 특이하므로, 여기서는 원문 표현을 그대로 경계 지어 설명합니다.
공개 출처
dmro-paper | p. 5, eqs. 12–17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Inner loop: 이전 배치가 다음 결정으로 전달된다
발표 대본
한 task를 처리하는 inner loop입니다. State를 Q-network에 넣어 세 action의 가치를 얻고 epsilon-greedy로 action을 고릅니다. 선택한 위치로 local objective와 reward를 계산하고 transition을 replay memory에 저장합니다. 식 (17)처럼 지금 고른 action이 다음 state의 첫 항목으로 이동합니다. 따라서 task 2는 task 1의 위치를 알고 전송비용을 계산할 수 있습니다. 이 과정은 하나의 MEC 환경 안에서 일어나는 ordinary Q-learning입니다.
공개 출처
dmro-paper | p. 5, eqs. 12–17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교육용 trace: 두 task의 배치가 이어지는 방식
발표 대본
이 trace도 논문의 결과가 아닌 교육용 예시입니다. Task 1은 앞 슬라이드 조건에서 edge의 총 지연 2.1초가 가장 작아 edge를 선택합니다. Task 2는 계산량 500 million cycles이고, local·edge·cloud 계산 지연이 각각 5, 1, 0.5초라고 두겠습니다. 중간 data 때문에 edge에서 local로 가면 0.2초, edge에서 cloud로 가면 0.4초가 추가됩니다. 따라서 local 5.2, edge 1.0, cloud 0.9초로 cloud를 고릅니다. 이 예시는 feasible action sequence [edge, cloud]가 state transition으로 만들어지는 과정만 보입니다. 논문의 여러 parallel candidate와 학습은 다음 슬라이드에서 추가합니다.
공개 출처
dmro-paper | pp. 4–5, eqs. 4 and 13–17; invented example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여러 Q-network가 서로 다른 전체 배치 후보를 만든다
발표 대본
Algorithm 1은 state S_i를 s개의 DNN unit에 복제합니다. 각 unit은 epsilon-greedy action을 내고 자기 action set A_j에 누적해 완전한 placement sequence를 만듭니다. Workflow 끝에서 전체 목적 함수가 가장 작은 후보를 최종 decision으로 출력합니다. 논문은 이를 distributed 또는 parallel DRL이라고 부르지만, 각 network가 서로 다른 물리 machine에서 실행된다는 deployment 증거는 제시하지 않습니다. 따라서 이 그림은 병렬 후보 생성 구조만 표현합니다.
공개 출처
dmro-paper | pp. 5–7, Fig. 3 and Algorithm 1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Algorithm 1: 후보 생성과 Q-learning을 함께 수행한다
발표 대본
Algorithm 1을 정확한 제어 흐름에 맞춰 압축했습니다. 입력은 workflow x, environment E, meta-parameter psi이고 출력은 최종 offloading decision A입니다. 모든 task에서 각 network의 action을 모아 후보를 완성합니다. Decision phase에서는 마지막 task까지 도달한 뒤 전체 workflow objective가 작은 후보를 선택합니다. Training phase에서는 state, action, reward, next state를 memory에 넣고, data를 다섯 번 추가한 뒤 random sample을 뽑아 network를 갱신합니다. 원문의 train 분기 표기는 다소 혼란스러우므로 세부 줄 번호를 단순한 표준 DQN 절차로 바꿔 단정하지 않습니다.
공개 출처
dmro-paper | p. 7, Algorithm 1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Replay memory와 frozen target은 학습 신호를 분리한다
발표 대본
Replay memory는 연속해서 생성된 transition의 상관을 줄이기 위해 과거 경험을 무작위로 다시 뽑습니다. Frozen network는 online network와 구조가 같지만 매 update마다 바뀌지 않고 일정 횟수 뒤에 online parameter를 복사합니다. 식 (18)에서 현재 Q는 최신 parameter network가 계산하고, next state의 maximum Q는 frozen parameter network가 계산합니다. 이 두 장치는 DQN 계열의 inner learning 안정화 장치입니다. Outer meta-initialization과 구분해야 합니다.
공개 출처
dmro-paper | pp. 5–7, eq. 18 and Algorithm 1
DMRO arXiv record and version 1 paper
https://arxiv.org/abs/2008.09930
dqn-paper | Methods, experience replay and target network
Human-level control through deep reinforcement learning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식 (18): 현재 추정과 bootstrap target을 섞는다
발표 대본
식 (18)은 표준 Q-learning 형태로, 기존 Q에 학습률 theta만큼 새 target을 반영합니다. Target은 즉시 reward R과 discount factor mu를 곱한 next-state maximum Q의 합입니다. 논문은 theta를 learning rate, mu를 discount factor로 씁니다. 여기서 theta는 network parameter를 뜻하는 다른 문맥과도 겹쳐 사용되므로 발표에서는 학습률과 weight를 구분해서 읽습니다. 이 식은 inner model의 업데이트이고 meta-parameter psi는 Algorithm 2의 여러 환경 학습 뒤에 얻습니다.
공개 출처
dmro-paper | p. 6, eq. 18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논문의 DQN baseline과 DMRO의 차이
발표 대본
논문의 비교 실험은 DQN scheme을 DMRO에서 parallel network를 하나만 둔 단순화 버전으로 설명합니다. 두 방식 모두 같은 세 placement action을 다루고 Q-learning을 사용합니다. DMRO는 여러 candidate network와 meta-initialization을 추가합니다. 따라서 Fig. 6의 차이를 meta-learning 하나의 효과로만 분해해 말할 수는 없습니다. Parallel candidate 수와 initialization이 함께 달라지기 때문입니다. DQN 원 논문은 replay와 target network의 일반 배경 출처로만 사용합니다.
공개 출처
dmro-paper | p. 8, Section 5.3
DMRO arXiv record and version 1 paper
https://arxiv.org/abs/2008.09930
dqn-paper | Methods
Human-level control through deep reinforcement learning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새 환경마다 처음부터 학습하는 문제
발표 대본
논문이 meta-learning을 도입한 이유는 MEC 환경이 변할 때 기존 network parameter의 portability가 낮고 다시 학습하는 데 시간이 든다는 문제입니다. 환경 변화에는 local·edge·cloud computing capacity와 link bandwidth 변화가 포함됩니다. Outer model은 여러 환경의 경험으로 parameter initialization psi를 학습합니다. 새 환경에서 실제 local, edge, cloud action을 고르는 것은 psi로 초기화된 inner network입니다.
공개 출처
dmro-paper | pp. 1–2 and pp. 5–7, Sections 1 and 4.2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Algorithm 2: 여러 환경을 바꾸며 초기값 psi를 학습한다
발표 대본
Algorithm 2의 제어 흐름을 원문 순서대로 압축했습니다. 각 task 단계에서 environment를 무작위로 선택해 action과 reward를 만들고 transition을 저장합니다. Memory에 data를 다섯 번 추가하면 environment를 다시 무작위로 선택하고 experience를 꺼내 DNN을 갱신합니다. 마지막 DNN parameter theta를 meta-parameter psi로 출력합니다. 원문은 MAML을 영감으로 인용하지만, Algorithm 2에는 명시적인 inner gradient와 outer meta-gradient 식이 없습니다. 따라서 이를 정식 MAML 구현이라고 부르지 않습니다.
공개 출처
dmro-paper | pp. 6–7, Section 4.2 and Algorithm 2
DMRO arXiv record and version 1 paper
https://arxiv.org/abs/2008.09930
maml-paper | Sections 2–3, cited background
Model-Agnostic Meta-Learning for Fast Adaptation of Deep Networks
https://proceedings.mlr.press/v70/finn17a.html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두 시간축: 환경 간 초기화와 환경 안의 적응
발표 대본
위쪽은 환경 간 meta-training입니다. 여러 training environment를 번갈아 경험해 초기값 psi를 얻습니다. 아래쪽은 새 환경 안의 inner learning입니다. 새 environment 정보와 workflow를 Algorithm 1에 넣고, psi로 초기화된 Q-network가 placement sequence를 만듭니다. 점선은 psi가 새 inner learner의 초기값으로 사용된다는 관계입니다. 논문은 outer model이 환경 변화를 판단한다고 서술하지만 자동 감지기의 구체적인 구현이나 latency는 제시하지 않습니다. 점선은 s개의 inner DNN에 동일한 초기값 psi를 전달하는 경로이며 배치 sequence로 직접 연결되지 않습니다.
공개 출처
dmro-paper | pp. 5–7, Fig. 2 and Algorithms 1–2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DMRO의 meta algorithm과 표준 MAML을 구분한다
발표 대본
DMRO는 Finn 등의 MAML을 기반 배경으로 인용합니다. MAML은 task별 inner adaptation을 수행한 뒤 adaptation 결과의 loss를 통해 초기 parameter를 meta-gradient로 갱신합니다. 반면 DMRO Algorithm 2는 환경을 무작위로 바꾸고 Q-learning 경험으로 DNN을 갱신한 뒤 parameter를 psi로 출력합니다. 원문에는 MAML의 이중 gradient 목적식이 없습니다. 따라서 공통점은 좋은 initialization이라는 목적이고, 학습 절차는 동일하다고 단정하지 않습니다.
공개 출처
dmro-paper | pp. 6–7, Section 4.2 and Algorithm 2
DMRO arXiv record and version 1 paper
https://arxiv.org/abs/2008.09930
maml-paper | Sections 2–3
Model-Agnostic Meta-Learning for Fast Adaptation of Deep Networks
https://proceedings.mlr.press/v70/finn17a.html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실험은 simulator의 한 edge·한 cloud 환경이다
발표 대본
Section 5.1의 공통 조건입니다. 네 명의 IoT user가 각각 다섯 workflow를 갖습니다. 첫 task data는 50에서 100 MB, 이후 task는 10에서 50 MB이고, 계산량은 원문에서 10의 3승에서 10의 5승 MHz로 표기됩니다. Network는 fully connected DNN이며 hidden layer가 두 개입니다. 실제 hardware, wall-clock runtime, 반복 횟수와 confidence interval은 보고되지 않습니다.
공개 출처
dmro-paper | p. 7, Section 5.1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Table 1의 기준 환경
발표 대본
Table 1의 수치를 위치와 link에 맞춰 다시 배열했습니다. Local, edge, cloud computing capacity는 각각 30, 70, 150 MHz입니다. Bandwidth는 IoT–edge 800 MB/s, edge–cloud 200 MB/s, IoT–cloud 10 MB/s입니다. Energy coefficient는 0.3, 0.15, 0.1 J/MB입니다. 이 숫자 조합이 계산 속도와 통신 속도의 trade-off를 만듭니다. 다른 network topology나 여러 edge server 조건으로 일반화된 결과는 아닙니다.
공개 출처
dmro-paper | p. 7, Table 1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수렴 실험이 알려 주는 training 설정
발표 대본
Figure 4는 여러 learning rate의 loss curve를 비교하고 0.01을 후속 실험에 사용합니다. Figure 5는 네 batch size에서 batch가 커질수록 변동성이 작아지는 경향을 설명합니다. 또한 frozen target network에 parameter를 200 step마다 복사하기 때문에 그 주기마다 작은 fluctuation이 보인다고 해석합니다. 논문은 convergence step을 보여 주지만 seconds 단위 adaptation time이나 inference latency를 보고하지 않습니다.
공개 출처
dmro-paper | pp. 7–8, Figs. 4–5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Fig. 6은 다섯 배치 방식의 목적 함수 값을 비교한다
발표 대본
Figure 6의 x축은 delay 대비 energy consumption의 weight ratio이고 y축은 objective function value입니다. Weight가 0이면 delay만 고려합니다. 원문은 표시된 시뮬레이션에서 DMRO가 다섯 방식 중 가장 작은 total cost를 보였고 DQN도 세 fixed placement보다 좋은 경향이라고 설명합니다. 정확한 percent improvement나 오차 막대는 제시하지 않으므로 그림에서 수치를 임의로 읽어 과장하지 않습니다.
공개 출처
dmro-paper | p. 8, Section 5.3 and Fig. 6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Fast-learning 실험은 train과 test 환경을 다르게 둔다
발표 대본
Table 2는 meta-training environment와 test environment의 차이를 구체화합니다. Train에서는 capacity와 bandwidth가 범위 안에서 변하고, test는 Table 1의 고정값입니다. 특히 cloud capacity는 train 범위 160에서 170 MHz보다 test 150 MHz가 낮고, IoT–cloud bandwidth는 train 20에서 30 MB/s보다 test 10 MB/s가 낮습니다. 이 조건 분리를 이해해야 Figure 7과 8의 portability 주장을 평가할 수 있습니다.
공개 출처
dmro-paper | p. 8, Table 2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Fig. 7과 8: learned initialization의 조건부 이점
발표 대본
Figure 7은 meta-parameter로 시작한 network가 일반 initialized parameter보다 초기 convergence가 좋고 빠르게 수렴한다고 설명합니다. Figure 8은 같은 비교에서 meta-parameter network가 더 낮은 total cost를 만든다고 보고합니다. 원문은 40에서 80 training step 사이에 convergence 정도는 크게 변하지 않아도 offloading decision은 개선됐다고 해석합니다. 그러나 wall-clock 시간, 반복 실험의 분산, formal guarantee는 없습니다.
공개 출처
dmro-paper | pp. 8–9, Figs. 7–8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논문의 결과를 안전하게 읽는 경계
발표 대본
결론에서 가장 중요한 검증 경계입니다. DMRO의 낮은 비용은 특정 simulator와 baseline에서 관찰됐습니다. Meta initialization의 빠른 적응도 하나의 train/test environment 설계에서 보였습니다. Parallel DNN은 algorithm의 후보 생성 구조이며 physical cluster deployment가 아닙니다. Decision latency는 측정하지 않고 짧다고 가정했습니다. 저자는 multiple edge와 cloud server로 쉽게 확장할 수 있다고 말하지만 실제 구현과 실험은 future work입니다.
공개 출처
dmro-paper | pp. 8–9, Sections 5–6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DMRO를 한 흐름으로 다시 읽기
발표 대본
전체 논문을 다섯 단계로 정리합니다. 첫째, workflow는 의존 task와 data flow의 순서입니다. 둘째, 각 task는 local, edge, cloud 중 하나를 고르고 계산·통신·energy 비용이 생깁니다. 셋째, inner model의 여러 Q-network가 complete placement sequence 후보를 만들고 비용이 작은 후보를 고릅니다. 넷째, outer model은 여러 environment 경험으로 initialization psi를 학습합니다. 다섯째, 저자들은 simulator에서 fixed placement와 DQN baseline, 그리고 일반 initialization과 비교합니다. 이 구조와 근거의 범위를 함께 기억하면 meta-learning이 action을 직접 고른다는 오해를 피할 수 있습니다.
공개 출처
dmro-paper | pp. 3–9, Sections 3–6
DMRO arXiv record and version 1 paper
https://arxiv.org/abs/2008.09930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DMRO: 환경 변화에 적응하는 작업 오프로딩</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DMRO: A Deep Meta Reinforcement Learning-based Task Offloading Framework for Edge-Cloud Computing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Guanjin Qu and Huaming Wu (2020)</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Local·edge·cloud 배치와 Q-learning, meta-initialization의 두 학습 시간축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title page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실행 위치를 작업마다 결정해야 하는가</a:t>
            </a:r>
            <a:endParaRPr lang="en-US" sz="3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3913632"/>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장점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비용과 제약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 없이 바로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IoT 계산 능력과 에너지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장치와 가깝고 대역폭이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cloud보다 계산 자원이 작을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큰 계산 자원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먼 통신 경로와 낮은 대역폭 가능성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가장 빠른 서버가 항상 가장 작은 전체 비용을 만드는 것은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1–4, Sections 1 and 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workflow는 순차 의존 작업으로 표현된다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task의 출력 data가 다음 task의 입력으로 이어진다</a:t>
            </a:r>
            <a:endParaRPr lang="en-US" sz="1900" dirty="0"/>
          </a:p>
        </p:txBody>
      </p:sp>
      <p:sp>
        <p:nvSpPr>
          <p:cNvPr id="4" name="mechanism-lane-workflow"/>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의존 workflow</a:t>
            </a:r>
            <a:endParaRPr lang="en-US" sz="1250" dirty="0"/>
          </a:p>
        </p:txBody>
      </p:sp>
      <p:sp>
        <p:nvSpPr>
          <p:cNvPr id="5" name="mechanism-edge-a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a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a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a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v1"/>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Task v1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첫 작업</a:t>
            </a:r>
            <a:endParaRPr lang="en-US" sz="1150" dirty="0"/>
          </a:p>
        </p:txBody>
      </p:sp>
      <p:sp>
        <p:nvSpPr>
          <p:cNvPr id="10" name="mechanism-node-e12"/>
          <p:cNvSpPr txBox="1"/>
          <p:nvPr/>
        </p:nvSpPr>
        <p:spPr>
          <a:xfrm>
            <a:off x="3782060" y="35496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Data e1,2</a:t>
            </a:r>
            <a:endParaRPr lang="en-US" sz="1150" dirty="0"/>
          </a:p>
        </p:txBody>
      </p:sp>
      <p:sp>
        <p:nvSpPr>
          <p:cNvPr id="11" name="mechanism-node-e12-queue-1"/>
          <p:cNvSpPr/>
          <p:nvPr/>
        </p:nvSpPr>
        <p:spPr>
          <a:xfrm>
            <a:off x="3782060" y="38036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v1 출력</a:t>
            </a:r>
            <a:endParaRPr lang="en-US" sz="950" dirty="0"/>
          </a:p>
        </p:txBody>
      </p:sp>
      <p:sp>
        <p:nvSpPr>
          <p:cNvPr id="12" name="mechanism-node-v2"/>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Task v2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둘째 작업</a:t>
            </a:r>
            <a:endParaRPr lang="en-US" sz="1150" dirty="0"/>
          </a:p>
        </p:txBody>
      </p:sp>
      <p:sp>
        <p:nvSpPr>
          <p:cNvPr id="13" name="mechanism-node-e23"/>
          <p:cNvSpPr txBox="1"/>
          <p:nvPr/>
        </p:nvSpPr>
        <p:spPr>
          <a:xfrm>
            <a:off x="7866380" y="35496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Data e2,3</a:t>
            </a:r>
            <a:endParaRPr lang="en-US" sz="1150" dirty="0"/>
          </a:p>
        </p:txBody>
      </p:sp>
      <p:sp>
        <p:nvSpPr>
          <p:cNvPr id="14" name="mechanism-node-e23-queue-1"/>
          <p:cNvSpPr/>
          <p:nvPr/>
        </p:nvSpPr>
        <p:spPr>
          <a:xfrm>
            <a:off x="7866380" y="38036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v2 출력</a:t>
            </a:r>
            <a:endParaRPr lang="en-US" sz="950" dirty="0"/>
          </a:p>
        </p:txBody>
      </p:sp>
      <p:sp>
        <p:nvSpPr>
          <p:cNvPr id="15" name="mechanism-node-v3"/>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Task v3</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셋째 작업</a:t>
            </a:r>
            <a:endParaRPr lang="en-US" sz="11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일반적인 임의 DAG 전체가 아니라, 논문 식 (1)의 순차 workflow가 모델 대상이다.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4, eq. 1</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각 task는 정확히 한 위치를 선택한다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행동은 binary offload가 아니라 세 가지 discrete placement다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2500376"/>
                <a:gridCol w="239166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행동 a_i</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배치 벡터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실행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0,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IoT device에서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1,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server로 offload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0,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 server로 offload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task를 여러 위치에 나누어 실행하는 partial partition 모델은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4–5, eqs. 2, 11–12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선행 task 위치가 전송 지연을 결정한다</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27178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선행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현재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전송 지연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 size ÷ IoT–edge bandwidth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 size ÷ edge–cloud bandwidth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 size ÷ IoT–cloud bandwidth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현재 task의 최선은 선행 task가 어디에 있었는지에 따라 달라질 수 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4, eq. 4 and Section 3.3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목적 함수는 지연과 에너지를 한 비용으로 묶는다</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계산 지연</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task work를 선택 위치의 계산 능력으로 나눈다</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전송 지연</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위치가 바뀌면 data size를 link bandwidth로 나눈다</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에너지</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task 크기와 위치별 energy 계수를 곱한다</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Workflow 비용</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전체 지연에 delta × 전체 energy를 더한다</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배치 선택</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task가 세 위치 중 하나를 고르도록 최소화한다</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delta는 energy와 delay 사이의 상대적 중요도를 조절한다.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4, eqs. 3–11</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비용 모델이 포함하는 것과 제외하는 것</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발표에서의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 지연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위치별 computing capacity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work가 클수록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 지연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인접 task 위치가 다르면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link bandwidth가 작으면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 에너지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위치별 energy 계수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alpha·beta로 서버 energy 가중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 에너지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단순화를 위해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장치 비용 전체는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결정 지연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짧다고 가정하여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실시간 latency 측정은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최적이라는 표현은 이 논문이 정의한 비용과 가정 안에서만 성립한다.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4, Sections 3.2–3.4</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계산: cloud가 가장 빠른데 edge가 이길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결과가 아닌 단일 task 예시이며 energy는 제외한다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696208"/>
                <a:gridCol w="2500376"/>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 지연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추가 전송</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합계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 ÷ 100 = 10.0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 ÷ 500 = 2.0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 ÷ 1000 = 1.0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서버 계산 속도와 network 이동 비용을 함께 봐야 placement가 정해진다.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4, eqs. 3–4; invented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task의 결정을 RL transition으로 바꾼다</a:t>
            </a:r>
            <a:endParaRPr lang="en-US" sz="3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8920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S_i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이전 action, incoming flow, 현재와 남은 task 정보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앞선 배치와 남은 일을 함께 본다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a_i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local, 1 edge, 2 cloud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task의 위치를 고른다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cost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 지연 + 이전 전송 지연 + delta × 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action을 비용으로 비교한다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최적 action: −min F; 그 외: −max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원문 고유의 두 수준 reward 규칙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Next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action이 다음 state의 이전 위치가 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의존 전송비용을 다음 결정에 전달한다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Meta-learning이 action을 고르는 것이 아니라 inner Q-network가 이 transition을 학습한다.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5, eqs. 12–17</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Inner loop: 이전 배치가 다음 결정으로 전달된다</a:t>
            </a:r>
            <a:endParaRPr lang="en-US" sz="3100" dirty="0"/>
          </a:p>
        </p:txBody>
      </p:sp>
      <p:sp>
        <p:nvSpPr>
          <p:cNvPr id="3" name="mechanism-lane-inner"/>
          <p:cNvSpPr txBox="1"/>
          <p:nvPr/>
        </p:nvSpPr>
        <p:spPr>
          <a:xfrm>
            <a:off x="660400" y="1803400"/>
            <a:ext cx="863600" cy="35306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한 환경 안의 결정</a:t>
            </a:r>
            <a:endParaRPr lang="en-US" sz="1250" dirty="0"/>
          </a:p>
        </p:txBody>
      </p:sp>
      <p:sp>
        <p:nvSpPr>
          <p:cNvPr id="4" name="mechanism-edge-i1-segment-1"/>
          <p:cNvSpPr/>
          <p:nvPr/>
        </p:nvSpPr>
        <p:spPr>
          <a:xfrm>
            <a:off x="329946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5" name="mechanism-edge-i2-segment-1"/>
          <p:cNvSpPr/>
          <p:nvPr/>
        </p:nvSpPr>
        <p:spPr>
          <a:xfrm>
            <a:off x="534162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i3-segment-1"/>
          <p:cNvSpPr/>
          <p:nvPr/>
        </p:nvSpPr>
        <p:spPr>
          <a:xfrm>
            <a:off x="738378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i4-segment-1"/>
          <p:cNvSpPr/>
          <p:nvPr/>
        </p:nvSpPr>
        <p:spPr>
          <a:xfrm>
            <a:off x="942594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state"/>
          <p:cNvSpPr/>
          <p:nvPr/>
        </p:nvSpPr>
        <p:spPr>
          <a:xfrm>
            <a:off x="173990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State S_i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이전 위치와 남은 workflow</a:t>
            </a:r>
            <a:endParaRPr lang="en-US" sz="1150" dirty="0"/>
          </a:p>
        </p:txBody>
      </p:sp>
      <p:sp>
        <p:nvSpPr>
          <p:cNvPr id="9" name="mechanism-node-qnet"/>
          <p:cNvSpPr/>
          <p:nvPr/>
        </p:nvSpPr>
        <p:spPr>
          <a:xfrm>
            <a:off x="378206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Q-network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세 action value 계산</a:t>
            </a:r>
            <a:endParaRPr lang="en-US" sz="1150" dirty="0"/>
          </a:p>
        </p:txBody>
      </p:sp>
      <p:sp>
        <p:nvSpPr>
          <p:cNvPr id="10" name="mechanism-node-action"/>
          <p:cNvSpPr txBox="1"/>
          <p:nvPr/>
        </p:nvSpPr>
        <p:spPr>
          <a:xfrm>
            <a:off x="5824220" y="31559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Action a_i</a:t>
            </a:r>
            <a:endParaRPr lang="en-US" sz="1150" dirty="0"/>
          </a:p>
        </p:txBody>
      </p:sp>
      <p:sp>
        <p:nvSpPr>
          <p:cNvPr id="11" name="mechanism-node-action-queue-1"/>
          <p:cNvSpPr/>
          <p:nvPr/>
        </p:nvSpPr>
        <p:spPr>
          <a:xfrm>
            <a:off x="5824220" y="34099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Local 0</a:t>
            </a:r>
            <a:endParaRPr lang="en-US" sz="950" dirty="0"/>
          </a:p>
        </p:txBody>
      </p:sp>
      <p:sp>
        <p:nvSpPr>
          <p:cNvPr id="12" name="mechanism-node-action-queue-2"/>
          <p:cNvSpPr/>
          <p:nvPr/>
        </p:nvSpPr>
        <p:spPr>
          <a:xfrm>
            <a:off x="5824220" y="36004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Edge 1</a:t>
            </a:r>
            <a:endParaRPr lang="en-US" sz="950" dirty="0"/>
          </a:p>
        </p:txBody>
      </p:sp>
      <p:sp>
        <p:nvSpPr>
          <p:cNvPr id="13" name="mechanism-node-action-queue-3"/>
          <p:cNvSpPr/>
          <p:nvPr/>
        </p:nvSpPr>
        <p:spPr>
          <a:xfrm>
            <a:off x="5824220" y="37909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Cloud 2</a:t>
            </a:r>
            <a:endParaRPr lang="en-US" sz="950" dirty="0"/>
          </a:p>
        </p:txBody>
      </p:sp>
      <p:sp>
        <p:nvSpPr>
          <p:cNvPr id="14" name="mechanism-node-cost"/>
          <p:cNvSpPr/>
          <p:nvPr/>
        </p:nvSpPr>
        <p:spPr>
          <a:xfrm>
            <a:off x="786638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Cost와 reward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F를 평가하고 경험 저장</a:t>
            </a:r>
            <a:endParaRPr lang="en-US" sz="1150" dirty="0"/>
          </a:p>
        </p:txBody>
      </p:sp>
      <p:sp>
        <p:nvSpPr>
          <p:cNvPr id="15" name="mechanism-node-next"/>
          <p:cNvSpPr/>
          <p:nvPr/>
        </p:nvSpPr>
        <p:spPr>
          <a:xfrm>
            <a:off x="990854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State S_i+1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a_i가 이전 위치가 됨</a:t>
            </a:r>
            <a:endParaRPr lang="en-US" sz="11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Task를 순서대로 처리하므로 현재 action은 다음 state의 일부가 된다.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5, eqs. 12–17</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trace: 두 task의 배치가 이어지는 방식</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결과가 아닌 계산 예시이며, 각 단계에서 energy는 0으로 둔다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2609088"/>
                <a:gridCol w="380492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State의 이전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비교한 총 지연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선택과 다음 state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 위치 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10.0, Edge 2.1, Cloud 3.0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선택 → 이전 위치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이전 위치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5.2, Edge 1.0, Cloud 0.9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 선택 → 이전 위치 Cloud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번째 비교에는 첫 번째 선택에서 생긴 위치 정보가 실제로 들어간다.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4–5, eqs. 4 and 13–17; invented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여러 Q-network가 서로 다른 전체 배치 후보를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s개의 parallel unit은 물리적으로 분리된 서버라는 뜻이 아니다</a:t>
            </a:r>
            <a:endParaRPr lang="en-US" sz="1900" dirty="0"/>
          </a:p>
        </p:txBody>
      </p:sp>
      <p:sp>
        <p:nvSpPr>
          <p:cNvPr id="4" name="mechanism-lane-lane1"/>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후보 1</a:t>
            </a:r>
            <a:endParaRPr lang="en-US" sz="1250" dirty="0"/>
          </a:p>
        </p:txBody>
      </p:sp>
      <p:sp>
        <p:nvSpPr>
          <p:cNvPr id="5" name="mechanism-lane-lane2"/>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후보 2</a:t>
            </a:r>
            <a:endParaRPr lang="en-US" sz="1250" dirty="0"/>
          </a:p>
        </p:txBody>
      </p:sp>
      <p:sp>
        <p:nvSpPr>
          <p:cNvPr id="6" name="mechanism-lane-lane3"/>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후보 s</a:t>
            </a:r>
            <a:endParaRPr lang="en-US" sz="1250" dirty="0"/>
          </a:p>
        </p:txBody>
      </p:sp>
      <p:sp>
        <p:nvSpPr>
          <p:cNvPr id="7" name="mechanism-edge-p1-segment-1"/>
          <p:cNvSpPr/>
          <p:nvPr/>
        </p:nvSpPr>
        <p:spPr>
          <a:xfrm>
            <a:off x="3810000" y="3568700"/>
            <a:ext cx="120650" cy="0"/>
          </a:xfrm>
          <a:prstGeom prst="line">
            <a:avLst/>
          </a:prstGeom>
          <a:noFill/>
          <a:ln w="12700">
            <a:solidFill>
              <a:srgbClr val="0D685C"/>
            </a:solidFill>
            <a:prstDash val="solid"/>
            <a:headEnd type="none"/>
            <a:tailEnd type="none"/>
          </a:ln>
        </p:spPr>
        <p:txBody>
          <a:bodyPr/>
          <a:lstStyle/>
          <a:p>
            <a:endParaRPr lang="ko-KR"/>
          </a:p>
        </p:txBody>
      </p:sp>
      <p:sp>
        <p:nvSpPr>
          <p:cNvPr id="8" name="mechanism-edge-p1-segment-2"/>
          <p:cNvSpPr/>
          <p:nvPr/>
        </p:nvSpPr>
        <p:spPr>
          <a:xfrm flipV="1">
            <a:off x="3930650" y="2730500"/>
            <a:ext cx="0" cy="838200"/>
          </a:xfrm>
          <a:prstGeom prst="line">
            <a:avLst/>
          </a:prstGeom>
          <a:noFill/>
          <a:ln w="12700">
            <a:solidFill>
              <a:srgbClr val="0D685C"/>
            </a:solidFill>
            <a:prstDash val="solid"/>
            <a:headEnd type="none"/>
            <a:tailEnd type="none"/>
          </a:ln>
        </p:spPr>
        <p:txBody>
          <a:bodyPr/>
          <a:lstStyle/>
          <a:p>
            <a:endParaRPr lang="ko-KR"/>
          </a:p>
        </p:txBody>
      </p:sp>
      <p:sp>
        <p:nvSpPr>
          <p:cNvPr id="9" name="mechanism-edge-p1-segment-3"/>
          <p:cNvSpPr/>
          <p:nvPr/>
        </p:nvSpPr>
        <p:spPr>
          <a:xfrm>
            <a:off x="3930650" y="2730500"/>
            <a:ext cx="36195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p2-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p3-segment-1"/>
          <p:cNvSpPr/>
          <p:nvPr/>
        </p:nvSpPr>
        <p:spPr>
          <a:xfrm>
            <a:off x="3810000" y="3975100"/>
            <a:ext cx="241300" cy="0"/>
          </a:xfrm>
          <a:prstGeom prst="line">
            <a:avLst/>
          </a:prstGeom>
          <a:noFill/>
          <a:ln w="12700">
            <a:solidFill>
              <a:srgbClr val="0D685C"/>
            </a:solidFill>
            <a:prstDash val="solid"/>
            <a:headEnd type="none"/>
            <a:tailEnd type="none"/>
          </a:ln>
        </p:spPr>
        <p:txBody>
          <a:bodyPr/>
          <a:lstStyle/>
          <a:p>
            <a:endParaRPr lang="ko-KR"/>
          </a:p>
        </p:txBody>
      </p:sp>
      <p:sp>
        <p:nvSpPr>
          <p:cNvPr id="12" name="mechanism-edge-p3-segment-2"/>
          <p:cNvSpPr/>
          <p:nvPr/>
        </p:nvSpPr>
        <p:spPr>
          <a:xfrm>
            <a:off x="4051300" y="3975100"/>
            <a:ext cx="0" cy="838200"/>
          </a:xfrm>
          <a:prstGeom prst="line">
            <a:avLst/>
          </a:prstGeom>
          <a:noFill/>
          <a:ln w="12700">
            <a:solidFill>
              <a:srgbClr val="0D685C"/>
            </a:solidFill>
            <a:prstDash val="solid"/>
            <a:headEnd type="none"/>
            <a:tailEnd type="none"/>
          </a:ln>
        </p:spPr>
        <p:txBody>
          <a:bodyPr/>
          <a:lstStyle/>
          <a:p>
            <a:endParaRPr lang="ko-KR"/>
          </a:p>
        </p:txBody>
      </p:sp>
      <p:sp>
        <p:nvSpPr>
          <p:cNvPr id="13" name="mechanism-edge-p3-segment-3"/>
          <p:cNvSpPr/>
          <p:nvPr/>
        </p:nvSpPr>
        <p:spPr>
          <a:xfrm>
            <a:off x="4051300" y="4813300"/>
            <a:ext cx="241300"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p4-segment-1"/>
          <p:cNvSpPr/>
          <p:nvPr/>
        </p:nvSpPr>
        <p:spPr>
          <a:xfrm>
            <a:off x="6362700" y="2730500"/>
            <a:ext cx="482600"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p5-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6" name="mechanism-edge-p6-segment-1"/>
          <p:cNvSpPr/>
          <p:nvPr/>
        </p:nvSpPr>
        <p:spPr>
          <a:xfrm>
            <a:off x="6362700" y="4813300"/>
            <a:ext cx="482600" cy="0"/>
          </a:xfrm>
          <a:prstGeom prst="line">
            <a:avLst/>
          </a:prstGeom>
          <a:noFill/>
          <a:ln w="12700">
            <a:solidFill>
              <a:srgbClr val="0D685C"/>
            </a:solidFill>
            <a:prstDash val="solid"/>
            <a:headEnd type="none"/>
            <a:tailEnd type="triangle"/>
          </a:ln>
        </p:spPr>
        <p:txBody>
          <a:bodyPr/>
          <a:lstStyle/>
          <a:p>
            <a:endParaRPr lang="ko-KR"/>
          </a:p>
        </p:txBody>
      </p:sp>
      <p:sp>
        <p:nvSpPr>
          <p:cNvPr id="17" name="mechanism-edge-p7-segment-1"/>
          <p:cNvSpPr/>
          <p:nvPr/>
        </p:nvSpPr>
        <p:spPr>
          <a:xfrm>
            <a:off x="8915400" y="2730500"/>
            <a:ext cx="120650" cy="0"/>
          </a:xfrm>
          <a:prstGeom prst="line">
            <a:avLst/>
          </a:prstGeom>
          <a:noFill/>
          <a:ln w="12700">
            <a:solidFill>
              <a:srgbClr val="0D685C"/>
            </a:solidFill>
            <a:prstDash val="solid"/>
            <a:headEnd type="none"/>
            <a:tailEnd type="none"/>
          </a:ln>
        </p:spPr>
        <p:txBody>
          <a:bodyPr/>
          <a:lstStyle/>
          <a:p>
            <a:endParaRPr lang="ko-KR"/>
          </a:p>
        </p:txBody>
      </p:sp>
      <p:sp>
        <p:nvSpPr>
          <p:cNvPr id="18" name="mechanism-edge-p7-segment-2"/>
          <p:cNvSpPr/>
          <p:nvPr/>
        </p:nvSpPr>
        <p:spPr>
          <a:xfrm>
            <a:off x="9036050" y="2730500"/>
            <a:ext cx="0" cy="838200"/>
          </a:xfrm>
          <a:prstGeom prst="line">
            <a:avLst/>
          </a:prstGeom>
          <a:noFill/>
          <a:ln w="12700">
            <a:solidFill>
              <a:srgbClr val="0D685C"/>
            </a:solidFill>
            <a:prstDash val="solid"/>
            <a:headEnd type="none"/>
            <a:tailEnd type="none"/>
          </a:ln>
        </p:spPr>
        <p:txBody>
          <a:bodyPr/>
          <a:lstStyle/>
          <a:p>
            <a:endParaRPr lang="ko-KR"/>
          </a:p>
        </p:txBody>
      </p:sp>
      <p:sp>
        <p:nvSpPr>
          <p:cNvPr id="19" name="mechanism-edge-p7-segment-3"/>
          <p:cNvSpPr/>
          <p:nvPr/>
        </p:nvSpPr>
        <p:spPr>
          <a:xfrm>
            <a:off x="9036050" y="3568700"/>
            <a:ext cx="361950" cy="0"/>
          </a:xfrm>
          <a:prstGeom prst="line">
            <a:avLst/>
          </a:prstGeom>
          <a:noFill/>
          <a:ln w="12700">
            <a:solidFill>
              <a:srgbClr val="0D685C"/>
            </a:solidFill>
            <a:prstDash val="solid"/>
            <a:headEnd type="none"/>
            <a:tailEnd type="triangle"/>
          </a:ln>
        </p:spPr>
        <p:txBody>
          <a:bodyPr/>
          <a:lstStyle/>
          <a:p>
            <a:endParaRPr lang="ko-KR"/>
          </a:p>
        </p:txBody>
      </p:sp>
      <p:sp>
        <p:nvSpPr>
          <p:cNvPr id="20" name="mechanism-edge-p8-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21" name="mechanism-edge-p9-segment-1"/>
          <p:cNvSpPr/>
          <p:nvPr/>
        </p:nvSpPr>
        <p:spPr>
          <a:xfrm>
            <a:off x="8915400" y="4813300"/>
            <a:ext cx="241300" cy="0"/>
          </a:xfrm>
          <a:prstGeom prst="line">
            <a:avLst/>
          </a:prstGeom>
          <a:noFill/>
          <a:ln w="12700">
            <a:solidFill>
              <a:srgbClr val="0D685C"/>
            </a:solidFill>
            <a:prstDash val="solid"/>
            <a:headEnd type="none"/>
            <a:tailEnd type="none"/>
          </a:ln>
        </p:spPr>
        <p:txBody>
          <a:bodyPr/>
          <a:lstStyle/>
          <a:p>
            <a:endParaRPr lang="ko-KR"/>
          </a:p>
        </p:txBody>
      </p:sp>
      <p:sp>
        <p:nvSpPr>
          <p:cNvPr id="22" name="mechanism-edge-p9-segment-2"/>
          <p:cNvSpPr/>
          <p:nvPr/>
        </p:nvSpPr>
        <p:spPr>
          <a:xfrm flipV="1">
            <a:off x="9156700" y="3975100"/>
            <a:ext cx="0" cy="838200"/>
          </a:xfrm>
          <a:prstGeom prst="line">
            <a:avLst/>
          </a:prstGeom>
          <a:noFill/>
          <a:ln w="12700">
            <a:solidFill>
              <a:srgbClr val="0D685C"/>
            </a:solidFill>
            <a:prstDash val="solid"/>
            <a:headEnd type="none"/>
            <a:tailEnd type="none"/>
          </a:ln>
        </p:spPr>
        <p:txBody>
          <a:bodyPr/>
          <a:lstStyle/>
          <a:p>
            <a:endParaRPr lang="ko-KR"/>
          </a:p>
        </p:txBody>
      </p:sp>
      <p:sp>
        <p:nvSpPr>
          <p:cNvPr id="23" name="mechanism-edge-p9-segment-3"/>
          <p:cNvSpPr/>
          <p:nvPr/>
        </p:nvSpPr>
        <p:spPr>
          <a:xfrm>
            <a:off x="9156700" y="3975100"/>
            <a:ext cx="241300" cy="0"/>
          </a:xfrm>
          <a:prstGeom prst="line">
            <a:avLst/>
          </a:prstGeom>
          <a:noFill/>
          <a:ln w="12700">
            <a:solidFill>
              <a:srgbClr val="0D685C"/>
            </a:solidFill>
            <a:prstDash val="solid"/>
            <a:headEnd type="none"/>
            <a:tailEnd type="triangle"/>
          </a:ln>
        </p:spPr>
        <p:txBody>
          <a:bodyPr/>
          <a:lstStyle/>
          <a:p>
            <a:endParaRPr lang="ko-KR"/>
          </a:p>
        </p:txBody>
      </p:sp>
      <p:sp>
        <p:nvSpPr>
          <p:cNvPr id="24" name="mechanism-node-input"/>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Workflow와 S_i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같은 state를 복제</a:t>
            </a:r>
            <a:endParaRPr lang="en-US" sz="1150" dirty="0"/>
          </a:p>
        </p:txBody>
      </p:sp>
      <p:sp>
        <p:nvSpPr>
          <p:cNvPr id="25" name="mechanism-node-net1"/>
          <p:cNvSpPr/>
          <p:nvPr/>
        </p:nvSpPr>
        <p:spPr>
          <a:xfrm>
            <a:off x="4292600" y="24003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Q-unit 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epsilon-greedy action</a:t>
            </a:r>
            <a:endParaRPr lang="en-US" sz="1150" dirty="0"/>
          </a:p>
        </p:txBody>
      </p:sp>
      <p:sp>
        <p:nvSpPr>
          <p:cNvPr id="26" name="mechanism-node-net2"/>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Q-unit 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epsilon-greedy action</a:t>
            </a:r>
            <a:endParaRPr lang="en-US" sz="1150" dirty="0"/>
          </a:p>
        </p:txBody>
      </p:sp>
      <p:sp>
        <p:nvSpPr>
          <p:cNvPr id="27" name="mechanism-node-nets"/>
          <p:cNvSpPr/>
          <p:nvPr/>
        </p:nvSpPr>
        <p:spPr>
          <a:xfrm>
            <a:off x="4292600" y="44831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Q-unit 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epsilon-greedy action</a:t>
            </a:r>
            <a:endParaRPr lang="en-US" sz="1150" dirty="0"/>
          </a:p>
        </p:txBody>
      </p:sp>
      <p:sp>
        <p:nvSpPr>
          <p:cNvPr id="28" name="mechanism-node-cand1"/>
          <p:cNvSpPr/>
          <p:nvPr/>
        </p:nvSpPr>
        <p:spPr>
          <a:xfrm>
            <a:off x="6845300" y="24003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Sequence A1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a1, a2, …, aN</a:t>
            </a:r>
            <a:endParaRPr lang="en-US" sz="1150" dirty="0"/>
          </a:p>
        </p:txBody>
      </p:sp>
      <p:sp>
        <p:nvSpPr>
          <p:cNvPr id="29" name="mechanism-node-cand2"/>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Sequence A2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a1, a2, …, aN</a:t>
            </a:r>
            <a:endParaRPr lang="en-US" sz="1150" dirty="0"/>
          </a:p>
        </p:txBody>
      </p:sp>
      <p:sp>
        <p:nvSpPr>
          <p:cNvPr id="30" name="mechanism-node-cands"/>
          <p:cNvSpPr/>
          <p:nvPr/>
        </p:nvSpPr>
        <p:spPr>
          <a:xfrm>
            <a:off x="6845300" y="44831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Sequence As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a1, a2, …, aN</a:t>
            </a:r>
            <a:endParaRPr lang="en-US" sz="1150" dirty="0"/>
          </a:p>
        </p:txBody>
      </p:sp>
      <p:sp>
        <p:nvSpPr>
          <p:cNvPr id="31" name="mechanism-node-select"/>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최소 비용 후보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Q(x,b)가 가장 작은 sequence</a:t>
            </a:r>
            <a:endParaRPr lang="en-US" sz="1150" dirty="0"/>
          </a:p>
        </p:txBody>
      </p:sp>
      <p:sp>
        <p:nvSpPr>
          <p:cNvPr id="32" name="Shape 3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33" name="Text 3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병렬성의 역할은 한 workflow에 대해 여러 placement sequence를 탐색하는 것이다.</a:t>
            </a:r>
            <a:endParaRPr lang="en-US" sz="1750" dirty="0"/>
          </a:p>
        </p:txBody>
      </p:sp>
      <p:sp>
        <p:nvSpPr>
          <p:cNvPr id="34" name="Shape 3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5" name="Text 3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5–7, Fig. 3 and Algorithm 1</a:t>
            </a:r>
            <a:endParaRPr lang="en-US" sz="1050" dirty="0"/>
          </a:p>
        </p:txBody>
      </p:sp>
      <p:sp>
        <p:nvSpPr>
          <p:cNvPr id="36" name="Text 3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1: 후보 생성과 Q-learning을 함께 수행한다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 26개 줄을 학습 흐름 중심으로 압축한 구조다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Meta 초기화</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s개 DNN을 같은 psi로 초기화하고 memory를 비운다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Task별 action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S_i를 복제하고 각 unit이 epsilon-greedy action을 낸다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후보 완성</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unit의 action을 A_j에 누적해 전체 배치를 만든다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최종 선택</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Workflow 비용이 가장 작은 A_j를 출력한다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Replay 학습</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경험을 저장하고 표본화해 s개 network를 갱신한다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최종 후보 선택과 network 학습은 관련되지만 같은 연산 단계는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7, Algorithm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Replay memory와 frozen target은 학습 신호를 분리한다</a:t>
            </a:r>
            <a:endParaRPr lang="en-US" sz="3100" dirty="0"/>
          </a:p>
        </p:txBody>
      </p:sp>
      <p:sp>
        <p:nvSpPr>
          <p:cNvPr id="3" name="Shape 1"/>
          <p:cNvSpPr/>
          <p:nvPr/>
        </p:nvSpPr>
        <p:spPr>
          <a:xfrm>
            <a:off x="6096000" y="2324100"/>
            <a:ext cx="0" cy="190500"/>
          </a:xfrm>
          <a:prstGeom prst="line">
            <a:avLst/>
          </a:prstGeom>
          <a:noFill/>
          <a:ln w="12700">
            <a:solidFill>
              <a:srgbClr val="0D685C"/>
            </a:solidFill>
            <a:prstDash val="solid"/>
            <a:headEnd type="none"/>
            <a:tailEnd type="none"/>
          </a:ln>
        </p:spPr>
        <p:txBody>
          <a:bodyPr/>
          <a:lstStyle/>
          <a:p>
            <a:endParaRPr lang="ko-KR"/>
          </a:p>
        </p:txBody>
      </p:sp>
      <p:sp>
        <p:nvSpPr>
          <p:cNvPr id="4" name="Shape 2"/>
          <p:cNvSpPr/>
          <p:nvPr/>
        </p:nvSpPr>
        <p:spPr>
          <a:xfrm>
            <a:off x="3302000" y="2514600"/>
            <a:ext cx="5588000" cy="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6" name="Shape 4"/>
          <p:cNvSpPr/>
          <p:nvPr/>
        </p:nvSpPr>
        <p:spPr>
          <a:xfrm>
            <a:off x="8890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3302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3302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8890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6731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546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2" name="Shape 10"/>
          <p:cNvSpPr/>
          <p:nvPr/>
        </p:nvSpPr>
        <p:spPr>
          <a:xfrm>
            <a:off x="673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096000" y="4800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4" name="Text 12"/>
          <p:cNvSpPr txBox="1"/>
          <p:nvPr/>
        </p:nvSpPr>
        <p:spPr>
          <a:xfrm>
            <a:off x="4191000" y="1727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저장 transition</a:t>
            </a:r>
            <a:endParaRPr lang="en-US" sz="1750" dirty="0"/>
          </a:p>
        </p:txBody>
      </p:sp>
      <p:sp>
        <p:nvSpPr>
          <p:cNvPr id="15" name="Text 13"/>
          <p:cNvSpPr txBox="1"/>
          <p:nvPr/>
        </p:nvSpPr>
        <p:spPr>
          <a:xfrm>
            <a:off x="4191000" y="2006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S_i, a_i, reward, S_i+1</a:t>
            </a:r>
            <a:endParaRPr lang="en-US" sz="1500" dirty="0"/>
          </a:p>
        </p:txBody>
      </p:sp>
      <p:sp>
        <p:nvSpPr>
          <p:cNvPr id="16" name="Text 14"/>
          <p:cNvSpPr txBox="1"/>
          <p:nvPr/>
        </p:nvSpPr>
        <p:spPr>
          <a:xfrm>
            <a:off x="1270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Online network</a:t>
            </a:r>
            <a:endParaRPr lang="en-US" sz="1750" dirty="0"/>
          </a:p>
        </p:txBody>
      </p:sp>
      <p:sp>
        <p:nvSpPr>
          <p:cNvPr id="17" name="Text 15"/>
          <p:cNvSpPr txBox="1"/>
          <p:nvPr/>
        </p:nvSpPr>
        <p:spPr>
          <a:xfrm>
            <a:off x="1270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현재 Q(S_i,a_i)를 갱신</a:t>
            </a:r>
            <a:endParaRPr lang="en-US" sz="1500" dirty="0"/>
          </a:p>
        </p:txBody>
      </p:sp>
      <p:sp>
        <p:nvSpPr>
          <p:cNvPr id="18" name="Text 16"/>
          <p:cNvSpPr txBox="1"/>
          <p:nvPr/>
        </p:nvSpPr>
        <p:spPr>
          <a:xfrm>
            <a:off x="6858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Frozen network</a:t>
            </a:r>
            <a:endParaRPr lang="en-US" sz="1750" dirty="0"/>
          </a:p>
        </p:txBody>
      </p:sp>
      <p:sp>
        <p:nvSpPr>
          <p:cNvPr id="19" name="Text 17"/>
          <p:cNvSpPr txBox="1"/>
          <p:nvPr/>
        </p:nvSpPr>
        <p:spPr>
          <a:xfrm>
            <a:off x="6858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다음 state의 최대 Q를 계산</a:t>
            </a:r>
            <a:endParaRPr lang="en-US" sz="1500" dirty="0"/>
          </a:p>
        </p:txBody>
      </p:sp>
      <p:sp>
        <p:nvSpPr>
          <p:cNvPr id="20" name="Text 18"/>
          <p:cNvSpPr txBox="1"/>
          <p:nvPr/>
        </p:nvSpPr>
        <p:spPr>
          <a:xfrm>
            <a:off x="4191000" y="4191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Q-learning target</a:t>
            </a:r>
            <a:endParaRPr lang="en-US" sz="1750" dirty="0"/>
          </a:p>
        </p:txBody>
      </p:sp>
      <p:sp>
        <p:nvSpPr>
          <p:cNvPr id="21" name="Text 19"/>
          <p:cNvSpPr txBox="1"/>
          <p:nvPr/>
        </p:nvSpPr>
        <p:spPr>
          <a:xfrm>
            <a:off x="4191000" y="4470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즉시 reward와 할인된 미래값 결합</a:t>
            </a:r>
            <a:endParaRPr lang="en-US" sz="1500" dirty="0"/>
          </a:p>
        </p:txBody>
      </p:sp>
      <p:sp>
        <p:nvSpPr>
          <p:cNvPr id="22" name="Text 20"/>
          <p:cNvSpPr txBox="1"/>
          <p:nvPr/>
        </p:nvSpPr>
        <p:spPr>
          <a:xfrm>
            <a:off x="4191000" y="5232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Parameter update</a:t>
            </a:r>
            <a:endParaRPr lang="en-US" sz="1750" dirty="0"/>
          </a:p>
        </p:txBody>
      </p:sp>
      <p:sp>
        <p:nvSpPr>
          <p:cNvPr id="23" name="Text 21"/>
          <p:cNvSpPr txBox="1"/>
          <p:nvPr/>
        </p:nvSpPr>
        <p:spPr>
          <a:xfrm>
            <a:off x="4191000" y="5511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online weight를 학습</a:t>
            </a:r>
            <a:endParaRPr lang="en-US" sz="150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5–7, eq. 18 and Algorithm 1; dqn-paper Methods, experience replay and target network</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식 (18): 현재 추정과 bootstrap target을 섞는다</a:t>
            </a:r>
            <a:endParaRPr lang="en-US" sz="3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5653024"/>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network가 계산한 Q(S_i,a_i)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즉시 신호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선택한 action에서 받은 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Frozen network의 next-state 최대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target을 반영하는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할인율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reward의 비중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업데이트는 한 환경의 action value를 학습하며, psi를 직접 만드는 식은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6, eq. 18</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DQN baseline과 DMRO의 차이</a:t>
            </a:r>
            <a:endParaRPr lang="en-US" sz="3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500376"/>
                <a:gridCol w="3913632"/>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DQN baseline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DMRO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 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Parallel network 1개로 단순화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s개 parallel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환경 시작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 초기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학습된 meta-parameter psi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Local·edge·cloud 중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동일한 세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Inner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Replay와 frozen target을 쓰는 Q-learning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검증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6과 8의 simulator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simulator 조건의 제안법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DMRO의 차별점은 action 공간이 아니라 병렬 후보와 환경 간 초기화 학습이다.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8, Section 5.3; dqn-paper Methods</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새 환경마다 처음부터 학습하는 문제</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환경 변화</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계산 능력과 link bandwidth 조건이 달라진다</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비용 관계 변화</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task라도 좋은 placement가 달라질 수 있다</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기존 초기화</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환경에 맞춘 weight가 새 환경에 맞지 않을 수 있다</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Meta 목표</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환경에서 빠르게 학습할 시작점 psi를 만든다</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DMRO에서 meta-learning의 출력은 placement가 아니라 inner network의 초기값이다.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1–2 and pp. 5–7, Sections 1 and 4.2</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2: 여러 환경을 바꾸며 초기값 psi를 학습한다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Meta algorithm의 출력은 최종 DNN parameter다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일반 초기화</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DNN을 theta0로 시작하고 memory를 비운다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환경 표본화</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환경을 무작위로 골라 state와 action을 만든다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경험 저장</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환경에서 얻은 transition을 memory에 넣는다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환경 재표본화</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환경을 다시 고르고 random replay로 weight를 갱신한다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Meta 출력</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훈련된 DNN parameter를 psi로 내보낸다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Outer loop는 특정 환경의 최적점보다 여러 환경에 쓸 시작점을 목표로 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6–7, Section 4.2 and Algorithm 2; maml-paper Sections 2–3, cited background</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시간축: 환경 간 초기화와 환경 안의 적응</a:t>
            </a:r>
            <a:endParaRPr lang="en-US" sz="3100" dirty="0"/>
          </a:p>
        </p:txBody>
      </p:sp>
      <p:sp>
        <p:nvSpPr>
          <p:cNvPr id="3" name="mechanism-lane-outer"/>
          <p:cNvSpPr txBox="1"/>
          <p:nvPr/>
        </p:nvSpPr>
        <p:spPr>
          <a:xfrm>
            <a:off x="660400" y="1803400"/>
            <a:ext cx="863600" cy="17653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환경 간 학습</a:t>
            </a:r>
            <a:endParaRPr lang="en-US" sz="1250" dirty="0"/>
          </a:p>
        </p:txBody>
      </p:sp>
      <p:sp>
        <p:nvSpPr>
          <p:cNvPr id="4" name="mechanism-lane-inner"/>
          <p:cNvSpPr txBox="1"/>
          <p:nvPr/>
        </p:nvSpPr>
        <p:spPr>
          <a:xfrm>
            <a:off x="660400" y="3568700"/>
            <a:ext cx="863600" cy="17653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새 환경 학습</a:t>
            </a:r>
            <a:endParaRPr lang="en-US" sz="1250" dirty="0"/>
          </a:p>
        </p:txBody>
      </p:sp>
      <p:sp>
        <p:nvSpPr>
          <p:cNvPr id="5" name="mechanism-edge-t1-segment-1"/>
          <p:cNvSpPr/>
          <p:nvPr/>
        </p:nvSpPr>
        <p:spPr>
          <a:xfrm>
            <a:off x="3299460" y="268605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t2-segment-1"/>
          <p:cNvSpPr/>
          <p:nvPr/>
        </p:nvSpPr>
        <p:spPr>
          <a:xfrm>
            <a:off x="5341620" y="26860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t3-segment-1"/>
          <p:cNvSpPr/>
          <p:nvPr/>
        </p:nvSpPr>
        <p:spPr>
          <a:xfrm>
            <a:off x="3299460" y="4451350"/>
            <a:ext cx="321733" cy="0"/>
          </a:xfrm>
          <a:prstGeom prst="line">
            <a:avLst/>
          </a:prstGeom>
          <a:noFill/>
          <a:ln w="12700">
            <a:solidFill>
              <a:srgbClr val="0D685C"/>
            </a:solidFill>
            <a:prstDash val="solid"/>
            <a:headEnd type="none"/>
            <a:tailEnd type="none"/>
          </a:ln>
        </p:spPr>
        <p:txBody>
          <a:bodyPr/>
          <a:lstStyle/>
          <a:p>
            <a:endParaRPr lang="ko-KR"/>
          </a:p>
        </p:txBody>
      </p:sp>
      <p:sp>
        <p:nvSpPr>
          <p:cNvPr id="8" name="mechanism-edge-t3-segment-2"/>
          <p:cNvSpPr/>
          <p:nvPr/>
        </p:nvSpPr>
        <p:spPr>
          <a:xfrm>
            <a:off x="3621193" y="4451350"/>
            <a:ext cx="0" cy="203200"/>
          </a:xfrm>
          <a:prstGeom prst="line">
            <a:avLst/>
          </a:prstGeom>
          <a:noFill/>
          <a:ln w="12700">
            <a:solidFill>
              <a:srgbClr val="0D685C"/>
            </a:solidFill>
            <a:prstDash val="solid"/>
            <a:headEnd type="none"/>
            <a:tailEnd type="none"/>
          </a:ln>
        </p:spPr>
        <p:txBody>
          <a:bodyPr/>
          <a:lstStyle/>
          <a:p>
            <a:endParaRPr lang="ko-KR"/>
          </a:p>
        </p:txBody>
      </p:sp>
      <p:sp>
        <p:nvSpPr>
          <p:cNvPr id="9" name="mechanism-edge-t3-segment-3"/>
          <p:cNvSpPr/>
          <p:nvPr/>
        </p:nvSpPr>
        <p:spPr>
          <a:xfrm>
            <a:off x="3621193" y="4654550"/>
            <a:ext cx="4245187"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t4-segment-1"/>
          <p:cNvSpPr/>
          <p:nvPr/>
        </p:nvSpPr>
        <p:spPr>
          <a:xfrm>
            <a:off x="7383780" y="2686050"/>
            <a:ext cx="241300" cy="0"/>
          </a:xfrm>
          <a:prstGeom prst="line">
            <a:avLst/>
          </a:prstGeom>
          <a:noFill/>
          <a:ln w="12700">
            <a:solidFill>
              <a:srgbClr val="5E6D69"/>
            </a:solidFill>
            <a:prstDash val="dash"/>
            <a:headEnd type="none"/>
            <a:tailEnd type="none"/>
          </a:ln>
        </p:spPr>
        <p:txBody>
          <a:bodyPr/>
          <a:lstStyle/>
          <a:p>
            <a:endParaRPr lang="ko-KR"/>
          </a:p>
        </p:txBody>
      </p:sp>
      <p:sp>
        <p:nvSpPr>
          <p:cNvPr id="11" name="mechanism-edge-t4-segment-2"/>
          <p:cNvSpPr/>
          <p:nvPr/>
        </p:nvSpPr>
        <p:spPr>
          <a:xfrm>
            <a:off x="7625080" y="2686050"/>
            <a:ext cx="0" cy="1562100"/>
          </a:xfrm>
          <a:prstGeom prst="line">
            <a:avLst/>
          </a:prstGeom>
          <a:noFill/>
          <a:ln w="12700">
            <a:solidFill>
              <a:srgbClr val="5E6D69"/>
            </a:solidFill>
            <a:prstDash val="dash"/>
            <a:headEnd type="none"/>
            <a:tailEnd type="none"/>
          </a:ln>
        </p:spPr>
        <p:txBody>
          <a:bodyPr/>
          <a:lstStyle/>
          <a:p>
            <a:endParaRPr lang="ko-KR"/>
          </a:p>
        </p:txBody>
      </p:sp>
      <p:sp>
        <p:nvSpPr>
          <p:cNvPr id="12" name="mechanism-edge-t4-segment-3"/>
          <p:cNvSpPr/>
          <p:nvPr/>
        </p:nvSpPr>
        <p:spPr>
          <a:xfrm>
            <a:off x="7625080" y="4248150"/>
            <a:ext cx="241300" cy="0"/>
          </a:xfrm>
          <a:prstGeom prst="line">
            <a:avLst/>
          </a:prstGeom>
          <a:noFill/>
          <a:ln w="12700">
            <a:solidFill>
              <a:srgbClr val="5E6D69"/>
            </a:solidFill>
            <a:prstDash val="dash"/>
            <a:headEnd type="none"/>
            <a:tailEnd type="triangle"/>
          </a:ln>
        </p:spPr>
        <p:txBody>
          <a:bodyPr/>
          <a:lstStyle/>
          <a:p>
            <a:endParaRPr lang="ko-KR"/>
          </a:p>
        </p:txBody>
      </p:sp>
      <p:sp>
        <p:nvSpPr>
          <p:cNvPr id="13" name="mechanism-edge-t4-label"/>
          <p:cNvSpPr txBox="1"/>
          <p:nvPr/>
        </p:nvSpPr>
        <p:spPr>
          <a:xfrm>
            <a:off x="7091680" y="21272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초기값 전달</a:t>
            </a:r>
            <a:endParaRPr lang="en-US" sz="950" dirty="0"/>
          </a:p>
        </p:txBody>
      </p:sp>
      <p:sp>
        <p:nvSpPr>
          <p:cNvPr id="14" name="mechanism-edge-t5-segment-1"/>
          <p:cNvSpPr/>
          <p:nvPr/>
        </p:nvSpPr>
        <p:spPr>
          <a:xfrm>
            <a:off x="9425940" y="4451350"/>
            <a:ext cx="482600" cy="0"/>
          </a:xfrm>
          <a:prstGeom prst="line">
            <a:avLst/>
          </a:prstGeom>
          <a:noFill/>
          <a:ln w="12700">
            <a:solidFill>
              <a:srgbClr val="0D685C"/>
            </a:solidFill>
            <a:prstDash val="solid"/>
            <a:headEnd type="none"/>
            <a:tailEnd type="triangle"/>
          </a:ln>
        </p:spPr>
        <p:txBody>
          <a:bodyPr/>
          <a:lstStyle/>
          <a:p>
            <a:endParaRPr lang="ko-KR"/>
          </a:p>
        </p:txBody>
      </p:sp>
      <p:sp>
        <p:nvSpPr>
          <p:cNvPr id="15" name="mechanism-node-envs"/>
          <p:cNvSpPr txBox="1"/>
          <p:nvPr/>
        </p:nvSpPr>
        <p:spPr>
          <a:xfrm>
            <a:off x="1739900" y="227330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Train 환경</a:t>
            </a:r>
            <a:endParaRPr lang="en-US" sz="1150" dirty="0"/>
          </a:p>
        </p:txBody>
      </p:sp>
      <p:sp>
        <p:nvSpPr>
          <p:cNvPr id="16" name="mechanism-node-envs-queue-1"/>
          <p:cNvSpPr/>
          <p:nvPr/>
        </p:nvSpPr>
        <p:spPr>
          <a:xfrm>
            <a:off x="1739900" y="25273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E1</a:t>
            </a:r>
            <a:endParaRPr lang="en-US" sz="950" dirty="0"/>
          </a:p>
        </p:txBody>
      </p:sp>
      <p:sp>
        <p:nvSpPr>
          <p:cNvPr id="17" name="mechanism-node-envs-queue-2"/>
          <p:cNvSpPr/>
          <p:nvPr/>
        </p:nvSpPr>
        <p:spPr>
          <a:xfrm>
            <a:off x="1739900" y="27178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E2</a:t>
            </a:r>
            <a:endParaRPr lang="en-US" sz="950" dirty="0"/>
          </a:p>
        </p:txBody>
      </p:sp>
      <p:sp>
        <p:nvSpPr>
          <p:cNvPr id="18" name="mechanism-node-envs-queue-3"/>
          <p:cNvSpPr/>
          <p:nvPr/>
        </p:nvSpPr>
        <p:spPr>
          <a:xfrm>
            <a:off x="1739900" y="29083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E3</a:t>
            </a:r>
            <a:endParaRPr lang="en-US" sz="950" dirty="0"/>
          </a:p>
        </p:txBody>
      </p:sp>
      <p:sp>
        <p:nvSpPr>
          <p:cNvPr id="19" name="mechanism-node-meta"/>
          <p:cNvSpPr/>
          <p:nvPr/>
        </p:nvSpPr>
        <p:spPr>
          <a:xfrm>
            <a:off x="3782060" y="23558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Algorithm 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환경을 바꾸며 학습</a:t>
            </a:r>
            <a:endParaRPr lang="en-US" sz="1150" dirty="0"/>
          </a:p>
        </p:txBody>
      </p:sp>
      <p:sp>
        <p:nvSpPr>
          <p:cNvPr id="20" name="mechanism-node-psi"/>
          <p:cNvSpPr/>
          <p:nvPr/>
        </p:nvSpPr>
        <p:spPr>
          <a:xfrm>
            <a:off x="5824220" y="23558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초기값 psi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Inner DNN 공통 시작점</a:t>
            </a:r>
            <a:endParaRPr lang="en-US" sz="1150" dirty="0"/>
          </a:p>
        </p:txBody>
      </p:sp>
      <p:sp>
        <p:nvSpPr>
          <p:cNvPr id="21" name="mechanism-node-newenv"/>
          <p:cNvSpPr/>
          <p:nvPr/>
        </p:nvSpPr>
        <p:spPr>
          <a:xfrm>
            <a:off x="1739900" y="41211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새 환경</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새 capacity와 bandwidth</a:t>
            </a:r>
            <a:endParaRPr lang="en-US" sz="1150" dirty="0"/>
          </a:p>
        </p:txBody>
      </p:sp>
      <p:sp>
        <p:nvSpPr>
          <p:cNvPr id="22" name="mechanism-node-innerq"/>
          <p:cNvSpPr/>
          <p:nvPr/>
        </p:nvSpPr>
        <p:spPr>
          <a:xfrm>
            <a:off x="7866380" y="41211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Algorithm 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Workflow Q-learning</a:t>
            </a:r>
            <a:endParaRPr lang="en-US" sz="1150" dirty="0"/>
          </a:p>
        </p:txBody>
      </p:sp>
      <p:sp>
        <p:nvSpPr>
          <p:cNvPr id="23" name="mechanism-node-plan"/>
          <p:cNvSpPr txBox="1"/>
          <p:nvPr/>
        </p:nvSpPr>
        <p:spPr>
          <a:xfrm>
            <a:off x="9908540" y="403860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배치 sequence</a:t>
            </a:r>
            <a:endParaRPr lang="en-US" sz="1150" dirty="0"/>
          </a:p>
        </p:txBody>
      </p:sp>
      <p:sp>
        <p:nvSpPr>
          <p:cNvPr id="24" name="mechanism-node-plan-queue-1"/>
          <p:cNvSpPr/>
          <p:nvPr/>
        </p:nvSpPr>
        <p:spPr>
          <a:xfrm>
            <a:off x="9908540" y="42926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Local</a:t>
            </a:r>
            <a:endParaRPr lang="en-US" sz="950" dirty="0"/>
          </a:p>
        </p:txBody>
      </p:sp>
      <p:sp>
        <p:nvSpPr>
          <p:cNvPr id="25" name="mechanism-node-plan-queue-2"/>
          <p:cNvSpPr/>
          <p:nvPr/>
        </p:nvSpPr>
        <p:spPr>
          <a:xfrm>
            <a:off x="9908540" y="44831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Edge</a:t>
            </a:r>
            <a:endParaRPr lang="en-US" sz="950" dirty="0"/>
          </a:p>
        </p:txBody>
      </p:sp>
      <p:sp>
        <p:nvSpPr>
          <p:cNvPr id="26" name="mechanism-node-plan-queue-3"/>
          <p:cNvSpPr/>
          <p:nvPr/>
        </p:nvSpPr>
        <p:spPr>
          <a:xfrm>
            <a:off x="9908540" y="46736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Cloud</a:t>
            </a:r>
            <a:endParaRPr lang="en-US" sz="950" dirty="0"/>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Meta-learning은 action selector가 아니라 inner learner의 시작점을 만든다.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5–7, Fig. 2 and Algorithms 1–2</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DMRO의 meta algorithm과 표준 MAML을 구분한다</a:t>
            </a:r>
            <a:endParaRPr lang="en-US" sz="3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4131056"/>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MAML 원 논문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DMRO 원문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적은 update로 적응할 초기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MEC 환경에 쓸 초기 parameter psi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또는 환경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distribution에서 표본화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MEC environment를 표본화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Inner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Task별 gradient adaptation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Q-learning 경험으로 DNN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Outer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Adaptation 뒤 meta-gradient 명시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meta-gradient 식을 제시하지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안전한 명칭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Model-Agnostic Meta-Learning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MAML에서 영감을 받은 초기화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빠른 적응이라는 목표는 공유하지만 Algorithm 2를 그대로 MAML이라 부를 수는 없다.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6–7, Section 4.2 and Algorithm 2; maml-paper Sections 2–3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실험은 simulator의 한 edge·한 cloud 환경이다</a:t>
            </a:r>
            <a:endParaRPr lang="en-US" sz="3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4565904"/>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사용자와 workflow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IoT user 4명, 각 5개 workflow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실장치 trace가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task 50–100 MB, 이후 10–50 MB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무작위 생성 workload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10^3–10^5 MHz로 무작위 표기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원문 단위를 그대로 인용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입력층, hidden layer 2개, 출력층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세부 layer 폭은 제시되지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alpha = beta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 energy도 동일 weight로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결과는 실제 edge hardware benchmark가 아니라 설정된 simulator 비교다.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7, Section 5.1</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1의 기준 환경</a:t>
            </a:r>
            <a:endParaRPr lang="en-US" sz="3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609088"/>
                <a:gridCol w="2717800"/>
                <a:gridCol w="2717800"/>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자원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Local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Edge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Cloud 또는 link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Computing 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 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70 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150 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Bandwidth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IoT–edge 800 MB/s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edge–cloud 200 MB/s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IoT–cloud 10 MB/s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 J/MB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0.15 J/MB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 J/MB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설정에서는 cloud의 계산은 빠르지만 IoT–cloud link는 가장 느리다.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7, Table 1</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수렴 실험이 알려 주는 training 설정</a:t>
            </a:r>
            <a:endParaRPr lang="en-US" sz="3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739392"/>
                <a:gridCol w="2935224"/>
                <a:gridCol w="3913632"/>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그림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후속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learning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0.01이 표시된 조건 중 가장 좋은 수렴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이후 0.01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 128, 256, 512, 1024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Batch가 클수록 curve 변동이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단일 최적 batch 단정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copy 주기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step마다 작은 fluctuation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step마다 parameter 복사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수렴 곡선은 설정 선택 근거이지 실제 의사결정 시간 측정이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7–8, Figs. 4–5</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6은 다섯 배치 방식의 목적 함수 값을 비교한다</a:t>
            </a:r>
            <a:endParaRPr lang="en-US" sz="3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배치 규칙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task를 device에서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 없는 고정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task를 edge에 배치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full-offload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task를 cloud에 배치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 full-offload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Q-network로 동적 배치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DMRO의 단순화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DMRO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병렬 Q-network와 meta 초기값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제안 방식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표시된 weight-ratio 조건에서 DMRO가 다섯 방식 중 가장 낮은 총비용을 보인다.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8, Section 5.3 and Fig. 6</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Fast-learning 실험은 train과 test 환경을 다르게 둔다</a:t>
            </a:r>
            <a:endParaRPr lang="en-US" sz="3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261360"/>
                <a:gridCol w="4565904"/>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Parameter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Train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Test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Computing 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15–25, edge 50–60, cloud 160–170 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 70, 150 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IoT–edge bandwidth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600–700 MB/s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800 MB/s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Edge–cloud bandwidth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100–150 MB/s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MB/s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IoT–cloud bandwidth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20–30 MB/s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MB/s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coefficient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 0.15, 0.1 J/MB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Meta parameter는 학습 범위와 다른 고정 test environment에서 평가된다.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 8, Table 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7과 8: learned initialization의 조건부 이점</a:t>
            </a:r>
            <a:endParaRPr lang="en-US" sz="3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630680"/>
                <a:gridCol w="2935224"/>
                <a:gridCol w="3913632"/>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그림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말할 수 없는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Meta parameter vs 일반 초기화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초기 수렴이 좋고 더 빠르게 수렴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환경의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두 초기화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몇 차례 학습 뒤 더 낮은 offloading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정확한 실시간 speedup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2의 train/test shift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Simulator에서 portability를 지지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Hardware deployment 검증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근거는 특정 환경 이동에서의 curve 비교이며, adaptation theorem은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8–9, Figs. 7–8</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결과를 안전하게 읽는 경계</a:t>
            </a:r>
            <a:endParaRPr lang="en-US" sz="3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3484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근거가 있는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확장하면 안 되는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6의 simulator와 다섯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 환경의 global optimum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빠른 적응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2 shift에서 Fig. 7–8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재학습이 전혀 필요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병렬 DNN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s개 후보 network의 algorithm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machine의 분산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실시간 decision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결정 지연을 짧다고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측정된 end-to-end latency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확장성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저자가 multi-server 확장을 예상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구현과 실험으로 검증됨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논문은 시뮬레이션 근거를 제공하지만 최적성·실장치·확장성 보장은 제공하지 않는다.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8–9, Sections 5–6</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DMRO를 한 흐름으로 다시 읽기</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의존 workflow</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task와 중간 data flow를 순서대로 입력한다</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세 위치 비용</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계산·전송 지연과 weighted energy를 평가한다</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Inner Q-learning</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병렬 network가 placement sequence 후보를 만든다</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Outer 초기화</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환경에서 새 learner의 시작점 psi를 학습한다</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조건부 평가</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정해진 simulator와 environment shift에서 비교한다</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DMRO의 핵심은 세 위치의 순차 결정과 환경 간 초기화 학습을 분리해 결합한 것이다.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pp. 3–9, Sections 3–6</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DMRO: 환경 변화에 적응하는 작업 오프로딩</dc:title>
  <dc:subject>DMRO: A Deep Meta Reinforcement Learning-based Task Offloading Framework for Edge-Cloud Computing</dc:subject>
  <dc:creator>Research Seminars</dc:creator>
  <cp:lastModifiedBy>Research Seminars</cp:lastModifiedBy>
  <cp:revision>1</cp:revision>
  <dcterms:created xsi:type="dcterms:W3CDTF">2026-09-12T05:02:54Z</dcterms:created>
  <dcterms:modified xsi:type="dcterms:W3CDTF">2026-09-12T05:02:54Z</dcterms:modified>
</cp:coreProperties>
</file>
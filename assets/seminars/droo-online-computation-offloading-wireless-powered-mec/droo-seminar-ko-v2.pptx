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DROO: 무선 전력 MEC의 온라인 오프로딩
발표 대본
이 논문은 무선 전력으로 동작하는 여러 장치가 매 프레임 로컬 계산과 엣지 오프로딩 중 하나를 선택하는 문제를 다룹니다. 핵심은 신경망이 모든 자원값을 직접 정하지 않는다는 점입니다. DROO는 이진 후보를 적게 만들고, 각 후보의 시간 자원과 성능은 별도의 볼록 최적화 문제로 계산합니다.
공개 출처
ieee | p. 1, abstract
IEEE Transactions on Mobile Computing 논문
https://doi.org/10.1109/TMC.2019.2928811
ieee | pp. 4-6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무선 전력 MEC 시스템
발표 대본
논문의 시스템은 고정된 무선 장치와 하나의 AP로 구성됩니다. 동일한 채널 gain이 downlink 에너지 수확량과 uplink 전송률에 모두 들어갑니다. 논문은 표기를 단순화하려고 uplink와 downlink 채널의 상호성을 가정하며, 채널은 한 프레임 동안 일정하고 다음 프레임에서는 달라질 수 있다고 둡니다.
공개 출처
ieee | pp. 2-3, §3.1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프레임의 WPT와 오프로딩 시간
발표 대본
한 프레임에서 AP는 먼저 αT 동안 에너지를 전송합니다. 오프로딩을 선택한 장치들은 남은 시간을 τ_iT씩 나눠 사용합니다. 따라서 α와 모든 τ_i의 합은 1을 넘을 수 없습니다. 로컬 모드 장치는 에너지를 수확하면서 프레임 동안 계산할 수 있습니다. 도식은 한 프레임 내부의 무선 전송 순서를 나타내며 상자 너비는 시간 길이에 비례하지 않습니다. 서로 다른 t, t+1 프레임이나 동시 full duplex 전송을 뜻하지 않습니다.
공개 출처
ieee | p. 3 (2583), Eq. (2) and §3.3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각 task의 두 가지 실행 모드
발표 대본
이 화면의 두 branch는 동시에 수행되는 경로가 아니라 서로 배타적인 선택지입니다. x_i가 0이면 장치가 로컬로 계산하고, 1이면 task 전체를 AP에 오프로딩합니다. 논문은 partial offloading을 허용하지 않습니다. 목적 함수는 선택된 모드에서 처리한 bit rate에 장치별 가중치를 적용해 합합니다.
공개 출처
ieee | pp. 3-4, Eqs. 1-4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모델이 단순화한 범위
발표 대본
AP의 계산 시간과 결과 download 시간은 모델에서 제외됩니다. 논문은 AP의 계산 및 전송 능력이 WD보다 훨씬 크고 반환 결과가 짧다고 가정하기 때문입니다. 또한 주 표기에서는 uplink와 downlink channel gain을 같게 둡니다. 이 가정들은 DROO가 자동으로 해결하는 문제가 아니라 실험과 결론의 적용 범위를 정하는 조건입니다.
공개 출처
ieee | p. 3, §§3.1-3.3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지수적 탐색 공간의 원인
발표 대본
P1은 이진 vector x와 연속 시간 변수 α, τ를 함께 결정하는 mixed integer nonconvex 문제입니다. 가능한 이진 선택 수는 2^N입니다. 논문은 N=20에서도 DQN식 exhaustive action search가 부적합하다고 설명합니다. DROO의 목표는 이 거대한 action space를 작은 후보 집합으로 줄이는 것입니다.
공개 출처
ieee | pp. 3-4, §3.4
IEEE Transactions on Mobile Computing 논문
https://doi.org/10.1109/TMC.2019.2928811
ieee | p. 3 (2583), §2 continued: DQN action search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고정된 이진 pattern과 P2
발표 대본
이 분해가 DROO의 중심입니다. 이진 pattern x가 주어지면 P1은 α와 τ만 최적화하는 볼록 P2가 됩니다. 논문은 시간 제약의 dual variable에 대한 1차원 bisection으로 P2를 O(N)에 풀 수 있다고 설명합니다. 따라서 DNN은 이진 후보를 제안하고 P2는 각 후보의 feasible 자원 배분과 weighted computation rate를 계산합니다. P2의 선택 변수는 α와 τ입니다. 각 장치의 수확 에너지를 모두 사용하는 최적 로컬 계산률 r_L*와 오프로딩률 r_O*를 이미 대입했으므로 별도의 임의 에너지 사용 변수를 선택하지 않습니다. 후보마다 얻은 최적값이지 전체 P1의 전역 최적 보장은 아닙니다.
공개 출처
ieee | p. 4, P1-P2 and Fig. 2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P2는 무엇을 최대화하는가
발표 대본
공식 목적함수는 maximize_{α,τ} Σ_i w_i[(1−x_i)r_L,i*(α)+x_i r_O,i*(α,τ_i)]입니다. E_i=μPh_iαT이며 로컬에서는 t_i*=T, f_i*=(E_i/(κ_iT))^(1/3)이므로 r_L,i*=(μP)^(1/3)/φ × (h_i/κ_i)^(1/3)α^(1/3)입니다. 오프로딩은 P_i*=E_i/(τ_iT), r_O,i*=Bτ_i/v_u log2(1+μPαh_i²/(τ_iN0))입니다. 전력이나 에너지 사용량은 독립 P2 변수가 아닙니다. 논문은 시간 제약 dual에 대한 일차원 이분 탐색으로 O(N)에 해결하는 방법을 예로 듭니다. 이 복잡도 표현은 원문과 그 인용 방법의 설명이며 임의 수치 solver 전체에 대한 보편적 보장은 아닙니다.
공개 출처
ieee | pp. 3–4 (2583–2584), Eqs. (1)–(4), P2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DROO에서 구분해야 할 네 값
발표 대본
DNN은 현재 channel vector h_t를 받아 각 WD의 relaxed score를 출력합니다. 이 score는 실행 action이 아닙니다. OPQ가 score를 K개의 binary vector로 바꾸고, P2가 각 vector에 대해 α와 τ를 계산합니다. 마지막으로 가장 큰 Q*를 주는 binary action과 자원 배분을 함께 실행합니다.
공개 출처
ieee | pp. 5-6, Eqs. 5-10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OPQ의 네 후보 생성 예시
발표 대본
첫 후보는 score&gt;0.5일 때만 1이고, score=0.5는 0입니다. 남은 후보는 |score−0.5|를 비감소 순서로 정렬해 경계 b를 고릅니다. score&gt;b이면 1, score&lt;b이면 0입니다. score=b이면 b≤0.5일 때 1, b&gt;0.5일 때 0으로 처리합니다. 따라서 제시된 네 벡터가 나옵니다. 일반 quantization의 K 범위는 1≤K≤2^N이지만 이 논문의 OPQ 구성은 1≤K≤N+1입니다. 같은 score는 같은 후보에서 같은 값으로 처리되며 score 순서도 비엄격 부등식으로 보존됩니다.
공개 출처
ieee | pp. 5-6, Eqs. 7-9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OPQ에서 경계와 같은 값은 어떻게 처리하는가
발표 대본
b는 |score−0.5|가 작은 순서에서 선택한 score 값입니다. Eq. (9)는 경계와 정확히 같은 원소도 처리합니다. 모든 후보에서 score_i≥score_j이면 x_i^k≥x_j^k입니다. 같은 거리의 score 정렬 순서는 선택될 수 있지만, 같은 score의 이진 처리는 동일합니다. OPQ가 N+1개의 후보를 만들 수 있다는 설명을 모든 quantizer의 공통 상한으로 일반화하지 않습니다.
공개 출처
ieee | pp. 5–6 (2585–2586), Eqs. (7)–(9)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order-preserving의 정확한 뜻
발표 대본
논문의 order-preserving 조건은 score_i≥score_j이면 x_i^k≥x_j^k라는 비엄격 순서 조건입니다. 같은 score는 같은 binary 값으로 처리됩니다. 후보들은 DNN이 만든 순위를 따르지만 모든 가능한 pattern을 열거하지 않습니다. 논문은 특정 simulation에서 OPQ가 KNN보다 빠르게 수렴했다고 보고하며, 보편적인 우월성 정리를 제시하지는 않습니다.
공개 출처
ieee | pp. 5-6, Eqs. 7-9
IEEE Transactions on Mobile Computing 논문
https://doi.org/10.1109/TMC.2019.2928811
ieee | p. 10, Fig. 10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한 프레임의 online 실행 경로
발표 대본
Algorithm 1의 online 경로는 현재 channel 관측, DNN inference, OPQ, K개의 P2 평가, argmax 선택 순서입니다. 논문은 각 후보의 P2 평가를 병렬로 처리할 수 있다고 설명합니다. 최종 출력은 선택된 binary action과 그 후보에 대한 optimal α와 τ입니다.
공개 출처
ieee | pp. 5-6, Algorithm 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P2는 후보별 자원 최적화·평가를 맡는다
발표 대본
analytical critic이라는 표현은 구조를 설명하기 위한 교육용 이름입니다. 논문은 이를 resource allocation problem P2라고 부릅니다. P2는 candidate pattern마다 물리 제약을 만족하는 α와 τ를 최적화하고 Q*를 반환합니다. actor-critic 알고리즘의 learned critic과 다르며, DNN은 선택된 x*를 label로 받아 분류 정책을 갱신합니다. 수확 에너지 전량 사용 조건은 r_L*, r_O*에 들어 있고 P2는 α와 τ만 선택합니다.
공개 출처
ieee | pp. 4-6, P2 and Algorithm 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실행 경험에서 다음 policy까지
발표 대본
선택된 pair h_t와 x*_t는 replay memory에 들어갑니다. memory가 차면 가장 오래된 sample을 새 sample로 바꿉니다. 논문은 매 d 프레임마다 uniform batch를 뽑아 cross-entropy loss를 Adam으로 줄입니다. 따라서 매 프레임의 DNN inference와 후보 평가는 runtime 경로이고, replay training은 주기적으로 실행되는 policy update 경로입니다.
공개 출처
ieee | p. 6, §4.3 and Algorithm 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adaptive K의 갱신 규칙
발표 대본
초기 K_1=N입니다. t mod D=0이면 K_t=min(max{k*_(t−1),…,k*_(t−D)}+1,N), 그 외에는 K_t=K_(t−1)입니다. k*는 1부터 시작하는 실제 선택 후보 순위이며, 현재 t의 선택이나 단순 제안 후보 순위가 아닙니다. 화면은 D=3, N≥4에서 직전 선택 순위 2,3,1을 사용한 교육용 예시입니다. max+1=4이고 N 상한을 적용합니다. 추가 1은 K가 다시 커질 여지를 둡니다. 이후 논문 실험에서 택한 D=32와 일반 규칙을 구분합니다.
공개 출처
ieee | pp. 6-7, §4.4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교육용 계산: 수확 에너지를 모두 쓰는 고정 후보
발표 대본
모든 수치는 설명용 가정이며 원문 실험값이 아닙니다. T=1초, μPh1=.20 W와 μPh2=.12 W이면 α=.5일 때 E1=.10 J, E2=.06 J입니다. WD1은 τ1=.25초 동안 .10 J를 모두 사용하므로 송신 전력 .40 W입니다. WD2는 양의 κ2에 대해 f2=(.06/(κ2T))^(1/3)로 T 전체에서 계산하며 κ2 f2³T=.06 J입니다. 남은 .25의 무선 시간이 있으므로 이 지점을 P2 최적해로 부르지 않습니다. 모델 일치와 feasibility를 보여주는 예시이며 실제 P2는 시간값을 최적화합니다.
공개 출처
ieee | pp. 3-4, Eqs. 1-4 and P2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수치 실험의 조건
발표 대본
논문은 Rayleigh fading과 특정 WPT 장치 parameter를 사용합니다. DNN은 hidden layer 120과 80의 fully connected network이며 replay memory 1024, batch 128, training interval 10을 사용합니다. 실행 시간은 Intel Core i5-4570 3.2 GHz와 12 GB memory에서 측정했습니다.
공개 출처
ieee | p. 7, §5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OPQ와 KNN 결과의 조건부 비교
발표 대본
Fig. 10에서 N=10일 때 K=N이면 두 quantizer 모두 최적 action에 수렴합니다. K=2에서는 normalized rate가 약 0.95 수준입니다. K가 2 이상일 때 OPQ가 KNN보다 빠르게 수렴했지만, 이는 해당 simulation의 관측입니다. K=1에서는 후보 선택이 없어 DNN policy가 개선되지 않았습니다. 곡선은 N=10에서 200-frame 이동평균이며 K=1 등의 관측을 보편적 수렴 정리로 일반화하지 않습니다.
공개 출처
ieee | p. 10, Fig. 10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computation rate 비교의 조건
발표 대본
DROO는 24,000개의 독립 channel realization으로 학습한 뒤 6,000개의 새 realization에서 평가됩니다. N=10은 모든 2^N action 열거로 normalized rate를 계산할 수 있지만, N=20과 30에서는 계산량 때문에 CD 결과로 정규화합니다. 따라서 큰 N의 near-optimal 표현은 해당 benchmark와 simulation 조건에 근거합니다. 원문은 median이 1에 가깝고 confidence intervals가 대부분 .99 이상이라고 구분합니다. 모든 realization이 .99 이상이라는 뜻이 아닙니다.
공개 출처
ieee | p. 11, Figs. 14-15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N=30에서 보고된 CPU latency
발표 대본
Table 2에서 N=30일 때 fixed K DROO는 0.31초, adaptive K DROO는 0.059초, CD는 3.8초, LR은 0.81초입니다. 논문은 static IoT 환경의 channel coherence time을 근거로 2초 frame을 예로 들고, 0.059초를 약 3퍼센트 overhead로 해석합니다. 다른 hardware, network, solver에서는 같은 수치를 보장하지 않습니다. Table 2는 30,000개 독립 channel realization의 평균이며 action generation과 DNN training을 모두 포함합니다. Replay 학습은 d=10 프레임마다 실행되므로 훈련 비용이 평균에 포함된 것이지 매 프레임 전체 training을 한다는 뜻은 아닙니다. 0.059초를 DNN inference 단독 시간이라고 부르면 안 됩니다.
공개 출처
ieee | pp. 11-12, Table 2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적용 범위와 남은 한계
발표 대본
논문은 conclusion에서 WD mobility가 학습 수렴을 어렵게 만들 수 있다고 밝힙니다. 또한 binary task model, AP compute 및 download delay 무시, channel 중심 state라는 범위가 있습니다. DROO는 mixed integer 문제를 직접 반복해서 푸는 일을 피하지만, 각 candidate의 P2는 계속 계산해야 합니다.
공개 출처
ieee | pp. 3-6
IEEE Transactions on Mobile Computing 논문
https://doi.org/10.1109/TMC.2019.2928811
ieee | p. 12, §6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DROO와 LyDROO의 경계
발표 대본
DROO와 LyDROO는 이름과 후보 생성 구조가 비슷하지만 해결하는 문제가 다릅니다. DROO의 입력은 현재 channel gain이고 프레임별 weighted computation rate를 최대화합니다. LyDROO는 stochastic task arrival, 실제 data queue Q와 가상 평균 전력 queue Y를 포함합니다. Y는 배터리가 아니며 전력 e=E/T와 평균 전력 threshold의 차이에서 갱신됩니다. NOP는 noise-free OPQ 절반과 Gaussian noise·sigmoid 뒤 OPQ 절반을 합칩니다. LyDROO Theorem 1은 i.i.d. event process, feasible P1, Slater slack, 매 프레임 P2 최적값에 대한 고정 gap C를 가정합니다. 그 조건에서 강한 data-queue 안정성과 평균 전력 제약을 보장하며 이를 임의의 신경망이나 모든 배포 환경에 소급하지 않습니다.
공개 출처
ieee | pp. 3-6
IEEE Transactions on Mobile Computing 논문
https://doi.org/10.1109/TMC.2019.2928811
lydroo | pp. 5–11 (7523–7529), Eqs. (5), (7), (20), (25)–(28), Theorem 1
LyDROO 후속 논문
https://doi.org/10.1109/TWC.2021.3085319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DROO의 핵심 계산 구조
발표 대본
DROO는 이진 결정을 제안하는 학습 부분과 연속 자원을 최적화하는 해석적 부분을 결합합니다. DNN은 현재 channel에서 offloading 순위를 제안하고, OPQ는 작은 binary candidate set을 만듭니다. P2가 각 candidate의 물리 제약을 만족하는 자원 배분과 점수를 계산한 뒤 최고 후보를 선택합니다. 선택 결과는 다음 policy update의 label이 됩니다.
공개 출처
ieee | pp. 4-7, Fig. 3 and Algorithm 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핵심 notation
발표 대본
이 notation을 구분하면 알고리즘의 역할 분담이 명확해집니다. x_hat은 연속 score, x^k는 candidate, x*는 선택 결과입니다. α와 τ는 DNN이나 OPQ가 아니라 P2가 계산합니다. 발표자 참고: 왜 DNN이 τ도 출력하지 않는가: P2가 연속 자원을 최적화해 시간 제약을 직접 만족시킨다. OPQ가 모든 action을 보는가: K개만 평가하며 모든 2^N action을 열거하지 않는다. channel gain이 왜 두 번 작용하는가: 같은 gain이 수확 에너지와 uplink rate에 함께 들어간다. 0.059초가 항상 real-time인가: 논문의 N=30, i5-4570, 2초 frame 조건에서만 나온 수치다.
공개 출처
ieee | pp. 4-6, Table 1
IEEE Transactions on Mobile Computing 논문
https://doi.org/10.1109/TMC.2019.2928811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공개 출처
발표 대본
논문의 공식 DOI, 공개 원고 기록, 저자 구현 repository를 함께 제시합니다. LyDROO는 DROO와 구분해야 할 후속 논문이므로 별도 DOI로 표시했습니다. arXiv는 이전 공개 원고 기록이며 저널판과 페이지·내용이 동일하다고 가정하지 않습니다. 저자 코드는 구현 참고이지 이론과 실험 주장의 대체 증거가 아닙니다.
공개 출처
ieee | title and DOI record
IEEE Transactions on Mobile Computing 논문
https://doi.org/10.1109/TMC.2019.2928811
arxiv | abstract record
DROO 이전 공개 원고 기록
https://arxiv.org/abs/1808.01977
code | repository root
저자 공개 DROO 구현
https://github.com/revenol/DROO
lydroo | title and DOI record
LyDROO 후속 논문
https://doi.org/10.1109/TWC.2021.3085319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DROO: 무선 전력 MEC의 온라인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for Online Computation Offloading in Wireless Powered Mobile-Edge Computing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Liang Huang, Suzhi Bi, Ying-Jun Angela Zhang (2020)</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신경망이 이진 후보를 제안하고 해석적 최적화가 물리 제약을 만족시키는 구조</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 abstract; ieee pp. 4-6</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무선 전력 MEC 시스템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하나의 AP가 에너지를 보내고 여러 WD의 오프로딩 데이터를 받는다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 맡는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프레임에서 관측되는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RF 에너지 전송과 MEC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안정적인 전원과 높은 계산 능력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에너지 수확 뒤 로컬 계산 또는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AP와의 현재 채널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채널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수확 에너지와 uplink rate에 함께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프레임 안에서는 고정, 프레임마다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채널 gain은 에너지 수확과 데이터 전송 성능을 동시에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2-3, §3.1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프레임의 WPT와 오프로딩 시간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AP가 먼저 α 비율 동안 에너지를 보내고 선택된 WD가 남은 시간을 TDMA로 나눈다</a:t>
            </a:r>
            <a:endParaRPr lang="en-US" sz="1900" dirty="0"/>
          </a:p>
        </p:txBody>
      </p:sp>
      <p:sp>
        <p:nvSpPr>
          <p:cNvPr id="4" name="mechanism-lane-fra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프레임 시간</a:t>
            </a:r>
            <a:endParaRPr lang="en-US" sz="1250" dirty="0"/>
          </a:p>
        </p:txBody>
      </p:sp>
      <p:sp>
        <p:nvSpPr>
          <p:cNvPr id="5" name="mechanism-edge-tim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im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im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wp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WPT α</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AP가 RF 에너지 전송</a:t>
            </a:r>
            <a:endParaRPr lang="en-US" sz="1150" dirty="0"/>
          </a:p>
        </p:txBody>
      </p:sp>
      <p:sp>
        <p:nvSpPr>
          <p:cNvPr id="9" name="mechanism-node-wd1"/>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WD 1의 τ1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선택된 task 전송</a:t>
            </a:r>
            <a:endParaRPr lang="en-US" sz="1150" dirty="0"/>
          </a:p>
        </p:txBody>
      </p:sp>
      <p:sp>
        <p:nvSpPr>
          <p:cNvPr id="10" name="mechanism-node-wd2"/>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WD 2의 τ2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선택된 task 전송</a:t>
            </a:r>
            <a:endParaRPr lang="en-US" sz="1150" dirty="0"/>
          </a:p>
        </p:txBody>
      </p:sp>
      <p:sp>
        <p:nvSpPr>
          <p:cNvPr id="11" name="mechanism-node-en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프레임 종료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α와 모든 τ의 합은 1 이하</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TDD 모델에서는 에너지 전송이 먼저이고 오프로딩 전송은 그 뒤에 이어진다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3 (2583), Eq. (2) and §3.3</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각 task의 두 가지 실행 모드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task 분할 없이 로컬 계산과 완전 오프로딩 중 하나만 선택한다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WD의 한 task</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프레임 안에 처리할 분할 불가 작업</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x_i=0 로컬</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수확 에너지로 WD CPU에서 계산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x_i=1 오프로딩</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수확 에너지로 AP에 전체 task 전송</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binary gate x_i</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경로 중 한 mode의 rate만 선택</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WD i 처리량</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선택 mode rate에 weight를 적용</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3-4, Eqs. 1-4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모델이 단순화한 범위</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27178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계산에서의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해석할 때의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계산 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AP가 WD보다 훨씬 빠르다는 전제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 download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반환 데이터가 짧다는 전제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reciprocity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gain 표기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uplink와 downlink가 같다는 단순화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분할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로컬 또는 전체 오프로딩만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DROO의 성능 주장은 이 시스템 모델과 시간 가정 안에서 읽어야 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3, §§3.1-3.3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지수적 탐색 공간의 원인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N개 WD의 이진 선택은 2^N개의 local·offload pattern을 만든다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WD가 3개면 가능한 이진 pattern은 8개다.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WD가 20개면 가능한 pattern은 1,048,576개다.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WD가 30개면 가능한 pattern은 1,073,741,824개다.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연속 변수 α와 τ보다 먼저, 이진 vector x를 찾는 단계가 조합 폭발을 만든다.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채널이 달라질 때마다 coherence time 안에서 같은 문제를 다시 풀어야 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DROO는 2^N pattern 전체를 평가하지 않고 DNN 주변의 K개 후보만 평가한다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3-4, §3.4; ieee p. 3 (2583), §2 continued: DQN action search</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고정된 이진 pattern과 P2</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x를 고정하면 남은 α와 τ 최적화는 볼록 문제로 바뀐다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현재 channel h</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수확 에너지와 uplink 품질을 결정</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고정 pattern x</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WD의 local 또는 offload를 지정</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볼록 P2</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시간 제약 안에서 α와 τ를 최적화</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후보 평가값</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Q*와 feasible 자원 배분을 반환</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4, P1-P2 and Fig. 2</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P2는 무엇을 최대화하는가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고정된 x에서 Q=Σ w_i[(1−x_i)r_L,i* + x_i r_O,i*]를 최대화한다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13105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수학적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 τ_i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WPT와 장치별 전송 시간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α+Στ_i≤1; α,τ_i≥0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프레임 시간을 함께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에너지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모드의 r_L*, r_O*에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수확 에너지 전량 사용에서 유도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볼록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x의 오목 목적함수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선형 시간 제약 아래 후보별 해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이진 후보는 DNN·OPQ가 만들고 연속 시간 배분은 P2가 최적화한다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3–4 (2583–2584), Eqs. (1)–(4), P2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DROO에서 구분해야 할 네 값</a:t>
            </a:r>
            <a:endParaRPr lang="en-US" sz="3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065528"/>
                <a:gridCol w="2717800"/>
                <a:gridCol w="293522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형식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아직 아닌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h_t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channel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channel 예측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relaxed x_hat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0과 1 사이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순위 제안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가능한 최종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x^k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또는 1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P2에 넣을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자원 배분이 끝난 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 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시간 배분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P2가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DNN의 직접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DNN score, binary action, 자원 배분을 한 단계로 합쳐 이해하면 안 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Eqs. 5-10</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OPQ의 네 후보 생성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relaxed output [0.2, 0.4, 0.7, 0.9]에서 K=4 후보를 만든다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391664"/>
                <a:gridCol w="3043936"/>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적용한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binary 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변경되는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score&gt;0.5이면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0.5와 같으면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경계값 0.4는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경계값 0.7은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경계값 0.2는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OPQ는 0.5와 가까운 score의 순서를 따라 서로 다른 binary 후보를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Eqs. 7-9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OPQ에서 경계와 같은 값은 어떻게 처리하는가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기본 후보와 나머지 후보의 동률 처리 규칙을 구분한다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913632"/>
                <a:gridCol w="347878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이진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score&gt;0.5 →1; 그 외0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score=0.5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후보: score&gt;b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b=0.4, score=0.7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후보: score&lt;b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b=0.7, score=0.4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score=b, b≤0.5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b=score=0.4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score=b, b&gt;0.5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b=score=0.7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일반 K≤2^N과 이 OPQ의 K≤N+1은 서로 다른 범위다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(2585–2586), Eqs. (7)–(9)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order-preserving의 정확한 뜻</a:t>
            </a:r>
            <a:endParaRPr lang="en-US" sz="3100" dirty="0"/>
          </a:p>
        </p:txBody>
      </p:sp>
      <p:sp>
        <p:nvSpPr>
          <p:cNvPr id="3" name="Text 1"/>
          <p:cNvSpPr txBox="1"/>
          <p:nvPr/>
        </p:nvSpPr>
        <p:spPr>
          <a:xfrm>
            <a:off x="838200" y="17399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score_i≥score_j이면, 모든 후보에서 x_i^k≥x_j^k다.</a:t>
            </a:r>
            <a:endParaRPr lang="en-US" sz="2000" dirty="0"/>
          </a:p>
        </p:txBody>
      </p:sp>
      <p:sp>
        <p:nvSpPr>
          <p:cNvPr id="4" name="Shape 2"/>
          <p:cNvSpPr/>
          <p:nvPr/>
        </p:nvSpPr>
        <p:spPr>
          <a:xfrm>
            <a:off x="838200" y="2476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5146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score 순위를 유지하면서 threshold를 바꿔 K개의 후보를 만든다.</a:t>
            </a:r>
            <a:endParaRPr lang="en-US" sz="2000" dirty="0"/>
          </a:p>
        </p:txBody>
      </p:sp>
      <p:sp>
        <p:nvSpPr>
          <p:cNvPr id="6" name="Shape 4"/>
          <p:cNvSpPr/>
          <p:nvPr/>
        </p:nvSpPr>
        <p:spPr>
          <a:xfrm>
            <a:off x="838200" y="3251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2893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KNN 후보보다 서로 떨어진 pattern을 만들어 탐색 다양성을 높이려는 설계다.</a:t>
            </a:r>
            <a:endParaRPr lang="en-US" sz="2000" dirty="0"/>
          </a:p>
        </p:txBody>
      </p:sp>
      <p:sp>
        <p:nvSpPr>
          <p:cNvPr id="8" name="Shape 6"/>
          <p:cNvSpPr/>
          <p:nvPr/>
        </p:nvSpPr>
        <p:spPr>
          <a:xfrm>
            <a:off x="838200" y="4025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40640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모든 2^N action을 확인하지 않으므로 전역 최적 action 포함을 보장하지 않는다.</a:t>
            </a:r>
            <a:endParaRPr lang="en-US" sz="200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OPQ는 DNN의 상대 순위를 보존하는 후보 생성 규칙이지 exhaustive search가 아니다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Eqs. 7-9; ieee p. 10, Fig. 10</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프레임의 online 실행 경로</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channel 관측</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프레임 시작에 현재 h_t를 읽는다.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relaxed score</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DNN이 x_hat_t를 출력한다.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K개 후보</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OPQ가 binary x_t^k를 만든다.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P2 평가</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후보의 Q*와 α*, τ*를 계산한다.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선택과 실행</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큰 Q*의 x*_t와 자원을 실행한다.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실행 action은 DNN 출력이 아니라 K번의 P2 평가 뒤에 결정된다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Algorithm 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P2는 후보별 자원 최적화·평가를 맡는다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‘analytical critic’은 이 역할을 설명하는 교육용 이름이며 원문의 P2를 가리킨다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500376"/>
                <a:gridCol w="271780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보장하거나 학습하는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h_t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relaxed x_hat_t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후보의 순위를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relaxed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K개 binary pattern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순서를 보존한 후보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h_t와 x_t^k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α*, 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제약을 만족하는 최적 배분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K개의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후보 집합 안에서 최고값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P2는 learned value network가 아니라 후보마다 호출되는 볼록 optimizer다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4-6, P2 and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실행 경험에서 다음 policy까지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online 선택 결과를 label로 저장하고 매 d 프레임마다 replay batch로 DNN을 갱신한다</a:t>
            </a:r>
            <a:endParaRPr lang="en-US" sz="1900" dirty="0"/>
          </a:p>
        </p:txBody>
      </p:sp>
      <p:sp>
        <p:nvSpPr>
          <p:cNvPr id="4" name="mechanism-lane-trai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replay 학습</a:t>
            </a:r>
            <a:endParaRPr lang="en-US" sz="1250" dirty="0"/>
          </a:p>
        </p:txBody>
      </p:sp>
      <p:sp>
        <p:nvSpPr>
          <p:cNvPr id="5" name="mechanism-edge-learn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earn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earn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learn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pair"/>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선택 pair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현재 h_t와 선택 x*_t</a:t>
            </a:r>
            <a:endParaRPr lang="en-US" sz="1150" dirty="0"/>
          </a:p>
        </p:txBody>
      </p:sp>
      <p:sp>
        <p:nvSpPr>
          <p:cNvPr id="10" name="mechanism-node-memory"/>
          <p:cNvSpPr txBox="1"/>
          <p:nvPr/>
        </p:nvSpPr>
        <p:spPr>
          <a:xfrm>
            <a:off x="3782060" y="33591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replay memory</a:t>
            </a:r>
            <a:endParaRPr lang="en-US" sz="1150" dirty="0"/>
          </a:p>
        </p:txBody>
      </p:sp>
      <p:sp>
        <p:nvSpPr>
          <p:cNvPr id="11" name="mechanism-node-memory-queue-1"/>
          <p:cNvSpPr/>
          <p:nvPr/>
        </p:nvSpPr>
        <p:spPr>
          <a:xfrm>
            <a:off x="3782060" y="3613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최근 pair</a:t>
            </a:r>
            <a:endParaRPr lang="en-US" sz="950" dirty="0"/>
          </a:p>
        </p:txBody>
      </p:sp>
      <p:sp>
        <p:nvSpPr>
          <p:cNvPr id="12" name="mechanism-node-memory-queue-2"/>
          <p:cNvSpPr/>
          <p:nvPr/>
        </p:nvSpPr>
        <p:spPr>
          <a:xfrm>
            <a:off x="378206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이전 pair</a:t>
            </a:r>
            <a:endParaRPr lang="en-US" sz="950" dirty="0"/>
          </a:p>
        </p:txBody>
      </p:sp>
      <p:sp>
        <p:nvSpPr>
          <p:cNvPr id="13" name="mechanism-node-memory-queue-3"/>
          <p:cNvSpPr/>
          <p:nvPr/>
        </p:nvSpPr>
        <p:spPr>
          <a:xfrm>
            <a:off x="3782060" y="3994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오래된 pair</a:t>
            </a:r>
            <a:endParaRPr lang="en-US" sz="950" dirty="0"/>
          </a:p>
        </p:txBody>
      </p:sp>
      <p:sp>
        <p:nvSpPr>
          <p:cNvPr id="14" name="mechanism-node-batch"/>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uniform batch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저장 pair를 무작위 추출</a:t>
            </a:r>
            <a:endParaRPr lang="en-US" sz="1150" dirty="0"/>
          </a:p>
        </p:txBody>
      </p:sp>
      <p:sp>
        <p:nvSpPr>
          <p:cNvPr id="15" name="mechanism-node-adam"/>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Adam update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cross-entropy loss 감소</a:t>
            </a:r>
            <a:endParaRPr lang="en-US" sz="1150" dirty="0"/>
          </a:p>
        </p:txBody>
      </p:sp>
      <p:sp>
        <p:nvSpPr>
          <p:cNvPr id="16" name="mechanism-node-policy"/>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policy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프레임 DNN에 사용</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runtime은 매 프레임 수행되지만 DNN training은 d 프레임 간격으로 수행된다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6, §4.3 and Algorithm 1</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adaptive K의 갱신 규칙</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 mod D=0일 때, 현재 프레임 이전 D개의 선택 순위로 갱신한다</a:t>
            </a:r>
            <a:endParaRPr lang="en-US" sz="1900" dirty="0"/>
          </a:p>
        </p:txBody>
      </p:sp>
      <p:sp>
        <p:nvSpPr>
          <p:cNvPr id="4" name="mechanism-lane-k-updat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K 갱신</a:t>
            </a:r>
            <a:endParaRPr lang="en-US" sz="1250" dirty="0"/>
          </a:p>
        </p:txBody>
      </p:sp>
      <p:sp>
        <p:nvSpPr>
          <p:cNvPr id="5" name="mechanism-edge-k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k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k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initial"/>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초기 K1=N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넓은 후보 집합으로 시작</a:t>
            </a:r>
            <a:endParaRPr lang="en-US" sz="1150" dirty="0"/>
          </a:p>
        </p:txBody>
      </p:sp>
      <p:sp>
        <p:nvSpPr>
          <p:cNvPr id="9" name="mechanism-node-ranks"/>
          <p:cNvSpPr txBox="1"/>
          <p:nvPr/>
        </p:nvSpPr>
        <p:spPr>
          <a:xfrm>
            <a:off x="42926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최근 선택 순위</a:t>
            </a:r>
            <a:endParaRPr lang="en-US" sz="1150" dirty="0"/>
          </a:p>
        </p:txBody>
      </p:sp>
      <p:sp>
        <p:nvSpPr>
          <p:cNvPr id="10" name="mechanism-node-ranks-queue-1"/>
          <p:cNvSpPr/>
          <p:nvPr/>
        </p:nvSpPr>
        <p:spPr>
          <a:xfrm>
            <a:off x="42926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2위</a:t>
            </a:r>
            <a:endParaRPr lang="en-US" sz="950" dirty="0"/>
          </a:p>
        </p:txBody>
      </p:sp>
      <p:sp>
        <p:nvSpPr>
          <p:cNvPr id="11" name="mechanism-node-ranks-queue-2"/>
          <p:cNvSpPr/>
          <p:nvPr/>
        </p:nvSpPr>
        <p:spPr>
          <a:xfrm>
            <a:off x="42926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3위</a:t>
            </a:r>
            <a:endParaRPr lang="en-US" sz="950" dirty="0"/>
          </a:p>
        </p:txBody>
      </p:sp>
      <p:sp>
        <p:nvSpPr>
          <p:cNvPr id="12" name="mechanism-node-ranks-queue-3"/>
          <p:cNvSpPr/>
          <p:nvPr/>
        </p:nvSpPr>
        <p:spPr>
          <a:xfrm>
            <a:off x="42926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1위</a:t>
            </a:r>
            <a:endParaRPr lang="en-US" sz="950" dirty="0"/>
          </a:p>
        </p:txBody>
      </p:sp>
      <p:sp>
        <p:nvSpPr>
          <p:cNvPr id="13" name="mechanism-node-rul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최대 순위+1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예시는 3+1로 계산</a:t>
            </a:r>
            <a:endParaRPr lang="en-US" sz="1150" dirty="0"/>
          </a:p>
        </p:txBody>
      </p:sp>
      <p:sp>
        <p:nvSpPr>
          <p:cNvPr id="14" name="mechanism-node-nextk"/>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K=4</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상한 N 안에서 적용</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adaptive K는 P2 호출 수를 줄이는 경험적 cost·quality 조절이며 최적성 보장이 아니다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6-7, §4.4</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계산: 수확 에너지를 모두 쓰는 고정 후보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T=1 s, x=[1,0], α=0.50, τ1=0.25인 모형 일치 지점을 계산한다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78332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 또는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α+τ1=0.75≤1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feasible일 뿐 최적해 주장은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수확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μPh1=0.20 W, μPh2=0.12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E1=0.10 J, E2=0.06 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WD1: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P1*=E1/(τ1T)=0.40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0.25 s 동안 0.10 J 전량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WD2: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f2*=(0.06/(κ2T))^(1/3)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전체에서 0.06 J 전량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P2는 임의의 에너지 사용량을 고르지 않고 α와 τ를 바꿔 weighted rate를 최대화한다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3-4, Eqs. 1-4 and P2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수치 실험의 조건</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065528"/>
                <a:gridCol w="4565904"/>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해석에 필요한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Rayleigh fading, 915 MHz, 2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프레임별 독립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3 W, 수확 효율 0.51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Powercast 장치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hidden 120과 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TensorFlow 1.0, Adam 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1024, batch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interval d=10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장비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i5-4570 3.2 GHz, RAM 12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latency 비교의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 수치와 latency는 이 simulation, model, hardware 조건에 묶여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7, §5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OPQ와 KNN 결과의 조건부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N=10 fading simulation의 200-frame 이동평균으로 수렴을 비교했다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관측</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있는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 K=N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방법 모두 normalized rate 1에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충분한 후보를 둔 simulation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 K=2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방법 모두 약 0.95에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K에서는 suboptimal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K가 2 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OPQ가 KNN보다 빠르게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fading simulation 안의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방법 모두 수렴하지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selection이 없어 policy 개선이 막힘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OPQ의 장점은 논문 실험의 수렴 속도이며 보편적 우월성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10, Fig.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computation rate 비교의 조건</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913632"/>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24,000개 독립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 수렴 뒤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channel 6,000개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N에서 평균 rate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 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CD, LR, all-local, all-edge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DROO는 CD와 유사한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 열거 최적; N=20,30: CD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median≈1; 신뢰구간은 대부분 .99 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N=10은 열거 최적값, 큰 N은 CD benchmark와의 조건부 비교다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11, Figs. 14-15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N=30에서 보고된 CPU latency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30,000개 독립 channel 평균이며 action generation과 DNN training을 포함한다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2174240"/>
                <a:gridCol w="21742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latency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2초 frame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fixed K=N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P2를 N번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adaptive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0.059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Coordinate Descent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frame보다 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Relaxation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iterative solver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0.059초는 보편적 real-time 보장이 아니라 논문 장비와 2초 frame 가정의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11-12,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적용 범위와 남은 한계</a:t>
            </a:r>
            <a:endParaRPr lang="en-US" sz="3100" dirty="0"/>
          </a:p>
        </p:txBody>
      </p:sp>
      <p:sp>
        <p:nvSpPr>
          <p:cNvPr id="3" name="Text 1"/>
          <p:cNvSpPr txBox="1"/>
          <p:nvPr/>
        </p:nvSpPr>
        <p:spPr>
          <a:xfrm>
            <a:off x="838200" y="1739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binary policy는 한 task의 partial offloading을 허용하지 않는다.</a:t>
            </a:r>
            <a:endParaRPr lang="en-US" sz="2000" dirty="0"/>
          </a:p>
        </p:txBody>
      </p:sp>
      <p:sp>
        <p:nvSpPr>
          <p:cNvPr id="4" name="Shape 2"/>
          <p:cNvSpPr/>
          <p:nvPr/>
        </p:nvSpPr>
        <p:spPr>
          <a:xfrm>
            <a:off x="838200" y="23241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3622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AP 계산 시간과 결과 download 시간은 모델에서 제외한다.</a:t>
            </a:r>
            <a:endParaRPr lang="en-US" sz="2000" dirty="0"/>
          </a:p>
        </p:txBody>
      </p:sp>
      <p:sp>
        <p:nvSpPr>
          <p:cNvPr id="6" name="Shape 4"/>
          <p:cNvSpPr/>
          <p:nvPr/>
        </p:nvSpPr>
        <p:spPr>
          <a:xfrm>
            <a:off x="838200" y="29464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29845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state는 channel gain이며 queue·battery backlog를 포함하지 않는다.</a:t>
            </a:r>
            <a:endParaRPr lang="en-US" sz="2000" dirty="0"/>
          </a:p>
        </p:txBody>
      </p:sp>
      <p:sp>
        <p:nvSpPr>
          <p:cNvPr id="8" name="Shape 6"/>
          <p:cNvSpPr/>
          <p:nvPr/>
        </p:nvSpPr>
        <p:spPr>
          <a:xfrm>
            <a:off x="838200" y="35687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36068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후보마다 P2를 풀어야 하므로 analytical optimization 비용은 남는다.</a:t>
            </a:r>
            <a:endParaRPr lang="en-US" sz="2000" dirty="0"/>
          </a:p>
        </p:txBody>
      </p:sp>
      <p:sp>
        <p:nvSpPr>
          <p:cNvPr id="10" name="Shape 8"/>
          <p:cNvSpPr/>
          <p:nvPr/>
        </p:nvSpPr>
        <p:spPr>
          <a:xfrm>
            <a:off x="838200" y="4191000"/>
            <a:ext cx="10693400" cy="0"/>
          </a:xfrm>
          <a:prstGeom prst="line">
            <a:avLst/>
          </a:prstGeom>
          <a:noFill/>
          <a:ln w="12700">
            <a:solidFill>
              <a:srgbClr val="C9D8D4"/>
            </a:solidFill>
            <a:prstDash val="solid"/>
            <a:headEnd type="none"/>
            <a:tailEnd type="none"/>
          </a:ln>
        </p:spPr>
        <p:txBody>
          <a:bodyPr/>
          <a:lstStyle/>
          <a:p>
            <a:endParaRPr lang="ko-KR"/>
          </a:p>
        </p:txBody>
      </p:sp>
      <p:sp>
        <p:nvSpPr>
          <p:cNvPr id="11" name="Text 9"/>
          <p:cNvSpPr txBox="1"/>
          <p:nvPr/>
        </p:nvSpPr>
        <p:spPr>
          <a:xfrm>
            <a:off x="838200" y="42291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WD mobility는 channel 분포를 바꿔 policy 수렴을 어렵게 할 수 있다.</a:t>
            </a:r>
            <a:endParaRPr lang="en-US" sz="200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DROO는 후보 탐색을 줄이지만 모델 가정과 P2 호출 비용까지 제거하지는 않는다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3-6; ieee p. 12, §6</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DROO와 LyDROO의 경계</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DROO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LyDROO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 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전력 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stochastic task arrival 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channel gain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channel·실제 큐·가상 전력 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프레임별 weighted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처리량과 queue 안정성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 + noisy OPQ (NOP)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이론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안정성 보장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아래 queue 안정성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queue backlog와 Lyapunov 안정성은 후속 LyDROO의 문제이며 DROO에 소급되지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3-6; lydroo pp. 5–11 (7523–7529), Eqs. (5), (7), (20), (25)–(28), Theorem 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DROO의 핵심 계산 구조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channel</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h_t가 수확과 uplink 조건을 정한다.</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DNN proposal</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relaxed score로 offload 순위를 제안한다.</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OPQ candidates</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순위를 보존한 K개 binary action을 만든다.</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후보별 P2</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후보의 feasible 자원과 Q*를 계산한다.</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선택과 학습</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최고 후보를 실행하고 pair를 replay에 저장한다.</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학습이 이진 후보를 줄이고 P2가 각 후보 안의 연속 배분을 최적화한다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4-7, Fig. 3 and Algorithm 1</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notation</a:t>
            </a:r>
            <a:endParaRPr lang="en-US" sz="3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1956816"/>
                <a:gridCol w="521817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 주체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프레임 channel gain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x_hat_t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DNN의 relaxed offload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k번째 binary candidate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binary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K개 Q*의 argmax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6962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 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WPT와 offload 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4-6, Table 1</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43434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자료에서의 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journal paper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IEEE DOI 10.1109/TMC.2019.2928811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시스템, 알고리즘, 실험 근거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manuscript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1808.01977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저널판 이전 공개 원고 기록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DROO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github.com/revenol/DROO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 공개 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62025">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LyDROO paper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IEEE DOI 10.1109/TWC.2021.3085319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후속 연구 경계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5" name="Text 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title and DOI record; arxiv abstract record; code repository root; lydroo title and DOI record</a:t>
            </a:r>
            <a:endParaRPr lang="en-US" sz="1050" dirty="0"/>
          </a:p>
        </p:txBody>
      </p:sp>
      <p:sp>
        <p:nvSpPr>
          <p:cNvPr id="6" name="Text 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DROO: 무선 전력 MEC의 온라인 오프로딩</dc:title>
  <dc:subject>Deep Reinforcement Learning for Online Computation Offloading in Wireless Powered Mobile-Edge Computing Networks</dc:subject>
  <dc:creator>Research Seminars</dc:creator>
  <cp:lastModifiedBy>Research Seminars</cp:lastModifiedBy>
  <cp:revision>1</cp:revision>
  <dcterms:created xsi:type="dcterms:W3CDTF">2026-09-12T05:08:44Z</dcterms:created>
  <dcterms:modified xsi:type="dcterms:W3CDTF">2026-09-12T05:08:44Z</dcterms:modified>
</cp:coreProperties>
</file>
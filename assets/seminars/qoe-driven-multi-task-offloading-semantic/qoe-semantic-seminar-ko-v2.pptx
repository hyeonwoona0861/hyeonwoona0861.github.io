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의미 추출과 작업 전송의 공동 최적화
발표 대본
이 덱은 Chen et al.의 arXiv:2407.11018v3(2026-02-12 표기) 18쪽 원문을 기준으로 구성합니다. μ는 전송량만 줄이는 압축률이 아니라 단말 의미 추출 부담, 전송량, ES 작업 성능의 trade-off를 나타내는 논문 고유의 계수입니다. QoE는 Quality of Experience(사용자 체감 품질), MEC는 Mobile Edge Computing(모바일 엣지 컴퓨팅), MAPPO는 Multi-Agent Proximal Policy Optimization(다중 에이전트 근접 정책 최적화)입니다.
공개 출처
paper-v3 | title page; abstract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이 논문이 푸는 문제
발표 대본
원문은 atomic task를 가정하므로 한 task를 local과 ES에 임의 분할하지 않습니다. semantic extraction은 split computing에서 영감을 얻었지만, 논문에서 결정하는 것은 extraction factor와 radio/compute 자원입니다.
공개 출처
paper-v3 | pp. 1-2; §III-A; Eq. 11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먼저 구분할 구성요소와 기호
발표 대본
UE=User Equipment, ES=Edge Server, OFDMA=Orthogonal Frequency-Division Multiple Access, VQA=Visual Question Answering, MAPPO=Multi-Agent Proximal Policy Optimization입니다. ρ=0은 단말 완료, ρ=1은 ES 전송입니다. QoE는 Quality of Experience이며 뒤에서 local 실행을 기준으로 정의합니다. 본 논문은 여러 작업 유형을 다루지만 모든 작업에 동일한 코덱을 쓰지는 않습니다.
공개 출처
paper-v3 | pp. 1, 5–6; Table II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작업마다 세 실행 경로 중 하나를 고른다
발표 대본
원문 Fig. 1에서 UE별 queue는 task_1, task_2, task_3 등 서로 다른 type을 포함하며, image/text semantic encoder와 ES decoder를 예시로 보입니다. AP에는 K resource block이 있으며 UE와 sub-channel 집합은 각각 N, K로 정의됩니다. 이 그림의 세 갈래는 서로 다른 실행 모드입니다. semantic 경로는 해당 작업 유형의 encoder가 만든 특징을 전송하고 ES의 decoder/나머지 모델이 작업을 완료합니다. 직접 경로는 μ=1인 semantic-unaware 전송이며 무선 채널의 영향이 사라진다는 뜻이 아닙니다.
공개 출처
paper-v3 | p. 5; Fig. 1; §III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ρ와 μ가 세 실행 방식을 구분한다
발표 대본
원문 §III-C는 세 mode를 명시합니다. Eq. 3에서 μ=1이면 semantic extraction 항이 없고, μ_n^min≤μ_n&lt;1이면 local extraction term이 포함됩니다. download result의 크기는 보통 작다고 보아 upload rate/latency만 고려합니다. 의미 전송에서는 인코더 계산이 단말에 남습니다. 따라서 atomic이라는 표현을 '단말은 어떤 계산도 하지 않고 통째로 보낸다'로 해석하지 않습니다.
공개 출처
paper-v3 | pp. 5–6; §III-A,C; Eqs. 2–3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μ가 작아질수록 무엇이 바뀌나
발표 대본
원문 Fig. 2와 §III-A: 작은 μ는 더 높은 semantic compression, 낮은 transmission load를 뜻합니다. 모델은 extraction overhead, transmission delay, task performance를 μ의 monotonic power-law 함수로 추상화하며, 실제 neural layer별 관계를 엄밀히 유도한 것은 아닙니다. Fig.12와 p.13은 직접 offloading에도 무선 채널에 의한 정확도 저하가 있을 수 있다고 설명합니다. μ=1은 의미 추출에 의한 손실이 없다는 뜻이며 local 실행과 정확도가 같다는 보장이 아닙니다.
공개 출처
paper-v3 | pp. 5-6; Fig. 2; §III-A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OFDMA 전송: 채널을 받은 UE만 upload한다
발표 대본
Eq. 1의 channel gain은 |g_{k,n}|²=|h_{k,n}|²/d_n^{-α}로 두며 h는 CN(0,1) Rayleigh fading coefficient입니다. Eq. 2의 p&gt;0은 task-specific constant이며, 수신 결과는 작다고 보고 downlink latency를 포함하지 않습니다. 원문의 거리 감쇠 표기는 d^(−α)가 분모에 있어 일반적 감쇠 해석과 주의가 필요합니다. 이 발표에서는 그 거리 법칙을 재현하거나 수정하지 않고 관측 채널 이득 g를 사용합니다. ρ=0의 업로드 지연은 의미상0으로 처리하며 0/0을 계산하지 않습니다.
공개 출처
paper-v3 | p. 6; Eqs. 1-2; Eq. 11d-e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실행 time과 energy를 어떻게 세나
발표 대본
Eq. 4는 ES 전체 offloaded GPU consumption의 합을 c_s로 나누어 t^S를 정합니다. Eq. 6은 UE energy κ^U t_n^U(f_n)^3+p_nt_n, Eq. 7은 ES energy κ^S t^S(f_s)^3입니다. ‘fairly proportional to computation’은 ES allocation의 원문 가정입니다. 표시의 t_U,t_tx,t_S,t_task는 각각 원문 t_n^U,t_n,t^S,t_n^M를 짧게 쓴 것입니다. E_task,E_UE,E_ES도 원문 기호를 줄였습니다. Eq.8은 공통 ES 에너지를 더하며 별도 사용자별 배분 지표가 없습니다. 이를 '단말 배터리에서 소비된 에너지'나 독립적으로 배분된 사용자별 서버 에너지로 바꿔 설명하지 않습니다.
공개 출처
paper-v3 | pp. 6-7; Eqs. 3-8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서로 다른 작업을 local 기준으로 QoE화한다
발표 대본
Eq. 10은 queue의 각 task q_n^M에 대해 ω_tG_t^M+ω_eG_e^M+ω_aG_a^M를 평균합니다. Fig. 3에서 local execution 값은 logistic offset x_0입니다. 논문은 local baseline QoE가 0.5라고 설명합니다. Eq.10 첫 줄에는1/Q_n이 있지만 전개된 두 번째 줄에는 누락돼 있습니다. 이 자료는 첫 줄의 큐 평균 정의와 p.12의 local QoE=0.5 설명을 따릅니다. 식의 불일치를 숨기거나 합계 QoE를 평균인 것처럼 섞지 않습니다.
공개 출처
paper-v3 | p. 7; Fig. 3; Eqs. 9-10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교육용 계산: local 기준보다 얼마나 좋아졌나
발표 대본
숫자는 논문 측정값이 아닌 재계산용 예시입니다. σ(z)=1/(1+exp(−z)); z_t=λ(t_local−t), z_e=β(E_local−E), z_a=η(ε−ε_local)입니다. 단위와 slope를 곱한 뒤 얻는 무차원 입력을 직접 가정했으며 원문 GPU 성능을 가정하지 않습니다. 실제 정확도 .475라는 뜻이 아니라 정확도 항의 logistic 점수입니다. 실제 작업 큐는 이 가중 점수를 작업 수로 나눠 평균합니다. 벌점/제약 충족은 다음 단계에서 따로 봅니다.
공개 출처
paper-v3 | p. 7, Eq. 10; p. 12; constructed example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P0가 요구하는 조건과 학습 결과를 구분한다
발표 대본
원문 Eq. 11a는 Σ_n QoE_n 최대화입니다. x_{k,n}의 양 제약은 separate radio constraints로도 적용됩니다. 논문은 P0의 exact global optimum나 approximation guarantee를 주장하지 않고 MAPPO를 제안합니다.
공개 출처
paper-v3 | p. 8; Eq. 11; §IV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관측 → 공동 행동 → 결과 → 벌점 포함 보상
발표 대본
원문 Eq. 12의 penalty는 [ (t_n^M−t_max)/t_max ]_+, [ (E_n^M−E_n^max)/E_n^max ]_+, [ (ε_min−ε_n^M)/ε_min ]_+ 입니다. state/action 항목은 p. 8 §IV-A의 명시 목록을 요약했습니다. 여기서 MDP는 Markov Decision Process(마르코프 결정 과정)입니다. 원문의 최적화 목표와 할인된 보상 학습 목표를 완전히 동등한 전역 최적화 보장으로 설명하지 않습니다.
공개 출처
paper-v3 | p. 8; Eqs. 12-15; §IV-A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actor와 critic은 서로 다른 출력을 학습한다
발표 대본
원문 p.10과 TableIII를 재구성했습니다. 각 경로는 FC256+ReLU+LayerNorm, FC256+ReLU+LayerNorm, multi-layer GRU, final FC입니다. MLP는 Multilayer Perceptron(다층 퍼셉트론), GRU는 Gated Recurrent Unit(게이트 순환 신경망)입니다. 두 출력이 직렬로 연결되지 않으며 critic 값이 곧 실행 행동도 아닙니다. μ/p/f는 연속 결정,ρ/x는 이산 결정을 포함하지만 구체적인 모든 출력 분포·중재·마스킹 방식은 TableIII에 나와 있지 않습니다. 도식은 이를 새로 정하지 않습니다.
공개 출처
paper-v3 | pp. 10–11; Table III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semantic-aware MAPPO의 학습 순서
발표 대본
Algorithm 1은 trajectory를 replay buffer에 저장한다고 적고, p. 9는 PPO를 on-policy로 설명하면서 parallel sampling과 small-batch multi-step update를 설명합니다. 이 덱은 replay buffer가 오래된 임의 data를 무제한 재사용한다는 주장을 하지 않습니다. Eq. 22는 GAE, Eqs. 23-28은 clip/actor/critic objective입니다. GAE는 Generalized Advantage Estimation(일반화 이득 추정)입니다. λ_GAE=.95와 QoE logistic 기울기 λ=1000은 다른 용도의 기호입니다. 학습이 끝난 runtime에서는 정책이 관측으로 행동을 출력하며 매 선택마다 전체 훈련을 다시 수행하는 것이 아닙니다.
공개 출처
paper-v3 | pp. 9-10; Fig. 4; Algorithm 1; Eqs. 22-28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PPO clip은 확률 비율을 강제로 고정하지 않는다
발표 대본
원문 Eq23–24를 수치로 계산한 교육용 예시이며 실험값이 아닙니다. A&gt;0에서는 r&gt;1+ε 방향의 추가 보상, A&lt;0에서는 r&lt;1−ε 방향의 추가 보상을 surrogate가 잘라냅니다. 공유 파라미터와 다른 표본 및 entropy 항 때문에 실제 새 확률 비율이 범위 밖으로 갈 수 있습니다. p.9의 비율 제한 서술은 이 목적함수 효과를 단순화한 표현으로 읽고, 별도 projection이나 hard trust-region 보장으로 읽지 않습니다. TableIV ε=.2,γ=.99,λ_GAE=.95입니다.
공개 출처
paper-v3 | pp. 9–11; Eqs. 23–28; constructed example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교육용 계산: 의미 추출이 줄인 전송 시간
발표 대본
모든 숫자는 Eq2–5의 구조를 보여 주기 위한 가상값이며 원문 실험 또는 정책 출력이 아닙니다. p=q=1, l_U/c_U=4, l_SE/c_U=.2, s/R=3, t_S=.5로 고정한 단일 작업 예시입니다. μ=1에서는 의미 추출 항이 없으므로 .2/1을 더하지 않습니다. ρ=0에서는 ES 에너지가 아닌 local 지연만 비교합니다. μ=.1의 extraction이2로 늘어 총지연이2.8이므로 μ=.5보다 느립니다. 여기서는 에너지/정확도/공유 서버 변화와 QoE를 계산하지 않았으므로 .5가 전체 문제의 최적해라고 결론 내리지 않습니다.
공개 출처
paper-v3 | pp. 6–7; Eqs. 2–5; constructed example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실험의 semantic task와 model 부담
발표 대본
원문 p. 10 §V-A의 구현 세부입니다. semantic transmission model 학습 후 encoder/decoder FLOPs로 l_n^SE와 l_n^S를 계산한다고 설명합니다. semantic model training은 AdamW, LR 3×10^-5, batch 50, weight decay 1×10^-4 및 RTX 4090/i9-13900K 환경에서 수행했습니다. BERT와 Vision Transformer는 의미 모델의 특징 추출기입니다. p.10의 Jetson Nano peak FLOPS 활용 가능성 서술은 해당 장치에서 이 자료가 실측한 벤치마크가 아니므로 실제 배포 보장으로 제시하지 않습니다.
공개 출처
paper-v3 | p. 10; §V-A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QoE 결과를 읽기 위한 simulation 조건
발표 대본
Table IV의 transmit power range는 (10,90) mW, UE/ES energy coefficient는 각각 1×10^-26, 1.2×10^-26입니다. MAPPO training batch size 2, epoch 5, learning rate 1×10^-4입니다.
공개 출처
paper-v3 | p. 11; Table IV; §V-A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비교 baseline이 무엇을 바꾸고 무엇을 고정했나
발표 대본
원문 p. 11의 benchmark 정의입니다. semantic-unaware는 conventional compression에 의존하고 adaptive semantic extraction을 지원하지 않는다고 설명합니다. D3QN replay buffer size는 30000으로 설정했습니다.
공개 출처
paper-v3 | p. 11; §V-A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QoE 곡선의 조건부 결론
발표 대본
Figs. 6-10 및 p. 11-12의 서술에 근거합니다. Fig. 8은 sub-channel bandwidth, Fig. 9는 noise power, Fig. 10은 user number의 QoE입니다. local execution QoE는 fixed 0.5로 설명됩니다.
공개 출처
paper-v3 | pp. 11-12; Figs. 6-10; §V-B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QoE weight를 바꾸면 ‘최선’도 바뀐다
발표 대본
Table V의 원문 수치를 그대로 옮겼습니다. §V-C는 각 weight setting마다 corresponding model을 retrain했다고 명시합니다. delay/energy/accuracy preference는 각각 (1,0,0), (0,1,0), (0,0,1)입니다. TableIV는 ε_min=50%이지만 TableV의 delay-preference 평균43.08%는 이보다 낮습니다. §V-C는 가중치와 재학습을 설명하나 이 차이를 해소할 별도 정확도 임계 변경을 명시하지 않습니다. 이 수치를 그대로 보존하며 제약 충족의 증거로 사용하지 않습니다.
공개 출처
paper-v3 | pp. 13-14; Table V; §V-C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벌점이 있다는 것과 제약을 지킨다는 것은 다르다
발표 대본
원문 수치의 불일치를 평가할 때 새로운 실험 실패 원인이나 저자의 의도를 추정하지 않습니다. Eq12의 정확도 벌점은 max((ε_min−ε)/ε_min,0)입니다. 예를 들어 가상의 단일 작업 정확도를 .4308, 임계값을 .5라고 놓으면 벌점은 .1384로 유한합니다. 이 계산은 TableV 평균을 실제 개별 학습 transition에 대입한 재현 결과가 아니며, 벌점이 유한하다는 점만 보여줍니다. 모든 작업이50% 이상이었다면 같은 단위로 평균한 값도50% 이상이므로 표를 보편적 feasibility 증명으로 읽지 않습니다. 조건 변경이나 평가 기준 차이는 추가 확인 사항입니다.
공개 출처
paper-v3 | p. 8, Eqs. 11–12; pp. 11,13, Tables IV–V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23. 무엇이 아직 모델 밖에 남나
발표 대본
원문 §V-D는 trained policy를 고정한 채 λ,β,η를 하나씩 바꿔 평가하며 λ=10^3, β=10, η=2를 사용합니다. 결론의 future work 범위를 그대로 요약했습니다. 작은 slope를 0/1 포화로 설명한 원문 p.14의 표현과 달리 logistic 식에서 slope→0이면 모든 유한 입력은.5로 갑니다. 결론은 p.15에 있으며 범용 코덱과 경험 자료 기반 정량 관계 확립을 향후 과제로 둡니다.
공개 출처
paper-v3 | pp. 5–7; pp. 14–15; Fig. 17; §VI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24. 한 줄로 다시 읽기
발표 대본
원문 범위를 넘어 실제 배포, 범용 코덱 품질, 전역 최적해 또는 모든 제약 충족을 보장하지 않습니다. 학습자료의 마지막에서는 세 실행 경로와 μ trade-off를 다시 연결합니다.
공개 출처
paper-v3 | pp. 5–15; Algorithm 1; §VI
Chen et al., QoE-Driven Multi-Task Offloading for Semantic-Aware Edge Computing Systems, arXiv:2407.11018v3
https://arxiv.org/abs/2407.11018v3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5900" cy="6858000"/>
          </a:xfrm>
          <a:prstGeom prst="rect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3" name="Text 1"/>
          <p:cNvSpPr txBox="1"/>
          <p:nvPr/>
        </p:nvSpPr>
        <p:spPr>
          <a:xfrm>
            <a:off x="889000" y="889000"/>
            <a:ext cx="8763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의미 추출과 작업 전송의 공동 최적화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2413000"/>
            <a:ext cx="965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QoE-Driven Multi-Task Offloading for Semantic-Aware Edge Computing Systems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89000" y="4076700"/>
            <a:ext cx="96520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89000" y="4368800"/>
            <a:ext cx="965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Xuyang Chen, Daquan Feng, Wei Jiang, Qu Luo, Gaojie Chen, Yao Sun (2026)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5245100"/>
            <a:ext cx="965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지연·에너지·정확도를 함께 고려하는 다중 작업 MEC와 MAPPO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title page; abstract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논문이 푸는 문제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서로 다른 작업의 지연·에너지·정확도를 한 QoE 척도로 맞춘 뒤, 의미 추출과 MEC 자원을 공동 최적화한다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텍스트·이미지·시각 질의응답은 계산량과 정확도 척도가 다르다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단말 실행, 직접 전송, 의미 추출 후 전송 중 실행 방식을 고른다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의미 추출 수준과 무선·계산 자원을 함께 선택한다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목표: 지연·에너지·정확도로 정의한 전체 QoE의 합을 높인다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얼마나 전송할지와 어디서 계산할지를 함께 결정한다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1-2; §III-A; Eq. 11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먼저 구분할 구성요소와 기호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장치·작업·학습 방법을 구분하고, 결정변수는 다음 그림에서 연결한다</a:t>
            </a:r>
            <a:endParaRPr lang="en-US" sz="1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956816"/>
                <a:gridCol w="4348480"/>
                <a:gridCol w="456590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기호·약자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뜻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역할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UE / 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사용자 단말 / 엣지 서버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작업 실행 위치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OFDMA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직교 주파수 분할 다중 접속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상향 전송 자원 배분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VQA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이미지에 관한 질문에 답하기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텍스트와 영상을 함께 처리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ρ / 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전송 여부 / 의미 추출 계수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실행 방식과 전송량 결정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MAPPO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다중 에이전트 정책 학습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여러 UE의 선택 학습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μ가 작으면 더 압축하지만, 단말 계산 부담이 늘 수 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1, 5–6; Table II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작업마다 세 실행 경로 중 하나를 고른다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단말에서 완료하거나, 원래 데이터를 보내거나, 의미를 추출한 특징을 ES에 보낸다</a:t>
            </a:r>
            <a:endParaRPr lang="en-US" sz="1900" dirty="0"/>
          </a:p>
        </p:txBody>
      </p:sp>
      <p:sp>
        <p:nvSpPr>
          <p:cNvPr id="4" name="mechanism-lane-local"/>
          <p:cNvSpPr txBox="1"/>
          <p:nvPr/>
        </p:nvSpPr>
        <p:spPr>
          <a:xfrm>
            <a:off x="660400" y="2209800"/>
            <a:ext cx="8636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단말 완료</a:t>
            </a:r>
            <a:endParaRPr lang="en-US" sz="1250" dirty="0"/>
          </a:p>
        </p:txBody>
      </p:sp>
      <p:sp>
        <p:nvSpPr>
          <p:cNvPr id="5" name="mechanism-lane-direct"/>
          <p:cNvSpPr txBox="1"/>
          <p:nvPr/>
        </p:nvSpPr>
        <p:spPr>
          <a:xfrm>
            <a:off x="660400" y="3251200"/>
            <a:ext cx="8636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직접 전송</a:t>
            </a:r>
            <a:endParaRPr lang="en-US" sz="1250" dirty="0"/>
          </a:p>
        </p:txBody>
      </p:sp>
      <p:sp>
        <p:nvSpPr>
          <p:cNvPr id="6" name="mechanism-lane-semantic"/>
          <p:cNvSpPr txBox="1"/>
          <p:nvPr/>
        </p:nvSpPr>
        <p:spPr>
          <a:xfrm>
            <a:off x="660400" y="4292600"/>
            <a:ext cx="8636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의미 추출 전송</a:t>
            </a:r>
            <a:endParaRPr lang="en-US" sz="1250" dirty="0"/>
          </a:p>
        </p:txBody>
      </p:sp>
      <p:sp>
        <p:nvSpPr>
          <p:cNvPr id="7" name="mechanism-edge-e1-segment-1"/>
          <p:cNvSpPr/>
          <p:nvPr/>
        </p:nvSpPr>
        <p:spPr>
          <a:xfrm>
            <a:off x="381000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edge-e2-segment-1"/>
          <p:cNvSpPr/>
          <p:nvPr/>
        </p:nvSpPr>
        <p:spPr>
          <a:xfrm>
            <a:off x="6362700" y="3568700"/>
            <a:ext cx="12065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mechanism-edge-e2-segment-2"/>
          <p:cNvSpPr/>
          <p:nvPr/>
        </p:nvSpPr>
        <p:spPr>
          <a:xfrm flipV="1">
            <a:off x="6483350" y="2730500"/>
            <a:ext cx="0" cy="838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mechanism-edge-e2-segment-3"/>
          <p:cNvSpPr/>
          <p:nvPr/>
        </p:nvSpPr>
        <p:spPr>
          <a:xfrm>
            <a:off x="6483350" y="2730500"/>
            <a:ext cx="36195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1" name="mechanism-edge-e3-segment-1"/>
          <p:cNvSpPr/>
          <p:nvPr/>
        </p:nvSpPr>
        <p:spPr>
          <a:xfrm>
            <a:off x="636270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2" name="mechanism-edge-e4-segment-1"/>
          <p:cNvSpPr/>
          <p:nvPr/>
        </p:nvSpPr>
        <p:spPr>
          <a:xfrm>
            <a:off x="6362700" y="3975100"/>
            <a:ext cx="2413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mechanism-edge-e4-segment-2"/>
          <p:cNvSpPr/>
          <p:nvPr/>
        </p:nvSpPr>
        <p:spPr>
          <a:xfrm>
            <a:off x="6604000" y="3975100"/>
            <a:ext cx="0" cy="838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mechanism-edge-e4-segment-3"/>
          <p:cNvSpPr/>
          <p:nvPr/>
        </p:nvSpPr>
        <p:spPr>
          <a:xfrm>
            <a:off x="6604000" y="4813300"/>
            <a:ext cx="2413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mechanism-edge-e5-segment-1"/>
          <p:cNvSpPr/>
          <p:nvPr/>
        </p:nvSpPr>
        <p:spPr>
          <a:xfrm>
            <a:off x="8915400" y="3771900"/>
            <a:ext cx="321733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6" name="mechanism-edge-e5-segment-2"/>
          <p:cNvSpPr/>
          <p:nvPr/>
        </p:nvSpPr>
        <p:spPr>
          <a:xfrm flipV="1">
            <a:off x="9237133" y="3568700"/>
            <a:ext cx="0" cy="203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mechanism-edge-e5-segment-3"/>
          <p:cNvSpPr/>
          <p:nvPr/>
        </p:nvSpPr>
        <p:spPr>
          <a:xfrm>
            <a:off x="9237133" y="3568700"/>
            <a:ext cx="160867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8" name="mechanism-edge-e6-segment-1"/>
          <p:cNvSpPr/>
          <p:nvPr/>
        </p:nvSpPr>
        <p:spPr>
          <a:xfrm>
            <a:off x="8915400" y="4813300"/>
            <a:ext cx="160867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9" name="mechanism-edge-e6-segment-2"/>
          <p:cNvSpPr/>
          <p:nvPr/>
        </p:nvSpPr>
        <p:spPr>
          <a:xfrm flipV="1">
            <a:off x="9076267" y="3975100"/>
            <a:ext cx="0" cy="838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0" name="mechanism-edge-e6-segment-3"/>
          <p:cNvSpPr/>
          <p:nvPr/>
        </p:nvSpPr>
        <p:spPr>
          <a:xfrm>
            <a:off x="9076267" y="3975100"/>
            <a:ext cx="321733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21" name="mechanism-node-queue"/>
          <p:cNvSpPr txBox="1"/>
          <p:nvPr/>
        </p:nvSpPr>
        <p:spPr>
          <a:xfrm>
            <a:off x="1739900" y="3454400"/>
            <a:ext cx="207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UE 작업 큐</a:t>
            </a:r>
            <a:endParaRPr lang="en-US" sz="1150" dirty="0"/>
          </a:p>
        </p:txBody>
      </p:sp>
      <p:sp>
        <p:nvSpPr>
          <p:cNvPr id="22" name="mechanism-node-queue-queue-1"/>
          <p:cNvSpPr/>
          <p:nvPr/>
        </p:nvSpPr>
        <p:spPr>
          <a:xfrm>
            <a:off x="1739900" y="3708400"/>
            <a:ext cx="20701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다양한 작업 유형</a:t>
            </a:r>
            <a:endParaRPr lang="en-US" sz="950" dirty="0"/>
          </a:p>
        </p:txBody>
      </p:sp>
      <p:sp>
        <p:nvSpPr>
          <p:cNvPr id="23" name="mechanism-node-queue-queue-2"/>
          <p:cNvSpPr/>
          <p:nvPr/>
        </p:nvSpPr>
        <p:spPr>
          <a:xfrm>
            <a:off x="1739900" y="3898900"/>
            <a:ext cx="20701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현재 작업 선택</a:t>
            </a:r>
            <a:endParaRPr lang="en-US" sz="950" dirty="0"/>
          </a:p>
        </p:txBody>
      </p:sp>
      <p:sp>
        <p:nvSpPr>
          <p:cNvPr id="24" name="mechanism-node-choice"/>
          <p:cNvSpPr/>
          <p:nvPr/>
        </p:nvSpPr>
        <p:spPr>
          <a:xfrm>
            <a:off x="4292600" y="34417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ρ, μ 선택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상태·자원에 맞춰 결정</a:t>
            </a:r>
            <a:endParaRPr lang="en-US" sz="1150" dirty="0"/>
          </a:p>
        </p:txBody>
      </p:sp>
      <p:sp>
        <p:nvSpPr>
          <p:cNvPr id="25" name="mechanism-node-local"/>
          <p:cNvSpPr/>
          <p:nvPr/>
        </p:nvSpPr>
        <p:spPr>
          <a:xfrm>
            <a:off x="6845300" y="24003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단말 실행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ρ=0; UE에서 완료</a:t>
            </a:r>
            <a:endParaRPr lang="en-US" sz="1150" dirty="0"/>
          </a:p>
        </p:txBody>
      </p:sp>
      <p:sp>
        <p:nvSpPr>
          <p:cNvPr id="26" name="mechanism-node-raw"/>
          <p:cNvSpPr/>
          <p:nvPr/>
        </p:nvSpPr>
        <p:spPr>
          <a:xfrm>
            <a:off x="6845300" y="34417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직접 전송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ρ=1; μ=1</a:t>
            </a:r>
            <a:endParaRPr lang="en-US" sz="1150" dirty="0"/>
          </a:p>
        </p:txBody>
      </p:sp>
      <p:sp>
        <p:nvSpPr>
          <p:cNvPr id="27" name="mechanism-node-codec"/>
          <p:cNvSpPr/>
          <p:nvPr/>
        </p:nvSpPr>
        <p:spPr>
          <a:xfrm>
            <a:off x="6845300" y="44831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의미 추출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ρ=1; μ&lt;1; encoder</a:t>
            </a:r>
            <a:endParaRPr lang="en-US" sz="1150" dirty="0"/>
          </a:p>
        </p:txBody>
      </p:sp>
      <p:sp>
        <p:nvSpPr>
          <p:cNvPr id="28" name="mechanism-node-es"/>
          <p:cNvSpPr/>
          <p:nvPr/>
        </p:nvSpPr>
        <p:spPr>
          <a:xfrm>
            <a:off x="9398000" y="34417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ES 실행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전송 데이터로 작업 완료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0" name="Text 28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단말 완료 경로는 ES로 가지 않으며, 직접 전송은 의미 추출을 생략한다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2" name="Text 30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p. 5; Fig. 1; §III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ρ와 μ가 세 실행 방식을 구분한다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작업의 완료 위치를 고르되, 의미 전송에서는 일부 모델 계산을 단말이 수행한다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956816"/>
                <a:gridCol w="2500376"/>
                <a:gridCol w="3478784"/>
                <a:gridCol w="293522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선택 조건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단말에서 하는 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ES에서 하는 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단말 완료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ρ=0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전체 작업 계산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해당 작업 실행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직접 전송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ρ=1, μ=1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의미 추출 없이 전송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전송된 작업 실행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의미 전송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ρ=1, μ&lt;1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특징 추출 후 전송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특징으로 작업 완료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atomic task는 임의의 작업 비율을 나누는 결정변수가 없다는 뜻이다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5–6; §III-A,C; Eqs. 2–3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μ가 작아질수록 무엇이 바뀌나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더 강한 의미 추출은 전송량을 줄이지만, 단말 부담과 server-side task 성능 손실 가능성을 함께 만든다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391664"/>
                <a:gridCol w="3043936"/>
                <a:gridCol w="2717800"/>
                <a:gridCol w="27178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μ의 선택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단말 의미 추출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상향 전송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작업 성능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μ=1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추가 추출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추출에 의한 축소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추출 손실 없음;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채널 영향 별도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μ_min≤μ&lt;1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더 작으면 부담 증가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더 작으면 전송량 감소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과도한 압축 시 저하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최소 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정확도·배터리 고려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허용 범위의 최소 계수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설정만으로 충족 보장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추출 계산·전송량·정확도의 상충관계를 함께 고려한다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5-6; Fig. 2; §III-A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OFDMA 전송: 채널을 받은 UE만 upload한다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x_kn은 채널 k의 UE n 할당 여부, R_n은 업로드 속도다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500376"/>
                <a:gridCol w="5218176"/>
                <a:gridCol w="315264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정의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제약/해석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rate R_n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Σ_k B log2(1+x_kn|g_kn|²p_n/σ_z²)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Rayleigh fading, AWGN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upload time t_n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ρ_n s_n(μ_n)^p / R_n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ρ_n=0이면 offload upload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UE별 channel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Σ_k x_kn≤ρ_n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UE당 최대 한 채널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channel별 UE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Σ_n x_kn≤1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채널당 최대 한 UE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전송량 μ와 채널·전력 배분은 함께 결정한다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p. 6; Eqs. 1-2; Eq. 11d-e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실행 time과 energy를 어떻게 세나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offload면 upload와 ES compute를 더하고, semantic mode면 UE extraction time도 남는다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단말 계산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t_U: 전체 local 계산 또는 의미 추출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상향 전송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t_tx: ρ=1일 때 데이터 업로드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서버 계산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t_S: 전체 offload 계산량 / 서버 처리 능력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작업 지연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t_task = t_U + ρ(t_tx + t_S)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에너지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원문 Eq. 8: E_task = E_UE + E_ES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작업 지연에서 단말 추출·업로드·서버 계산을 빠뜨리지 않는다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6-7; Eqs. 3-8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서로 다른 작업을 local 기준으로 QoE화한다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time·energy는 작을수록, accuracy는 클수록 높은 logistic score가 되며, 세 weight의 합은 1이다</a:t>
            </a:r>
            <a:endParaRPr lang="en-US" sz="1900" dirty="0"/>
          </a:p>
        </p:txBody>
      </p:sp>
      <p:sp>
        <p:nvSpPr>
          <p:cNvPr id="4" name="mechanism-lane-qoe"/>
          <p:cNvSpPr txBox="1"/>
          <p:nvPr/>
        </p:nvSpPr>
        <p:spPr>
          <a:xfrm>
            <a:off x="660400" y="2209800"/>
            <a:ext cx="8636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per-task QoE</a:t>
            </a:r>
            <a:endParaRPr lang="en-US" sz="1250" dirty="0"/>
          </a:p>
        </p:txBody>
      </p:sp>
      <p:sp>
        <p:nvSpPr>
          <p:cNvPr id="5" name="mechanism-edge-q1-segment-1"/>
          <p:cNvSpPr/>
          <p:nvPr/>
        </p:nvSpPr>
        <p:spPr>
          <a:xfrm>
            <a:off x="381000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q2-segment-1"/>
          <p:cNvSpPr/>
          <p:nvPr/>
        </p:nvSpPr>
        <p:spPr>
          <a:xfrm>
            <a:off x="636270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q3-segment-1"/>
          <p:cNvSpPr/>
          <p:nvPr/>
        </p:nvSpPr>
        <p:spPr>
          <a:xfrm>
            <a:off x="891540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node-metrics"/>
          <p:cNvSpPr txBox="1"/>
          <p:nvPr/>
        </p:nvSpPr>
        <p:spPr>
          <a:xfrm>
            <a:off x="1739900" y="3359150"/>
            <a:ext cx="207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task M</a:t>
            </a:r>
            <a:endParaRPr lang="en-US" sz="1150" dirty="0"/>
          </a:p>
        </p:txBody>
      </p:sp>
      <p:sp>
        <p:nvSpPr>
          <p:cNvPr id="9" name="mechanism-node-metrics-queue-1"/>
          <p:cNvSpPr/>
          <p:nvPr/>
        </p:nvSpPr>
        <p:spPr>
          <a:xfrm>
            <a:off x="1739900" y="3613150"/>
            <a:ext cx="20701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t_n^M</a:t>
            </a:r>
            <a:endParaRPr lang="en-US" sz="950" dirty="0"/>
          </a:p>
        </p:txBody>
      </p:sp>
      <p:sp>
        <p:nvSpPr>
          <p:cNvPr id="10" name="mechanism-node-metrics-queue-2"/>
          <p:cNvSpPr/>
          <p:nvPr/>
        </p:nvSpPr>
        <p:spPr>
          <a:xfrm>
            <a:off x="1739900" y="3803650"/>
            <a:ext cx="20701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E_n^M</a:t>
            </a:r>
            <a:endParaRPr lang="en-US" sz="950" dirty="0"/>
          </a:p>
        </p:txBody>
      </p:sp>
      <p:sp>
        <p:nvSpPr>
          <p:cNvPr id="11" name="mechanism-node-metrics-queue-3"/>
          <p:cNvSpPr/>
          <p:nvPr/>
        </p:nvSpPr>
        <p:spPr>
          <a:xfrm>
            <a:off x="1739900" y="3994150"/>
            <a:ext cx="20701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0D685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ε_n^M</a:t>
            </a:r>
            <a:endParaRPr lang="en-US" sz="950" dirty="0"/>
          </a:p>
        </p:txBody>
      </p:sp>
      <p:sp>
        <p:nvSpPr>
          <p:cNvPr id="12" name="mechanism-node-baseline"/>
          <p:cNvSpPr/>
          <p:nvPr/>
        </p:nvSpPr>
        <p:spPr>
          <a:xfrm>
            <a:off x="4292600" y="34417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 baseline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같은 단말·작업의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 실행 값</a:t>
            </a:r>
            <a:endParaRPr lang="en-US" sz="1150" dirty="0"/>
          </a:p>
        </p:txBody>
      </p:sp>
      <p:sp>
        <p:nvSpPr>
          <p:cNvPr id="13" name="mechanism-node-score"/>
          <p:cNvSpPr/>
          <p:nvPr/>
        </p:nvSpPr>
        <p:spPr>
          <a:xfrm>
            <a:off x="6845300" y="34417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logistic scores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지연·에너지: 감소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정확도: 증가</a:t>
            </a:r>
            <a:endParaRPr lang="en-US" sz="1150" dirty="0"/>
          </a:p>
        </p:txBody>
      </p:sp>
      <p:sp>
        <p:nvSpPr>
          <p:cNvPr id="14" name="mechanism-node-qoeout"/>
          <p:cNvSpPr/>
          <p:nvPr/>
        </p:nvSpPr>
        <p:spPr>
          <a:xfrm>
            <a:off x="9398000" y="34417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QoE_n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queue 평균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ω_t+ω_e+ω_a=1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6" name="Text 14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지표를 local 기준 점수로 바꾼 뒤, 가중합과 큐 평균을 구한다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6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p. 7; Fig. 3; Eqs. 9-10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교육용 계산: local 기준보다 얼마나 좋아졌나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σ(z)=1/(1+exp(−z)); 가상 입력 z=(1, 0.5, −0.1), 한 작업·세 가중치 1/3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500376"/>
                <a:gridCol w="5326888"/>
                <a:gridCol w="304393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지표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local 대비 방향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점수 σ(z)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지연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단축: z_t=1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0.7311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에너지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절약: z_e=0.5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0.6225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정확도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하락: z_a=−0.1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0.4750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가중 평균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(0.7311+0.6225+0.4750)/3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약 0.6095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local과 같으면 각 z=0, 세 점수는 0.5이므로 QoE도 0.5다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p. 7, Eq. 10; p. 12; constructed example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P0가 요구하는 조건과 학습 결과를 구분한다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최적화 문제에는 제약이 있지만, 아래 조건이 모든 학습 행동에서 자동으로 만족된다는 보장은 없다</a:t>
            </a:r>
            <a:endParaRPr lang="en-US" sz="1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3043936"/>
                <a:gridCol w="3696208"/>
                <a:gridCol w="413105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결정변수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범위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의미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ρ, x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 또는 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전송 여부·채널 선택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μ_min≤μ≤1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의미 추출 수준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p, f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p≤p_max; f≤f_max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송신 전력·GPU 주파수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지연·에너지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t≤t_max; E≤E_max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서비스·배터리 한계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정확도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ε≥ε_min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작업별 최소 요구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이산·연속 변수와 비선형 QoE가 결합된 혼합 정수 최적화 문제다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p. 8; Eq. 11; §IV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관측 → 공동 행동 → 결과 → 벌점 포함 보상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단말별 QoE에서 지연·에너지·정확도 위반 벌점을 빼고, 모든 단말의 보상을 합친다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관측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채널·계산량·지연·에너지·정확도·제약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행동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전송 ρ, 전력 p, 주파수 f, 추출 μ, 채널 x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환경 실행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선택한 계산·전송으로 다음 상태와 성과 관측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단말 보상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QoE_n − 지연 벌점 − 에너지 벌점 − 정확도 벌점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학습 목표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전체 r_t = Σ_n r_n의 기대 할인 누적값 최대화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유한한 벌점을 주는 것은 위반 행동을 항상 금지하는 것과 다르다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p. 8; Eqs. 12-15; §IV-A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actor와 critic은 서로 다른 출력을 학습한다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경로는 상태 입력을 받아 두 개의 256-unit MLP와 GRU를 거친다; 화살표는 신경망 계산 순서다</a:t>
            </a:r>
            <a:endParaRPr lang="en-US" sz="1900" dirty="0"/>
          </a:p>
        </p:txBody>
      </p:sp>
      <p:sp>
        <p:nvSpPr>
          <p:cNvPr id="4" name="mechanism-lane-actor"/>
          <p:cNvSpPr txBox="1"/>
          <p:nvPr/>
        </p:nvSpPr>
        <p:spPr>
          <a:xfrm>
            <a:off x="660400" y="2209800"/>
            <a:ext cx="86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actor θ</a:t>
            </a:r>
            <a:endParaRPr lang="en-US" sz="1250" dirty="0"/>
          </a:p>
        </p:txBody>
      </p:sp>
      <p:sp>
        <p:nvSpPr>
          <p:cNvPr id="5" name="mechanism-lane-critic"/>
          <p:cNvSpPr txBox="1"/>
          <p:nvPr/>
        </p:nvSpPr>
        <p:spPr>
          <a:xfrm>
            <a:off x="660400" y="3771900"/>
            <a:ext cx="86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critic ϕ</a:t>
            </a:r>
            <a:endParaRPr lang="en-US" sz="1250" dirty="0"/>
          </a:p>
        </p:txBody>
      </p:sp>
      <p:sp>
        <p:nvSpPr>
          <p:cNvPr id="6" name="mechanism-edge-actore1-segment-1"/>
          <p:cNvSpPr/>
          <p:nvPr/>
        </p:nvSpPr>
        <p:spPr>
          <a:xfrm>
            <a:off x="3810000" y="29908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actore2-segment-1"/>
          <p:cNvSpPr/>
          <p:nvPr/>
        </p:nvSpPr>
        <p:spPr>
          <a:xfrm>
            <a:off x="6362700" y="29908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edge-actore3-segment-1"/>
          <p:cNvSpPr/>
          <p:nvPr/>
        </p:nvSpPr>
        <p:spPr>
          <a:xfrm>
            <a:off x="8915400" y="29908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9" name="mechanism-edge-critice1-segment-1"/>
          <p:cNvSpPr/>
          <p:nvPr/>
        </p:nvSpPr>
        <p:spPr>
          <a:xfrm>
            <a:off x="3810000" y="45529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0" name="mechanism-edge-critice2-segment-1"/>
          <p:cNvSpPr/>
          <p:nvPr/>
        </p:nvSpPr>
        <p:spPr>
          <a:xfrm>
            <a:off x="6362700" y="45529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1" name="mechanism-edge-critice3-segment-1"/>
          <p:cNvSpPr/>
          <p:nvPr/>
        </p:nvSpPr>
        <p:spPr>
          <a:xfrm>
            <a:off x="8915400" y="45529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2" name="mechanism-node-actor0"/>
          <p:cNvSpPr/>
          <p:nvPr/>
        </p:nvSpPr>
        <p:spPr>
          <a:xfrm>
            <a:off x="1739900" y="26606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MLP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256 units; 상태 입력</a:t>
            </a:r>
            <a:endParaRPr lang="en-US" sz="1150" dirty="0"/>
          </a:p>
        </p:txBody>
      </p:sp>
      <p:sp>
        <p:nvSpPr>
          <p:cNvPr id="13" name="mechanism-node-actor1"/>
          <p:cNvSpPr/>
          <p:nvPr/>
        </p:nvSpPr>
        <p:spPr>
          <a:xfrm>
            <a:off x="4292600" y="26606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MLP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256 units; 특성 추출</a:t>
            </a:r>
            <a:endParaRPr lang="en-US" sz="1150" dirty="0"/>
          </a:p>
        </p:txBody>
      </p:sp>
      <p:sp>
        <p:nvSpPr>
          <p:cNvPr id="14" name="mechanism-node-actor2"/>
          <p:cNvSpPr/>
          <p:nvPr/>
        </p:nvSpPr>
        <p:spPr>
          <a:xfrm>
            <a:off x="6845300" y="26606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multi-layer GRU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시간적 의존성 표현</a:t>
            </a:r>
            <a:endParaRPr lang="en-US" sz="1150" dirty="0"/>
          </a:p>
        </p:txBody>
      </p:sp>
      <p:sp>
        <p:nvSpPr>
          <p:cNvPr id="15" name="mechanism-node-actor3"/>
          <p:cNvSpPr/>
          <p:nvPr/>
        </p:nvSpPr>
        <p:spPr>
          <a:xfrm>
            <a:off x="9398000" y="26606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행동 분포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최종 FC 출력</a:t>
            </a:r>
            <a:endParaRPr lang="en-US" sz="1150" dirty="0"/>
          </a:p>
        </p:txBody>
      </p:sp>
      <p:sp>
        <p:nvSpPr>
          <p:cNvPr id="16" name="mechanism-node-critic0"/>
          <p:cNvSpPr/>
          <p:nvPr/>
        </p:nvSpPr>
        <p:spPr>
          <a:xfrm>
            <a:off x="1739900" y="42227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MLP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256 units; 상태 입력</a:t>
            </a:r>
            <a:endParaRPr lang="en-US" sz="1150" dirty="0"/>
          </a:p>
        </p:txBody>
      </p:sp>
      <p:sp>
        <p:nvSpPr>
          <p:cNvPr id="17" name="mechanism-node-critic1"/>
          <p:cNvSpPr/>
          <p:nvPr/>
        </p:nvSpPr>
        <p:spPr>
          <a:xfrm>
            <a:off x="4292600" y="42227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MLP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256 units; 특성 추출</a:t>
            </a:r>
            <a:endParaRPr lang="en-US" sz="1150" dirty="0"/>
          </a:p>
        </p:txBody>
      </p:sp>
      <p:sp>
        <p:nvSpPr>
          <p:cNvPr id="18" name="mechanism-node-critic2"/>
          <p:cNvSpPr/>
          <p:nvPr/>
        </p:nvSpPr>
        <p:spPr>
          <a:xfrm>
            <a:off x="6845300" y="42227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multi-layer GRU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시간적 의존성 표현</a:t>
            </a:r>
            <a:endParaRPr lang="en-US" sz="1150" dirty="0"/>
          </a:p>
        </p:txBody>
      </p:sp>
      <p:sp>
        <p:nvSpPr>
          <p:cNvPr id="19" name="mechanism-node-critic3"/>
          <p:cNvSpPr/>
          <p:nvPr/>
        </p:nvSpPr>
        <p:spPr>
          <a:xfrm>
            <a:off x="9398000" y="42227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상태 가치 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최종 FC 출력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1" name="Text 19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actor는 행동 확률분포를, critic은 상태의 누적 보상 추정값을 출력한다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 21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10–11; Table III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semantic-aware MAPPO의 학습 순서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sampling policy로 trajectory를 모으고, GAE와 clipped objective로 actor·critic을 여러 epoch 갱신한다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초기화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학습 정책 θ, 수집 정책 θ′, critic ϕ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복사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episode 시작: θ′ ← θ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자료 수집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고정된 θ′로 T step 실행, trajectory 저장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기대 이득 추정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보상·critic으로 GAE 계산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여러 epoch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actor: clip+entropy; critic: value loss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같은 수집 정책의 자료를 여러 번 학습하고, 다음 수집 전에 정책을 갱신한다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9-10; Fig. 4; Algorithm 1; Eqs. 22-28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PPO clip은 확률 비율을 강제로 고정하지 않는다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교육용 ε=0.2: 한 표본의 목적값은 min(rA, g)이며, r은 새 정책 / 수집 정책의 행동 확률 비율이다</a:t>
            </a:r>
            <a:endParaRPr lang="en-US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3043936"/>
                <a:gridCol w="1956816"/>
                <a:gridCol w="2826512"/>
                <a:gridCol w="304393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r, A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rA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경계 항 g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목적값 min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1.1, +2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1.2×2=2.4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1.4, +2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1.2×2=2.4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0.9, −2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−1.8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0.8×(−2)=−1.6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−1.8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0.6, −2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−1.2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0.8×(−2)=−1.6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−1.6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r=1.4가 존재해도 목적값은 더 커지지 않는다; r≤1.2 보장은 아니다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9–11; Eqs. 23–28; constructed example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교육용 계산: 의미 추출이 줄인 전송 시간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가상 시간 단위: local=4, 추출=0.2/μ, 업로드=3μ, ES=0.5; p=q=1인 한 작업을 가정한다</a:t>
            </a:r>
            <a:endParaRPr lang="en-US" sz="1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935224"/>
                <a:gridCol w="2500376"/>
                <a:gridCol w="3043936"/>
                <a:gridCol w="239166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경로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단말 계산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업로드 + ES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총 지연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local: ρ=0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직접: μ=1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3+0.5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3.5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의미: μ=0.5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0.2/0.5=0.4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1.5+0.5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의미: μ=0.1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0.2/0.1=2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0.3+0.5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더 작은 μ가 항상 더 빠르지는 않다; 최종 선택에는 에너지·정확도도 필요하다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6–7; Eqs. 2–5; constructed example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실험의 semantic task와 model 부담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semantic codec은 하나의 범용 encoder가 아니라 modality별 사전 학습 모델이다</a:t>
            </a:r>
            <a:endParaRPr lang="en-US" sz="1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717800"/>
                <a:gridCol w="5109464"/>
                <a:gridCol w="304393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작업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dataset·encoder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보고된 model complexity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텍스트 분류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SST-2; BERT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3.72 GFLOPs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이미지 분류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CIFAR-10; ViT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8.43 GFLOPs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시각 질의응답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VQAv2; BERT+ViT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8.31 GFLOPs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GFLOPs는 모델의 연산량이며, 특정 장치에서 측정한 지연 시간이 아니다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p. 10; §V-A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QoE 결과를 읽기 위한 simulation 조건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결과 곡선은 4 UE·20개 task queue·10 MHz training point 등의 특정 환경에서 나온다</a:t>
            </a:r>
            <a:endParaRPr lang="en-US" sz="1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3261360"/>
                <a:gridCol w="3696208"/>
                <a:gridCol w="391363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설정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해석상 주의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무선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 UE; 채널당 10 MHz;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잡음 2 mW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대역폭·잡음 sweep 별도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GPU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UE 1280 cores, 1.5–1.7 GHz;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ES 65536 cores, 2.2 GHz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시뮬레이션 처리 능력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제약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μ: (0.1,1); 최소 정확도50%;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최대 지연5 ms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범용 앱 요구조건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학습·평가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MAPPO 학습300 episode;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평가200회 평균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큐 길이20; 유형·채널 변화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같은 환경의 비교 결과이며, 실제 장치 측정과 구분한다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p. 11; Table IV; §V-A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비교 baseline이 무엇을 바꾸고 무엇을 고정했나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semantic awareness와 continuous/hybrid action 처리의 차이를 분리해 읽는다</a:t>
            </a:r>
            <a:endParaRPr lang="en-US" sz="1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4565904"/>
                <a:gridCol w="2500376"/>
                <a:gridCol w="380492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방법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의미 추출 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행동 공간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제안 MAPPO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적응적으로 선택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이산·연속 혼합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MAPPO-discrete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적응적으로 선택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연속 행동을 이산화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unaware MAPPO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1로 고정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그 외 설정 동일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D3QN / unaware D3QN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적응 선택 / 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둘 다 이산화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Local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전송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전부 단말 실행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의미 추출 유무와 행동 이산화 여부는 서로 다른 비교 축이다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p. 11; §V-A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QoE 곡선의 조건부 결론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10 MHz에서 학습한 policy를 bandwidth·noise·UE 수 조건에서 시험했을 때 semantic-aware MAPPO가 가장 높았다</a:t>
            </a:r>
            <a:endParaRPr lang="en-US" sz="1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826512"/>
                <a:gridCol w="5000752"/>
                <a:gridCol w="304393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보고 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관찰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 경계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학습 곡선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MAPPO 약100; D3QN 약2000 episode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같은 벽시계 시간이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대역폭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제시한 모든 B에서 제안 QoE 최고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 MHz 학습 후 평가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unaware MAPPO 대비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QoE 12.68% 개선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논문이 보고한 상대값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unaware D3QN 대비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QoE 14.48% 개선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이산 행동 비교 포함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개선율에는 비교 방법·QoE 정의·학습과 평가 조건을 함께 붙인다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11-12; Figs. 6-10; §V-B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QoE weight를 바꾸면 ‘최선’도 바뀐다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preference에 맞춰 다시 학습한 결과이며, 한 policy를 즉시 재가중한 결과라고 읽으면 안 된다</a:t>
            </a:r>
            <a:endParaRPr lang="en-US" sz="1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3370072"/>
                <a:gridCol w="2500376"/>
                <a:gridCol w="2500376"/>
                <a:gridCol w="250037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preference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delay (ms)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energy (J)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accuracy (%)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no preference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0.523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0.0186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51.37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delay: ω_t=1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0.369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0.0192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43.08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energy: ω_e=1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3.50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0.0163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56.85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accuracy: ω_a=1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1.67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0.0682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71.99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지연 우선의 정확도 43.08%는 설정표의 최소 50%와 맞지 않아 주의가 필요하다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13-14; Table V; §V-C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벌점이 있다는 것과 제약을 지킨다는 것은 다르다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보고된 설정과 결과를 나란히 놓고, 논문이 설명하지 않은 차이는 남겨 둔다</a:t>
            </a:r>
            <a:endParaRPr lang="en-US" sz="1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174240"/>
                <a:gridCol w="4348480"/>
                <a:gridCol w="434848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근거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내용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P0, Eq. 11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정확도 ε≥ε_min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최적화 문제의 요구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학습, Eq. 12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위반량에 유한한 벌점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위반 금지와 다름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Table IV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ε_min=50%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기본 시뮬레이션 설정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Table V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지연 우선 정확도43.08%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50% 조건과 불일치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논문은 임계값 변경 여부를 명확히 설명하지 않아 충족 보장을 주장할 수 없다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p. 8, Eqs. 11–12; pp. 11,13, Tables IV–V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무엇이 아직 모델 밖에 남나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logistic slope와 μ 관계는 empirical abstraction이며, 논문도 더 일반적인 codec과 정량 관계를 향후 과제로 둔다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기울기가 크면 logistic 점수가 0 또는 1에 가까워져 포화될 수 있다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기울기가 0에 가까우면 점수가 0.5에 몰려 차이를 구별하기 어렵다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μ와 계산·전송·정확도 관계는 경험적 모델이며 보편 법칙이 아니다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작업은 atomic이고 결과 다운로드 지연은 생략한다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가중치별 재학습과 고정 정책의 점수 함수 민감도 실험은 다르다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5–7; pp. 14–15; Fig. 17; §VI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줄로 다시 읽기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의미 추출·계산·전송의 상충관계를 모델링하고 정책으로 선택한다; 작은 μ 자체가 목적은 아니다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모형: 작업별 코덱과 세 실행 경로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목표: local 기준의 지연·에너지·정확도 QoE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방법: 이산·연속 결정을 함께 학습하는 MAPPO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근거: 조건부 시뮬레이션 결과와 미해결 제약 차이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실행 경로 → 비용·QoE → 벌점과 학습 → 조건부 결과로 이해한다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paper-v3 pp. 5–15; Algorithm 1; §VI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의미 추출과 작업 전송의 공동 최적화</dc:title>
  <dc:subject>QoE-Driven Multi-Task Offloading for Semantic-Aware Edge Computing Systems</dc:subject>
  <dc:creator>Research Seminars</dc:creator>
  <cp:lastModifiedBy>Research Seminars</cp:lastModifiedBy>
  <cp:revision>1</cp:revision>
  <dcterms:created xsi:type="dcterms:W3CDTF">2026-09-12T08:41:22Z</dcterms:created>
  <dcterms:modified xsi:type="dcterms:W3CDTF">2026-09-12T08:41:22Z</dcterms:modified>
</cp:coreProperties>
</file>
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Deep RL 평가의 통계적 절벽
발표 대본
이 논문은 새로운 강화학습 알고리즘보다 평가 방법을 다룹니다. NeurIPS 2021 논문이며, 이 자료는 2022년 1월 5일 공개된 arXiv v4의 부록까지 함께 반영합니다. 질문은 단순합니다. 몇 개의 run에서 나온 점수 하나를 알고리즘의 고정된 성질처럼 읽어도 되는가입니다.
공개 출처
neurips-record | title, authors, NeurIPS 2021 record
NeurIPS 2021 paper record
https://proceedings.neurips.cc/paper/2021/hash/f514cec81cb148559cf475e7426eed5e-Abstract.html
arxiv-v4 | v4 metadata, 5 Jan 2022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적은 run이 통계적 절벽이 되는 이유
발표 대본
논문은 deep RL에서 게임 또는 환경마다 독립 run을 여러 번 수행해야 하지만, 계산비용 때문에 흔히 3개에서 10개만 사용한다고 지적합니다. Atari에서 50개가 넘는 게임을 다섯 번씩 학습하는 표준 실험도 1,000 GPU training days를 넘을 수 있습니다. 따라서 한 번 얻은 평균이나 중앙값에는 큰 표본 변동이 남을 수 있습니다.
공개 출처
neurips-paper | Abstract; Sec. 1, pp. 1–2
NeurIPS 2021 proceedings paper
https://proceedings.neurips.cc/paper_files/paper/2021/file/f514cec81cb148559cf475e7426eed5e-Paper.pdf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run은 seed 하나와 같지 않다
발표 대본
Appendix A.2의 Figure A.13은 seed를 고정해도 GPU 비결정성 때문에 결과가 동일하지 않을 수 있음을 보입니다. 같은 seed 집합으로 수행한 결과 사이의 상관도 낮았습니다. 따라서 run을 seed ID와 동일시하지 말고, 환경·학습·하드웨어를 포함한 전체 독립 반복으로 정의해야 합니다.
공개 출처
arxiv-v4 | Appendix A.2; Fig. A.13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Atari 100k 사례의 실험 단위
발표 대본
Atari 100k는 26개 게임에서 100,000 environment steps만 학습하는 data-efficient benchmark입니다. 저자들은 각 알고리즘과 게임 조합에 100개의 독립 run을 수행하고, 학습 뒤 각 run을 100개의 episode로 평가했습니다. 이후 3개부터 100개의 run을 재표집해 평가 통계의 변동을 관찰합니다.
공개 출처
arxiv-v4 | Sec. 3.1; Appendix A.2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점 추정치에도 분포가 있다
발표 대본
Figure 2는 100-run data에서 작은 N을 반복해 뽑고 aggregate metric을 다시 계산합니다. sampling distribution은 알고리즘의 학습 중 상태 분포가 아니라, 동일한 평가 절차를 다시 수행할 때 통계량이 어떻게 달라지는지를 나타냅니다. 논문은 이 그림에 100,000개의 subsample을 사용했습니다.
공개 출처
arxiv-v4 | Sec. 3.1–3.2; Fig. 2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평가 시점이 다르면 숫자도 다르다
발표 대본
논문은 CURL이 학습 중 10번 평가한 값의 maximum을, SUNRISE가 게임마다 8개 configuration과 3개 run에서 maximum을 보고한 사례를 설명합니다. 동일한 maximum selection을 DER에 적용하면 상당한 개선이 나타났습니다. final evaluation과 maximum selection은 operational definition부터 다릅니다.
공개 출처
arxiv-v4 | Sec. 4.1; Appendix A.4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통계량·구간·검정은 다른 층이다
발표 대본
통계량은 표본의 요약값입니다. 신뢰구간은 그 통계량을 추정하는 절차의 불확실성을 보여 줍니다. 가설검정은 사전에 정한 귀무가설과 오류율 아래의 별도 의사결정 절차입니다. 논문은 이분법적 유의성 보고보다 effect size와 confidence interval을 함께 제시하라고 권고합니다.
공개 출처
neurips-paper | Sec. 3–4, pp. 3–6
NeurIPS 2021 proceedings paper
https://proceedings.neurips.cc/paper_files/paper/2021/file/f514cec81cb148559cf475e7426eed5e-Paper.pdf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평가 데이터는 M×N score matrix다
발표 대본
논문의 표기에서 M은 task 수, N은 각 task의 독립 run 수입니다. x_mn은 정규화된 score입니다. 여기의 matrix는 이해를 위한 축약 그림이라 두 run 열만 보이지만, 실제 데이터에는 N개 열이 있습니다. stratified bootstrap은 이 task 경계를 유지합니다.
공개 출처
neurips-paper | Sec. 2, p. 2
NeurIPS 2021 proceedings paper
https://proceedings.neurips.cc/paper_files/paper/2021/file/f514cec81cb148559cf475e7426eed5e-Paper.pdf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정규화와 metric 방향을 먼저 확인한다
발표 대본
Atari human-normalized score는 random agent를 0, average human을 1로 둡니다. Procgen 재분석에서는 PPO normalization보다 min–max normalization을 사용합니다. normalization은 단위 변환에 그치지 않고 task 간 상대 가중과 순위에 영향을 줄 수 있습니다. optimality gap만 lower-is-better라는 점도 반드시 분리해야 합니다.
공개 출처
arxiv-v4 | Sec. 2, 4.2, 5.3; Appendix A.6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mean과 median의 다른 취약점
발표 대본
Atari score에는 일부 게임의 매우 큰 normalized score가 있어 mean이 크게 흔들릴 수 있습니다. median은 outlier에는 강하지만 finite sample에서 높은 분산과 bias가 나타납니다. IQM은 middle half를 평균해 두 성질을 절충하지만, distribution에 따라 효율성이 달라지므로 항상 최적이라고 말할 수 없습니다.
공개 출처
arxiv-v4 | Sec. 3–4; Fig. 2–3; Fig. A.16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IQM은 중앙 50%의 평균이다
발표 대본
논문은 IQM을 25% trimmed mean으로 정의합니다. median처럼 중앙 위치만 고르는 대신 middle half의 값 전체를 평균합니다. 이 때문에 studied benchmarks에서 median보다 statistically efficient했고 mean보다 robust했습니다. 다만 tail 성능을 알고 싶다면 performance profile 같은 별도 보기가 필요합니다.
공개 출처
neurips-paper | Sec. 4.2, pp. 6–7
NeurIPS 2021 proceedings paper
https://proceedings.neurips.cc/paper_files/paper/2021/file/f514cec81cb148559cf475e7426eed5e-Paper.pdf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계산 예: outlier와 IQM
발표 대본
여덟 score의 원래 합은 7.3이므로 mean은 0.9125입니다. IQM은 bottom two와 top two를 제거하고 0.2, 0.3, 0.8, 0.9의 평균 0.55를 사용합니다. 최대값을 20으로 바꾸면 mean은 23.3/8=2.9125가 되지만 IQM은 같습니다. 이 예시는 논문의 정의만 적용한 교육용 계산입니다.
공개 출처
neurips-paper | Sec. 4.2, IQM definition
NeurIPS 2021 proceedings paper
https://proceedings.neurips.cc/paper_files/paper/2021/file/f514cec81cb148559cf475e7426eed5e-Paper.pdf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Performance profile은 분포를 곡선으로 본다
발표 대본
논문이 권고하는 run-score distribution은 empirical tail distribution입니다. 모든 task-run score를 사용하고, threshold tau보다 큰 비율을 그립니다. 따라서 higher curve is better입니다. 한 outlier가 곡선을 바꿀 수 있는 최대 크기는 1/(M×N)입니다. uncertainty는 threshold별 pointwise stratified-bootstrap band로 나타냅니다.
공개 출처
arxiv-v4 | Sec. 4.2; Fig. 8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계산 예: profile이 교차할 수 있다
발표 대본
A와 B는 threshold 0.5에서 같고, 1.0에서는 A가 높으며, 1.5에서는 B가 높습니다. 따라서 curve가 교차합니다. 이때 어느 algorithm이 더 좋다는 결론은 관심 threshold와 위험 선호에 달립니다. 숫자는 performance-profile 정의를 설명하기 위해 만든 예시입니다.
공개 출처
arxiv-v4 | Sec. 4.2, run-score distributions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Stratified bootstrap은 task 안에서 뽑는다
발표 대본
stratified라는 말은 game 또는 task가 층이라는 뜻입니다. 각 task에서 N개의 run을 replacement와 함께 다시 뽑고, 모든 task의 resampled score에 aggregate metric을 계산합니다. 이 과정을 반복한 분포의 quantile로 percentile interval을 구성합니다. 논문은 aggregate score에 보통 50,000 bootstrap replicate를 사용합니다.
공개 출처
arxiv-v4 | Sec. 4.1; Fig. 5–6; Appendix A.5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계산 예: bootstrap replicate 하나
발표 대본
원래 Task A는 0.2,0.4,0.6,0.8이고 Task B는 0.3,0.5,0.9,1.1입니다. 표시한 index를 task별로 복원추출하면 결합 정렬값은 0.2,0.3,0.4,0.4,0.5,0.8,1.1,1.1입니다. middle four의 평균은 0.525입니다. 이 한 번의 계산을 여러 번 반복해야 bootstrap distribution을 얻습니다.
공개 출처
arxiv-v4 | Sec. 4.1, stratified bootstrap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95% CI를 올바르게 읽는 법
발표 대본
95% confidence interval은 같은 절차를 반복했을 때 생성된 구간의 약 95%가 target quantity를 포함하도록 설계된다는 뜻입니다. 이미 계산된 한 구간에 참값이 들어 있을 확률을 95%라고 말하는 frequentist 해석은 부정확합니다. 또한 bootstrap interval은 N=3처럼 매우 작을 때 nominal coverage를 얻지 못할 수 있습니다.
공개 출처
arxiv-v4 | Sec. 4.1; Appendix A.5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알고리즘 비교에는 차이의 CI가 필요하다
발표 대본
관심 parameter가 알고리즘 차이라면 bootstrap replicate마다 두 알고리즘의 aggregate statistic 차이를 계산하고 그 분포의 interval을 구해야 합니다. 개별 confidence interval의 overlap 여부는 차이의 interval과 같은 검정이 아닙니다. 같은 task set의 각 task 안에서 X와 Y의 독립 run들을 각각 독립적으로 복원 추출한 뒤, 해당 replicate의 statistic(X)−statistic(Y)를 구합니다. 이것은 서로 다른 알고리즘의 run을 임의로 짝짓는 paired bootstrap이 아닙니다. 실제로 paired 설계로 수집한 자료를 분석할 때만 그 실험의 pairing을 보존해야 합니다.
공개 출처
neurips-paper | Sec. 4.1–4.3, pp. 5–7
NeurIPS 2021 proceedings paper
https://proceedings.neurips.cc/paper_files/paper/2021/file/f514cec81cb148559cf475e7426eed5e-Paper.pdf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Probability of improvement는 승률이다
발표 대본
논문은 Mann–Whitney statistic으로 task별 P(X&gt;Y)를 추정하고, 이를 task 전체에서 평균냅니다. 0.5는 대체로 동등한 승률을 뜻합니다. 이 값은 effect magnitude를 반영하지 않으므로 IQM 차이와 함께 보는 것이 좋습니다. profile과 마찬가지로 bootstrap uncertainty를 덧붙일 수 있습니다.
공개 출처
arxiv-v4 | Sec. 4.3; Fig. 7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계산 예: 두 task의 개선 확률
발표 대본
Task 1의 네 pair 중 X가 이기는 경우는 0.8&gt;0.6과 1.0&gt;0.6의 두 개입니다. Task 2에서는 0.5&gt;0.4, 0.7&gt;0.4, 0.7&gt;0.6의 세 개입니다. task별 확률을 동일하게 평균하면 0.625입니다. 숫자는 논문 정의를 적용한 교육용 계산입니다.
공개 출처
arxiv-v4 | Sec. 4.3, improvement probability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Optimality gap은 목표 미달을 본다
발표 대본
Atari human-normalized score에서는 target gamma=1이 human performance를 뜻합니다. 각 score의 contribution은 max(0, 1−x)이고 이를 평균합니다. 따라서 1.2와 10 모두 gap contribution이 0입니다. high tail의 크기를 중요하게 본다면 mean이나 performance profile을 함께 봐야 합니다.
공개 출처
neurips-paper | Sec. 4.2, optimality gap
NeurIPS 2021 proceedings paper
https://proceedings.neurips.cc/paper_files/paper/2021/file/f514cec81cb148559cf475e7426eed5e-Paper.pdf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권장 reporting packet
발표 대본
논문과 companion library rliable의 핵심 철학은 한 metric으로 모든 것을 대체하는 것이 아닙니다. IQM은 robust central tendency, performance profile은 score distribution, probability of improvement는 direct pairwise frequency를 보여 줍니다. run budget, evaluation protocol, normalization을 함께 적어야 재해석이 가능합니다.
공개 출처
arxiv-v4 | Sec. 4; Fig. 7–8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Atari 100k 근거의 실제 비용
발표 대본
Appendix A.2의 산술은 15,600 main runs와 2,600 extra DER runs를 합쳐 18,200 runs입니다. 각 run은 Tesla P100에서 대략 3–5시간 걸렸고, paper estimate는 2,400–3,600 GPU training days입니다. 실제 wall-clock 기간은 병렬 GPU 수에 따라 다르므로 training-day 합계와 구분해야 합니다.
공개 출처
arxiv-v4 | Appendix A.2, computational resources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조건부 결과: median보다 IQM이 안정적이었다
발표 대본
Figure 2는 DER, OTR, DrQ에 N=5, SPR에 N=10, CURL에 N=20을 사용해 기존 보고 관행을 재현합니다. 100,000 subsamples에서 median sampling distribution은 넓고, IQM은 더 좁았습니다. median은 50 runs에서도 substantial uncertainty가 남았습니다. 이는 Atari 100k의 관찰이지 IQM이 모든 benchmark에서 최적이라는 theorem이 아닙니다.
공개 출처
arxiv-v4 | Sec. 3.2; Fig. 2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작은 개선일수록 더 많은 run이 필요했다
발표 대본
Figure 4는 실제 새 알고리즘을 비교한 것이 아니라 DER normalized scores를 0%, 10%, 25% 올려 controlled effect를 만듭니다. median은 25% lift에서 약 25 runs, 10% lift에서 약 100 runs가 필요했습니다. IQM은 더 적은 runs에서 안정적이었습니다. 정확한 요구 run 수는 이 data-generating distribution에 조건부입니다.
공개 출처
arxiv-v4 | Sec. 3.3; Fig. 4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Bootstrap도 작은 N에서는 점검해야 한다
발표 대본
저자들은 DER의 200 independent runs를 ground-truth approximation으로 사용해 interval coverage를 확인했습니다. Atari 100k의 aggregate median과 IQM은 5–10 runs 부근에서 nominal 95% coverage에 가까웠지만 N=3에서는 낮았습니다. 한 game의 mean은 20–30 runs 정도가 필요했습니다. 이 차이는 task aggregation이 uncertainty를 줄일 수 있음을 보여 주지만, 보편적 sample-size theorem은 아닙니다.
공개 출처
arxiv-v4 | Fig. 6; Appendix A.5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Atari 200M: metric이 순위를 바꾼다
발표 대본
Section 5.1은 Atari 200M의 55 games with sticky actions를 재분석합니다. 대부분 five runs per game이지만 M-IQN은 3, DreamerV2는 11입니다. DreamerV2와 M-IQN의 mean은 JAMESBOND에서 50을 넘는 normalized score의 영향을 크게 받습니다. mean, median, IQM의 ranking이 달라지는 이유를 distribution과 함께 읽어야 합니다.
공개 출처
arxiv-v4 | Sec. 5.1; Fig. 9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DeepMind Control: uncertainty가 결론을 제한한다
발표 대본
DeepMind Control 재분석은 six tasks와 100k, 500k environment-step budgets를 분리합니다. score는 maximum 1000으로 normalize합니다. 대부분 개별-run score로 percentile stratified bootstrap을 계산하지만, CURL, CURL-D2RL, SUNRISE는 이용 가능한 aggregate 정보 때문에 studentized interval을 사용합니다. rank distribution은 200,000 resamples로 구합니다.
공개 출처
arxiv-v4 | Sec. 5.2; Fig. 10–11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Procgen: claimed gain과 승률은 다르다
발표 대본
Procgen analysis는 16 easy-mode environments와 10 independent runs per environment를 사용합니다. 저자들은 PPO normalization보다 task-wise min–max normalization을 선호합니다. 여러 claimed improvements의 average probability of improvement는 50–70% 정도이며, UCB-DrAC relative to PLR은 40–50% 부근입니다. 승률과 score magnitude는 서로 다른 질문입니다.
공개 출처
arxiv-v4 | Sec. 5.3; Fig. 12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이 논문이 보장하지 않는 것
발표 대본
논문의 범위는 statistical reproducibility, 즉 같은 평가를 반복했을 때 보고 결과가 얼마나 안정적인지에 가깝습니다. method reproducibility, implementation correctness, external validity를 자동으로 보장하지 않습니다. sample sufficiency는 benchmark distribution, effect size, statistic에 따라 달라집니다. confidence interval도 선택 편향이나 protocol mismatch를 제거하지 않습니다.
공개 출처
arxiv-v4 | Sec. 6–7; Appendices A.1, A.5
arXiv:2108.13264v4, 5 January 2022
https://arxiv.org/abs/2108.13264v4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Deep RL 결과표를 읽는 순서
발표 대본
마지막으로 실전 순서를 정리합니다. 먼저 M, N, budget, final-or-maximum protocol을 확인합니다. 다음으로 normalization과 good direction을 확인하고, point statistic과 confidence interval을 함께 읽습니다. profile과 direct comparison을 보완한 뒤, 결론을 관찰한 benchmark 조건 밖으로 일반화하지 않습니다. 이것이 논문의 statistical precipice를 피하는 최소 습관입니다.
공개 출처
neurips-paper | Sec. 4–7, pp. 5–10
NeurIPS 2021 proceedings paper
https://proceedings.neurips.cc/paper_files/paper/2021/file/f514cec81cb148559cf475e7426eed5e-Paper.pdf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Deep RL 평가의 통계적 절벽</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Deep Reinforcement Learning at the Edge of the Statistical Precipice</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Rishabh Agarwal · Max Schwarzer · Pablo Samuel Castro · Aaron Courville · Marc G. Bellemare (2021)</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적은 run으로 만든 순위에서 불확실성을 읽고, 더 신뢰할 수 있게 보고하는 방법</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neurips-record title, authors, NeurIPS 2021 record; arxiv-v4 v4 metadata, 5 Jan 2022</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적은 run이 통계적 절벽이 되는 이유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계산비용이 표본 수를 제한하면, 한 번의 점 추정치가 알고리즘 순위를 좌우한다.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비싼 학습</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게임마다 긴 학습 반복</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3–10 runs</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관행상 작은 표본</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점 추정</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mean·median 한 숫자</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불안정한 순위</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다시 뽑으면 결론 변화</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점수 차이만 보지 말고, 그 차이가 표본 변동에 비해 얼마나 큰지 함께 봐야 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Abstract; Sec. 1, pp. 1–2</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run은 seed 하나와 같지 않다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seed는 난수의 일부를 통제하지만, 독립 run의 변동 원인을 모두 제거하지 않는다.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3913632"/>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변동 원인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예</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환경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전이·보상 stochasticity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정책도 trajectory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탐색·초기화·minibatch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최적화 경로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시스템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GPU·framework nondeterminism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seed도 결과 변화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실험 단위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독립적으로 다시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seed 번호보다 생성 절차가 중요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seed를 고정했다는 말만으로 run의 독립성이나 결정성이 보장되지는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Appendix A.2; Fig. A.13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Atari 100k 사례의 실험 단위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작은 표본의 영향을 보기 위해 알고리즘·게임마다 100개 run을 새로 모았다.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022344"/>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26 Atari games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게임마다 별도 score 분포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budget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100k environment steps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2–3시간 gameplay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run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알고리즘·게임당 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N을 재표집할 reference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evaluation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뒤 100 episodes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run의 최종 score 산출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methods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DER·OTR·DrQ·CURL·SPR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DrQ 표준 epsilon도 구분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뒤의 수치는 이 26×100 구조에서 얻은 조건부 증거다.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Sec. 3.1; Appendix A.2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점 추정치에도 분포가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알고리즘이라도 어떤 run을 선택했는지에 따라 aggregate score가 달라진다.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100-run pool</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게임별 reference data</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N개 재표집</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N=3부터 100</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통계량 계산</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mean·median·IQM</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100,000회 반복</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sampling distribution</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표 하나의 점수는 sampling distribution에서 뽑힌 한 관측값이다.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Sec. 3.1–3.2; Fig. 2</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평가 시점이 다르면 숫자도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final policy 평가와 여러 시점·설정 중 maximum 선택은 서로 다른 질문이다.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380492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protocol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 방식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답하는 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종료 뒤 한 policy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마지막 policy의 성능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during-training 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평가 시점 중 최고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관찰된 최고 checkpoint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configuration 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hyperparameter 중 최고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탐색까지 포함한 최고값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비교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선택 규칙 적용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selection bias를 맞춰야 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평가 protocol을 맞추지 않은 score 차이는 알고리즘 차이와 선택 효과를 섞는다.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Sec. 4.1; Appendix A.4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통계량·구간·검정은 다른 층이다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숫자, 그 숫자의 불확실성, 가설 판단 규칙을 분리해 읽는다.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3043936"/>
                <a:gridCol w="52181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층</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출력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대답하는 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statistic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IQM=0.52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이번 표본의 중심은 얼마인가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confidence interval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95% CI [0.45,0.59]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반복 절차의 변동 범위는 어떤가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hypothesis test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검정통계량·결정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정한 귀무가설과 규칙에서 기각하는가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effect comparison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차이와 차이의 CI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방법의 차이는 얼마나 불확실한가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CI를 p-value로 읽거나, 점 추정치 하나를 가설의 결론으로 읽으면 안 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Sec. 3–4, pp. 3–6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평가 데이터는 M×N score matrix다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M개 task의 층을 유지한 채, 각 task 안에 N개의 독립 run을 둔다.</a:t>
            </a:r>
            <a:endParaRPr lang="en-US" sz="1900" dirty="0"/>
          </a:p>
        </p:txBody>
      </p:sp>
      <p:sp>
        <p:nvSpPr>
          <p:cNvPr id="4" name="mechanism-lane-eval"/>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evaluation</a:t>
            </a:r>
            <a:endParaRPr lang="en-US" sz="1250" dirty="0"/>
          </a:p>
        </p:txBody>
      </p:sp>
      <p:sp>
        <p:nvSpPr>
          <p:cNvPr id="5" name="mechanism-edge-e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1-label"/>
          <p:cNvSpPr txBox="1"/>
          <p:nvPr/>
        </p:nvSpPr>
        <p:spPr>
          <a:xfrm>
            <a:off x="3517900" y="30353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독립 반복</a:t>
            </a:r>
            <a:endParaRPr lang="en-US" sz="950" dirty="0"/>
          </a:p>
        </p:txBody>
      </p:sp>
      <p:sp>
        <p:nvSpPr>
          <p:cNvPr id="7" name="mechanism-edge-e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2-label"/>
          <p:cNvSpPr txBox="1"/>
          <p:nvPr/>
        </p:nvSpPr>
        <p:spPr>
          <a:xfrm>
            <a:off x="6070600" y="30988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raw scores</a:t>
            </a:r>
            <a:endParaRPr lang="en-US" sz="950" dirty="0"/>
          </a:p>
        </p:txBody>
      </p:sp>
      <p:sp>
        <p:nvSpPr>
          <p:cNvPr id="9" name="mechanism-edge-e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e3-label"/>
          <p:cNvSpPr txBox="1"/>
          <p:nvPr/>
        </p:nvSpPr>
        <p:spPr>
          <a:xfrm>
            <a:off x="8623300" y="321310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comparable scale</a:t>
            </a:r>
            <a:endParaRPr lang="en-US" sz="950" dirty="0"/>
          </a:p>
        </p:txBody>
      </p:sp>
      <p:sp>
        <p:nvSpPr>
          <p:cNvPr id="11" name="mechanism-node-tasks"/>
          <p:cNvSpPr txBox="1"/>
          <p:nvPr/>
        </p:nvSpPr>
        <p:spPr>
          <a:xfrm>
            <a:off x="1739900" y="32639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M tasks</a:t>
            </a:r>
            <a:endParaRPr lang="en-US" sz="1150" dirty="0"/>
          </a:p>
        </p:txBody>
      </p:sp>
      <p:sp>
        <p:nvSpPr>
          <p:cNvPr id="12" name="mechanism-node-tasks-queue-1"/>
          <p:cNvSpPr/>
          <p:nvPr/>
        </p:nvSpPr>
        <p:spPr>
          <a:xfrm>
            <a:off x="1739900" y="35179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task 1</a:t>
            </a:r>
            <a:endParaRPr lang="en-US" sz="950" dirty="0"/>
          </a:p>
        </p:txBody>
      </p:sp>
      <p:sp>
        <p:nvSpPr>
          <p:cNvPr id="13" name="mechanism-node-tasks-queue-2"/>
          <p:cNvSpPr/>
          <p:nvPr/>
        </p:nvSpPr>
        <p:spPr>
          <a:xfrm>
            <a:off x="1739900" y="37084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task 2</a:t>
            </a:r>
            <a:endParaRPr lang="en-US" sz="950" dirty="0"/>
          </a:p>
        </p:txBody>
      </p:sp>
      <p:sp>
        <p:nvSpPr>
          <p:cNvPr id="14" name="mechanism-node-tasks-queue-3"/>
          <p:cNvSpPr/>
          <p:nvPr/>
        </p:nvSpPr>
        <p:spPr>
          <a:xfrm>
            <a:off x="1739900" y="38989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a:t>
            </a:r>
            <a:endParaRPr lang="en-US" sz="950" dirty="0"/>
          </a:p>
        </p:txBody>
      </p:sp>
      <p:sp>
        <p:nvSpPr>
          <p:cNvPr id="15" name="mechanism-node-tasks-queue-4"/>
          <p:cNvSpPr/>
          <p:nvPr/>
        </p:nvSpPr>
        <p:spPr>
          <a:xfrm>
            <a:off x="1739900" y="40894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task M</a:t>
            </a:r>
            <a:endParaRPr lang="en-US" sz="950" dirty="0"/>
          </a:p>
        </p:txBody>
      </p:sp>
      <p:sp>
        <p:nvSpPr>
          <p:cNvPr id="16" name="mechanism-node-runs"/>
          <p:cNvSpPr txBox="1"/>
          <p:nvPr/>
        </p:nvSpPr>
        <p:spPr>
          <a:xfrm>
            <a:off x="4292600" y="3327400"/>
            <a:ext cx="2070100" cy="215900"/>
          </a:xfrm>
          <a:prstGeom prst="rect">
            <a:avLst/>
          </a:prstGeom>
          <a:noFill/>
          <a:ln/>
        </p:spPr>
        <p:txBody>
          <a:bodyPr wrap="square" lIns="0" tIns="0" rIns="0" bIns="0" rtlCol="0" anchor="ctr"/>
          <a:lstStyle/>
          <a:p>
            <a:pPr algn="ctr" indent="0" marL="0">
              <a:lnSpc>
                <a:spcPct val="120000"/>
              </a:lnSpc>
              <a:buNone/>
            </a:pPr>
            <a:r>
              <a:rPr lang="en-US" sz="1100" b="1" dirty="0">
                <a:solidFill>
                  <a:srgbClr val="0D685C"/>
                </a:solidFill>
                <a:latin typeface="AppleGothic" pitchFamily="34" charset="0"/>
                <a:ea typeface="AppleGothic" pitchFamily="34" charset="-122"/>
                <a:cs typeface="AppleGothic" pitchFamily="34" charset="-120"/>
              </a:rPr>
              <a:t>N runs per task</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292600" y="3556000"/>
          <a:ext cx="2070100" cy="660400"/>
        </p:xfrm>
        <a:graphic>
          <a:graphicData uri="http://schemas.openxmlformats.org/drawingml/2006/table">
            <a:tbl>
              <a:tblPr/>
              <a:tblGrid>
                <a:gridCol w="690033"/>
                <a:gridCol w="690033"/>
                <a:gridCol w="690033"/>
              </a:tblGrid>
              <a:tr h="165100">
                <a:tc>
                  <a:txBody>
                    <a:bodyPr/>
                    <a:lstStyle/>
                    <a:p>
                      <a:pPr algn="ctr" indent="0" marL="0">
                        <a:buNone/>
                      </a:pPr>
                      <a:r>
                        <a:rPr lang="en-US" sz="950" b="1" dirty="0">
                          <a:solidFill>
                            <a:srgbClr val="0D685C"/>
                          </a:solidFill>
                          <a:latin typeface="AppleGothic" pitchFamily="34" charset="0"/>
                          <a:ea typeface="AppleGothic" pitchFamily="34" charset="-122"/>
                          <a:cs typeface="AppleGothic" pitchFamily="34" charset="-120"/>
                        </a:rPr>
                        <a:t>task</a:t>
                      </a:r>
                      <a:endParaRPr lang="en-US" sz="95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D685C"/>
                          </a:solidFill>
                          <a:latin typeface="AppleGothic" pitchFamily="34" charset="0"/>
                          <a:ea typeface="AppleGothic" pitchFamily="34" charset="-122"/>
                          <a:cs typeface="AppleGothic" pitchFamily="34" charset="-120"/>
                        </a:rPr>
                        <a:t>r1</a:t>
                      </a:r>
                      <a:endParaRPr lang="en-US" sz="95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D685C"/>
                          </a:solidFill>
                          <a:latin typeface="AppleGothic" pitchFamily="34" charset="0"/>
                          <a:ea typeface="AppleGothic" pitchFamily="34" charset="-122"/>
                          <a:cs typeface="AppleGothic" pitchFamily="34" charset="-120"/>
                        </a:rPr>
                        <a:t>r2</a:t>
                      </a:r>
                      <a:endParaRPr lang="en-US" sz="95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65100">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1</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x11</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x12</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65100">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2</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x21</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x22</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65100">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M</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xM1</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xM2</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18" name="mechanism-node-norm"/>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normalize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공통 reference 적용</a:t>
            </a:r>
            <a:endParaRPr lang="en-US" sz="1150" dirty="0"/>
          </a:p>
        </p:txBody>
      </p:sp>
      <p:sp>
        <p:nvSpPr>
          <p:cNvPr id="19" name="mechanism-node-agg"/>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aggregate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statistic + uncertainty</a:t>
            </a:r>
            <a:endParaRPr lang="en-US" sz="1150" dirty="0"/>
          </a:p>
        </p:txBody>
      </p:sp>
      <p:sp>
        <p:nvSpPr>
          <p:cNvPr id="20" name="Shape 17"/>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1" name="Text 18"/>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task와 run을 뒤섞지 말고, 두 수준의 구조를 통계 절차에 보존한다.</a:t>
            </a:r>
            <a:endParaRPr lang="en-US" sz="1750" dirty="0"/>
          </a:p>
        </p:txBody>
      </p:sp>
      <p:sp>
        <p:nvSpPr>
          <p:cNvPr id="22" name="Shape 19"/>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3" name="Text 20"/>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Sec. 2, p. 2</a:t>
            </a:r>
            <a:endParaRPr lang="en-US" sz="1050" dirty="0"/>
          </a:p>
        </p:txBody>
      </p:sp>
      <p:sp>
        <p:nvSpPr>
          <p:cNvPr id="24" name="Text 21"/>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정규화와 metric 방향을 먼저 확인한다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숫자라도 reference와 방향이 다르면 비교 의미가 달라진다.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2174240"/>
                <a:gridCol w="56530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metric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좋은 방향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mean·median·IQM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높을수록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normalized score의 중심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optimality gap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낮을수록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목표보다 부족한 평균량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performance profile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곡선이 높을수록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threshold를 넘는 run 비율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human normalization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random=0, human=1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reference 선택이 scale을 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min–max normalization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task별 범위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Procgen 비교에서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점수 표를 읽기 전에 normalization reference와 good direction을 적는다.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Sec. 2, 4.2, 5.3; Appendix A.6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mean과 median의 다른 취약점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robustness와 statistical efficiency는 같은 성질이 아니다.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3587496"/>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statistic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장점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주의점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score 크기를 반영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극단값에 크게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median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극단값에 robust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N에서 분산·bias가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IQM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중앙 50%의 크기 반영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tail 정보를 의도적으로 버림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원칙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관점을 함께 보고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분포와 질문에 맞춰 해석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한 metric을 고집하지 말고, 불확실성과 여러 관점을 함께 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Sec. 3–4; Fig. 2–3; Fig. A.16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IQM은 중앙 50%의 평균이다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Interquartile Mean은 task-run score를 합쳐 양쪽 25%를 제거한 뒤 평균낸다.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normalized scores</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모든 task·run 결합</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sort</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낮은 값부터 정렬</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trim</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하위·상위 25% 제거</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average</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중앙 50% 평균</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IQM은 extreme tail의 영향은 제한하면서 중앙 score의 크기는 사용한다.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Sec. 4.2, pp. 6–7</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계산 예: outlier와 IQM</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숫자는 정의를 설명하기 위해 만든 예시이며 논문의 실험값이 아니다.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5870448"/>
                <a:gridCol w="2391664"/>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data</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mean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IQM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0.0, 0.1, 0.2, 0.3, 0.8, 0.9, 1.0, 4.0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0.9125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중앙 네 값: 0.2, 0.3, 0.8, 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2.2 /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4.0을 20.0으로 교체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2.9125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outlier에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예시에서는 불변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robustness는 outlier의 영향을 제한한다는 뜻이며, 모든 정보 손실이 없다는 뜻은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Sec. 4.2, IQM definition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Performance profile은 분포를 곡선으로 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threshold를 넘는 task-run score의 비율을 계산해, 한 숫자가 숨긴 분포를 드러낸다.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threshold tau</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관심 score 수준 설정</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count</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score가 tau 초과인 run</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divide</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전체 M×N으로 나눔</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sweep tau</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tail curve 생성</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곡선이 더 높으면 해당 threshold 이상을 달성한 run의 비율이 더 크다.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Sec. 4.2; Fig. 8</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계산 예: profile이 교차할 수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score는 교육용 예시다. 비율은 threshold를 엄격히 초과한 run만 센다.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3043936"/>
                <a:gridCol w="3043936"/>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threshold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 0.2,0.7,1.2,1.5</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 0.4,0.6,0.9,1.8</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3/4 = 0.75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3/4 = 0.75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 = 0.50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 = 0.25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A가 높음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 = 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 = 0.25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B가 높음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곡선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중간 threshold 우세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높은 tail 우세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교차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profile이 교차하면 하나의 알고리즘이 모든 threshold에서 우세하다고 말할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Sec. 4.2, run-score distributions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Stratified bootstrap은 task 안에서 뽑는다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task 수와 run 수를 유지하면서 각 task의 run을 복원추출한다.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task별 scores</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층에 N runs</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within-task sample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복원추출로 N개</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aggregate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IQM·median 재계산</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repeat</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bootstrap distribution</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percentiles</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confidence interval</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모든 score를 한 통에서 뽑으면 task 구조가 사라지므로 논문의 절차가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Sec. 4.1; Fig. 5–6; Appendix A.5</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계산 예: bootstrap replicate 하나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 두-task 예시다. 같은 task 안에서만 index를 복원추출한다.</a:t>
            </a:r>
            <a:endParaRPr lang="en-US" sz="1900" dirty="0"/>
          </a:p>
        </p:txBody>
      </p:sp>
      <p:sp>
        <p:nvSpPr>
          <p:cNvPr id="4" name="Shape 2"/>
          <p:cNvSpPr/>
          <p:nvPr/>
        </p:nvSpPr>
        <p:spPr>
          <a:xfrm>
            <a:off x="3302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8890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7" name="Shape 5"/>
          <p:cNvSpPr/>
          <p:nvPr/>
        </p:nvSpPr>
        <p:spPr>
          <a:xfrm>
            <a:off x="6731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546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9" name="Shape 7"/>
          <p:cNvSpPr/>
          <p:nvPr/>
        </p:nvSpPr>
        <p:spPr>
          <a:xfrm>
            <a:off x="673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10" name="Shape 8"/>
          <p:cNvSpPr/>
          <p:nvPr/>
        </p:nvSpPr>
        <p:spPr>
          <a:xfrm>
            <a:off x="6096000" y="4737100"/>
            <a:ext cx="0" cy="736600"/>
          </a:xfrm>
          <a:prstGeom prst="line">
            <a:avLst/>
          </a:prstGeom>
          <a:noFill/>
          <a:ln w="12700">
            <a:solidFill>
              <a:srgbClr val="0D685C"/>
            </a:solidFill>
            <a:prstDash val="solid"/>
            <a:headEnd type="none"/>
            <a:tailEnd type="triangle"/>
          </a:ln>
        </p:spPr>
        <p:txBody>
          <a:bodyPr/>
          <a:lstStyle/>
          <a:p>
            <a:endParaRPr lang="ko-KR"/>
          </a:p>
        </p:txBody>
      </p:sp>
      <p:sp>
        <p:nvSpPr>
          <p:cNvPr id="11" name="Text 9"/>
          <p:cNvSpPr txBox="1"/>
          <p:nvPr/>
        </p:nvSpPr>
        <p:spPr>
          <a:xfrm>
            <a:off x="1270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Task A</a:t>
            </a:r>
            <a:endParaRPr lang="en-US" sz="1750" dirty="0"/>
          </a:p>
        </p:txBody>
      </p:sp>
      <p:sp>
        <p:nvSpPr>
          <p:cNvPr id="12" name="Text 10"/>
          <p:cNvSpPr txBox="1"/>
          <p:nvPr/>
        </p:nvSpPr>
        <p:spPr>
          <a:xfrm>
            <a:off x="1270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2,2,1,4 → .4,.4,.2,.8</a:t>
            </a:r>
            <a:endParaRPr lang="en-US" sz="1500" dirty="0"/>
          </a:p>
        </p:txBody>
      </p:sp>
      <p:sp>
        <p:nvSpPr>
          <p:cNvPr id="13" name="Text 11"/>
          <p:cNvSpPr txBox="1"/>
          <p:nvPr/>
        </p:nvSpPr>
        <p:spPr>
          <a:xfrm>
            <a:off x="6858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Task B</a:t>
            </a:r>
            <a:endParaRPr lang="en-US" sz="1750" dirty="0"/>
          </a:p>
        </p:txBody>
      </p:sp>
      <p:sp>
        <p:nvSpPr>
          <p:cNvPr id="14" name="Text 12"/>
          <p:cNvSpPr txBox="1"/>
          <p:nvPr/>
        </p:nvSpPr>
        <p:spPr>
          <a:xfrm>
            <a:off x="6858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4,1,4,2 → 1.1,.3,1.1,.5</a:t>
            </a:r>
            <a:endParaRPr lang="en-US" sz="1500" dirty="0"/>
          </a:p>
        </p:txBody>
      </p:sp>
      <p:sp>
        <p:nvSpPr>
          <p:cNvPr id="15" name="Text 13"/>
          <p:cNvSpPr txBox="1"/>
          <p:nvPr/>
        </p:nvSpPr>
        <p:spPr>
          <a:xfrm>
            <a:off x="4191000" y="4140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combine</a:t>
            </a:r>
            <a:endParaRPr lang="en-US" sz="1750" dirty="0"/>
          </a:p>
        </p:txBody>
      </p:sp>
      <p:sp>
        <p:nvSpPr>
          <p:cNvPr id="16" name="Text 14"/>
          <p:cNvSpPr txBox="1"/>
          <p:nvPr/>
        </p:nvSpPr>
        <p:spPr>
          <a:xfrm>
            <a:off x="4191000" y="4419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정렬 뒤 중앙 4개 선택</a:t>
            </a:r>
            <a:endParaRPr lang="en-US" sz="1500" dirty="0"/>
          </a:p>
        </p:txBody>
      </p:sp>
      <p:sp>
        <p:nvSpPr>
          <p:cNvPr id="17" name="Text 15"/>
          <p:cNvSpPr txBox="1"/>
          <p:nvPr/>
        </p:nvSpPr>
        <p:spPr>
          <a:xfrm>
            <a:off x="4191000" y="54737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replicate IQM</a:t>
            </a:r>
            <a:endParaRPr lang="en-US" sz="1750" dirty="0"/>
          </a:p>
        </p:txBody>
      </p:sp>
      <p:sp>
        <p:nvSpPr>
          <p:cNvPr id="18" name="Text 16"/>
          <p:cNvSpPr txBox="1"/>
          <p:nvPr/>
        </p:nvSpPr>
        <p:spPr>
          <a:xfrm>
            <a:off x="4191000" y="57531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(.4+.4+.5+.8)/4=.525</a:t>
            </a:r>
            <a:endParaRPr lang="en-US" sz="150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Sec. 4.1, stratified bootstrap</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95% CI를 올바르게 읽는 법</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frequentist confidence는 고정된 참값의 사후확률이 아니라 절차의 장기 coverage다.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4565904"/>
                <a:gridCol w="1956816"/>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표현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판정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절차를 반복하면 약 95%가 참값을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적절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nominal coverage의 정의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참값이 이 구간 안일 확률은 95%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부적절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참값은 고정, interval이 random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구간이 좁으니 설계도 타당</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부적절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bias·protocol 문제는 별도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N이 작아도 nominal coverage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부적절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bootstrap도 small-N 한계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CI는 uncertainty를 보여 주지만, 잘못된 평가 protocol이나 bias를 자동으로 고치지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Sec. 4.1; Appendix A.5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알고리즘 비교에는 차이의 CI가 필요하다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알고리즘의 interval 두 개보다, bootstrap replicate마다 계산한 score 차이가 직접적인 대상이다.</a:t>
            </a:r>
            <a:endParaRPr lang="en-US" sz="1900" dirty="0"/>
          </a:p>
        </p:txBody>
      </p:sp>
      <p:sp>
        <p:nvSpPr>
          <p:cNvPr id="4" name="Shape 2"/>
          <p:cNvSpPr/>
          <p:nvPr/>
        </p:nvSpPr>
        <p:spPr>
          <a:xfrm>
            <a:off x="3302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8890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7" name="Shape 5"/>
          <p:cNvSpPr/>
          <p:nvPr/>
        </p:nvSpPr>
        <p:spPr>
          <a:xfrm>
            <a:off x="6731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546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9" name="Shape 7"/>
          <p:cNvSpPr/>
          <p:nvPr/>
        </p:nvSpPr>
        <p:spPr>
          <a:xfrm>
            <a:off x="673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10" name="Shape 8"/>
          <p:cNvSpPr/>
          <p:nvPr/>
        </p:nvSpPr>
        <p:spPr>
          <a:xfrm>
            <a:off x="6096000" y="4737100"/>
            <a:ext cx="0" cy="736600"/>
          </a:xfrm>
          <a:prstGeom prst="line">
            <a:avLst/>
          </a:prstGeom>
          <a:noFill/>
          <a:ln w="12700">
            <a:solidFill>
              <a:srgbClr val="0D685C"/>
            </a:solidFill>
            <a:prstDash val="solid"/>
            <a:headEnd type="none"/>
            <a:tailEnd type="triangle"/>
          </a:ln>
        </p:spPr>
        <p:txBody>
          <a:bodyPr/>
          <a:lstStyle/>
          <a:p>
            <a:endParaRPr lang="ko-KR"/>
          </a:p>
        </p:txBody>
      </p:sp>
      <p:sp>
        <p:nvSpPr>
          <p:cNvPr id="11" name="Text 9"/>
          <p:cNvSpPr txBox="1"/>
          <p:nvPr/>
        </p:nvSpPr>
        <p:spPr>
          <a:xfrm>
            <a:off x="1270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Algorithm X</a:t>
            </a:r>
            <a:endParaRPr lang="en-US" sz="1750" dirty="0"/>
          </a:p>
        </p:txBody>
      </p:sp>
      <p:sp>
        <p:nvSpPr>
          <p:cNvPr id="12" name="Text 10"/>
          <p:cNvSpPr txBox="1"/>
          <p:nvPr/>
        </p:nvSpPr>
        <p:spPr>
          <a:xfrm>
            <a:off x="1270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task별 run scores</a:t>
            </a:r>
            <a:endParaRPr lang="en-US" sz="1500" dirty="0"/>
          </a:p>
        </p:txBody>
      </p:sp>
      <p:sp>
        <p:nvSpPr>
          <p:cNvPr id="13" name="Text 11"/>
          <p:cNvSpPr txBox="1"/>
          <p:nvPr/>
        </p:nvSpPr>
        <p:spPr>
          <a:xfrm>
            <a:off x="6858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Algorithm Y</a:t>
            </a:r>
            <a:endParaRPr lang="en-US" sz="1750" dirty="0"/>
          </a:p>
        </p:txBody>
      </p:sp>
      <p:sp>
        <p:nvSpPr>
          <p:cNvPr id="14" name="Text 12"/>
          <p:cNvSpPr txBox="1"/>
          <p:nvPr/>
        </p:nvSpPr>
        <p:spPr>
          <a:xfrm>
            <a:off x="6858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task별 run scores</a:t>
            </a:r>
            <a:endParaRPr lang="en-US" sz="1500" dirty="0"/>
          </a:p>
        </p:txBody>
      </p:sp>
      <p:sp>
        <p:nvSpPr>
          <p:cNvPr id="15" name="Text 13"/>
          <p:cNvSpPr txBox="1"/>
          <p:nvPr/>
        </p:nvSpPr>
        <p:spPr>
          <a:xfrm>
            <a:off x="4191000" y="4140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replicate difference</a:t>
            </a:r>
            <a:endParaRPr lang="en-US" sz="1750" dirty="0"/>
          </a:p>
        </p:txBody>
      </p:sp>
      <p:sp>
        <p:nvSpPr>
          <p:cNvPr id="16" name="Text 14"/>
          <p:cNvSpPr txBox="1"/>
          <p:nvPr/>
        </p:nvSpPr>
        <p:spPr>
          <a:xfrm>
            <a:off x="4191000" y="4419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statistic(X) − statistic(Y)</a:t>
            </a:r>
            <a:endParaRPr lang="en-US" sz="1500" dirty="0"/>
          </a:p>
        </p:txBody>
      </p:sp>
      <p:sp>
        <p:nvSpPr>
          <p:cNvPr id="17" name="Text 15"/>
          <p:cNvSpPr txBox="1"/>
          <p:nvPr/>
        </p:nvSpPr>
        <p:spPr>
          <a:xfrm>
            <a:off x="4191000" y="54737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difference CI</a:t>
            </a:r>
            <a:endParaRPr lang="en-US" sz="1750" dirty="0"/>
          </a:p>
        </p:txBody>
      </p:sp>
      <p:sp>
        <p:nvSpPr>
          <p:cNvPr id="18" name="Text 16"/>
          <p:cNvSpPr txBox="1"/>
          <p:nvPr/>
        </p:nvSpPr>
        <p:spPr>
          <a:xfrm>
            <a:off x="4191000" y="57531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효과 크기와 불확실성</a:t>
            </a:r>
            <a:endParaRPr lang="en-US" sz="150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Sec. 4.1–4.3, pp. 5–7</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Probability of improvement는 승률이다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task마다 X의 임의 run이 Y의 임의 run보다 클 확률을 구하고 평균낸다.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one task</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X run과 Y run pairing</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compare</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X&gt;Y는 1, tie는 0.5</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task probability</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모든 pair 평균</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across tasks</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task 확률의 평균</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0.7은 X가 얼마나 크게 이겼는지가 아니라, 임의 run 비교에서 이길 빈도를 뜻한다.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Sec. 4.3; Fig. 7</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계산 예: 두 task의 개선 확률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숫자는 교육용 예시다. 각 task에서 X run과 Y run의 모든 pair를 비교한다.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630680"/>
                <a:gridCol w="2282952"/>
                <a:gridCol w="2282952"/>
                <a:gridCol w="2282952"/>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task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X runs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Y runs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X wins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0.6, 1.1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 /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0.5, 0.7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0.4, 0.6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 /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average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(0.50+0.75)/2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tie rule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0.5로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크기와 무관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평균 개선 확률 0.625는 승리 빈도이며, 개선량 62.5%를 뜻하지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Sec. 4.3, improvement probability</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Optimality gap은 목표 미달을 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target보다 낮은 score의 shortfall만 평균하며, 낮을수록 좋다.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131056"/>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score x</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target 1과 비교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gap contribution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1보다 0.6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1보다 0.1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초과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shortfall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작을수록 target에 가까움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target 이상 개선을 0으로 자르므로, target 선택은 무엇을 중요하게 보는지 포함한다.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Sec. 4.2, optimality gap</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권장 reporting packet</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하나의 leader-board 숫자보다 중심·불확실성·분포·직접 비교를 함께 제시한다.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protocol</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task·runs·budget·selection</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aggregate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IQM + percentile CI</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distribution</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performance profile + band</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comparison</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difference·improvement probability</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raw context</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per-task scores·normalization</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여러 보기는 중복이 아니라 서로 다른 실패 모드를 드러내는 보완 관계다.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Sec. 4; Fig. 7–8</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Atari 100k 근거의 실제 비용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대규모 reference dataset을 만들었기 때문에 작은-run 평가를 반복해서 분석할 수 있었다.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4348480"/>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규모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main collection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 variants × 26 games × 100 runs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15,600 runs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extra DER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 runs × 26 games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2,600 runs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total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Tesla P100, run당 약 3–5시간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18,200 runs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estimated compute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학습시간 합산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2,400–3,600 GPU days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비싸게 모은 큰 표본으로 small-N 평가의 위험을 측정했다.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Appendix A.2, computational resources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조건부 결과: median보다 IQM이 안정적이었다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Figure 2의 비교는 알고리즘별 원 논문 run 수를 반영한 Atari 100k subsample이다.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478784"/>
                <a:gridCol w="2609088"/>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algorithm group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 in Fig. 2</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DER·OTR·DrQ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median과 IQM 모두 넓은 변동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IQM distribution이 더 집중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CURL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metric에 따라 순위 해석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 runs까지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median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상당한 uncertainty가 남음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적용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Atari 100k 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universal rule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연구에서는 IQM이 더 효율적이었지만, 필요한 N은 분포와 질문에 따라 달라진다.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Sec. 3.2; Fig.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작은 개선일수록 더 많은 run이 필요했다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Figure 4는 DER score를 일정 비율 높인 통제 실험에서 추정 오차를 측정한다.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565904"/>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score lift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median의 조건부 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IQM 비교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25 runs에서 방어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적은 run으로 안정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100 runs가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median보다 효율적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 runs에도 약 20% deviation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오차가 0이 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effect·metric·N의 함수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분포 의존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표본 수만 말하지 말고, 기대하는 effect size와 metric을 함께 말해야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Sec. 3.3; Fig.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Bootstrap도 작은 N에서는 점검해야 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Figure 6은 200-run DER reference로 nominal 95% interval coverage를 검증한다.</a:t>
            </a:r>
            <a:endParaRPr lang="en-US" sz="1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239768"/>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target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Atari 100k 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aggregate median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5–10 runs에서 near nominal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N=3은 undercoverage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aggregate IQM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5–10 runs에서 near nominal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분포 의존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single-game mean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20–30 runs가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aggregate와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procedure를 simulation으로 검증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 runs 보편 충분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aggregate CI의 조건부 성공을 모든 task·metric의 sample-size 규칙으로 일반화하면 안 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Fig. 6; Appendix A.5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Atari 200M: metric이 순위를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55개 sticky-action game에서도 run 수와 extreme score가 aggregate ranking에 영향을 준다.</a:t>
            </a:r>
            <a:endParaRPr lang="en-US" sz="1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3913632"/>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paper setting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읽을 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55 Atari games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sticky actions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runs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대부분 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M-IQN 3, DreamerV2 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JAMESBOND score 영향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extreme tail에 민감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IQM·median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ranking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metric 관점을 함께 봐야 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더 큰 benchmark도 작은 run 수와 heavy tail 문제에서 자유롭지 않다.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Sec. 5.1; Fig. 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DeepMind Control: uncertainty가 결론을 제한한다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6개 task의 100k·500k-step 결과는 point estimate보다 interval과 rank distribution을 함께 본다.</a:t>
            </a:r>
            <a:endParaRPr lang="en-US" sz="1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131056"/>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 control tasks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수가 작음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budgets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100k and 500k steps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budget별 비교 분리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normalization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maximum 1000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높을수록 좋음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intervals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대부분 percentile bootstrap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일부는 studentized CI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result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많은 CI overlap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확정 순위를 피해야 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표본·task 수가 제한되면 rank 하나보다 가능한 rank 분포가 더 정직하다.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Sec. 5.2; Fig. 10–11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Procgen: claimed gain과 승률은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16개 easy-mode task와 10 runs에서 average probability of improvement를 다시 본다.</a:t>
            </a:r>
            <a:endParaRPr lang="en-US" sz="1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3804920"/>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paper setting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 easy-mode tasks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평균으로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runs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per 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uncertainty가 남음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normalization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task별 min–max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PPO 기준보다 선호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claimed gains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대개 50–70% 승률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강한 지배가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UCB-DrAC vs PLR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40–50%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일관된 개선으로 보기 어려움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평균 score가 높아도, 임의 run에서 이길 확률은 0.5 근처일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Sec. 5.3; Fig. 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논문이 보장하지 않는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평가 통계는 결과 보고를 개선하지만, 알고리즘과 실험의 모든 타당성을 대신하지 않는다.</a:t>
            </a:r>
            <a:endParaRPr lang="en-US" sz="1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보장하지 않음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필요한 추가 판단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sample size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5–10 runs의 보편적 충분성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분포·effect별 power 확인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reproducibility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method 구현의 완전 재현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code·환경·protocol 공개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confidence interval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bias 없는 설계와 인과 결론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selection·normalization 점검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one metric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위험 선호의 순위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IQM·profile·gap 병행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fixed seed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결정성과 독립성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randomness 통제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좋은 통계는 좋은 실험 설계의 대체재가 아니라, 그 결과를 정직하게 읽는 도구다.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arxiv-v4 Sec. 6–7; Appendices A.1, A.5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Deep RL 결과표를 읽는 순서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숫자를 보기 전에 실험 단위와 비교 조건을 고정하고, 마지막에 불확실성을 확인한다.</a:t>
            </a:r>
            <a:endParaRPr lang="en-US" sz="1900" dirty="0"/>
          </a:p>
        </p:txBody>
      </p:sp>
      <p:sp>
        <p:nvSpPr>
          <p:cNvPr id="4" name="Text 2"/>
          <p:cNvSpPr txBox="1"/>
          <p:nvPr/>
        </p:nvSpPr>
        <p:spPr>
          <a:xfrm>
            <a:off x="838200" y="21717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task 수 M, 독립 run 수 N, 학습 budget과 evaluation 시점을 확인한다.</a:t>
            </a:r>
            <a:endParaRPr lang="en-US" sz="2000" dirty="0"/>
          </a:p>
        </p:txBody>
      </p:sp>
      <p:sp>
        <p:nvSpPr>
          <p:cNvPr id="5" name="Shape 3"/>
          <p:cNvSpPr/>
          <p:nvPr/>
        </p:nvSpPr>
        <p:spPr>
          <a:xfrm>
            <a:off x="838200" y="2654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6924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normalization reference와 metric의 좋은 방향을 먼저 적는다.</a:t>
            </a:r>
            <a:endParaRPr lang="en-US" sz="2000" dirty="0"/>
          </a:p>
        </p:txBody>
      </p:sp>
      <p:sp>
        <p:nvSpPr>
          <p:cNvPr id="7" name="Shape 5"/>
          <p:cNvSpPr/>
          <p:nvPr/>
        </p:nvSpPr>
        <p:spPr>
          <a:xfrm>
            <a:off x="838200" y="3175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2131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IQM 같은 중심 통계와 confidence interval을 함께 읽는다.</a:t>
            </a:r>
            <a:endParaRPr lang="en-US" sz="2000" dirty="0"/>
          </a:p>
        </p:txBody>
      </p:sp>
      <p:sp>
        <p:nvSpPr>
          <p:cNvPr id="9" name="Shape 7"/>
          <p:cNvSpPr/>
          <p:nvPr/>
        </p:nvSpPr>
        <p:spPr>
          <a:xfrm>
            <a:off x="838200" y="3695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37338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performance profile로 threshold별 분포와 curve 교차를 확인한다.</a:t>
            </a:r>
            <a:endParaRPr lang="en-US" sz="2000" dirty="0"/>
          </a:p>
        </p:txBody>
      </p:sp>
      <p:sp>
        <p:nvSpPr>
          <p:cNvPr id="11" name="Shape 9"/>
          <p:cNvSpPr/>
          <p:nvPr/>
        </p:nvSpPr>
        <p:spPr>
          <a:xfrm>
            <a:off x="838200" y="42164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2545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차이의 CI와 probability of improvement로 직접 비교한다.</a:t>
            </a:r>
            <a:endParaRPr lang="en-US" sz="2000" dirty="0"/>
          </a:p>
        </p:txBody>
      </p:sp>
      <p:sp>
        <p:nvSpPr>
          <p:cNvPr id="13" name="Shape 11"/>
          <p:cNvSpPr/>
          <p:nvPr/>
        </p:nvSpPr>
        <p:spPr>
          <a:xfrm>
            <a:off x="838200" y="4737100"/>
            <a:ext cx="106934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838200" y="47752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결론을 해당 benchmark·run budget·protocol의 범위 안에 둔다.</a:t>
            </a:r>
            <a:endParaRPr lang="en-US" sz="200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핵심은 더 복잡한 숫자가 아니라, 결론이 견딜 수 있는 범위를 명시하는 것이다.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neurips-paper Sec. 4–7, pp. 5–10</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RL 평가의 통계적 절벽</dc:title>
  <dc:subject>Deep Reinforcement Learning at the Edge of the Statistical Precipice</dc:subject>
  <dc:creator>Research Seminars</dc:creator>
  <cp:lastModifiedBy>Research Seminars</cp:lastModifiedBy>
  <cp:revision>1</cp:revision>
  <dcterms:created xsi:type="dcterms:W3CDTF">2026-09-12T06:42:47Z</dcterms:created>
  <dcterms:modified xsi:type="dcterms:W3CDTF">2026-09-12T06:42:47Z</dcterms:modified>
</cp:coreProperties>
</file>
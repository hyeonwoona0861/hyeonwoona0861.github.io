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8.xml" ContentType="application/vnd.openxmlformats-officedocument.presentationml.slide+xml"/>
  <Override PartName="/ppt/slides/slide7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095039BF-231A-4A59-AA91-32FC2022889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Deep 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평가의 통계적 절벽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새로운 강화학습 알고리즘보다 평가 방법을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NeurIPS 2021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공개된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부록까지 함께 반영합니다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질문은 단순합니다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몇 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나온 점수 하나를 알고리즘의 고정된 성질처럼 읽어도 되는가입니다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neurips-record | title, authors, NeurIPS 2021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2021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https://proceedings.neurips.cc/paper/2021/hash/f514cec81cb148559cf475e7426eed5e-Abstract.html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v4 metadata, 5 Jan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4E7E2CA-C91A-4937-8CC3-7220701712D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통계적 절벽이 되는 이유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 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게임 또는 환경마다 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여러 번 수행해야 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계산비용 때문에 흔히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개만 사용한다고 지적합니다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Atari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개가 넘는 게임을 다섯 번씩 학습하는 표준 실험도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1,000 GPU training days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넘을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한 번 얻은 평균이나 중앙값에는 큰 표본 변동이 남을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Abstract; Sec. 1, pp.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2021 proceedings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https://proceedings.neurips.cc/paper_files/paper/2021/file/f514cec81cb148559cf475e7426eed5e-Paper.pdf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BDDD354-39B9-4AF7-A929-1004F621CB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하나와 같지 않다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A.2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A.13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고정해도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비결정성 때문에 결과가 동일하지 않을 수 있음을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집합으로 수행한 결과 사이의 상관도 낮았습니다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 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동일시하지 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하드웨어를 포함한 전체 독립 반복으로 정의해야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Appendix A.2; Fig. A.13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0A63F8F-D89A-4C57-8C1F-FBC3577C9F4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Atari 100k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사례의 실험 단위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 100k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게임에서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100,000 environment steps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학습하는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data-efficient 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각 알고리즘과 게임 조합에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뒤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평가했습니다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재표집해 평가 통계의 변동을 관찰합니다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3.1; Appendix A.2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F33CE01-DDAD-43F5-9775-AD5CDBEF9D9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 추정치에도 분포가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100-run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반복해 뽑고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다시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sampling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알고리즘의 학습 중 상태 분포가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동일한 평가 절차를 다시 수행할 때 통계량이 어떻게 달라지는지를 나타냅니다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그림에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100,000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3.1–3.2;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C9FEC00-425F-4419-A6E5-954BFF76BA3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시점이 다르면 숫자도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학습 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 평가한 값의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SUNRISE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게임마다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configuration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보고한 사례를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적용하면 상당한 개선이 나타났습니다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final evaluation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operational definition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4.1; Appendix A.4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75E3C9C-9181-41D4-B45C-853410E2A04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통계량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검정은 다른 층이다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통계량은 표본의 요약값입니다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신뢰구간은 그 통계량을 추정하는 절차의 불확실성을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가설검정은 사전에 정한 귀무가설과 오류율 아래의 별도 의사결정 절차입니다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이분법적 유의성 보고보다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confidence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제시하라고 권고합니다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Sec. 3–4, pp. 3–6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2021 proceedings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https://proceedings.neurips.cc/paper_files/paper/2021/file/f514cec81cb148559cf475e7426eed5e-Paper.pdf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38E395D-8150-4F46-AE08-F0A5C75AFE0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데이터는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M×N score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표기에서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x_mn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정규화된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이해를 위한 축약 그림이라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열만 보이지만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데이터에는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열이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stratified bootstrap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경계를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Sec. 2, p.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2021 proceedings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https://proceedings.neurips.cc/paper_files/paper/2021/file/f514cec81cb148559cf475e7426eed5e-Paper.pdf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B5821D3-01EC-457D-BF0F-34973B181FF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정규화와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방향을 먼저 확인한다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 human-normalized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0, average human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Procgen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재분석에서는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PPO normalization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min–max normalization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normalization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단위 변환에 그치지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 상대 가중과 순위에 영향을 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optimality gap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lower-is-better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점도 반드시 분리해야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2, 4.2, 5.3; Appendix A.6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7D9A0D9-AB3A-4568-908C-6094AE6970F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median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다른 취약점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일부 게임의 매우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크게 흔들릴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median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강하지만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높은 분산과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bias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나타납니다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IQM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middle half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평균해 두 성질을 절충하지만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효율성이 달라지므로 항상 최적이라고 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3–4; Fig. 2–3; Fig. A.16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680BB8C-5C3E-44B0-A903-56E53CE6F46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IQM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중앙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IQM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25% trimmed 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median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중앙 위치만 고르는 대신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middle half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값 전체를 평균합니다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studied benchmarks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median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statistically 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robust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tail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성능을 알고 싶다면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performance profile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별도 보기가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Sec. 4.2, pp. 6–7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2021 proceedings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https://proceedings.neurips.cc/paper_files/paper/2021/file/f514cec81cb148559cf475e7426eed5e-Paper.pdf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E2CE212-9FD9-4CB4-AB5B-111E862F69C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outlier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IQM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원래 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0.9125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IQM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bottom two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 two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제거하고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0.2, 0.3, 0.8, 0.9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최대값을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바꾸면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23.3/8=2.9125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IQM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논문의 정의만 적용한 교육용 계산입니다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Sec. 4.2, IQM definition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2021 proceedings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https://proceedings.neurips.cc/paper_files/paper/2021/file/f514cec81cb148559cf475e7426eed5e-Paper.pdf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3FF742C-26AD-47E0-8823-6FCCFAB72BF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Performance profile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분포를 곡선으로 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권고하는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run-score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tail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task-run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threshold 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큰 비율을 그립니다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higher curve is better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곡선을 바꿀 수 있는 최대 크기는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1/(M×N)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uncertainty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pointwise stratified-bootstrap band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나타냅니다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4.2; Fig. 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E8D4836-3C51-488F-A86B-2B4E56D0665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profile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교차할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 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같고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1.0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높으며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1.5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높습니다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교차합니다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이때 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더 좋다는 결론은 관심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위험 선호에 달립니다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performance-profile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정의를 설명하기 위해 만든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4.2, run-score distributions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D31C555-7F1E-4D9F-A929-EA765E5760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Stratified bootstrap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뽑는다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stratified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말은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층이라는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replacement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함께 다시 뽑고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resampled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과정을 반복한 분포의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percentile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구성합니다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보통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50,000 bootstrap replicate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4.1; Fig. 5–6; Appendix A.5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B22A5A7-7994-4895-9702-92BFFF7C4B8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bootstrap replicate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0.2,0.4,0.6,0.8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0.3,0.5,0.9,1.1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별로 복원추출하면 결합 정렬값은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0.2,0.3,0.4,0.4,0.5,0.8,1.1,1.1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middle four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한 번의 계산을 여러 번 반복해야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4.1, stratified bootstrap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73CE263-BD9B-4234-AADC-2C95A9EF6F7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95% CI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올바르게 읽는 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95% confidence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같은 절차를 반복했을 때 생성된 구간의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95%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quantity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포함하도록 설계된다는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계산된 한 구간에 참값이 들어 있을 확률을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95%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말하는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frequentist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해석은 부정확합니다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매우 작을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nominal 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얻지 못할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4.1; Appendix A.5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B6EA572-821B-433B-B5F4-3C16ADA10A5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알고리즘 비교에는 차이의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알고리즘 차이라면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replicate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두 알고리즘의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 statistic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차이를 계산하고 그 분포의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구해야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confidence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여부는 차이의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같은 검정이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들을 각각 독립적으로 복원 추출한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replicate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statistic(X)−statistic(Y)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서로 다른 알고리즘의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임의로 짝짓는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paired bootstrap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설계로 수집한 자료를 분석할 때만 그 실험의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보존해야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Sec. 4.1–4.3, pp. 5–7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2021 proceedings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https://proceedings.neurips.cc/paper_files/paper/2021/file/f514cec81cb148559cf475e7426eed5e-Paper.pdf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DBE511A-0072-4368-81C9-63F61489B17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Probability of improvement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승률이다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Mann–Whitney statistic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P(X&gt;Y)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추정하고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전체에서 평균냅니다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대체로 동등한 승률을 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 magnitude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반영하지 않으므로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IQM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차이와 함께 보는 것이 좋습니다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profile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마찬가지로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uncertainty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덧붙일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4.3; Fig.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A83F64C-0C21-4058-839F-FA23B789185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개선 확률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이기는 경우는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0.8&gt;0.6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1.0&gt;0.6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0.5&gt;0.4, 0.7&gt;0.4, 0.7&gt;0.6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확률을 동일하게 평균하면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0.625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숫자는 논문 정의를 적용한 교육용 계산입니다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4.3, improvement probability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37DE72E-67FD-420C-8572-D8490DC8651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Optimality gap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목표 미달을 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 human-normalized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gamma=1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max(0, 1−x)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이를 평균합니다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gap contribution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high tail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크기를 중요하게 본다면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performance profile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봐야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Sec. 4.2, optimality gap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2021 proceedings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https://proceedings.neurips.cc/paper_files/paper/2021/file/f514cec81cb148559cf475e7426eed5e-Paper.pdf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0C14774-C21C-41C3-99B4-A2A9C22E6B8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권장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reporting packet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companion library rliable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 철학은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모든 것을 대체하는 것이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IQM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robust central tendency, performance profile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distribution, probability of improvement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pairwise 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run budget, evaluation protocol, normalization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적어야 재해석이 가능합니다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4; Fig. 7–8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E81F55E-3AEB-4112-A3F5-66FC43CFF5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Atari 100k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근거의 실제 비용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A.2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산술은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15,600 main runs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2,600 extra DER runs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합쳐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18,200 runs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Tesla P100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대략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3–5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걸렸고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paper 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2,400–3,600 GPU training days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wall-clock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기간은 병렬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수에 따라 다르므로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training-day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합계와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Appendix A.2, computational resources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0955BA5-9160-4236-BEC4-653C4F81E34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조건부 결과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median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IQM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안정적이었다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DER, OTR, DrQ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N=5, SPR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N=10, CURL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사용해 기존 보고 관행을 재현합니다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100,000 subsamples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median sampling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넓고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IQM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더 좁았습니다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median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 runs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substantial uncertainty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남았습니다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 100k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관찰이지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IQM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최적이라는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3.2;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FE2B945-CFF5-4982-AE57-6571CD29A3C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개선일수록 더 많은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필요했다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실제 새 알고리즘을 비교한 것이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DER normalized scores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0%, 10%, 25%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올려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controlled effect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median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25% lift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 runs, 10% lift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runs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IQM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더 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안정적이었습니다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정확한 요구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data-generating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조건부입니다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3.3; Fig.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81CB039-1E7D-4C83-9776-A11D776C51C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Bootstrap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점검해야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 independent runs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ground-truth 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사용해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interval 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확인했습니다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Atari 100k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 median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IQM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5–10 runs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부근에서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nominal 95% 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가까웠지만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낮았습니다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20–30 runs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정도가 필요했습니다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차이는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aggregation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uncertainty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줄일 수 있음을 보여 주지만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보편적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sample-size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Fig. 6; Appendix A.5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376CFA6-5C52-4B2F-AE77-044F40DEED8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Atari 200M: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순위를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5.1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 200M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55 games with sticky actions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재분석합니다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대부분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 runs per game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M-IQN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3, DreamerV2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DreamerV2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M-IQN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JAMESBOND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영향을 크게 받습니다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mean, median, IQM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달라지는 이유를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함께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5.1; Fig. 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99E86AA-165E-4C51-95C1-C72B11AE14D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DeepMind Control: uncertainty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결론을 제한한다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DeepMind Control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재분석은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 tasks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100k, 500k environment-step budgets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1000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대부분 개별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-run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percentile stratified bootstrap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계산하지만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CURL, CURL-D2RL, SUNRISE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이용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정보 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studentized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rank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200,000 resamples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5.2; Fig. 10–11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53F1DBC-CD17-45DC-8EDE-F5459CE4634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29. Procgen: claimed 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승률은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Procgen analysis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 easy-mode environments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independent runs per 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PPO normalization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task-wise min–max normalization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선호합니다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claimed improvements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probability of improvement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50–70%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정도이며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UCB-DrAC relative to PLR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40–50%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승률과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magnitude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서로 다른 질문입니다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5.3; Fig. 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0D55AFC-3C6E-4D2F-888D-B9AF683AEE1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논문이 보장하지 않는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범위는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statistical reproducibility,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같은 평가를 반복했을 때 보고 결과가 얼마나 안정적인지에 가깝습니다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method reproducibility, implementation correctness, external validity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자동으로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sample sufficiency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 distribution, effect size, statistic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confidence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선택 편향이나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protocol mismatch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제거하지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Sec. 6–7; Appendices A.1, A.5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arXiv:2108.13264v4, 5 January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https://arxiv.org/abs/2108.13264v4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BD710FD-4893-499C-9DBB-75E4615D127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31. Deep 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결과표를 읽는 순서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실전 순서를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M, N, budget, final-or-maximum protocol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good direction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확인하고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point statistic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confidence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profile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보완한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결론을 관찰한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 밖으로 일반화하지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이것이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statistical precipice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피하는 최소 습관입니다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Sec. 4–7, pp. 5–10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2021 proceedings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https://proceedings.neurips.cc/paper_files/paper/2021/file/f514cec81cb148559cf475e7426eed5e-Paper.pdf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C17350A-BA0E-4B4B-8F0E-864959EC9D4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Deep RL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평가의 통계적 절벽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Deep Reinforcement Learning at the Edge of the Statistical Precipice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Rishabh Agarwal · Max Schwarzer · Pablo Samuel Castro · Aaron Courville · Marc G. Bellemare (2021)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적은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만든 순위에서 불확실성을 읽고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더 신뢰할 수 있게 보고하는 방법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neurips-record title, authors, NeurIPS 2021 record; arxiv-v4 v4 metadata, 5 Jan 2022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통계적 절벽이 되는 이유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계산비용이 표본 수를 제한하면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번의 점 추정치가 알고리즘 순위를 좌우한다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비싼 학습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게임마다 긴 학습 반복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3–10 runs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관행상 작은 표본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점 추정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mean·median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숫자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불안정한 순위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다시 뽑으면 결론 변화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점수 차이만 보지 말고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차이가 표본 변동에 비해 얼마나 큰지 함께 봐야 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Abstract; Sec. 1, pp.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하나와 같지 않다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난수의 일부를 통제하지만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독립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변동 원인을 모두 제거하지 않는다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91356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변동 원인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stochasticity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정책도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trajectory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탐색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초기화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·minibatch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최적화 경로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시스템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GPU·framework nondeterminism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결과 변화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 단위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독립적으로 다시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번호보다 생성 절차가 중요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고정했다는 말만으로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독립성이나 결정성이 보장되지는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Appendix A.2; Fig. A.13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Atari 100k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사례의 실험 단위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작은 표본의 영향을 보기 위해 알고리즘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게임마다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새로 모았다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02228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26 Atari games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게임마다 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budget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100k environment steps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2–3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gameplay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알고리즘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게임당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재표집할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evaluation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episodes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최종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산출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DER·OTR·DrQ·CURL·SPR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epsilon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구분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뒤의 수치는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26×100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구조에서 얻은 조건부 증거다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3.1; Appendix A.2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점 추정치에도 분포가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알고리즘이라도 어떤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선택했는지에 따라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aggregate 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달라진다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100-run pool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게임별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reference data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재표집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N=3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통계량 계산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mean·median·IQM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100,000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회 반복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sampling distribution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 하나의 점수는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sampling distribution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뽑힌 한 관측값이다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3.1–3.2;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시점이 다르면 숫자도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final policy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평가와 여러 시점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설정 중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maximum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선택은 서로 다른 질문이다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8048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protocol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방식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답하는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종료 뒤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마지막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성능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during-training 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평가 시점 중 최고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관찰된 최고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checkpoint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configuration 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hyperparameter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 최고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탐색까지 포함한 최고값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선택 규칙 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selection bias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맞춰야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protocol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맞추지 않은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차이는 알고리즘 차이와 선택 효과를 섞는다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4.1; Appendix A.4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통계량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검정은 다른 층이다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숫자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 숫자의 불확실성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가설 판단 규칙을 분리해 읽는다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043800"/>
                <a:gridCol w="5217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층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대답하는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statistic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IQM=0.52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이번 표본의 중심은 얼마인가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confidence interval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95% CI [0.45,0.59]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 절차의 변동 범위는 어떤가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hypothesis test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검정통계량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정한 귀무가설과 규칙에서 기각하는가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effect comparison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차이와 차이의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방법의 차이는 얼마나 불확실한가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p-value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읽거나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점 추정치 하나를 가설의 결론으로 읽으면 안 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Sec. 3–4, pp. 3–6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데이터는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M×N score matrix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층을 유지한 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개의 독립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mechanism-lane-eval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evaluation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mechanism-edge-e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mechanism-edge-e1-label"/>
          <p:cNvSpPr/>
          <p:nvPr/>
        </p:nvSpPr>
        <p:spPr>
          <a:xfrm>
            <a:off x="3517920" y="303516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독립 반복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mechanism-edge-e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mechanism-edge-e2-label"/>
          <p:cNvSpPr/>
          <p:nvPr/>
        </p:nvSpPr>
        <p:spPr>
          <a:xfrm>
            <a:off x="6070680" y="309888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scores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mechanism-edge-e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mechanism-edge-e3-label"/>
          <p:cNvSpPr/>
          <p:nvPr/>
        </p:nvSpPr>
        <p:spPr>
          <a:xfrm>
            <a:off x="862344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comparable scale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mechanism-node-tasks"/>
          <p:cNvSpPr/>
          <p:nvPr/>
        </p:nvSpPr>
        <p:spPr>
          <a:xfrm>
            <a:off x="1739880" y="32637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 tasks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mechanism-node-tasks-queue-1"/>
          <p:cNvSpPr/>
          <p:nvPr/>
        </p:nvSpPr>
        <p:spPr>
          <a:xfrm>
            <a:off x="1739880" y="351792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mechanism-node-tasks-queue-2"/>
          <p:cNvSpPr/>
          <p:nvPr/>
        </p:nvSpPr>
        <p:spPr>
          <a:xfrm>
            <a:off x="1739880" y="37083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mechanism-node-tasks-queue-3"/>
          <p:cNvSpPr/>
          <p:nvPr/>
        </p:nvSpPr>
        <p:spPr>
          <a:xfrm>
            <a:off x="1739880" y="38988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…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mechanism-node-tasks-queue-4"/>
          <p:cNvSpPr/>
          <p:nvPr/>
        </p:nvSpPr>
        <p:spPr>
          <a:xfrm>
            <a:off x="1739880" y="408924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M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mechanism-node-runs"/>
          <p:cNvSpPr/>
          <p:nvPr/>
        </p:nvSpPr>
        <p:spPr>
          <a:xfrm>
            <a:off x="4292640" y="3327480"/>
            <a:ext cx="206964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 runs per task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8" name="Table 0"/>
          <p:cNvGraphicFramePr/>
          <p:nvPr/>
        </p:nvGraphicFramePr>
        <p:xfrm>
          <a:off x="4292640" y="3556080"/>
          <a:ext cx="2069640" cy="664920"/>
        </p:xfrm>
        <a:graphic>
          <a:graphicData uri="http://schemas.openxmlformats.org/drawingml/2006/table">
            <a:tbl>
              <a:tblPr/>
              <a:tblGrid>
                <a:gridCol w="689760"/>
                <a:gridCol w="689760"/>
                <a:gridCol w="689760"/>
              </a:tblGrid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r2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x11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x12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x21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x22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xM1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xM2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9" name="mechanism-node-norm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normalize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공통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reference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mechanism-node-agg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aggregate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statistic + uncertainty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7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Text 18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뒤섞지 말고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수준의 구조를 통계 절차에 보존한다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9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20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Sec. 2, p.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1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정규화와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metric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방향을 먼저 확인한다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숫자라도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reference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방향이 다르면 비교 의미가 달라진다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8" name="Table 0"/>
          <p:cNvGraphicFramePr/>
          <p:nvPr/>
        </p:nvGraphicFramePr>
        <p:xfrm>
          <a:off x="660240" y="2082960"/>
          <a:ext cx="10870920" cy="3426480"/>
        </p:xfrm>
        <a:graphic>
          <a:graphicData uri="http://schemas.openxmlformats.org/drawingml/2006/table">
            <a:tbl>
              <a:tblPr/>
              <a:tblGrid>
                <a:gridCol w="3043800"/>
                <a:gridCol w="2174040"/>
                <a:gridCol w="5652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metric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좋은 방향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mean·median·IQM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높을수록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normalized score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중심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optimality gap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낮을수록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목표보다 부족한 평균량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performance profile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곡선이 높을수록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 normalization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random=0, human=1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reference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min–max normalization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범위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Procgen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비교에서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점수 표를 읽기 전에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normalization reference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good direction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적는다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2, 4.2, 5.3; Appendix A.6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mean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median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다른 취약점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robustness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statistical efficiency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같은 성질이 아니다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358740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statistic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크기를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극단값에 크게 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median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극단값에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robust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분산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·bias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IQM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중앙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50%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크기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tail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정보를 의도적으로 버림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원칙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관점을 함께 보고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분포와 질문에 맞춰 해석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metric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고집하지 말고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불확실성과 여러 관점을 함께 본다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3–4; Fig. 2–3; Fig. A.16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IQM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중앙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50%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평균이다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Interquartile Mean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task-run 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합쳐 양쪽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25%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제거한 뒤 평균낸다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normalized scores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task·run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sort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낮은 값부터 정렬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하위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25%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average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중앙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50%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IQM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extreme tail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영향은 제한하면서 중앙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크기는 사용한다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Sec. 4.2, pp. 6–7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예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outlier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IQM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숫자는 정의를 설명하기 위해 만든 예시이며 논문의 실험값이 아니다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5870160"/>
                <a:gridCol w="239148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IQM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0.0, 0.1, 0.2, 0.3, 0.8, 0.9, 1.0, 4.0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0.9125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중앙 네 값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0.2, 0.3, 0.8, 0.9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2.2 /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20.0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교체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2.9125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outlier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예시에서는 불변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robustness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outlier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영향을 제한한다는 뜻이며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정보 손실이 없다는 뜻은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Sec. 4.2, IQM definition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Performance profile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분포를 곡선으로 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threshold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task-run 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비율을 계산해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숫자가 숨긴 분포를 드러낸다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threshold tau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수준 설정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count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초과인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divide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M×N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나눔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sweep tau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tail curve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곡선이 더 높으면 해당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threshold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이상을 달성한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비율이 더 크다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4.2; Fig. 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예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profile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교차할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교육용 예시다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비율은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threshold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엄격히 초과한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센다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043800"/>
                <a:gridCol w="304380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A: 0.2,0.7,1.2,1.5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B: 0.4,0.6,0.9,1.8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3/4 = 0.75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3/4 = 0.75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2/4 = 0.50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1/4 = 0.25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높음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0/4 = 0.00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1/4 = 0.25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높음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곡선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우세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높은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tail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우세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교차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profile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교차하면 하나의 알고리즘이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threshold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우세하다고 말할 수 없다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4.2, run-score distributions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Stratified bootstrap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 뽑는다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수를 유지하면서 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복원추출한다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층에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 runs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within-task sample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복원추출로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aggregate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IQM·median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repeat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bootstrap distribution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percentiles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confidence interval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한 통에서 뽑으면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구조가 사라지므로 논문의 절차가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4.1; Fig. 5–6; Appendix A.5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예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bootstrap replicate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두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-task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예시다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안에서만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복원추출한다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2"/>
          <p:cNvSpPr/>
          <p:nvPr/>
        </p:nvSpPr>
        <p:spPr>
          <a:xfrm>
            <a:off x="330192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Shape 3"/>
          <p:cNvSpPr/>
          <p:nvPr/>
        </p:nvSpPr>
        <p:spPr>
          <a:xfrm>
            <a:off x="888984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3301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Shape 5"/>
          <p:cNvSpPr/>
          <p:nvPr/>
        </p:nvSpPr>
        <p:spPr>
          <a:xfrm>
            <a:off x="6730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Shape 6"/>
          <p:cNvSpPr/>
          <p:nvPr/>
        </p:nvSpPr>
        <p:spPr>
          <a:xfrm>
            <a:off x="546084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Shape 7"/>
          <p:cNvSpPr/>
          <p:nvPr/>
        </p:nvSpPr>
        <p:spPr>
          <a:xfrm>
            <a:off x="673092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Shape 8"/>
          <p:cNvSpPr/>
          <p:nvPr/>
        </p:nvSpPr>
        <p:spPr>
          <a:xfrm>
            <a:off x="6095880" y="473688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Text 9"/>
          <p:cNvSpPr/>
          <p:nvPr/>
        </p:nvSpPr>
        <p:spPr>
          <a:xfrm>
            <a:off x="127008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A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0"/>
          <p:cNvSpPr/>
          <p:nvPr/>
        </p:nvSpPr>
        <p:spPr>
          <a:xfrm>
            <a:off x="127008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2,2,1,4 → .4,.4,.2,.8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1"/>
          <p:cNvSpPr/>
          <p:nvPr/>
        </p:nvSpPr>
        <p:spPr>
          <a:xfrm>
            <a:off x="685800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B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2"/>
          <p:cNvSpPr/>
          <p:nvPr/>
        </p:nvSpPr>
        <p:spPr>
          <a:xfrm>
            <a:off x="685800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4,1,4,2 → 1.1,.3,1.1,.5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3"/>
          <p:cNvSpPr/>
          <p:nvPr/>
        </p:nvSpPr>
        <p:spPr>
          <a:xfrm>
            <a:off x="4191120" y="41403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combine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4"/>
          <p:cNvSpPr/>
          <p:nvPr/>
        </p:nvSpPr>
        <p:spPr>
          <a:xfrm>
            <a:off x="4191120" y="44197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정렬 뒤 중앙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선택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5"/>
          <p:cNvSpPr/>
          <p:nvPr/>
        </p:nvSpPr>
        <p:spPr>
          <a:xfrm>
            <a:off x="4191120" y="54738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replicate IQM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6"/>
          <p:cNvSpPr/>
          <p:nvPr/>
        </p:nvSpPr>
        <p:spPr>
          <a:xfrm>
            <a:off x="4191120" y="5753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(.4+.4+.5+.8)/4=.525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4.1, stratified bootstrap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95% CI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올바르게 읽는 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frequentist confidence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고정된 참값의 사후확률이 아니라 절차의 장기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565880"/>
                <a:gridCol w="195660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절차를 반복하면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95%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참값을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nominal coverage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정의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참값이 이 구간 안일 확률은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부적절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참값은 고정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interval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구간이 좁으니 설계도 타당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부적절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bias·protocol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문제는 별도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작아도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nominal coverage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부적절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bootstrap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small-N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uncertainty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보여 주지만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잘못된 평가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protocol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bias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자동으로 고치지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4.1; Appendix A.5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알고리즘 비교에는 차이의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필요하다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알고리즘의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interval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개보다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bootstrap replicate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계산한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차이가 직접적인 대상이다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2"/>
          <p:cNvSpPr/>
          <p:nvPr/>
        </p:nvSpPr>
        <p:spPr>
          <a:xfrm>
            <a:off x="330192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2" name="Shape 3"/>
          <p:cNvSpPr/>
          <p:nvPr/>
        </p:nvSpPr>
        <p:spPr>
          <a:xfrm>
            <a:off x="888984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Shape 4"/>
          <p:cNvSpPr/>
          <p:nvPr/>
        </p:nvSpPr>
        <p:spPr>
          <a:xfrm>
            <a:off x="3301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4" name="Shape 5"/>
          <p:cNvSpPr/>
          <p:nvPr/>
        </p:nvSpPr>
        <p:spPr>
          <a:xfrm>
            <a:off x="6730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Shape 6"/>
          <p:cNvSpPr/>
          <p:nvPr/>
        </p:nvSpPr>
        <p:spPr>
          <a:xfrm>
            <a:off x="546084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Shape 7"/>
          <p:cNvSpPr/>
          <p:nvPr/>
        </p:nvSpPr>
        <p:spPr>
          <a:xfrm>
            <a:off x="673092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Shape 8"/>
          <p:cNvSpPr/>
          <p:nvPr/>
        </p:nvSpPr>
        <p:spPr>
          <a:xfrm>
            <a:off x="6095880" y="473688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Text 9"/>
          <p:cNvSpPr/>
          <p:nvPr/>
        </p:nvSpPr>
        <p:spPr>
          <a:xfrm>
            <a:off x="127008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 X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10"/>
          <p:cNvSpPr/>
          <p:nvPr/>
        </p:nvSpPr>
        <p:spPr>
          <a:xfrm>
            <a:off x="127008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 scores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1"/>
          <p:cNvSpPr/>
          <p:nvPr/>
        </p:nvSpPr>
        <p:spPr>
          <a:xfrm>
            <a:off x="685800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 Y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2"/>
          <p:cNvSpPr/>
          <p:nvPr/>
        </p:nvSpPr>
        <p:spPr>
          <a:xfrm>
            <a:off x="685800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 scores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3"/>
          <p:cNvSpPr/>
          <p:nvPr/>
        </p:nvSpPr>
        <p:spPr>
          <a:xfrm>
            <a:off x="4191120" y="41403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replicate difference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4"/>
          <p:cNvSpPr/>
          <p:nvPr/>
        </p:nvSpPr>
        <p:spPr>
          <a:xfrm>
            <a:off x="4191120" y="44197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statistic(X) − statistic(Y)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5"/>
          <p:cNvSpPr/>
          <p:nvPr/>
        </p:nvSpPr>
        <p:spPr>
          <a:xfrm>
            <a:off x="4191120" y="54738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difference CI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6"/>
          <p:cNvSpPr/>
          <p:nvPr/>
        </p:nvSpPr>
        <p:spPr>
          <a:xfrm>
            <a:off x="4191120" y="5753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효과 크기와 불확실성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Sec. 4.1–4.3, pp. 5–7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Probability of improvement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승률이다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임의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임의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보다 클 확률을 구하고 평균낸다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 task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 run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 run pairing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compare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X&gt;Y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1, tie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probability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across tasks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확률의 평균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0.7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얼마나 크게 이겼는지가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임의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비교에서 이길 빈도를 뜻한다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4.3; Fig. 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예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개선 확률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숫자는 교육용 예시다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 run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Y run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비교한다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630440"/>
                <a:gridCol w="2282760"/>
                <a:gridCol w="2282760"/>
                <a:gridCol w="228276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 runs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 runs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 wins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0.8, 1.0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0.6, 1.1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/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0.5, 0.7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0.4, 0.6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/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(0.50+0.75)/2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tie rule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X=Y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크기와 무관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개선 확률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0.625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승리 빈도이며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개선량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62.5%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뜻하지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4.3, improvement probability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Optimality gap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목표 미달을 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보다 낮은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shortfall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평균하며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낮을수록 좋다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13100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x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1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비교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gap contribution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shortfall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작을수록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가까움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이상 개선을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자르므로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target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선택은 무엇을 중요하게 보는지 포함한다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Sec. 4.2, optimality gap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권장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reporting packet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leader-board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숫자보다 중심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불확실성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분포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직접 비교를 함께 제시한다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protocol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task·runs·budget·selection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7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8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aggregate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IQM + percentile CI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2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3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distribution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performance profile + band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7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8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comparison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difference·improvement probability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2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3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raw context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per-task scores·normalization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7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8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보기는 중복이 아니라 서로 다른 실패 모드를 드러내는 보완 관계다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0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4; Fig. 7–8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Atari 100k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근거의 실제 비용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대규모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reference dataset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만들었기 때문에 작은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-run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평가를 반복해서 분석할 수 있었다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434844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규모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collection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 variants × 26 games × 100 runs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15,600 runs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extra DER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runs × 26 games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2,600 runs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Tesla P100, run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당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3–5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18,200 runs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estimated compute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학습시간 합산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2,400–3,600 GPU days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비싸게 모은 큰 표본으로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small-N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평가의 위험을 측정했다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Appendix A.2, computational resources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조건부 결과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median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IQM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안정적이었다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Figure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비교는 알고리즘별 원 논문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수를 반영한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Atari 100k subsample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478680"/>
                <a:gridCol w="260892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algorithm group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 in Fig. 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DER·OTR·DrQ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median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IQM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넓은 변동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IQM distribution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더 집중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metric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따라 순위 해석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 runs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median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상당한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uncertainty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남음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적용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Atari 100k 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universal rule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연구에서는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IQM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더 효율적이었지만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필요한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분포와 질문에 따라 달라진다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3.2;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개선일수록 더 많은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필요했다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Figure 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DER 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일정 비율 높인 통제 실험에서 추정 오차를 측정한다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56588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lift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median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조건부 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IQM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 runs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방어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적은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안정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runs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median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효율적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runs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에도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20% deviation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오차가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effect·metric·N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함수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 의존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표본 수만 말하지 말고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기대하는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effect size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metric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함께 말해야 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3.3; Fig.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Bootstrap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작은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점검해야 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Figure 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200-run DER reference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nominal 95% interval coverage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검증한다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23972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Atari 100k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aggregate median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5–10 runs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near nominal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undercoverage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aggregate IQM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5–10 runs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near nominal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 의존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single-game mean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20–30 runs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aggregate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procedure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검증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runs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보편 충분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aggregate CI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조건부 성공을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task·metric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sample-size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규칙으로 일반화하면 안 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Fig. 6; Appendix A.5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Atari 200M: metric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순위를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sticky-action game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extreme 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aggregate ranking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영향을 준다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91356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 setting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읽을 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55 Atari games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sticky actions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대부분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M-IQN 3, DreamerV2 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JAMESBOND score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영향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extreme tail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민감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IQM·median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ranking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metric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관점을 함께 봐야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benchmark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작은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heavy tail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문제에서 자유롭지 않다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5.1; Fig. 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DeepMind Control: uncertainty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결론을 제한한다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100k·500k-step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point estimate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interval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rank distribution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함께 본다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13100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 control tasks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수가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budgets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100k and 500k steps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budget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비교 분리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normalization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maximum 1000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높을수록 좋음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intervals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대부분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percentile bootstrap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일부는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studentized CI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result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많은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 overlap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확정 순위를 피해야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표본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·task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수가 제한되면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하나보다 가능한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분포가 더 정직하다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5.2; Fig. 10–11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Procgen: claimed gain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승률은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easy-mode 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 runs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average probability of improvement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다시 본다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80484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 setting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 easy-mode tasks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평균으로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per 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uncertainty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남음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normalization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min–max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기준보다 선호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claimed gains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50–70%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승률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강한 지배가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UCB-DrAC vs PLR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40–50%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일관된 개선으로 보기 어려움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높아도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임의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이길 확률은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0.5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근처일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5.3; Fig. 12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논문이 보장하지 않는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평가 통계는 결과 보고를 개선하지만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알고리즘과 실험의 모든 타당성을 대신하지 않는다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2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보장하지 않음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추가 판단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sample size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5–10 runs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보편적 충분성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·effect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reproducibility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구현의 완전 재현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·protocol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confidence interval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bias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없는 설계와 인과 결론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selection·normalization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점검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 metric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위험 선호의 순위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IQM·profile·gap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병행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 seed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결정성과 독립성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randomness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좋은 통계는 좋은 실험 설계의 대체재가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결과를 정직하게 읽는 도구다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Sec. 6–7; Appendices A.1, A.5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Deep RL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결과표를 읽는 순서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숫자를 보기 전에 실험 단위와 비교 조건을 고정하고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마지막에 불확실성을 확인한다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2"/>
          <p:cNvSpPr/>
          <p:nvPr/>
        </p:nvSpPr>
        <p:spPr>
          <a:xfrm>
            <a:off x="838080" y="21718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독립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budget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evaluation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시점을 확인한다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3"/>
          <p:cNvSpPr/>
          <p:nvPr/>
        </p:nvSpPr>
        <p:spPr>
          <a:xfrm>
            <a:off x="838080" y="26542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0" name="Text 4"/>
          <p:cNvSpPr/>
          <p:nvPr/>
        </p:nvSpPr>
        <p:spPr>
          <a:xfrm>
            <a:off x="838080" y="26924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normalization reference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metric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좋은 방향을 먼저 적는다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Shape 5"/>
          <p:cNvSpPr/>
          <p:nvPr/>
        </p:nvSpPr>
        <p:spPr>
          <a:xfrm>
            <a:off x="838080" y="31748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2" name="Text 6"/>
          <p:cNvSpPr/>
          <p:nvPr/>
        </p:nvSpPr>
        <p:spPr>
          <a:xfrm>
            <a:off x="838080" y="321300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IQM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중심 통계와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confidence interval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함께 읽는다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7"/>
          <p:cNvSpPr/>
          <p:nvPr/>
        </p:nvSpPr>
        <p:spPr>
          <a:xfrm>
            <a:off x="838080" y="36954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4" name="Text 8"/>
          <p:cNvSpPr/>
          <p:nvPr/>
        </p:nvSpPr>
        <p:spPr>
          <a:xfrm>
            <a:off x="838080" y="373392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performance profile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threshold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분포와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curve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교차를 확인한다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9"/>
          <p:cNvSpPr/>
          <p:nvPr/>
        </p:nvSpPr>
        <p:spPr>
          <a:xfrm>
            <a:off x="838080" y="4216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6" name="Text 10"/>
          <p:cNvSpPr/>
          <p:nvPr/>
        </p:nvSpPr>
        <p:spPr>
          <a:xfrm>
            <a:off x="838080" y="42544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CI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probability of improvement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직접 비교한다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11"/>
          <p:cNvSpPr/>
          <p:nvPr/>
        </p:nvSpPr>
        <p:spPr>
          <a:xfrm>
            <a:off x="838080" y="4736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8" name="Text 12"/>
          <p:cNvSpPr/>
          <p:nvPr/>
        </p:nvSpPr>
        <p:spPr>
          <a:xfrm>
            <a:off x="838080" y="47750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결론을 해당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benchmark·run budget·protocol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범위 안에 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0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핵심은 더 복잡한 숫자가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결론이 견딜 수 있는 범위를 명시하는 것이다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2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Sec. 4–7, pp. 5–10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2026-09-12T06:42:47Z</dcterms:created>
  <dc:creator>Research Seminars</dc:creator>
  <dc:description/>
  <dc:language>ko-KR</dc:language>
  <cp:lastModifiedBy>Research Seminars</cp:lastModifiedBy>
  <dcterms:modified xsi:type="dcterms:W3CDTF">2026-09-12T06:42:47Z</dcterms:modified>
  <cp:revision>1</cp:revision>
  <dc:subject>Deep Reinforcement Learning at the Edge of the Statistical Precipice</dc:subject>
  <dc:title>Deep RL 평가의 통계적 절벽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31</vt:r8>
  </property>
  <property fmtid="{D5CDD505-2E9C-101B-9397-08002B2CF9AE}" pid="3" name="PresentationFormat">
    <vt:lpwstr>On-screen Show (16:9)</vt:lpwstr>
  </property>
  <property fmtid="{D5CDD505-2E9C-101B-9397-08002B2CF9AE}" pid="4" name="Slides">
    <vt:r8>31</vt:r8>
  </property>
</Properties>
</file>
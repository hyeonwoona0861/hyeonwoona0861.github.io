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User-Centric 5G와 Cell-Free Massive MIMO
발표 대본
이 논문은 cell-free massive MIMO의 모든 AP가 모든 사용자를 서비스하는 구조와, 각 AP가 일부 사용자만 고르는 user-centric 구조를 비교합니다. AP와 이동국 모두 여러 안테나를 갖는 설정으로 확장하고, 파일럿 기반 채널 추정, 채널 반전 빔포밍, 상향·하향링크 전력 제어를 하나의 체계로 다룹니다.
공개 출처
buzzi-uc-cf-v1 | title page and abstract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모든 AP가 모든 사용자를 돕는 것이 항상 이득은 아니다
발표 대본
저자들은 cell-free 구조가 cell-edge 문제를 줄이는 장점이 있지만, 모든 AP가 모든 MS를 서비스한다는 가정은 큰 영역에서 비효율적일 수 있다고 지적합니다. User-centric는 단일 AP에 사용자를 고정하는 small cell이 아니라, 선택된 여러 AP가 한 사용자를 계속 공동 서비스하는 구조입니다.
공개 출처
buzzi-uc-cf-v1 | pp. 1–2, §I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이 논문이 확장하고 비교하는 범위
발표 대본
기존의 대표적인 cell-free 비교 논문은 주로 단일 안테나 AP와 사용자를 다뤘습니다. 이 논문은 MS에도 여러 안테나가 있을 때 MS 쪽 채널 추정 없이 수신하도록 채널 반전 빔포밍과 고정 결합기를 제안하고, CF와 UC 양쪽에서 상향·하향 전력 제어를 비교합니다.
공개 출처
buzzi-uc-cf-v1 | pp. 1–2, abstract and §I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시스템 모델의 객체와 집합
발표 대본
K(m)은 AP 관점의 서비스 목록이고 M(k)는 사용자 관점의 AP 목록입니다. 논문의 수치 실험에서는 각 AP가 estimated channel Frobenius norm이 큰 N명의 사용자를 고릅니다. N을 K로 두면 모든 AP가 모든 사용자를 서비스하므로 CF 구조가 됩니다.
공개 출처
buzzi-uc-cf-v1 | pp. 2–5, Eqs. 16–17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같은 AP·MS 배치에서 협력 범위만 바꾼다
발표 대본
두 방식은 같은 영역, 채널 모델, TDD 절차, 안테나 수를 공유합니다. 차이는 AP m이 모든 사용자에게 전송·검출 통계를 만들지, K(m)에 포함된 사용자에게만 만들지입니다. 따라서 결과를 읽을 때 구조 외의 조건이 같다는 점을 먼저 확인해야 합니다.
공개 출처
buzzi-uc-cf-v1 | pp. 2–5, §II–III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설명용 top-2 선택: estimated-channel norm을 정렬한다
발표 대본
논문이 수치 결과에서 사용하는 top-N 규칙을 작은 예로 만든 것입니다. AP1은 norm이 큰 u1과 u3, AP2는 u2와 u3를 고릅니다. 이 norm 값은 설명을 위해 만든 수치이며 SINR, rate, power가 아닙니다. N=3이면 두 AP가 세 사용자 모두를 고르므로 CF가 됩니다.
공개 출처
buzzi-uc-cf-v1 | p. 4, Eqs. 16–17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설명용 집합을 AP 관점과 사용자 관점으로 읽기
발표 대본
앞 슬라이드의 발명 예시를 편집 가능한 네이티브 도식으로 다시 읽습니다. AP별 K(m)을 만든 뒤 사용자별로 역색인하면 M(k)가 됩니다. 실제 시스템은 M개 AP와 K개 사용자에 대해 이 관계를 만들며, 이 예시는 알고리즘의 집합 의미만 설명합니다.
공개 출처
buzzi-uc-cf-v1 | p. 4, Eqs. 16–17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한 coherence interval의 세 단계
발표 대본
논문은 TDD coherence interval을 uplink channel estimation, downlink transmission, uplink transmission으로 나눕니다. 세 단계의 전체 길이는 coherence time을 넘을 수 없습니다. CPU 결합은 uplink 데이터 처리의 마지막 연산이며, UC에서는 선택된 AP의 통계만 합칩니다.
공개 출처
buzzi-uc-cf-v1 | pp. 2–3, §II and §III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Pilot-matched channel estimation
발표 대본
Equation 9의 pilot-matched 추정기는 AP의 관측 Y_m에 사용자 k의 pilot을 맞춥니다. 결과에는 원하는 G(k,m), 다른 사용자의 non-orthogonal pilot이 만든 교차항, noise가 포함됩니다. 이 계산은 모든 AP에서 모든 사용자에 대해 수행된 뒤, 실제 전송·검출 참여 범위가 CF 또는 UC에 따라 달라집니다.
공개 출처
buzzi-uc-cf-v1 | pp. 3–4, Eqs. 7–11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Pilot 길이 부족은 contamination을 남긴다
발표 대본
논문은 모든 사용자 pilot row가 pairwise orthogonal이려면 tau_p가 K times N_MS 이상이어야 한다고 설명합니다. 실제로는 training이 coherence interval의 일부여야 하므로 이 조건이 보통 어렵습니다. 따라서 각 사용자의 내부 row는 직교하지만 서로 다른 사용자 pilot은 비직교인 최대길이 sequence를 사용하고 contamination을 포함해 평가합니다.
공개 출처
buzzi-uc-cf-v1 | pp. 3–4, Eqs. 9–11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Downlink: AP의 channel inversion과 MS의 고정 결합
발표 대본
AP는 estimated channel을 true channel처럼 사용해 Equation 12의 channel-inversion precoder를 계산합니다. CF는 모든 AP가 사용자 k에게 보내고 UC는 M(k)의 AP만 보냅니다. MS의 L_k는 channel realization과 무관한 고정 구조입니다. 이 설계는 MS-side channel estimation을 요구하지 않는 것이 목적입니다.
공개 출처
buzzi-uc-cf-v1 | pp. 3–4, Eqs. 12–20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Channel hardening이 MS-side CSI를 대신하는 범위
발표 대본
저자들은 many transmitting APs가 만드는 channel hardening과 calibrated TDD reciprocity를 이용합니다. MS는 observation vector를 stream group으로 나누고 fixed L_k로 합칩니다. 이 논문의 수치 실험과 모델 안에서 평가된 설계이며, 향후 주파수나 sparse deployment에서도 같은 hardening이 보장된다고 확장하면 안 됩니다.
공개 출처
buzzi-uc-cf-v1 | pp. 2–4, §II and Eqs. 12–20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Downlink에서 CF와 UC의 차이
발표 대본
Equations 13–20을 비교하면 CF와 UC 모두 같은 channel-inversion beamforming과 fixed combiner를 사용합니다. UC에서는 k가 K(m)에 없으면 AP m의 해당 power coefficient가 0이고, 사용자 k의 원하는 신호 합도 M(k)로 제한됩니다. 이것이 구조적 차이입니다.
공개 출처
buzzi-uc-cf-v1 | pp. 3–4, Eqs. 13–20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Uplink: AP local statistic을 CPU에서 합친다
발표 대본
각 AP는 local channel estimate로 user k의 received signal을 처리해 soft statistic을 만듭니다. CF에서는 모든 AP의 통계를 합치고 UC에서는 M(k)에 포함된 AP의 통계만 합칩니다. AP는 K(m)에 속한 사용자 통계만 계산하므로 계산량과 backhaul 항목 수가 함께 줄어듭니다.
공개 출처
buzzi-uc-cf-v1 | pp. 4–5, Eqs. 21–25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Backhaul에 실리는 정보와 실리지 않는 정보
발표 대본
논문은 channel estimates와 beamforming matrices가 backhaul로 전파되지 않는다고 명시합니다. Uplink에서 AP가 CPU로 보내는 것은 local processing을 거친 soft estimates입니다. UC는 AP가 담당하는 사용자 수를 줄이므로 이 통계의 수와 downlink payload 전달 범위를 줄입니다. 논문은 backhaul bit 수의 상세 모델보다 구조적 차이를 강조합니다.
공개 출처
buzzi-uc-cf-v1 | pp. 1–5, §I and Eqs. 22–25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세 power allocation 기준은 서로 다른 목표를 가진다
발표 대본
논문은 uniform, sum-rate maximizing, minimum-rate maximizing 전략을 비교합니다. SR Max와 MR Max는 같은 최적화의 다른 이름이 아니라 서로 다른 목적함수입니다. 따라서 한 figure의 우열을 모든 자원 할당 방식에 일반화할 수 없습니다.
공개 출처
buzzi-uc-cf-v1 | pp. 5–10, §§IV–VI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Downlink power control의 successive lower-bound loop
발표 대본
Section IV-A는 alternating optimization과 sequential convex programming을 결합합니다. Approximate objective와 constraints는 원래 함수의 lower bound이며 현재 점에서 값과 gradient가 일치해야 합니다. Algorithms 1과 2는 AP별 power block을 순환하고 각 block 안에서도 surrogate를 갱신합니다.
공개 출처
buzzi-uc-cf-v1 | pp. 5–8, Eqs. 32–41 and Algorithms 1–2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Optimization guarantee를 정확히 읽기
발표 대본
Proposition 1은 Algorithm 1의 각 update 뒤 sum-rate가 줄지 않고 sequence가 수렴하며 limit point가 KKT first-order conditions를 만족한다고 말합니다. Sequential lower-bound 이론의 추가 가정과 constraint qualifications가 필요합니다. Non-convex 원문제를 전역적으로 푼다는 보장은 아닙니다.
공개 출처
buzzi-uc-cf-v1 | pp. 5–7, Properties P1–P3 and Proposition 1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Downlink와 uplink의 변수 규모가 다르다
발표 대본
Downlink는 각 AP가 각 사용자에게 할당하는 power coefficient를 가져 KM 규모가 됩니다. 저자들은 complexity를 위해 AP 단위 block을 순환합니다. Uplink는 사용자마다 하나의 transmit power를 가져 K 변수이므로 한 block으로 동시에 최적화하는 방식을 중심으로 설명합니다.
공개 출처
buzzi-uc-cf-v1 | pp. 5–8, §§IV–V and Remark 1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Simulation의 공통 조건
발표 대본
Section VI의 기본 조건입니다. Shadow fading과 path loss의 세부 parameter도 논문에 고정되어 있지만 발표에서는 비교 해석에 직접 필요한 area, bandwidth, carrier, antennas, pilots, averaging을 우선 제시합니다. Wrap-around는 무한 영역을 흉내 내 boundary effect를 줄이는 simulation 기법입니다.
공개 출처
buzzi-uc-cf-v1 | pp. 8–9, §VI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두 density case와 N-sweep 조건
발표 대본
Figures 1–3과 5–7은 high/low density case를 비교하고, Figures 4와 8은 M=60, K=10, tau_p=16에서 N을 바꿉니다. N=10이면 CF와 같은 전체 사용자 선택입니다. 서로 다른 density plot의 차이를 AP 수 하나의 효과로만 읽으면 안 됩니다.
공개 출처
buzzi-uc-cf-v1 | pp. 9–10, Figs. 1–8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Downlink 결과는 power objective에 따라 갈린다
발표 대본
저자들은 Figures 1–4를 보고 uniform과 minimum-rate maximization에서는 UC가 CF보다 좋고, sum-rate maximization에서는 CF가 UC보다 좋지만 차이가 제한적이라고 서술합니다. CDF의 exact percentile을 화면에서 근사해 숫자로 만들지 않고 source prose의 방향과 조건만 가르칩니다.
공개 출처
buzzi-uc-cf-v1 | pp. 9–10, Figs. 1–4 and §VI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N은 협력 범위와 backhaul을 함께 바꾼다
발표 대본
Figures 4와 8은 M=60, K=10, tau_p=16에서 N을 1부터 K까지 바꾼 sum-rate를 보여 줍니다. N을 줄이면 AP-user 관계 수와 전달할 backhaul 항목 수가 줄어듭니다. 이 곡선은 interference, coverage, cooperation의 개별 인과 효과를 분해한 실험은 아닙니다. 결과는 power strategy와 link direction, CSI quality에 묶여 있으므로 단일 최적값으로 일반화하지 않습니다.
공개 출처
buzzi-uc-cf-v1 | pp. 9–10, Figs. 4 and 8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Uplink에서는 UC가 세 power strategy 모두에서 앞선다
발표 대본
Figures 5–8과 결론은 uplink에서 UC가 고려한 모든 power strategy에서 CF보다 좋았다고 요약합니다. 일부 상황에서 many-fold improvement가 나타난다고 하지만, 하나의 고정 배수나 보장으로 말하지 않습니다. 실험 조건과 top-N selection rule에 묶인 결과입니다.
공개 출처
buzzi-uc-cf-v1 | pp. 10–11, Figs. 5–8 and §VII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비슷한 제목의 small-cell 비교 논문과는 질문이 다르다
발표 대본
Ngo et al.의 Cell-Free Massive MIMO versus Small Cells는 이 논문의 reference [7]이며 motivation과 channel model의 기반입니다. 그러나 이 논문은 AP와 MS가 모두 multiple antenna인 경우, CF와 UC의 serving-set 차이, channel-inversion beamforming과 두 power objective를 다룹니다. 두 자료를 하나로 합치면 연구 질문이 흐려집니다.
공개 출처
buzzi-uc-cf-v1 | pp. 1–2, §I
User-Centric 5G Cellular Networks: Resource Allocation and Comparison with the Cell-Free Massive MIMO Approach
https://arxiv.org/abs/1803.02261v1
ngo-cf-smallcells-v2 | pp. 1–2, Abstract and §I
Cell-Free Massive MIMO versus Small Cells
https://arxiv.org/abs/1602.08232v2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논문 결과의 적용 경계
발표 대본
결론은 millimetre-wave, URLLC, NOMA를 future research로 제시합니다. 따라서 이 논문이 이 영역을 검증했다고 말하면 안 됩니다. Power algorithm도 first-order convergence이고, serving-set rule은 하나의 가능한 설계입니다. 실험은 지정된 carrier, bandwidth, antennas, power, channel model의 simulation입니다.
공개 출처
buzzi-uc-cf-v1 | pp. 8–11, §VI–VII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정리: 협력의 범위를 channel strength로 선택한다
발표 대본
이 논문을 한 문장으로 정리하면, cell-free의 distributed cooperation을 버리지 않고 AP마다 강한 사용자 subset만 남겨 power, computation, backhaul을 집중하는 접근입니다. Channel estimation, downlink precoding, uplink statistics, power control이 모두 이 serving-set 위에서 동작합니다. 결과는 특히 uplink에서 UC의 장점을 보이지만 조건부 simulation이라는 경계를 유지해야 합니다.
공개 출처
buzzi-uc-cf-v1 | abstract; pp. 4–11, §§III–VII
User-Centric 5G Cellular Networks: Resource Allocation and Comparison with the Cell-Free Massive MIMO Approach
https://arxiv.org/abs/1803.02261v1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User-Centric 5G와 Cell-Free Massive MIMO</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User-Centric 5G Cellular Networks: Resource Allocation and Comparison with the Cell-Free Massive MIMO Approach</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Stefano Buzzi, Carmen D'Andrea, Alessio Zappone (2018)</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모든 AP의 협력과 선택된 AP의 협력을 같은 조건에서 비교한다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title page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모든 AP가 모든 사용자를 돕는 것이 항상 이득은 아니다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멀리 있는 AP의 낮은 SINR 링크도 전력·연산·backhaul을 사용한다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Cell-free 구조에서는 같은 자원에서 모든 AP가 모든 MS를 공동 서비스한다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서비스 영역이 커지면 일부 AP와 MS 사이의 링크는 매우 약해질 수 있다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약한 링크까지 유지하면 전력과 계산, backhaul 사용량이 늘어난다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User-centric 구조는 AP마다 기여도가 큰 사용자 집합만 남긴다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출발점은 협력을 없애는 것이 아니라, 도움이 되는 협력만 선택하는 것이다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1–2, §I</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확장하고 비교하는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다중 안테나 AP와 MS, 두 협력 범위, 두 링크 방향을 함께 다룬다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913632"/>
                <a:gridCol w="478332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핵심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단말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 MS 모두 multiple antenna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MS가 CSI 없이 수신 가능한가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CF와 UC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AP가 필요한가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downlink와 uplink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처리·backhaul 차이는 무엇인가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전력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sum-rate와 minimum-rate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총량과 fairness를 어떻게 나누는가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기여는 UC 아이디어 하나보다 multi-antenna 처리와 자원 할당의 통합 비교에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1–2, abstract and §I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시스템 모델의 객체와 집합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M개 AP와 K개 MS가 CPU를 중심으로 협력한다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239768"/>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어디에서 쓰나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 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수, MS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협력 규모와 power 변수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N_AP, N_MS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 MS의 antenna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matrix와 stream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m이 서비스하는 MS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AP의 송신·local detection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 k를 서비스하는 AP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 수신과 CPU 결합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AP마다 고른 강한 MS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N=K이면 CF가 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UC는 K(m)과 M(k)를 제한하고, CF는 두 집합을 전체 네트워크로 넓힌 특수 경우다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2–5, Eqs. 16–17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같은 AP·MS 배치에서 협력 범위만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CF는 전체 링크를 유지하고 UC는 AP별 선택 집합만 처리한다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공통 무선망</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M개 AP, K개 MS, TDD와 같은 채널 모델</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Cell-free</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AP가 K명 모두를 서비스</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User-centric</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AP가 강한 N명만 서비스</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같은 평가</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rate, sum-rate, minimum-rate</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비교</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성능과 backhaul 부담을 함께 해석</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2–5, §II–III</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설명용 top-2 선택: estimated-channel norm을 정렬한다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숫자는 집합 생성만 보여 주는 발명 예시이며 논문 측정값이 아니다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1848104"/>
                <a:gridCol w="1848104"/>
                <a:gridCol w="18481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u1 norm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u2 norm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u3 norm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선택된 K(m)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{u1, u3}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{u2, u3}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역방향 집합은 M(1)={AP1}, M(2)={AP2}, M(3)={AP1,AP2}가 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 4, Eqs. 16–17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설명용 집합을 AP 관점과 사용자 관점으로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AP의 norm 입력에서 top-2 사용자 목록 K(m)을 만든다</a:t>
            </a:r>
            <a:endParaRPr lang="en-US" sz="1900" dirty="0"/>
          </a:p>
        </p:txBody>
      </p:sp>
      <p:sp>
        <p:nvSpPr>
          <p:cNvPr id="4" name="mechanism-lane-ap1-lane"/>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AP1</a:t>
            </a:r>
            <a:endParaRPr lang="en-US" sz="1250" dirty="0"/>
          </a:p>
        </p:txBody>
      </p:sp>
      <p:sp>
        <p:nvSpPr>
          <p:cNvPr id="5" name="mechanism-lane-ap2-lan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AP2</a:t>
            </a:r>
            <a:endParaRPr lang="en-US" sz="1250" dirty="0"/>
          </a:p>
        </p:txBody>
      </p:sp>
      <p:sp>
        <p:nvSpPr>
          <p:cNvPr id="6" name="mechanism-edge-e1-segment-1"/>
          <p:cNvSpPr/>
          <p:nvPr/>
        </p:nvSpPr>
        <p:spPr>
          <a:xfrm>
            <a:off x="46609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2-segment-1"/>
          <p:cNvSpPr/>
          <p:nvPr/>
        </p:nvSpPr>
        <p:spPr>
          <a:xfrm>
            <a:off x="46609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3-segment-1"/>
          <p:cNvSpPr/>
          <p:nvPr/>
        </p:nvSpPr>
        <p:spPr>
          <a:xfrm>
            <a:off x="80645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e4-segment-1"/>
          <p:cNvSpPr/>
          <p:nvPr/>
        </p:nvSpPr>
        <p:spPr>
          <a:xfrm>
            <a:off x="80645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node-ap1"/>
          <p:cNvSpPr/>
          <p:nvPr/>
        </p:nvSpPr>
        <p:spPr>
          <a:xfrm>
            <a:off x="1739900" y="26606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AP1 norm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u1 0.90, u2 0.20, u3 0.70</a:t>
            </a:r>
            <a:endParaRPr lang="en-US" sz="1150" dirty="0"/>
          </a:p>
        </p:txBody>
      </p:sp>
      <p:sp>
        <p:nvSpPr>
          <p:cNvPr id="11" name="mechanism-node-k1"/>
          <p:cNvSpPr txBox="1"/>
          <p:nvPr/>
        </p:nvSpPr>
        <p:spPr>
          <a:xfrm>
            <a:off x="5143500" y="267335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K(1)</a:t>
            </a:r>
            <a:endParaRPr lang="en-US" sz="1150" dirty="0"/>
          </a:p>
        </p:txBody>
      </p:sp>
      <p:sp>
        <p:nvSpPr>
          <p:cNvPr id="12" name="mechanism-node-k1-queue-1"/>
          <p:cNvSpPr/>
          <p:nvPr/>
        </p:nvSpPr>
        <p:spPr>
          <a:xfrm>
            <a:off x="5143500" y="29273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u1</a:t>
            </a:r>
            <a:endParaRPr lang="en-US" sz="950" dirty="0"/>
          </a:p>
        </p:txBody>
      </p:sp>
      <p:sp>
        <p:nvSpPr>
          <p:cNvPr id="13" name="mechanism-node-k1-queue-2"/>
          <p:cNvSpPr/>
          <p:nvPr/>
        </p:nvSpPr>
        <p:spPr>
          <a:xfrm>
            <a:off x="5143500" y="31178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u3</a:t>
            </a:r>
            <a:endParaRPr lang="en-US" sz="950" dirty="0"/>
          </a:p>
        </p:txBody>
      </p:sp>
      <p:sp>
        <p:nvSpPr>
          <p:cNvPr id="14" name="mechanism-node-ap2"/>
          <p:cNvSpPr/>
          <p:nvPr/>
        </p:nvSpPr>
        <p:spPr>
          <a:xfrm>
            <a:off x="1739900" y="4222750"/>
            <a:ext cx="29210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AP2 norm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u1 0.30, u2 0.80, u3 0.60</a:t>
            </a:r>
            <a:endParaRPr lang="en-US" sz="1150" dirty="0"/>
          </a:p>
        </p:txBody>
      </p:sp>
      <p:sp>
        <p:nvSpPr>
          <p:cNvPr id="15" name="mechanism-node-k2"/>
          <p:cNvSpPr txBox="1"/>
          <p:nvPr/>
        </p:nvSpPr>
        <p:spPr>
          <a:xfrm>
            <a:off x="5143500" y="423545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K(2)</a:t>
            </a:r>
            <a:endParaRPr lang="en-US" sz="1150" dirty="0"/>
          </a:p>
        </p:txBody>
      </p:sp>
      <p:sp>
        <p:nvSpPr>
          <p:cNvPr id="16" name="mechanism-node-k2-queue-1"/>
          <p:cNvSpPr/>
          <p:nvPr/>
        </p:nvSpPr>
        <p:spPr>
          <a:xfrm>
            <a:off x="5143500" y="44894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u2</a:t>
            </a:r>
            <a:endParaRPr lang="en-US" sz="950" dirty="0"/>
          </a:p>
        </p:txBody>
      </p:sp>
      <p:sp>
        <p:nvSpPr>
          <p:cNvPr id="17" name="mechanism-node-k2-queue-2"/>
          <p:cNvSpPr/>
          <p:nvPr/>
        </p:nvSpPr>
        <p:spPr>
          <a:xfrm>
            <a:off x="5143500" y="46799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u3</a:t>
            </a:r>
            <a:endParaRPr lang="en-US" sz="950" dirty="0"/>
          </a:p>
        </p:txBody>
      </p:sp>
      <p:sp>
        <p:nvSpPr>
          <p:cNvPr id="18" name="mechanism-node-m1"/>
          <p:cNvSpPr txBox="1"/>
          <p:nvPr/>
        </p:nvSpPr>
        <p:spPr>
          <a:xfrm>
            <a:off x="8547100" y="267335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AP1 relations</a:t>
            </a:r>
            <a:endParaRPr lang="en-US" sz="1150" dirty="0"/>
          </a:p>
        </p:txBody>
      </p:sp>
      <p:sp>
        <p:nvSpPr>
          <p:cNvPr id="19" name="mechanism-node-m1-queue-1"/>
          <p:cNvSpPr/>
          <p:nvPr/>
        </p:nvSpPr>
        <p:spPr>
          <a:xfrm>
            <a:off x="8547100" y="29273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AP1-u1</a:t>
            </a:r>
            <a:endParaRPr lang="en-US" sz="950" dirty="0"/>
          </a:p>
        </p:txBody>
      </p:sp>
      <p:sp>
        <p:nvSpPr>
          <p:cNvPr id="20" name="mechanism-node-m1-queue-2"/>
          <p:cNvSpPr/>
          <p:nvPr/>
        </p:nvSpPr>
        <p:spPr>
          <a:xfrm>
            <a:off x="8547100" y="31178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AP1-u3</a:t>
            </a:r>
            <a:endParaRPr lang="en-US" sz="950" dirty="0"/>
          </a:p>
        </p:txBody>
      </p:sp>
      <p:sp>
        <p:nvSpPr>
          <p:cNvPr id="21" name="mechanism-node-m2"/>
          <p:cNvSpPr txBox="1"/>
          <p:nvPr/>
        </p:nvSpPr>
        <p:spPr>
          <a:xfrm>
            <a:off x="8547100" y="4235450"/>
            <a:ext cx="29210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AP2 relations</a:t>
            </a:r>
            <a:endParaRPr lang="en-US" sz="1150" dirty="0"/>
          </a:p>
        </p:txBody>
      </p:sp>
      <p:sp>
        <p:nvSpPr>
          <p:cNvPr id="22" name="mechanism-node-m2-queue-1"/>
          <p:cNvSpPr/>
          <p:nvPr/>
        </p:nvSpPr>
        <p:spPr>
          <a:xfrm>
            <a:off x="8547100" y="44894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AP2-u2</a:t>
            </a:r>
            <a:endParaRPr lang="en-US" sz="950" dirty="0"/>
          </a:p>
        </p:txBody>
      </p:sp>
      <p:sp>
        <p:nvSpPr>
          <p:cNvPr id="23" name="mechanism-node-m2-queue-2"/>
          <p:cNvSpPr/>
          <p:nvPr/>
        </p:nvSpPr>
        <p:spPr>
          <a:xfrm>
            <a:off x="8547100" y="4679950"/>
            <a:ext cx="29210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AP2-u3</a:t>
            </a:r>
            <a:endParaRPr lang="en-US" sz="950" dirty="0"/>
          </a:p>
        </p:txBody>
      </p:sp>
      <p:sp>
        <p:nvSpPr>
          <p:cNvPr id="24" name="Shape 2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5" name="Text 2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K(m)은 AP의 작업 범위를, M(k)는 한 사용자를 위해 결합할 AP 범위를 정한다</a:t>
            </a:r>
            <a:endParaRPr lang="en-US" sz="1750" dirty="0"/>
          </a:p>
        </p:txBody>
      </p:sp>
      <p:sp>
        <p:nvSpPr>
          <p:cNvPr id="26" name="Shape 2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7" name="Text 2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 4, Eqs. 16–17</a:t>
            </a:r>
            <a:endParaRPr lang="en-US" sz="1050" dirty="0"/>
          </a:p>
        </p:txBody>
      </p:sp>
      <p:sp>
        <p:nvSpPr>
          <p:cNvPr id="28" name="Text 2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coherence interval의 세 단계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training과 두 data phase의 합이 channel coherence time 안에 들어가야 한다</a:t>
            </a:r>
            <a:endParaRPr lang="en-US" sz="1900" dirty="0"/>
          </a:p>
        </p:txBody>
      </p:sp>
      <p:sp>
        <p:nvSpPr>
          <p:cNvPr id="4" name="Text 2"/>
          <p:cNvSpPr txBox="1"/>
          <p:nvPr/>
        </p:nvSpPr>
        <p:spPr>
          <a:xfrm>
            <a:off x="660400" y="21082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Uplink training</a:t>
            </a:r>
            <a:endParaRPr lang="en-US" sz="1900" dirty="0"/>
          </a:p>
        </p:txBody>
      </p:sp>
      <p:sp>
        <p:nvSpPr>
          <p:cNvPr id="6" name="Text 4"/>
          <p:cNvSpPr txBox="1"/>
          <p:nvPr/>
        </p:nvSpPr>
        <p:spPr>
          <a:xfrm>
            <a:off x="4152900" y="21082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MS가 pilot을 보내고 AP가 channel을 추정</a:t>
            </a:r>
            <a:endParaRPr lang="en-US" sz="1650" dirty="0"/>
          </a:p>
        </p:txBody>
      </p:sp>
      <p:sp>
        <p:nvSpPr>
          <p:cNvPr id="7" name="Shape 5"/>
          <p:cNvSpPr/>
          <p:nvPr/>
        </p:nvSpPr>
        <p:spPr>
          <a:xfrm>
            <a:off x="1397000" y="307340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3086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32639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32639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Downlink data</a:t>
            </a:r>
            <a:endParaRPr lang="en-US" sz="1900" dirty="0"/>
          </a:p>
        </p:txBody>
      </p:sp>
      <p:sp>
        <p:nvSpPr>
          <p:cNvPr id="11" name="Text 9"/>
          <p:cNvSpPr txBox="1"/>
          <p:nvPr/>
        </p:nvSpPr>
        <p:spPr>
          <a:xfrm>
            <a:off x="4152900" y="32639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AP가 추정 channel로 precoding해 전송</a:t>
            </a:r>
            <a:endParaRPr lang="en-US" sz="1650" dirty="0"/>
          </a:p>
        </p:txBody>
      </p:sp>
      <p:sp>
        <p:nvSpPr>
          <p:cNvPr id="12" name="Shape 10"/>
          <p:cNvSpPr/>
          <p:nvPr/>
        </p:nvSpPr>
        <p:spPr>
          <a:xfrm>
            <a:off x="1397000" y="422910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4241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4419600"/>
            <a:ext cx="571500" cy="952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4419600"/>
            <a:ext cx="2603500" cy="952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Uplink data</a:t>
            </a:r>
            <a:endParaRPr lang="en-US" sz="1900" dirty="0"/>
          </a:p>
        </p:txBody>
      </p:sp>
      <p:sp>
        <p:nvSpPr>
          <p:cNvPr id="16" name="Text 14"/>
          <p:cNvSpPr txBox="1"/>
          <p:nvPr/>
        </p:nvSpPr>
        <p:spPr>
          <a:xfrm>
            <a:off x="4152900" y="4419600"/>
            <a:ext cx="7378700" cy="952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MS 전송 → AP local 처리 → CPU 결합</a:t>
            </a:r>
            <a:endParaRPr lang="en-US" sz="1650" dirty="0"/>
          </a:p>
        </p:txBody>
      </p:sp>
      <p:sp>
        <p:nvSpPr>
          <p:cNvPr id="17" name="Shape 1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UC와 CF는 같은 시간 절차를 쓰며, 각 단계에 참여하는 AP-user 링크 수가 다르다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2–3, §II and §III</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Pilot-matched channel estimation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AP는 수신 pilot과 사용자 pilot을 맞춰 local channel estimate를 만든다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MS pilot</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MS가 N_MS개 row의 pilot을 전송</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AP observation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user channel과 noise가 Y_m에 합쳐짐</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Pilot match</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Y_m에 user k pilot의 conjugate transpose 적용</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G_hat(k,m)</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desired channel과 contamination, noise가 남음</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추정은 AP에서 끝나며 channel estimate 자체를 CPU나 MS로 보내지 않는다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3–4, Eqs. 7–11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Pilot 길이 부족은 contamination을 남긴다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완전 직교 조건과 논문이 사용하는 현실적 조건을 구분한다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3696208"/>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estimate에 남는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tau_p &gt;= K times N_MS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desired channel과 noise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완전 직교에 필요한 차원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내부 row 직교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MS의 stream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유지하는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 간 pilot 비직교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user channel 교차항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contamination 발생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tau_p &lt; tau_c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 시간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coherence interval 일부만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UC가 링크 수를 줄여도 pilot contamination이 자동으로 사라지는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3–4, Eqs. 9–11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Downlink: AP의 channel inversion과 MS의 고정 결합</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MS가 instantaneous CSI를 추정하지 않아도 data stream을 결합하도록 설계한다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Local estimate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 m이 G_hat(k,m)을 보유</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Channel inversion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estimate로 precoder Q(k,m)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Power coefficient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eta(k,m)로 AP-user 전력 조절</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Air interface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CF 전체 AP 또는 UC M(k)가 전송</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Fixed combiner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MS는 channel-independent L_k로 결합</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Channel-dependent 처리는 AP에 두고, MS는 고정 구조와 channel hardening에 의존한다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3–4, Eqs. 12–20</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Channel hardening이 MS-side CSI를 대신하는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많은 AP의 합성 효과가 안정적이라는 가정 아래 fixed combiner를 사용한다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TDD reciprocity로 uplink channel estimate를 downlink precoding에 쓴다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여러 AP의 기여가 합쳐지면 effective channel 변동이 완화될 수 있다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MS는 downlink pilot 없이 fixed L_k로 각 stream group을 coherent sum한다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논문은 perfect hardware reciprocity calibration을 전제로 둔다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Hardening이 모든 밀도·주파수·antenna 배치에서 완벽하다는 보장은 아니다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MS-side CSI 대신 AP 처리와 channel hardening에 의존한다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2–4, §II and Eqs. 12–20</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Downlink에서 CF와 UC의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precoder 형식은 같고, 합에 포함되는 AP-user 항이 달라진다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02234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Cell-free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User-centric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m의 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K users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K(m)의 users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 k의 serving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1부터 M까지 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M(k)의 selected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AP-user pair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pair만 nonzero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CSI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AP가 보유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AP가 보유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 combiner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L_k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L_k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UC는 빔포밍 종류를 바꾸기보다 전송과 전력 할당의 support를 줄인다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3–4, Eqs. 13–20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Uplink: AP local statistic을 CPU에서 합친다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UC에서는 user k를 서비스하는 M(k)의 AP만 statistic을 만든다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AP1 local</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served user k의 soft statistic</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AP2 local</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served user k의 soft statistic</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CPU sum</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M(k)에 속한 AP statistic만 합산</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Soft estimate</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user k의 uplink data estimate</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4–5, Eqs. 21–25</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Backhaul에 실리는 정보와 실리지 않는 정보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분산 처리는 instantaneous CSI를 local에 남긴다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043936"/>
                <a:gridCol w="293522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AP 내부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Backhaul·CPU</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UC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estimate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추정·precoding에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Beamforming matrix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AP가 local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Downlink payload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user로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backhaul로 data symbol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 user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 soft statistic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served user별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CPU로 전송·합산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항목 수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UC의 backhaul 절감은 local CSI 정책과 선택된 AP-user 관계가 함께 만든다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1–5, §I and Eqs. 22–25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power allocation 기준은 서로 다른 목표를 가진다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구조도 power objective에 따라 rate 분포와 sum-rate가 달라진다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456590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목표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available power를 균등 또는 최대로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optimization 없는 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user rate의 합을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throughput 우선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낮은 user rate를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fairness 우선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CF와 UC의 우열을 말하려면 link 방향과 CSI뿐 아니라 power objective도 밝혀야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5–10, §§IV–VI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Downlink power control의 successive lower-bound loop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비볼록 rate를 직접 풀지 않고 AP power block별 convex surrogate를 반복한다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init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AP별 power block eta_m 초기화</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AP block 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다른 AP power는 고정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Concave lower bound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점에서 값과 gradient를 맞춤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Convex subproblem</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power constraint 아래 surrogate 최적화</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Update and repeat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inner와 outer convergence까지 반복</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큰 KM 변수 문제를 AP별 작은 문제로 나누되, global optimum을 주장하지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5–8, Eqs. 32–41 and Algorithms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Optimization guarantee를 정확히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수렴한다는 말과 전역 최적이라는 말은 다르다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statement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objective가 감소하지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매번 큰 폭의 향상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반복 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objective value가 수렴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유일한 power solution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limit point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가정 아래 first-order KKT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maximum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choice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복잡도와 subproblem 크기 조절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partition이 항상 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이론적 결론은 monotonic improvement와 first-order stationarity다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5–7, Properties P1–P3 and Proposition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Downlink와 uplink의 변수 규모가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lower-bound 원리를 쓰지만 자연스러운 block 구성은 다르다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02234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Downlink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Uplink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AP-user pair, 최대 KM개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power K개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자연스러운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AP별 eta_m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user power 한 block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Constraint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AP별 total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MS별 maximum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SR Max 또는 MR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SR Max 또는 MR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순환과 sequential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single-block sequential bound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UC의 링크 선택과 power optimization은 별개 층이며 두 link에서 변수 구조도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5–8, §§IV–V and Remark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Simulation의 공통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결과는 특정 channel·antenna·power·averaging 설정에서 얻었다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Area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 m by 1000 m, wrap-around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boundary effect 완화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MHz, 1.9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band로 자동 확장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Antenna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N_AP=4, N_MS=2, P_k=2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multi-antenna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maximum-length pilot, 100 mW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partial CSI에 contamination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random locations and channels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배치의 결과가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CDF와 sum-rate curve는 이 공통 조건을 고정한 뒤 구조·power rule을 바꾼 비교다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8–9, §VI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density case와 N-sweep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AP 수, user 수, 선택 수, pilot 길이가 함께 바뀐다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1848104"/>
                <a:gridCol w="1956816"/>
                <a:gridCol w="2174240"/>
                <a:gridCol w="18481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 AP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 users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 selected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tau_p</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 density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Low density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 sweep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to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High와 low density의 차이는 AP density 하나가 아니라 여러 parameter 묶음이다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9–10, Figs. 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Downlink 결과는 power objective에 따라 갈린다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prose가 보고한 방향을 high·low density와 CSI 조건 아래 읽는다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261360"/>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Power strategy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CF vs UC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interpretation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UC가 CF보다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density case에서 같은 방향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UC가 CF보다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worst-user fairness 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CF가 UC보다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차이는 제한적이라고 기술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CSI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perfect와 partial 모두 표시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 estimation 손실을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Downlink에서 UC가 항상 우세하다는 단일 문장은 논문 결과를 과장한다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9–10, Figs. 1–4 and §VI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N은 협력 범위와 backhaul을 함께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작게 고르면 희소해지고, K까지 키우면 CF로 돌아간다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 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구조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AP마다 한 user만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AP–user 관계 수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1&lt;N&lt;K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AP마다 N명의 user를 서비스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관계에서만 공동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AP가 모든 user 서비스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CF special case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Sweep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sum-rate ordering이 변할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DL/UL, CSI,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하나의 universal best N을 제시하지 않고 조건별 curve를 제시한다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9–10, Figs. 4 and 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Uplink에서는 UC가 세 power strategy 모두에서 앞선다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선택된 AP만 local statistic을 만들고 CPU가 결합하는 구조의 결과다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3478784"/>
                <a:gridCol w="48920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Power strategy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Paper result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 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UC가 CF보다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high와 low density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UC가 CF보다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perfect와 partial CSI curves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MR 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UC가 CF보다 우수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minimum-user-rate objective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Magnitude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 상황에서 many-fold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배치의 고정 배수는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가장 일관된 비교 결과는 simulated uplink에서의 UC 우세다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10–11, Figs. 5–8 and §VII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비슷한 제목의 small-cell 비교 논문과는 질문이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논문은 연결되지만 대상 architecture와 antenna 가정이 다르다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논문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Ngo et al. reference [7]</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User-centric vs cell-free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Cell-free vs small cells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 service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선택된 여러 AP 또는 전체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AP 또는 dedicated 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Antenna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 MS 모두 multiple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AP와 user single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주요 확장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inversion과 power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 bounds와 max-min control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자료는 small cell과의 최초 비교를 반복하지 않고 CF 내부의 cooperation scope를 묻는다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1–2, §I; ngo-cf-smallcells-v2 pp. 1–2, Abstract and §I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 결과의 적용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2018년 v1 simulation의 구조적 통찰과 일반적 보장을 구분한다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23976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보여 준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보류해야 할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correlated shadowing과 wrap-around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실제 지형의 동일 성능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CSI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pilot-matched partial CSI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contamination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monotonic과 first-order KKT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optimum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estimated norm top-N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geographical nearest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sub-6 GHz parameter simulation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mmWave·URLLC의 검증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선택적 협력의 가능성이며, 모든 radio 환경의 성능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pp. 8–11, §VI–VII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정리: 협력의 범위를 channel strength로 선택한다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UC는 cell-free의 공동 처리를 유지하면서 약한 AP-user 관계를 줄인다</a:t>
            </a:r>
            <a:endParaRPr lang="en-US" sz="1900" dirty="0"/>
          </a:p>
        </p:txBody>
      </p:sp>
      <p:sp>
        <p:nvSpPr>
          <p:cNvPr id="4" name="Text 2"/>
          <p:cNvSpPr txBox="1"/>
          <p:nvPr/>
        </p:nvSpPr>
        <p:spPr>
          <a:xfrm>
            <a:off x="838200" y="21717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각 AP는 estimated-channel norm이 큰 N명의 K(m)을 고른다</a:t>
            </a:r>
            <a:endParaRPr lang="en-US" sz="2000" dirty="0"/>
          </a:p>
        </p:txBody>
      </p:sp>
      <p:sp>
        <p:nvSpPr>
          <p:cNvPr id="5" name="Shape 3"/>
          <p:cNvSpPr/>
          <p:nvPr/>
        </p:nvSpPr>
        <p:spPr>
          <a:xfrm>
            <a:off x="838200" y="2654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6924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Pilot estimate와 beamformer는 AP local에 남고 MS는 fixed combiner를 쓴다</a:t>
            </a:r>
            <a:endParaRPr lang="en-US" sz="2000" dirty="0"/>
          </a:p>
        </p:txBody>
      </p:sp>
      <p:sp>
        <p:nvSpPr>
          <p:cNvPr id="7" name="Shape 5"/>
          <p:cNvSpPr/>
          <p:nvPr/>
        </p:nvSpPr>
        <p:spPr>
          <a:xfrm>
            <a:off x="838200" y="3175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2131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Uplink CPU는 M(k)의 soft statistics만 합쳐 backhaul 항목을 줄인다</a:t>
            </a:r>
            <a:endParaRPr lang="en-US" sz="2000" dirty="0"/>
          </a:p>
        </p:txBody>
      </p:sp>
      <p:sp>
        <p:nvSpPr>
          <p:cNvPr id="9" name="Shape 7"/>
          <p:cNvSpPr/>
          <p:nvPr/>
        </p:nvSpPr>
        <p:spPr>
          <a:xfrm>
            <a:off x="838200" y="3695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37338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SR Max와 MR Max는 total throughput과 fairness라는 다른 목적을 푼다</a:t>
            </a:r>
            <a:endParaRPr lang="en-US" sz="2000" dirty="0"/>
          </a:p>
        </p:txBody>
      </p:sp>
      <p:sp>
        <p:nvSpPr>
          <p:cNvPr id="11" name="Shape 9"/>
          <p:cNvSpPr/>
          <p:nvPr/>
        </p:nvSpPr>
        <p:spPr>
          <a:xfrm>
            <a:off x="838200" y="42164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2545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Simulation의 uplink는 UC 우세, downlink는 objective별 차이를 보인다</a:t>
            </a:r>
            <a:endParaRPr lang="en-US" sz="2000" dirty="0"/>
          </a:p>
        </p:txBody>
      </p:sp>
      <p:sp>
        <p:nvSpPr>
          <p:cNvPr id="13" name="Shape 11"/>
          <p:cNvSpPr/>
          <p:nvPr/>
        </p:nvSpPr>
        <p:spPr>
          <a:xfrm>
            <a:off x="838200" y="4737100"/>
            <a:ext cx="106934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838200" y="4775200"/>
            <a:ext cx="10693400" cy="431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수렴 보장과 성능 결과는 논문의 model·parameter·CSI 조건 안에서 읽는다</a:t>
            </a:r>
            <a:endParaRPr lang="en-US" sz="200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User-centric의 핵심은 비협력이 아니라 유효한 링크에 집중한 선택적 공동 처리다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buzzi-uc-cf-v1 abstract; pp. 4–11, §§III–VII</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User-Centric 5G와 Cell-Free Massive MIMO</dc:title>
  <dc:subject>User-Centric 5G Cellular Networks: Resource Allocation and Comparison with the Cell-Free Massive MIMO Approach</dc:subject>
  <dc:creator>Research Seminars</dc:creator>
  <cp:lastModifiedBy>Research Seminars</cp:lastModifiedBy>
  <cp:revision>1</cp:revision>
  <dcterms:created xsi:type="dcterms:W3CDTF">2026-09-12T07:01:52Z</dcterms:created>
  <dcterms:modified xsi:type="dcterms:W3CDTF">2026-09-12T07:01:52Z</dcterms:modified>
</cp:coreProperties>
</file>
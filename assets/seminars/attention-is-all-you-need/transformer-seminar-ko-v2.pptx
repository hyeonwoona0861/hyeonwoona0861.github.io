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3.xml" ContentType="application/vnd.openxmlformats-officedocument.presentationml.slide+xml"/>
  <Override PartName="/ppt/slides/slide21.xml" ContentType="application/vnd.openxmlformats-officedocument.presentationml.slide+xml"/>
  <Override PartName="/ppt/slides/slide12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DFC94392-898D-4042-94A2-E98480A9C106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Transformer: Attention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연결하다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강의는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canonical technical text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사용해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encoder-decoder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구조를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최초 제출본인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삭제하거나 덮어쓰지 않고 별도 보충자료에서 공식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수치 차이를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 목표는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문장과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prefix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token prediction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이어지는 경로를 추적하고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encoder self-attention, decoder masked self-attention, cross-attention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구분하는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arxiv-record | Submission history: v1 and v7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record and version history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https://arxiv.org/abs/1706.03762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arxiv-v7 | p. 1, title and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v7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https://arxiv.org/pdf/1706.03762v7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F409050-6D5F-4B80-8DA8-563A14AB55C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먼저 판본을 고정한다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record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submission history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강의는 완성된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multi-head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W^O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명시된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구조 설명의 기준으로 삼습니다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NeurIPS proceedings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publication artifact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abstract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수치를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v7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표의 수치와 섞지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v1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보충자료가 어떤 값이 달라졌는지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arxiv-record | Submission history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record and version history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https://arxiv.org/abs/1706.03762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 | Official abstract page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 2017 proceedings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https://proceedings.neurips.cc/paper/2017/hash/3f5ee243547dee91fbd053c1c4a845aa-Abstract.html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DA5CC69-EB58-4C4E-A2DE-50BF951DD80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token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계산의 의존 순서였다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동기는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recurrence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token position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따라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sequential dependency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만든다는 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self-attention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minimum sequential operations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maximum path length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O(1)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 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 by 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per-layer cost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O(n squared d)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작은 조건에서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recurrent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유리하다고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모든 길이에서 무조건 빠르거나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constant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arxiv-v7 | p. 6, Table 1 and Sec.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v7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https://arxiv.org/pdf/1706.03762v7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A471AFD-B560-4001-BC51-E2B0D83E45C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decoder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만난다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예시는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experiment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 정보 흐름을 설명하기 위한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presentation example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 branch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cat sleeps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encoder representation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Target branch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shifted prefix Le chat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masked decoder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처리합니다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Cross-attention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decoder state, key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encoder 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linear transform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softmax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token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확률 분포를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arxiv-v7 | p. 3, Fig. 1 and encoder-decoder stacks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v7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https://arxiv.org/pdf/1706.03762v7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arxiv-v7 | p. 5, applications of attention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v7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https://arxiv.org/pdf/1706.03762v7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8A32B4E-6D58-4E47-AC73-25D4B172F28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Encoder layer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하나를 펼쳐 보기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Encoder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multi-head self-attention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position-wise feed-forward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구성됩니다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sublayer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바깥에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residual connection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있고 그 합을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 normalization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넣습니다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구조를 여섯 번 쌓습니다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Attention-only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표현은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recurrent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convolutional sequence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쓰지 않는다는 뜻이지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모델 전체가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attention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연산 하나뿐이라는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arxiv-v7 | p. 3, Sec. 3.1 Encoder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v7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https://arxiv.org/pdf/1706.03762v7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9DFA3CC-4240-41F0-9789-AEB8B41EE13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Scaled dot-product attention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입력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dot product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compatibility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square root of d_k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나누고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row-wise softmax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적용해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만든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value vectors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weighted sum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질문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주소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내용이라는 말은 교육적 해석이며 별개의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type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뜻하지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arxiv-v7 | p. 4, Eq. 1 and Sec. 3.2.1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v7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https://arxiv.org/pdf/1706.03762v7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FEE3729-7FC5-4538-B7B7-26375DCBD75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숫자로 재현하는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attention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dot product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d_k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sqrt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나누면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0.7071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Softmax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0.6698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0.3302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곱해 더하면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6.698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3.302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예는 계산을 재현하기 위한 것이며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 quality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입증하지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arxiv-v7 | p. 4, Eq. 1; arithmetic is a teaching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v7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https://arxiv.org/pdf/1706.03762v7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A7E7868-831E-4754-9882-284BB935512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sqrt(d_k)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나누는가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footnote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key component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independent random variables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mean zero, variance one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경우를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Dot product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d_k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Dimension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커져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 magnitude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커지면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softmax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매우 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gradient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영역에 들어갈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그래서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sqrt d_k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나눕니다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 normalization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 설명하면 다른 연산이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arxiv-v7 | p. 4, Sec. 3.2.1 and footnote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v7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https://arxiv.org/pdf/1706.03762v7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4F87241-C9D3-4544-B569-61C3E5850B6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Multi-head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projection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따로 학습한다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동일 계산을 복사하는 것이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Q, K, 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서로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learned linear projection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적용합니다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결과를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concatenate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W^O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다시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projection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정확한 식은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MultiHead equals Concat of heads times W^O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Base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 heads, d_k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d_v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d_model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고정된 문법 역할이 보장된다고 말하지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arxiv-v7 | p. 5, Sec. 3.2.2 and MultiHead equation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v7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https://arxiv.org/pdf/1706.03762v7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0B9C638-13D4-410B-9BB3-022D40CEF0C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attention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Q, K, V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Encoder self-attention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Q, K, 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모두 이전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encoder layer 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Decoder masked self-attention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모두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decoder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쪽에서 오지만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future target positions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가립니다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Cross-attention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decoder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encoder 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모두 볼 수 있어도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future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masked self-attention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계속 차단되므로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autoregressive property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유지됩니다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arxiv-v7 | p. 5, Sec. 3.2.3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v7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https://arxiv.org/pdf/1706.03762v7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CAAD348-F064-43BA-A4C8-85B295E1829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Causal mask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 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위쪽을 막는다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convention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query, 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position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증가하는 순서입니다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Query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key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까지만 볼 수 있고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key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negative infinity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Softmax of zero, zero, negative infinity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0.5, 0.5, 0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forbidden 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기여하지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Current position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자체는 허용되지만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embedding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한 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prediction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아직 모르는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token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입력으로 받지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arxiv-v7 | p. 5, decoder masking description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v7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https://arxiv.org/pdf/1706.03762v7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EDBE313-5293-4F64-A66A-C89974D8F3C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Mask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shift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봐야 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단독으로 설명하면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current position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볼 수 있다는 사실 때문에 혼동이 생깁니다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Decoder 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embeddings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position offset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current decoder cell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 position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참조해도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예측해야 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token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아니라 이전까지 알려진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prefix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Cross-attention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전체를 볼 수 있지만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future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볼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arxiv-v7 | p. 3, decoder inputs shifted right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v7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https://arxiv.org/pdf/1706.03762v7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arxiv-v7 | p. 5, masking before softmax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v7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https://arxiv.org/pdf/1706.03762v7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5AD7442-B3A8-491A-BC1E-7ADCFAE20D7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순서를 없앤 것이 아니라 별도로 주입했다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Recurrence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convolution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없으므로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position information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별도로 받아야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cosine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서로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frequency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positional encoding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만들고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token embedding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d_model dimension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 합할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Learned positional embeddings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실험했고 거의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variation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보고했지만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더 긴 길이로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extrapolate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가능성을 이유로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sinusoidal form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선택했습니다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arxiv-v7 | pp. 5-6, Sec. 3.5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v7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https://arxiv.org/pdf/1706.03762v7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289C0A9-CA4A-49F1-B447-646456E85C8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Attention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position-wise FFN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Position-wise feed-forward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독립적으로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적용합니다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v7 base configuration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d_model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512, inner d_ff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2048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첫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linear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dimension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확장하고 두 번째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linear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 width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되돌립니다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Attention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position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사이 정보를 섞는다면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FFN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position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feature transformation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담당합니다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arxiv-v7 | p. 5, Eq. 2 and Sec. 3.3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v7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https://arxiv.org/pdf/1706.03762v7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arxiv-v7 | p. 8, Table 3 base row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v7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https://arxiv.org/pdf/1706.03762v7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635F3A6-26CC-4B0C-8691-1E44055CB80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경계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정답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causal mask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적용해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positions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 computation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병렬화할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Inference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token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생성한 뒤 그것을 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prefix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추가해야 하므로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token generation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sequential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translation inference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beam size 4, length penalty alpha 0.6, maximum output length input length plus 50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논문의 평가 조건이지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필수 설정이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arxiv-v7 | pp. 2-3, parallelization motivation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v7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https://arxiv.org/pdf/1706.03762v7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arxiv-v7 | p. 8, Sec. 6.1 inference settings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v7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https://arxiv.org/pdf/1706.03762v7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7F8498A-E340-4408-B7F7-CFACCD27C32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무엇으로 학습했는가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English-German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4.5 million sentence pairs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source-target shared BPE vocabulary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37 thousand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English-French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36 million sentence pairs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32 thousand word-piece vocabulary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Batch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 thousand source tokens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 thousand target tokens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들어갔습니다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수치는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2017-era experiment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조건이며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recipe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권고가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arxiv-v7 | p. 7, Sec. 5.1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v7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https://arxiv.org/pdf/1706.03762v7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6922C09-E824-48B5-8940-D088B1F8630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어떤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system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schedule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학습했는가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machine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 NVIDIA P100 GPUs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Base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당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0.4 second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 thousand steps, 12 hours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Big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second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300 thousand steps, 3.5 days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학습했습니다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Adam beta values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epsilon, 4000 warmup steps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inverse square root schedule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사용했고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dropout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label smoothing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적용했습니다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arxiv-v7 | p. 7, Secs. 5.2-5.4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v7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https://arxiv.org/pdf/1706.03762v7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6F58D76-02A3-4B3E-956D-935793F868D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v7 translation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결과와 내부 불일치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v7 Table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Transformer big 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English-German 28.4, English-French 41.8 BLEU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적습니다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PDF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6.1 prose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English-French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41.0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 적어 내부 불일치가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NeurIPS proceedings abstract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또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artifact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27.5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41.1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값들을 시간에 따른 단일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benchmark improvement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처럼 그리지 않고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분리합니다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arxiv-v7 | p. 8, Table 2 and Sec. 6.1 prose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v7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https://arxiv.org/pdf/1706.03762v7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 | Official abstract metrics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NeurIPS 2017 proceedings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https://proceedings.neurips.cc/paper/2017/hash/3f5ee243547dee91fbd053c1c4a845aa-Abstract.html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DA15E05-D8DC-4217-B84D-1BCF19D69B1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Ablation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말하는 범위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English-German newstest2013 development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Single head 24.9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listed best 25.8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0.9 BLEU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낮습니다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32 heads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25.4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내려갑니다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multiple heads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usefulness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좁게 지지하지만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head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수를 늘릴수록 항상 좋아진다는 보편 법칙은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Base 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 layers, d_model 512, d_ff 2048, 8 heads, 65 million parameters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arxiv-v7 | p. 8, Table 3 rows base and 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v7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https://arxiv.org/pdf/1706.03762v7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D8AD75E-CB95-4158-9167-29E46155C8C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Translation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밖의 실험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constituency parsing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English constituency parsing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적용했습니다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 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d_model 1024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WSJ-only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40 thousand sentences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WSJ Section 23 F1 91.3, semi-supervised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 million sentences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92.7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보고했습니다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 transduction architecture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applicability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보여 주는 추가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evidence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이지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같은 성능을 보장하지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arxiv-v7 | pp. 9-10, Sec. 6.3 and Table 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v7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https://arxiv.org/pdf/1706.03762v7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B49B354-1234-4CFF-8B0B-1337904AE10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논문이 보장하지 않는 것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Transformer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과장하지 않도록 경계를 정리합니다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Full-sequence layer calculation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parallelism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autoregressive decoding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sequentiality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동시에 참입니다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Maximum path O(1)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attention cost O(n squared d)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서로 다른 측정입니다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Attention visualization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learned behavior illustration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causal explanation proof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이 논문에 없는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RoPE, pre-norm, sparse attention, encoder-only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decoder-only variants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원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specification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처럼 섞지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arxiv-v7 | pp. 2-6, architecture and Table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v7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https://arxiv.org/pdf/1706.03762v7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arxiv-v7 | pp. 13-15, attention visualizations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v7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https://arxiv.org/pdf/1706.03762v7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E9914AD-8624-4FD9-B1FD-A42643F2583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token prediction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다시 정리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tokens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positional information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더해진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embedding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시작해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encoder self-attention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FFN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여섯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통과합니다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Target prefix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shift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causal mask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아래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decoder self-attention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통과합니다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Cross-attention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decoder query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encoder key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연결합니다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Decoder 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linear transform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softmax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거쳐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next-token 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구조는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recurrence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sequence 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제거했지만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attention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quadratic score 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autoregressive generation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순서를 제거하지는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arxiv-v7 | pp. 3-6, Sec. 3 and Table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v7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https://arxiv.org/pdf/1706.03762v7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F782CA5-F3C5-4FA8-A183-1DF2C097755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Transformer: Attention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sequence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연결하다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Attention Is All You Need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Ashish Vaswani et al. (2017)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Primary technical text: arXiv:1706.03762v7 (2023-08-02); original proposal: 2017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arxiv-record Submission history: v1 and v7; arxiv-v7 p. 1, title and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먼저 판본을 고정한다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제목 아래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arXiv revision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proceedings artifact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공존한다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478680"/>
                <a:gridCol w="2500200"/>
                <a:gridCol w="48920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Artifact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강의의 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arXiv v1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2017-06-12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version supplement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NeurIPS proceedings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2017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독립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publication record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arXiv v7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2023-08-02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Canonical mechanism source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수치와 공식은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paper title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artifact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위치까지 함께 인용한다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arxiv-record Submission history; neurips Official abstract page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문제는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token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계산의 의존 순서였다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RNN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이전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기다리지만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self-attention layer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모든 위치의 표현을 함께 계산할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152520"/>
                <a:gridCol w="2500200"/>
                <a:gridCol w="2174040"/>
                <a:gridCol w="30438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Layer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Sequential ops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Max path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Per-layer cost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Recurrent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O(n)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O(n)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O(n d^2)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Self-attention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O(1)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O(1)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O(n^2 d)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Restricted attention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O(1)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O(n/r)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O(r n d)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짧은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sequential depth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작은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total cost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같은 주장이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arxiv-v7 p. 6, Table 1 and Sec.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Source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decoder layer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만난다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교육용 예시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source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The cat sleeps, target prefix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Le chat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2"/>
          <p:cNvSpPr/>
          <p:nvPr/>
        </p:nvSpPr>
        <p:spPr>
          <a:xfrm>
            <a:off x="3301920" y="2958840"/>
            <a:ext cx="360" cy="6098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" name="Shape 3"/>
          <p:cNvSpPr/>
          <p:nvPr/>
        </p:nvSpPr>
        <p:spPr>
          <a:xfrm>
            <a:off x="8889840" y="2958840"/>
            <a:ext cx="360" cy="6098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" name="Shape 4"/>
          <p:cNvSpPr/>
          <p:nvPr/>
        </p:nvSpPr>
        <p:spPr>
          <a:xfrm>
            <a:off x="3301920" y="35686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" name="Shape 5"/>
          <p:cNvSpPr/>
          <p:nvPr/>
        </p:nvSpPr>
        <p:spPr>
          <a:xfrm>
            <a:off x="6730920" y="356868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Shape 6"/>
          <p:cNvSpPr/>
          <p:nvPr/>
        </p:nvSpPr>
        <p:spPr>
          <a:xfrm>
            <a:off x="5460840" y="3568680"/>
            <a:ext cx="360" cy="571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" name="Shape 7"/>
          <p:cNvSpPr/>
          <p:nvPr/>
        </p:nvSpPr>
        <p:spPr>
          <a:xfrm>
            <a:off x="6730920" y="3568680"/>
            <a:ext cx="360" cy="5713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Shape 8"/>
          <p:cNvSpPr/>
          <p:nvPr/>
        </p:nvSpPr>
        <p:spPr>
          <a:xfrm>
            <a:off x="6095880" y="4736880"/>
            <a:ext cx="360" cy="7365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" name="Text 9"/>
          <p:cNvSpPr/>
          <p:nvPr/>
        </p:nvSpPr>
        <p:spPr>
          <a:xfrm>
            <a:off x="1270080" y="236232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Source encoder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0"/>
          <p:cNvSpPr/>
          <p:nvPr/>
        </p:nvSpPr>
        <p:spPr>
          <a:xfrm>
            <a:off x="1270080" y="264168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Source tokens + position → encoder ×6 → K,V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1"/>
          <p:cNvSpPr/>
          <p:nvPr/>
        </p:nvSpPr>
        <p:spPr>
          <a:xfrm>
            <a:off x="6858000" y="236232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Shifted target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12"/>
          <p:cNvSpPr/>
          <p:nvPr/>
        </p:nvSpPr>
        <p:spPr>
          <a:xfrm>
            <a:off x="6858000" y="264168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Shifted target + position → masked self → Q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3"/>
          <p:cNvSpPr/>
          <p:nvPr/>
        </p:nvSpPr>
        <p:spPr>
          <a:xfrm>
            <a:off x="4191120" y="41403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Cross-attention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14"/>
          <p:cNvSpPr/>
          <p:nvPr/>
        </p:nvSpPr>
        <p:spPr>
          <a:xfrm>
            <a:off x="4191120" y="44197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Decoder Q + encoder K,V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15"/>
          <p:cNvSpPr/>
          <p:nvPr/>
        </p:nvSpPr>
        <p:spPr>
          <a:xfrm>
            <a:off x="4191120" y="54738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Decoder output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16"/>
          <p:cNvSpPr/>
          <p:nvPr/>
        </p:nvSpPr>
        <p:spPr>
          <a:xfrm>
            <a:off x="4191120" y="5753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FFN → next decoder layer; final softmax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1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3" name="Text 1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arxiv-v7 p. 3, Fig. 1 and encoder-decoder stacks; arxiv-v7 p. 5, applications of attention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1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Encoder layer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하나를 펼쳐 보기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동일한 구조를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N=6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회 쌓으며 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sublayer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residual connection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layer normalization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적용한다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Layer input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source token representations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1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2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Self-attention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Q, K, V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같은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encoder input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옴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6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7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Add &amp; Norm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LayerNorm(x + Sublayer(x))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1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2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Position-wise FFN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position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같은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network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적용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6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7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Add &amp; Norm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Residual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더해 다음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layer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전달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1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2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Attention-only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FFN·residual·normalization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없다는 뜻이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4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arxiv-v7 p. 3, Sec. 3.1 Encoder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Scaled dot-product attention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입력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compatibility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계산하고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섞을 정보를 담는다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3478680"/>
                <a:gridCol w="5435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Symbol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Shape role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계산에서 하는 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Query rows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위치가 필요한 정보 질의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Key rows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Query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dot product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Value rows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Softmax weight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합산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d_k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Key dimension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 scaling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기준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Attention(Q,K,V) = softmax(QK^T / sqrt(d_k)) V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arxiv-v7 p. 4, Eq. 1 and Sec. 3.2.1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숫자로 재현하는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attention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교육용 예시이며 논문의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reported experiment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아니다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: d_k=2, q=[1,0]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3696120"/>
                <a:gridCol w="2608920"/>
                <a:gridCol w="23914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Step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Input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Result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Meaning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Dot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k1=[1,0], k2=[0,1]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[1, 0]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Compatibility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Scale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divide by sqrt(2)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[0.7071, 0]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Large score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완화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Softmax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normalize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[0.6698, 0.3302]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Weighted sum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v1=[10,0], v2=[0,10]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[6.698, 3.302]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value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혼합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Attention output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가장 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value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하나를 고르는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hard selection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arxiv-v7 p. 4, Eq. 1; arithmetic is a teaching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sqrt(d_k)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나누는가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독립적인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query/key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성분의 평균이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0,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분산이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이라는 설명 조건을 따른다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Dot product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d_k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component product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더한다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8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9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Variance grows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가정 아래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score variance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d_k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3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4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Large magnitude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d_k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크면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unscaled score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커질 수 있다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8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9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Softmax saturation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매우 작은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gradient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영역으로 갈 수 있다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3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4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Scale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sqrt(d_k)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나눠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magnitude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완화한다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8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9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 vector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자체를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unit norm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만드는 연산이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1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arxiv-v7 p. 4, Sec. 3.2.1 and footnote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Multi-head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projection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따로 학습한다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그림에는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8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 중 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head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만 대표로 표시하며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base model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h=8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6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7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8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9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0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1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2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3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4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5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6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Q, K, V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inputs,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다른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learned projections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Head 1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QW1Q, KW1K, VW1V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attention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Head 2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QW2Q, KW2K, VW2V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attention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Concat(heads)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head output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이어 붙임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Projection W^O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d_model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차원으로 혼합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7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arxiv-v7 p. 5, Sec. 3.2.2 and MultiHead equation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세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attention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Q, K, V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출처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Cross-attention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K,V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서로 다른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stack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온다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935080"/>
                <a:gridCol w="2608920"/>
                <a:gridCol w="2717640"/>
                <a:gridCol w="26089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 source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K,V source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Visible positions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Encoder self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Encoder input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Encoder input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All source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Decoder masked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Decoder input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Decoder input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Current and past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Cross-attention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Decoder state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Encoder output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All source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Cross-attention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self-attention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이라고 부르면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information origin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잃는다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arxiv-v7 p. 5, Sec. 3.2.3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Causal mask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score matrix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위쪽을 막는다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행은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query position,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열은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key position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position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왼쪽에서 오른쪽으로 증가한다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1956600"/>
                <a:gridCol w="1956600"/>
                <a:gridCol w="1956600"/>
                <a:gridCol w="19566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Query / Key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−∞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−∞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−∞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−∞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−∞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−∞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score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Illegal future score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softmax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전에 −∞로 바꾸면 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probability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arxiv-v7 p. 5, decoder masking description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Mask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 shift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봐야 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Training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에서도 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position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input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정답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sequence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한 칸 오른쪽으로 이동한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prefix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Known target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Start token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이전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 tokens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1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2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Shift right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예측할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token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decoder input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제외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6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7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Masked self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위치보다 오른쪽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key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차단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1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2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Cross-attention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Source representations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모두 참조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6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7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Next-token loss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해당 위치의 정답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token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비교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1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2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current cell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허용해도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shift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정답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token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직접 노출을 막는다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4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arxiv-v7 p. 3, decoder inputs shifted right; arxiv-v7 p. 5, masking before softmax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순서를 없앤 것이 아니라 별도로 주입했다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Positional encoding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token embedding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d_model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차원이며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element-wise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더한다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4892040"/>
                <a:gridCol w="29350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Component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Example role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Combination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Token embedding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단어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identity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learned features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d_model=512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Position vector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여러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frequency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d_model=512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 input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Token + position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Addition, not concat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Alternative tested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Learned position embeddings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Nearly identical result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Position vector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새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token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붙는 것이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embedding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더해진다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arxiv-v7 pp. 5-6, Sec. 3.5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Attention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뒤에는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position-wise FFN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두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-layer network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token position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독립적으로 적용한다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3261240"/>
                <a:gridCol w="48920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Stage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Dimension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Operation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d_model=512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position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vector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Linear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512 → 2048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xW1 + b1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Activation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d_ff=2048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ReLU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Linear 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2048 → 512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W2 + b2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FFN parameter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position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간 공유되지만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layer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간에는 서로 다르다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arxiv-v7 p. 5, Eq. 2 and Sec. 3.3; arxiv-v7 p. 8, Table 3 base row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Training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inference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경계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Training layer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positions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병렬 계산하지만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inference token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생성은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autoregressive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Training batch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Source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shifted target sequence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입력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8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9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Parallel positions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Mask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아래 모든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 positions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3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4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Softmax loss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position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next-token target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8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9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Inference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생성한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token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다음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step input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추가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3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4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Beam search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Paper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beam 4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length penalty 0.6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8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9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Layer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내부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parallelism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output token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사이의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sequential generation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없애지는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1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arxiv-v7 pp. 2-3, parallelization motivation; arxiv-v7 p. 8, Sec. 6.1 inference settings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무엇으로 학습했는가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보고된 값은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WMT 2014 translation experiment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historical setup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065320"/>
                <a:gridCol w="2500200"/>
                <a:gridCol w="3152520"/>
                <a:gridCol w="31525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Sentence pairs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Vocabulary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Batch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EN-DE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about 4.5M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Shared BPE about 37K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about 25K + 25K tokens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EN-FR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36M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Word-piece 32K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about 25K + 25K tokens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Dataset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tokenization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규모를 빼고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BLEU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숫자만 비교하면 조건을 잃는다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arxiv-v7 p. 7, Sec. 5.1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어떤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system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schedule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학습했는가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machine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8 NVIDIA P100 GPU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base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big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설정을 따로 보고했다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3043800"/>
                <a:gridCol w="2391480"/>
                <a:gridCol w="28263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Setting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Step time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Steps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Elapsed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about 0.4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 h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1.0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300K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3.5 days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Adam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beta1=.9, beta2=.98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warmup 4000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inverse-sqrt decay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시간 수치는 당시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hardware·implementation·model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설정과 함께 해석한다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arxiv-v7 p. 7, Secs. 5.2-5.4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v7 translation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결과와 내부 불일치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숫자에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artifact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문서 위치를 붙여 서로 다른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statement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보존한다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4131000"/>
                <a:gridCol w="2065320"/>
                <a:gridCol w="2065320"/>
                <a:gridCol w="26089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 location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EN-DE BLEU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EN-FR BLEU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Status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arXiv v7 Table 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28.4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41.8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Transformer big row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arXiv v7 Sec. 6.1 prose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28.4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41.0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Nearby prose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NeurIPS 2017 abstract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27.5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41.1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Separate artifact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41.8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41.0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임의로 조정하지 말고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v7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내부의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source-location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차이로 기록한다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arxiv-v7 p. 8, Table 2 and Sec. 6.1 prose; neurips Official abstract metrics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Ablation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말하는 범위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arXiv v7 Table 3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EN-DE dev result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head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수만으로 보편 법칙을 만들 수 없다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739160"/>
                <a:gridCol w="2174040"/>
                <a:gridCol w="2174040"/>
                <a:gridCol w="47833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Heads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d_k=d_v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BLEU dev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Narrow reading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512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24.9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Best listed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0.9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 base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25.8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 configuration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25.8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listed best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25.4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더 많은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head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 하락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표는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more heads always help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증명하지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arxiv-v7 p. 8, Table 3 rows base and A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Translation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밖의 실험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constituency parsing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4-layer, d_model=1024 Transformer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 regimes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평가했다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261240"/>
                <a:gridCol w="2608920"/>
                <a:gridCol w="2174040"/>
                <a:gridCol w="28263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Training regime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Approx. sentences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WSJ 23 F1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Scope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WSJ only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40K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91.3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Discriminative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Semi-supervised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17M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92.7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Larger corpus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추가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결과는 모든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domain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universal generalization guarantee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arxiv-v7 pp. 9-10, Sec. 6.3 and Table 4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논문이 보장하지 않는 것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Architecture claim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오늘날 모든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Transformer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대한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claim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구분한다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587400"/>
                <a:gridCol w="72835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오해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Source-grounded boundary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Attention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존재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FFN·residual·norm·embedding·softmax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 존재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계산이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parallel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Autoregressive token generation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sequential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O(1)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total cost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Full attention cost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O(n^2 d)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Head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고정 문법 기능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Appendix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그림은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universal guarantee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도 동일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2017 encoder-decoder specification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주장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Attention-only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recurrent·convolutional sequence layers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대체했다는 범위의 표현이다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arxiv-v7 pp. 2-6, architecture and Table 1; arxiv-v7 pp. 13-15, attention visualizations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token prediction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다시 정리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Source context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 prefix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서로 다른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attention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경로를 거쳐 다음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token distribution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만난다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369612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Stage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What it preserves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What it changes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Encoder self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All source positions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 context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Decoder masked self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Known target prefix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Target context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Cross-attention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Decoder Q; encoder K,V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Source-target connection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FFN and Add &amp; Norm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Per-position pathway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Feature transform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Linear and softmax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Decoder final state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Next-token probabilities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기여는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attention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중심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encoder-decoder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quadratic cost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남는다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arxiv-v7 pp. 3-6, Sec. 3 and Table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2026-09-12T03:57:51Z</dcterms:created>
  <dc:creator>Research Seminars</dc:creator>
  <dc:description/>
  <dc:language>ko-KR</dc:language>
  <cp:lastModifiedBy>Research Seminars</cp:lastModifiedBy>
  <dcterms:modified xsi:type="dcterms:W3CDTF">2026-09-12T03:57:51Z</dcterms:modified>
  <cp:revision>1</cp:revision>
  <dc:subject>Attention Is All You Need</dc:subject>
  <dc:title>Transformer: Attention으로 sequence를 연결하다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22</vt:r8>
  </property>
  <property fmtid="{D5CDD505-2E9C-101B-9397-08002B2CF9AE}" pid="3" name="PresentationFormat">
    <vt:lpwstr>On-screen Show (16:9)</vt:lpwstr>
  </property>
  <property fmtid="{D5CDD505-2E9C-101B-9397-08002B2CF9AE}" pid="4" name="Slides">
    <vt:r8>22</vt:r8>
  </property>
</Properties>
</file>
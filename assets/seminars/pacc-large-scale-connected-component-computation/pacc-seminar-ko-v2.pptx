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PACC: 대규모 연결 요소 계산
발표 대본
이 자료는 PACC 논문을 통해 대규모 무방향 그래프의 connected component 계산을 설명합니다. Connected component 계산의 출력은 각 정점을 같은 component 안에서 ID가 가장 작은 정점에 대응시키는 것입니다. PACC는 partition-aware star 연산으로 한 reducer에 이웃이 몰리는 현상을 줄이고, edge filtering으로 반복 입력을 줄이며, sketching으로 초기 그래프를 압축합니다. 각 기법의 정확한 데이터 흐름과 논문이 증명한 범위를 분리해서 살펴보겠습니다.
공개 출처
plos | p. 1, Abstract
PLOS ONE open-access article
https://journals.plos.org/plosone/article?id=10.1371/journal.pone.0229936
doi | article record
Publisher DOI record
https://doi.org/10.1371/journal.pone.0229936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연결 요소 계산의 출력
발표 대본
논문의 정의 1은 연결 요소를 내부 정점끼리 경로가 있고 외부 정점으로 가는 경로가 없는 정점 집합으로 정의합니다. 정의 2는 계산 결과를 각 정점에서 도달 가능한 최소 ID로 표현합니다. Figure 1의 세 component 대표자는 5, 3, 1입니다. 이 표현은 정점 ID가 서로 다르고 전체 순서가 있다는 전제를 사용합니다. PACC는 마지막에 모든 정점에 이 대표 ID를 붙입니다.
공개 출처
plos | p. 5, Definitions 1-2 and Fig. 1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분산 CC의 세 병목
발표 대본
분산 connected component는 세 비용을 함께 봐야 합니다. Round가 많으면 MapReduce job 준비와 저장소 입출력이 반복됩니다. Intermediate edge가 많으면 shuffle과 disk 비용이 커집니다. Graph가 별 모양으로 수렴하면 최소 ID 정점의 이웃이 한 key로 모여 last reducer가 느려질 수 있습니다. PACC는 partition-aware 연산, edge filtering, sketching을 서로 다른 병목에 대응시킵니다. 이 세 효과를 하나의 메모리 보장으로 합쳐 설명하면 안 됩니다.
공개 출처
plos | pp. 4-7, Related Work and Proposed Method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Hash 계열과 alternating 비교
발표 대본
관련연구 비교입니다. PACC 논문은 Hash-Greater-to-Min에 O(log |V|) round 보장이 있다고 인용하고, Hash-to-Min은 그 보장이 없지만 실무상 더 빠르다고 설명합니다. 두 hash 방법 모두 원래 graph의 두 배를 넘는 intermediate data를 만들 수 있다고 서술합니다. Alternating은 한 round의 intermediate를 입력 이하로 유지하지만 별 모양 수렴 과정에서 중심 key가 커집니다. Alt-opt는 고차 정점 복제로 분산을 시도하지만 edge 수가 늘 수 있고 편향이 남습니다. 이 주장은 PACC 논문의 관련연구 요약과 실험 비교 범위입니다.
공개 출처
plos | pp. 4-6, Related Work and Preliminaries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Alternating의 last reducer 경로
발표 대본
Alternating의 large-star와 small-star는 이웃을 minimum ID 방향으로 재연결합니다. 반복하면 각 connected component가 minimum ID를 중심으로 한 star graph가 됩니다. 다음 MapReduce round는 node ID를 key로 이웃을 모으므로 component가 크면 minimum ID의 neighbor list가 한 reducer로 들어갑니다. 이 reducer가 마지막까지 남아 전체 running time을 결정하는 현상을 논문은 curse of the last reducer라고 설명합니다. PACC는 global minimum으로 바로 모으는 대신 partition local minimum을 경유시킵니다.
공개 출처
plos | pp. 5-7, Fig. 3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PACC 전체 파이프라인
발표 대본
PACC 계열의 포함 관계를 먼저 고정하겠습니다. PACC-base는 partitioning과 최종 CC-Computation만 사용합니다. PACC-ef는 여기에 edge filtering을 더합니다. 완전한 PACC는 입력 앞에 두 단계 sketching까지 추가합니다. Partitioning은 PA-large-star와 PA-small-star를 번갈아 실행합니다. Filtering이 만든 in과 cc는 답에서 버리지 않고 누적한 뒤 final out과 함께 CC-Computation에 넣습니다. Sketching output은 원래 connectivity를 유지하는 더 작은 입력 graph입니다.
공개 출처
plos | pp. 6-13, Fig. 2 and Algorithms 4-8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Hash partition은 작업 라벨이다
발표 대본
PACC는 hash function ξ로 각 정점을 ρ개 partition 중 하나에 배정합니다. 이 partition은 connected component를 미리 아는 분할이 아닙니다. 서로 다른 partition의 정점 사이 edge도 존재할 수 있고, local minimum을 global minimum에 잇는 edge가 connectivity를 유지합니다. 마지막 CC-Computation은 undirected edge (u,v)에서 큰 endpoint u의 partition ξ(u)로 edge를 보냅니다. 각 reducer가 받는 것은 partition 정점 집합 자체가 아니라 그 정점에 incident한 edge-induced subgraph이므로 subgraph끼리 정점을 공유할 수 있습니다.
공개 출처
plos | pp. 7-9, Algorithms 1-3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PA-star 연산의 기호
발표 대본
Γ⁻는 중심보다 작은 이웃, Γ⁺는 큰 이웃입니다. m(u)는 중심과 모든 이웃을 합친 집합의 최소 ID입니다. m_i(u)는 그 집합을 partition i로 제한했을 때의 최소 ID입니다. Figure 4에서 node 7의 global minimum은 1이고 partition 1과 2의 local minimum은 각각 1과 2입니다. PA-large는 큰 이웃을 담당하고 PA-small은 작은 이웃과 중심을 담당하면서 local minimum을 global minimum에 연결합니다.
공개 출처
plos | pp. 5 and 7-8, Fig. 4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Figure 4의 node 7 입력
발표 대본
Figure 4가 제공하는 node 7의 local neighborhood를 정확히 적었습니다. 화면의 여섯 undirected edge가 이 예제에서 사용하는 입력 edge 전부입니다. 이 예제는 ρ=2이고 partition 1에는 1, 7, 9가, partition 2에는 2, 4, 8, 10이 있습니다. 일반 정의는 partition index 0부터 ρ−1을 쓰지만 Figure 4의 표기는 P1과 P2입니다. Node 7보다 작은 이웃은 1, 2, 4이고 큰 이웃은 8, 9, 10입니다. Global minimum은 1이며 두 partition의 local minimum은 1과 2입니다. 전체 Figure 1 그래프의 다른 edge를 이 화면에서 추정하지 않습니다.
공개 출처
plos | p. 8, Fig. 4(a)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PA-large-star의 출력 관계
발표 대본
PA-large-star는 node 7의 큰 이웃 8, 9, 10을 처리합니다. Partition 1의 큰 이웃 9는 local minimum 1로 갑니다. Partition 2의 큰 이웃 8과 10은 local minimum 2로 갑니다. 8과 10이 global minimum 1로 바로 몰리지 않는 것이 partition-aware 재배선의 핵심입니다. 이 슬라이드는 이전 화면의 같은 Figure 4 입력에 PA-large-star만 적용한 출력 관계입니다. 다음 PA-small 화면의 결과를 이어서 적용한 중간 graph가 아닙니다.
공개 출처
plos | p. 8, Fig. 4(b) and Algorithm 1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PA-small-star의 출력 관계
발표 대본
PA-small-star는 같은 Figure 4 입력에서 작은 이웃과 node 7 자신을 처리합니다. Node 7은 partition 1 local minimum이자 global minimum인 1로 갑니다. Node 4는 partition 2 local minimum 2로 갑니다. Local minimum 2는 global minimum 1과 연결됩니다. 2에서 1로 가는 관계가 있어 각 partition의 local minimum이 전체 component 대표자 경로를 유지합니다. 이 화면도 PA-large 출력 다음 상태가 아니라 동일 입력에 PA-small-star만 적용한 독립 설명입니다.
공개 출처
plos | p. 8, Fig. 4(c) and Algorithm 2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Partition별 LocalCC가 가능한 이유
발표 대본
Partitioning이 끝나면 partition i의 정점들은 그 partition의 local minimum에 연결되고, local minimum은 component의 global minimum과 연결됩니다. CC-Computation은 edge (u,v)에서 큰 endpoint u의 ξ(u)를 key로 보내 edge-induced subgraph를 만듭니다. Subgraph는 정점을 공유할 수 있지만 각 partition의 정점이 global minimum까지 가는 path를 포함합니다. 각 reducer가 Union-Find 기반 LocalCC를 독립 실행한 뒤 대표 ID를 결합하면 원래 component를 복원할 수 있습니다.
공개 출처
plos | pp. 8-9, Algorithm 3 and Lemma 1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PACC-base의 반복과 종료
발표 대본
Algorithm 4의 PACC-base는 out을 입력 edge E로 초기화합니다. PA-large-star와 PA-small-star를 순서대로 실행한 뒤 edge 추가 또는 삭제가 있었는지 확인합니다. 변경이 없을 때까지 반복하고 마지막 graph에 CC-Computation을 수행합니다. 논문은 이 convergence 조건을 의사코드에 명시하지만 PACC의 round 수를 O(log |V|)처럼 정리한 별도 점근 상한은 제시하지 않습니다. Hash-Greater-to-Min의 관련연구 보장을 이 알고리즘에 옮기면 안 됩니다.
공개 출처
plos | p. 9, Algorithm 4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Edge filtering의 세 출력
발표 대본
PACC-ef는 매 round에서 out, in, cc를 만듭니다. Out은 다음 star round에서 계속 처리할 edge입니다. In은 같은 partition 안에서 정착해 독립 LocalCC가 가능한 forest edge이고, cc는 더 이상 바뀌지 않는 완성된 star edge입니다. In과 cc는 분산 저장소에 누적됩니다. Out edge 수가 threshold τ 이하이면 반복 MapReduce 대신 잔여 out만 single-machine LocalCC로 바꿉니다. 마지막 CC-Computation 입력은 out과 누적 in, cc의 union입니다.
공개 출처
plos | pp. 10-12, Fig. 6 and Algorithms 5-7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보관 edge와 잔여 edge의 합류
발표 대본
Edge filtering의 보존 관계를 데이터 흐름으로 확인하겠습니다. In과 cc는 다음 반복의 out에서 빠지지만 분산 저장소에 누적됩니다. 반복이 끝난 final out 또는 threshold 아래에서 LocalCC로 정리한 out이 다른 입력 경로입니다. 마지막에는 두 경로를 out union in union cc로 결합하고 CC-Computation을 수행합니다. 따라서 filtered edge를 삭제했다고 표현하면 정답 복원에 쓰이는 경로를 놓치게 됩니다. Threshold 전환은 잔여 out 처리 방식을 바꿀 뿐 final distributed computation을 없애지 않습니다.
공개 출처
plos | pp. 10-12, Algorithm 5 and Fig. 6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Sketching 1단계: chunk LocalCC
발표 대본
완전 PACC의 sketching은 input storage chunk에서 시작합니다. 각 edge는 정확히 한 chunk에 들어가므로 chunk끼리 edge가 겹치지 않습니다. 각 machine은 chunk의 edge-induced subgraph에서 LocalCC를 실행하고, 각 정점을 그 chunk component의 최소 대표자 r_i(u)에 잇는 edge만 출력합니다. 이 단계는 논문에서 network communication 없이 병렬 수행된다고 설명합니다. Edge 수는 줄지만 여러 chunk의 대표자가 같은 작은 ID에 모이면 reduced graph G'가 skew될 수 있습니다. 그래서 두 번째 localization이 필요합니다.
공개 출처
plos | pp. 12-13, Fig. 7 and Algorithm 8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Sketching 2단계: localization
발표 대본
Chunk LocalCC만 적용하면 작은 대표자에 많은 edge가 모일 수 있습니다. Localization은 node u와 partition i마다 그 partition의 큰 이웃 중 최소인 m_i⁺(u)를 anchor로 고릅니다. Anchor는 u와 직접 연결한 채로 두고, 같은 partition의 나머지 큰 이웃 v가 u로 향하던 edge를 anchor로 바꿉니다. 그러면 v는 anchor를 거쳐 u에 도달하므로 connectivity가 유지됩니다. 이 연산은 edge를 새로 복제하지 않고 각 edge를 다른 edge로 바꿉니다.
공개 출처
plos | pp. 12-14, Fig. 7, Algorithm 8 and Lemma 4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정확성 증명의 연결 고리
발표 대본
Lemma 2는 PA-large와 PA-small이 connectivity를 끊지 않는다고 보입니다. Lemma 4는 chunk LocalCC와 localization을 포함한 sketch graph가 원본과 같은 connected component를 가진다고 보입니다. Filtering의 in은 forest이며, 종료 시 in, cc, out의 union도 각 원래 component를 global minimum root의 tree로 나타냅니다. 각 partition subgraph는 local minimum에서 global minimum으로 가는 path를 포함하므로 독립 LocalCC가 같은 대표자를 복원합니다. 이것이 Theorem 2의 핵심입니다.
공개 출처
plos | pp. 13-14, Lemmas 2-4 and Theorem 2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간선 상한과 보장되지 않은 비용
발표 대본
Lemma 5는 star 연산이 edge를 복제하지 않아 edge 수를 늘리지 않는다고 보입니다. Lemma 7은 PACC-ef의 final CC-Computation 입력이 forest이므로 최대 |V|−1 edge라고 보입니다. Lemma 8은 sketch output이 |E|와 C|V| 중 작은 값 이하임을 보입니다. Lemma 9는 localization 뒤 한 node의 큰 이웃 수가 expected O(|V|/ρ+ρ)라고 보입니다. 이 결과들은 Map의 양방향 emit, duplicate 제거 전 shuffle, external sort의 임시공간, peak RAM, hash tail concentration까지 제한하지 않습니다.
공개 출처
plos | pp. 14-16, Lemmas 5-9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Hadoop와 Spark 구현 선택
발표 대본
알고리즘의 edge-count 결과만으로 구현이 끝나지 않습니다. Hadoop에서 PA-large와 PA-small Map은 edge를 양방향으로 emit합니다. Combiner는 reduce에 필요 없는 이웃을 shuffle 전에 줄입니다. Cycle에서 생기는 duplicate edge는 큰 hash table 대신 external-memory sort와 scan으로 제거합니다. Spark에서는 out만 다음 RDD로 유지하고 누적 in과 cc는 HDFS에 저장합니다. Neighbor grouping은 groupByKey 대신 partitionBy와 external sort를 사용합니다. 논문은 memory를 사용하지 않는다고 주장하지 않습니다.
공개 출처
plos | pp. 16-18, Algorithms 9-10 and Implementation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실험 조건과 데이터 규모
발표 대본
실험 cluster는 20대 machine으로 구성됩니다. 각 machine은 6-core 2.40 GHz CPU, RAM 32 GB, 2 TB HDD 네 개를 가집니다. Hadoop 2.7.3과 Spark 2.2.0을 사용하고 container memory는 7 GB입니다. PACC 기본 parameter는 partition 80개와 threshold 2천만 edge입니다. Running time은 HDFS에서 data를 읽고 결과를 쓰는 시간을 포함합니다. 가장 큰 ClueWeb12는 약 62.6억 정점과 717.5억 edge이며 self-loop와 duplicate를 사전에 제거했습니다.
공개 출처
plos | pp. 18-19, Table 2 and Setup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세 기법의 실험 효과
발표 대본
Figure 9에서 PACC 계열은 YahooWeb의 reducer running-time 분포에서 매 iteration 가장 좋은 load balance를 보입니다. Figure 10에서 edge filtering을 포함한 PACC input edge 수는 수정된 edge 수의 lower bound에 가깝게 줄어듭니다. Figure 11에서 Twitter의 최적 threshold는 이 실험에서 2×10⁷입니다. Figure 12의 sketching reduction ratio는 Twitter 11.1, Friendster 1.7로 크게 다릅니다. 각 결과는 해당 dataset과 cluster 조건에 묶어 읽어야 합니다.
공개 출처
plos | pp. 19-21, Figs. 9-12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Hadoop와 Spark 결과의 분리
발표 대본
Hadoop Figure 14에서 PACC는 Alt-opt보다 Friendster 2.9배에서 YahooWeb 10.7배까지 빠릅니다. ClueWeb12 처리는 PACC와 PACC-ef만 성공합니다. Spark Figure 16은 ClueWeb12에서 모든 알고리즘이 실패해 해당 결과를 생략했습니다. 나머지 시험 graph에서 PACC는 Alt-opt보다 2.3배에서 8.8배 빠릅니다. 작은 graph에서는 distributed job 준비 비용 때문에 single-machine Union-Find나 PowerGraph가 더 빠를 수 있습니다. Hadoop 성공을 Spark의 성공으로 확대하면 안 됩니다.
공개 출처
plos | pp. 21-23, Figs. 13-17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PACC 결과의 적용 한계
발표 대본
PACC의 실험은 2020년 software와 HDD cluster 조건입니다. Hash partition에 대한 Lemma 9는 기대값이며 구체적인 independence나 high-probability tail bound를 제시하지 않습니다. Edge-count lemma는 shuffle byte, disk spill, peak RAM의 상한이 아닙니다. ClueWeb12 성공은 Hadoop 결과이고 Spark에서는 모두 실패했습니다. 마지막으로 정확성 증명은 undirected connected component와 minimum-root forest 구조에 의존합니다. Triangle enumeration이나 shortest path에 같은 filtering 논리를 자동으로 적용할 근거는 없습니다.
공개 출처
plos | pp. 14-24, Analyses through Conclusion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PACC의 핵심 흐름
발표 대본
PACC의 핵심을 한 흐름으로 정리하겠습니다. 모든 변환은 원래 connectivity를 유지합니다. Partition local minimum을 경유해 edge가 global minimum 하나로 바로 집중되는 현상을 줄입니다. Edge filtering은 이미 정착한 in과 cc를 다음 round에서 제외하지만 final union까지 보관합니다. 종료 시 forest와 overlapping edge-induced subgraph는 각 partition의 정점이 global minimum까지 가는 path를 포함합니다. 그래서 independent LocalCC가 원래 component representative를 복원합니다.
공개 출처
plos | pp. 6-16 and p. 24, Proposed Method and Conclusion
PLOS ONE open-access article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공개 출처
발표 대본
PLOS ONE article은 CC BY로 공개된 1차 논문 출처입니다. DOI는 정식 article record로 연결됩니다. PACC GitHub repository는 논문이 공개한 구현 자료입니다. 이 자료의 알고리즘 정의, lemma, 실험 수치는 PLOS 원문을 기준으로 정리했고 repository를 논문 주장 근거의 대체물로 사용하지 않았습니다.
공개 출처
plos | full article
PLOS ONE open-access article
https://journals.plos.org/plosone/article?id=10.1371/journal.pone.0229936
doi | article record
Publisher DOI record
https://doi.org/10.1371/journal.pone.0229936
code | repository root
PACC source-code repository cited by the paper
https://github.com/kmudmlab/PACC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PACC: 대규모 연결 요소 계산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PACC: Large scale connected component computation on Hadoop and Spark</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Ha-Myung Park, Namyong Park, Sung-Hyon Myaeng, U Kang (2020)</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Partition-aware star 연산, edge filtering, sketching으로 분산 CC의 병목을 줄이는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 1, Abstract; doi article record</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연결 요소 계산의 출력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정점은 도달 가능한 정점 중 가장 작은 ID를 component 대표자로 받는다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131056"/>
                <a:gridCol w="2717800"/>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Connected component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최소 ID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 11→5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6, 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 6→3, 12→3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2, 4, 7, 8, 9,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정점→1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정점 ID는 유일한 전체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 ID가 component를 식별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PACC의 답은 임의 그룹 이름이 아니라 각 정점의 최소 도달 ID다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 5, Definitions 1-2 and Fig.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분산 CC의 세 병목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라운드 수, 중간 간선, reducer 편향은 서로 다른 비용이며 한 지표로 합칠 수 없다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병목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발생 원인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시스템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많은 round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반복마다 일부 연결 정보만 전파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Job 준비와 HDFS I/O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intermediate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이웃 집합 또는 복제 edge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Shuffle, disk, network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Last reducer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ID 정점에 edge 집중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소수 reducer가 전체 시간을 지배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 filtering, sketching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비용을 다른 기법으로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빠른 CC 알고리즘은 round뿐 아니라 이동하는 edge와 reducer별 부하도 함께 줄여야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4-7, Related Work and Proposed Method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Hash 계열과 alternating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PACC 논문은 round 보장, 실무 속도, intermediate 크기, load balance의 tradeoff를 동기로 삼는다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913632"/>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소개한 장점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지적한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Hash-Greater-to-Min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O(log |V|) round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원본의 2배를 넘는 intermediate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Hash-to-Min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관련연구에서 실무상 더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Log round 보장 없음, 큰 intermediate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Alternating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intermediate가 입력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 중심으로 edge가 몰림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Alt-opt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고차 정점을 복제해 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증가 가능, 편향 잔존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Hash-Greater-to-Min의 O(log |V|) 보장은 PACC의 수렴 정리가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4-6, Related Work and Preliminaries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Alternating의 last reducer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Star 연산이 반복되면 많은 edge가 component의 최소 ID를 endpoint로 공유한다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 연결 그래프</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Edge가 여러 key와 reducer에 분산</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Star 연산 반복</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큰 이웃과 작은 이웃을 minimum ID 쪽으로 재연결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별 그래프 수렴</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Component의 많은 edge가 최소 ID를 공유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Reducer key=min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reducer가 거대한 neighbor list를 처리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전체 지연</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다른 reducer가 끝나도 마지막 reducer를 기다림</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edge 수가 작아도 한 최소-ID key의 neighbor list가 크면 round가 끝나지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5-7, Fig. 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PACC 전체 파이프라인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PACC-base의 partitioning과 computation에 filtering과 sketching을 단계적으로 더한다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Input G</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Undirected graph의 중복과 self-loop를 제거한 edge set</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Sketching</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Chunk LocalCC와 localization으로 초기 edge 수를 축소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Partitioning</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PA-large와 PA-small을 반복해 partition-aware 구조 생성</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Edge filtering</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round의 out과 누적 보관할 in, cc를 분리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CC-Computation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Partition별 edge-induced subgraph에서 LocalCC 실행</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PACC-base는 두 핵심 단계, PACC-ef는 filtering 추가, PACC는 sketching까지 포함한다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6-13, Fig. 2 and Algorithms 4-8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Hash partition은 작업 라벨이다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ξ(u)는 connected component를 미리 자르지 않고 정점을 ρ개 작업 그룹에 배정한다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오해 방지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ξ(u)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정점 u의 hash partition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정점 ID의 크기 구간이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Component 수가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Cross-partition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연결성 보존에 사용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 경계가 물리적 단절이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dispatch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(u,v), u&gt;v를 ξ(u)에 보냄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Edge-induced subgraph는 겹칠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Partition은 답의 component가 아니라 star 연산과 LocalCC의 부하를 나누는 기준이다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7-9, Algorithms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PA-star 연산의 기호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Global minimum과 partition별 local minimum을 구분하면 두 연산의 재배선이 보인다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21817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Node 7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u보다 ID가 작은 이웃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2,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u보다 ID가 큰 이웃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9,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u와 모든 이웃의 최소 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m_i(u)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 i 안의 local minimum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m₁(7)=1, m₂(7)=2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ξ(u)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u의 partition label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ξ(7)=1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PA-star는 모든 이웃을 m(u)에 붙이지 않고 먼저 각 ξ의 m_i(u)를 사용한다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5 and 7-8,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4의 node 7 입력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Node 7의 local neighborhood만 나타내며 전체 graph G를 재현한 그림이 아니다</a:t>
            </a:r>
            <a:endParaRPr lang="en-US" sz="1900" dirty="0"/>
          </a:p>
        </p:txBody>
      </p:sp>
      <p:sp>
        <p:nvSpPr>
          <p:cNvPr id="4" name="neighborhood-input-heading"/>
          <p:cNvSpPr txBox="1"/>
          <p:nvPr/>
        </p:nvSpPr>
        <p:spPr>
          <a:xfrm>
            <a:off x="660400" y="2082800"/>
            <a:ext cx="6350000" cy="304800"/>
          </a:xfrm>
          <a:prstGeom prst="rect">
            <a:avLst/>
          </a:prstGeom>
          <a:noFill/>
          <a:ln/>
        </p:spPr>
        <p:txBody>
          <a:bodyPr wrap="square" lIns="0" tIns="0" rIns="0" bIns="0" rtlCol="0" anchor="t"/>
          <a:lstStyle/>
          <a:p>
            <a:pPr algn="l" indent="0" marL="0">
              <a:lnSpc>
                <a:spcPct val="120000"/>
              </a:lnSpc>
              <a:buNone/>
            </a:pPr>
            <a:r>
              <a:rPr lang="en-US" sz="1650" b="1" dirty="0">
                <a:solidFill>
                  <a:srgbClr val="0D685C"/>
                </a:solidFill>
                <a:latin typeface="AppleGothic" pitchFamily="34" charset="0"/>
                <a:ea typeface="AppleGothic" pitchFamily="34" charset="-122"/>
                <a:cs typeface="AppleGothic" pitchFamily="34" charset="-120"/>
              </a:rPr>
              <a:t>입력 이웃</a:t>
            </a:r>
            <a:endParaRPr lang="en-US" sz="1650" dirty="0"/>
          </a:p>
        </p:txBody>
      </p:sp>
      <p:sp>
        <p:nvSpPr>
          <p:cNvPr id="5" name="neighborhood-output-heading"/>
          <p:cNvSpPr txBox="1"/>
          <p:nvPr/>
        </p:nvSpPr>
        <p:spPr>
          <a:xfrm>
            <a:off x="7493000" y="2082800"/>
            <a:ext cx="4038600" cy="304800"/>
          </a:xfrm>
          <a:prstGeom prst="rect">
            <a:avLst/>
          </a:prstGeom>
          <a:noFill/>
          <a:ln/>
        </p:spPr>
        <p:txBody>
          <a:bodyPr wrap="square" lIns="0" tIns="0" rIns="0" bIns="0" rtlCol="0" anchor="t"/>
          <a:lstStyle/>
          <a:p>
            <a:pPr algn="l" indent="0" marL="0">
              <a:lnSpc>
                <a:spcPct val="120000"/>
              </a:lnSpc>
              <a:buNone/>
            </a:pPr>
            <a:r>
              <a:rPr lang="en-US" sz="1650" b="1" dirty="0">
                <a:solidFill>
                  <a:srgbClr val="0D685C"/>
                </a:solidFill>
                <a:latin typeface="AppleGothic" pitchFamily="34" charset="0"/>
                <a:ea typeface="AppleGothic" pitchFamily="34" charset="-122"/>
                <a:cs typeface="AppleGothic" pitchFamily="34" charset="-120"/>
              </a:rPr>
              <a:t>출력 관계</a:t>
            </a:r>
            <a:endParaRPr lang="en-US" sz="1650" dirty="0"/>
          </a:p>
        </p:txBody>
      </p:sp>
      <p:sp>
        <p:nvSpPr>
          <p:cNvPr id="6" name="neighborhood-edge-n7-n1"/>
          <p:cNvSpPr/>
          <p:nvPr/>
        </p:nvSpPr>
        <p:spPr>
          <a:xfrm>
            <a:off x="3810000" y="2997200"/>
            <a:ext cx="0" cy="1346200"/>
          </a:xfrm>
          <a:prstGeom prst="line">
            <a:avLst/>
          </a:prstGeom>
          <a:noFill/>
          <a:ln w="12700">
            <a:solidFill>
              <a:srgbClr val="C9D8D4"/>
            </a:solidFill>
            <a:prstDash val="solid"/>
            <a:headEnd type="none"/>
            <a:tailEnd type="none"/>
          </a:ln>
        </p:spPr>
        <p:txBody>
          <a:bodyPr/>
          <a:lstStyle/>
          <a:p>
            <a:endParaRPr lang="ko-KR"/>
          </a:p>
        </p:txBody>
      </p:sp>
      <p:sp>
        <p:nvSpPr>
          <p:cNvPr id="7" name="neighborhood-edge-n7-n2"/>
          <p:cNvSpPr/>
          <p:nvPr/>
        </p:nvSpPr>
        <p:spPr>
          <a:xfrm flipV="1">
            <a:off x="3810000" y="3505200"/>
            <a:ext cx="1524000" cy="838200"/>
          </a:xfrm>
          <a:prstGeom prst="line">
            <a:avLst/>
          </a:prstGeom>
          <a:noFill/>
          <a:ln w="12700">
            <a:solidFill>
              <a:srgbClr val="C9D8D4"/>
            </a:solidFill>
            <a:prstDash val="solid"/>
            <a:headEnd type="none"/>
            <a:tailEnd type="none"/>
          </a:ln>
        </p:spPr>
        <p:txBody>
          <a:bodyPr/>
          <a:lstStyle/>
          <a:p>
            <a:endParaRPr lang="ko-KR"/>
          </a:p>
        </p:txBody>
      </p:sp>
      <p:sp>
        <p:nvSpPr>
          <p:cNvPr id="8" name="neighborhood-edge-n7-n4"/>
          <p:cNvSpPr/>
          <p:nvPr/>
        </p:nvSpPr>
        <p:spPr>
          <a:xfrm>
            <a:off x="3810000" y="4343400"/>
            <a:ext cx="1778000" cy="660400"/>
          </a:xfrm>
          <a:prstGeom prst="line">
            <a:avLst/>
          </a:prstGeom>
          <a:noFill/>
          <a:ln w="12700">
            <a:solidFill>
              <a:srgbClr val="C9D8D4"/>
            </a:solidFill>
            <a:prstDash val="solid"/>
            <a:headEnd type="none"/>
            <a:tailEnd type="none"/>
          </a:ln>
        </p:spPr>
        <p:txBody>
          <a:bodyPr/>
          <a:lstStyle/>
          <a:p>
            <a:endParaRPr lang="ko-KR"/>
          </a:p>
        </p:txBody>
      </p:sp>
      <p:sp>
        <p:nvSpPr>
          <p:cNvPr id="9" name="neighborhood-edge-n7-n8"/>
          <p:cNvSpPr/>
          <p:nvPr/>
        </p:nvSpPr>
        <p:spPr>
          <a:xfrm flipV="1">
            <a:off x="3810000" y="4343400"/>
            <a:ext cx="0" cy="1447800"/>
          </a:xfrm>
          <a:prstGeom prst="line">
            <a:avLst/>
          </a:prstGeom>
          <a:noFill/>
          <a:ln w="12700">
            <a:solidFill>
              <a:srgbClr val="C9D8D4"/>
            </a:solidFill>
            <a:prstDash val="solid"/>
            <a:headEnd type="none"/>
            <a:tailEnd type="none"/>
          </a:ln>
        </p:spPr>
        <p:txBody>
          <a:bodyPr/>
          <a:lstStyle/>
          <a:p>
            <a:endParaRPr lang="ko-KR"/>
          </a:p>
        </p:txBody>
      </p:sp>
      <p:sp>
        <p:nvSpPr>
          <p:cNvPr id="10" name="neighborhood-edge-n7-n9"/>
          <p:cNvSpPr/>
          <p:nvPr/>
        </p:nvSpPr>
        <p:spPr>
          <a:xfrm flipV="1">
            <a:off x="2032000" y="4343400"/>
            <a:ext cx="1778000" cy="660400"/>
          </a:xfrm>
          <a:prstGeom prst="line">
            <a:avLst/>
          </a:prstGeom>
          <a:noFill/>
          <a:ln w="12700">
            <a:solidFill>
              <a:srgbClr val="C9D8D4"/>
            </a:solidFill>
            <a:prstDash val="solid"/>
            <a:headEnd type="none"/>
            <a:tailEnd type="none"/>
          </a:ln>
        </p:spPr>
        <p:txBody>
          <a:bodyPr/>
          <a:lstStyle/>
          <a:p>
            <a:endParaRPr lang="ko-KR"/>
          </a:p>
        </p:txBody>
      </p:sp>
      <p:sp>
        <p:nvSpPr>
          <p:cNvPr id="11" name="neighborhood-edge-n7-n10"/>
          <p:cNvSpPr/>
          <p:nvPr/>
        </p:nvSpPr>
        <p:spPr>
          <a:xfrm>
            <a:off x="2286000" y="3505200"/>
            <a:ext cx="1524000" cy="838200"/>
          </a:xfrm>
          <a:prstGeom prst="line">
            <a:avLst/>
          </a:prstGeom>
          <a:noFill/>
          <a:ln w="12700">
            <a:solidFill>
              <a:srgbClr val="C9D8D4"/>
            </a:solidFill>
            <a:prstDash val="solid"/>
            <a:headEnd type="none"/>
            <a:tailEnd type="none"/>
          </a:ln>
        </p:spPr>
        <p:txBody>
          <a:bodyPr/>
          <a:lstStyle/>
          <a:p>
            <a:endParaRPr lang="ko-KR"/>
          </a:p>
        </p:txBody>
      </p:sp>
      <p:sp>
        <p:nvSpPr>
          <p:cNvPr id="12" name="neighborhood-node-n7"/>
          <p:cNvSpPr/>
          <p:nvPr/>
        </p:nvSpPr>
        <p:spPr>
          <a:xfrm>
            <a:off x="3352800" y="3886200"/>
            <a:ext cx="914400" cy="9144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b="1" dirty="0">
                <a:solidFill>
                  <a:srgbClr val="173C37"/>
                </a:solidFill>
                <a:latin typeface="AppleGothic" pitchFamily="34" charset="0"/>
                <a:ea typeface="AppleGothic" pitchFamily="34" charset="-122"/>
                <a:cs typeface="AppleGothic" pitchFamily="34" charset="-120"/>
              </a:rPr>
              <a:t>7</a:t>
            </a:r>
            <a:endParaRPr lang="en-US" sz="1050" dirty="0"/>
          </a:p>
          <a:p>
            <a:pPr algn="ctr" indent="0" marL="0">
              <a:lnSpc>
                <a:spcPct val="88000"/>
              </a:lnSpc>
              <a:buNone/>
            </a:pPr>
            <a:r>
              <a:rPr lang="en-US" sz="1050" b="1"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3" name="neighborhood-node-n1"/>
          <p:cNvSpPr/>
          <p:nvPr/>
        </p:nvSpPr>
        <p:spPr>
          <a:xfrm>
            <a:off x="3403600" y="2590800"/>
            <a:ext cx="812800" cy="8128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1</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4" name="neighborhood-node-n2"/>
          <p:cNvSpPr/>
          <p:nvPr/>
        </p:nvSpPr>
        <p:spPr>
          <a:xfrm>
            <a:off x="4927600" y="3098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2</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5" name="neighborhood-node-n4"/>
          <p:cNvSpPr/>
          <p:nvPr/>
        </p:nvSpPr>
        <p:spPr>
          <a:xfrm>
            <a:off x="5181600" y="45974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4</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6" name="neighborhood-node-n8"/>
          <p:cNvSpPr/>
          <p:nvPr/>
        </p:nvSpPr>
        <p:spPr>
          <a:xfrm>
            <a:off x="3403600" y="5384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8</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7" name="neighborhood-node-n9"/>
          <p:cNvSpPr/>
          <p:nvPr/>
        </p:nvSpPr>
        <p:spPr>
          <a:xfrm>
            <a:off x="1625600" y="4597400"/>
            <a:ext cx="812800" cy="8128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9</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8" name="neighborhood-node-n10"/>
          <p:cNvSpPr/>
          <p:nvPr/>
        </p:nvSpPr>
        <p:spPr>
          <a:xfrm>
            <a:off x="1879600" y="3098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10</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9" name="neighborhood-fact-1"/>
          <p:cNvSpPr txBox="1"/>
          <p:nvPr/>
        </p:nvSpPr>
        <p:spPr>
          <a:xfrm>
            <a:off x="7493000" y="5359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ρ=2; P1={1,7,9}, P2={2,4,8,10}</a:t>
            </a:r>
            <a:endParaRPr lang="en-US" sz="1350" dirty="0"/>
          </a:p>
        </p:txBody>
      </p:sp>
      <p:sp>
        <p:nvSpPr>
          <p:cNvPr id="20" name="neighborhood-fact-2"/>
          <p:cNvSpPr txBox="1"/>
          <p:nvPr/>
        </p:nvSpPr>
        <p:spPr>
          <a:xfrm>
            <a:off x="7493000" y="5613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Γ⁻(7)={1,2,4}, Γ⁺(7)={8,9,10}</a:t>
            </a:r>
            <a:endParaRPr lang="en-US" sz="1350" dirty="0"/>
          </a:p>
        </p:txBody>
      </p:sp>
      <p:sp>
        <p:nvSpPr>
          <p:cNvPr id="21" name="neighborhood-fact-3"/>
          <p:cNvSpPr txBox="1"/>
          <p:nvPr/>
        </p:nvSpPr>
        <p:spPr>
          <a:xfrm>
            <a:off x="7493000" y="5867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m(7)=1, m₁(7)=1, m₂(7)=2</a:t>
            </a:r>
            <a:endParaRPr lang="en-US" sz="13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 8, Fig. 4(a)</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PA-large-star의 출력 관계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PA-large와 PA-small은 같은 Figure 4 입력을 따로 설명하며 연속된 graph 상태가 아니다</a:t>
            </a:r>
            <a:endParaRPr lang="en-US" sz="1900" dirty="0"/>
          </a:p>
        </p:txBody>
      </p:sp>
      <p:sp>
        <p:nvSpPr>
          <p:cNvPr id="4" name="neighborhood-input-heading"/>
          <p:cNvSpPr txBox="1"/>
          <p:nvPr/>
        </p:nvSpPr>
        <p:spPr>
          <a:xfrm>
            <a:off x="660400" y="2082800"/>
            <a:ext cx="6350000" cy="304800"/>
          </a:xfrm>
          <a:prstGeom prst="rect">
            <a:avLst/>
          </a:prstGeom>
          <a:noFill/>
          <a:ln/>
        </p:spPr>
        <p:txBody>
          <a:bodyPr wrap="square" lIns="0" tIns="0" rIns="0" bIns="0" rtlCol="0" anchor="t"/>
          <a:lstStyle/>
          <a:p>
            <a:pPr algn="l" indent="0" marL="0">
              <a:lnSpc>
                <a:spcPct val="120000"/>
              </a:lnSpc>
              <a:buNone/>
            </a:pPr>
            <a:r>
              <a:rPr lang="en-US" sz="1650" b="1" dirty="0">
                <a:solidFill>
                  <a:srgbClr val="0D685C"/>
                </a:solidFill>
                <a:latin typeface="AppleGothic" pitchFamily="34" charset="0"/>
                <a:ea typeface="AppleGothic" pitchFamily="34" charset="-122"/>
                <a:cs typeface="AppleGothic" pitchFamily="34" charset="-120"/>
              </a:rPr>
              <a:t>입력 이웃</a:t>
            </a:r>
            <a:endParaRPr lang="en-US" sz="1650" dirty="0"/>
          </a:p>
        </p:txBody>
      </p:sp>
      <p:sp>
        <p:nvSpPr>
          <p:cNvPr id="5" name="neighborhood-output-heading"/>
          <p:cNvSpPr txBox="1"/>
          <p:nvPr/>
        </p:nvSpPr>
        <p:spPr>
          <a:xfrm>
            <a:off x="7493000" y="2082800"/>
            <a:ext cx="4038600" cy="304800"/>
          </a:xfrm>
          <a:prstGeom prst="rect">
            <a:avLst/>
          </a:prstGeom>
          <a:noFill/>
          <a:ln/>
        </p:spPr>
        <p:txBody>
          <a:bodyPr wrap="square" lIns="0" tIns="0" rIns="0" bIns="0" rtlCol="0" anchor="t"/>
          <a:lstStyle/>
          <a:p>
            <a:pPr algn="l" indent="0" marL="0">
              <a:lnSpc>
                <a:spcPct val="120000"/>
              </a:lnSpc>
              <a:buNone/>
            </a:pPr>
            <a:r>
              <a:rPr lang="en-US" sz="1650" b="1" dirty="0">
                <a:solidFill>
                  <a:srgbClr val="0D685C"/>
                </a:solidFill>
                <a:latin typeface="AppleGothic" pitchFamily="34" charset="0"/>
                <a:ea typeface="AppleGothic" pitchFamily="34" charset="-122"/>
                <a:cs typeface="AppleGothic" pitchFamily="34" charset="-120"/>
              </a:rPr>
              <a:t>출력 관계</a:t>
            </a:r>
            <a:endParaRPr lang="en-US" sz="1650" dirty="0"/>
          </a:p>
        </p:txBody>
      </p:sp>
      <p:sp>
        <p:nvSpPr>
          <p:cNvPr id="6" name="neighborhood-edge-n7-n1"/>
          <p:cNvSpPr/>
          <p:nvPr/>
        </p:nvSpPr>
        <p:spPr>
          <a:xfrm>
            <a:off x="3810000" y="2997200"/>
            <a:ext cx="0" cy="1346200"/>
          </a:xfrm>
          <a:prstGeom prst="line">
            <a:avLst/>
          </a:prstGeom>
          <a:noFill/>
          <a:ln w="12700">
            <a:solidFill>
              <a:srgbClr val="C9D8D4"/>
            </a:solidFill>
            <a:prstDash val="solid"/>
            <a:headEnd type="none"/>
            <a:tailEnd type="none"/>
          </a:ln>
        </p:spPr>
        <p:txBody>
          <a:bodyPr/>
          <a:lstStyle/>
          <a:p>
            <a:endParaRPr lang="ko-KR"/>
          </a:p>
        </p:txBody>
      </p:sp>
      <p:sp>
        <p:nvSpPr>
          <p:cNvPr id="7" name="neighborhood-edge-n7-n2"/>
          <p:cNvSpPr/>
          <p:nvPr/>
        </p:nvSpPr>
        <p:spPr>
          <a:xfrm flipV="1">
            <a:off x="3810000" y="3505200"/>
            <a:ext cx="1524000" cy="838200"/>
          </a:xfrm>
          <a:prstGeom prst="line">
            <a:avLst/>
          </a:prstGeom>
          <a:noFill/>
          <a:ln w="12700">
            <a:solidFill>
              <a:srgbClr val="C9D8D4"/>
            </a:solidFill>
            <a:prstDash val="solid"/>
            <a:headEnd type="none"/>
            <a:tailEnd type="none"/>
          </a:ln>
        </p:spPr>
        <p:txBody>
          <a:bodyPr/>
          <a:lstStyle/>
          <a:p>
            <a:endParaRPr lang="ko-KR"/>
          </a:p>
        </p:txBody>
      </p:sp>
      <p:sp>
        <p:nvSpPr>
          <p:cNvPr id="8" name="neighborhood-edge-n7-n4"/>
          <p:cNvSpPr/>
          <p:nvPr/>
        </p:nvSpPr>
        <p:spPr>
          <a:xfrm>
            <a:off x="3810000" y="4343400"/>
            <a:ext cx="1778000" cy="660400"/>
          </a:xfrm>
          <a:prstGeom prst="line">
            <a:avLst/>
          </a:prstGeom>
          <a:noFill/>
          <a:ln w="12700">
            <a:solidFill>
              <a:srgbClr val="C9D8D4"/>
            </a:solidFill>
            <a:prstDash val="solid"/>
            <a:headEnd type="none"/>
            <a:tailEnd type="none"/>
          </a:ln>
        </p:spPr>
        <p:txBody>
          <a:bodyPr/>
          <a:lstStyle/>
          <a:p>
            <a:endParaRPr lang="ko-KR"/>
          </a:p>
        </p:txBody>
      </p:sp>
      <p:sp>
        <p:nvSpPr>
          <p:cNvPr id="9" name="neighborhood-edge-n7-n8"/>
          <p:cNvSpPr/>
          <p:nvPr/>
        </p:nvSpPr>
        <p:spPr>
          <a:xfrm flipV="1">
            <a:off x="3810000" y="4343400"/>
            <a:ext cx="0" cy="1447800"/>
          </a:xfrm>
          <a:prstGeom prst="line">
            <a:avLst/>
          </a:prstGeom>
          <a:noFill/>
          <a:ln w="12700">
            <a:solidFill>
              <a:srgbClr val="C9D8D4"/>
            </a:solidFill>
            <a:prstDash val="solid"/>
            <a:headEnd type="none"/>
            <a:tailEnd type="none"/>
          </a:ln>
        </p:spPr>
        <p:txBody>
          <a:bodyPr/>
          <a:lstStyle/>
          <a:p>
            <a:endParaRPr lang="ko-KR"/>
          </a:p>
        </p:txBody>
      </p:sp>
      <p:sp>
        <p:nvSpPr>
          <p:cNvPr id="10" name="neighborhood-edge-n7-n9"/>
          <p:cNvSpPr/>
          <p:nvPr/>
        </p:nvSpPr>
        <p:spPr>
          <a:xfrm flipV="1">
            <a:off x="2032000" y="4343400"/>
            <a:ext cx="1778000" cy="660400"/>
          </a:xfrm>
          <a:prstGeom prst="line">
            <a:avLst/>
          </a:prstGeom>
          <a:noFill/>
          <a:ln w="12700">
            <a:solidFill>
              <a:srgbClr val="C9D8D4"/>
            </a:solidFill>
            <a:prstDash val="solid"/>
            <a:headEnd type="none"/>
            <a:tailEnd type="none"/>
          </a:ln>
        </p:spPr>
        <p:txBody>
          <a:bodyPr/>
          <a:lstStyle/>
          <a:p>
            <a:endParaRPr lang="ko-KR"/>
          </a:p>
        </p:txBody>
      </p:sp>
      <p:sp>
        <p:nvSpPr>
          <p:cNvPr id="11" name="neighborhood-edge-n7-n10"/>
          <p:cNvSpPr/>
          <p:nvPr/>
        </p:nvSpPr>
        <p:spPr>
          <a:xfrm>
            <a:off x="2286000" y="3505200"/>
            <a:ext cx="1524000" cy="838200"/>
          </a:xfrm>
          <a:prstGeom prst="line">
            <a:avLst/>
          </a:prstGeom>
          <a:noFill/>
          <a:ln w="12700">
            <a:solidFill>
              <a:srgbClr val="C9D8D4"/>
            </a:solidFill>
            <a:prstDash val="solid"/>
            <a:headEnd type="none"/>
            <a:tailEnd type="none"/>
          </a:ln>
        </p:spPr>
        <p:txBody>
          <a:bodyPr/>
          <a:lstStyle/>
          <a:p>
            <a:endParaRPr lang="ko-KR"/>
          </a:p>
        </p:txBody>
      </p:sp>
      <p:sp>
        <p:nvSpPr>
          <p:cNvPr id="12" name="neighborhood-node-n7"/>
          <p:cNvSpPr/>
          <p:nvPr/>
        </p:nvSpPr>
        <p:spPr>
          <a:xfrm>
            <a:off x="3352800" y="3886200"/>
            <a:ext cx="914400" cy="9144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b="1" dirty="0">
                <a:solidFill>
                  <a:srgbClr val="173C37"/>
                </a:solidFill>
                <a:latin typeface="AppleGothic" pitchFamily="34" charset="0"/>
                <a:ea typeface="AppleGothic" pitchFamily="34" charset="-122"/>
                <a:cs typeface="AppleGothic" pitchFamily="34" charset="-120"/>
              </a:rPr>
              <a:t>7</a:t>
            </a:r>
            <a:endParaRPr lang="en-US" sz="1050" dirty="0"/>
          </a:p>
          <a:p>
            <a:pPr algn="ctr" indent="0" marL="0">
              <a:lnSpc>
                <a:spcPct val="88000"/>
              </a:lnSpc>
              <a:buNone/>
            </a:pPr>
            <a:r>
              <a:rPr lang="en-US" sz="1050" b="1"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3" name="neighborhood-node-n1"/>
          <p:cNvSpPr/>
          <p:nvPr/>
        </p:nvSpPr>
        <p:spPr>
          <a:xfrm>
            <a:off x="3403600" y="2590800"/>
            <a:ext cx="812800" cy="8128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1</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4" name="neighborhood-node-n2"/>
          <p:cNvSpPr/>
          <p:nvPr/>
        </p:nvSpPr>
        <p:spPr>
          <a:xfrm>
            <a:off x="4927600" y="3098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2</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5" name="neighborhood-node-n4"/>
          <p:cNvSpPr/>
          <p:nvPr/>
        </p:nvSpPr>
        <p:spPr>
          <a:xfrm>
            <a:off x="5181600" y="45974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4</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6" name="neighborhood-node-n8"/>
          <p:cNvSpPr/>
          <p:nvPr/>
        </p:nvSpPr>
        <p:spPr>
          <a:xfrm>
            <a:off x="3403600" y="5384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8</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7" name="neighborhood-node-n9"/>
          <p:cNvSpPr/>
          <p:nvPr/>
        </p:nvSpPr>
        <p:spPr>
          <a:xfrm>
            <a:off x="1625600" y="4597400"/>
            <a:ext cx="812800" cy="8128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9</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8" name="neighborhood-node-n10"/>
          <p:cNvSpPr/>
          <p:nvPr/>
        </p:nvSpPr>
        <p:spPr>
          <a:xfrm>
            <a:off x="1879600" y="3098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10</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9" name="neighborhood-output-1-arrow"/>
          <p:cNvSpPr/>
          <p:nvPr/>
        </p:nvSpPr>
        <p:spPr>
          <a:xfrm>
            <a:off x="8229600" y="2984500"/>
            <a:ext cx="2209800" cy="0"/>
          </a:xfrm>
          <a:prstGeom prst="line">
            <a:avLst/>
          </a:prstGeom>
          <a:noFill/>
          <a:ln w="12700">
            <a:solidFill>
              <a:srgbClr val="0D685C"/>
            </a:solidFill>
            <a:prstDash val="solid"/>
            <a:headEnd type="none"/>
            <a:tailEnd type="triangle"/>
          </a:ln>
        </p:spPr>
        <p:txBody>
          <a:bodyPr/>
          <a:lstStyle/>
          <a:p>
            <a:endParaRPr lang="ko-KR"/>
          </a:p>
        </p:txBody>
      </p:sp>
      <p:sp>
        <p:nvSpPr>
          <p:cNvPr id="20" name="neighborhood-output-1-source"/>
          <p:cNvSpPr/>
          <p:nvPr/>
        </p:nvSpPr>
        <p:spPr>
          <a:xfrm>
            <a:off x="7645400" y="2692400"/>
            <a:ext cx="584200" cy="5842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9</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P1</a:t>
            </a:r>
            <a:endParaRPr lang="en-US" sz="1150" dirty="0"/>
          </a:p>
        </p:txBody>
      </p:sp>
      <p:sp>
        <p:nvSpPr>
          <p:cNvPr id="21" name="neighborhood-output-1-target"/>
          <p:cNvSpPr/>
          <p:nvPr/>
        </p:nvSpPr>
        <p:spPr>
          <a:xfrm>
            <a:off x="10439400" y="2692400"/>
            <a:ext cx="584200" cy="5842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1</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P1</a:t>
            </a:r>
            <a:endParaRPr lang="en-US" sz="1150" dirty="0"/>
          </a:p>
        </p:txBody>
      </p:sp>
      <p:sp>
        <p:nvSpPr>
          <p:cNvPr id="22" name="neighborhood-output-1-label"/>
          <p:cNvSpPr txBox="1"/>
          <p:nvPr/>
        </p:nvSpPr>
        <p:spPr>
          <a:xfrm>
            <a:off x="8445500" y="2641600"/>
            <a:ext cx="1778000" cy="254000"/>
          </a:xfrm>
          <a:prstGeom prst="rect">
            <a:avLst/>
          </a:prstGeom>
          <a:noFill/>
          <a:ln/>
        </p:spPr>
        <p:txBody>
          <a:bodyPr wrap="square" lIns="0" tIns="0" rIns="0" bIns="0" rtlCol="0" anchor="ctr"/>
          <a:lstStyle/>
          <a:p>
            <a:pPr algn="ctr" indent="0" marL="0">
              <a:lnSpc>
                <a:spcPct val="120000"/>
              </a:lnSpc>
              <a:buNone/>
            </a:pPr>
            <a:r>
              <a:rPr lang="en-US" sz="1300" b="1" dirty="0">
                <a:solidFill>
                  <a:srgbClr val="173C37"/>
                </a:solidFill>
                <a:latin typeface="AppleGothic" pitchFamily="34" charset="0"/>
                <a:ea typeface="AppleGothic" pitchFamily="34" charset="-122"/>
                <a:cs typeface="AppleGothic" pitchFamily="34" charset="-120"/>
              </a:rPr>
              <a:t>P1 local min</a:t>
            </a:r>
            <a:endParaRPr lang="en-US" sz="1300" dirty="0"/>
          </a:p>
        </p:txBody>
      </p:sp>
      <p:sp>
        <p:nvSpPr>
          <p:cNvPr id="23" name="neighborhood-output-2-arrow"/>
          <p:cNvSpPr/>
          <p:nvPr/>
        </p:nvSpPr>
        <p:spPr>
          <a:xfrm>
            <a:off x="8229600" y="3949700"/>
            <a:ext cx="2209800" cy="0"/>
          </a:xfrm>
          <a:prstGeom prst="line">
            <a:avLst/>
          </a:prstGeom>
          <a:noFill/>
          <a:ln w="12700">
            <a:solidFill>
              <a:srgbClr val="0D685C"/>
            </a:solidFill>
            <a:prstDash val="solid"/>
            <a:headEnd type="none"/>
            <a:tailEnd type="triangle"/>
          </a:ln>
        </p:spPr>
        <p:txBody>
          <a:bodyPr/>
          <a:lstStyle/>
          <a:p>
            <a:endParaRPr lang="ko-KR"/>
          </a:p>
        </p:txBody>
      </p:sp>
      <p:sp>
        <p:nvSpPr>
          <p:cNvPr id="24" name="neighborhood-output-2-source"/>
          <p:cNvSpPr/>
          <p:nvPr/>
        </p:nvSpPr>
        <p:spPr>
          <a:xfrm>
            <a:off x="7645400" y="3657600"/>
            <a:ext cx="584200" cy="5842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8</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P2</a:t>
            </a:r>
            <a:endParaRPr lang="en-US" sz="1150" dirty="0"/>
          </a:p>
        </p:txBody>
      </p:sp>
      <p:sp>
        <p:nvSpPr>
          <p:cNvPr id="25" name="neighborhood-output-2-target"/>
          <p:cNvSpPr/>
          <p:nvPr/>
        </p:nvSpPr>
        <p:spPr>
          <a:xfrm>
            <a:off x="10439400" y="3657600"/>
            <a:ext cx="584200" cy="5842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2</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P2</a:t>
            </a:r>
            <a:endParaRPr lang="en-US" sz="1150" dirty="0"/>
          </a:p>
        </p:txBody>
      </p:sp>
      <p:sp>
        <p:nvSpPr>
          <p:cNvPr id="26" name="neighborhood-output-2-label"/>
          <p:cNvSpPr txBox="1"/>
          <p:nvPr/>
        </p:nvSpPr>
        <p:spPr>
          <a:xfrm>
            <a:off x="8445500" y="3606800"/>
            <a:ext cx="1778000" cy="254000"/>
          </a:xfrm>
          <a:prstGeom prst="rect">
            <a:avLst/>
          </a:prstGeom>
          <a:noFill/>
          <a:ln/>
        </p:spPr>
        <p:txBody>
          <a:bodyPr wrap="square" lIns="0" tIns="0" rIns="0" bIns="0" rtlCol="0" anchor="ctr"/>
          <a:lstStyle/>
          <a:p>
            <a:pPr algn="ctr" indent="0" marL="0">
              <a:lnSpc>
                <a:spcPct val="120000"/>
              </a:lnSpc>
              <a:buNone/>
            </a:pPr>
            <a:r>
              <a:rPr lang="en-US" sz="1300" b="1" dirty="0">
                <a:solidFill>
                  <a:srgbClr val="173C37"/>
                </a:solidFill>
                <a:latin typeface="AppleGothic" pitchFamily="34" charset="0"/>
                <a:ea typeface="AppleGothic" pitchFamily="34" charset="-122"/>
                <a:cs typeface="AppleGothic" pitchFamily="34" charset="-120"/>
              </a:rPr>
              <a:t>P2 local min</a:t>
            </a:r>
            <a:endParaRPr lang="en-US" sz="1300" dirty="0"/>
          </a:p>
        </p:txBody>
      </p:sp>
      <p:sp>
        <p:nvSpPr>
          <p:cNvPr id="27" name="neighborhood-output-3-arrow"/>
          <p:cNvSpPr/>
          <p:nvPr/>
        </p:nvSpPr>
        <p:spPr>
          <a:xfrm>
            <a:off x="8229600" y="4914900"/>
            <a:ext cx="2209800" cy="0"/>
          </a:xfrm>
          <a:prstGeom prst="line">
            <a:avLst/>
          </a:prstGeom>
          <a:noFill/>
          <a:ln w="12700">
            <a:solidFill>
              <a:srgbClr val="0D685C"/>
            </a:solidFill>
            <a:prstDash val="solid"/>
            <a:headEnd type="none"/>
            <a:tailEnd type="triangle"/>
          </a:ln>
        </p:spPr>
        <p:txBody>
          <a:bodyPr/>
          <a:lstStyle/>
          <a:p>
            <a:endParaRPr lang="ko-KR"/>
          </a:p>
        </p:txBody>
      </p:sp>
      <p:sp>
        <p:nvSpPr>
          <p:cNvPr id="28" name="neighborhood-output-3-source"/>
          <p:cNvSpPr/>
          <p:nvPr/>
        </p:nvSpPr>
        <p:spPr>
          <a:xfrm>
            <a:off x="7645400" y="4622800"/>
            <a:ext cx="584200" cy="5842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10</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P2</a:t>
            </a:r>
            <a:endParaRPr lang="en-US" sz="1150" dirty="0"/>
          </a:p>
        </p:txBody>
      </p:sp>
      <p:sp>
        <p:nvSpPr>
          <p:cNvPr id="29" name="neighborhood-output-3-target"/>
          <p:cNvSpPr/>
          <p:nvPr/>
        </p:nvSpPr>
        <p:spPr>
          <a:xfrm>
            <a:off x="10439400" y="4622800"/>
            <a:ext cx="584200" cy="5842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2</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P2</a:t>
            </a:r>
            <a:endParaRPr lang="en-US" sz="1150" dirty="0"/>
          </a:p>
        </p:txBody>
      </p:sp>
      <p:sp>
        <p:nvSpPr>
          <p:cNvPr id="30" name="neighborhood-output-3-label"/>
          <p:cNvSpPr txBox="1"/>
          <p:nvPr/>
        </p:nvSpPr>
        <p:spPr>
          <a:xfrm>
            <a:off x="8445500" y="4572000"/>
            <a:ext cx="1778000" cy="254000"/>
          </a:xfrm>
          <a:prstGeom prst="rect">
            <a:avLst/>
          </a:prstGeom>
          <a:noFill/>
          <a:ln/>
        </p:spPr>
        <p:txBody>
          <a:bodyPr wrap="square" lIns="0" tIns="0" rIns="0" bIns="0" rtlCol="0" anchor="ctr"/>
          <a:lstStyle/>
          <a:p>
            <a:pPr algn="ctr" indent="0" marL="0">
              <a:lnSpc>
                <a:spcPct val="120000"/>
              </a:lnSpc>
              <a:buNone/>
            </a:pPr>
            <a:r>
              <a:rPr lang="en-US" sz="1300" b="1" dirty="0">
                <a:solidFill>
                  <a:srgbClr val="173C37"/>
                </a:solidFill>
                <a:latin typeface="AppleGothic" pitchFamily="34" charset="0"/>
                <a:ea typeface="AppleGothic" pitchFamily="34" charset="-122"/>
                <a:cs typeface="AppleGothic" pitchFamily="34" charset="-120"/>
              </a:rPr>
              <a:t>P2 local min</a:t>
            </a:r>
            <a:endParaRPr lang="en-US" sz="1300" dirty="0"/>
          </a:p>
        </p:txBody>
      </p:sp>
      <p:sp>
        <p:nvSpPr>
          <p:cNvPr id="31" name="neighborhood-fact-1"/>
          <p:cNvSpPr txBox="1"/>
          <p:nvPr/>
        </p:nvSpPr>
        <p:spPr>
          <a:xfrm>
            <a:off x="7493000" y="5359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같은 Figure 4 입력</a:t>
            </a:r>
            <a:endParaRPr lang="en-US" sz="1350" dirty="0"/>
          </a:p>
        </p:txBody>
      </p:sp>
      <p:sp>
        <p:nvSpPr>
          <p:cNvPr id="32" name="neighborhood-fact-2"/>
          <p:cNvSpPr txBox="1"/>
          <p:nvPr/>
        </p:nvSpPr>
        <p:spPr>
          <a:xfrm>
            <a:off x="7493000" y="5613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Large neighbors={8,9,10}</a:t>
            </a:r>
            <a:endParaRPr lang="en-US" sz="1350" dirty="0"/>
          </a:p>
        </p:txBody>
      </p:sp>
      <p:sp>
        <p:nvSpPr>
          <p:cNvPr id="33" name="neighborhood-fact-3"/>
          <p:cNvSpPr txBox="1"/>
          <p:nvPr/>
        </p:nvSpPr>
        <p:spPr>
          <a:xfrm>
            <a:off x="7493000" y="5867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9→1, 8→2, 10→2</a:t>
            </a:r>
            <a:endParaRPr lang="en-US" sz="1350" dirty="0"/>
          </a:p>
        </p:txBody>
      </p:sp>
      <p:sp>
        <p:nvSpPr>
          <p:cNvPr id="34" name="Shape 3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5" name="Text 3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 8, Fig. 4(b) and Algorithm 1</a:t>
            </a:r>
            <a:endParaRPr lang="en-US" sz="1050" dirty="0"/>
          </a:p>
        </p:txBody>
      </p:sp>
      <p:sp>
        <p:nvSpPr>
          <p:cNvPr id="36" name="Text 3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PA-small-star의 출력 관계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입력에서 작은 이웃과 중심을 local minimum에 붙이고 local minimum을 global minimum에 잇는다</a:t>
            </a:r>
            <a:endParaRPr lang="en-US" sz="1900" dirty="0"/>
          </a:p>
        </p:txBody>
      </p:sp>
      <p:sp>
        <p:nvSpPr>
          <p:cNvPr id="4" name="neighborhood-input-heading"/>
          <p:cNvSpPr txBox="1"/>
          <p:nvPr/>
        </p:nvSpPr>
        <p:spPr>
          <a:xfrm>
            <a:off x="660400" y="2082800"/>
            <a:ext cx="6350000" cy="304800"/>
          </a:xfrm>
          <a:prstGeom prst="rect">
            <a:avLst/>
          </a:prstGeom>
          <a:noFill/>
          <a:ln/>
        </p:spPr>
        <p:txBody>
          <a:bodyPr wrap="square" lIns="0" tIns="0" rIns="0" bIns="0" rtlCol="0" anchor="t"/>
          <a:lstStyle/>
          <a:p>
            <a:pPr algn="l" indent="0" marL="0">
              <a:lnSpc>
                <a:spcPct val="120000"/>
              </a:lnSpc>
              <a:buNone/>
            </a:pPr>
            <a:r>
              <a:rPr lang="en-US" sz="1650" b="1" dirty="0">
                <a:solidFill>
                  <a:srgbClr val="0D685C"/>
                </a:solidFill>
                <a:latin typeface="AppleGothic" pitchFamily="34" charset="0"/>
                <a:ea typeface="AppleGothic" pitchFamily="34" charset="-122"/>
                <a:cs typeface="AppleGothic" pitchFamily="34" charset="-120"/>
              </a:rPr>
              <a:t>입력 이웃</a:t>
            </a:r>
            <a:endParaRPr lang="en-US" sz="1650" dirty="0"/>
          </a:p>
        </p:txBody>
      </p:sp>
      <p:sp>
        <p:nvSpPr>
          <p:cNvPr id="5" name="neighborhood-output-heading"/>
          <p:cNvSpPr txBox="1"/>
          <p:nvPr/>
        </p:nvSpPr>
        <p:spPr>
          <a:xfrm>
            <a:off x="7493000" y="2082800"/>
            <a:ext cx="4038600" cy="304800"/>
          </a:xfrm>
          <a:prstGeom prst="rect">
            <a:avLst/>
          </a:prstGeom>
          <a:noFill/>
          <a:ln/>
        </p:spPr>
        <p:txBody>
          <a:bodyPr wrap="square" lIns="0" tIns="0" rIns="0" bIns="0" rtlCol="0" anchor="t"/>
          <a:lstStyle/>
          <a:p>
            <a:pPr algn="l" indent="0" marL="0">
              <a:lnSpc>
                <a:spcPct val="120000"/>
              </a:lnSpc>
              <a:buNone/>
            </a:pPr>
            <a:r>
              <a:rPr lang="en-US" sz="1650" b="1" dirty="0">
                <a:solidFill>
                  <a:srgbClr val="0D685C"/>
                </a:solidFill>
                <a:latin typeface="AppleGothic" pitchFamily="34" charset="0"/>
                <a:ea typeface="AppleGothic" pitchFamily="34" charset="-122"/>
                <a:cs typeface="AppleGothic" pitchFamily="34" charset="-120"/>
              </a:rPr>
              <a:t>출력 관계</a:t>
            </a:r>
            <a:endParaRPr lang="en-US" sz="1650" dirty="0"/>
          </a:p>
        </p:txBody>
      </p:sp>
      <p:sp>
        <p:nvSpPr>
          <p:cNvPr id="6" name="neighborhood-edge-n7-n1"/>
          <p:cNvSpPr/>
          <p:nvPr/>
        </p:nvSpPr>
        <p:spPr>
          <a:xfrm>
            <a:off x="3810000" y="2997200"/>
            <a:ext cx="0" cy="1346200"/>
          </a:xfrm>
          <a:prstGeom prst="line">
            <a:avLst/>
          </a:prstGeom>
          <a:noFill/>
          <a:ln w="12700">
            <a:solidFill>
              <a:srgbClr val="C9D8D4"/>
            </a:solidFill>
            <a:prstDash val="solid"/>
            <a:headEnd type="none"/>
            <a:tailEnd type="none"/>
          </a:ln>
        </p:spPr>
        <p:txBody>
          <a:bodyPr/>
          <a:lstStyle/>
          <a:p>
            <a:endParaRPr lang="ko-KR"/>
          </a:p>
        </p:txBody>
      </p:sp>
      <p:sp>
        <p:nvSpPr>
          <p:cNvPr id="7" name="neighborhood-edge-n7-n2"/>
          <p:cNvSpPr/>
          <p:nvPr/>
        </p:nvSpPr>
        <p:spPr>
          <a:xfrm flipV="1">
            <a:off x="3810000" y="3505200"/>
            <a:ext cx="1524000" cy="838200"/>
          </a:xfrm>
          <a:prstGeom prst="line">
            <a:avLst/>
          </a:prstGeom>
          <a:noFill/>
          <a:ln w="12700">
            <a:solidFill>
              <a:srgbClr val="C9D8D4"/>
            </a:solidFill>
            <a:prstDash val="solid"/>
            <a:headEnd type="none"/>
            <a:tailEnd type="none"/>
          </a:ln>
        </p:spPr>
        <p:txBody>
          <a:bodyPr/>
          <a:lstStyle/>
          <a:p>
            <a:endParaRPr lang="ko-KR"/>
          </a:p>
        </p:txBody>
      </p:sp>
      <p:sp>
        <p:nvSpPr>
          <p:cNvPr id="8" name="neighborhood-edge-n7-n4"/>
          <p:cNvSpPr/>
          <p:nvPr/>
        </p:nvSpPr>
        <p:spPr>
          <a:xfrm>
            <a:off x="3810000" y="4343400"/>
            <a:ext cx="1778000" cy="660400"/>
          </a:xfrm>
          <a:prstGeom prst="line">
            <a:avLst/>
          </a:prstGeom>
          <a:noFill/>
          <a:ln w="12700">
            <a:solidFill>
              <a:srgbClr val="C9D8D4"/>
            </a:solidFill>
            <a:prstDash val="solid"/>
            <a:headEnd type="none"/>
            <a:tailEnd type="none"/>
          </a:ln>
        </p:spPr>
        <p:txBody>
          <a:bodyPr/>
          <a:lstStyle/>
          <a:p>
            <a:endParaRPr lang="ko-KR"/>
          </a:p>
        </p:txBody>
      </p:sp>
      <p:sp>
        <p:nvSpPr>
          <p:cNvPr id="9" name="neighborhood-edge-n7-n8"/>
          <p:cNvSpPr/>
          <p:nvPr/>
        </p:nvSpPr>
        <p:spPr>
          <a:xfrm flipV="1">
            <a:off x="3810000" y="4343400"/>
            <a:ext cx="0" cy="1447800"/>
          </a:xfrm>
          <a:prstGeom prst="line">
            <a:avLst/>
          </a:prstGeom>
          <a:noFill/>
          <a:ln w="12700">
            <a:solidFill>
              <a:srgbClr val="C9D8D4"/>
            </a:solidFill>
            <a:prstDash val="solid"/>
            <a:headEnd type="none"/>
            <a:tailEnd type="none"/>
          </a:ln>
        </p:spPr>
        <p:txBody>
          <a:bodyPr/>
          <a:lstStyle/>
          <a:p>
            <a:endParaRPr lang="ko-KR"/>
          </a:p>
        </p:txBody>
      </p:sp>
      <p:sp>
        <p:nvSpPr>
          <p:cNvPr id="10" name="neighborhood-edge-n7-n9"/>
          <p:cNvSpPr/>
          <p:nvPr/>
        </p:nvSpPr>
        <p:spPr>
          <a:xfrm flipV="1">
            <a:off x="2032000" y="4343400"/>
            <a:ext cx="1778000" cy="660400"/>
          </a:xfrm>
          <a:prstGeom prst="line">
            <a:avLst/>
          </a:prstGeom>
          <a:noFill/>
          <a:ln w="12700">
            <a:solidFill>
              <a:srgbClr val="C9D8D4"/>
            </a:solidFill>
            <a:prstDash val="solid"/>
            <a:headEnd type="none"/>
            <a:tailEnd type="none"/>
          </a:ln>
        </p:spPr>
        <p:txBody>
          <a:bodyPr/>
          <a:lstStyle/>
          <a:p>
            <a:endParaRPr lang="ko-KR"/>
          </a:p>
        </p:txBody>
      </p:sp>
      <p:sp>
        <p:nvSpPr>
          <p:cNvPr id="11" name="neighborhood-edge-n7-n10"/>
          <p:cNvSpPr/>
          <p:nvPr/>
        </p:nvSpPr>
        <p:spPr>
          <a:xfrm>
            <a:off x="2286000" y="3505200"/>
            <a:ext cx="1524000" cy="838200"/>
          </a:xfrm>
          <a:prstGeom prst="line">
            <a:avLst/>
          </a:prstGeom>
          <a:noFill/>
          <a:ln w="12700">
            <a:solidFill>
              <a:srgbClr val="C9D8D4"/>
            </a:solidFill>
            <a:prstDash val="solid"/>
            <a:headEnd type="none"/>
            <a:tailEnd type="none"/>
          </a:ln>
        </p:spPr>
        <p:txBody>
          <a:bodyPr/>
          <a:lstStyle/>
          <a:p>
            <a:endParaRPr lang="ko-KR"/>
          </a:p>
        </p:txBody>
      </p:sp>
      <p:sp>
        <p:nvSpPr>
          <p:cNvPr id="12" name="neighborhood-node-n7"/>
          <p:cNvSpPr/>
          <p:nvPr/>
        </p:nvSpPr>
        <p:spPr>
          <a:xfrm>
            <a:off x="3352800" y="3886200"/>
            <a:ext cx="914400" cy="9144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b="1" dirty="0">
                <a:solidFill>
                  <a:srgbClr val="173C37"/>
                </a:solidFill>
                <a:latin typeface="AppleGothic" pitchFamily="34" charset="0"/>
                <a:ea typeface="AppleGothic" pitchFamily="34" charset="-122"/>
                <a:cs typeface="AppleGothic" pitchFamily="34" charset="-120"/>
              </a:rPr>
              <a:t>7</a:t>
            </a:r>
            <a:endParaRPr lang="en-US" sz="1050" dirty="0"/>
          </a:p>
          <a:p>
            <a:pPr algn="ctr" indent="0" marL="0">
              <a:lnSpc>
                <a:spcPct val="88000"/>
              </a:lnSpc>
              <a:buNone/>
            </a:pPr>
            <a:r>
              <a:rPr lang="en-US" sz="1050" b="1"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3" name="neighborhood-node-n1"/>
          <p:cNvSpPr/>
          <p:nvPr/>
        </p:nvSpPr>
        <p:spPr>
          <a:xfrm>
            <a:off x="3403600" y="2590800"/>
            <a:ext cx="812800" cy="8128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1</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4" name="neighborhood-node-n2"/>
          <p:cNvSpPr/>
          <p:nvPr/>
        </p:nvSpPr>
        <p:spPr>
          <a:xfrm>
            <a:off x="4927600" y="3098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2</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5" name="neighborhood-node-n4"/>
          <p:cNvSpPr/>
          <p:nvPr/>
        </p:nvSpPr>
        <p:spPr>
          <a:xfrm>
            <a:off x="5181600" y="45974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4</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6" name="neighborhood-node-n8"/>
          <p:cNvSpPr/>
          <p:nvPr/>
        </p:nvSpPr>
        <p:spPr>
          <a:xfrm>
            <a:off x="3403600" y="5384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8</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7" name="neighborhood-node-n9"/>
          <p:cNvSpPr/>
          <p:nvPr/>
        </p:nvSpPr>
        <p:spPr>
          <a:xfrm>
            <a:off x="1625600" y="4597400"/>
            <a:ext cx="812800" cy="8128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9</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P1</a:t>
            </a:r>
            <a:endParaRPr lang="en-US" sz="1050" dirty="0"/>
          </a:p>
        </p:txBody>
      </p:sp>
      <p:sp>
        <p:nvSpPr>
          <p:cNvPr id="18" name="neighborhood-node-n10"/>
          <p:cNvSpPr/>
          <p:nvPr/>
        </p:nvSpPr>
        <p:spPr>
          <a:xfrm>
            <a:off x="1879600" y="3098800"/>
            <a:ext cx="812800" cy="8128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10</a:t>
            </a:r>
            <a:endParaRPr lang="en-US" sz="1050" dirty="0"/>
          </a:p>
          <a:p>
            <a:pPr algn="ctr" indent="0" marL="0">
              <a:lnSpc>
                <a:spcPct val="88000"/>
              </a:lnSpc>
              <a:buNone/>
            </a:pPr>
            <a:r>
              <a:rPr lang="en-US" sz="1050" dirty="0">
                <a:solidFill>
                  <a:srgbClr val="173C37"/>
                </a:solidFill>
                <a:latin typeface="AppleGothic" pitchFamily="34" charset="0"/>
                <a:ea typeface="AppleGothic" pitchFamily="34" charset="-122"/>
                <a:cs typeface="AppleGothic" pitchFamily="34" charset="-120"/>
              </a:rPr>
              <a:t>P2</a:t>
            </a:r>
            <a:endParaRPr lang="en-US" sz="1050" dirty="0"/>
          </a:p>
        </p:txBody>
      </p:sp>
      <p:sp>
        <p:nvSpPr>
          <p:cNvPr id="19" name="neighborhood-output-1-arrow"/>
          <p:cNvSpPr/>
          <p:nvPr/>
        </p:nvSpPr>
        <p:spPr>
          <a:xfrm>
            <a:off x="8229600" y="2984500"/>
            <a:ext cx="2209800" cy="0"/>
          </a:xfrm>
          <a:prstGeom prst="line">
            <a:avLst/>
          </a:prstGeom>
          <a:noFill/>
          <a:ln w="12700">
            <a:solidFill>
              <a:srgbClr val="0D685C"/>
            </a:solidFill>
            <a:prstDash val="solid"/>
            <a:headEnd type="none"/>
            <a:tailEnd type="triangle"/>
          </a:ln>
        </p:spPr>
        <p:txBody>
          <a:bodyPr/>
          <a:lstStyle/>
          <a:p>
            <a:endParaRPr lang="ko-KR"/>
          </a:p>
        </p:txBody>
      </p:sp>
      <p:sp>
        <p:nvSpPr>
          <p:cNvPr id="20" name="neighborhood-output-1-source"/>
          <p:cNvSpPr/>
          <p:nvPr/>
        </p:nvSpPr>
        <p:spPr>
          <a:xfrm>
            <a:off x="7645400" y="2692400"/>
            <a:ext cx="584200" cy="5842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150" b="1" dirty="0">
                <a:solidFill>
                  <a:srgbClr val="173C37"/>
                </a:solidFill>
                <a:latin typeface="AppleGothic" pitchFamily="34" charset="0"/>
                <a:ea typeface="AppleGothic" pitchFamily="34" charset="-122"/>
                <a:cs typeface="AppleGothic" pitchFamily="34" charset="-120"/>
              </a:rPr>
              <a:t>7</a:t>
            </a:r>
            <a:endParaRPr lang="en-US" sz="1150" dirty="0"/>
          </a:p>
          <a:p>
            <a:pPr algn="ctr" indent="0" marL="0">
              <a:lnSpc>
                <a:spcPct val="88000"/>
              </a:lnSpc>
              <a:buNone/>
            </a:pPr>
            <a:r>
              <a:rPr lang="en-US" sz="1150" b="1" dirty="0">
                <a:solidFill>
                  <a:srgbClr val="173C37"/>
                </a:solidFill>
                <a:latin typeface="AppleGothic" pitchFamily="34" charset="0"/>
                <a:ea typeface="AppleGothic" pitchFamily="34" charset="-122"/>
                <a:cs typeface="AppleGothic" pitchFamily="34" charset="-120"/>
              </a:rPr>
              <a:t>P1</a:t>
            </a:r>
            <a:endParaRPr lang="en-US" sz="1150" dirty="0"/>
          </a:p>
        </p:txBody>
      </p:sp>
      <p:sp>
        <p:nvSpPr>
          <p:cNvPr id="21" name="neighborhood-output-1-target"/>
          <p:cNvSpPr/>
          <p:nvPr/>
        </p:nvSpPr>
        <p:spPr>
          <a:xfrm>
            <a:off x="10439400" y="2692400"/>
            <a:ext cx="584200" cy="5842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1</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P1</a:t>
            </a:r>
            <a:endParaRPr lang="en-US" sz="1150" dirty="0"/>
          </a:p>
        </p:txBody>
      </p:sp>
      <p:sp>
        <p:nvSpPr>
          <p:cNvPr id="22" name="neighborhood-output-1-label"/>
          <p:cNvSpPr txBox="1"/>
          <p:nvPr/>
        </p:nvSpPr>
        <p:spPr>
          <a:xfrm>
            <a:off x="8445500" y="2641600"/>
            <a:ext cx="1778000" cy="254000"/>
          </a:xfrm>
          <a:prstGeom prst="rect">
            <a:avLst/>
          </a:prstGeom>
          <a:noFill/>
          <a:ln/>
        </p:spPr>
        <p:txBody>
          <a:bodyPr wrap="square" lIns="0" tIns="0" rIns="0" bIns="0" rtlCol="0" anchor="ctr"/>
          <a:lstStyle/>
          <a:p>
            <a:pPr algn="ctr" indent="0" marL="0">
              <a:lnSpc>
                <a:spcPct val="120000"/>
              </a:lnSpc>
              <a:buNone/>
            </a:pPr>
            <a:r>
              <a:rPr lang="en-US" sz="1300" b="1" dirty="0">
                <a:solidFill>
                  <a:srgbClr val="173C37"/>
                </a:solidFill>
                <a:latin typeface="AppleGothic" pitchFamily="34" charset="0"/>
                <a:ea typeface="AppleGothic" pitchFamily="34" charset="-122"/>
                <a:cs typeface="AppleGothic" pitchFamily="34" charset="-120"/>
              </a:rPr>
              <a:t>P1 local min</a:t>
            </a:r>
            <a:endParaRPr lang="en-US" sz="1300" dirty="0"/>
          </a:p>
        </p:txBody>
      </p:sp>
      <p:sp>
        <p:nvSpPr>
          <p:cNvPr id="23" name="neighborhood-output-2-arrow"/>
          <p:cNvSpPr/>
          <p:nvPr/>
        </p:nvSpPr>
        <p:spPr>
          <a:xfrm>
            <a:off x="8229600" y="3949700"/>
            <a:ext cx="2209800" cy="0"/>
          </a:xfrm>
          <a:prstGeom prst="line">
            <a:avLst/>
          </a:prstGeom>
          <a:noFill/>
          <a:ln w="12700">
            <a:solidFill>
              <a:srgbClr val="0D685C"/>
            </a:solidFill>
            <a:prstDash val="solid"/>
            <a:headEnd type="none"/>
            <a:tailEnd type="triangle"/>
          </a:ln>
        </p:spPr>
        <p:txBody>
          <a:bodyPr/>
          <a:lstStyle/>
          <a:p>
            <a:endParaRPr lang="ko-KR"/>
          </a:p>
        </p:txBody>
      </p:sp>
      <p:sp>
        <p:nvSpPr>
          <p:cNvPr id="24" name="neighborhood-output-2-source"/>
          <p:cNvSpPr/>
          <p:nvPr/>
        </p:nvSpPr>
        <p:spPr>
          <a:xfrm>
            <a:off x="7645400" y="3657600"/>
            <a:ext cx="584200" cy="5842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4</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P2</a:t>
            </a:r>
            <a:endParaRPr lang="en-US" sz="1150" dirty="0"/>
          </a:p>
        </p:txBody>
      </p:sp>
      <p:sp>
        <p:nvSpPr>
          <p:cNvPr id="25" name="neighborhood-output-2-target"/>
          <p:cNvSpPr/>
          <p:nvPr/>
        </p:nvSpPr>
        <p:spPr>
          <a:xfrm>
            <a:off x="10439400" y="3657600"/>
            <a:ext cx="584200" cy="5842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2</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P2</a:t>
            </a:r>
            <a:endParaRPr lang="en-US" sz="1150" dirty="0"/>
          </a:p>
        </p:txBody>
      </p:sp>
      <p:sp>
        <p:nvSpPr>
          <p:cNvPr id="26" name="neighborhood-output-2-label"/>
          <p:cNvSpPr txBox="1"/>
          <p:nvPr/>
        </p:nvSpPr>
        <p:spPr>
          <a:xfrm>
            <a:off x="8445500" y="3606800"/>
            <a:ext cx="1778000" cy="254000"/>
          </a:xfrm>
          <a:prstGeom prst="rect">
            <a:avLst/>
          </a:prstGeom>
          <a:noFill/>
          <a:ln/>
        </p:spPr>
        <p:txBody>
          <a:bodyPr wrap="square" lIns="0" tIns="0" rIns="0" bIns="0" rtlCol="0" anchor="ctr"/>
          <a:lstStyle/>
          <a:p>
            <a:pPr algn="ctr" indent="0" marL="0">
              <a:lnSpc>
                <a:spcPct val="120000"/>
              </a:lnSpc>
              <a:buNone/>
            </a:pPr>
            <a:r>
              <a:rPr lang="en-US" sz="1300" b="1" dirty="0">
                <a:solidFill>
                  <a:srgbClr val="173C37"/>
                </a:solidFill>
                <a:latin typeface="AppleGothic" pitchFamily="34" charset="0"/>
                <a:ea typeface="AppleGothic" pitchFamily="34" charset="-122"/>
                <a:cs typeface="AppleGothic" pitchFamily="34" charset="-120"/>
              </a:rPr>
              <a:t>P2 local min</a:t>
            </a:r>
            <a:endParaRPr lang="en-US" sz="1300" dirty="0"/>
          </a:p>
        </p:txBody>
      </p:sp>
      <p:sp>
        <p:nvSpPr>
          <p:cNvPr id="27" name="neighborhood-output-3-arrow"/>
          <p:cNvSpPr/>
          <p:nvPr/>
        </p:nvSpPr>
        <p:spPr>
          <a:xfrm>
            <a:off x="8229600" y="4914900"/>
            <a:ext cx="2209800" cy="0"/>
          </a:xfrm>
          <a:prstGeom prst="line">
            <a:avLst/>
          </a:prstGeom>
          <a:noFill/>
          <a:ln w="12700">
            <a:solidFill>
              <a:srgbClr val="0D685C"/>
            </a:solidFill>
            <a:prstDash val="solid"/>
            <a:headEnd type="none"/>
            <a:tailEnd type="triangle"/>
          </a:ln>
        </p:spPr>
        <p:txBody>
          <a:bodyPr/>
          <a:lstStyle/>
          <a:p>
            <a:endParaRPr lang="ko-KR"/>
          </a:p>
        </p:txBody>
      </p:sp>
      <p:sp>
        <p:nvSpPr>
          <p:cNvPr id="28" name="neighborhood-output-3-source"/>
          <p:cNvSpPr/>
          <p:nvPr/>
        </p:nvSpPr>
        <p:spPr>
          <a:xfrm>
            <a:off x="7645400" y="4622800"/>
            <a:ext cx="584200" cy="584200"/>
          </a:xfrm>
          <a:prstGeom prst="ellipse">
            <a:avLst/>
          </a:prstGeom>
          <a:solidFill>
            <a:srgbClr val="F2D9CC"/>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2</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P2</a:t>
            </a:r>
            <a:endParaRPr lang="en-US" sz="1150" dirty="0"/>
          </a:p>
        </p:txBody>
      </p:sp>
      <p:sp>
        <p:nvSpPr>
          <p:cNvPr id="29" name="neighborhood-output-3-target"/>
          <p:cNvSpPr/>
          <p:nvPr/>
        </p:nvSpPr>
        <p:spPr>
          <a:xfrm>
            <a:off x="10439400" y="4622800"/>
            <a:ext cx="584200" cy="584200"/>
          </a:xfrm>
          <a:prstGeom prst="ellipse">
            <a:avLst/>
          </a:prstGeom>
          <a:solidFill>
            <a:srgbClr val="D7ECE6"/>
          </a:solidFill>
          <a:ln>
            <a:solidFill>
              <a:srgbClr val="0D685C"/>
            </a:solidFill>
          </a:ln>
        </p:spPr>
        <p:txBody>
          <a:bodyPr wrap="square" lIns="12700" tIns="12700" rIns="12700" bIns="12700" rtlCol="0" anchor="ctr"/>
          <a:lstStyle/>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1</a:t>
            </a:r>
            <a:endParaRPr lang="en-US" sz="1150" dirty="0"/>
          </a:p>
          <a:p>
            <a:pPr algn="ctr" indent="0" marL="0">
              <a:lnSpc>
                <a:spcPct val="88000"/>
              </a:lnSpc>
              <a:buNone/>
            </a:pPr>
            <a:r>
              <a:rPr lang="en-US" sz="1150" dirty="0">
                <a:solidFill>
                  <a:srgbClr val="173C37"/>
                </a:solidFill>
                <a:latin typeface="AppleGothic" pitchFamily="34" charset="0"/>
                <a:ea typeface="AppleGothic" pitchFamily="34" charset="-122"/>
                <a:cs typeface="AppleGothic" pitchFamily="34" charset="-120"/>
              </a:rPr>
              <a:t>P1</a:t>
            </a:r>
            <a:endParaRPr lang="en-US" sz="1150" dirty="0"/>
          </a:p>
        </p:txBody>
      </p:sp>
      <p:sp>
        <p:nvSpPr>
          <p:cNvPr id="30" name="neighborhood-output-3-label"/>
          <p:cNvSpPr txBox="1"/>
          <p:nvPr/>
        </p:nvSpPr>
        <p:spPr>
          <a:xfrm>
            <a:off x="8445500" y="4572000"/>
            <a:ext cx="1778000" cy="254000"/>
          </a:xfrm>
          <a:prstGeom prst="rect">
            <a:avLst/>
          </a:prstGeom>
          <a:noFill/>
          <a:ln/>
        </p:spPr>
        <p:txBody>
          <a:bodyPr wrap="square" lIns="0" tIns="0" rIns="0" bIns="0" rtlCol="0" anchor="ctr"/>
          <a:lstStyle/>
          <a:p>
            <a:pPr algn="ctr" indent="0" marL="0">
              <a:lnSpc>
                <a:spcPct val="120000"/>
              </a:lnSpc>
              <a:buNone/>
            </a:pPr>
            <a:r>
              <a:rPr lang="en-US" sz="1300" b="1" dirty="0">
                <a:solidFill>
                  <a:srgbClr val="173C37"/>
                </a:solidFill>
                <a:latin typeface="AppleGothic" pitchFamily="34" charset="0"/>
                <a:ea typeface="AppleGothic" pitchFamily="34" charset="-122"/>
                <a:cs typeface="AppleGothic" pitchFamily="34" charset="-120"/>
              </a:rPr>
              <a:t>local to global</a:t>
            </a:r>
            <a:endParaRPr lang="en-US" sz="1300" dirty="0"/>
          </a:p>
        </p:txBody>
      </p:sp>
      <p:sp>
        <p:nvSpPr>
          <p:cNvPr id="31" name="neighborhood-fact-1"/>
          <p:cNvSpPr txBox="1"/>
          <p:nvPr/>
        </p:nvSpPr>
        <p:spPr>
          <a:xfrm>
            <a:off x="7493000" y="5359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같은 Figure 4 입력</a:t>
            </a:r>
            <a:endParaRPr lang="en-US" sz="1350" dirty="0"/>
          </a:p>
        </p:txBody>
      </p:sp>
      <p:sp>
        <p:nvSpPr>
          <p:cNvPr id="32" name="neighborhood-fact-2"/>
          <p:cNvSpPr txBox="1"/>
          <p:nvPr/>
        </p:nvSpPr>
        <p:spPr>
          <a:xfrm>
            <a:off x="7493000" y="5613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Small∪center={1,2,4,7}</a:t>
            </a:r>
            <a:endParaRPr lang="en-US" sz="1350" dirty="0"/>
          </a:p>
        </p:txBody>
      </p:sp>
      <p:sp>
        <p:nvSpPr>
          <p:cNvPr id="33" name="neighborhood-fact-3"/>
          <p:cNvSpPr txBox="1"/>
          <p:nvPr/>
        </p:nvSpPr>
        <p:spPr>
          <a:xfrm>
            <a:off x="7493000" y="5867400"/>
            <a:ext cx="4038600" cy="241300"/>
          </a:xfrm>
          <a:prstGeom prst="rect">
            <a:avLst/>
          </a:prstGeom>
          <a:noFill/>
          <a:ln/>
        </p:spPr>
        <p:txBody>
          <a:bodyPr wrap="square" lIns="0" tIns="0" rIns="0" bIns="0" rtlCol="0" anchor="ctr"/>
          <a:lstStyle/>
          <a:p>
            <a:pPr algn="l" indent="0" marL="0">
              <a:lnSpc>
                <a:spcPct val="120000"/>
              </a:lnSpc>
              <a:buNone/>
            </a:pPr>
            <a:r>
              <a:rPr lang="en-US" sz="1350" dirty="0">
                <a:solidFill>
                  <a:srgbClr val="173C37"/>
                </a:solidFill>
                <a:latin typeface="AppleGothic" pitchFamily="34" charset="0"/>
                <a:ea typeface="AppleGothic" pitchFamily="34" charset="-122"/>
                <a:cs typeface="AppleGothic" pitchFamily="34" charset="-120"/>
              </a:rPr>
              <a:t>7→1, 4→2, 2→1</a:t>
            </a:r>
            <a:endParaRPr lang="en-US" sz="1350" dirty="0"/>
          </a:p>
        </p:txBody>
      </p:sp>
      <p:sp>
        <p:nvSpPr>
          <p:cNvPr id="34" name="Shape 3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5" name="Text 3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 8, Fig. 4(c) and Algorithm 2</a:t>
            </a:r>
            <a:endParaRPr lang="en-US" sz="1050" dirty="0"/>
          </a:p>
        </p:txBody>
      </p:sp>
      <p:sp>
        <p:nvSpPr>
          <p:cNvPr id="36" name="Text 3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Partition별 LocalCC가 가능한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partition 정점은 local minimum에 연결되고 local minimum은 global minimum 경로를 가진다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Partitioned graph</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PA-star 반복 뒤 connectivity 유지</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Subgraph P1</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P1 incident edge로 LocalCC</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Subgraph P2</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P2 incident edge로 LocalCC</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대표 map 결합</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겹친 global minimum ID를 공유</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전체 CC ID</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정점을 component minimum에 매핑</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8-9, Algorithm 3 and Lemma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PACC-base의 반복과 종료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partition-aware star 연산을 반복한 뒤 변경이 멈추면 CC-Computation을 한 번 수행한다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 = 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원래 undirected edge set으로 시작</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PA-large-star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큰 이웃을 partition local minimum으로 재연결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PA-small-star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이웃과 중심을 정리하고 local minimum을 연결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Convergence 검사</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round에 edge 추가 또는 삭제가 없으면 반복 종료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CC-Computation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Partition별 edge-induced subgraph에서 LocalCC</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PACC 논문은 종료 조건을 주지만 PACC 자체의 점근 round 상한은 제시하지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 9, Algorithm 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Edge filtering의 세 출력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 round에 필요한 edge와 이미 정착한 edge를 분리해 반복 입력을 줄인다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4356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분류 조건과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사용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star 연산이 바꿀 수 있는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분산 round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partition 안에서 독립 처리 가능한 forest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누적 보관 후 final union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이미 완성된 minimum-center star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누적 보관 후 final union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 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#out이 τ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잔여 out에 LocalCC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Filtering은 in과 cc를 답에서 삭제하지 않고 다음 반복에서만 제외한다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10-12, Fig. 6 and Algorithms 5-7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보관 edge와 잔여 edge의 합류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반복에서 빠진 in과 cc는 final out과 다시 합쳐져 CC-Computation의 정확성을 유지한다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누적 in과 cc</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다음 round에서 제외하고 저장</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Final out</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반복 종료 또는 LocalCC 뒤 잔여 edge</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Final union</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out ∪ in ∪ cc를 다시 결합</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CC-Computation</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Partition subgraph별 LocalCC 실행</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10-12, Algorithm 5 and Fig. 6</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Sketching 1단계: chunk LocalCC</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서로 겹치지 않는 storage chunk마다 연결 요소를 구해 대표자 edge만 남긴다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Edge-disjoint chunk</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input edge를 정확히 하나의 E_i에 저장</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Chunk graph G_i</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E_i가 만드는 edge-induced subgraph 구성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LocalCC</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chunk를 병렬 처리해 component minimum r_i(u)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대표자 edge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u와 r_i(u)가 다를 때 (u, r_i(u))만 출력</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Reduced graph G'</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chunk 출력의 union으로 connectivity 유지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첫 단계는 network 통신 없이 chunk별로 병렬 실행하지만 대표자에 edge가 몰릴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12-13, Fig. 7 and Algorithm 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Sketching 2단계: localization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대표자에 집중된 큰 이웃을 partition별 가장 작은 anchor를 경유하도록 재배선한다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Reduced graph G'</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Chunk LocalCC 뒤 일부 대표자에 edge 집중</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Partition별 anchor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u의 큰 이웃 중 partition i의 최소 m_i⁺(u)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Anchor 유지</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m_i⁺(u)는 u와 직접 연결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나머지 재배선</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Edge (v,u)를 (v,m_i⁺(u))로 변경</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Sketch graph G″</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Connectivity를 유지하며 큰 neighbor list를 분산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Localization은 edge를 복제하지 않고 endpoint를 바꿔 연결성과 edge 수 상한을 지킨다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12-14, Fig. 7, Algorithm 8 and Lemma 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정확성 증명의 연결 고리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PACC는 graph 모양을 바꾸지만 connectivity와 representative 경로를 보존한다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PA-star 보존</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minimum 경유 path로 원래 connectivity 유지</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Sketch 보존</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Chunk CC와 localization이 component를 바꾸지 않음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Filtered forest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in은 forest이고 final in∪cc∪out도 forest</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Minimum 연결</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minimum마다 global minimum으로 가는 path 존재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독립 LocalCC</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subgraph가 같은 component representative를 복원</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정확성은 같은 edge를 유지해서가 아니라 같은 연결성과 minimum 경로를 유지해서 성립한다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13-14, Lemmas 2-4 and Theorem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간선 상한과 보장되지 않은 비용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Edge count 정리를 shuffle byte, peak RAM, 모든 reducer의 안전성으로 바꾸면 안 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434848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포함하지 않는 보장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PA-star edge 수 비증가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edge를 다른 edge로 변경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Map의 양방향 emit byte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edge ≤ |V|−1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PACC-ef의 CC-Computation forest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round peak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 ≤ min(|E|, C|V|)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Sketch output edge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 byte와 sort 임시공간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O(|V|/ρ+ρ)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Localization 뒤 큰 이웃 기대값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고확률 hash tail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Convergence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추가와 삭제가 없을 때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PACC의 점근 round 상한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 정리는 graph edge 수와 기대 부하를 다루며 실제 byte와 RAM은 구현 조건에 달려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14-16, Lemmas 5-9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Hadoop와 Spark 구현 선택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scalability는 edge 상한과 함께 combiner, external sort, HDFS 보관에 의존한다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플랫폼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PACC 구현 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Hadoop shuffle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Star Map이 edge를 양방향 emit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Combiner로 불필요한 이웃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Duplicate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Cycle에서 같은 edge가 반복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External-memory sort와 scan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Spark RDD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in과 cc를 끝까지 보유하면 memory 점유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out만 RDD, in과 cc는 HDFS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Spark grouping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groupByKey hash table은 대용량과 skew에 취약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partitionBy 뒤 external sort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PACC는 RAM을 없애지 않고 대형 grouping과 duplicate 처리를 외부 정렬로 넘긴다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16-18, Algorithms 9-10 and Implementation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조건과 데이터 규모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성능 배수는 2020년 20-node HDD cluster와 Hadoop 2.7.3, Spark 2.2.0 조건의 결과다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5000752"/>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machines, 각 6-core와 RAM 32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machine에 4×2 TB HDD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Framework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Hadoop 2.7.3, Spark 2.2.0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Container memory 7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 default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ρ=80, τ=20,000,000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분할 수·전환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HDFS load와 result write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End-to-end job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ClueWeb12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6,257,706,595 V, 71,746,553,402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Self-loop와 duplicate 사전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다른 cluster와 framework에서는 storage와 runtime 차이를 다시 측정해야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18-19, Table 2 and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기법의 실험 효과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Partitioning, filtering, sketching은 서로 다른 그래프 크기와 round 구간을 줄인다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261360"/>
                <a:gridCol w="3152648"/>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측정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적용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Reducer running-time 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iteration에서 best load balance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YahooWeb, Fig.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filtering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Round별 input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수정 edge lower bound에 근접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YahooWeb, Fig.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 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Twitter running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τ=2×10⁷에서 최저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설정, Fig. 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Sketching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Twitter 11.1, Friendster 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Dataset별 차이, Fig. 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Sketching reduction 11.1과 1.7은 dataset별 실험값이며 보편적인 압축 상수가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19-21, Figs. 9-12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Hadoop와 Spark 결과의 분리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ClueWeb12 성공은 Hadoop 결과이며 Spark에서는 모든 비교 알고리즘이 실패해 결과를 생략했다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370072"/>
                <a:gridCol w="271780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플랫폼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ClueWeb12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PACC 대 Alt-opt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Hadoop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PACC와 PACC-ef만 성공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2.9×-10.7× faster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Friendster에서 YahooWeb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알고리즘 실패, 결과 생략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graph에서 2.3×-8.8×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YahooWeb에서 Alt와 PowerGraph OOM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overhead가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PowerGraph 또는 Union-Find가 빠를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Scale-out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Twitter machine 수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 slope −0.74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Alt와 Alt-opt 약 −0.48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PACC는 20-node 실험에서 큰 graph에 잘 scale했지만 플랫폼별 최대 처리 규모는 달랐다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21-23, Figs. 13-17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PACC 결과의 적용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기대값, edge 수, 실험 speedup은 현재 hardware의 절대 memory와 runtime 보장이 아니다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23976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재사용 시 확인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2020 software stack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Hadoop 2.7.3, Spark 2.2.0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scheduler와 storage 재측정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 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neighbor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Tail concentration 미명세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Graph와 final forest 상한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Shuffle byte와 peak RAM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Platform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Hadoop만 ClueWeb12 성공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Spark 성공으로 일반화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문제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Undirected connected components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Triangle·최단 경로 자동 적용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PACC는 CC의 minimum-root forest에 의존하며 다른 문제로 자동 확장되지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14-24, Analyses through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PACC의 핵심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Component를 미리 나누지 않고 connectivity를 유지한 채 계산 작업을 partition별로 나눈다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Connectivity 유지</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Star와 sketch 재배선이 원래 component를 보존</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minimum 경유</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이웃을 partition anchor에 붙여 global minimum 집중 완화</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Settled edge 보관</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in과 cc를 반복에서 빼고 final union까지 유지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Forest와 subgraph</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partition이 global minimum path를 포함</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Independent LocalCC</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Subgraph별 결과를 같은 component ID로 복원</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PACC partition은 결과 경계가 아니라 reducer 편향과 반복 data를 줄이는 작업 기준이다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pp. 6-16 and p. 24, Proposed Method and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원문과 DOI, 저자가 공개한 구현 repository를 공개 경로로 확인할 수 있다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13105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식별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PLOS ONE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 BY 공개 논문 원문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Article e0229936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Publisher DOI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정식 논문 식별자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10.1371/journal.pone.0229936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 GitHub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저자가 공개한 구현 참고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kmudmlab/PACC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알고리즘과 실험 주장은 PLOS 원문을 기준으로 하고 code는 구현 자료로 구분한다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plos full article; doi article record; code repository root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PACC: 대규모 연결 요소 계산</dc:title>
  <dc:subject>PACC: Large scale connected component computation on Hadoop and Spark</dc:subject>
  <dc:creator>Research Seminars</dc:creator>
  <cp:lastModifiedBy>Research Seminars</cp:lastModifiedBy>
  <cp:revision>1</cp:revision>
  <dcterms:created xsi:type="dcterms:W3CDTF">2026-09-12T04:14:18Z</dcterms:created>
  <dcterms:modified xsi:type="dcterms:W3CDTF">2026-09-12T04:14:18Z</dcterms:modified>
</cp:coreProperties>
</file>
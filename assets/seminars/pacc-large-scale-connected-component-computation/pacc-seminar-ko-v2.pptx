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E63DD829-D389-475E-BD17-7E2F2B5882D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PACC: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대규모 연결 요소 계산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논문을 통해 대규모 무방향 그래프의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connected component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Connected component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계산의 출력은 각 정점을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가장 작은 정점에 대응시키는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partition-aware star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연산으로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이웃이 몰리는 현상을 줄이고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edge filtering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반복 입력을 줄이며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sketching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초기 그래프를 압축합니다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기법의 정확한 데이터 흐름과 논문이 증명한 범위를 분리해서 살펴보겠습니다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p. 1,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 |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Publisher DOI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DFA0F3D-1C2D-424F-8915-4E0772EC5EF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연결 요소 계산의 출력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정의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연결 요소를 내부 정점끼리 경로가 있고 외부 정점으로 가는 경로가 없는 정점 집합으로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계산 결과를 각 정점에서 도달 가능한 최소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대표자는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5, 3, 1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표현은 정점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서로 다르고 전체 순서가 있다는 전제를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마지막에 모든 정점에 이 대표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붙입니다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p. 5, Definitions 1-2 and Fig.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E15D38F-E252-4446-BA9F-AA93DAF6302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병목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connected 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세 비용을 함께 봐야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많으면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MapReduce job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준비와 저장소 입출력이 반복됩니다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Intermediate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많으면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비용이 커집니다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별 모양으로 수렴하면 최소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정점의 이웃이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모여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last 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느려질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partition-aware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edge filtering, sketching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서로 다른 병목에 대응시킵니다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세 효과를 하나의 메모리 보장으로 합쳐 설명하면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4-7, Related Work and Proposed Method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333283A-1642-4942-9DF7-714EE070DA4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Hash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계열과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alternating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관련연구 비교입니다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PACC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Hash-Greater-to-Min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O(log |V|) round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보장이 있다고 인용하고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Hash-to-Min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그 보장이 없지만 실무상 더 빠르다고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hash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 모두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배를 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intermediate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 수 있다고 서술합니다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Alternating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intermediate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입력 이하로 유지하지만 별 모양 수렴 과정에서 중심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Alt-opt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고차 정점 복제로 분산을 시도하지만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수가 늘 수 있고 편향이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주장은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관련연구 요약과 실험 비교 범위입니다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4-6, Related Work and Preliminaries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26320D5-A1C6-443B-8A3B-42F72620BBF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Alternating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last reducer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Alternating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large-star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small-star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이웃을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 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방향으로 재연결합니다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반복하면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connected 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 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중심으로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MapReduce 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 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이웃을 모으므로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크면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 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neighbor list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마지막까지 남아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running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결정하는 현상을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curse of the last 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바로 모으는 대신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 local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경유시킵니다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5-7, Fig.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E7829DA-E54C-432B-A835-5BB59190BC1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PACC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파이프라인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계열의 포함 관계를 먼저 고정하겠습니다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PACC-base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CC-Computation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PACC-ef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여기에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filtering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입력 앞에 두 단계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sketching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추가합니다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Partitioning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PA-large-star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PA-small-star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번갈아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Filtering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답에서 버리지 않고 누적한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out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함께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CC-Computation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Sketching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유지하는 더 작은 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6-13, Fig. 2 and Algorithms 4-8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C23CBF-D9CF-4E7F-8AD6-161EBEFE317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Hash partition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작업 라벨이다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hash function ξ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각 정점을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하나에 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connected 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미리 아는 분할이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정점 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존재할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local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잇는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CC-Computation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undirected edge (u,v)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endpoint 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 ξ(u)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받는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 집합 자체가 아니라 그 정점에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incident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edge-induced subgraph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끼리 정점을 공유할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7-9, Algorithms 1-3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42907BB-632A-4566-AE27-9BC368B3FCF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PA-star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연산의 기호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Γ⁻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중심보다 작은 이웃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Γ⁺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큰 이웃입니다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m(u)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중심과 모든 이웃을 합친 집합의 최소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m_i(u)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집합을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제한했을 때의 최소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PA-large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큰 이웃을 담당하고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PA-small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작은 이웃과 중심을 담당하면서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5 and 7-8, Fig.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225A0FB-8EC3-4CDE-8679-FFB62711EC7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 7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제공하는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neighborhood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정확히 적었습니다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화면의 여섯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undirected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 예제에서 사용하는 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1, 7, 9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partition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2, 4, 8, 10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정의는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 index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ρ−1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쓰지만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표기는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Node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작은 이웃은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1, 2, 4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큰 이웃은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8, 9, 10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Global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그래프의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 화면에서 추정하지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p. 8, Fig. 4(a)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E4C0935-7847-4480-9258-8566D30BC44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PA-large-star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출력 관계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PA-large-star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큰 이웃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8, 9, 10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Partition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큰 이웃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minimum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Partition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큰 이웃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minimum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minimum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바로 몰리지 않는 것이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partition-aware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재배선의 핵심입니다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이전 화면의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PA-large-star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적용한 출력 관계입니다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PA-small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화면의 결과를 이어서 적용한 중간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p. 8, Fig. 4(b)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4D603D8-56DE-4675-8F64-DF3553E576B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PA-small-star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출력 관계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PA-small-star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입력에서 작은 이웃과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 7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자신을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Node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 1 local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Node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 2 local minimum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 minimum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minimum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연결됩니다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가는 관계가 있어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대표자 경로를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화면도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PA-large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 다음 상태가 아니라 동일 입력에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PA-small-star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적용한 독립 설명입니다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p. 8, Fig. 4(c) and Algorithm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1115D6C-D060-45CD-B6CE-0556D04B585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Partition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가능한 이유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끝나면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정점들은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연결되고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local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연결됩니다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CC-Computation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(u,v)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endpoint 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ξ(u)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edge-induced subgraph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Subgraph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정점을 공유할 수 있지만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정점이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Union-Find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독립 실행한 뒤 대표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결합하면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복원할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8-9, Algorithm 3 and Lemma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C49CDCE-F2E7-42A1-A8DE-AD9ADF9ACFA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PACC-base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반복과 종료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PACC-base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초기화합니다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PA-large-star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PA-small-star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순서대로 실행한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추가 또는 삭제가 있었는지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변경이 없을 때까지 반복하고 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CC-Computation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조건을 의사코드에 명시하지만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O(log |V|)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정리한 별도 점근 상한은 제시하지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Hash-Greater-to-Min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관련연구 보장을 이 알고리즘에 옮기면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p. 9, Algorithm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BFBCF81-1852-4E73-A414-7044AB5249F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Edge filtering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출력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PACC-ef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out, in, 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 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계속 처리할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정착해 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forest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더 이상 바뀌지 않는 완성된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분산 저장소에 누적됩니다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Out 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 τ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이하이면 반복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MapReduce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잔여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single-machine LocalCC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CC-Computation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누적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in, 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10-12, Fig. 6 and Algorithms 5-7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E9FE797-1747-4192-9999-3785C83F54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잔여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filtering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보존 관계를 데이터 흐름으로 확인하겠습니다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다음 반복의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빠지지만 분산 저장소에 누적됩니다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반복이 끝난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out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정리한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다른 입력 경로입니다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마지막에는 두 경로를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 union in union 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결합하고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CC-Computation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filtered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삭제했다고 표현하면 정답 복원에 쓰이는 경로를 놓치게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Threshold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전환은 잔여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처리 방식을 바꿀 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distributed computation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없애지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10-12, Algorithm 5 and Fig.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D0C1CC9-E1DC-4C81-A98F-76D0D273A1C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Sketching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chunk LocalCC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sketching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storage chunk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정확히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chunk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들어가므로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chunk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끼리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겹치지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chunk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edge-induced subgraph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실행하고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정점을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chunk 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최소 대표자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r_i(u)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잇는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출력합니다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단계는 논문에서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communication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 병렬 수행된다고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수는 줄지만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chunk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대표자가 같은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모이면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reduced graph G'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skew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두 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12-13, Fig. 7 and Algorithm 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122E581-6C75-40DB-8478-409F532D05E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Sketching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localization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Chunk LocalCC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적용하면 작은 대표자에 많은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 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큰 이웃 중 최소인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m_i⁺(u)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anchor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Anchor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직접 연결한 채로 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나머지 큰 이웃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향하던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anchor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anchor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거쳐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도달하므로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유지됩니다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연산은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새로 복제하지 않고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12-14, Fig. 7, Algorithm 8 and Lemma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BF003E6-97B5-486F-BF60-682A6E8A0D1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정확성 증명의 연결 고리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Lemma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PA-large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PA-small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끊지 않는다고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Lemma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chunk LocalCC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sketch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원본과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connected 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가진다고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Filtering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종료 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in, cc, out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각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minimum root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나타냅니다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 subgraph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포함하므로 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같은 대표자를 복원합니다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13-14, Lemmas 2-4 and Theorem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98BF32D-A575-459A-8F76-984CE0C6EA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간선 상한과 보장되지 않은 비용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Lemma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연산이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복제하지 않아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늘리지 않는다고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Lemma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PACC-ef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CC-Computation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|V|−1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Lemma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sketch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|E|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C|V|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작은 값 이하임을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Lemma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큰 이웃 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O(|V|/ρ+ρ)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결과들은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양방향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emit, duplicate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제거 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shuffle, external sort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임시공간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peak RAM, hash tail concentration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제한하지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14-16, Lemmas 5-9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B3A9BC8-9F62-451A-AEB8-051A3869C6F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Hadoop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 선택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알고리즘의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edge-count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결과만으로 구현이 끝나지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Hadoop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PA-large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PA-small 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양방향으로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Combiner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필요 없는 이웃을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전에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Cycle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생기는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duplicate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hash table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external-memory sort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제거합니다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Spark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RDD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유지하고 누적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HDFS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Neighbor grouping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groupByKey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partitionBy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external sort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사용하지 않는다고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16-18, Algorithms 9-10 and Implementation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180A6ED-D8B2-4038-A0FD-4F72E4ABD98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조건과 데이터 규모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구성됩니다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6-core 2.40 GHz CPU, RAM 32 GB, 2 TB HDD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개를 가집니다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Hadoop 2.7.3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Spark 2.2.0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container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 GB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PACC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 80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천만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Running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HDFS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읽고 결과를 쓰는 시간을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가장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ClueWeb12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62.6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억 정점과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717.5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duplicate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사전에 제거했습니다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18-19, Table 2 and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9FA88B-F825-41F4-9112-E8D0723DC7A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기법의 실험 효과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YahooWeb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reducer running-time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분포에서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iteration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가장 좋은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load balance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filtering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 input 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수는 수정된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가깝게 줄어듭니다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Twitter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최적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실험에서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2×10⁷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sketching reduction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Twitter 11.1, Friendster 1.7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크게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결과는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 묶어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19-21, Figs. 9-12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7C6D96-CF13-48D6-A2C2-AC8DABAFC6C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Hadoop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결과의 분리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Hadoop Figure 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Alt-opt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Friendster 2.9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YahooWeb 10.7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배까지 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ClueWeb12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처리는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PACC-ef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성공합니다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Spark Figure 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ClueWeb12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모든 알고리즘이 실패해 해당 결과를 생략했습니다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 시험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Alt-opt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 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 job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준비 비용 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single-machine Union-Find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빠를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Hadoop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성공을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성공으로 확대하면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21-23, Figs. 13-17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3332A2B-3CDA-4966-B09F-3310434DF83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PACC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결과의 적용 한계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HDD cluster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Hash partition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Lemma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기대값이며 구체적인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independence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high-probability tail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Edge-count lemma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 byte, disk spill, peak 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상한이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ClueWeb12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성공은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Hadoop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모두 실패했습니다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정확성 증명은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undirected connected 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minimum-root forest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구조에 의존합니다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Triangle enumeration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shortest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filtering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논리를 자동으로 적용할 근거는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14-24, Analyses through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28C2D56-0484-41BA-B92B-EFF575A9305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PACC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 흐름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핵심을 한 흐름으로 정리하겠습니다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변환은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Partition local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경유해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minimum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하나로 바로 집중되는 현상을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Edge filtering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이미 정착한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제외하지만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union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보관합니다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종료 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overlapping edge-induced subgraph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정점이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independent LocalCC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 representative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복원합니다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pp. 6-16 and p. 24, Proposed Method and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B9FFE37-A428-4EBD-B98F-48A21E49494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article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 BY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공개된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 논문 출처입니다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정식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article 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연결됩니다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PACC GitHub repository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논문이 공개한 구현 자료입니다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자료의 알고리즘 정의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lemma,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원문을 기준으로 정리했고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repository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논문 주장 근거의 대체물로 사용하지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| full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PLOS ONE open-access article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https://journals.plos.org/plosone/article?id=10.1371/journal.pone.0229936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 |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Publisher DOI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https://doi.org/10.1371/journal.pone.0229936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| repository root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PACC source-code repository cited by the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https://github.com/kmudmlab/PACC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22744AE-D950-44B8-85F4-3A661F4FD8B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PACC: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대규모 연결 요소 계산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PACC: Large scale connected component computation on Hadoop and Spark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Ha-Myung Park, Namyong Park, Sung-Hyon Myaeng, U Kang (2020)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Partition-aware star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연산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edge filtering, sketching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분산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CC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병목을 줄이는 방법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p. 1, Abstract; doi article record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연결 요소 계산의 출력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정점은 도달 가능한 정점 중 가장 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component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대표자로 받는다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131000"/>
                <a:gridCol w="271764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Connected component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{5, 11}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5→5, 11→5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{3, 6, 12}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3→3, 6→3, 12→3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{1, 2, 4, 7, 8, 9, 10}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정점→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유일한 전체 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component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식별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PACC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답은 임의 그룹 이름이 아니라 각 정점의 최소 도달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p. 5, Definitions 1-2 and Fig.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세 병목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라운드 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중간 간선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reducer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편향은 서로 다른 비용이며 한 지표로 합칠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13100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병목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발생 원인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시스템 영향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많은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반복마다 일부 연결 정보만 전파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Job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준비와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HDFS I/O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intermediate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이웃 집합 또는 복제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Shuffle, disk, network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Last reducer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정점에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소수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reducer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전체 시간을 지배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PACC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Partition, filtering, sketching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비용을 다른 기법으로 완화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빠른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알고리즘은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뿐 아니라 이동하는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reducer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부하도 함께 줄여야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4-7, Related Work and Proposed Method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Hash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계열과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alternating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PACC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보장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실무 속도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intermediate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크기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load balance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tradeoff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동기로 삼는다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391356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소개한 장점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지적한 한계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Hash-Greater-to-Min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O(log |V|) round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원본의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배를 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intermediate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Hash-to-Min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관련연구에서 실무상 더 빠름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Log round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 없음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intermediate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Alternating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 intermediate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입력 이하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중심으로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몰림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Alt-opt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고차 정점을 복제해 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 가능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편향 잔존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Hash-Greater-to-Min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O(log |V|)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PACC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수렴 정리가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4-6, Related Work and Preliminaries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Alternating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last reducer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연산이 반복되면 많은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component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최소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endpoint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공유한다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 연결 그래프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key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reducer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Star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연산 반복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큰 이웃과 작은 이웃을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minimum ID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쪽으로 재연결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그래프 수렴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Component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많은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최소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공유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Reducer key=min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reducer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거대한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neighbor list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처리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 지연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reducer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끝나도 마지막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reducer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기다림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수가 작아도 한 최소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-ID key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neighbor list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크면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끝나지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5-7, Fig.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PACC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파이프라인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PACC-base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partitioning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computation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filtering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sketching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단계적으로 더한다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 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Undirected graph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중복과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self-loop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제거한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set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Sketching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Chunk LocalCC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localization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초기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수를 축소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Partitioning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PA-large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PA-small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반복해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partition-aware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 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filtering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누적 보관할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in, cc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분리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CC-Computation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edge-induced subgraph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LocalCC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PACC-base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두 핵심 단계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PACC-ef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filtering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추가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PACC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sketching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 포함한다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6-13, Fig. 2 and Algorithms 4-8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Hash partition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작업 라벨이다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ξ(u)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connected component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미리 자르지 않고 정점을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ρ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작업 그룹에 배정한다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1310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오해 방지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ξ(u)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hash partition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크기 구간이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Component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Cross-partition 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연결성 보존에 사용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경계가 물리적 단절이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dispatch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(u,v), u&gt;v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ξ(u)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보냄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Edge-induced subgraph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겹칠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답의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component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연산과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LocalCC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부하를 나누는 기준이다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7-9, Algorithms 1-3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PA-star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연산의 기호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Global minimum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minimum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구분하면 두 연산의 재배선이 보인다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52178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Node 7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Γ⁻(u)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작은 이웃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{1, 2, 4}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Γ⁺(u)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큰 이웃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{8, 9, 10}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m(u)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모든 이웃의 최소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m(7)=1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m_i(u)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Partition 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minimum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m₁(7)=1, m₂(7)=2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ξ(u)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partition label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ξ(7)=1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PA-star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모든 이웃을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m(u)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붙이지 않고 먼저 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ξ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m_i(u)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사용한다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5 and 7-8, Fig.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4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 7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Node 7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neighborhood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나타내며 전체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 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재현한 그림이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neighborhood-input-heading"/>
          <p:cNvSpPr/>
          <p:nvPr/>
        </p:nvSpPr>
        <p:spPr>
          <a:xfrm>
            <a:off x="660240" y="2082960"/>
            <a:ext cx="63496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6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이웃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neighborhood-output-heading"/>
          <p:cNvSpPr/>
          <p:nvPr/>
        </p:nvSpPr>
        <p:spPr>
          <a:xfrm>
            <a:off x="7493040" y="2082960"/>
            <a:ext cx="40381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6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 관계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neighborhood-edge-n7-n1"/>
          <p:cNvSpPr/>
          <p:nvPr/>
        </p:nvSpPr>
        <p:spPr>
          <a:xfrm>
            <a:off x="3809880" y="2997000"/>
            <a:ext cx="360" cy="134640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neighborhood-edge-n7-n2"/>
          <p:cNvSpPr/>
          <p:nvPr/>
        </p:nvSpPr>
        <p:spPr>
          <a:xfrm flipV="1">
            <a:off x="3809880" y="3504960"/>
            <a:ext cx="1523880" cy="83844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neighborhood-edge-n7-n4"/>
          <p:cNvSpPr/>
          <p:nvPr/>
        </p:nvSpPr>
        <p:spPr>
          <a:xfrm>
            <a:off x="3809880" y="4343400"/>
            <a:ext cx="1778040" cy="66024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neighborhood-edge-n7-n8"/>
          <p:cNvSpPr/>
          <p:nvPr/>
        </p:nvSpPr>
        <p:spPr>
          <a:xfrm flipV="1">
            <a:off x="3809880" y="4343400"/>
            <a:ext cx="360" cy="14475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neighborhood-edge-n7-n9"/>
          <p:cNvSpPr/>
          <p:nvPr/>
        </p:nvSpPr>
        <p:spPr>
          <a:xfrm flipV="1">
            <a:off x="2031840" y="4343400"/>
            <a:ext cx="1778040" cy="66024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neighborhood-edge-n7-n10"/>
          <p:cNvSpPr/>
          <p:nvPr/>
        </p:nvSpPr>
        <p:spPr>
          <a:xfrm>
            <a:off x="2286000" y="3504960"/>
            <a:ext cx="1523880" cy="83844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neighborhood-node-n7"/>
          <p:cNvSpPr/>
          <p:nvPr/>
        </p:nvSpPr>
        <p:spPr>
          <a:xfrm>
            <a:off x="3352680" y="3886200"/>
            <a:ext cx="914040" cy="91404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neighborhood-node-n1"/>
          <p:cNvSpPr/>
          <p:nvPr/>
        </p:nvSpPr>
        <p:spPr>
          <a:xfrm>
            <a:off x="3403440" y="2590920"/>
            <a:ext cx="812520" cy="81252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neighborhood-node-n2"/>
          <p:cNvSpPr/>
          <p:nvPr/>
        </p:nvSpPr>
        <p:spPr>
          <a:xfrm>
            <a:off x="4927680" y="3098880"/>
            <a:ext cx="812520" cy="8125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neighborhood-node-n4"/>
          <p:cNvSpPr/>
          <p:nvPr/>
        </p:nvSpPr>
        <p:spPr>
          <a:xfrm>
            <a:off x="5181480" y="4597560"/>
            <a:ext cx="812520" cy="8125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neighborhood-node-n8"/>
          <p:cNvSpPr/>
          <p:nvPr/>
        </p:nvSpPr>
        <p:spPr>
          <a:xfrm>
            <a:off x="3403440" y="5384880"/>
            <a:ext cx="812520" cy="8125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neighborhood-node-n9"/>
          <p:cNvSpPr/>
          <p:nvPr/>
        </p:nvSpPr>
        <p:spPr>
          <a:xfrm>
            <a:off x="1625760" y="4597560"/>
            <a:ext cx="812520" cy="81252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neighborhood-node-n10"/>
          <p:cNvSpPr/>
          <p:nvPr/>
        </p:nvSpPr>
        <p:spPr>
          <a:xfrm>
            <a:off x="1879560" y="3098880"/>
            <a:ext cx="812520" cy="8125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neighborhood-fact-1"/>
          <p:cNvSpPr/>
          <p:nvPr/>
        </p:nvSpPr>
        <p:spPr>
          <a:xfrm>
            <a:off x="7493040" y="5359320"/>
            <a:ext cx="4038120" cy="2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ρ=2; P1={1,7,9}, P2={2,4,8,10}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neighborhood-fact-2"/>
          <p:cNvSpPr/>
          <p:nvPr/>
        </p:nvSpPr>
        <p:spPr>
          <a:xfrm>
            <a:off x="7493040" y="5613480"/>
            <a:ext cx="4038120" cy="2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Γ⁻(7)={1,2,4}, Γ⁺(7)={8,9,10}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neighborhood-fact-3"/>
          <p:cNvSpPr/>
          <p:nvPr/>
        </p:nvSpPr>
        <p:spPr>
          <a:xfrm>
            <a:off x="7493040" y="5867280"/>
            <a:ext cx="4038120" cy="2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m(7)=1, m₁(7)=1, m₂(7)=2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2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2" name="Text 2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p. 8, Fig. 4(a)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PA-large-star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출력 관계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PA-large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PA-small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Figure 4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입력을 따로 설명하며 연속된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neighborhood-input-heading"/>
          <p:cNvSpPr/>
          <p:nvPr/>
        </p:nvSpPr>
        <p:spPr>
          <a:xfrm>
            <a:off x="660240" y="2082960"/>
            <a:ext cx="63496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6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이웃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neighborhood-output-heading"/>
          <p:cNvSpPr/>
          <p:nvPr/>
        </p:nvSpPr>
        <p:spPr>
          <a:xfrm>
            <a:off x="7493040" y="2082960"/>
            <a:ext cx="40381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6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 관계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neighborhood-edge-n7-n1"/>
          <p:cNvSpPr/>
          <p:nvPr/>
        </p:nvSpPr>
        <p:spPr>
          <a:xfrm>
            <a:off x="3809880" y="2997000"/>
            <a:ext cx="360" cy="134640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neighborhood-edge-n7-n2"/>
          <p:cNvSpPr/>
          <p:nvPr/>
        </p:nvSpPr>
        <p:spPr>
          <a:xfrm flipV="1">
            <a:off x="3809880" y="3504960"/>
            <a:ext cx="1523880" cy="83844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neighborhood-edge-n7-n4"/>
          <p:cNvSpPr/>
          <p:nvPr/>
        </p:nvSpPr>
        <p:spPr>
          <a:xfrm>
            <a:off x="3809880" y="4343400"/>
            <a:ext cx="1778040" cy="66024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neighborhood-edge-n7-n8"/>
          <p:cNvSpPr/>
          <p:nvPr/>
        </p:nvSpPr>
        <p:spPr>
          <a:xfrm flipV="1">
            <a:off x="3809880" y="4343400"/>
            <a:ext cx="360" cy="14475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2" name="neighborhood-edge-n7-n9"/>
          <p:cNvSpPr/>
          <p:nvPr/>
        </p:nvSpPr>
        <p:spPr>
          <a:xfrm flipV="1">
            <a:off x="2031840" y="4343400"/>
            <a:ext cx="1778040" cy="66024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neighborhood-edge-n7-n10"/>
          <p:cNvSpPr/>
          <p:nvPr/>
        </p:nvSpPr>
        <p:spPr>
          <a:xfrm>
            <a:off x="2286000" y="3504960"/>
            <a:ext cx="1523880" cy="83844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neighborhood-node-n7"/>
          <p:cNvSpPr/>
          <p:nvPr/>
        </p:nvSpPr>
        <p:spPr>
          <a:xfrm>
            <a:off x="3352680" y="3886200"/>
            <a:ext cx="914040" cy="91404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neighborhood-node-n1"/>
          <p:cNvSpPr/>
          <p:nvPr/>
        </p:nvSpPr>
        <p:spPr>
          <a:xfrm>
            <a:off x="3403440" y="2590920"/>
            <a:ext cx="812520" cy="81252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neighborhood-node-n2"/>
          <p:cNvSpPr/>
          <p:nvPr/>
        </p:nvSpPr>
        <p:spPr>
          <a:xfrm>
            <a:off x="4927680" y="3098880"/>
            <a:ext cx="812520" cy="8125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neighborhood-node-n4"/>
          <p:cNvSpPr/>
          <p:nvPr/>
        </p:nvSpPr>
        <p:spPr>
          <a:xfrm>
            <a:off x="5181480" y="4597560"/>
            <a:ext cx="812520" cy="8125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neighborhood-node-n8"/>
          <p:cNvSpPr/>
          <p:nvPr/>
        </p:nvSpPr>
        <p:spPr>
          <a:xfrm>
            <a:off x="3403440" y="5384880"/>
            <a:ext cx="812520" cy="8125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neighborhood-node-n9"/>
          <p:cNvSpPr/>
          <p:nvPr/>
        </p:nvSpPr>
        <p:spPr>
          <a:xfrm>
            <a:off x="1625760" y="4597560"/>
            <a:ext cx="812520" cy="81252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neighborhood-node-n10"/>
          <p:cNvSpPr/>
          <p:nvPr/>
        </p:nvSpPr>
        <p:spPr>
          <a:xfrm>
            <a:off x="1879560" y="3098880"/>
            <a:ext cx="812520" cy="8125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neighborhood-output-1-arrow"/>
          <p:cNvSpPr/>
          <p:nvPr/>
        </p:nvSpPr>
        <p:spPr>
          <a:xfrm>
            <a:off x="8229600" y="2984400"/>
            <a:ext cx="22096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2" name="neighborhood-output-1-source"/>
          <p:cNvSpPr/>
          <p:nvPr/>
        </p:nvSpPr>
        <p:spPr>
          <a:xfrm>
            <a:off x="7645320" y="2692440"/>
            <a:ext cx="583920" cy="58392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neighborhood-output-1-target"/>
          <p:cNvSpPr/>
          <p:nvPr/>
        </p:nvSpPr>
        <p:spPr>
          <a:xfrm>
            <a:off x="10439280" y="2692440"/>
            <a:ext cx="583920" cy="58392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neighborhood-output-1-label"/>
          <p:cNvSpPr/>
          <p:nvPr/>
        </p:nvSpPr>
        <p:spPr>
          <a:xfrm>
            <a:off x="8445600" y="2641680"/>
            <a:ext cx="17776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 local min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neighborhood-output-2-arrow"/>
          <p:cNvSpPr/>
          <p:nvPr/>
        </p:nvSpPr>
        <p:spPr>
          <a:xfrm>
            <a:off x="8229600" y="3949560"/>
            <a:ext cx="22096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neighborhood-output-2-source"/>
          <p:cNvSpPr/>
          <p:nvPr/>
        </p:nvSpPr>
        <p:spPr>
          <a:xfrm>
            <a:off x="7645320" y="3657600"/>
            <a:ext cx="583920" cy="5839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neighborhood-output-2-target"/>
          <p:cNvSpPr/>
          <p:nvPr/>
        </p:nvSpPr>
        <p:spPr>
          <a:xfrm>
            <a:off x="10439280" y="3657600"/>
            <a:ext cx="583920" cy="5839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neighborhood-output-2-label"/>
          <p:cNvSpPr/>
          <p:nvPr/>
        </p:nvSpPr>
        <p:spPr>
          <a:xfrm>
            <a:off x="8445600" y="3606840"/>
            <a:ext cx="17776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 local min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neighborhood-output-3-arrow"/>
          <p:cNvSpPr/>
          <p:nvPr/>
        </p:nvSpPr>
        <p:spPr>
          <a:xfrm>
            <a:off x="8229600" y="4914720"/>
            <a:ext cx="22096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neighborhood-output-3-source"/>
          <p:cNvSpPr/>
          <p:nvPr/>
        </p:nvSpPr>
        <p:spPr>
          <a:xfrm>
            <a:off x="7645320" y="4622760"/>
            <a:ext cx="583920" cy="5839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neighborhood-output-3-target"/>
          <p:cNvSpPr/>
          <p:nvPr/>
        </p:nvSpPr>
        <p:spPr>
          <a:xfrm>
            <a:off x="10439280" y="4622760"/>
            <a:ext cx="583920" cy="5839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neighborhood-output-3-label"/>
          <p:cNvSpPr/>
          <p:nvPr/>
        </p:nvSpPr>
        <p:spPr>
          <a:xfrm>
            <a:off x="8445600" y="4572000"/>
            <a:ext cx="17776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 local min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neighborhood-fact-1"/>
          <p:cNvSpPr/>
          <p:nvPr/>
        </p:nvSpPr>
        <p:spPr>
          <a:xfrm>
            <a:off x="7493040" y="5359320"/>
            <a:ext cx="4038120" cy="2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4 </a:t>
            </a: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neighborhood-fact-2"/>
          <p:cNvSpPr/>
          <p:nvPr/>
        </p:nvSpPr>
        <p:spPr>
          <a:xfrm>
            <a:off x="7493040" y="5613480"/>
            <a:ext cx="4038120" cy="2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Large neighbors={8,9,10}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neighborhood-fact-3"/>
          <p:cNvSpPr/>
          <p:nvPr/>
        </p:nvSpPr>
        <p:spPr>
          <a:xfrm>
            <a:off x="7493040" y="5867280"/>
            <a:ext cx="4038120" cy="2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9→1, 8→2, 10→2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3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Text 3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p. 8, Fig. 4(b) and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PA-small-star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출력 관계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입력에서 작은 이웃과 중심을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minimum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붙이고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minimum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global minimum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잇는다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neighborhood-input-heading"/>
          <p:cNvSpPr/>
          <p:nvPr/>
        </p:nvSpPr>
        <p:spPr>
          <a:xfrm>
            <a:off x="660240" y="2082960"/>
            <a:ext cx="63496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6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이웃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neighborhood-output-heading"/>
          <p:cNvSpPr/>
          <p:nvPr/>
        </p:nvSpPr>
        <p:spPr>
          <a:xfrm>
            <a:off x="7493040" y="2082960"/>
            <a:ext cx="40381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6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 관계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neighborhood-edge-n7-n1"/>
          <p:cNvSpPr/>
          <p:nvPr/>
        </p:nvSpPr>
        <p:spPr>
          <a:xfrm>
            <a:off x="3809880" y="2997000"/>
            <a:ext cx="360" cy="134640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neighborhood-edge-n7-n2"/>
          <p:cNvSpPr/>
          <p:nvPr/>
        </p:nvSpPr>
        <p:spPr>
          <a:xfrm flipV="1">
            <a:off x="3809880" y="3504960"/>
            <a:ext cx="1523880" cy="83844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neighborhood-edge-n7-n4"/>
          <p:cNvSpPr/>
          <p:nvPr/>
        </p:nvSpPr>
        <p:spPr>
          <a:xfrm>
            <a:off x="3809880" y="4343400"/>
            <a:ext cx="1778040" cy="66024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neighborhood-edge-n7-n8"/>
          <p:cNvSpPr/>
          <p:nvPr/>
        </p:nvSpPr>
        <p:spPr>
          <a:xfrm flipV="1">
            <a:off x="3809880" y="4343400"/>
            <a:ext cx="360" cy="14475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neighborhood-edge-n7-n9"/>
          <p:cNvSpPr/>
          <p:nvPr/>
        </p:nvSpPr>
        <p:spPr>
          <a:xfrm flipV="1">
            <a:off x="2031840" y="4343400"/>
            <a:ext cx="1778040" cy="66024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neighborhood-edge-n7-n10"/>
          <p:cNvSpPr/>
          <p:nvPr/>
        </p:nvSpPr>
        <p:spPr>
          <a:xfrm>
            <a:off x="2286000" y="3504960"/>
            <a:ext cx="1523880" cy="83844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neighborhood-node-n7"/>
          <p:cNvSpPr/>
          <p:nvPr/>
        </p:nvSpPr>
        <p:spPr>
          <a:xfrm>
            <a:off x="3352680" y="3886200"/>
            <a:ext cx="914040" cy="91404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neighborhood-node-n1"/>
          <p:cNvSpPr/>
          <p:nvPr/>
        </p:nvSpPr>
        <p:spPr>
          <a:xfrm>
            <a:off x="3403440" y="2590920"/>
            <a:ext cx="812520" cy="81252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neighborhood-node-n2"/>
          <p:cNvSpPr/>
          <p:nvPr/>
        </p:nvSpPr>
        <p:spPr>
          <a:xfrm>
            <a:off x="4927680" y="3098880"/>
            <a:ext cx="812520" cy="8125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neighborhood-node-n4"/>
          <p:cNvSpPr/>
          <p:nvPr/>
        </p:nvSpPr>
        <p:spPr>
          <a:xfrm>
            <a:off x="5181480" y="4597560"/>
            <a:ext cx="812520" cy="8125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neighborhood-node-n8"/>
          <p:cNvSpPr/>
          <p:nvPr/>
        </p:nvSpPr>
        <p:spPr>
          <a:xfrm>
            <a:off x="3403440" y="5384880"/>
            <a:ext cx="812520" cy="8125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neighborhood-node-n9"/>
          <p:cNvSpPr/>
          <p:nvPr/>
        </p:nvSpPr>
        <p:spPr>
          <a:xfrm>
            <a:off x="1625760" y="4597560"/>
            <a:ext cx="812520" cy="81252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neighborhood-node-n10"/>
          <p:cNvSpPr/>
          <p:nvPr/>
        </p:nvSpPr>
        <p:spPr>
          <a:xfrm>
            <a:off x="1879560" y="3098880"/>
            <a:ext cx="812520" cy="8125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neighborhood-output-1-arrow"/>
          <p:cNvSpPr/>
          <p:nvPr/>
        </p:nvSpPr>
        <p:spPr>
          <a:xfrm>
            <a:off x="8229600" y="2984400"/>
            <a:ext cx="22096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neighborhood-output-1-source"/>
          <p:cNvSpPr/>
          <p:nvPr/>
        </p:nvSpPr>
        <p:spPr>
          <a:xfrm>
            <a:off x="7645320" y="2692440"/>
            <a:ext cx="583920" cy="58392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neighborhood-output-1-target"/>
          <p:cNvSpPr/>
          <p:nvPr/>
        </p:nvSpPr>
        <p:spPr>
          <a:xfrm>
            <a:off x="10439280" y="2692440"/>
            <a:ext cx="583920" cy="58392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neighborhood-output-1-label"/>
          <p:cNvSpPr/>
          <p:nvPr/>
        </p:nvSpPr>
        <p:spPr>
          <a:xfrm>
            <a:off x="8445600" y="2641680"/>
            <a:ext cx="17776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 local min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neighborhood-output-2-arrow"/>
          <p:cNvSpPr/>
          <p:nvPr/>
        </p:nvSpPr>
        <p:spPr>
          <a:xfrm>
            <a:off x="8229600" y="3949560"/>
            <a:ext cx="22096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neighborhood-output-2-source"/>
          <p:cNvSpPr/>
          <p:nvPr/>
        </p:nvSpPr>
        <p:spPr>
          <a:xfrm>
            <a:off x="7645320" y="3657600"/>
            <a:ext cx="583920" cy="5839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neighborhood-output-2-target"/>
          <p:cNvSpPr/>
          <p:nvPr/>
        </p:nvSpPr>
        <p:spPr>
          <a:xfrm>
            <a:off x="10439280" y="3657600"/>
            <a:ext cx="583920" cy="5839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neighborhood-output-2-label"/>
          <p:cNvSpPr/>
          <p:nvPr/>
        </p:nvSpPr>
        <p:spPr>
          <a:xfrm>
            <a:off x="8445600" y="3606840"/>
            <a:ext cx="17776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 local min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neighborhood-output-3-arrow"/>
          <p:cNvSpPr/>
          <p:nvPr/>
        </p:nvSpPr>
        <p:spPr>
          <a:xfrm>
            <a:off x="8229600" y="4914720"/>
            <a:ext cx="22096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neighborhood-output-3-source"/>
          <p:cNvSpPr/>
          <p:nvPr/>
        </p:nvSpPr>
        <p:spPr>
          <a:xfrm>
            <a:off x="7645320" y="4622760"/>
            <a:ext cx="583920" cy="583920"/>
          </a:xfrm>
          <a:prstGeom prst="ellipse">
            <a:avLst/>
          </a:prstGeom>
          <a:solidFill>
            <a:srgbClr val="F2D9CC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neighborhood-output-3-target"/>
          <p:cNvSpPr/>
          <p:nvPr/>
        </p:nvSpPr>
        <p:spPr>
          <a:xfrm>
            <a:off x="10439280" y="4622760"/>
            <a:ext cx="583920" cy="583920"/>
          </a:xfrm>
          <a:prstGeom prst="ellipse">
            <a:avLst/>
          </a:prstGeom>
          <a:solidFill>
            <a:srgbClr val="D7ECE6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8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neighborhood-output-3-label"/>
          <p:cNvSpPr/>
          <p:nvPr/>
        </p:nvSpPr>
        <p:spPr>
          <a:xfrm>
            <a:off x="8445600" y="4572000"/>
            <a:ext cx="17776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to global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neighborhood-fact-1"/>
          <p:cNvSpPr/>
          <p:nvPr/>
        </p:nvSpPr>
        <p:spPr>
          <a:xfrm>
            <a:off x="7493040" y="5359320"/>
            <a:ext cx="4038120" cy="2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4 </a:t>
            </a:r>
            <a:r>
              <a:rPr lang="ko-KR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neighborhood-fact-2"/>
          <p:cNvSpPr/>
          <p:nvPr/>
        </p:nvSpPr>
        <p:spPr>
          <a:xfrm>
            <a:off x="7493040" y="5613480"/>
            <a:ext cx="4038120" cy="2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Small∪center={1,2,4,7}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neighborhood-fact-3"/>
          <p:cNvSpPr/>
          <p:nvPr/>
        </p:nvSpPr>
        <p:spPr>
          <a:xfrm>
            <a:off x="7493040" y="5867280"/>
            <a:ext cx="4038120" cy="2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7→1, 4→2, 2→1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3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Text 3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p. 8, Fig. 4(c) and Algorithm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3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LocalCC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가능한 이유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정점은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minimum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연결되고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minimum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global minimum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경로를 가진다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Partitioned graph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PA-star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반복 뒤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connectivity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Subgraph P1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 incident edge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LocalCC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Subgraph P2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 incident edge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LocalCC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대표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map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결합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겹친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global minimum ID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공유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CC ID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정점을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component minimum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매핑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8-9, Algorithm 3 and Lemma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PACC-base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반복과 종료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partition-aware star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연산을 반복한 뒤 변경이 멈추면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CC-Computation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한 번 수행한다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 = 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undirected edge set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시작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PA-large-star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큰 이웃을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partition local minimum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재연결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PA-small-star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이웃과 중심을 정리하고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minimum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연결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6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Convergence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검사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추가 또는 삭제가 없으면 반복 종료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CC-Computation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edge-induced subgraph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LocalCC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PACC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종료 조건을 주지만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PACC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자체의 점근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상한은 제시하지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9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p. 9, Algorithm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filtering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세 출력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필요한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이미 정착한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분리해 반복 입력을 줄인다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543528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분류 조건과 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사용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연산이 바꿀 수 있는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분산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안에서 독립 처리 가능한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forest 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누적 보관 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union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이미 완성된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minimum-center star 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누적 보관 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union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 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#out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τ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잔여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LocalCC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Filtering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답에서 삭제하지 않고 다음 반복에서만 제외한다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10-12, Fig. 6 and Algorithms 5-7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잔여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합류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반복에서 빠진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final out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다시 합쳐져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CC-Computation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정확성을 유지한다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2"/>
          <p:cNvSpPr/>
          <p:nvPr/>
        </p:nvSpPr>
        <p:spPr>
          <a:xfrm>
            <a:off x="330192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2" name="Shape 3"/>
          <p:cNvSpPr/>
          <p:nvPr/>
        </p:nvSpPr>
        <p:spPr>
          <a:xfrm>
            <a:off x="888984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3" name="Shape 4"/>
          <p:cNvSpPr/>
          <p:nvPr/>
        </p:nvSpPr>
        <p:spPr>
          <a:xfrm>
            <a:off x="3301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4" name="Shape 5"/>
          <p:cNvSpPr/>
          <p:nvPr/>
        </p:nvSpPr>
        <p:spPr>
          <a:xfrm>
            <a:off x="6730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Shape 6"/>
          <p:cNvSpPr/>
          <p:nvPr/>
        </p:nvSpPr>
        <p:spPr>
          <a:xfrm>
            <a:off x="546084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6" name="Shape 7"/>
          <p:cNvSpPr/>
          <p:nvPr/>
        </p:nvSpPr>
        <p:spPr>
          <a:xfrm>
            <a:off x="673092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Shape 8"/>
          <p:cNvSpPr/>
          <p:nvPr/>
        </p:nvSpPr>
        <p:spPr>
          <a:xfrm>
            <a:off x="6095880" y="473688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8" name="Text 9"/>
          <p:cNvSpPr/>
          <p:nvPr/>
        </p:nvSpPr>
        <p:spPr>
          <a:xfrm>
            <a:off x="127008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누적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cc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0"/>
          <p:cNvSpPr/>
          <p:nvPr/>
        </p:nvSpPr>
        <p:spPr>
          <a:xfrm>
            <a:off x="127008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제외하고 저장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1"/>
          <p:cNvSpPr/>
          <p:nvPr/>
        </p:nvSpPr>
        <p:spPr>
          <a:xfrm>
            <a:off x="685800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Final out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2"/>
          <p:cNvSpPr/>
          <p:nvPr/>
        </p:nvSpPr>
        <p:spPr>
          <a:xfrm>
            <a:off x="685800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반복 종료 또는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LocalCC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잔여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3"/>
          <p:cNvSpPr/>
          <p:nvPr/>
        </p:nvSpPr>
        <p:spPr>
          <a:xfrm>
            <a:off x="4191120" y="41403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Final union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4"/>
          <p:cNvSpPr/>
          <p:nvPr/>
        </p:nvSpPr>
        <p:spPr>
          <a:xfrm>
            <a:off x="4191120" y="44197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 ∪ in ∪ cc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다시 결합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5"/>
          <p:cNvSpPr/>
          <p:nvPr/>
        </p:nvSpPr>
        <p:spPr>
          <a:xfrm>
            <a:off x="4191120" y="54738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CC-Computation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6"/>
          <p:cNvSpPr/>
          <p:nvPr/>
        </p:nvSpPr>
        <p:spPr>
          <a:xfrm>
            <a:off x="4191120" y="5753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Partition subgraph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LocalCC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7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10-12, Algorithm 5 and Fig.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Sketching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chunk LocalCC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서로 겹치지 않는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storage chunk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연결 요소를 구해 대표자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남긴다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Edge-disjoint chunk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정확히 하나의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E_i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저장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Chunk graph G_i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E_i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만드는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edge-induced subgraph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LocalCC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chunk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병렬 처리해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component minimum r_i(u)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대표자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r_i(u)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다를 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(u, r_i(u))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출력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Reduced graph G'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chunk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connectivity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단계는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통신 없이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chunk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별로 병렬 실행하지만 대표자에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몰릴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12-13, Fig. 7 and Algorithm 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Sketching 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localization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대표자에 집중된 큰 이웃을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가장 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anchor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경유하도록 재배선한다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Reduced graph G'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Chunk LocalCC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일부 대표자에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집중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6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7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Partition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anchor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큰 이웃 중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partition 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최소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m_i⁺(u)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1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2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Anchor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유지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m_i⁺(u)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직접 연결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6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7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나머지 재배선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(v,u)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(v,m_i⁺(u))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변경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1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2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Sketch graph G″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Connectivity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유지하며 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neighbor list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6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7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복제하지 않고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endpoint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바꿔 연결성과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 상한을 지킨다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9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12-14, Fig. 7, Algorithm 8 and Lemma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정확성 증명의 연결 고리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PACC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모양을 바꾸지만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connectivity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representative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경로를 보존한다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PA-star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minimum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원래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connectivity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7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8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Sketch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Chunk CC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localization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component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바꾸지 않음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2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3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Filtered forest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forest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final in∪cc∪out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forest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7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8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Minimum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minimum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global minimum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가는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path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존재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2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3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독립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LocalCC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subgraph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component representative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복원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7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8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정확성은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유지해서가 아니라 같은 연결성과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minimum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경로를 유지해서 성립한다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0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13-14, Lemmas 2-4 and Theorem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간선 상한과 보장되지 않은 비용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count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정리를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shuffle byte, peak RAM,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reducer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안전성으로 바꾸면 안 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478680"/>
                <a:gridCol w="434844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정확한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포함하지 않는 보장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PA-star 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 비증가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변경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양방향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emit byte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edge ≤ |V|−1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PACC-ef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CC-Computation forest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 peak memory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|E″| ≤ min(|E|, C|V|)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Sketch output edge count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압축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byte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sort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임시공간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Expected O(|V|/ρ+ρ)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Localization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큰 이웃 기대값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고확률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hash tail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Convergence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추가와 삭제가 없을 때 종료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PACC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점근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 정리는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edge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수와 기대 부하를 다루며 실제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byte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구현 조건에 달려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14-16, Lemmas 5-9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Hadoop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Spark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구현 선택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scalability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상한과 함께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combiner, external sort, HDFS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보관에 의존한다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56588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플랫폼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PACC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 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Hadoop shuffle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Star Map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양방향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Combiner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불필요한 이웃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Duplicate 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Cycle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반복 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External-memory sort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Spark RDD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끝까지 보유하면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점유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RDD, in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HDFS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Spark grouping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groupByKey hash table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대용량과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skew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취약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partitionBy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external sort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PACC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없애지 않고 대형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duplicate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처리를 외부 정렬로 넘긴다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16-18, Algorithms 9-10 and Implementation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조건과 데이터 규모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성능 배수는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2020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20-node HDD cluster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Hadoop 2.7.3, Spark 2.2.0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조건의 결과다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500040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Cluster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 machines,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6-core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RAM 32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machine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4×2 TB HDD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Hadoop 2.7.3, Spark 2.2.0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Container memory 7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PACC default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ρ=80, τ=20,000,000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분할 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전환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HDFS load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result write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End-to-end job 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ClueWeb12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6,257,706,595 V, 71,746,553,402 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Self-loop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duplicate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사전 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framework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storage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runtime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차이를 다시 측정해야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18-19, Table 2 and Setup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기법의 실험 효과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Partitioning, filtering, sketching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서로 다른 그래프 크기와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구간을 줄인다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3261240"/>
                <a:gridCol w="315252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적용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Partitioning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Reducer running-time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iteration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best load balance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YahooWeb, Fig. 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filtering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lower bound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근접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YahooWeb, Fig. 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 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Twitter running 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τ=2×10⁷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최저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설정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Fig. 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Sketching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|E|/|E″|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Twitter 11.1, Friendster 1.7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차이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Fig. 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Sketching reduction 11.1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1.7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실험값이며 보편적인 압축 상수가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19-21, Figs. 9-12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Hadoop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Spark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결과의 분리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ClueWeb12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성공은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Hadoop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Spark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에서는 모든 비교 알고리즘이 실패해 결과를 생략했다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2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369960"/>
                <a:gridCol w="271764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플랫폼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ClueWeb12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PACC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Alt-opt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Hadoop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PACC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PACC-ef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성공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2.9×-10.7× faster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Friendster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YahooWeb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알고리즘 실패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 생략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2.3×-8.8×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YahooWeb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PowerGraph OOM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Distributed overhead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PowerGraph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Union-Find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빠를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Scale-out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Twitter machine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PACC slope −0.74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Alt-opt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−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PACC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20-node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실험에서 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했지만 플랫폼별 최대 처리 규모는 달랐다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21-23, Figs. 13-17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PACC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결과의 적용 한계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기대값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edge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speedup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현재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hardware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절대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memory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runtime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보장이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423972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재사용 시 확인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2020 software stack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Hadoop 2.7.3, Spark 2.2.0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scheduler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storage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Hash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Expected neighbor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Tail concentration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미명세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count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forest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Shuffle byte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peak RAM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Platform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Hadoop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ClueWeb12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성공으로 일반화 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문제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Undirected connected components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Triangle·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최단 경로 자동 적용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PACC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minimum-root forest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의존하며 다른 문제로 자동 확장되지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14-24, Analyses through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PACC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 흐름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Component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미리 나누지 않고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connectivity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유지한 채 계산 작업을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별로 나눈다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Connectivity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유지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sketch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재배선이 원래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component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6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7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minimum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이웃을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partition anchor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붙여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global minimum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집중 완화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1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2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Settled edge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반복에서 빼고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final union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 유지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6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7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Forest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subgraph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global minimum path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포함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1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2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Independent LocalCC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Subgraph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결과를 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component ID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복원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6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7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PACC partition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결과 경계가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reducer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편향과 반복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줄이는 작업 기준이다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9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pp. 6-16 and p. 24, Proposed Method and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공개 출처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 원문과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DOI,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저자가 공개한 구현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repository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공개 경로로 확인할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13100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식별 정보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PLOS ONE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CC BY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 논문 원문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Article e0229936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Publisher DOI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정식 논문 식별자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10.1371/journal.pone.0229936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PACC GitHub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저자가 공개한 구현 참고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kmudmlab/PACC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알고리즘과 실험 주장은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PLOS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원문을 기준으로 하고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구현 자료로 구분한다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plos full article; doi article record; code repository root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2026-09-12T04:14:18Z</dcterms:created>
  <dc:creator>Research Seminars</dc:creator>
  <dc:description/>
  <dc:language>ko-KR</dc:language>
  <cp:lastModifiedBy>Research Seminars</cp:lastModifiedBy>
  <dcterms:modified xsi:type="dcterms:W3CDTF">2026-09-12T04:14:18Z</dcterms:modified>
  <cp:revision>1</cp:revision>
  <dc:subject>PACC: Large scale connected component computation on Hadoop and Spark</dc:subject>
  <dc:title>PACC: 대규모 연결 요소 계산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26</vt:r8>
  </property>
  <property fmtid="{D5CDD505-2E9C-101B-9397-08002B2CF9AE}" pid="3" name="PresentationFormat">
    <vt:lpwstr>On-screen Show (16:9)</vt:lpwstr>
  </property>
  <property fmtid="{D5CDD505-2E9C-101B-9397-08002B2CF9AE}" pid="4" name="Slides">
    <vt:r8>26</vt:r8>
  </property>
</Properties>
</file>
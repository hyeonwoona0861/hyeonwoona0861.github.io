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협력 MEC offloading을 위한 multi-agent DRL 제안
발표 대본
이 자료는 Iman Rahmati의 세 쪽짜리 research proposal을 소개합니다. 원문에는 publication year가 적혀 있지 않으므로 연도를 추정하지 않습니다. 이 제안의 핵심은 mobile device에서 edge node로 보내는 D2E offloading에 더해, edge node 사이 E2E forwarding까지 고려하려는 것입니다.
공개 출처
proposal | p. 1, title and abstract
Multi-Agent Deep Reinforcement Learning for Collaborative Computation Offloading in Mobile Edge-Computing
https://imanrht.github.io/assets/Multi_AgentDRL4MEC.pdf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먼저 범위 확인: 제안서가 말한 것과 말하지 않은 것
발표 대본
원문에는 수식, figure, table, pseudocode, simulation setting, performance result가 없습니다. 또한 reward, observation vector, action encoding, queue transition, critic input과 update rule도 정의되지 않습니다. 따라서 발표에서는 미래형 제안과 이미 검증된 method를 구분해야 하며, generic MARL 지식을 이 proposal의 결과처럼 말하면 안 됩니다.
공개 출처
proposal | pp. 1-3, all sections and references
Multi-Agent Deep Reinforcement Learning for Collaborative Computation Offloading in Mobile Edge-Computing
https://imanrht.github.io/assets/Multi_AgentDRL4MEC.pdf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왜 D2E만으로는 부족하다고 보는가
발표 대본
Introduction은 기존 RL 기반 MEC 연구가 주로 device-to-edge link를 통해 MD task를 EN으로 보내는 문제를 다뤘다고 설명합니다. 이 proposal은 underutilized EN computing resource를 공유할 수 있도록, MD와 EN 모두가 communication·computation capacity에 따라 particular EN으로 task를 offload하는 collaborative framework를 탐색합니다.
공개 출처
proposal | pp. 1-2, Introduction
Multi-Agent Deep Reinforcement Learning for Collaborative Computation Offloading in Mobile Edge-Computing
https://imanrht.github.io/assets/Multi_AgentDRL4MEC.pdf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D2E·E2E link와 decision-maker
발표 대본
원문은 MD가 D2E transmission link로 task를 EN에 offload하고, EN이 E2E transmission link로 task를 particular EN에 offload할 수 있는 collaborative framework를 제안합니다. 위아래 행은 이 두 관계를 분리해 보인 것이며, 모든 D2E task가 E2E로 이어진다는 뜻은 아닙니다. Source가 queue-based multi-layer model이라고만 했을 뿐 MD queue, EN queue, service order, E2E forwarding 조건을 정의하지 않았으므로 그림도 그것들을 사실처럼 배치하지 않습니다.
공개 출처
proposal | pp. 1-2, abstract and Introduction
Multi-Agent Deep Reinforcement Learning for Collaborative Computation Offloading in Mobile Edge-Computing
https://imanrht.github.io/assets/Multi_AgentDRL4MEC.pdf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queue-based multi-layer의 범위
발표 대본
Proposal은 queue-based multi-layer model scenario를 design한다고 말하지만 queue의 state, arrival, service, capacity, location을 제시하지 않습니다. 마찬가지로 resource availability에 맞춰 layer decision을 adjust한다고 하나 communication rate, computing capacity formula, resource constraint가 없습니다. 이 slide의 오른쪽 열은 결함을 비난하는 것이 아니라 proposal을 executable method로 만들 때 필요한 명세를 구분하는 장치입니다.
공개 출처
proposal | pp. 1-2, abstract and Solution Approach
Multi-Agent Deep Reinforcement Learning for Collaborative Computation Offloading in Mobile Edge-Computing
https://imanrht.github.io/assets/Multi_AgentDRL4MEC.pdf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왜 Dec-POMDP인가
발표 대본
Decentralized partially observable MDP라는 framing은 agent가 global network와 다른 entities에 대해 limited information만 가진다는 원문의 설명을 담습니다. MD와 EN은 각자 agent이므로 전체 state를 모두 보지 못한 채 action을 고르는 상황을 표현합니다. 다만 Dec-POMDP의 state, observation, action, transition, reward를 이 proposal이 수식이나 vector로 정의한 것은 아닙니다.
공개 출처
proposal | p. 2, Problem Statement and Solution Approach
Multi-Agent Deep Reinforcement Learning for Collaborative Computation Offloading in Mobile Edge-Computing
https://imanrht.github.io/assets/Multi_AgentDRL4MEC.pdf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single-agent RL 대신 MARL을 제안하는 논리
발표 대본
Introduction은 single-agent RL이 다른 agents를 environment 일부로 취급하면 다른 agents의 policy 변화 때문에 non-stationarity 문제가 생길 수 있다고 설명합니다. 이 proposal은 MD와 EN agent가 distributed decisions를 협력해 만들도록 MARL을 사용하겠다고 합니다. 여기서 ‘해결한다’는 말은 proposal의 동기이며, source에는 MARL과 single-agent method의 experiment나 theorem 비교가 없습니다.
공개 출처
proposal | pp. 1-2, Introduction
Multi-Agent Deep Reinforcement Learning for Collaborative Computation Offloading in Mobile Edge-Computing
https://imanrht.github.io/assets/Multi_AgentDRL4MEC.pdf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서로 다른 layer·time point의 결정
발표 대본
Solution Approach는 task offloading decisions를 different layers와 different time points에서 만들도록 decouple한다고 말합니다. 이 구조가 current network state와 resource availability에 맞춘 dynamic adjustment를 허용한다고 주장합니다. 하지만 source는 MD와 EN이 각각 몇 초 또는 몇 slot마다 action하는지, 동시 action 충돌을 어떻게 처리하는지는 지정하지 않습니다.
공개 출처
proposal | p. 2, Solution Approach
Multi-Agent Deep Reinforcement Learning for Collaborative Computation Offloading in Mobile Edge-Computing
https://imanrht.github.io/assets/Multi_AgentDRL4MEC.pdf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multi-agent DDPG는 candidate다
발표 대본
원문은 multi-agent deep deterministic policy gradient algorithm을 design한다고 하고 각 agent에 decentralized actor와 centralized critic이 있다고 말합니다. 그러나 critic이 global state, joint actions, local observations 중 무엇을 input으로 받는지, actor가 어떤 action을 내는지, update가 어떤 loss를 최소화하는지는 정의하지 않습니다. 따라서 이 proposal을 MADDPG implementation으로 소개하면 범위를 넘습니다.
공개 출처
proposal | p. 2, Solution Approach; ref. 17
Multi-Agent Deep Reinforcement Learning for Collaborative Computation Offloading in Mobile Edge-Computing
https://imanrht.github.io/assets/Multi_AgentDRL4MEC.pdf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강의용 가상 trace: 서로 다른 시점의 두 decision
발표 대본
이 slide는 teaching-only construction입니다. 가상의 MD task가 D2E link로 EN에 도착한 뒤, EN이 나중 시점에 E2E forwarding 여부를 결정할 수 있다는 순서만 보여 줍니다. 원문은 이러한 different layers and time points를 제안하지만, 어떤 task가 언제 반드시 forward되는지, forwarding이 local service보다 좋은지, reward가 무엇인지는 정의하지 않습니다.
공개 출처
proposal | pp. 1-2, proposed D2E/E2E and timing; constructed trace
Multi-Agent Deep Reinforcement Learning for Collaborative Computation Offloading in Mobile Edge-Computing
https://imanrht.github.io/assets/Multi_AgentDRL4MEC.pdf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가상 trace가 보여 주는 것과 보여 주지 않는 것
발표 대본
원문에는 numerical example, figure, table, experiment가 없습니다. 따라서 앞의 trace는 D2E와 E2E, MD와 EN, 서로 다른 decision timing이라는 high-level relation을 익히는 장치입니다. Rate, delay, energy, utilization, queue length, reward 또는 policy quality를 넣지 않은 이유는 그런 값이 source에 정의되거나 측정되지 않았기 때문입니다.
공개 출처
proposal | pp. 1-3, proposal content and references
Multi-Agent Deep Reinforcement Learning for Collaborative Computation Offloading in Mobile Edge-Computing
https://imanrht.github.io/assets/Multi_AgentDRL4MEC.pdf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proposal을 재현 가능한 method로 만들 때 필요한 명세
발표 대본
이 표는 원문의 claim과 그 claim을 구현 가능한 연구로 바꾸기 위해 필요한 정보를 분리합니다. Dec-POMDP와 multi-agent DDPG라는 이름만으로 state, action, transition, reward, learning update, evaluation protocol이 결정되지는 않습니다. 따라서 checklist는 source의 누락을 임의로 채운 것이 아니라, 제안서 단계와 completed method 단계의 차이를 드러냅니다.
공개 출처
proposal | pp. 1-3, stated approach and absent specifications
Multi-Agent Deep Reinforcement Learning for Collaborative Computation Offloading in Mobile Edge-Computing
https://imanrht.github.io/assets/Multi_AgentDRL4MEC.pdf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정리: 이 proposal이 남긴 설계 질문
발표 대본
이 제안서는 MD뿐 아니라 EN도 decision-maker로 포함해 D2E와 E2E offloading을 연결하고, partial observation과 asynchronous decision을 Dec-POMDP/MARL 관점에서 다루려 합니다. Multi-agent DDPG actor–critic은 candidate solution으로 언급됩니다. 그러나 source에는 result가 없으므로, 이 자료의 결론은 성능 우위가 아니라 정확한 research scope와 명세 과제입니다.
공개 출처
proposal | pp. 1-2, abstract, Introduction, Solution Approach
Multi-Agent Deep Reinforcement Learning for Collaborative Computation Offloading in Mobile Edge-Computing
https://imanrht.github.io/assets/Multi_AgentDRL4MEC.pdf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215900" cy="6858000"/>
          </a:xfrm>
          <a:prstGeom prst="rect">
            <a:avLst/>
          </a:prstGeom>
          <a:solidFill>
            <a:srgbClr val="0D685C"/>
          </a:solidFill>
          <a:ln w="12700">
            <a:solidFill>
              <a:srgbClr val="0D685C">
                <a:alpha val="0"/>
              </a:srgbClr>
            </a:solidFill>
            <a:prstDash val="solid"/>
          </a:ln>
        </p:spPr>
        <p:txBody>
          <a:bodyPr/>
          <a:lstStyle/>
          <a:p>
            <a:endParaRPr lang="ko-KR"/>
          </a:p>
        </p:txBody>
      </p:sp>
      <p:sp>
        <p:nvSpPr>
          <p:cNvPr id="3" name="Text 1"/>
          <p:cNvSpPr txBox="1"/>
          <p:nvPr/>
        </p:nvSpPr>
        <p:spPr>
          <a:xfrm>
            <a:off x="889000" y="889000"/>
            <a:ext cx="8763000" cy="1346200"/>
          </a:xfrm>
          <a:prstGeom prst="rect">
            <a:avLst/>
          </a:prstGeom>
          <a:noFill/>
          <a:ln/>
        </p:spPr>
        <p:txBody>
          <a:bodyPr wrap="square" lIns="0" tIns="0" rIns="0" bIns="0" rtlCol="0" anchor="t"/>
          <a:lstStyle/>
          <a:p>
            <a:pPr algn="l" indent="0" marL="0">
              <a:lnSpc>
                <a:spcPct val="115000"/>
              </a:lnSpc>
              <a:buNone/>
            </a:pPr>
            <a:r>
              <a:rPr lang="en-US" sz="4000" b="1" dirty="0">
                <a:solidFill>
                  <a:srgbClr val="0D685C"/>
                </a:solidFill>
                <a:latin typeface="AppleGothic" pitchFamily="34" charset="0"/>
                <a:ea typeface="AppleGothic" pitchFamily="34" charset="-122"/>
                <a:cs typeface="AppleGothic" pitchFamily="34" charset="-120"/>
              </a:rPr>
              <a:t>협력 MEC offloading을 위한 multi-agent DRL 제안</a:t>
            </a:r>
            <a:endParaRPr lang="en-US" sz="4000" dirty="0"/>
          </a:p>
        </p:txBody>
      </p:sp>
      <p:sp>
        <p:nvSpPr>
          <p:cNvPr id="4" name="Text 2"/>
          <p:cNvSpPr txBox="1"/>
          <p:nvPr/>
        </p:nvSpPr>
        <p:spPr>
          <a:xfrm>
            <a:off x="889000" y="2413000"/>
            <a:ext cx="9652000" cy="1333500"/>
          </a:xfrm>
          <a:prstGeom prst="rect">
            <a:avLst/>
          </a:prstGeom>
          <a:noFill/>
          <a:ln/>
        </p:spPr>
        <p:txBody>
          <a:bodyPr wrap="square" lIns="0" tIns="0" rIns="0" bIns="0" rtlCol="0" anchor="t"/>
          <a:lstStyle/>
          <a:p>
            <a:pPr algn="l" indent="0" marL="0">
              <a:lnSpc>
                <a:spcPct val="125000"/>
              </a:lnSpc>
              <a:buNone/>
            </a:pPr>
            <a:r>
              <a:rPr lang="en-US" sz="2200" dirty="0">
                <a:solidFill>
                  <a:srgbClr val="173C37"/>
                </a:solidFill>
                <a:latin typeface="AppleGothic" pitchFamily="34" charset="0"/>
                <a:ea typeface="AppleGothic" pitchFamily="34" charset="-122"/>
                <a:cs typeface="AppleGothic" pitchFamily="34" charset="-120"/>
              </a:rPr>
              <a:t>Multi-Agent Deep Reinforcement Learning for Collaborative Computation Offloading in Mobile Edge-Computing</a:t>
            </a:r>
            <a:endParaRPr lang="en-US" sz="2200" dirty="0"/>
          </a:p>
        </p:txBody>
      </p:sp>
      <p:sp>
        <p:nvSpPr>
          <p:cNvPr id="5" name="Shape 3"/>
          <p:cNvSpPr/>
          <p:nvPr/>
        </p:nvSpPr>
        <p:spPr>
          <a:xfrm>
            <a:off x="889000" y="4076700"/>
            <a:ext cx="9652000" cy="0"/>
          </a:xfrm>
          <a:prstGeom prst="line">
            <a:avLst/>
          </a:prstGeom>
          <a:noFill/>
          <a:ln w="12700">
            <a:solidFill>
              <a:srgbClr val="C9D8D4"/>
            </a:solidFill>
            <a:prstDash val="solid"/>
            <a:headEnd type="none"/>
            <a:tailEnd type="none"/>
          </a:ln>
        </p:spPr>
        <p:txBody>
          <a:bodyPr/>
          <a:lstStyle/>
          <a:p>
            <a:endParaRPr lang="ko-KR"/>
          </a:p>
        </p:txBody>
      </p:sp>
      <p:sp>
        <p:nvSpPr>
          <p:cNvPr id="6" name="Text 4"/>
          <p:cNvSpPr txBox="1"/>
          <p:nvPr/>
        </p:nvSpPr>
        <p:spPr>
          <a:xfrm>
            <a:off x="889000" y="4368800"/>
            <a:ext cx="9652000" cy="685800"/>
          </a:xfrm>
          <a:prstGeom prst="rect">
            <a:avLst/>
          </a:prstGeom>
          <a:noFill/>
          <a:ln/>
        </p:spPr>
        <p:txBody>
          <a:bodyPr wrap="square" lIns="0" tIns="0" rIns="0" bIns="0" rtlCol="0" anchor="t"/>
          <a:lstStyle/>
          <a:p>
            <a:pPr algn="l" indent="0" marL="0">
              <a:lnSpc>
                <a:spcPct val="125000"/>
              </a:lnSpc>
              <a:buNone/>
            </a:pPr>
            <a:r>
              <a:rPr lang="en-US" sz="1750" dirty="0">
                <a:solidFill>
                  <a:srgbClr val="5E6D69"/>
                </a:solidFill>
                <a:latin typeface="AppleGothic" pitchFamily="34" charset="0"/>
                <a:ea typeface="AppleGothic" pitchFamily="34" charset="-122"/>
                <a:cs typeface="AppleGothic" pitchFamily="34" charset="-120"/>
              </a:rPr>
              <a:t>Iman Rahmati (연도 미상)</a:t>
            </a:r>
            <a:endParaRPr lang="en-US" sz="1750" dirty="0"/>
          </a:p>
        </p:txBody>
      </p:sp>
      <p:sp>
        <p:nvSpPr>
          <p:cNvPr id="7" name="Text 5"/>
          <p:cNvSpPr txBox="1"/>
          <p:nvPr/>
        </p:nvSpPr>
        <p:spPr>
          <a:xfrm>
            <a:off x="889000" y="5245100"/>
            <a:ext cx="9652000" cy="571500"/>
          </a:xfrm>
          <a:prstGeom prst="rect">
            <a:avLst/>
          </a:prstGeom>
          <a:noFill/>
          <a:ln/>
        </p:spPr>
        <p:txBody>
          <a:bodyPr wrap="square" lIns="0" tIns="0" rIns="0" bIns="0" rtlCol="0" anchor="t"/>
          <a:lstStyle/>
          <a:p>
            <a:pPr algn="l" indent="0" marL="0">
              <a:lnSpc>
                <a:spcPct val="125000"/>
              </a:lnSpc>
              <a:buNone/>
            </a:pPr>
            <a:r>
              <a:rPr lang="en-US" sz="1750" dirty="0">
                <a:solidFill>
                  <a:srgbClr val="0D685C"/>
                </a:solidFill>
                <a:latin typeface="AppleGothic" pitchFamily="34" charset="0"/>
                <a:ea typeface="AppleGothic" pitchFamily="34" charset="-122"/>
                <a:cs typeface="AppleGothic" pitchFamily="34" charset="-120"/>
              </a:rPr>
              <a:t>MD-to-EN과 EN-to-EN offloading을 함께 보려는 undated research proposal</a:t>
            </a:r>
            <a:endParaRPr lang="en-US" sz="1750" dirty="0"/>
          </a:p>
        </p:txBody>
      </p:sp>
      <p:sp>
        <p:nvSpPr>
          <p:cNvPr id="8" name="Shape 6"/>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9" name="Text 7"/>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proposal p. 1, title and abstract</a:t>
            </a:r>
            <a:endParaRPr lang="en-US" sz="1050" dirty="0"/>
          </a:p>
        </p:txBody>
      </p:sp>
      <p:sp>
        <p:nvSpPr>
          <p:cNvPr id="10" name="Text 8"/>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먼저 범위 확인: 제안서가 말한 것과 말하지 않은 것</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문서는 abstract, introduction, problem statement, references로 구성된 research proposal이다.</a:t>
            </a:r>
            <a:endParaRPr lang="en-US" sz="1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60400" y="2082800"/>
          <a:ext cx="10871200" cy="3314700"/>
        </p:xfrm>
        <a:graphic>
          <a:graphicData uri="http://schemas.openxmlformats.org/drawingml/2006/table">
            <a:tbl>
              <a:tblPr/>
              <a:tblGrid>
                <a:gridCol w="5435600"/>
                <a:gridCol w="5435600"/>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원문에 있는 것</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원문에 없는 것</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D2E와 E2E를 잇는 협력 offloading 구상</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완전한 algorithm 또는 pseudocode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queue-based multi-layer scenario</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queue 위치·discipline·update 식</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Dec-POMDP와 multi-agent DDPG 후보</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state·action·reward 정의</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decentralized actor, centralized critic</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critic input·network·training update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두 개의 contribution 문장</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experiment·표·figure·result·proof</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5" name="Shape 2"/>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6" name="Text 3"/>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이 덱은 proposal의 설계 방향을 설명하며, 없는 구현 세부를 보충하지 않는다</a:t>
            </a:r>
            <a:endParaRPr lang="en-US" sz="1750" dirty="0"/>
          </a:p>
        </p:txBody>
      </p:sp>
      <p:sp>
        <p:nvSpPr>
          <p:cNvPr id="7" name="Shape 4"/>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8" name="Text 5"/>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proposal pp. 1-3, all sections and references</a:t>
            </a:r>
            <a:endParaRPr lang="en-US" sz="1050" dirty="0"/>
          </a:p>
        </p:txBody>
      </p:sp>
      <p:sp>
        <p:nvSpPr>
          <p:cNvPr id="9" name="Text 6"/>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왜 D2E만으로는 부족하다고 보는가</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제안은 EN 사이의 unused computing resource도 활용해 collaborative offloading을 넓히려 한다.</a:t>
            </a:r>
            <a:endParaRPr lang="en-US" sz="1900" dirty="0"/>
          </a:p>
        </p:txBody>
      </p:sp>
      <p:sp>
        <p:nvSpPr>
          <p:cNvPr id="4" name="Text 2"/>
          <p:cNvSpPr txBox="1"/>
          <p:nvPr/>
        </p:nvSpPr>
        <p:spPr>
          <a:xfrm>
            <a:off x="660400" y="2108200"/>
            <a:ext cx="571500" cy="663575"/>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01</a:t>
            </a:r>
            <a:endParaRPr lang="en-US" sz="2200" dirty="0"/>
          </a:p>
        </p:txBody>
      </p:sp>
      <p:sp>
        <p:nvSpPr>
          <p:cNvPr id="5" name="Text 3"/>
          <p:cNvSpPr txBox="1"/>
          <p:nvPr/>
        </p:nvSpPr>
        <p:spPr>
          <a:xfrm>
            <a:off x="1397000" y="2108200"/>
            <a:ext cx="2603500" cy="663575"/>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MD task</a:t>
            </a:r>
            <a:endParaRPr lang="en-US" sz="1900" dirty="0"/>
          </a:p>
        </p:txBody>
      </p:sp>
      <p:sp>
        <p:nvSpPr>
          <p:cNvPr id="6" name="Text 4"/>
          <p:cNvSpPr txBox="1"/>
          <p:nvPr/>
        </p:nvSpPr>
        <p:spPr>
          <a:xfrm>
            <a:off x="4152900" y="2108200"/>
            <a:ext cx="7378700" cy="663575"/>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compute-intensive task가 생긴다</a:t>
            </a:r>
            <a:endParaRPr lang="en-US" sz="1650" dirty="0"/>
          </a:p>
        </p:txBody>
      </p:sp>
      <p:sp>
        <p:nvSpPr>
          <p:cNvPr id="7" name="Shape 5"/>
          <p:cNvSpPr/>
          <p:nvPr/>
        </p:nvSpPr>
        <p:spPr>
          <a:xfrm>
            <a:off x="1397000" y="2784475"/>
            <a:ext cx="10134600" cy="0"/>
          </a:xfrm>
          <a:prstGeom prst="line">
            <a:avLst/>
          </a:prstGeom>
          <a:noFill/>
          <a:ln w="12700">
            <a:solidFill>
              <a:srgbClr val="C9D8D4"/>
            </a:solidFill>
            <a:prstDash val="solid"/>
            <a:headEnd type="none"/>
            <a:tailEnd type="none"/>
          </a:ln>
        </p:spPr>
        <p:txBody>
          <a:bodyPr/>
          <a:lstStyle/>
          <a:p>
            <a:endParaRPr lang="ko-KR"/>
          </a:p>
        </p:txBody>
      </p:sp>
      <p:sp>
        <p:nvSpPr>
          <p:cNvPr id="8" name="Shape 6"/>
          <p:cNvSpPr/>
          <p:nvPr/>
        </p:nvSpPr>
        <p:spPr>
          <a:xfrm>
            <a:off x="850900" y="2797175"/>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9" name="Text 7"/>
          <p:cNvSpPr txBox="1"/>
          <p:nvPr/>
        </p:nvSpPr>
        <p:spPr>
          <a:xfrm>
            <a:off x="660400" y="2974975"/>
            <a:ext cx="571500" cy="663575"/>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02</a:t>
            </a:r>
            <a:endParaRPr lang="en-US" sz="2200" dirty="0"/>
          </a:p>
        </p:txBody>
      </p:sp>
      <p:sp>
        <p:nvSpPr>
          <p:cNvPr id="10" name="Text 8"/>
          <p:cNvSpPr txBox="1"/>
          <p:nvPr/>
        </p:nvSpPr>
        <p:spPr>
          <a:xfrm>
            <a:off x="1397000" y="2974975"/>
            <a:ext cx="2603500" cy="663575"/>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D2E</a:t>
            </a:r>
            <a:endParaRPr lang="en-US" sz="1900" dirty="0"/>
          </a:p>
        </p:txBody>
      </p:sp>
      <p:sp>
        <p:nvSpPr>
          <p:cNvPr id="11" name="Text 9"/>
          <p:cNvSpPr txBox="1"/>
          <p:nvPr/>
        </p:nvSpPr>
        <p:spPr>
          <a:xfrm>
            <a:off x="4152900" y="2974975"/>
            <a:ext cx="7378700" cy="663575"/>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MD가 가까운 EN으로 offload</a:t>
            </a:r>
            <a:endParaRPr lang="en-US" sz="1650" dirty="0"/>
          </a:p>
        </p:txBody>
      </p:sp>
      <p:sp>
        <p:nvSpPr>
          <p:cNvPr id="12" name="Shape 10"/>
          <p:cNvSpPr/>
          <p:nvPr/>
        </p:nvSpPr>
        <p:spPr>
          <a:xfrm>
            <a:off x="1397000" y="3651250"/>
            <a:ext cx="10134600" cy="0"/>
          </a:xfrm>
          <a:prstGeom prst="line">
            <a:avLst/>
          </a:prstGeom>
          <a:noFill/>
          <a:ln w="12700">
            <a:solidFill>
              <a:srgbClr val="C9D8D4"/>
            </a:solidFill>
            <a:prstDash val="solid"/>
            <a:headEnd type="none"/>
            <a:tailEnd type="none"/>
          </a:ln>
        </p:spPr>
        <p:txBody>
          <a:bodyPr/>
          <a:lstStyle/>
          <a:p>
            <a:endParaRPr lang="ko-KR"/>
          </a:p>
        </p:txBody>
      </p:sp>
      <p:sp>
        <p:nvSpPr>
          <p:cNvPr id="13" name="Shape 11"/>
          <p:cNvSpPr/>
          <p:nvPr/>
        </p:nvSpPr>
        <p:spPr>
          <a:xfrm>
            <a:off x="850900" y="3663950"/>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14" name="Text 12"/>
          <p:cNvSpPr txBox="1"/>
          <p:nvPr/>
        </p:nvSpPr>
        <p:spPr>
          <a:xfrm>
            <a:off x="660400" y="3841750"/>
            <a:ext cx="571500" cy="663575"/>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03</a:t>
            </a:r>
            <a:endParaRPr lang="en-US" sz="2200" dirty="0"/>
          </a:p>
        </p:txBody>
      </p:sp>
      <p:sp>
        <p:nvSpPr>
          <p:cNvPr id="15" name="Text 13"/>
          <p:cNvSpPr txBox="1"/>
          <p:nvPr/>
        </p:nvSpPr>
        <p:spPr>
          <a:xfrm>
            <a:off x="1397000" y="3841750"/>
            <a:ext cx="2603500" cy="663575"/>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EN resource</a:t>
            </a:r>
            <a:endParaRPr lang="en-US" sz="1900" dirty="0"/>
          </a:p>
        </p:txBody>
      </p:sp>
      <p:sp>
        <p:nvSpPr>
          <p:cNvPr id="16" name="Text 14"/>
          <p:cNvSpPr txBox="1"/>
          <p:nvPr/>
        </p:nvSpPr>
        <p:spPr>
          <a:xfrm>
            <a:off x="4152900" y="3841750"/>
            <a:ext cx="7378700" cy="663575"/>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공유 가능한 unused capacity</a:t>
            </a:r>
            <a:endParaRPr lang="en-US" sz="1650" dirty="0"/>
          </a:p>
        </p:txBody>
      </p:sp>
      <p:sp>
        <p:nvSpPr>
          <p:cNvPr id="17" name="Shape 15"/>
          <p:cNvSpPr/>
          <p:nvPr/>
        </p:nvSpPr>
        <p:spPr>
          <a:xfrm>
            <a:off x="1397000" y="4518025"/>
            <a:ext cx="10134600" cy="0"/>
          </a:xfrm>
          <a:prstGeom prst="line">
            <a:avLst/>
          </a:prstGeom>
          <a:noFill/>
          <a:ln w="12700">
            <a:solidFill>
              <a:srgbClr val="C9D8D4"/>
            </a:solidFill>
            <a:prstDash val="solid"/>
            <a:headEnd type="none"/>
            <a:tailEnd type="none"/>
          </a:ln>
        </p:spPr>
        <p:txBody>
          <a:bodyPr/>
          <a:lstStyle/>
          <a:p>
            <a:endParaRPr lang="ko-KR"/>
          </a:p>
        </p:txBody>
      </p:sp>
      <p:sp>
        <p:nvSpPr>
          <p:cNvPr id="18" name="Shape 16"/>
          <p:cNvSpPr/>
          <p:nvPr/>
        </p:nvSpPr>
        <p:spPr>
          <a:xfrm>
            <a:off x="850900" y="4530725"/>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19" name="Text 17"/>
          <p:cNvSpPr txBox="1"/>
          <p:nvPr/>
        </p:nvSpPr>
        <p:spPr>
          <a:xfrm>
            <a:off x="660400" y="4708525"/>
            <a:ext cx="571500" cy="663575"/>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04</a:t>
            </a:r>
            <a:endParaRPr lang="en-US" sz="2200" dirty="0"/>
          </a:p>
        </p:txBody>
      </p:sp>
      <p:sp>
        <p:nvSpPr>
          <p:cNvPr id="20" name="Text 18"/>
          <p:cNvSpPr txBox="1"/>
          <p:nvPr/>
        </p:nvSpPr>
        <p:spPr>
          <a:xfrm>
            <a:off x="1397000" y="4708525"/>
            <a:ext cx="2603500" cy="663575"/>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E2E</a:t>
            </a:r>
            <a:endParaRPr lang="en-US" sz="1900" dirty="0"/>
          </a:p>
        </p:txBody>
      </p:sp>
      <p:sp>
        <p:nvSpPr>
          <p:cNvPr id="21" name="Text 19"/>
          <p:cNvSpPr txBox="1"/>
          <p:nvPr/>
        </p:nvSpPr>
        <p:spPr>
          <a:xfrm>
            <a:off x="4152900" y="4708525"/>
            <a:ext cx="7378700" cy="663575"/>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EN이 다른 EN으로 다시 offload</a:t>
            </a:r>
            <a:endParaRPr lang="en-US" sz="1650" dirty="0"/>
          </a:p>
        </p:txBody>
      </p:sp>
      <p:sp>
        <p:nvSpPr>
          <p:cNvPr id="22" name="Shape 20"/>
          <p:cNvSpPr/>
          <p:nvPr/>
        </p:nvSpPr>
        <p:spPr>
          <a:xfrm>
            <a:off x="1397000" y="5384800"/>
            <a:ext cx="10134600" cy="0"/>
          </a:xfrm>
          <a:prstGeom prst="line">
            <a:avLst/>
          </a:prstGeom>
          <a:noFill/>
          <a:ln w="12700">
            <a:solidFill>
              <a:srgbClr val="C9D8D4"/>
            </a:solidFill>
            <a:prstDash val="solid"/>
            <a:headEnd type="none"/>
            <a:tailEnd type="none"/>
          </a:ln>
        </p:spPr>
        <p:txBody>
          <a:bodyPr/>
          <a:lstStyle/>
          <a:p>
            <a:endParaRPr lang="ko-KR"/>
          </a:p>
        </p:txBody>
      </p:sp>
      <p:sp>
        <p:nvSpPr>
          <p:cNvPr id="23" name="Shape 21"/>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24" name="Text 22"/>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제안의 차별점은 MD만이 아니라 EN도 offloading decision-maker로 둔다는 것이다</a:t>
            </a:r>
            <a:endParaRPr lang="en-US" sz="1750" dirty="0"/>
          </a:p>
        </p:txBody>
      </p:sp>
      <p:sp>
        <p:nvSpPr>
          <p:cNvPr id="25" name="Shape 23"/>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26" name="Text 24"/>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proposal pp. 1-2, Introduction</a:t>
            </a:r>
            <a:endParaRPr lang="en-US" sz="1050" dirty="0"/>
          </a:p>
        </p:txBody>
      </p:sp>
      <p:sp>
        <p:nvSpPr>
          <p:cNvPr id="27" name="Text 25"/>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D2E·E2E link와 decision-maker</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원문은 D2E·E2E link와 MD·EN decision-maker를 제시한다. 두 link의 항상적인 순서는 정하지 않았다.</a:t>
            </a:r>
            <a:endParaRPr lang="en-US" sz="1900" dirty="0"/>
          </a:p>
        </p:txBody>
      </p:sp>
      <p:sp>
        <p:nvSpPr>
          <p:cNvPr id="4" name="mechanism-lane-d2e"/>
          <p:cNvSpPr txBox="1"/>
          <p:nvPr/>
        </p:nvSpPr>
        <p:spPr>
          <a:xfrm>
            <a:off x="660400" y="2209800"/>
            <a:ext cx="863600" cy="1562100"/>
          </a:xfrm>
          <a:prstGeom prst="rect">
            <a:avLst/>
          </a:prstGeom>
          <a:noFill/>
          <a:ln/>
        </p:spPr>
        <p:txBody>
          <a:bodyPr wrap="square" lIns="0" tIns="0" rIns="0" bIns="0" rtlCol="0" anchor="ctr"/>
          <a:lstStyle/>
          <a:p>
            <a:pPr algn="ctr" indent="0" marL="0">
              <a:lnSpc>
                <a:spcPct val="120000"/>
              </a:lnSpc>
              <a:buNone/>
            </a:pPr>
            <a:r>
              <a:rPr lang="en-US" sz="1250" b="1" dirty="0">
                <a:solidFill>
                  <a:srgbClr val="0D685C"/>
                </a:solidFill>
                <a:latin typeface="AppleGothic" pitchFamily="34" charset="0"/>
                <a:ea typeface="AppleGothic" pitchFamily="34" charset="-122"/>
                <a:cs typeface="AppleGothic" pitchFamily="34" charset="-120"/>
              </a:rPr>
              <a:t>D2E</a:t>
            </a:r>
            <a:endParaRPr lang="en-US" sz="1250" dirty="0"/>
          </a:p>
        </p:txBody>
      </p:sp>
      <p:sp>
        <p:nvSpPr>
          <p:cNvPr id="5" name="mechanism-lane-e2e"/>
          <p:cNvSpPr txBox="1"/>
          <p:nvPr/>
        </p:nvSpPr>
        <p:spPr>
          <a:xfrm>
            <a:off x="660400" y="3771900"/>
            <a:ext cx="863600" cy="1562100"/>
          </a:xfrm>
          <a:prstGeom prst="rect">
            <a:avLst/>
          </a:prstGeom>
          <a:noFill/>
          <a:ln/>
        </p:spPr>
        <p:txBody>
          <a:bodyPr wrap="square" lIns="0" tIns="0" rIns="0" bIns="0" rtlCol="0" anchor="ctr"/>
          <a:lstStyle/>
          <a:p>
            <a:pPr algn="ctr" indent="0" marL="0">
              <a:lnSpc>
                <a:spcPct val="120000"/>
              </a:lnSpc>
              <a:buNone/>
            </a:pPr>
            <a:r>
              <a:rPr lang="en-US" sz="1250" b="1" dirty="0">
                <a:solidFill>
                  <a:srgbClr val="0D685C"/>
                </a:solidFill>
                <a:latin typeface="AppleGothic" pitchFamily="34" charset="0"/>
                <a:ea typeface="AppleGothic" pitchFamily="34" charset="-122"/>
                <a:cs typeface="AppleGothic" pitchFamily="34" charset="-120"/>
              </a:rPr>
              <a:t>E2E</a:t>
            </a:r>
            <a:endParaRPr lang="en-US" sz="1250" dirty="0"/>
          </a:p>
        </p:txBody>
      </p:sp>
      <p:sp>
        <p:nvSpPr>
          <p:cNvPr id="6" name="mechanism-edge-d1-segment-1"/>
          <p:cNvSpPr/>
          <p:nvPr/>
        </p:nvSpPr>
        <p:spPr>
          <a:xfrm>
            <a:off x="3810000" y="2990850"/>
            <a:ext cx="482600" cy="0"/>
          </a:xfrm>
          <a:prstGeom prst="line">
            <a:avLst/>
          </a:prstGeom>
          <a:noFill/>
          <a:ln w="12700">
            <a:solidFill>
              <a:srgbClr val="0D685C"/>
            </a:solidFill>
            <a:prstDash val="solid"/>
            <a:headEnd type="none"/>
            <a:tailEnd type="triangle"/>
          </a:ln>
        </p:spPr>
        <p:txBody>
          <a:bodyPr/>
          <a:lstStyle/>
          <a:p>
            <a:endParaRPr lang="ko-KR"/>
          </a:p>
        </p:txBody>
      </p:sp>
      <p:sp>
        <p:nvSpPr>
          <p:cNvPr id="7" name="mechanism-edge-d2-segment-1"/>
          <p:cNvSpPr/>
          <p:nvPr/>
        </p:nvSpPr>
        <p:spPr>
          <a:xfrm>
            <a:off x="6362700" y="2990850"/>
            <a:ext cx="482600" cy="0"/>
          </a:xfrm>
          <a:prstGeom prst="line">
            <a:avLst/>
          </a:prstGeom>
          <a:noFill/>
          <a:ln w="12700">
            <a:solidFill>
              <a:srgbClr val="0D685C"/>
            </a:solidFill>
            <a:prstDash val="solid"/>
            <a:headEnd type="none"/>
            <a:tailEnd type="triangle"/>
          </a:ln>
        </p:spPr>
        <p:txBody>
          <a:bodyPr/>
          <a:lstStyle/>
          <a:p>
            <a:endParaRPr lang="ko-KR"/>
          </a:p>
        </p:txBody>
      </p:sp>
      <p:sp>
        <p:nvSpPr>
          <p:cNvPr id="8" name="mechanism-edge-d3-segment-1"/>
          <p:cNvSpPr/>
          <p:nvPr/>
        </p:nvSpPr>
        <p:spPr>
          <a:xfrm>
            <a:off x="8915400" y="2990850"/>
            <a:ext cx="482600" cy="0"/>
          </a:xfrm>
          <a:prstGeom prst="line">
            <a:avLst/>
          </a:prstGeom>
          <a:noFill/>
          <a:ln w="12700">
            <a:solidFill>
              <a:srgbClr val="0D685C"/>
            </a:solidFill>
            <a:prstDash val="solid"/>
            <a:headEnd type="none"/>
            <a:tailEnd type="triangle"/>
          </a:ln>
        </p:spPr>
        <p:txBody>
          <a:bodyPr/>
          <a:lstStyle/>
          <a:p>
            <a:endParaRPr lang="ko-KR"/>
          </a:p>
        </p:txBody>
      </p:sp>
      <p:sp>
        <p:nvSpPr>
          <p:cNvPr id="9" name="mechanism-edge-e1-segment-1"/>
          <p:cNvSpPr/>
          <p:nvPr/>
        </p:nvSpPr>
        <p:spPr>
          <a:xfrm>
            <a:off x="3810000" y="4552950"/>
            <a:ext cx="482600" cy="0"/>
          </a:xfrm>
          <a:prstGeom prst="line">
            <a:avLst/>
          </a:prstGeom>
          <a:noFill/>
          <a:ln w="12700">
            <a:solidFill>
              <a:srgbClr val="0D685C"/>
            </a:solidFill>
            <a:prstDash val="solid"/>
            <a:headEnd type="none"/>
            <a:tailEnd type="triangle"/>
          </a:ln>
        </p:spPr>
        <p:txBody>
          <a:bodyPr/>
          <a:lstStyle/>
          <a:p>
            <a:endParaRPr lang="ko-KR"/>
          </a:p>
        </p:txBody>
      </p:sp>
      <p:sp>
        <p:nvSpPr>
          <p:cNvPr id="10" name="mechanism-edge-e2-segment-1"/>
          <p:cNvSpPr/>
          <p:nvPr/>
        </p:nvSpPr>
        <p:spPr>
          <a:xfrm>
            <a:off x="6362700" y="4552950"/>
            <a:ext cx="482600" cy="0"/>
          </a:xfrm>
          <a:prstGeom prst="line">
            <a:avLst/>
          </a:prstGeom>
          <a:noFill/>
          <a:ln w="12700">
            <a:solidFill>
              <a:srgbClr val="0D685C"/>
            </a:solidFill>
            <a:prstDash val="solid"/>
            <a:headEnd type="none"/>
            <a:tailEnd type="triangle"/>
          </a:ln>
        </p:spPr>
        <p:txBody>
          <a:bodyPr/>
          <a:lstStyle/>
          <a:p>
            <a:endParaRPr lang="ko-KR"/>
          </a:p>
        </p:txBody>
      </p:sp>
      <p:sp>
        <p:nvSpPr>
          <p:cNvPr id="11" name="mechanism-node-md-task"/>
          <p:cNvSpPr/>
          <p:nvPr/>
        </p:nvSpPr>
        <p:spPr>
          <a:xfrm>
            <a:off x="1739900" y="2660650"/>
            <a:ext cx="2070100" cy="660400"/>
          </a:xfrm>
          <a:prstGeom prst="roundRect">
            <a:avLst/>
          </a:prstGeom>
          <a:solidFill>
            <a:srgbClr val="E8F1EE"/>
          </a:solidFill>
          <a:ln>
            <a:solidFill>
              <a:srgbClr val="0D685C"/>
            </a:solidFill>
          </a:ln>
        </p:spPr>
        <p:txBody>
          <a:bodyPr wrap="square" lIns="50800" tIns="50800" rIns="50800" bIns="50800" rtlCol="0" anchor="ctr"/>
          <a:lstStyle/>
          <a:p>
            <a:pPr algn="ctr" indent="0" marL="0">
              <a:buNone/>
            </a:pPr>
            <a:r>
              <a:rPr lang="en-US" sz="1150" b="1" dirty="0">
                <a:solidFill>
                  <a:srgbClr val="0D685C"/>
                </a:solidFill>
                <a:latin typeface="AppleGothic" pitchFamily="34" charset="0"/>
                <a:ea typeface="AppleGothic" pitchFamily="34" charset="-122"/>
                <a:cs typeface="AppleGothic" pitchFamily="34" charset="-120"/>
              </a:rPr>
              <a:t>MD task</a:t>
            </a:r>
            <a:endParaRPr lang="en-US" sz="1150" dirty="0"/>
          </a:p>
          <a:p>
            <a:pPr algn="ctr" indent="0" marL="0">
              <a:buNone/>
            </a:pPr>
            <a:r>
              <a:rPr lang="en-US" sz="1150" dirty="0">
                <a:solidFill>
                  <a:srgbClr val="173C37"/>
                </a:solidFill>
                <a:latin typeface="AppleGothic" pitchFamily="34" charset="0"/>
                <a:ea typeface="AppleGothic" pitchFamily="34" charset="-122"/>
                <a:cs typeface="AppleGothic" pitchFamily="34" charset="-120"/>
              </a:rPr>
              <a:t>task to offload</a:t>
            </a:r>
            <a:endParaRPr lang="en-US" sz="1150" dirty="0"/>
          </a:p>
        </p:txBody>
      </p:sp>
      <p:sp>
        <p:nvSpPr>
          <p:cNvPr id="12" name="mechanism-node-md-agent"/>
          <p:cNvSpPr/>
          <p:nvPr/>
        </p:nvSpPr>
        <p:spPr>
          <a:xfrm>
            <a:off x="4292600" y="2660650"/>
            <a:ext cx="2070100" cy="660400"/>
          </a:xfrm>
          <a:prstGeom prst="roundRect">
            <a:avLst/>
          </a:prstGeom>
          <a:solidFill>
            <a:srgbClr val="E8F1EE"/>
          </a:solidFill>
          <a:ln>
            <a:solidFill>
              <a:srgbClr val="0D685C"/>
            </a:solidFill>
          </a:ln>
        </p:spPr>
        <p:txBody>
          <a:bodyPr wrap="square" lIns="50800" tIns="50800" rIns="50800" bIns="50800" rtlCol="0" anchor="ctr"/>
          <a:lstStyle/>
          <a:p>
            <a:pPr algn="ctr" indent="0" marL="0">
              <a:buNone/>
            </a:pPr>
            <a:r>
              <a:rPr lang="en-US" sz="1150" b="1" dirty="0">
                <a:solidFill>
                  <a:srgbClr val="0D685C"/>
                </a:solidFill>
                <a:latin typeface="AppleGothic" pitchFamily="34" charset="0"/>
                <a:ea typeface="AppleGothic" pitchFamily="34" charset="-122"/>
                <a:cs typeface="AppleGothic" pitchFamily="34" charset="-120"/>
              </a:rPr>
              <a:t>MD agent</a:t>
            </a:r>
            <a:endParaRPr lang="en-US" sz="1150" dirty="0"/>
          </a:p>
          <a:p>
            <a:pPr algn="ctr" indent="0" marL="0">
              <a:buNone/>
            </a:pPr>
            <a:r>
              <a:rPr lang="en-US" sz="1150" dirty="0">
                <a:solidFill>
                  <a:srgbClr val="173C37"/>
                </a:solidFill>
                <a:latin typeface="AppleGothic" pitchFamily="34" charset="0"/>
                <a:ea typeface="AppleGothic" pitchFamily="34" charset="-122"/>
                <a:cs typeface="AppleGothic" pitchFamily="34" charset="-120"/>
              </a:rPr>
              <a:t>D2E decision candidate</a:t>
            </a:r>
            <a:endParaRPr lang="en-US" sz="1150" dirty="0"/>
          </a:p>
        </p:txBody>
      </p:sp>
      <p:sp>
        <p:nvSpPr>
          <p:cNvPr id="13" name="mechanism-node-d2e-link"/>
          <p:cNvSpPr/>
          <p:nvPr/>
        </p:nvSpPr>
        <p:spPr>
          <a:xfrm>
            <a:off x="6845300" y="2660650"/>
            <a:ext cx="2070100" cy="660400"/>
          </a:xfrm>
          <a:prstGeom prst="roundRect">
            <a:avLst/>
          </a:prstGeom>
          <a:solidFill>
            <a:srgbClr val="E8F1EE"/>
          </a:solidFill>
          <a:ln>
            <a:solidFill>
              <a:srgbClr val="0D685C"/>
            </a:solidFill>
          </a:ln>
        </p:spPr>
        <p:txBody>
          <a:bodyPr wrap="square" lIns="50800" tIns="50800" rIns="50800" bIns="50800" rtlCol="0" anchor="ctr"/>
          <a:lstStyle/>
          <a:p>
            <a:pPr algn="ctr" indent="0" marL="0">
              <a:buNone/>
            </a:pPr>
            <a:r>
              <a:rPr lang="en-US" sz="1150" b="1" dirty="0">
                <a:solidFill>
                  <a:srgbClr val="0D685C"/>
                </a:solidFill>
                <a:latin typeface="AppleGothic" pitchFamily="34" charset="0"/>
                <a:ea typeface="AppleGothic" pitchFamily="34" charset="-122"/>
                <a:cs typeface="AppleGothic" pitchFamily="34" charset="-120"/>
              </a:rPr>
              <a:t>D2E link</a:t>
            </a:r>
            <a:endParaRPr lang="en-US" sz="1150" dirty="0"/>
          </a:p>
          <a:p>
            <a:pPr algn="ctr" indent="0" marL="0">
              <a:buNone/>
            </a:pPr>
            <a:r>
              <a:rPr lang="en-US" sz="1150" dirty="0">
                <a:solidFill>
                  <a:srgbClr val="173C37"/>
                </a:solidFill>
                <a:latin typeface="AppleGothic" pitchFamily="34" charset="0"/>
                <a:ea typeface="AppleGothic" pitchFamily="34" charset="-122"/>
                <a:cs typeface="AppleGothic" pitchFamily="34" charset="-120"/>
              </a:rPr>
              <a:t>MD to an EN</a:t>
            </a:r>
            <a:endParaRPr lang="en-US" sz="1150" dirty="0"/>
          </a:p>
        </p:txBody>
      </p:sp>
      <p:sp>
        <p:nvSpPr>
          <p:cNvPr id="14" name="mechanism-node-receiving-en"/>
          <p:cNvSpPr/>
          <p:nvPr/>
        </p:nvSpPr>
        <p:spPr>
          <a:xfrm>
            <a:off x="9398000" y="2660650"/>
            <a:ext cx="2070100" cy="660400"/>
          </a:xfrm>
          <a:prstGeom prst="roundRect">
            <a:avLst/>
          </a:prstGeom>
          <a:solidFill>
            <a:srgbClr val="E8F1EE"/>
          </a:solidFill>
          <a:ln>
            <a:solidFill>
              <a:srgbClr val="0D685C"/>
            </a:solidFill>
          </a:ln>
        </p:spPr>
        <p:txBody>
          <a:bodyPr wrap="square" lIns="50800" tIns="50800" rIns="50800" bIns="50800" rtlCol="0" anchor="ctr"/>
          <a:lstStyle/>
          <a:p>
            <a:pPr algn="ctr" indent="0" marL="0">
              <a:buNone/>
            </a:pPr>
            <a:r>
              <a:rPr lang="en-US" sz="1150" b="1" dirty="0">
                <a:solidFill>
                  <a:srgbClr val="0D685C"/>
                </a:solidFill>
                <a:latin typeface="AppleGothic" pitchFamily="34" charset="0"/>
                <a:ea typeface="AppleGothic" pitchFamily="34" charset="-122"/>
                <a:cs typeface="AppleGothic" pitchFamily="34" charset="-120"/>
              </a:rPr>
              <a:t>an EN</a:t>
            </a:r>
            <a:endParaRPr lang="en-US" sz="1150" dirty="0"/>
          </a:p>
          <a:p>
            <a:pPr algn="ctr" indent="0" marL="0">
              <a:buNone/>
            </a:pPr>
            <a:r>
              <a:rPr lang="en-US" sz="1150" dirty="0">
                <a:solidFill>
                  <a:srgbClr val="173C37"/>
                </a:solidFill>
                <a:latin typeface="AppleGothic" pitchFamily="34" charset="0"/>
                <a:ea typeface="AppleGothic" pitchFamily="34" charset="-122"/>
                <a:cs typeface="AppleGothic" pitchFamily="34" charset="-120"/>
              </a:rPr>
              <a:t>D2E destination</a:t>
            </a:r>
            <a:endParaRPr lang="en-US" sz="1150" dirty="0"/>
          </a:p>
        </p:txBody>
      </p:sp>
      <p:sp>
        <p:nvSpPr>
          <p:cNvPr id="15" name="mechanism-node-en-agent"/>
          <p:cNvSpPr/>
          <p:nvPr/>
        </p:nvSpPr>
        <p:spPr>
          <a:xfrm>
            <a:off x="1739900" y="4222750"/>
            <a:ext cx="2070100" cy="660400"/>
          </a:xfrm>
          <a:prstGeom prst="roundRect">
            <a:avLst/>
          </a:prstGeom>
          <a:solidFill>
            <a:srgbClr val="E8F1EE"/>
          </a:solidFill>
          <a:ln>
            <a:solidFill>
              <a:srgbClr val="0D685C"/>
            </a:solidFill>
          </a:ln>
        </p:spPr>
        <p:txBody>
          <a:bodyPr wrap="square" lIns="50800" tIns="50800" rIns="50800" bIns="50800" rtlCol="0" anchor="ctr"/>
          <a:lstStyle/>
          <a:p>
            <a:pPr algn="ctr" indent="0" marL="0">
              <a:buNone/>
            </a:pPr>
            <a:r>
              <a:rPr lang="en-US" sz="1150" b="1" dirty="0">
                <a:solidFill>
                  <a:srgbClr val="0D685C"/>
                </a:solidFill>
                <a:latin typeface="AppleGothic" pitchFamily="34" charset="0"/>
                <a:ea typeface="AppleGothic" pitchFamily="34" charset="-122"/>
                <a:cs typeface="AppleGothic" pitchFamily="34" charset="-120"/>
              </a:rPr>
              <a:t>EN agent</a:t>
            </a:r>
            <a:endParaRPr lang="en-US" sz="1150" dirty="0"/>
          </a:p>
          <a:p>
            <a:pPr algn="ctr" indent="0" marL="0">
              <a:buNone/>
            </a:pPr>
            <a:r>
              <a:rPr lang="en-US" sz="1150" dirty="0">
                <a:solidFill>
                  <a:srgbClr val="173C37"/>
                </a:solidFill>
                <a:latin typeface="AppleGothic" pitchFamily="34" charset="0"/>
                <a:ea typeface="AppleGothic" pitchFamily="34" charset="-122"/>
                <a:cs typeface="AppleGothic" pitchFamily="34" charset="-120"/>
              </a:rPr>
              <a:t>E2E decision candidate</a:t>
            </a:r>
            <a:endParaRPr lang="en-US" sz="1150" dirty="0"/>
          </a:p>
        </p:txBody>
      </p:sp>
      <p:sp>
        <p:nvSpPr>
          <p:cNvPr id="16" name="mechanism-node-e2e-link"/>
          <p:cNvSpPr/>
          <p:nvPr/>
        </p:nvSpPr>
        <p:spPr>
          <a:xfrm>
            <a:off x="4292600" y="4222750"/>
            <a:ext cx="2070100" cy="660400"/>
          </a:xfrm>
          <a:prstGeom prst="roundRect">
            <a:avLst/>
          </a:prstGeom>
          <a:solidFill>
            <a:srgbClr val="E8F1EE"/>
          </a:solidFill>
          <a:ln>
            <a:solidFill>
              <a:srgbClr val="0D685C"/>
            </a:solidFill>
          </a:ln>
        </p:spPr>
        <p:txBody>
          <a:bodyPr wrap="square" lIns="50800" tIns="50800" rIns="50800" bIns="50800" rtlCol="0" anchor="ctr"/>
          <a:lstStyle/>
          <a:p>
            <a:pPr algn="ctr" indent="0" marL="0">
              <a:buNone/>
            </a:pPr>
            <a:r>
              <a:rPr lang="en-US" sz="1150" b="1" dirty="0">
                <a:solidFill>
                  <a:srgbClr val="0D685C"/>
                </a:solidFill>
                <a:latin typeface="AppleGothic" pitchFamily="34" charset="0"/>
                <a:ea typeface="AppleGothic" pitchFamily="34" charset="-122"/>
                <a:cs typeface="AppleGothic" pitchFamily="34" charset="-120"/>
              </a:rPr>
              <a:t>E2E link</a:t>
            </a:r>
            <a:endParaRPr lang="en-US" sz="1150" dirty="0"/>
          </a:p>
          <a:p>
            <a:pPr algn="ctr" indent="0" marL="0">
              <a:buNone/>
            </a:pPr>
            <a:r>
              <a:rPr lang="en-US" sz="1150" dirty="0">
                <a:solidFill>
                  <a:srgbClr val="173C37"/>
                </a:solidFill>
                <a:latin typeface="AppleGothic" pitchFamily="34" charset="0"/>
                <a:ea typeface="AppleGothic" pitchFamily="34" charset="-122"/>
                <a:cs typeface="AppleGothic" pitchFamily="34" charset="-120"/>
              </a:rPr>
              <a:t>EN to an EN</a:t>
            </a:r>
            <a:endParaRPr lang="en-US" sz="1150" dirty="0"/>
          </a:p>
        </p:txBody>
      </p:sp>
      <p:sp>
        <p:nvSpPr>
          <p:cNvPr id="17" name="mechanism-node-target-en"/>
          <p:cNvSpPr/>
          <p:nvPr/>
        </p:nvSpPr>
        <p:spPr>
          <a:xfrm>
            <a:off x="6845300" y="4222750"/>
            <a:ext cx="2070100" cy="660400"/>
          </a:xfrm>
          <a:prstGeom prst="roundRect">
            <a:avLst/>
          </a:prstGeom>
          <a:solidFill>
            <a:srgbClr val="E8F1EE"/>
          </a:solidFill>
          <a:ln>
            <a:solidFill>
              <a:srgbClr val="0D685C"/>
            </a:solidFill>
          </a:ln>
        </p:spPr>
        <p:txBody>
          <a:bodyPr wrap="square" lIns="50800" tIns="50800" rIns="50800" bIns="50800" rtlCol="0" anchor="ctr"/>
          <a:lstStyle/>
          <a:p>
            <a:pPr algn="ctr" indent="0" marL="0">
              <a:buNone/>
            </a:pPr>
            <a:r>
              <a:rPr lang="en-US" sz="1150" b="1" dirty="0">
                <a:solidFill>
                  <a:srgbClr val="0D685C"/>
                </a:solidFill>
                <a:latin typeface="AppleGothic" pitchFamily="34" charset="0"/>
                <a:ea typeface="AppleGothic" pitchFamily="34" charset="-122"/>
                <a:cs typeface="AppleGothic" pitchFamily="34" charset="-120"/>
              </a:rPr>
              <a:t>particular EN</a:t>
            </a:r>
            <a:endParaRPr lang="en-US" sz="1150" dirty="0"/>
          </a:p>
          <a:p>
            <a:pPr algn="ctr" indent="0" marL="0">
              <a:buNone/>
            </a:pPr>
            <a:r>
              <a:rPr lang="en-US" sz="1150" dirty="0">
                <a:solidFill>
                  <a:srgbClr val="173C37"/>
                </a:solidFill>
                <a:latin typeface="AppleGothic" pitchFamily="34" charset="0"/>
                <a:ea typeface="AppleGothic" pitchFamily="34" charset="-122"/>
                <a:cs typeface="AppleGothic" pitchFamily="34" charset="-120"/>
              </a:rPr>
              <a:t>if an EN forwards</a:t>
            </a:r>
            <a:endParaRPr lang="en-US" sz="1150" dirty="0"/>
          </a:p>
        </p:txBody>
      </p:sp>
      <p:sp>
        <p:nvSpPr>
          <p:cNvPr id="18" name="Shape 16"/>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19" name="Text 17"/>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D2E·E2E는 원문이 언급한 별도 link다. forwarding rule과 queue policy는 미정이다</a:t>
            </a:r>
            <a:endParaRPr lang="en-US" sz="1750" dirty="0"/>
          </a:p>
        </p:txBody>
      </p:sp>
      <p:sp>
        <p:nvSpPr>
          <p:cNvPr id="20" name="Shape 18"/>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21" name="Text 19"/>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proposal pp. 1-2, abstract and Introduction</a:t>
            </a:r>
            <a:endParaRPr lang="en-US" sz="1050" dirty="0"/>
          </a:p>
        </p:txBody>
      </p:sp>
      <p:sp>
        <p:nvSpPr>
          <p:cNvPr id="22" name="Text 20"/>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queue-based multi-layer의 범위</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‘queue-based’라는 한 문장은 scheduling model 전체를 자동으로 정의하지 않는다.</a:t>
            </a:r>
            <a:endParaRPr lang="en-US" sz="1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60400" y="2082800"/>
          <a:ext cx="10871200" cy="3314700"/>
        </p:xfrm>
        <a:graphic>
          <a:graphicData uri="http://schemas.openxmlformats.org/drawingml/2006/table">
            <a:tbl>
              <a:tblPr/>
              <a:tblGrid>
                <a:gridCol w="3370072"/>
                <a:gridCol w="3913632"/>
                <a:gridCol w="3587496"/>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proposal이 명시</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추가 정의가 필요한 항목</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지금 말할 수 없는 결론</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queue-based multi-layer scenario</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queue 위치와 task arrival</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어느 node가 항상 bottleneck인지</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MD·EN이 layer decision 수행</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service·drop·forward rule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어떤 route가 항상 최적인지</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다른 time point의 decision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layer clock과 synchronization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정확한 latency 감소량</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resource availability 반영</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wireless·CPU feasibility</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energy·rate trade-off 수치</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5" name="Shape 2"/>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6" name="Text 3"/>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queue-based는 연구 방향이며, queue equation이나 placement의 대체어가 아니다</a:t>
            </a:r>
            <a:endParaRPr lang="en-US" sz="1750" dirty="0"/>
          </a:p>
        </p:txBody>
      </p:sp>
      <p:sp>
        <p:nvSpPr>
          <p:cNvPr id="7" name="Shape 4"/>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8" name="Text 5"/>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proposal pp. 1-2, abstract and Solution Approach</a:t>
            </a:r>
            <a:endParaRPr lang="en-US" sz="1050" dirty="0"/>
          </a:p>
        </p:txBody>
      </p:sp>
      <p:sp>
        <p:nvSpPr>
          <p:cNvPr id="9" name="Text 6"/>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왜 Dec-POMDP인가</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원문 framing은 MD·EN이 각자의 limited information으로 system performance에 기여하려는 상황이다.</a:t>
            </a:r>
            <a:endParaRPr lang="en-US" sz="1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60400" y="2082800"/>
          <a:ext cx="10871200" cy="3314700"/>
        </p:xfrm>
        <a:graphic>
          <a:graphicData uri="http://schemas.openxmlformats.org/drawingml/2006/table">
            <a:tbl>
              <a:tblPr/>
              <a:tblGrid>
                <a:gridCol w="1956816"/>
                <a:gridCol w="5109464"/>
                <a:gridCol w="3804920"/>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요소</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proposal의 설명</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명세 상태</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agents</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각 MD와 EN이 agent를 구성·훈련</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agent 수와 grouping 미정</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observation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global network의 partial observation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feature vector 미정</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decision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서로 다른 layer의 offloading</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action encoding 미정</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goal</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overall system performance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reward·objective 식 미정</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dynamics</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online·asynchronous environment</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transition model 미정</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5" name="Shape 2"/>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6" name="Text 3"/>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Dec-POMDP는 이 문제를 보는 틀이고, 아직 fully specified environment는 아니다</a:t>
            </a:r>
            <a:endParaRPr lang="en-US" sz="1750" dirty="0"/>
          </a:p>
        </p:txBody>
      </p:sp>
      <p:sp>
        <p:nvSpPr>
          <p:cNvPr id="7" name="Shape 4"/>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8" name="Text 5"/>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proposal p. 2, Problem Statement and Solution Approach</a:t>
            </a:r>
            <a:endParaRPr lang="en-US" sz="1050" dirty="0"/>
          </a:p>
        </p:txBody>
      </p:sp>
      <p:sp>
        <p:nvSpPr>
          <p:cNvPr id="9" name="Text 6"/>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single-agent RL 대신 MARL을 제안하는 논리</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다른 agent의 policy가 변하면 한 agent가 보는 environment도 변한다는 non-stationarity가 출발점이다.</a:t>
            </a:r>
            <a:endParaRPr lang="en-US" sz="1900" dirty="0"/>
          </a:p>
        </p:txBody>
      </p:sp>
      <p:sp>
        <p:nvSpPr>
          <p:cNvPr id="4" name="Text 2"/>
          <p:cNvSpPr txBox="1"/>
          <p:nvPr/>
        </p:nvSpPr>
        <p:spPr>
          <a:xfrm>
            <a:off x="660400" y="2108200"/>
            <a:ext cx="571500" cy="490220"/>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01</a:t>
            </a:r>
            <a:endParaRPr lang="en-US" sz="2200" dirty="0"/>
          </a:p>
        </p:txBody>
      </p:sp>
      <p:sp>
        <p:nvSpPr>
          <p:cNvPr id="5" name="Text 3"/>
          <p:cNvSpPr txBox="1"/>
          <p:nvPr/>
        </p:nvSpPr>
        <p:spPr>
          <a:xfrm>
            <a:off x="1397000" y="2108200"/>
            <a:ext cx="2603500" cy="490220"/>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여러 agent</a:t>
            </a:r>
            <a:endParaRPr lang="en-US" sz="1900" dirty="0"/>
          </a:p>
        </p:txBody>
      </p:sp>
      <p:sp>
        <p:nvSpPr>
          <p:cNvPr id="6" name="Text 4"/>
          <p:cNvSpPr txBox="1"/>
          <p:nvPr/>
        </p:nvSpPr>
        <p:spPr>
          <a:xfrm>
            <a:off x="4152900" y="2108200"/>
            <a:ext cx="7378700" cy="490220"/>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MD와 EN이 함께 action</a:t>
            </a:r>
            <a:endParaRPr lang="en-US" sz="1650" dirty="0"/>
          </a:p>
        </p:txBody>
      </p:sp>
      <p:sp>
        <p:nvSpPr>
          <p:cNvPr id="7" name="Shape 5"/>
          <p:cNvSpPr/>
          <p:nvPr/>
        </p:nvSpPr>
        <p:spPr>
          <a:xfrm>
            <a:off x="1397000" y="2611120"/>
            <a:ext cx="10134600" cy="0"/>
          </a:xfrm>
          <a:prstGeom prst="line">
            <a:avLst/>
          </a:prstGeom>
          <a:noFill/>
          <a:ln w="12700">
            <a:solidFill>
              <a:srgbClr val="C9D8D4"/>
            </a:solidFill>
            <a:prstDash val="solid"/>
            <a:headEnd type="none"/>
            <a:tailEnd type="none"/>
          </a:ln>
        </p:spPr>
        <p:txBody>
          <a:bodyPr/>
          <a:lstStyle/>
          <a:p>
            <a:endParaRPr lang="ko-KR"/>
          </a:p>
        </p:txBody>
      </p:sp>
      <p:sp>
        <p:nvSpPr>
          <p:cNvPr id="8" name="Shape 6"/>
          <p:cNvSpPr/>
          <p:nvPr/>
        </p:nvSpPr>
        <p:spPr>
          <a:xfrm>
            <a:off x="850900" y="2623820"/>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9" name="Text 7"/>
          <p:cNvSpPr txBox="1"/>
          <p:nvPr/>
        </p:nvSpPr>
        <p:spPr>
          <a:xfrm>
            <a:off x="660400" y="2801620"/>
            <a:ext cx="571500" cy="490220"/>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02</a:t>
            </a:r>
            <a:endParaRPr lang="en-US" sz="2200" dirty="0"/>
          </a:p>
        </p:txBody>
      </p:sp>
      <p:sp>
        <p:nvSpPr>
          <p:cNvPr id="10" name="Text 8"/>
          <p:cNvSpPr txBox="1"/>
          <p:nvPr/>
        </p:nvSpPr>
        <p:spPr>
          <a:xfrm>
            <a:off x="1397000" y="2801620"/>
            <a:ext cx="2603500" cy="490220"/>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partial view</a:t>
            </a:r>
            <a:endParaRPr lang="en-US" sz="1900" dirty="0"/>
          </a:p>
        </p:txBody>
      </p:sp>
      <p:sp>
        <p:nvSpPr>
          <p:cNvPr id="11" name="Text 9"/>
          <p:cNvSpPr txBox="1"/>
          <p:nvPr/>
        </p:nvSpPr>
        <p:spPr>
          <a:xfrm>
            <a:off x="4152900" y="2801620"/>
            <a:ext cx="7378700" cy="490220"/>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각 agent의 관측은 제한적</a:t>
            </a:r>
            <a:endParaRPr lang="en-US" sz="1650" dirty="0"/>
          </a:p>
        </p:txBody>
      </p:sp>
      <p:sp>
        <p:nvSpPr>
          <p:cNvPr id="12" name="Shape 10"/>
          <p:cNvSpPr/>
          <p:nvPr/>
        </p:nvSpPr>
        <p:spPr>
          <a:xfrm>
            <a:off x="1397000" y="3304540"/>
            <a:ext cx="10134600" cy="0"/>
          </a:xfrm>
          <a:prstGeom prst="line">
            <a:avLst/>
          </a:prstGeom>
          <a:noFill/>
          <a:ln w="12700">
            <a:solidFill>
              <a:srgbClr val="C9D8D4"/>
            </a:solidFill>
            <a:prstDash val="solid"/>
            <a:headEnd type="none"/>
            <a:tailEnd type="none"/>
          </a:ln>
        </p:spPr>
        <p:txBody>
          <a:bodyPr/>
          <a:lstStyle/>
          <a:p>
            <a:endParaRPr lang="ko-KR"/>
          </a:p>
        </p:txBody>
      </p:sp>
      <p:sp>
        <p:nvSpPr>
          <p:cNvPr id="13" name="Shape 11"/>
          <p:cNvSpPr/>
          <p:nvPr/>
        </p:nvSpPr>
        <p:spPr>
          <a:xfrm>
            <a:off x="850900" y="3317240"/>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14" name="Text 12"/>
          <p:cNvSpPr txBox="1"/>
          <p:nvPr/>
        </p:nvSpPr>
        <p:spPr>
          <a:xfrm>
            <a:off x="660400" y="3495040"/>
            <a:ext cx="571500" cy="490220"/>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03</a:t>
            </a:r>
            <a:endParaRPr lang="en-US" sz="2200" dirty="0"/>
          </a:p>
        </p:txBody>
      </p:sp>
      <p:sp>
        <p:nvSpPr>
          <p:cNvPr id="15" name="Text 13"/>
          <p:cNvSpPr txBox="1"/>
          <p:nvPr/>
        </p:nvSpPr>
        <p:spPr>
          <a:xfrm>
            <a:off x="1397000" y="3495040"/>
            <a:ext cx="2603500" cy="490220"/>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peer 변화</a:t>
            </a:r>
            <a:endParaRPr lang="en-US" sz="1900" dirty="0"/>
          </a:p>
        </p:txBody>
      </p:sp>
      <p:sp>
        <p:nvSpPr>
          <p:cNvPr id="16" name="Text 14"/>
          <p:cNvSpPr txBox="1"/>
          <p:nvPr/>
        </p:nvSpPr>
        <p:spPr>
          <a:xfrm>
            <a:off x="4152900" y="3495040"/>
            <a:ext cx="7378700" cy="490220"/>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다른 policy도 학습 중</a:t>
            </a:r>
            <a:endParaRPr lang="en-US" sz="1650" dirty="0"/>
          </a:p>
        </p:txBody>
      </p:sp>
      <p:sp>
        <p:nvSpPr>
          <p:cNvPr id="17" name="Shape 15"/>
          <p:cNvSpPr/>
          <p:nvPr/>
        </p:nvSpPr>
        <p:spPr>
          <a:xfrm>
            <a:off x="1397000" y="3997960"/>
            <a:ext cx="10134600" cy="0"/>
          </a:xfrm>
          <a:prstGeom prst="line">
            <a:avLst/>
          </a:prstGeom>
          <a:noFill/>
          <a:ln w="12700">
            <a:solidFill>
              <a:srgbClr val="C9D8D4"/>
            </a:solidFill>
            <a:prstDash val="solid"/>
            <a:headEnd type="none"/>
            <a:tailEnd type="none"/>
          </a:ln>
        </p:spPr>
        <p:txBody>
          <a:bodyPr/>
          <a:lstStyle/>
          <a:p>
            <a:endParaRPr lang="ko-KR"/>
          </a:p>
        </p:txBody>
      </p:sp>
      <p:sp>
        <p:nvSpPr>
          <p:cNvPr id="18" name="Shape 16"/>
          <p:cNvSpPr/>
          <p:nvPr/>
        </p:nvSpPr>
        <p:spPr>
          <a:xfrm>
            <a:off x="850900" y="4010660"/>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19" name="Text 17"/>
          <p:cNvSpPr txBox="1"/>
          <p:nvPr/>
        </p:nvSpPr>
        <p:spPr>
          <a:xfrm>
            <a:off x="660400" y="4188460"/>
            <a:ext cx="571500" cy="490220"/>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04</a:t>
            </a:r>
            <a:endParaRPr lang="en-US" sz="2200" dirty="0"/>
          </a:p>
        </p:txBody>
      </p:sp>
      <p:sp>
        <p:nvSpPr>
          <p:cNvPr id="20" name="Text 18"/>
          <p:cNvSpPr txBox="1"/>
          <p:nvPr/>
        </p:nvSpPr>
        <p:spPr>
          <a:xfrm>
            <a:off x="1397000" y="4188460"/>
            <a:ext cx="2603500" cy="490220"/>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non-stationarity</a:t>
            </a:r>
            <a:endParaRPr lang="en-US" sz="1900" dirty="0"/>
          </a:p>
        </p:txBody>
      </p:sp>
      <p:sp>
        <p:nvSpPr>
          <p:cNvPr id="21" name="Text 19"/>
          <p:cNvSpPr txBox="1"/>
          <p:nvPr/>
        </p:nvSpPr>
        <p:spPr>
          <a:xfrm>
            <a:off x="4152900" y="4188460"/>
            <a:ext cx="7378700" cy="490220"/>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single-agent 학습이 흔들릴 수 있음</a:t>
            </a:r>
            <a:endParaRPr lang="en-US" sz="1650" dirty="0"/>
          </a:p>
        </p:txBody>
      </p:sp>
      <p:sp>
        <p:nvSpPr>
          <p:cNvPr id="22" name="Shape 20"/>
          <p:cNvSpPr/>
          <p:nvPr/>
        </p:nvSpPr>
        <p:spPr>
          <a:xfrm>
            <a:off x="1397000" y="4691380"/>
            <a:ext cx="10134600" cy="0"/>
          </a:xfrm>
          <a:prstGeom prst="line">
            <a:avLst/>
          </a:prstGeom>
          <a:noFill/>
          <a:ln w="12700">
            <a:solidFill>
              <a:srgbClr val="C9D8D4"/>
            </a:solidFill>
            <a:prstDash val="solid"/>
            <a:headEnd type="none"/>
            <a:tailEnd type="none"/>
          </a:ln>
        </p:spPr>
        <p:txBody>
          <a:bodyPr/>
          <a:lstStyle/>
          <a:p>
            <a:endParaRPr lang="ko-KR"/>
          </a:p>
        </p:txBody>
      </p:sp>
      <p:sp>
        <p:nvSpPr>
          <p:cNvPr id="23" name="Shape 21"/>
          <p:cNvSpPr/>
          <p:nvPr/>
        </p:nvSpPr>
        <p:spPr>
          <a:xfrm>
            <a:off x="850900" y="4704080"/>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24" name="Text 22"/>
          <p:cNvSpPr txBox="1"/>
          <p:nvPr/>
        </p:nvSpPr>
        <p:spPr>
          <a:xfrm>
            <a:off x="660400" y="4881880"/>
            <a:ext cx="571500" cy="490220"/>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05</a:t>
            </a:r>
            <a:endParaRPr lang="en-US" sz="2200" dirty="0"/>
          </a:p>
        </p:txBody>
      </p:sp>
      <p:sp>
        <p:nvSpPr>
          <p:cNvPr id="25" name="Text 23"/>
          <p:cNvSpPr txBox="1"/>
          <p:nvPr/>
        </p:nvSpPr>
        <p:spPr>
          <a:xfrm>
            <a:off x="1397000" y="4881880"/>
            <a:ext cx="2603500" cy="490220"/>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MARL 후보</a:t>
            </a:r>
            <a:endParaRPr lang="en-US" sz="1900" dirty="0"/>
          </a:p>
        </p:txBody>
      </p:sp>
      <p:sp>
        <p:nvSpPr>
          <p:cNvPr id="26" name="Text 24"/>
          <p:cNvSpPr txBox="1"/>
          <p:nvPr/>
        </p:nvSpPr>
        <p:spPr>
          <a:xfrm>
            <a:off x="4152900" y="4881880"/>
            <a:ext cx="7378700" cy="490220"/>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distributed decision 협력을 목표</a:t>
            </a:r>
            <a:endParaRPr lang="en-US" sz="1650" dirty="0"/>
          </a:p>
        </p:txBody>
      </p:sp>
      <p:sp>
        <p:nvSpPr>
          <p:cNvPr id="27" name="Shape 25"/>
          <p:cNvSpPr/>
          <p:nvPr/>
        </p:nvSpPr>
        <p:spPr>
          <a:xfrm>
            <a:off x="1397000" y="5384800"/>
            <a:ext cx="10134600" cy="0"/>
          </a:xfrm>
          <a:prstGeom prst="line">
            <a:avLst/>
          </a:prstGeom>
          <a:noFill/>
          <a:ln w="12700">
            <a:solidFill>
              <a:srgbClr val="C9D8D4"/>
            </a:solidFill>
            <a:prstDash val="solid"/>
            <a:headEnd type="none"/>
            <a:tailEnd type="none"/>
          </a:ln>
        </p:spPr>
        <p:txBody>
          <a:bodyPr/>
          <a:lstStyle/>
          <a:p>
            <a:endParaRPr lang="ko-KR"/>
          </a:p>
        </p:txBody>
      </p:sp>
      <p:sp>
        <p:nvSpPr>
          <p:cNvPr id="28" name="Shape 26"/>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29" name="Text 27"/>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MARL은 비정상성에 대응하려는 후보이며, 이 제안서에서 효과는 검증되지 않았다</a:t>
            </a:r>
            <a:endParaRPr lang="en-US" sz="1750" dirty="0"/>
          </a:p>
        </p:txBody>
      </p:sp>
      <p:sp>
        <p:nvSpPr>
          <p:cNvPr id="30" name="Shape 28"/>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31" name="Text 29"/>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proposal pp. 1-2, Introduction</a:t>
            </a:r>
            <a:endParaRPr lang="en-US" sz="1050" dirty="0"/>
          </a:p>
        </p:txBody>
      </p:sp>
      <p:sp>
        <p:nvSpPr>
          <p:cNvPr id="32" name="Text 30"/>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서로 다른 layer·time point의 결정</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원문은 task offloading decision을 decouple하고, 서로 다른 layers가 different time points에서 결정한다고 제안한다.</a:t>
            </a:r>
            <a:endParaRPr lang="en-US" sz="1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60400" y="2082800"/>
          <a:ext cx="10871200" cy="3314700"/>
        </p:xfrm>
        <a:graphic>
          <a:graphicData uri="http://schemas.openxmlformats.org/drawingml/2006/table">
            <a:tbl>
              <a:tblPr/>
              <a:tblGrid>
                <a:gridCol w="5435600"/>
                <a:gridCol w="5435600"/>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원문이 말한 것</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원문이 정하지 않은 것</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93980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서로 다른 layer의 offloading decision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MD·EN과 layer의 고정 mapping</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93980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서로 다른 time point의 decision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두 decision의 순서·주기</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93980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state·resource에 따른 dynamic adjustment</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동시 action의 conflict 처리</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5" name="Shape 2"/>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6" name="Text 3"/>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asynchronous는 서로 다른 decision timing을 지향하지만, 순서와 timeline은 미정이다</a:t>
            </a:r>
            <a:endParaRPr lang="en-US" sz="1750" dirty="0"/>
          </a:p>
        </p:txBody>
      </p:sp>
      <p:sp>
        <p:nvSpPr>
          <p:cNvPr id="7" name="Shape 4"/>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8" name="Text 5"/>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proposal p. 2, Solution Approach</a:t>
            </a:r>
            <a:endParaRPr lang="en-US" sz="1050" dirty="0"/>
          </a:p>
        </p:txBody>
      </p:sp>
      <p:sp>
        <p:nvSpPr>
          <p:cNvPr id="9" name="Text 6"/>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multi-agent DDPG는 candidate다</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원문은 decentralized actor와 centralized critic을 명시하지만, training interface까지 명시하지는 않는다.</a:t>
            </a:r>
            <a:endParaRPr lang="en-US" sz="1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60400" y="2082800"/>
          <a:ext cx="10871200" cy="3314700"/>
        </p:xfrm>
        <a:graphic>
          <a:graphicData uri="http://schemas.openxmlformats.org/drawingml/2006/table">
            <a:tbl>
              <a:tblPr/>
              <a:tblGrid>
                <a:gridCol w="5435600"/>
                <a:gridCol w="5435600"/>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명시된 내용</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명시되지 않은 내용</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각 MD·EN agent가 actor를 가짐</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actor observation과 action dimension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actor는 decentralized</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execution message와 coordination protocol</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critic은 centralized</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critic input·parameter sharing·update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multi-agent DDPG를 design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replay·target·optimizer·network depth</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global optimization을 목표</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reward 또는 loss formula</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5" name="Shape 2"/>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6" name="Text 3"/>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‘centralized critic’만으로는 중앙이 무엇을 보고 어떻게 학습하는지 결정되지 않는다</a:t>
            </a:r>
            <a:endParaRPr lang="en-US" sz="1750" dirty="0"/>
          </a:p>
        </p:txBody>
      </p:sp>
      <p:sp>
        <p:nvSpPr>
          <p:cNvPr id="7" name="Shape 4"/>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8" name="Text 5"/>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proposal p. 2, Solution Approach; ref. 17</a:t>
            </a:r>
            <a:endParaRPr lang="en-US" sz="1050" dirty="0"/>
          </a:p>
        </p:txBody>
      </p:sp>
      <p:sp>
        <p:nvSpPr>
          <p:cNvPr id="9" name="Text 6"/>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강의용 가상 trace: 서로 다른 시점의 두 decision</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숫자·reward·성능을 넣지 않은 teaching-only routing trace다. 원문 experiment나 learned policy가 아니다.</a:t>
            </a:r>
            <a:endParaRPr lang="en-US" sz="1900" dirty="0"/>
          </a:p>
        </p:txBody>
      </p:sp>
      <p:sp>
        <p:nvSpPr>
          <p:cNvPr id="4" name="Text 2"/>
          <p:cNvSpPr txBox="1"/>
          <p:nvPr/>
        </p:nvSpPr>
        <p:spPr>
          <a:xfrm>
            <a:off x="660400" y="2108200"/>
            <a:ext cx="571500" cy="490220"/>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01</a:t>
            </a:r>
            <a:endParaRPr lang="en-US" sz="2200" dirty="0"/>
          </a:p>
        </p:txBody>
      </p:sp>
      <p:sp>
        <p:nvSpPr>
          <p:cNvPr id="5" name="Text 3"/>
          <p:cNvSpPr txBox="1"/>
          <p:nvPr/>
        </p:nvSpPr>
        <p:spPr>
          <a:xfrm>
            <a:off x="1397000" y="2108200"/>
            <a:ext cx="2603500" cy="490220"/>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task arrival</a:t>
            </a:r>
            <a:endParaRPr lang="en-US" sz="1900" dirty="0"/>
          </a:p>
        </p:txBody>
      </p:sp>
      <p:sp>
        <p:nvSpPr>
          <p:cNvPr id="6" name="Text 4"/>
          <p:cNvSpPr txBox="1"/>
          <p:nvPr/>
        </p:nvSpPr>
        <p:spPr>
          <a:xfrm>
            <a:off x="4152900" y="2108200"/>
            <a:ext cx="7378700" cy="490220"/>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가상의 MD task가 생김</a:t>
            </a:r>
            <a:endParaRPr lang="en-US" sz="1650" dirty="0"/>
          </a:p>
        </p:txBody>
      </p:sp>
      <p:sp>
        <p:nvSpPr>
          <p:cNvPr id="7" name="Shape 5"/>
          <p:cNvSpPr/>
          <p:nvPr/>
        </p:nvSpPr>
        <p:spPr>
          <a:xfrm>
            <a:off x="1397000" y="2611120"/>
            <a:ext cx="10134600" cy="0"/>
          </a:xfrm>
          <a:prstGeom prst="line">
            <a:avLst/>
          </a:prstGeom>
          <a:noFill/>
          <a:ln w="12700">
            <a:solidFill>
              <a:srgbClr val="C9D8D4"/>
            </a:solidFill>
            <a:prstDash val="solid"/>
            <a:headEnd type="none"/>
            <a:tailEnd type="none"/>
          </a:ln>
        </p:spPr>
        <p:txBody>
          <a:bodyPr/>
          <a:lstStyle/>
          <a:p>
            <a:endParaRPr lang="ko-KR"/>
          </a:p>
        </p:txBody>
      </p:sp>
      <p:sp>
        <p:nvSpPr>
          <p:cNvPr id="8" name="Shape 6"/>
          <p:cNvSpPr/>
          <p:nvPr/>
        </p:nvSpPr>
        <p:spPr>
          <a:xfrm>
            <a:off x="850900" y="2623820"/>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9" name="Text 7"/>
          <p:cNvSpPr txBox="1"/>
          <p:nvPr/>
        </p:nvSpPr>
        <p:spPr>
          <a:xfrm>
            <a:off x="660400" y="2801620"/>
            <a:ext cx="571500" cy="490220"/>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02</a:t>
            </a:r>
            <a:endParaRPr lang="en-US" sz="2200" dirty="0"/>
          </a:p>
        </p:txBody>
      </p:sp>
      <p:sp>
        <p:nvSpPr>
          <p:cNvPr id="10" name="Text 8"/>
          <p:cNvSpPr txBox="1"/>
          <p:nvPr/>
        </p:nvSpPr>
        <p:spPr>
          <a:xfrm>
            <a:off x="1397000" y="2801620"/>
            <a:ext cx="2603500" cy="490220"/>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MD decision</a:t>
            </a:r>
            <a:endParaRPr lang="en-US" sz="1900" dirty="0"/>
          </a:p>
        </p:txBody>
      </p:sp>
      <p:sp>
        <p:nvSpPr>
          <p:cNvPr id="11" name="Text 9"/>
          <p:cNvSpPr txBox="1"/>
          <p:nvPr/>
        </p:nvSpPr>
        <p:spPr>
          <a:xfrm>
            <a:off x="4152900" y="2801620"/>
            <a:ext cx="7378700" cy="490220"/>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가상의 D2E choice</a:t>
            </a:r>
            <a:endParaRPr lang="en-US" sz="1650" dirty="0"/>
          </a:p>
        </p:txBody>
      </p:sp>
      <p:sp>
        <p:nvSpPr>
          <p:cNvPr id="12" name="Shape 10"/>
          <p:cNvSpPr/>
          <p:nvPr/>
        </p:nvSpPr>
        <p:spPr>
          <a:xfrm>
            <a:off x="1397000" y="3304540"/>
            <a:ext cx="10134600" cy="0"/>
          </a:xfrm>
          <a:prstGeom prst="line">
            <a:avLst/>
          </a:prstGeom>
          <a:noFill/>
          <a:ln w="12700">
            <a:solidFill>
              <a:srgbClr val="C9D8D4"/>
            </a:solidFill>
            <a:prstDash val="solid"/>
            <a:headEnd type="none"/>
            <a:tailEnd type="none"/>
          </a:ln>
        </p:spPr>
        <p:txBody>
          <a:bodyPr/>
          <a:lstStyle/>
          <a:p>
            <a:endParaRPr lang="ko-KR"/>
          </a:p>
        </p:txBody>
      </p:sp>
      <p:sp>
        <p:nvSpPr>
          <p:cNvPr id="13" name="Shape 11"/>
          <p:cNvSpPr/>
          <p:nvPr/>
        </p:nvSpPr>
        <p:spPr>
          <a:xfrm>
            <a:off x="850900" y="3317240"/>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14" name="Text 12"/>
          <p:cNvSpPr txBox="1"/>
          <p:nvPr/>
        </p:nvSpPr>
        <p:spPr>
          <a:xfrm>
            <a:off x="660400" y="3495040"/>
            <a:ext cx="571500" cy="490220"/>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03</a:t>
            </a:r>
            <a:endParaRPr lang="en-US" sz="2200" dirty="0"/>
          </a:p>
        </p:txBody>
      </p:sp>
      <p:sp>
        <p:nvSpPr>
          <p:cNvPr id="15" name="Text 13"/>
          <p:cNvSpPr txBox="1"/>
          <p:nvPr/>
        </p:nvSpPr>
        <p:spPr>
          <a:xfrm>
            <a:off x="1397000" y="3495040"/>
            <a:ext cx="2603500" cy="490220"/>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EN receives</a:t>
            </a:r>
            <a:endParaRPr lang="en-US" sz="1900" dirty="0"/>
          </a:p>
        </p:txBody>
      </p:sp>
      <p:sp>
        <p:nvSpPr>
          <p:cNvPr id="16" name="Text 14"/>
          <p:cNvSpPr txBox="1"/>
          <p:nvPr/>
        </p:nvSpPr>
        <p:spPr>
          <a:xfrm>
            <a:off x="4152900" y="3495040"/>
            <a:ext cx="7378700" cy="490220"/>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task가 EN에 도착</a:t>
            </a:r>
            <a:endParaRPr lang="en-US" sz="1650" dirty="0"/>
          </a:p>
        </p:txBody>
      </p:sp>
      <p:sp>
        <p:nvSpPr>
          <p:cNvPr id="17" name="Shape 15"/>
          <p:cNvSpPr/>
          <p:nvPr/>
        </p:nvSpPr>
        <p:spPr>
          <a:xfrm>
            <a:off x="1397000" y="3997960"/>
            <a:ext cx="10134600" cy="0"/>
          </a:xfrm>
          <a:prstGeom prst="line">
            <a:avLst/>
          </a:prstGeom>
          <a:noFill/>
          <a:ln w="12700">
            <a:solidFill>
              <a:srgbClr val="C9D8D4"/>
            </a:solidFill>
            <a:prstDash val="solid"/>
            <a:headEnd type="none"/>
            <a:tailEnd type="none"/>
          </a:ln>
        </p:spPr>
        <p:txBody>
          <a:bodyPr/>
          <a:lstStyle/>
          <a:p>
            <a:endParaRPr lang="ko-KR"/>
          </a:p>
        </p:txBody>
      </p:sp>
      <p:sp>
        <p:nvSpPr>
          <p:cNvPr id="18" name="Shape 16"/>
          <p:cNvSpPr/>
          <p:nvPr/>
        </p:nvSpPr>
        <p:spPr>
          <a:xfrm>
            <a:off x="850900" y="4010660"/>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19" name="Text 17"/>
          <p:cNvSpPr txBox="1"/>
          <p:nvPr/>
        </p:nvSpPr>
        <p:spPr>
          <a:xfrm>
            <a:off x="660400" y="4188460"/>
            <a:ext cx="571500" cy="490220"/>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04</a:t>
            </a:r>
            <a:endParaRPr lang="en-US" sz="2200" dirty="0"/>
          </a:p>
        </p:txBody>
      </p:sp>
      <p:sp>
        <p:nvSpPr>
          <p:cNvPr id="20" name="Text 18"/>
          <p:cNvSpPr txBox="1"/>
          <p:nvPr/>
        </p:nvSpPr>
        <p:spPr>
          <a:xfrm>
            <a:off x="1397000" y="4188460"/>
            <a:ext cx="2603500" cy="490220"/>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EN decision</a:t>
            </a:r>
            <a:endParaRPr lang="en-US" sz="1900" dirty="0"/>
          </a:p>
        </p:txBody>
      </p:sp>
      <p:sp>
        <p:nvSpPr>
          <p:cNvPr id="21" name="Text 19"/>
          <p:cNvSpPr txBox="1"/>
          <p:nvPr/>
        </p:nvSpPr>
        <p:spPr>
          <a:xfrm>
            <a:off x="4152900" y="4188460"/>
            <a:ext cx="7378700" cy="490220"/>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나중에 E2E 여부 선택</a:t>
            </a:r>
            <a:endParaRPr lang="en-US" sz="1650" dirty="0"/>
          </a:p>
        </p:txBody>
      </p:sp>
      <p:sp>
        <p:nvSpPr>
          <p:cNvPr id="22" name="Shape 20"/>
          <p:cNvSpPr/>
          <p:nvPr/>
        </p:nvSpPr>
        <p:spPr>
          <a:xfrm>
            <a:off x="1397000" y="4691380"/>
            <a:ext cx="10134600" cy="0"/>
          </a:xfrm>
          <a:prstGeom prst="line">
            <a:avLst/>
          </a:prstGeom>
          <a:noFill/>
          <a:ln w="12700">
            <a:solidFill>
              <a:srgbClr val="C9D8D4"/>
            </a:solidFill>
            <a:prstDash val="solid"/>
            <a:headEnd type="none"/>
            <a:tailEnd type="none"/>
          </a:ln>
        </p:spPr>
        <p:txBody>
          <a:bodyPr/>
          <a:lstStyle/>
          <a:p>
            <a:endParaRPr lang="ko-KR"/>
          </a:p>
        </p:txBody>
      </p:sp>
      <p:sp>
        <p:nvSpPr>
          <p:cNvPr id="23" name="Shape 21"/>
          <p:cNvSpPr/>
          <p:nvPr/>
        </p:nvSpPr>
        <p:spPr>
          <a:xfrm>
            <a:off x="850900" y="4704080"/>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24" name="Text 22"/>
          <p:cNvSpPr txBox="1"/>
          <p:nvPr/>
        </p:nvSpPr>
        <p:spPr>
          <a:xfrm>
            <a:off x="660400" y="4881880"/>
            <a:ext cx="571500" cy="490220"/>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05</a:t>
            </a:r>
            <a:endParaRPr lang="en-US" sz="2200" dirty="0"/>
          </a:p>
        </p:txBody>
      </p:sp>
      <p:sp>
        <p:nvSpPr>
          <p:cNvPr id="25" name="Text 23"/>
          <p:cNvSpPr txBox="1"/>
          <p:nvPr/>
        </p:nvSpPr>
        <p:spPr>
          <a:xfrm>
            <a:off x="1397000" y="4881880"/>
            <a:ext cx="2603500" cy="490220"/>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target EN</a:t>
            </a:r>
            <a:endParaRPr lang="en-US" sz="1900" dirty="0"/>
          </a:p>
        </p:txBody>
      </p:sp>
      <p:sp>
        <p:nvSpPr>
          <p:cNvPr id="26" name="Text 24"/>
          <p:cNvSpPr txBox="1"/>
          <p:nvPr/>
        </p:nvSpPr>
        <p:spPr>
          <a:xfrm>
            <a:off x="4152900" y="4881880"/>
            <a:ext cx="7378700" cy="490220"/>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forward라면 다른 EN 도착</a:t>
            </a:r>
            <a:endParaRPr lang="en-US" sz="1650" dirty="0"/>
          </a:p>
        </p:txBody>
      </p:sp>
      <p:sp>
        <p:nvSpPr>
          <p:cNvPr id="27" name="Shape 25"/>
          <p:cNvSpPr/>
          <p:nvPr/>
        </p:nvSpPr>
        <p:spPr>
          <a:xfrm>
            <a:off x="1397000" y="5384800"/>
            <a:ext cx="10134600" cy="0"/>
          </a:xfrm>
          <a:prstGeom prst="line">
            <a:avLst/>
          </a:prstGeom>
          <a:noFill/>
          <a:ln w="12700">
            <a:solidFill>
              <a:srgbClr val="C9D8D4"/>
            </a:solidFill>
            <a:prstDash val="solid"/>
            <a:headEnd type="none"/>
            <a:tailEnd type="none"/>
          </a:ln>
        </p:spPr>
        <p:txBody>
          <a:bodyPr/>
          <a:lstStyle/>
          <a:p>
            <a:endParaRPr lang="ko-KR"/>
          </a:p>
        </p:txBody>
      </p:sp>
      <p:sp>
        <p:nvSpPr>
          <p:cNvPr id="28" name="Shape 26"/>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29" name="Text 27"/>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trace는 MD·EN decision 분리 예시일 뿐 optimal choice를 말하지 않는다</a:t>
            </a:r>
            <a:endParaRPr lang="en-US" sz="1750" dirty="0"/>
          </a:p>
        </p:txBody>
      </p:sp>
      <p:sp>
        <p:nvSpPr>
          <p:cNvPr id="30" name="Shape 28"/>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31" name="Text 29"/>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proposal pp. 1-2, proposed D2E/E2E and timing; constructed trace</a:t>
            </a:r>
            <a:endParaRPr lang="en-US" sz="1050" dirty="0"/>
          </a:p>
        </p:txBody>
      </p:sp>
      <p:sp>
        <p:nvSpPr>
          <p:cNvPr id="32" name="Text 30"/>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가상 trace가 보여 주는 것과 보여 주지 않는 것</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교육용 trace를 수치 실험이나 algorithm evaluation으로 오해하지 않기 위한 경계다.</a:t>
            </a:r>
            <a:endParaRPr lang="en-US" sz="1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0400" y="2082800"/>
          <a:ext cx="10871200" cy="3314700"/>
        </p:xfrm>
        <a:graphic>
          <a:graphicData uri="http://schemas.openxmlformats.org/drawingml/2006/table">
            <a:tbl>
              <a:tblPr/>
              <a:tblGrid>
                <a:gridCol w="5435600"/>
                <a:gridCol w="5435600"/>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보여 주는 것</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보여 주지 않는 것</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MD와 EN 모두 decision-maker</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어떤 agent policy가 학습됐는지</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D2E 다음에 E2E가 가능한 경로</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forward가 local service보다 좋은지</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다른 layer의 다른 decision time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latency·energy·throughput 수치</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partial observation이라는 설계 동기</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state·action·reward의 실제 값</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5" name="Shape 2"/>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6" name="Text 3"/>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toy는 source의 개념을 압축할 뿐, proposal이 결과를 이미 보였다는 증거가 아니다</a:t>
            </a:r>
            <a:endParaRPr lang="en-US" sz="1750" dirty="0"/>
          </a:p>
        </p:txBody>
      </p:sp>
      <p:sp>
        <p:nvSpPr>
          <p:cNvPr id="7" name="Shape 4"/>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8" name="Text 5"/>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proposal pp. 1-3, proposal content and references</a:t>
            </a:r>
            <a:endParaRPr lang="en-US" sz="1050" dirty="0"/>
          </a:p>
        </p:txBody>
      </p:sp>
      <p:sp>
        <p:nvSpPr>
          <p:cNvPr id="9" name="Text 6"/>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proposal을 재현 가능한 method로 만들 때 필요한 명세</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아래 항목은 원문이 이미 해결했다고 주장하지 않는, 다음 연구 단계의 specification checklist다.</a:t>
            </a:r>
            <a:endParaRPr lang="en-US" sz="1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60400" y="2082800"/>
          <a:ext cx="10871200" cy="3314700"/>
        </p:xfrm>
        <a:graphic>
          <a:graphicData uri="http://schemas.openxmlformats.org/drawingml/2006/table">
            <a:tbl>
              <a:tblPr/>
              <a:tblGrid>
                <a:gridCol w="2935224"/>
                <a:gridCol w="5218176"/>
                <a:gridCol w="2717800"/>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명세</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왜 필요한가</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원문 상태</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state·observation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partial view를 tensor로 정의</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미정</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action·feasibility</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D2E·E2E offloading action과 feasibility를 정의</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미정</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queue transition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arrival·service·forward를 갱신</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미정</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목적·보상</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global performance를 학습 signal로 연결</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미정</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56388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training·evaluation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critic update와 비교 실험 검증</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미정</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5" name="Shape 2"/>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6" name="Text 3"/>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proposal은 협력 방향을 정했고 algorithm에는 명세·검증이 더 필요하다</a:t>
            </a:r>
            <a:endParaRPr lang="en-US" sz="1750" dirty="0"/>
          </a:p>
        </p:txBody>
      </p:sp>
      <p:sp>
        <p:nvSpPr>
          <p:cNvPr id="7" name="Shape 4"/>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8" name="Text 5"/>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proposal pp. 1-3, stated approach and absent specifications</a:t>
            </a:r>
            <a:endParaRPr lang="en-US" sz="1050" dirty="0"/>
          </a:p>
        </p:txBody>
      </p:sp>
      <p:sp>
        <p:nvSpPr>
          <p:cNvPr id="9" name="Text 6"/>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정리: 이 proposal이 남긴 설계 질문</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완성된 MARL system의 성능 결론이 아니라, collaborative MEC research agenda로 읽는 것이 정확하다.</a:t>
            </a:r>
            <a:endParaRPr lang="en-US" sz="1900" dirty="0"/>
          </a:p>
        </p:txBody>
      </p:sp>
      <p:sp>
        <p:nvSpPr>
          <p:cNvPr id="4" name="Text 2"/>
          <p:cNvSpPr txBox="1"/>
          <p:nvPr/>
        </p:nvSpPr>
        <p:spPr>
          <a:xfrm>
            <a:off x="838200" y="2171700"/>
            <a:ext cx="10693400" cy="533400"/>
          </a:xfrm>
          <a:prstGeom prst="rect">
            <a:avLst/>
          </a:prstGeom>
          <a:noFill/>
          <a:ln/>
        </p:spPr>
        <p:txBody>
          <a:bodyPr wrap="square" lIns="0" tIns="0" rIns="0" bIns="0" rtlCol="0" anchor="ctr"/>
          <a:lstStyle/>
          <a:p>
            <a:pPr algn="l" marL="254000" indent="-254000">
              <a:lnSpc>
                <a:spcPct val="125000"/>
              </a:lnSpc>
              <a:buSzPct val="100000"/>
              <a:buChar char="•"/>
            </a:pPr>
            <a:r>
              <a:rPr lang="en-US" sz="2000" dirty="0">
                <a:solidFill>
                  <a:srgbClr val="173C37"/>
                </a:solidFill>
                <a:latin typeface="AppleGothic" pitchFamily="34" charset="0"/>
                <a:ea typeface="AppleGothic" pitchFamily="34" charset="-122"/>
                <a:cs typeface="AppleGothic" pitchFamily="34" charset="-120"/>
              </a:rPr>
              <a:t>MD의 D2E와 EN의 E2E decision을 함께 다루려 한다.</a:t>
            </a:r>
            <a:endParaRPr lang="en-US" sz="2000" dirty="0"/>
          </a:p>
        </p:txBody>
      </p:sp>
      <p:sp>
        <p:nvSpPr>
          <p:cNvPr id="5" name="Shape 3"/>
          <p:cNvSpPr/>
          <p:nvPr/>
        </p:nvSpPr>
        <p:spPr>
          <a:xfrm>
            <a:off x="838200" y="2755900"/>
            <a:ext cx="10693400" cy="0"/>
          </a:xfrm>
          <a:prstGeom prst="line">
            <a:avLst/>
          </a:prstGeom>
          <a:noFill/>
          <a:ln w="12700">
            <a:solidFill>
              <a:srgbClr val="C9D8D4"/>
            </a:solidFill>
            <a:prstDash val="solid"/>
            <a:headEnd type="none"/>
            <a:tailEnd type="none"/>
          </a:ln>
        </p:spPr>
        <p:txBody>
          <a:bodyPr/>
          <a:lstStyle/>
          <a:p>
            <a:endParaRPr lang="ko-KR"/>
          </a:p>
        </p:txBody>
      </p:sp>
      <p:sp>
        <p:nvSpPr>
          <p:cNvPr id="6" name="Text 4"/>
          <p:cNvSpPr txBox="1"/>
          <p:nvPr/>
        </p:nvSpPr>
        <p:spPr>
          <a:xfrm>
            <a:off x="838200" y="2794000"/>
            <a:ext cx="10693400" cy="533400"/>
          </a:xfrm>
          <a:prstGeom prst="rect">
            <a:avLst/>
          </a:prstGeom>
          <a:noFill/>
          <a:ln/>
        </p:spPr>
        <p:txBody>
          <a:bodyPr wrap="square" lIns="0" tIns="0" rIns="0" bIns="0" rtlCol="0" anchor="ctr"/>
          <a:lstStyle/>
          <a:p>
            <a:pPr algn="l" marL="254000" indent="-254000">
              <a:lnSpc>
                <a:spcPct val="125000"/>
              </a:lnSpc>
              <a:buSzPct val="100000"/>
              <a:buChar char="•"/>
            </a:pPr>
            <a:r>
              <a:rPr lang="en-US" sz="2000" dirty="0">
                <a:solidFill>
                  <a:srgbClr val="173C37"/>
                </a:solidFill>
                <a:latin typeface="AppleGothic" pitchFamily="34" charset="0"/>
                <a:ea typeface="AppleGothic" pitchFamily="34" charset="-122"/>
                <a:cs typeface="AppleGothic" pitchFamily="34" charset="-120"/>
              </a:rPr>
              <a:t>MD·EN의 partial observation을 Dec-POMDP로 framing한다.</a:t>
            </a:r>
            <a:endParaRPr lang="en-US" sz="2000" dirty="0"/>
          </a:p>
        </p:txBody>
      </p:sp>
      <p:sp>
        <p:nvSpPr>
          <p:cNvPr id="7" name="Shape 5"/>
          <p:cNvSpPr/>
          <p:nvPr/>
        </p:nvSpPr>
        <p:spPr>
          <a:xfrm>
            <a:off x="838200" y="3378200"/>
            <a:ext cx="10693400" cy="0"/>
          </a:xfrm>
          <a:prstGeom prst="line">
            <a:avLst/>
          </a:prstGeom>
          <a:noFill/>
          <a:ln w="12700">
            <a:solidFill>
              <a:srgbClr val="C9D8D4"/>
            </a:solidFill>
            <a:prstDash val="solid"/>
            <a:headEnd type="none"/>
            <a:tailEnd type="none"/>
          </a:ln>
        </p:spPr>
        <p:txBody>
          <a:bodyPr/>
          <a:lstStyle/>
          <a:p>
            <a:endParaRPr lang="ko-KR"/>
          </a:p>
        </p:txBody>
      </p:sp>
      <p:sp>
        <p:nvSpPr>
          <p:cNvPr id="8" name="Text 6"/>
          <p:cNvSpPr txBox="1"/>
          <p:nvPr/>
        </p:nvSpPr>
        <p:spPr>
          <a:xfrm>
            <a:off x="838200" y="3416300"/>
            <a:ext cx="10693400" cy="533400"/>
          </a:xfrm>
          <a:prstGeom prst="rect">
            <a:avLst/>
          </a:prstGeom>
          <a:noFill/>
          <a:ln/>
        </p:spPr>
        <p:txBody>
          <a:bodyPr wrap="square" lIns="0" tIns="0" rIns="0" bIns="0" rtlCol="0" anchor="ctr"/>
          <a:lstStyle/>
          <a:p>
            <a:pPr algn="l" marL="254000" indent="-254000">
              <a:lnSpc>
                <a:spcPct val="125000"/>
              </a:lnSpc>
              <a:buSzPct val="100000"/>
              <a:buChar char="•"/>
            </a:pPr>
            <a:r>
              <a:rPr lang="en-US" sz="2000" dirty="0">
                <a:solidFill>
                  <a:srgbClr val="173C37"/>
                </a:solidFill>
                <a:latin typeface="AppleGothic" pitchFamily="34" charset="0"/>
                <a:ea typeface="AppleGothic" pitchFamily="34" charset="-122"/>
                <a:cs typeface="AppleGothic" pitchFamily="34" charset="-120"/>
              </a:rPr>
              <a:t>서로 다른 layer와 time point의 asynchronous decision을 제안한다.</a:t>
            </a:r>
            <a:endParaRPr lang="en-US" sz="2000" dirty="0"/>
          </a:p>
        </p:txBody>
      </p:sp>
      <p:sp>
        <p:nvSpPr>
          <p:cNvPr id="9" name="Shape 7"/>
          <p:cNvSpPr/>
          <p:nvPr/>
        </p:nvSpPr>
        <p:spPr>
          <a:xfrm>
            <a:off x="838200" y="4000500"/>
            <a:ext cx="10693400" cy="0"/>
          </a:xfrm>
          <a:prstGeom prst="line">
            <a:avLst/>
          </a:prstGeom>
          <a:noFill/>
          <a:ln w="12700">
            <a:solidFill>
              <a:srgbClr val="C9D8D4"/>
            </a:solidFill>
            <a:prstDash val="solid"/>
            <a:headEnd type="none"/>
            <a:tailEnd type="none"/>
          </a:ln>
        </p:spPr>
        <p:txBody>
          <a:bodyPr/>
          <a:lstStyle/>
          <a:p>
            <a:endParaRPr lang="ko-KR"/>
          </a:p>
        </p:txBody>
      </p:sp>
      <p:sp>
        <p:nvSpPr>
          <p:cNvPr id="10" name="Text 8"/>
          <p:cNvSpPr txBox="1"/>
          <p:nvPr/>
        </p:nvSpPr>
        <p:spPr>
          <a:xfrm>
            <a:off x="838200" y="4038600"/>
            <a:ext cx="10693400" cy="533400"/>
          </a:xfrm>
          <a:prstGeom prst="rect">
            <a:avLst/>
          </a:prstGeom>
          <a:noFill/>
          <a:ln/>
        </p:spPr>
        <p:txBody>
          <a:bodyPr wrap="square" lIns="0" tIns="0" rIns="0" bIns="0" rtlCol="0" anchor="ctr"/>
          <a:lstStyle/>
          <a:p>
            <a:pPr algn="l" marL="254000" indent="-254000">
              <a:lnSpc>
                <a:spcPct val="125000"/>
              </a:lnSpc>
              <a:buSzPct val="100000"/>
              <a:buChar char="•"/>
            </a:pPr>
            <a:r>
              <a:rPr lang="en-US" sz="2000" dirty="0">
                <a:solidFill>
                  <a:srgbClr val="173C37"/>
                </a:solidFill>
                <a:latin typeface="AppleGothic" pitchFamily="34" charset="0"/>
                <a:ea typeface="AppleGothic" pitchFamily="34" charset="-122"/>
                <a:cs typeface="AppleGothic" pitchFamily="34" charset="-120"/>
              </a:rPr>
              <a:t>decentralized actor와 centralized critic을 candidate로 둔다.</a:t>
            </a:r>
            <a:endParaRPr lang="en-US" sz="2000" dirty="0"/>
          </a:p>
        </p:txBody>
      </p:sp>
      <p:sp>
        <p:nvSpPr>
          <p:cNvPr id="11" name="Shape 9"/>
          <p:cNvSpPr/>
          <p:nvPr/>
        </p:nvSpPr>
        <p:spPr>
          <a:xfrm>
            <a:off x="838200" y="4622800"/>
            <a:ext cx="10693400" cy="0"/>
          </a:xfrm>
          <a:prstGeom prst="line">
            <a:avLst/>
          </a:prstGeom>
          <a:noFill/>
          <a:ln w="12700">
            <a:solidFill>
              <a:srgbClr val="C9D8D4"/>
            </a:solidFill>
            <a:prstDash val="solid"/>
            <a:headEnd type="none"/>
            <a:tailEnd type="none"/>
          </a:ln>
        </p:spPr>
        <p:txBody>
          <a:bodyPr/>
          <a:lstStyle/>
          <a:p>
            <a:endParaRPr lang="ko-KR"/>
          </a:p>
        </p:txBody>
      </p:sp>
      <p:sp>
        <p:nvSpPr>
          <p:cNvPr id="12" name="Text 10"/>
          <p:cNvSpPr txBox="1"/>
          <p:nvPr/>
        </p:nvSpPr>
        <p:spPr>
          <a:xfrm>
            <a:off x="838200" y="4660900"/>
            <a:ext cx="10693400" cy="533400"/>
          </a:xfrm>
          <a:prstGeom prst="rect">
            <a:avLst/>
          </a:prstGeom>
          <a:noFill/>
          <a:ln/>
        </p:spPr>
        <p:txBody>
          <a:bodyPr wrap="square" lIns="0" tIns="0" rIns="0" bIns="0" rtlCol="0" anchor="ctr"/>
          <a:lstStyle/>
          <a:p>
            <a:pPr algn="l" marL="254000" indent="-254000">
              <a:lnSpc>
                <a:spcPct val="125000"/>
              </a:lnSpc>
              <a:buSzPct val="100000"/>
              <a:buChar char="•"/>
            </a:pPr>
            <a:r>
              <a:rPr lang="en-US" sz="2000" dirty="0">
                <a:solidFill>
                  <a:srgbClr val="173C37"/>
                </a:solidFill>
                <a:latin typeface="AppleGothic" pitchFamily="34" charset="0"/>
                <a:ea typeface="AppleGothic" pitchFamily="34" charset="-122"/>
                <a:cs typeface="AppleGothic" pitchFamily="34" charset="-120"/>
              </a:rPr>
              <a:t>reward·constraints·update·evaluation은 후속 명세와 검증이 필요하다.</a:t>
            </a:r>
            <a:endParaRPr lang="en-US" sz="2000" dirty="0"/>
          </a:p>
        </p:txBody>
      </p:sp>
      <p:sp>
        <p:nvSpPr>
          <p:cNvPr id="13" name="Shape 11"/>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14" name="Text 12"/>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핵심은 성능 수치가 아니라 협력 offloading 문제를 정하는 출발점이다</a:t>
            </a:r>
            <a:endParaRPr lang="en-US" sz="1750" dirty="0"/>
          </a:p>
        </p:txBody>
      </p:sp>
      <p:sp>
        <p:nvSpPr>
          <p:cNvPr id="15" name="Shape 13"/>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16" name="Text 14"/>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proposal pp. 1-2, abstract, Introduction, Solution Approach</a:t>
            </a:r>
            <a:endParaRPr lang="en-US" sz="1050" dirty="0"/>
          </a:p>
        </p:txBody>
      </p:sp>
      <p:sp>
        <p:nvSpPr>
          <p:cNvPr id="17" name="Text 15"/>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13</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협력 MEC offloading을 위한 multi-agent DRL 제안</dc:title>
  <dc:subject>Multi-Agent Deep Reinforcement Learning for Collaborative Computation Offloading in Mobile Edge-Computing</dc:subject>
  <dc:creator>Research Seminars</dc:creator>
  <cp:lastModifiedBy>Research Seminars</cp:lastModifiedBy>
  <cp:revision>1</cp:revision>
  <dcterms:created xsi:type="dcterms:W3CDTF">2026-09-12T07:14:19Z</dcterms:created>
  <dcterms:modified xsi:type="dcterms:W3CDTF">2026-09-12T07:14:19Z</dcterms:modified>
</cp:coreProperties>
</file>
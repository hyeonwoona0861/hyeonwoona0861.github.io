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pleGothic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r">
              <a:buNone/>
            </a:pPr>
            <a:fld id="{AC2F1A38-6D76-4705-811C-CF4ABCD5FB8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협력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MEC offloading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위한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multi-agent DRL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제안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자료는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Iman Rahmati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세 쪽짜리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research proposal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소개합니다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원문에는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publication year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적혀 있지 않으므로 연도를 추정하지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제안의 핵심은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mobile device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edge node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보내는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D2E offloading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 더해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edge node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E2E forwarding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까지 고려하려는 것입니다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proposal | p. 1, title and abstract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Multi-Agent Deep Reinforcement Learning for Collaborative Computation Offloading in Mobile Edge-Computing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https://imanrht.github.io/assets/Multi_AgentDRL4MEC.pdf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DCB47BB-A9EE-47BB-9286-C3C21A8491D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먼저 범위 확인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제안서가 말한 것과 말하지 않은 것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원문에는 수식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figure, table, pseudocode, simulation setting, performance result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없습니다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또한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reward, observation vector, action encoding, queue transition, critic input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update rule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도 정의되지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따라서 발표에서는 미래형 제안과 이미 검증된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method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구분해야 하며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generic MARL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지식을 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proposal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결과처럼 말하면 안 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proposal | pp. 1-3, all sections and references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Multi-Agent Deep Reinforcement Learning for Collaborative Computation Offloading in Mobile Edge-Computing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https://imanrht.github.io/assets/Multi_AgentDRL4MEC.pdf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AC882CF-18CE-486F-BE3C-AAAEFB17A70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D2E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만으로는 부족하다고 보는가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기존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RL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MEC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연구가 주로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device-to-edge link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통해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MD task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으로 보내는 문제를 다뤘다고 설명합니다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proposal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underutilized EN computing resource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공유할 수 있도록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MD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모두가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communication·computation capacity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 따라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particular EN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으로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task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offload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하는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collaborative framework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탐색합니다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proposal | pp. 1-2, Introduction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Multi-Agent Deep Reinforcement Learning for Collaborative Computation Offloading in Mobile Edge-Computing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https://imanrht.github.io/assets/Multi_AgentDRL4MEC.pdf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CF98C65-62DA-4D20-917E-588E40F2E7E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D2E·E2E link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decision-maker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원문은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D2E transmission link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task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offload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하고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EN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E2E transmission link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task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particular EN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offload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할 수 있는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collaborative framework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제안합니다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위아래 행은 이 두 관계를 분리해 보인 것이며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모든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D2E task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E2E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이어진다는 뜻은 아닙니다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Source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queue-based multi-layer model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이라고만 했을 뿐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MD queue, EN queue, service order, E2E forwarding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조건을 정의하지 않았으므로 그림도 그것들을 사실처럼 배치하지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proposal | pp. 1-2, abstract and Introduction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Multi-Agent Deep Reinforcement Learning for Collaborative Computation Offloading in Mobile Edge-Computing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https://imanrht.github.io/assets/Multi_AgentDRL4MEC.pdf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3940C5EA-A39D-4436-8D98-7CEE44B6F4F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 queue-based multi-layer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범위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Proposal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queue-based multi-layer model scenario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design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한다고 말하지만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queue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state, arrival, service, capacity, location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제시하지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마찬가지로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resource availability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 맞춰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layer decision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adjust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한다고 하나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communication rate, computing capacity formula, resource constraint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없습니다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오른쪽 열은 결함을 비난하는 것이 아니라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proposal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executable method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만들 때 필요한 명세를 구분하는 장치입니다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proposal | pp. 1-2, abstract and Solution Approach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Multi-Agent Deep Reinforcement Learning for Collaborative Computation Offloading in Mobile Edge-Computing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https://imanrht.github.io/assets/Multi_AgentDRL4MEC.pdf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87051F4-2EBB-446E-8B8F-59F6CF52487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Dec-POMDP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Decentralized partially observable MDP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라는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framing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global network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다른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entities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 대해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limited information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만 가진다는 원문의 설명을 담습니다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MD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각자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이므로 전체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state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모두 보지 못한 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고르는 상황을 표현합니다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Dec-POMDP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state, observation, action, transition, reward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proposal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수식이나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vector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정의한 것은 아닙니다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proposal | p. 2, Problem Statement and Solution Approach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Multi-Agent Deep Reinforcement Learning for Collaborative Computation Offloading in Mobile Edge-Computing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https://imanrht.github.io/assets/Multi_AgentDRL4MEC.pdf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E9BEF3CE-C810-4727-B5EE-037F3725EF6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 single-agent RL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MARL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제안하는 논리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single-agent RL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다른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agents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environment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일부로 취급하면 다른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agents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policy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변화 때문에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non-stationarity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문제가 생길 수 있다고 설명합니다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proposal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 agent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distributed decisions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협력해 만들도록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MARL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사용하겠다고 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여기서 ‘해결한다’는 말은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proposal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동기이며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source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MARL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single-agent method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experiment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theorem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비교가 없습니다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proposal | pp. 1-2, Introduction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Multi-Agent Deep Reinforcement Learning for Collaborative Computation Offloading in Mobile Edge-Computing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https://imanrht.github.io/assets/Multi_AgentDRL4MEC.pdf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6108ADBB-245C-4108-861F-6B3D9040F16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서로 다른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layer·time point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결정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Solution Approach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task offloading decisions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different layers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different time points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만들도록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decouple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한다고 말합니다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구조가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current network state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resource availability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 맞춘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dynamic adjustment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허용한다고 주장합니다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하지만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각각 몇 초 또는 몇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slot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마다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하는지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동시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action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충돌을 어떻게 처리하는지는 지정하지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proposal | p. 2, Solution Approach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Multi-Agent Deep Reinforcement Learning for Collaborative Computation Offloading in Mobile Edge-Computing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https://imanrht.github.io/assets/Multi_AgentDRL4MEC.pdf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D47E6A4D-58F3-4E0D-80C7-D3539BCC024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9. multi-agent DDPG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candidate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원문은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multi-agent deep deterministic policy gradient algorithm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design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한다고 하고 각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decentralized actor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centralized critic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있다고 말합니다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그러나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critic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global state, joint actions, local observations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중 무엇을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input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으로 받는지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actor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어떤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내는지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update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어떤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loss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최소화하는지는 정의하지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따라서 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proposal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MADDPG implementation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으로 소개하면 범위를 넘습니다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proposal | p. 2, Solution Approach; ref. 17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Multi-Agent Deep Reinforcement Learning for Collaborative Computation Offloading in Mobile Edge-Computing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https://imanrht.github.io/assets/Multi_AgentDRL4MEC.pdf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5C5A5A9A-0A9A-46F1-97B1-C2DB0281BE0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강의용 가상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trace: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서로 다른 시점의 두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decision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teaching-only construction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가상의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MD task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D2E link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 도착한 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EN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나중 시점에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E2E forwarding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여부를 결정할 수 있다는 순서만 보여 줍니다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원문은 이러한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different layers and time points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제안하지만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어떤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task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언제 반드시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forward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되는지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forwarding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local service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보다 좋은지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reward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무엇인지는 정의하지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proposal | pp. 1-2, proposed D2E/E2E and timing; constructed trace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Multi-Agent Deep Reinforcement Learning for Collaborative Computation Offloading in Mobile Edge-Computing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https://imanrht.github.io/assets/Multi_AgentDRL4MEC.pdf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D62C2F65-2DC4-4D54-A883-A48958DFC9C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11.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가상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trace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보여 주는 것과 보여 주지 않는 것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원문에는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numerical example, figure, table, experiment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없습니다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따라서 앞의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trace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D2E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E2E, MD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서로 다른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decision timing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이라는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high-level relation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익히는 장치입니다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Rate, delay, energy, utilization, queue length, reward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또는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policy quality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넣지 않은 이유는 그런 값이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 정의되거나 측정되지 않았기 때문입니다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proposal | pp. 1-3, proposal content and references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Multi-Agent Deep Reinforcement Learning for Collaborative Computation Offloading in Mobile Edge-Computing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https://imanrht.github.io/assets/Multi_AgentDRL4MEC.pdf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B57961A-F0D5-4C6B-A647-DB48E5DC291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12. proposal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재현 가능한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method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만들 때 필요한 명세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표는 원문의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claim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과 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claim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구현 가능한 연구로 바꾸기 위해 필요한 정보를 분리합니다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Dec-POMDP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multi-agent DDPG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라는 이름만으로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state, action, transition, reward, learning update, evaluation protocol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결정되지는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따라서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checklist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누락을 임의로 채운 것이 아니라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제안서 단계와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completed method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단계의 차이를 드러냅니다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proposal | pp. 1-3, stated approach and absent specifications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Multi-Agent Deep Reinforcement Learning for Collaborative Computation Offloading in Mobile Edge-Computing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https://imanrht.github.io/assets/Multi_AgentDRL4MEC.pdf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3E917396-7B12-4992-B371-8FA1A28CE88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13.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정리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proposal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남긴 설계 질문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제안서는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뿐 아니라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decision-maker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포함해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D2E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E2E offloading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연결하고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partial observation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asynchronous decision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Dec-POMDP/MARL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관점에서 다루려 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Multi-agent DDPG actor–critic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candidate solution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으로 언급됩니다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그러나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result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없으므로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자료의 결론은 성능 우위가 아니라 정확한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research scope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명세 과제입니다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proposal | pp. 1-2, abstract, Introduction, Solution Approach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Multi-Agent Deep Reinforcement Learning for Collaborative Computation Offloading in Mobile Edge-Computing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https://imanrht.github.io/assets/Multi_AgentDRL4MEC.pdf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697EE8C7-5EBF-41F9-B00F-309BAC050F4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pleGothic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pleGothic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pleGothic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pleGothic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pleGothic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pleGothic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pleGothic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pleGothic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pleGothic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pleGothic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pleGothic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pleGothic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pleGothic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pleGothic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pleGothic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pleGothic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215640" cy="6857640"/>
          </a:xfrm>
          <a:prstGeom prst="rect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1" name="Text 1"/>
          <p:cNvSpPr/>
          <p:nvPr/>
        </p:nvSpPr>
        <p:spPr>
          <a:xfrm>
            <a:off x="888840" y="888840"/>
            <a:ext cx="8762760" cy="13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ko-KR" sz="40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협력 </a:t>
            </a:r>
            <a:r>
              <a:rPr lang="en-US" sz="40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MEC offloading</a:t>
            </a:r>
            <a:r>
              <a:rPr lang="ko-KR" sz="40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을 위한 </a:t>
            </a:r>
            <a:r>
              <a:rPr lang="en-US" sz="40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multi-agent DRL </a:t>
            </a:r>
            <a:r>
              <a:rPr lang="ko-KR" sz="40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제안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888840" y="2413080"/>
            <a:ext cx="9651600" cy="13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Multi-Agent Deep Reinforcement Learning for Collaborative Computation Offloading in Mobile Edge-Computing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888840" y="4076640"/>
            <a:ext cx="965196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4" name="Text 4"/>
          <p:cNvSpPr/>
          <p:nvPr/>
        </p:nvSpPr>
        <p:spPr>
          <a:xfrm>
            <a:off x="888840" y="4368960"/>
            <a:ext cx="9651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Iman Rahmati (</a:t>
            </a:r>
            <a:r>
              <a:rPr lang="ko-KR" sz="17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연도 미상</a:t>
            </a:r>
            <a:r>
              <a:rPr lang="en-US" sz="17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)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888840" y="5245200"/>
            <a:ext cx="96516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MD-to-EN</a:t>
            </a:r>
            <a:r>
              <a:rPr lang="ko-KR" sz="175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과 </a:t>
            </a:r>
            <a:r>
              <a:rPr lang="en-US" sz="175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EN-to-EN offloading</a:t>
            </a:r>
            <a:r>
              <a:rPr lang="ko-KR" sz="175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을 함께 보려는 </a:t>
            </a:r>
            <a:r>
              <a:rPr lang="en-US" sz="175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undated research proposal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7" name="Text 7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proposal p. 1, title and abstract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먼저 범위 확인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: 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제안서가 말한 것과 말하지 않은 것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660240" y="1333440"/>
            <a:ext cx="108709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문서는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abstract, introduction, problem statement, references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로 구성된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research proposal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이다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" name="Table 0"/>
          <p:cNvGraphicFramePr/>
          <p:nvPr/>
        </p:nvGraphicFramePr>
        <p:xfrm>
          <a:off x="660240" y="2082960"/>
          <a:ext cx="10870920" cy="3314520"/>
        </p:xfrm>
        <a:graphic>
          <a:graphicData uri="http://schemas.openxmlformats.org/drawingml/2006/table">
            <a:tbl>
              <a:tblPr/>
              <a:tblGrid>
                <a:gridCol w="5435280"/>
                <a:gridCol w="5435280"/>
              </a:tblGrid>
              <a:tr h="4950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원문에 있는 것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원문에 없는 것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76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D2E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와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E2E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를 잇는 협력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offloading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구상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완전한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algorithm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또는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pseudocode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76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queue-based multi-layer scenario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queue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위치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·discipline·update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식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76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Dec-POMDP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와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multi-agent DDPG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후보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state·action·reward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정의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76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decentralized actor, centralized critic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critic input·network·training update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76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두 개의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contribution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문장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experiment·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표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·figure·result·proof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2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23" name="Text 3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이 덱은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proposal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의 설계 방향을 설명하며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, 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없는 구현 세부를 보충하지 않는다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4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25" name="Text 5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proposal pp. 1-3, all sections and references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왜 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D2E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만으로는 부족하다고 보는가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660240" y="1333440"/>
            <a:ext cx="108709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제안은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EN 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사이의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unused computing resource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도 활용해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collaborative offloading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을 넓히려 한다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"/>
          <p:cNvSpPr/>
          <p:nvPr/>
        </p:nvSpPr>
        <p:spPr>
          <a:xfrm>
            <a:off x="660240" y="2108160"/>
            <a:ext cx="571320" cy="6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1397160" y="2108160"/>
            <a:ext cx="2603160" cy="6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MD task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4152960" y="2108160"/>
            <a:ext cx="7378200" cy="6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compute-intensive task</a:t>
            </a: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가 생긴다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5"/>
          <p:cNvSpPr/>
          <p:nvPr/>
        </p:nvSpPr>
        <p:spPr>
          <a:xfrm>
            <a:off x="1396800" y="2784240"/>
            <a:ext cx="1013472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33" name="Shape 6"/>
          <p:cNvSpPr/>
          <p:nvPr/>
        </p:nvSpPr>
        <p:spPr>
          <a:xfrm>
            <a:off x="851040" y="2797200"/>
            <a:ext cx="190080" cy="1519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34" name="Text 7"/>
          <p:cNvSpPr/>
          <p:nvPr/>
        </p:nvSpPr>
        <p:spPr>
          <a:xfrm>
            <a:off x="660240" y="2975040"/>
            <a:ext cx="571320" cy="6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8"/>
          <p:cNvSpPr/>
          <p:nvPr/>
        </p:nvSpPr>
        <p:spPr>
          <a:xfrm>
            <a:off x="1397160" y="2975040"/>
            <a:ext cx="2603160" cy="6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D2E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9"/>
          <p:cNvSpPr/>
          <p:nvPr/>
        </p:nvSpPr>
        <p:spPr>
          <a:xfrm>
            <a:off x="4152960" y="2975040"/>
            <a:ext cx="7378200" cy="6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MD</a:t>
            </a: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가 가까운 </a:t>
            </a: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EN</a:t>
            </a: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으로 </a:t>
            </a: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offload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0"/>
          <p:cNvSpPr/>
          <p:nvPr/>
        </p:nvSpPr>
        <p:spPr>
          <a:xfrm>
            <a:off x="1396800" y="3651120"/>
            <a:ext cx="1013472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38" name="Shape 11"/>
          <p:cNvSpPr/>
          <p:nvPr/>
        </p:nvSpPr>
        <p:spPr>
          <a:xfrm>
            <a:off x="851040" y="3664080"/>
            <a:ext cx="190080" cy="1519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39" name="Text 12"/>
          <p:cNvSpPr/>
          <p:nvPr/>
        </p:nvSpPr>
        <p:spPr>
          <a:xfrm>
            <a:off x="660240" y="3841920"/>
            <a:ext cx="571320" cy="6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3"/>
          <p:cNvSpPr/>
          <p:nvPr/>
        </p:nvSpPr>
        <p:spPr>
          <a:xfrm>
            <a:off x="1397160" y="3841920"/>
            <a:ext cx="2603160" cy="6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EN resource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4"/>
          <p:cNvSpPr/>
          <p:nvPr/>
        </p:nvSpPr>
        <p:spPr>
          <a:xfrm>
            <a:off x="4152960" y="3841920"/>
            <a:ext cx="7378200" cy="6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공유 가능한 </a:t>
            </a: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unused capacity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5"/>
          <p:cNvSpPr/>
          <p:nvPr/>
        </p:nvSpPr>
        <p:spPr>
          <a:xfrm>
            <a:off x="1396800" y="4518000"/>
            <a:ext cx="1013472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43" name="Shape 16"/>
          <p:cNvSpPr/>
          <p:nvPr/>
        </p:nvSpPr>
        <p:spPr>
          <a:xfrm>
            <a:off x="851040" y="4530600"/>
            <a:ext cx="190080" cy="1519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44" name="Text 17"/>
          <p:cNvSpPr/>
          <p:nvPr/>
        </p:nvSpPr>
        <p:spPr>
          <a:xfrm>
            <a:off x="660240" y="4708440"/>
            <a:ext cx="571320" cy="6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8"/>
          <p:cNvSpPr/>
          <p:nvPr/>
        </p:nvSpPr>
        <p:spPr>
          <a:xfrm>
            <a:off x="1397160" y="4708440"/>
            <a:ext cx="2603160" cy="6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E2E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9"/>
          <p:cNvSpPr/>
          <p:nvPr/>
        </p:nvSpPr>
        <p:spPr>
          <a:xfrm>
            <a:off x="4152960" y="4708440"/>
            <a:ext cx="7378200" cy="6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EN</a:t>
            </a: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이 다른 </a:t>
            </a: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EN</a:t>
            </a: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으로 다시 </a:t>
            </a: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offload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0"/>
          <p:cNvSpPr/>
          <p:nvPr/>
        </p:nvSpPr>
        <p:spPr>
          <a:xfrm>
            <a:off x="1396800" y="5384520"/>
            <a:ext cx="1013472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48" name="Shape 21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49" name="Text 22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제안의 차별점은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MD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만이 아니라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EN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도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offloading decision-maker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로 둔다는 것이다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3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51" name="Text 24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proposal pp. 1-2, Introduction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5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D2E·E2E link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와 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decision-maker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660240" y="1333440"/>
            <a:ext cx="108709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원문은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D2E·E2E link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와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MD·EN decision-maker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를 제시한다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. 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두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link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의 항상적인 순서는 정하지 않았다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mechanism-lane-d2e"/>
          <p:cNvSpPr/>
          <p:nvPr/>
        </p:nvSpPr>
        <p:spPr>
          <a:xfrm>
            <a:off x="660240" y="2209680"/>
            <a:ext cx="863280" cy="156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D2E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mechanism-lane-e2e"/>
          <p:cNvSpPr/>
          <p:nvPr/>
        </p:nvSpPr>
        <p:spPr>
          <a:xfrm>
            <a:off x="660240" y="3772080"/>
            <a:ext cx="863280" cy="156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E2E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mechanism-edge-d1-segment-1"/>
          <p:cNvSpPr/>
          <p:nvPr/>
        </p:nvSpPr>
        <p:spPr>
          <a:xfrm>
            <a:off x="3809880" y="2990520"/>
            <a:ext cx="482400" cy="360"/>
          </a:xfrm>
          <a:prstGeom prst="line">
            <a:avLst/>
          </a:prstGeom>
          <a:ln w="12700">
            <a:solidFill>
              <a:srgbClr val="0D685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58" name="mechanism-edge-d2-segment-1"/>
          <p:cNvSpPr/>
          <p:nvPr/>
        </p:nvSpPr>
        <p:spPr>
          <a:xfrm>
            <a:off x="6362640" y="2990520"/>
            <a:ext cx="482400" cy="360"/>
          </a:xfrm>
          <a:prstGeom prst="line">
            <a:avLst/>
          </a:prstGeom>
          <a:ln w="12700">
            <a:solidFill>
              <a:srgbClr val="0D685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59" name="mechanism-edge-d3-segment-1"/>
          <p:cNvSpPr/>
          <p:nvPr/>
        </p:nvSpPr>
        <p:spPr>
          <a:xfrm>
            <a:off x="8915400" y="2990520"/>
            <a:ext cx="482400" cy="360"/>
          </a:xfrm>
          <a:prstGeom prst="line">
            <a:avLst/>
          </a:prstGeom>
          <a:ln w="12700">
            <a:solidFill>
              <a:srgbClr val="0D685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60" name="mechanism-edge-e1-segment-1"/>
          <p:cNvSpPr/>
          <p:nvPr/>
        </p:nvSpPr>
        <p:spPr>
          <a:xfrm>
            <a:off x="3809880" y="4552920"/>
            <a:ext cx="482400" cy="360"/>
          </a:xfrm>
          <a:prstGeom prst="line">
            <a:avLst/>
          </a:prstGeom>
          <a:ln w="12700">
            <a:solidFill>
              <a:srgbClr val="0D685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61" name="mechanism-edge-e2-segment-1"/>
          <p:cNvSpPr/>
          <p:nvPr/>
        </p:nvSpPr>
        <p:spPr>
          <a:xfrm>
            <a:off x="6362640" y="4552920"/>
            <a:ext cx="482400" cy="360"/>
          </a:xfrm>
          <a:prstGeom prst="line">
            <a:avLst/>
          </a:prstGeom>
          <a:ln w="12700">
            <a:solidFill>
              <a:srgbClr val="0D685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62" name="mechanism-node-md-task"/>
          <p:cNvSpPr/>
          <p:nvPr/>
        </p:nvSpPr>
        <p:spPr>
          <a:xfrm>
            <a:off x="1739880" y="2660760"/>
            <a:ext cx="2069640" cy="659880"/>
          </a:xfrm>
          <a:prstGeom prst="roundRect">
            <a:avLst>
              <a:gd name="adj" fmla="val 16667"/>
            </a:avLst>
          </a:prstGeom>
          <a:solidFill>
            <a:srgbClr val="E8F1EE"/>
          </a:solidFill>
          <a:ln w="0">
            <a:solidFill>
              <a:srgbClr val="0D685C"/>
            </a:solidFill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MD task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task to offload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mechanism-node-md-agent"/>
          <p:cNvSpPr/>
          <p:nvPr/>
        </p:nvSpPr>
        <p:spPr>
          <a:xfrm>
            <a:off x="4292640" y="2660760"/>
            <a:ext cx="2069640" cy="659880"/>
          </a:xfrm>
          <a:prstGeom prst="roundRect">
            <a:avLst>
              <a:gd name="adj" fmla="val 16667"/>
            </a:avLst>
          </a:prstGeom>
          <a:solidFill>
            <a:srgbClr val="E8F1EE"/>
          </a:solidFill>
          <a:ln w="0">
            <a:solidFill>
              <a:srgbClr val="0D685C"/>
            </a:solidFill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MD agent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D2E decision candidate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mechanism-node-d2e-link"/>
          <p:cNvSpPr/>
          <p:nvPr/>
        </p:nvSpPr>
        <p:spPr>
          <a:xfrm>
            <a:off x="6845400" y="2660760"/>
            <a:ext cx="2069640" cy="659880"/>
          </a:xfrm>
          <a:prstGeom prst="roundRect">
            <a:avLst>
              <a:gd name="adj" fmla="val 16667"/>
            </a:avLst>
          </a:prstGeom>
          <a:solidFill>
            <a:srgbClr val="E8F1EE"/>
          </a:solidFill>
          <a:ln w="0">
            <a:solidFill>
              <a:srgbClr val="0D685C"/>
            </a:solidFill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D2E link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MD to an EN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mechanism-node-receiving-en"/>
          <p:cNvSpPr/>
          <p:nvPr/>
        </p:nvSpPr>
        <p:spPr>
          <a:xfrm>
            <a:off x="9398160" y="2660760"/>
            <a:ext cx="2069640" cy="659880"/>
          </a:xfrm>
          <a:prstGeom prst="roundRect">
            <a:avLst>
              <a:gd name="adj" fmla="val 16667"/>
            </a:avLst>
          </a:prstGeom>
          <a:solidFill>
            <a:srgbClr val="E8F1EE"/>
          </a:solidFill>
          <a:ln w="0">
            <a:solidFill>
              <a:srgbClr val="0D685C"/>
            </a:solidFill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an EN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D2E destination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mechanism-node-en-agent"/>
          <p:cNvSpPr/>
          <p:nvPr/>
        </p:nvSpPr>
        <p:spPr>
          <a:xfrm>
            <a:off x="1739880" y="4222800"/>
            <a:ext cx="2069640" cy="659880"/>
          </a:xfrm>
          <a:prstGeom prst="roundRect">
            <a:avLst>
              <a:gd name="adj" fmla="val 16667"/>
            </a:avLst>
          </a:prstGeom>
          <a:solidFill>
            <a:srgbClr val="E8F1EE"/>
          </a:solidFill>
          <a:ln w="0">
            <a:solidFill>
              <a:srgbClr val="0D685C"/>
            </a:solidFill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EN agent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E2E decision candidate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mechanism-node-e2e-link"/>
          <p:cNvSpPr/>
          <p:nvPr/>
        </p:nvSpPr>
        <p:spPr>
          <a:xfrm>
            <a:off x="4292640" y="4222800"/>
            <a:ext cx="2069640" cy="659880"/>
          </a:xfrm>
          <a:prstGeom prst="roundRect">
            <a:avLst>
              <a:gd name="adj" fmla="val 16667"/>
            </a:avLst>
          </a:prstGeom>
          <a:solidFill>
            <a:srgbClr val="E8F1EE"/>
          </a:solidFill>
          <a:ln w="0">
            <a:solidFill>
              <a:srgbClr val="0D685C"/>
            </a:solidFill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E2E link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EN to an EN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mechanism-node-target-en"/>
          <p:cNvSpPr/>
          <p:nvPr/>
        </p:nvSpPr>
        <p:spPr>
          <a:xfrm>
            <a:off x="6845400" y="4222800"/>
            <a:ext cx="2069640" cy="659880"/>
          </a:xfrm>
          <a:prstGeom prst="roundRect">
            <a:avLst>
              <a:gd name="adj" fmla="val 16667"/>
            </a:avLst>
          </a:prstGeom>
          <a:solidFill>
            <a:srgbClr val="E8F1EE"/>
          </a:solidFill>
          <a:ln w="0">
            <a:solidFill>
              <a:srgbClr val="0D685C"/>
            </a:solidFill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particular EN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if an EN forwards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6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70" name="Text 17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D2E·E2E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는 원문이 언급한 별도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link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다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 forwarding rule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과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queue policy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는 미정이다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8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72" name="Text 19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proposal pp. 1-2, abstract and Introduction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0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queue-based multi-layer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의 범위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660240" y="1333440"/>
            <a:ext cx="108709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‘queue-based’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라는 한 문장은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scheduling model 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전체를 자동으로 정의하지 않는다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6" name="Table 0"/>
          <p:cNvGraphicFramePr/>
          <p:nvPr/>
        </p:nvGraphicFramePr>
        <p:xfrm>
          <a:off x="660240" y="2082960"/>
          <a:ext cx="10870920" cy="3314520"/>
        </p:xfrm>
        <a:graphic>
          <a:graphicData uri="http://schemas.openxmlformats.org/drawingml/2006/table">
            <a:tbl>
              <a:tblPr/>
              <a:tblGrid>
                <a:gridCol w="3369960"/>
                <a:gridCol w="3913560"/>
                <a:gridCol w="3587400"/>
              </a:tblGrid>
              <a:tr h="4950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proposal</a:t>
                      </a: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이 명시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추가 정의가 필요한 항목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지금 말할 수 없는 결론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52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queue-based multi-layer scenario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queue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위치와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task arrival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어느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node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가 항상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bottleneck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인지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52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MD·EN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이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layer decision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수행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service·drop·forward rule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어떤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route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가 항상 최적인지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52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다른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time point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의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decision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layer clock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과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synchronization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정확한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latency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감소량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52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resource availability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반영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wireless·CPU feasibility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energy·rate trade-off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수치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7" name="Shape 2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78" name="Text 3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queue-based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는 연구 방향이며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, queue equation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이나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placement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의 대체어가 아니다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4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80" name="Text 5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proposal pp. 1-2, abstract and Solution Approach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왜 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Dec-POMDP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인가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660240" y="1333440"/>
            <a:ext cx="108709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원문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framing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은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MD·EN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이 각자의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limited information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으로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system performance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에 기여하려는 상황이다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4" name="Table 0"/>
          <p:cNvGraphicFramePr/>
          <p:nvPr/>
        </p:nvGraphicFramePr>
        <p:xfrm>
          <a:off x="660240" y="2082960"/>
          <a:ext cx="10870920" cy="3314520"/>
        </p:xfrm>
        <a:graphic>
          <a:graphicData uri="http://schemas.openxmlformats.org/drawingml/2006/table">
            <a:tbl>
              <a:tblPr/>
              <a:tblGrid>
                <a:gridCol w="1956600"/>
                <a:gridCol w="5109120"/>
                <a:gridCol w="3804840"/>
              </a:tblGrid>
              <a:tr h="4950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요소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proposal</a:t>
                      </a: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의 설명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명세 상태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76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agents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각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MD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와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EN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이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agent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를 구성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·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훈련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agent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수와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grouping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미정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76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observation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global network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의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partial observation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feature vector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미정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76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decision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서로 다른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layer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의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offloading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action encoding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미정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76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goal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overall system performance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reward·objective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식 미정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76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dynamics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online·asynchronous environment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transition model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미정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" name="Shape 2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86" name="Text 3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Dec-POMDP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는 이 문제를 보는 틀이고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, 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아직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fully specified environment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는 아니다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4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88" name="Text 5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proposal p. 2, Problem Statement and Solution Approach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6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single-agent RL 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대신 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MARL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을 제안하는 논리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"/>
          <p:cNvSpPr/>
          <p:nvPr/>
        </p:nvSpPr>
        <p:spPr>
          <a:xfrm>
            <a:off x="660240" y="1333440"/>
            <a:ext cx="108709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다른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agent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의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policy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가 변하면 한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agent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가 보는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environment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도 변한다는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non-stationarity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가 출발점이다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"/>
          <p:cNvSpPr/>
          <p:nvPr/>
        </p:nvSpPr>
        <p:spPr>
          <a:xfrm>
            <a:off x="660240" y="2108160"/>
            <a:ext cx="57132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3"/>
          <p:cNvSpPr/>
          <p:nvPr/>
        </p:nvSpPr>
        <p:spPr>
          <a:xfrm>
            <a:off x="1397160" y="2108160"/>
            <a:ext cx="260316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9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여러 </a:t>
            </a:r>
            <a:r>
              <a:rPr lang="en-US" sz="19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agent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4"/>
          <p:cNvSpPr/>
          <p:nvPr/>
        </p:nvSpPr>
        <p:spPr>
          <a:xfrm>
            <a:off x="4152960" y="2108160"/>
            <a:ext cx="737820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MD</a:t>
            </a: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와 </a:t>
            </a: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EN</a:t>
            </a: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이 함께 </a:t>
            </a: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action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5"/>
          <p:cNvSpPr/>
          <p:nvPr/>
        </p:nvSpPr>
        <p:spPr>
          <a:xfrm>
            <a:off x="1396800" y="2611080"/>
            <a:ext cx="1013472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96" name="Shape 6"/>
          <p:cNvSpPr/>
          <p:nvPr/>
        </p:nvSpPr>
        <p:spPr>
          <a:xfrm>
            <a:off x="851040" y="2623680"/>
            <a:ext cx="190080" cy="1519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97" name="Text 7"/>
          <p:cNvSpPr/>
          <p:nvPr/>
        </p:nvSpPr>
        <p:spPr>
          <a:xfrm>
            <a:off x="660240" y="2801520"/>
            <a:ext cx="57132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8"/>
          <p:cNvSpPr/>
          <p:nvPr/>
        </p:nvSpPr>
        <p:spPr>
          <a:xfrm>
            <a:off x="1397160" y="2801520"/>
            <a:ext cx="260316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partial view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9"/>
          <p:cNvSpPr/>
          <p:nvPr/>
        </p:nvSpPr>
        <p:spPr>
          <a:xfrm>
            <a:off x="4152960" y="2801520"/>
            <a:ext cx="737820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각 </a:t>
            </a: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agent</a:t>
            </a: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의 관측은 제한적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0"/>
          <p:cNvSpPr/>
          <p:nvPr/>
        </p:nvSpPr>
        <p:spPr>
          <a:xfrm>
            <a:off x="1396800" y="3304440"/>
            <a:ext cx="1013472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01" name="Shape 11"/>
          <p:cNvSpPr/>
          <p:nvPr/>
        </p:nvSpPr>
        <p:spPr>
          <a:xfrm>
            <a:off x="851040" y="3317400"/>
            <a:ext cx="190080" cy="1519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02" name="Text 12"/>
          <p:cNvSpPr/>
          <p:nvPr/>
        </p:nvSpPr>
        <p:spPr>
          <a:xfrm>
            <a:off x="660240" y="3494880"/>
            <a:ext cx="57132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3"/>
          <p:cNvSpPr/>
          <p:nvPr/>
        </p:nvSpPr>
        <p:spPr>
          <a:xfrm>
            <a:off x="1397160" y="3494880"/>
            <a:ext cx="260316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peer </a:t>
            </a:r>
            <a:r>
              <a:rPr lang="ko-KR" sz="19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변화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4"/>
          <p:cNvSpPr/>
          <p:nvPr/>
        </p:nvSpPr>
        <p:spPr>
          <a:xfrm>
            <a:off x="4152960" y="3494880"/>
            <a:ext cx="737820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다른 </a:t>
            </a: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policy</a:t>
            </a: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도 학습 중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5"/>
          <p:cNvSpPr/>
          <p:nvPr/>
        </p:nvSpPr>
        <p:spPr>
          <a:xfrm>
            <a:off x="1396800" y="3997800"/>
            <a:ext cx="1013472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06" name="Shape 16"/>
          <p:cNvSpPr/>
          <p:nvPr/>
        </p:nvSpPr>
        <p:spPr>
          <a:xfrm>
            <a:off x="851040" y="4010760"/>
            <a:ext cx="190080" cy="1519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07" name="Text 17"/>
          <p:cNvSpPr/>
          <p:nvPr/>
        </p:nvSpPr>
        <p:spPr>
          <a:xfrm>
            <a:off x="660240" y="4188600"/>
            <a:ext cx="57132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8"/>
          <p:cNvSpPr/>
          <p:nvPr/>
        </p:nvSpPr>
        <p:spPr>
          <a:xfrm>
            <a:off x="1397160" y="4188600"/>
            <a:ext cx="260316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non-stationarity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9"/>
          <p:cNvSpPr/>
          <p:nvPr/>
        </p:nvSpPr>
        <p:spPr>
          <a:xfrm>
            <a:off x="4152960" y="4188600"/>
            <a:ext cx="737820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single-agent </a:t>
            </a: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학습이 흔들릴 수 있음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0"/>
          <p:cNvSpPr/>
          <p:nvPr/>
        </p:nvSpPr>
        <p:spPr>
          <a:xfrm>
            <a:off x="1396800" y="4691160"/>
            <a:ext cx="1013472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11" name="Shape 21"/>
          <p:cNvSpPr/>
          <p:nvPr/>
        </p:nvSpPr>
        <p:spPr>
          <a:xfrm>
            <a:off x="851040" y="4704120"/>
            <a:ext cx="190080" cy="1519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12" name="Text 22"/>
          <p:cNvSpPr/>
          <p:nvPr/>
        </p:nvSpPr>
        <p:spPr>
          <a:xfrm>
            <a:off x="660240" y="4881960"/>
            <a:ext cx="57132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05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3"/>
          <p:cNvSpPr/>
          <p:nvPr/>
        </p:nvSpPr>
        <p:spPr>
          <a:xfrm>
            <a:off x="1397160" y="4881960"/>
            <a:ext cx="260316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MARL </a:t>
            </a:r>
            <a:r>
              <a:rPr lang="ko-KR" sz="19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후보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4"/>
          <p:cNvSpPr/>
          <p:nvPr/>
        </p:nvSpPr>
        <p:spPr>
          <a:xfrm>
            <a:off x="4152960" y="4881960"/>
            <a:ext cx="737820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distributed decision </a:t>
            </a: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협력을 목표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5"/>
          <p:cNvSpPr/>
          <p:nvPr/>
        </p:nvSpPr>
        <p:spPr>
          <a:xfrm>
            <a:off x="1396800" y="5384520"/>
            <a:ext cx="1013472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16" name="Shape 26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17" name="Text 27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MARL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은 비정상성에 대응하려는 후보이며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, 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이 제안서에서 효과는 검증되지 않았다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8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19" name="Text 29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proposal pp. 1-2, Introduction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0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서로 다른 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layer·time point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의 결정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"/>
          <p:cNvSpPr/>
          <p:nvPr/>
        </p:nvSpPr>
        <p:spPr>
          <a:xfrm>
            <a:off x="660240" y="1333440"/>
            <a:ext cx="108709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원문은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task offloading decision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을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decouple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하고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, 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서로 다른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layers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가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different time points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에서 결정한다고 제안한다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3" name="Table 0"/>
          <p:cNvGraphicFramePr/>
          <p:nvPr/>
        </p:nvGraphicFramePr>
        <p:xfrm>
          <a:off x="660240" y="2082960"/>
          <a:ext cx="10870920" cy="3314520"/>
        </p:xfrm>
        <a:graphic>
          <a:graphicData uri="http://schemas.openxmlformats.org/drawingml/2006/table">
            <a:tbl>
              <a:tblPr/>
              <a:tblGrid>
                <a:gridCol w="5435280"/>
                <a:gridCol w="5435280"/>
              </a:tblGrid>
              <a:tr h="4950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원문이 말한 것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원문이 정하지 않은 것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96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서로 다른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layer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의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offloading decision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MD·EN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과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layer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의 고정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mapping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96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서로 다른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time point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의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decision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두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decision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의 순서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·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주기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96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state·resource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에 따른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dynamic adjustment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동시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action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의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conflict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처리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4" name="Shape 2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25" name="Text 3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asynchronous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는 서로 다른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decision timing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을 지향하지만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, 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순서와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timeline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은 미정이다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4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27" name="Text 5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proposal p. 2, Solution Approach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6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multi-agent DDPG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는 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candidate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다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660240" y="1333440"/>
            <a:ext cx="108709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원문은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decentralized actor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와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centralized critic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을 명시하지만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, training interface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까지 명시하지는 않는다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Table 0"/>
          <p:cNvGraphicFramePr/>
          <p:nvPr/>
        </p:nvGraphicFramePr>
        <p:xfrm>
          <a:off x="660240" y="2082960"/>
          <a:ext cx="10870920" cy="3314520"/>
        </p:xfrm>
        <a:graphic>
          <a:graphicData uri="http://schemas.openxmlformats.org/drawingml/2006/table">
            <a:tbl>
              <a:tblPr/>
              <a:tblGrid>
                <a:gridCol w="5435280"/>
                <a:gridCol w="5435280"/>
              </a:tblGrid>
              <a:tr h="4950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명시된 내용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명시되지 않은 내용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76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각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MD·EN agent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가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actor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를 가짐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actor observation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과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action dimension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76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actor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는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decentralized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execution message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와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coordination protocol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76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critic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은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centralized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critic input·parameter sharing·update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76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multi-agent DDPG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를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design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replay·target·optimizer·network depth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76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global optimization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을 목표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reward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또는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loss formula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2" name="Shape 2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33" name="Text 3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‘centralized critic’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만으로는 중앙이 무엇을 보고 어떻게 학습하는지 결정되지 않는다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4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35" name="Text 5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proposal p. 2, Solution Approach; ref. 17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6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강의용 가상 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trace: 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서로 다른 시점의 두 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decision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660240" y="1333440"/>
            <a:ext cx="108709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숫자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·reward·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성능을 넣지 않은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teaching-only routing trace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다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. 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원문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experiment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나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learned policy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가 아니다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"/>
          <p:cNvSpPr/>
          <p:nvPr/>
        </p:nvSpPr>
        <p:spPr>
          <a:xfrm>
            <a:off x="660240" y="2108160"/>
            <a:ext cx="57132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1397160" y="2108160"/>
            <a:ext cx="260316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task arrival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4152960" y="2108160"/>
            <a:ext cx="737820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가상의 </a:t>
            </a: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MD task</a:t>
            </a: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가 생김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5"/>
          <p:cNvSpPr/>
          <p:nvPr/>
        </p:nvSpPr>
        <p:spPr>
          <a:xfrm>
            <a:off x="1396800" y="2611080"/>
            <a:ext cx="1013472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43" name="Shape 6"/>
          <p:cNvSpPr/>
          <p:nvPr/>
        </p:nvSpPr>
        <p:spPr>
          <a:xfrm>
            <a:off x="851040" y="2623680"/>
            <a:ext cx="190080" cy="1519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44" name="Text 7"/>
          <p:cNvSpPr/>
          <p:nvPr/>
        </p:nvSpPr>
        <p:spPr>
          <a:xfrm>
            <a:off x="660240" y="2801520"/>
            <a:ext cx="57132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8"/>
          <p:cNvSpPr/>
          <p:nvPr/>
        </p:nvSpPr>
        <p:spPr>
          <a:xfrm>
            <a:off x="1397160" y="2801520"/>
            <a:ext cx="260316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MD decision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9"/>
          <p:cNvSpPr/>
          <p:nvPr/>
        </p:nvSpPr>
        <p:spPr>
          <a:xfrm>
            <a:off x="4152960" y="2801520"/>
            <a:ext cx="737820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가상의 </a:t>
            </a: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D2E choice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0"/>
          <p:cNvSpPr/>
          <p:nvPr/>
        </p:nvSpPr>
        <p:spPr>
          <a:xfrm>
            <a:off x="1396800" y="3304440"/>
            <a:ext cx="1013472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48" name="Shape 11"/>
          <p:cNvSpPr/>
          <p:nvPr/>
        </p:nvSpPr>
        <p:spPr>
          <a:xfrm>
            <a:off x="851040" y="3317400"/>
            <a:ext cx="190080" cy="1519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49" name="Text 12"/>
          <p:cNvSpPr/>
          <p:nvPr/>
        </p:nvSpPr>
        <p:spPr>
          <a:xfrm>
            <a:off x="660240" y="3494880"/>
            <a:ext cx="57132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3"/>
          <p:cNvSpPr/>
          <p:nvPr/>
        </p:nvSpPr>
        <p:spPr>
          <a:xfrm>
            <a:off x="1397160" y="3494880"/>
            <a:ext cx="260316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EN receives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4"/>
          <p:cNvSpPr/>
          <p:nvPr/>
        </p:nvSpPr>
        <p:spPr>
          <a:xfrm>
            <a:off x="4152960" y="3494880"/>
            <a:ext cx="737820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task</a:t>
            </a: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가 </a:t>
            </a: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EN</a:t>
            </a: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에 도착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5"/>
          <p:cNvSpPr/>
          <p:nvPr/>
        </p:nvSpPr>
        <p:spPr>
          <a:xfrm>
            <a:off x="1396800" y="3997800"/>
            <a:ext cx="1013472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53" name="Shape 16"/>
          <p:cNvSpPr/>
          <p:nvPr/>
        </p:nvSpPr>
        <p:spPr>
          <a:xfrm>
            <a:off x="851040" y="4010760"/>
            <a:ext cx="190080" cy="1519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54" name="Text 17"/>
          <p:cNvSpPr/>
          <p:nvPr/>
        </p:nvSpPr>
        <p:spPr>
          <a:xfrm>
            <a:off x="660240" y="4188600"/>
            <a:ext cx="57132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8"/>
          <p:cNvSpPr/>
          <p:nvPr/>
        </p:nvSpPr>
        <p:spPr>
          <a:xfrm>
            <a:off x="1397160" y="4188600"/>
            <a:ext cx="260316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EN decision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9"/>
          <p:cNvSpPr/>
          <p:nvPr/>
        </p:nvSpPr>
        <p:spPr>
          <a:xfrm>
            <a:off x="4152960" y="4188600"/>
            <a:ext cx="737820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나중에 </a:t>
            </a: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E2E </a:t>
            </a: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여부 선택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0"/>
          <p:cNvSpPr/>
          <p:nvPr/>
        </p:nvSpPr>
        <p:spPr>
          <a:xfrm>
            <a:off x="1396800" y="4691160"/>
            <a:ext cx="1013472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58" name="Shape 21"/>
          <p:cNvSpPr/>
          <p:nvPr/>
        </p:nvSpPr>
        <p:spPr>
          <a:xfrm>
            <a:off x="851040" y="4704120"/>
            <a:ext cx="190080" cy="1519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59" name="Text 22"/>
          <p:cNvSpPr/>
          <p:nvPr/>
        </p:nvSpPr>
        <p:spPr>
          <a:xfrm>
            <a:off x="660240" y="4881960"/>
            <a:ext cx="57132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05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3"/>
          <p:cNvSpPr/>
          <p:nvPr/>
        </p:nvSpPr>
        <p:spPr>
          <a:xfrm>
            <a:off x="1397160" y="4881960"/>
            <a:ext cx="260316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target EN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4"/>
          <p:cNvSpPr/>
          <p:nvPr/>
        </p:nvSpPr>
        <p:spPr>
          <a:xfrm>
            <a:off x="4152960" y="4881960"/>
            <a:ext cx="737820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forward</a:t>
            </a: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라면 다른 </a:t>
            </a: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EN </a:t>
            </a: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도착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5"/>
          <p:cNvSpPr/>
          <p:nvPr/>
        </p:nvSpPr>
        <p:spPr>
          <a:xfrm>
            <a:off x="1396800" y="5384520"/>
            <a:ext cx="1013472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63" name="Shape 26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64" name="Text 27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trace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는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MD·EN decision 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분리 예시일 뿐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optimal choice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를 말하지 않는다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28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66" name="Text 29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proposal pp. 1-2, proposed D2E/E2E and timing; constructed trace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0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가상 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trace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가 보여 주는 것과 보여 주지 않는 것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"/>
          <p:cNvSpPr/>
          <p:nvPr/>
        </p:nvSpPr>
        <p:spPr>
          <a:xfrm>
            <a:off x="660240" y="1333440"/>
            <a:ext cx="108709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교육용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trace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를 수치 실험이나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algorithm evaluation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으로 오해하지 않기 위한 경계다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0" name="Table 0"/>
          <p:cNvGraphicFramePr/>
          <p:nvPr/>
        </p:nvGraphicFramePr>
        <p:xfrm>
          <a:off x="660240" y="2082960"/>
          <a:ext cx="10870920" cy="3314520"/>
        </p:xfrm>
        <a:graphic>
          <a:graphicData uri="http://schemas.openxmlformats.org/drawingml/2006/table">
            <a:tbl>
              <a:tblPr/>
              <a:tblGrid>
                <a:gridCol w="5435280"/>
                <a:gridCol w="5435280"/>
              </a:tblGrid>
              <a:tr h="4950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보여 주는 것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보여 주지 않는 것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52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MD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와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EN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모두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decision-maker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어떤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agent policy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가 학습됐는지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52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D2E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다음에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E2E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가 가능한 경로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forward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가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local service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보다 좋은지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52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다른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layer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의 다른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decision time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latency·energy·throughput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수치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52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partial observation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이라는 설계 동기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state·action·reward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의 실제 값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1" name="Shape 2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72" name="Text 3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toy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는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source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의 개념을 압축할 뿐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, proposal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이 결과를 이미 보였다는 증거가 아니다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4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74" name="Text 5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proposal pp. 1-3, proposal content and references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6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proposal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을 재현 가능한 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method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로 만들 때 필요한 명세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"/>
          <p:cNvSpPr/>
          <p:nvPr/>
        </p:nvSpPr>
        <p:spPr>
          <a:xfrm>
            <a:off x="660240" y="1333440"/>
            <a:ext cx="108709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아래 항목은 원문이 이미 해결했다고 주장하지 않는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, 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다음 연구 단계의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specification checklist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다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8" name="Table 0"/>
          <p:cNvGraphicFramePr/>
          <p:nvPr/>
        </p:nvGraphicFramePr>
        <p:xfrm>
          <a:off x="660240" y="2082960"/>
          <a:ext cx="10870920" cy="3314520"/>
        </p:xfrm>
        <a:graphic>
          <a:graphicData uri="http://schemas.openxmlformats.org/drawingml/2006/table">
            <a:tbl>
              <a:tblPr/>
              <a:tblGrid>
                <a:gridCol w="2935080"/>
                <a:gridCol w="5217840"/>
                <a:gridCol w="2717640"/>
              </a:tblGrid>
              <a:tr h="4950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명세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왜 필요한가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원문 상태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76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state·observation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partial view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를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tensor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로 정의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미정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76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action·feasibility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D2E·E2E offloading action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과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feasibility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를 정의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미정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76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queue transition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arrival·service·forward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를 갱신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미정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76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목적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·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보상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global performance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를 학습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signal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로 연결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미정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76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training·evaluation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critic update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와 비교 실험 검증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미정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9" name="Shape 2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proposal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은 협력 방향을 정했고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algorithm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에는 명세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·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검증이 더 필요하다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4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82" name="Text 5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proposal pp. 1-3, stated approach and absent specifications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6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정리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: 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이 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proposal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이 남긴 설계 질문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"/>
          <p:cNvSpPr/>
          <p:nvPr/>
        </p:nvSpPr>
        <p:spPr>
          <a:xfrm>
            <a:off x="660240" y="1333440"/>
            <a:ext cx="108709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완성된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MARL system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의 성능 결론이 아니라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, collaborative MEC research agenda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로 읽는 것이 정확하다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"/>
          <p:cNvSpPr/>
          <p:nvPr/>
        </p:nvSpPr>
        <p:spPr>
          <a:xfrm>
            <a:off x="838080" y="2171880"/>
            <a:ext cx="10693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254160" indent="-254160" defTabSz="914400">
              <a:lnSpc>
                <a:spcPct val="125000"/>
              </a:lnSpc>
              <a:buClr>
                <a:srgbClr val="173C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MD</a:t>
            </a: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의 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D2E</a:t>
            </a: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와 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EN</a:t>
            </a: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의 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E2E decision</a:t>
            </a: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을 함께 다루려 한다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3"/>
          <p:cNvSpPr/>
          <p:nvPr/>
        </p:nvSpPr>
        <p:spPr>
          <a:xfrm>
            <a:off x="838080" y="2755800"/>
            <a:ext cx="1069344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88" name="Text 4"/>
          <p:cNvSpPr/>
          <p:nvPr/>
        </p:nvSpPr>
        <p:spPr>
          <a:xfrm>
            <a:off x="838080" y="2793960"/>
            <a:ext cx="10693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254160" indent="-254160" defTabSz="914400">
              <a:lnSpc>
                <a:spcPct val="125000"/>
              </a:lnSpc>
              <a:buClr>
                <a:srgbClr val="173C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MD·EN</a:t>
            </a: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의 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partial observation</a:t>
            </a: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을 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Dec-POMDP</a:t>
            </a: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로 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framing</a:t>
            </a: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한다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5"/>
          <p:cNvSpPr/>
          <p:nvPr/>
        </p:nvSpPr>
        <p:spPr>
          <a:xfrm>
            <a:off x="838080" y="3377880"/>
            <a:ext cx="1069344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90" name="Text 6"/>
          <p:cNvSpPr/>
          <p:nvPr/>
        </p:nvSpPr>
        <p:spPr>
          <a:xfrm>
            <a:off x="838080" y="3416400"/>
            <a:ext cx="10693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254160" indent="-254160" defTabSz="914400">
              <a:lnSpc>
                <a:spcPct val="125000"/>
              </a:lnSpc>
              <a:buClr>
                <a:srgbClr val="173C37"/>
              </a:buClr>
              <a:buFont typeface="Symbol" charset="2"/>
              <a:buChar char=""/>
            </a:pP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서로 다른 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layer</a:t>
            </a: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와 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time point</a:t>
            </a: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의 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asynchronous decision</a:t>
            </a: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을 제안한다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7"/>
          <p:cNvSpPr/>
          <p:nvPr/>
        </p:nvSpPr>
        <p:spPr>
          <a:xfrm>
            <a:off x="838080" y="4000320"/>
            <a:ext cx="1069344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92" name="Text 8"/>
          <p:cNvSpPr/>
          <p:nvPr/>
        </p:nvSpPr>
        <p:spPr>
          <a:xfrm>
            <a:off x="838080" y="4038480"/>
            <a:ext cx="10693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254160" indent="-254160" defTabSz="914400">
              <a:lnSpc>
                <a:spcPct val="125000"/>
              </a:lnSpc>
              <a:buClr>
                <a:srgbClr val="173C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decentralized actor</a:t>
            </a: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와 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centralized critic</a:t>
            </a: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을 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candidate</a:t>
            </a: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로 둔다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9"/>
          <p:cNvSpPr/>
          <p:nvPr/>
        </p:nvSpPr>
        <p:spPr>
          <a:xfrm>
            <a:off x="838080" y="4622760"/>
            <a:ext cx="1069344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94" name="Text 10"/>
          <p:cNvSpPr/>
          <p:nvPr/>
        </p:nvSpPr>
        <p:spPr>
          <a:xfrm>
            <a:off x="838080" y="4660920"/>
            <a:ext cx="10693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254160" indent="-254160" defTabSz="914400">
              <a:lnSpc>
                <a:spcPct val="125000"/>
              </a:lnSpc>
              <a:buClr>
                <a:srgbClr val="173C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reward·constraints·update·evaluation</a:t>
            </a: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은 후속 명세와 검증이 필요하다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1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96" name="Text 12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핵심은 성능 수치가 아니라 협력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offloading 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문제를 정하는 출발점이다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3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98" name="Text 14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proposal pp. 1-2, abstract, Introduction, Solution Approach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5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Gothic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Gothic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2026-09-12T07:14:19Z</dcterms:created>
  <dc:creator>Research Seminars</dc:creator>
  <dc:description/>
  <dc:language>ko-KR</dc:language>
  <cp:lastModifiedBy>Research Seminars</cp:lastModifiedBy>
  <dcterms:modified xsi:type="dcterms:W3CDTF">2026-09-12T07:14:19Z</dcterms:modified>
  <cp:revision>1</cp:revision>
  <dc:subject>Multi-Agent Deep Reinforcement Learning for Collaborative Computation Offloading in Mobile Edge-Computing</dc:subject>
  <dc:title>협력 MEC offloading을 위한 multi-agent DRL 제안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13</vt:r8>
  </property>
  <property fmtid="{D5CDD505-2E9C-101B-9397-08002B2CF9AE}" pid="3" name="PresentationFormat">
    <vt:lpwstr>On-screen Show (16:9)</vt:lpwstr>
  </property>
  <property fmtid="{D5CDD505-2E9C-101B-9397-08002B2CF9AE}" pid="4" name="Slides">
    <vt:r8>13</vt:r8>
  </property>
</Properties>
</file>
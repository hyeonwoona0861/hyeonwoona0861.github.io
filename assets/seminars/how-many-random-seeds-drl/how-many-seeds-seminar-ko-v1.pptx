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2F7FF002-E3C8-4EB5-93B6-72C05FC8FAC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seed: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몇 번이 아니라 어떻게 설계할까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세미나는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Colas, Sigaud, Oudeyer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질문은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강제하는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알고리즘의 성능 차이를 검정할 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검출하려는 효과와 변동성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허용할 오류를 바탕으로 표본 수를 어떻게 설계할지를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recommendation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Half-Cheetah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사례의 수치를 다른 환경의 보편 규칙으로 바꾸지 않는 것이 오늘의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1, title·abstract; arXiv 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6DCDC92-28DF-4DE5-B8AE-6C6148E7CCE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그럴듯한 그림이 왜 위험한가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Half-Cheetah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알고리즘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 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겉으로는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나아 보일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이어지는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집단이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OpenAI Baselines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canonical 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였음을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curve band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시각적 분리는 성능 우위의 충분한 증거가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시간순 학습 파이프라인이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시각적 인상과 검정 가능한 주장 사이의 논리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pp. 2, 4, 10; Fig. 1; Example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8075E43-A923-4872-94A0-655104222C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실행은 평균이 아니라 확률변수의 한 관측이다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알고리즘 성능을 확률변수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모델링하고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 실행의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 알고리즘의 서로 다른 실행도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random-generator seed, agent initial state, environment stochasticity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 실행으로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표본을 얻고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empirical mean x̄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standard deviation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미지의 모평균과 표준편차를 추정합니다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알고리즘의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 size 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모평균의 차이입니다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이후 원문에서 각 알고리즘의 최종 비교 표본 수로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3, §2.1, Eq. (1)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FBC4F4B-6DF9-4657-9ABD-BD6BE87A9D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전에 무엇을 주장할지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양측과 단측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차이가 있는지를 묻는 양측 가설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H0: mu_diff=0, Ha: mu_diff≠0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먼저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알고리즘이 더 좋을 것이라는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priori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있을 때만 단측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H0: mu_diff≤0, Ha: mu_diff&gt;0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쓸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주어진 조건에서 관측값만큼 또는 더 극단적인 자료를 볼 확률입니다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참일 확률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혹은 효과의 크기라고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덱의 기호는 원문의 의미를 보이는 일반 텍스트이며 새로운 검정식을 추가하지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4, §2.2, Eq. (2)–(3)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22966B-911E-4959-9541-42F6C0E956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오류와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위험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type-I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참인데 기각하는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false positive, type-II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참인데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기각하지 못하는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false negative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분류합니다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분포의 기각 영역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 효과가 있어도 기각하지 못하는 영역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1-beta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낮추면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커질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고정한 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늘리면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낮출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한 숫자만 좋은 것이 아니라 두 오류 위험과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균형을 설계합니다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pp. 5–6, Table 1; pp. 8–9,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F1DCB8E-9696-4819-87A2-F784540DC0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비교를 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하나로 끝나지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 experiments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false-positive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수에 따라 선형적으로 증가한다고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Bonferroni alpha_Bon=alpha/NE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예로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familywise error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통제하려는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마지막 문장은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서로 여러 비교를 하는 문제를 다루지만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확인하며 유의할 때까지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optional stopping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유효한 순차 검정 절차를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 운영을 한다면 별도 순차 설계와 근거를 명시해야 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그것을 이 논문의 보증으로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5, §2.2; Rice (1989) citation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266DCB-3F0C-4F2D-B9FA-814324E22FA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검정 도구의 역할과 전제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서로 다른 알고리즘의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같다고 보기 어렵기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two-sample t-test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Welch t-test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Welch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continuous/rankable measurement, representative sample, independence, normal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bell-shaped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전제가 적혀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Bootstrap CI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 distribution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자체에 가정을 두지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구간을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추정하지만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표본이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underlying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올바로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만큼 커야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각주도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KS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samples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 묻는 검정이라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 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보일 수 없어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algorithm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비교에 쓰지 말라고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pp. 6–10, §3.1–3.2; footnote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965296-C429-4A77-9BE2-C5E538F9A0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Welch t-test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평균 차이를 불확실성으로 나눈다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Welch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mean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sqrt(s1²/N1+s2²/N2)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형태입니다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표본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SD, N1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표본 수이고 자유도는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Welch–Satterthwaite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N1=N2=N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가정해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planning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전개하지만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Welch test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자체의 동기는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 variances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요구하지 않는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두 독립 표본이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calculation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들어가는 구조이며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time axis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7, §3.1, Eq. (4)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C366F5C-24E2-4D77-8E17-56ADB6A92E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유의하지 않음은 ‘같다’가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t&lt;t_alpha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알고리즘 성능 사이에 차이가 없다는 뜻은 아니라고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충분한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존재를 보일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부족할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type-II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검정의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detection 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가릴 수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늘리면 도움이 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늘리는 판단도 효과크기와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요구를 포함한 사전 계획으로 해야지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유의가 나올 때까지 반복 관측하는 절차를 이 논문으로 정당화해서는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9, §3.1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D93EFFB-C0D8-4C5C-9A18-5291E4AA579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bootstrap CI: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재표집 평균 차이의 구간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§3.2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samples x1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samples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생성하고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their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alpha/2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1-alpha/2 percentile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잡습니다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alpha=.05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2.5th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97.5th percentile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포함하지 않으면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예컨대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크게 하라고 예시하지만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resampling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횟수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pp. 9–10, §3.2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5778187-715D-4238-B9A5-5135AA7459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pilot·power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평가는 역할이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study size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 알고리즘을 실행해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x̄1, x̄2, s1, s2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§4.2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Welch test, significance alpha, detect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 epsilon,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SD estimates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주어지면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함수로 계산한다고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§4.3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알고리즘에서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 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표본을 얻고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교육적으로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pilot, planning, final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분리해 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자동으로 제외한다는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independence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제공한다는 뜻은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사전 설계와 보고 투명성을 강조하는 표현입니다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pp. 11–14, §4.1–4.3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F6AED3B-609E-48D7-9933-CE3F6E081C8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모든 수치는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그대로 옮겼습니다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Half-Cheetah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perturbations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perturbations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3523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4905, SDs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1341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990, observed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1382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alpha=.05 preliminary tests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Welch p-value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기각하지 못했고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bootstrap CI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[795,2692]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Welch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underlying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놓쳤을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chance,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계산하라고 이어갑니다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불일치를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맞고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틀렸다는 증명으로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12, §4.1;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CB154D-65B5-41F1-A799-A526D4C751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읽는 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조건부 출력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50, effect epsilon=.1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times x̄1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t_alpha, nu, t_epsilon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(8)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x̄diff=1382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semi-dashed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beta=.51, 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beta=.19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beta=.2 requirement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만족하려면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늘린다는 예시가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nu, s1, s2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t-value distribution assumptions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쓴다고 원문이 즉시 경고합니다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덱은 이 사례의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보편 수치로 재사용하지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13, §4.2; Fig. 4; Eq. (8)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D90E4F-66BA-4AFC-BC01-821149487F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좁은 구간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means 3690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5323, SDs 1086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1454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Welch p-value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.0037, bootstrap difference CI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[732,2612]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 confidence intervals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작아졌다고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§4.1 pilot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재실행 결과이므로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달라지고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summary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기계적으로 고정된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counterfactual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14, §4.3; Fig.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FA8C9F-F0D8-43BC-938F-70B000B669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 제작 산술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Welch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손으로 따라가기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강의를 위해 새로 만들었고 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95, unbiased sample 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SD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2.74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분모는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sqrt(7.5/5+7.5/5)=sqrt(3)≈1.73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t≈2.89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공식으로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Welch–Satterthwaite degrees of freedom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번의 계산은 효과와 표본 변동을 연결하는 연습일 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충분하다는 권장이나 원문 결과 재현이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7, Eq. (4);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 제작 예시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E7BF9C-4551-41BA-A6EB-83BC8D9F276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알고리즘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α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procedure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given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times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실행해 모두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fictive algorithms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H0 rejection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times,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반복하고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rejection proportion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evaluation of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실제 두 알고리즘의 성능 비교가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calibration audit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 분포라는 전제가 무엇으로 확보되는지와 사용한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N, T, split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보고해야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15, §5.1; Example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D3CAE77-66D7-49F1-9814-D7BDDD4B1F7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작은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경고를 과장하지 않기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42 available measures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false-positive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CI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특히 나쁘고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N&lt;10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쓸 수 없다고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페이지는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 in this case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nominal 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과소평가된다고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recommendation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더 보수적으로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test should not be used with less than N=20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recommendation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적되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보편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pp. 15–16, Example 3; Fig. 6; p. 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39ACCF-4E3E-447E-9C29-5D09CFE4FF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pilot SD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과소추정은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낙관시킨다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SD estimates s1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SD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under-estimate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과소추정은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smaller nu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t_alpha, lower beta estimate, and finally smaller selected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이어진다는 논리입니다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X~N(0,1)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SD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작을 때 크게 흔들리는 모습을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Figure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SD error=.40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desired epsilon=.9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beta=.2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correct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이던 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선택될 수 있음을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 synthetic illustration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 performance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pp. 16–18, §5.2; Figs. 7–8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6BF3CE-2026-4237-9993-9F2D58F38B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올바른 자리에서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recommendations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least n=20 samples in the pilot study to compute robust estimates of both algorithms’ SDs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test should not be used with less than N=20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결론에서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prescribe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systematically larger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고르라고 조언합니다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세 문장은 서로 다른 대상과 이유를 갖습니다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‘모든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비교는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 seeds’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화면에서 계속 구분하고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effect, SD, alpha, beta, test conditions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명시해야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p. 19, Conclusion; final recommendations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859D453-F2E0-45C7-B20D-30539A9A69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 남겨야 할 비교 설계 카드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원문의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planning chain, multiple-comparison warning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묶어 만든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reporting card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원문에 표 형식으로 제시된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한 실행의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metric, sample size, test, assumptions, alpha, beta, effect, pilot SD estimates, multiple comparisons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없으면 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logic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독자가 재구성할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stopping design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Bonferroni multiple-comparison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 repeated testing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제공하지 않으므로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별도 근거를 함께 보고해야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pp. 3–5, 7–19; synthesized reporting aid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EA63416-3B82-4CA2-9457-34762C64328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관례가 아니라 검정 설계의 결과다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원문의 권고를 압축합니다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Welch t-test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confidence interval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empirical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아래가 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stricter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고려하며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multiple comparisons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pilot study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SD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robust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power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더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고려하라는 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문장입니다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이 모든 권고는 논문이 검토한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assumptions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conditions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전제로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n=20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비교의 자동 답으로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비교의 목적과 허용 오류를 먼저 적고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근거로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계획을 설명하는 것이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tutorial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올바른 독해입니다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colas-v2 | pp. 18–19, Message 4;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arXiv:1806.08295v2 — How Many Random Seeds? Statistical Power Analysis in Deep Reinforcement Learning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https://arxiv.org/abs/1806.08295v2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DF7007-BC1B-49BD-A2A5-54CA86ADC9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DRL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실험의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seed: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몇 번이 아니라 어떻게 설계할까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How Many Random Seeds? Statistical Power Analysis in Deep Reinforcement Learning Experiments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Cédric Colas, Olivier Sigaud, Pierre-Yves Oudeyer (2018)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효과크기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변동성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오류 위험을 함께 정해 비교 실험의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계획하는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2018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tutorial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1, title·abstract; arXiv v2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그럴듯한 그림이 왜 위험한가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학습곡선의 평균과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출발점일 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알고리즘의 차이 검정 그 자체가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회 실행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Half-Cheetah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95%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겉보기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 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더 좋아 보인다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검정 전 사실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표본 변동과 오류율은 아직 모른다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반례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곡선은 실제로 같은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DDPG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였다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교훈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그림 뒤에 차이 검정과 설계가 필요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pp. 2, 4, 10; Fig. 1; Example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실행은 평균이 아니라 확률변수의 한 관측이다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설정에서도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상태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확률성 때문에 실행 성능이 달라질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lane-runs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 실행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edge-s-r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r-x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edge-x-e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edge-e-f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mechanism-node-setup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 조건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알고리즘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지표를 명시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run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초기상태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환경이 변동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x"/>
          <p:cNvSpPr/>
          <p:nvPr/>
        </p:nvSpPr>
        <p:spPr>
          <a:xfrm>
            <a:off x="5824080" y="32637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 성능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node-x-queue-1"/>
          <p:cNvSpPr/>
          <p:nvPr/>
        </p:nvSpPr>
        <p:spPr>
          <a:xfrm>
            <a:off x="5824080" y="35179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mechanism-node-x-queue-2"/>
          <p:cNvSpPr/>
          <p:nvPr/>
        </p:nvSpPr>
        <p:spPr>
          <a:xfrm>
            <a:off x="5824080" y="37083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mechanism-node-x-queue-3"/>
          <p:cNvSpPr/>
          <p:nvPr/>
        </p:nvSpPr>
        <p:spPr>
          <a:xfrm>
            <a:off x="5824080" y="38988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…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mechanism-node-x-queue-4"/>
          <p:cNvSpPr/>
          <p:nvPr/>
        </p:nvSpPr>
        <p:spPr>
          <a:xfrm>
            <a:off x="5824080" y="408924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mechanism-node-estimate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 요약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x̄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표본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SD 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node-effec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효과크기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두 평균 성능의 차이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1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커지면 평균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·SD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추정은 안정하지만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효과와 오류 목표에 따라 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1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3, §2.1, Eq. (1)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전에 무엇을 주장할지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양측과 단측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대칭적인 차이 질문과 방향을 사전에 가진 질문은 서로 다른 가설 계약이다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80484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귀무가설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대립가설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μdiff =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μdiff ≠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μdiff ≤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μdiff &gt;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p-value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아래의 극단성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참일 확률은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단측은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더 낫다는 방향을 관측 전부터 정당화할 수 있을 때만 원문이 제시한다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4, §2.2, Eq. (2)–(3)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오류와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위험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검정은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H0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결정하지만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실제 상태와 판단은 엇갈릴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36961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판단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H0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 negative: 1−α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false negative: 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기각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false positive: 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 positive: 1−β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1−β: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참 차이를 잡을 확률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낮추면 보수적이 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늘리지 않으면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커질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pp. 5–6, Table 1; pp. 8–9,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비교를 하면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하나로 끝나지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비교에서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familywise false positive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위험을 따로 다룬다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family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알고리즘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 대비를 함께 판단할지 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비교의 검정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같은 규칙을 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누적 위험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늘면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false positive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증가한다고 경고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보정 예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Bonferroni: αBon = α / NE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수와 보정 규칙을 함께 공개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원문은 다중 비교 보정은 다루지만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늘리는 순차 설계는 정의하지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5, §2.2; Rice (1989) citation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검정 도구의 역할과 전제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unequal variance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Welch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분포 가정이 어려울 때는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bootstrap CI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설명한다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369612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계산하는가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전제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2-sample t-test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차이의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통계량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분산이 같다는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Welch t-test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차이와 추정 자유도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종형 분포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 CI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재표집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difference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표본이 분포를 충분히 대표해야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KS test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분포가 같은지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원문은 순서 관계 주장에는 부적절하다고 설명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‘distribution-free’ bootstrap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작은 표본이 분포를 대표한다는 문제를 없애지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pp. 6–10, §3.1–3.2; footnote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Welch t-test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평균 차이를 불확실성으로 나눈다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쓰는 경우에도 두 알고리즘의 표본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달라도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 1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x̄1, s1, N1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 2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x̄2, s2, N2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Welch statistic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차이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÷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표본의 표준오차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판정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자유도를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기준으로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7, §3.1, Eq. (4)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유의하지 않음은 ‘같다’가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임계값보다 작을 때 증거 부족과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type-II error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가능성을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관측된 평균 차이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x̄diff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표본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SD, 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검정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임계값 이상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H0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기각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임계값 미만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차이를 보일 증거가 부족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번째 경우의 가능성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작은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키울 수 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질문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효과를 잡을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충분한가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9, §3.1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bootstrap CI: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재표집 평균 차이의 구간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알고리즘의 표본을 각각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replacement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재표집하고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mean difference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분위수를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 표본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 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 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성능을 준비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회 재표집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표본에서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replacement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다시 뽑기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평균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재표집마다 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mean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mean difference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평균 차이를 모은다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CI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판정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구간에 들어가는지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B&gt;1000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재표집 횟수의 예일 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원 표본의 대표성 문제를 고치지 못한다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pp. 9–10, §3.2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pilot·power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평가는 역할이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단계는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변동성을 추정한 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만족하는 최종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선택하고 검정한다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질문 고정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양측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/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단측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α,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효과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알고리즘의 평균과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s1, s2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곡선을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final 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허용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만족하는 각 알고리즘의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알고리즘의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표본으로 검정 실행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본 차이는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결정을 위한 입력이며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관측을 최종 확증 증거로 과장하지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pp. 11–14, §4.1–4.3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planning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Half-Cheetah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DDPG perturbation variant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n=5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관찰한 조건부 사례다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391480"/>
                <a:gridCol w="23914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 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 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noise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noise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DDPG variant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3523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x̄diff = 1382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SD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1341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계산의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Welch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= 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α=0.05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미기각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 CI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[795, 2692]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포함하지 않는 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검정이 다를 수 있으므로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 하나를 진실로 읽지 말고 전제와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점검한다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12, §4.1;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curve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읽는 법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조건부 출력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α,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 효과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ε, pilot SD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추정치가 고정될 때만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β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곡선이 정의된다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69612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고정한 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읽는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유의수준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Welch; α = 0.05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critical 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계산에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SD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s1=1341, s2=990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변동성이 큰 만큼 더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 효과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 = 1382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차이를 해당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 = 0.51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효과를 놓칠 확률이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 = 0.19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β≤0.2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요구를 이 사례에서 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N=10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 효과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·α·β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요구 아래의 예시일 뿐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권장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13, §4.2; Fig. 4; Eq. (8)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N=10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좁은 구간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늘린 뒤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Half-Cheetah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비교에서 두 검정이 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기각한 사례다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358740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N=10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알고리즘 표본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(Algo 1, Algo 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3523, 4905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3690, 5323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SD (Algo 1, Algo 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1341, 990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1086, 1454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Welch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= 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= 0.0037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 CI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[795, 2692]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[732, 2612]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많은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불확실성을 줄일 수 있지만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이 알고리즘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지표 조건의 관측이다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14, §4.3; Fig.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 제작 산술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Welch statistic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손으로 따라가기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값은 원문 데이터가 아닌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Eq. (4)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입력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출력을 확인하기 위한 새 예시다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500200"/>
                <a:gridCol w="250020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 검정 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return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96, 99, 100, 103, 102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91, 94, 95, 98, 97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강의용으로 만든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x̄1 = 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x̄2 = 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x̄diff =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s1 ≈ 2.74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s2 ≈ 2.74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 = √(7.5/5 + 7.5/5) ≈ 1.73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Welch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≈ 5 / 1.73 = 2.89; df ≈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차이뿐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변동과 표본 수가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power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별도로 설계한다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7, Eq. (4); </a:t>
            </a: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자체 제작 예시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알고리즘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split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α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참임을 알 수 있는 동일 알고리즘의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회 결과를 이용해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false-positive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비율을 추정한다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mechanism-lane-audit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empirical α audit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mechanism-edge-r-s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mechanism-edge-s-t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mechanism-edge-t-r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mechanism-edge-r-a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mechanism-node-runs"/>
          <p:cNvSpPr/>
          <p:nvPr/>
        </p:nvSpPr>
        <p:spPr>
          <a:xfrm>
            <a:off x="1739880" y="33591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동일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 2N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mechanism-node-runs-queue-1"/>
          <p:cNvSpPr/>
          <p:nvPr/>
        </p:nvSpPr>
        <p:spPr>
          <a:xfrm>
            <a:off x="1739880" y="36133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mechanism-node-runs-queue-2"/>
          <p:cNvSpPr/>
          <p:nvPr/>
        </p:nvSpPr>
        <p:spPr>
          <a:xfrm>
            <a:off x="1739880" y="38037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…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mechanism-node-runs-queue-3"/>
          <p:cNvSpPr/>
          <p:nvPr/>
        </p:nvSpPr>
        <p:spPr>
          <a:xfrm>
            <a:off x="1739880" y="39942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 2N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mechanism-node-split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split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H0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참인 가짜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mechanism-node-test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차이 검정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H0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기각 여부를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기록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mechanism-node-repeat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회 반복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원문은 예로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T=1000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든다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mechanism-node-rate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기각 비율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비율이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α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nominal α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이 데이터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·test·N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false-positive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비율을 확인하는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audit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15, §5.1; Example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6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작은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-N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경고를 과장하지 않기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성능 관측에서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N=2..21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바꾸어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nominal α=0.05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empirical false-positive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23972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관측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없는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실험에서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nominal 5%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훨씬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false positive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같은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Welch,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보수적이지만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α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약간 과소평가될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 위반이 없다는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데이터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42 available measures; N=2..21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결론의 보수적 문구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 CI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N&lt;20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쓰지 말 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비교의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충분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경험적 점검을 권하지만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그림을 범용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benchmark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만들지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pp. 15–16, Example 3; Fig. 6; p. 19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SD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과소추정은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낙관시킨다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s1·s2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실제보다 작게 추정되면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β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낮게 보고 필요한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작게 선택할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s1, s2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추정 자체가 크게 흔들린다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SD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과소추정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표준오차와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critical term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낙관적으로 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β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과소추정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효과를 잡기 쉽다고 오판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오류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계산이 요구하는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작게 고를 수 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대응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키우고 계산값보다 큰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pp. 16–18, §5.2; Figs. 7–8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원문의 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20’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올바른 자리에서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서로 다른 숫자와 역할을 섞으면 ‘항상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 seed’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라는 잘못된 규칙이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5658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바꾸면 안 되는 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n≥20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s1·s2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robust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하게 추정하라는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recommendation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최종 비교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충분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 N&lt;20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conclusion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 CI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금지 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Welch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같은 보편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cutoff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Example N=10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ε, α, pilot SD, β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Half-Cheetah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권장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larger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 보상을 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guidance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보편 여유분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지표 변동성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효과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α·β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요구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검정 가정과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p. 19, Conclusion; final recommendations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논문에 남겨야 할 비교 설계 카드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‘seed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몇 개 썼다’만으로는 독자가 오류 위험과 재현 가능성을 평가할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56588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반드시 적을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논문과의 연결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estimand·metric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실행의 성능 정의와 집계 방식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X, xi,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·SD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양측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단측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사전 방향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유의수준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type-I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n, s1·s2,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ε·β,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알고리즘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analysis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입력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Welch/bootstrp,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대표성 점검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 위반 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흔들림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family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보정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stopping design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Bonferroni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 가능한 비교는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수뿐 아니라 그 수의 오류 목표와 조건도 기록한다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pp. 3–5, 7–19; synthesized reporting aid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seed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수는 관례가 아니라 검정 설계의 결과다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가장 중요한 기여는 ‘더 많이’보다 ‘어떤 오류를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어떤 조건에서 줄일 것인가’를 묻게 만든 데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확률변수의 관측이며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곡선만으로 성능 우위를 단정할 수 없다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P(false positive)=α, P(false negative)=β, power=1−β.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추정하고 목표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ε·α·β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정해 비교한다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검정 전제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·empirical α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다중 비교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·stopping rule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공개한다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n≥20, bootstrap N&lt;20, Example N=10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문맥별 숫자이지 보편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3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수보다 조건부 오류 위험을 투명하게 설계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검증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5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colas-v2 pp. 18–19, Message 4;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2026-09-12T06:39:29Z</dcterms:created>
  <dc:creator>Research Seminars</dc:creator>
  <dc:description/>
  <dc:language>ko-KR</dc:language>
  <cp:lastModifiedBy>Research Seminars</cp:lastModifiedBy>
  <dcterms:modified xsi:type="dcterms:W3CDTF">2026-09-12T06:39:29Z</dcterms:modified>
  <cp:revision>1</cp:revision>
  <dc:subject>How Many Random Seeds? Statistical Power Analysis in Deep Reinforcement Learning Experiments</dc:subject>
  <dc:title>DRL 실험의 random seed: 몇 번이 아니라 어떻게 설계할까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On-screen Show (16:9)</vt:lpwstr>
  </property>
  <property fmtid="{D5CDD505-2E9C-101B-9397-08002B2CF9AE}" pid="4" name="Slides">
    <vt:r8>21</vt:r8>
  </property>
</Properties>
</file>
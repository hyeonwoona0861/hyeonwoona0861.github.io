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DRL 실험의 random seed: 몇 번이 아니라 어떻게 설계할까
발표 대본
이 세미나는 Colas, Sigaud, Oudeyer의 arXiv v2를 읽습니다. 논문의 질문은 모든 DRL 연구에 같은 seed 수를 강제하는 것이 아닙니다. 두 알고리즘의 성능 차이를 검정할 때, 검출하려는 효과와 변동성, 허용할 오류를 바탕으로 표본 수를 어떻게 설계할지를 다룹니다. 원문의 final recommendation과 특정 Half-Cheetah 사례의 수치를 다른 환경의 보편 규칙으로 바꾸지 않는 것이 오늘의 핵심입니다.
공개 출처
colas-v2 | p. 1, title·abstract; arXiv v2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5개 seed의 그럴듯한 그림이 왜 위험한가
발표 대본
원문 Figure 1은 Half-Cheetah에서 각 알고리즘 5 seed의 평균과 95% confidence interval을 보여 줍니다. 겉으로는 Algo 1이 Algo 2보다 나아 보일 수 있습니다. 그러나 이어지는 Example 1은 두 집단이 OpenAI Baselines의 같은 canonical DDPG였음을 밝힙니다. 따라서 curve band의 시각적 분리는 성능 우위의 충분한 증거가 아닙니다. 이 도식은 시간순 학습 파이프라인이 아니라, 시각적 인상과 검정 가능한 주장 사이의 논리 구조입니다.
공개 출처
colas-v2 | pp. 2, 4, 10; Fig. 1; Example 1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seed 실행은 평균이 아니라 확률변수의 한 관측이다
발표 대본
원문은 알고리즘 성능을 확률변수 X로 모델링하고, 한 번 실행의 결과를 xi로 둡니다. 동일 알고리즘의 서로 다른 실행도 random-generator seed, agent initial state, environment stochasticity 때문에 달라질 수 있습니다. N회 실행으로 x1부터 xN까지 표본을 얻고, empirical mean x̄와 empirical standard deviation s로 미지의 모평균과 표준편차를 추정합니다. 두 알고리즘의 effect size epsilon은 두 모평균의 차이입니다. 여기서 N은 이후 원문에서 각 알고리즘의 최종 비교 표본 수로 둡니다.
공개 출처
colas-v2 | p. 3, §2.1, Eq. (1)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비교 전에 무엇을 주장할지: 양측과 단측
발표 대본
원문은 차이가 있는지를 묻는 양측 가설 H0: mu_diff=0, Ha: mu_diff≠0을 먼저 제시합니다. 어떤 알고리즘이 더 좋을 것이라는 a priori가 있을 때만 단측 H0: mu_diff≤0, Ha: mu_diff&gt;0을 쓸 수 있다고 설명합니다. p-value는 H0가 주어진 조건에서 관측값만큼 또는 더 극단적인 자료를 볼 확률입니다. 따라서 p-value를 H0가 참일 확률, 혹은 효과의 크기라고 읽지 않습니다. 덱의 기호는 원문의 의미를 보이는 일반 텍스트이며 새로운 검정식을 추가하지 않습니다.
공개 출처
colas-v2 | p. 4, §2.2, Eq. (2)–(3)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두 오류와 power: 같은 threshold의 두 위험
발표 대본
원문의 Table 1은 type-I error를 H0가 참인데 기각하는 false positive, type-II error를 Ha가 참인데 H0를 기각하지 못하는 false negative로 분류합니다. Figure 2에서는 alpha가 H0 분포의 기각 영역, beta가 실제 효과가 있어도 기각하지 못하는 영역, 1-beta가 power입니다. 원문은 alpha를 낮추면 critical threshold가 커져 beta가 커질 수 있고, alpha를 고정한 채 N을 늘리면 beta를 낮출 수 있다고 설명합니다. 따라서 한 숫자만 좋은 것이 아니라 두 오류 위험과 N의 균형을 설계합니다.
공개 출처
colas-v2 | pp. 5–6, Table 1; pp. 8–9, Fig. 2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여러 비교를 하면 α 하나로 끝나지 않는다
발표 대본
원문은 NE experiments를 수행하면 false-positive rate가 experiment 수에 따라 선형적으로 증가한다고 쓰고, Bonferroni alpha_Bon=alpha/NE를 예로 듭니다. 이는 familywise error rate를 통제하려는 예시입니다. 이 slide의 마지막 문장은 중요합니다. 원문은 서로 여러 비교를 하는 문제를 다루지만, 매번 p값을 확인하며 유의할 때까지 seed를 추가하는 optional stopping의 유효한 순차 검정 절차를 제공하지 않습니다. 그런 운영을 한다면 별도 순차 설계와 근거를 명시해야 하며, 그것을 이 논문의 보증으로 부르지 않습니다.
공개 출처
colas-v2 | p. 5, §2.2; Rice (1989) citation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두 검정 도구의 역할과 전제
발표 대본
원문은 서로 다른 알고리즘의 variance가 같다고 보기 어렵기 때문에 ordinary two-sample t-test보다 Welch t-test를 사용하라고 설명합니다. Welch에는 continuous/rankable measurement, representative sample, independence, normal 또는 bell-shaped distribution이라는 전제가 적혀 있습니다. Bootstrap CI는 performance distribution 자체에 가정을 두지 않고 mean difference의 구간을 empirical하게 추정하지만, 원 표본이 underlying distribution을 올바로 represent할 만큼 커야 합니다. 원문의 각주도 KS test는 two samples가 같은 distribution인지 묻는 검정이라 order relation을 보일 수 없어 RL algorithm 비교에 쓰지 말라고 설명합니다.
공개 출처
colas-v2 | pp. 6–10, §3.1–3.2; footnote 3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Welch t-test는 평균 차이를 불확실성으로 나눈다
발표 대본
원문 Eq. (4)의 Welch statistic은 empirical mean difference를 sqrt(s1²/N1+s2²/N2)로 나눈 형태입니다. s1과 s2는 각 표본 SD, N1과 N2는 표본 수이고 자유도는 Welch–Satterthwaite equation으로 근사합니다. 원문은 이후 N1=N2=N을 가정해 power planning을 전개하지만, Welch test 자체의 동기는 equal variances를 요구하지 않는 점입니다. 이 도식은 두 독립 표본이 같은 calculation에 들어가는 구조이며, 실제 training time axis를 뜻하지 않습니다.
공개 출처
colas-v2 | p. 7, §3.1, Eq. (4)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유의하지 않음은 ‘같다’가 아니다
발표 대본
원문 p. 9는 t&lt;t_alpha가 두 알고리즘 성능 사이에 차이가 없다는 뜻은 아니라고 명시합니다. 충분한 confidence로 존재를 보일 evidence가 부족할 수 있고, type-II error일 수 있습니다. Noise가 검정의 detection ability를 가릴 수 있어 N을 늘리면 도움이 될 수 있습니다. 단, N을 늘리는 판단도 효과크기와 beta 요구를 포함한 사전 계획으로 해야지, 유의가 나올 때까지 반복 관측하는 절차를 이 논문으로 정당화해서는 안 됩니다.
공개 출처
colas-v2 | p. 9, §3.1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bootstrap CI: 재표집 평균 차이의 구간
발표 대본
원문 §3.2는 original samples x1과 x2에서 각각 size N의 bootstrap samples를 B개 생성하고, 매번 empirical means와 their difference를 계산한 뒤 alpha/2와 1-alpha/2 percentile 사이를 confidence interval로 잡습니다. alpha=.05면 예시는 2.5th와 97.5th percentile입니다. CI가 0을 포함하지 않으면 difference direction에 대한 evidence를 얻습니다. B는 large, 예컨대 1000보다 크게 하라고 예시하지만, 이는 resampling 횟수 B이지 DRL seed 수 N이 아닙니다.
공개 출처
colas-v2 | pp. 9–10, §3.2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pilot·power 결정·최종 평가는 역할이 다르다
발표 대본
원문 §4.1은 pilot study size n으로 두 알고리즘을 실행해 x̄1, x̄2, s1, s2를 얻습니다. §4.2는 Welch test, significance alpha, detect하려는 effect epsilon, 그리고 empirical SD estimates가 주어지면 beta를 N의 함수로 계산한다고 설명합니다. §4.3은 각 알고리즘에서 size N 표본을 얻고 tests를 적용합니다. 이 deck은 교육적으로 pilot, planning, final evaluation을 분리해 그립니다. 원문이 pilot 데이터를 final test에서 자동으로 제외한다는 별도의 independence theorem을 제공한다는 뜻은 아니며, 사전 설계와 보고 투명성을 강조하는 표현입니다.
공개 출처
colas-v2 | pp. 11–14, §4.1–4.3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원문 pilot: 작은 n은 planning 입력
발표 대본
이 표의 모든 수치는 원문 Example 2에서 그대로 옮겼습니다. 알고리즘은 Half-Cheetah에서 action perturbations 또는 parameter perturbations를 둔 DDPG입니다. n=5일 때 means는 3523과 4905, SDs는 1341과 990, observed difference는 1382입니다. alpha=.05 preliminary tests에서 Welch p-value는 .1이어서 H0를 기각하지 못했고, bootstrap CI는 [795,2692]로 0을 포함하지 않았습니다. 원문은 Welch test가 underlying difference를 놓쳤을 chance, 즉 beta를 계산하라고 이어갑니다. 이 불일치를 bootstrap이 맞고 Welch가 틀렸다는 증명으로 바꾸지 않습니다.
공개 출처
colas-v2 | p. 12, §4.1; Fig. 3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원문의 power curve를 읽는 법: N은 조건부 출력
발표 대본
원문은 N=2부터 50, effect epsilon=.1부터 1 times x̄1을 두고 t_alpha, nu, t_epsilon 및 Eq. (8)의 beta를 계산합니다. Figure 4에서 x̄diff=1382의 semi-dashed curve는 N=5에서 beta=.51, N=10에서 beta=.19를 보입니다. 따라서 beta=.2 requirement를 만족하려면 N=10으로 늘린다는 예시가 나옵니다. 계산은 nu, s1, s2에 대한 approximations와 t-value distribution assumptions를 쓴다고 원문이 즉시 경고합니다. 덱은 이 사례의 N=10을 보편 수치로 재사용하지 않습니다.
공개 출처
colas-v2 | p. 13, §4.2; Fig. 4; Eq. (8)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원문 N=10 관측: 더 좁은 구간
발표 대본
원문 §4.3은 N=10에서 means 3690과 5323, SDs 1086과 1454를 보고합니다. Welch p-value는 .0037, bootstrap difference CI는 [732,2612]이어서 두 test가 H0를 reject합니다. Figure 5는 N=5보다 N=10의 95% confidence intervals가 작아졌다고 설명합니다. 비교 표의 N=5 숫자는 §4.1 pilot 결과이고 N=10 숫자는 §4.3의 재실행 결과이므로, N만 달라지고 모든 empirical summary가 기계적으로 고정된 counterfactual이라고 해석하지 않습니다.
공개 출처
colas-v2 | p. 14, §4.3; Fig. 5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자체 제작 산술 예시: Welch statistic을 손으로 따라가기
발표 대본
이 표의 모든 return 값은 강의를 위해 새로 만들었고 원문의 DDPG 수치가 아닙니다. A와 B의 sample mean은 100과 95, unbiased sample variance는 각각 7.5이므로 sample SD는 약 2.74입니다. 원문 Eq. (4)의 분모는 sqrt(7.5/5+7.5/5)=sqrt(3)≈1.73이고 t≈2.89가 됩니다. 같은 공식으로 Welch–Satterthwaite degrees of freedom은 약 8입니다. 이 한 번의 계산은 효과와 표본 변동을 연결하는 연습일 뿐, 다섯 seed가 충분하다는 권장이나 원문 결과 재현이 아닙니다.
공개 출처
colas-v2 | p. 7, Eq. (4); 자체 제작 예시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같은 알고리즘 split으로 empirical α 점검
발표 대본
원문 §5.1의 procedure는 given algorithm을 2 times N만큼 실행해 모두 같은 distribution에서 온 measurements로 만들고, 그 결과를 N 크기의 두 random split으로 나눕니다. 둘을 fictive algorithms로 보고 difference test를 실행해 H0 rejection을 기록합니다. 이를 T times, 예를 들어 1000번 반복하고 rejection proportion을 empirical evaluation of alpha로 삼습니다. 이 도식은 실제 두 알고리즘의 성능 비교가 아니라 test calibration audit입니다. 동일 분포라는 전제가 무엇으로 확보되는지와 사용한 N, T, split rule을 함께 보고해야 합니다.
공개 출처
colas-v2 | p. 15, §5.1; Example 3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Fig. 6의 작은-N 경고를 과장하지 않기
발표 대본
Example 3은 42 available measures로 N=2부터 21까지 empirical false-positive rate를 계산합니다. Figure 6에서 bootstrap CI는 작은 N에서 특히 나쁘고, text는 N&lt;10에서 쓸 수 없다고 설명합니다. 같은 페이지는 even in this case 약 10%가 nominal 5%보다 과소평가된다고 합니다. 원문 conclusion의 final recommendation은 더 보수적으로 bootstrap test should not be used with less than N=20입니다. 따라서 deck은 Fig. 6의 observation과 final recommendation을 모두 적되, 이를 final comparison에 대한 보편 seed count로 바꾸지 않습니다.
공개 출처
colas-v2 | pp. 15–16, Example 3; Fig. 6; p. 19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pilot SD 과소추정은 power를 낙관시킨다
발표 대본
원문 §5.2는 low N에서 empirical SD estimates s1과 s2가 true SD를 average로 under-estimate할 수 있다고 설명합니다. 과소추정은 smaller nu와 lower t_alpha, lower beta estimate, and finally smaller selected N으로 이어진다는 논리입니다. Figure 7은 X~N(0,1)의 empirical SD가 sample size가 작을 때 크게 흔들리는 모습을, Figure 8은 SD error=.40이면 desired epsilon=.9와 beta=.2에서 correct estimate로 N=17이던 것이 N=7로 선택될 수 있음을 보입니다. 이 그림은 normal synthetic illustration이지 DDPG performance result가 아닙니다.
공개 출처
colas-v2 | pp. 16–18, §5.2; Figs. 7–8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원문의 ‘20’을 올바른 자리에서 읽기
발표 대본
원문 p. 19의 final recommendations에는 at least n=20 samples in the pilot study to compute robust estimates of both algorithms’ SDs가 있습니다. 별도로 bootstrap test should not be used with less than N=20이라고 결론에서 씁니다. 그리고 power analysis가 prescribe한 N보다 systematically larger N을 고르라고 조언합니다. 이 세 문장은 서로 다른 대상과 이유를 갖습니다. 원문은 ‘모든 deep RL 비교는 정확히 20 seeds’라고 말하지 않습니다. 발표자는 n과 N을 화면에서 계속 구분하고, 새로운 task에는 다시 effect, SD, alpha, beta, test conditions를 명시해야 합니다.
공개 출처
colas-v2 | p. 19, Conclusion; final recommendations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논문에 남겨야 할 비교 설계 카드
발표 대본
이 표는 원문의 정의, planning chain, multiple-comparison warning을 묶어 만든 교육용 reporting card입니다. 원문에 표 형식으로 제시된 checklist는 아닙니다. 그러나 한 실행의 metric, sample size, test, assumptions, alpha, beta, effect, pilot SD estimates, multiple comparisons가 없으면 원문의 power logic을 독자가 재구성할 수 없습니다. 마지막 stopping design은 특히 source boundary를 표시합니다. 원문은 Bonferroni multiple-comparison example을 제공하지만 sequential repeated testing method를 제공하지 않으므로, 그런 design은 별도 근거를 함께 보고해야 합니다.
공개 출처
colas-v2 | pp. 3–5, 7–19; synthesized reporting aid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결론: seed 수는 관례가 아니라 검정 설계의 결과다
발표 대본
마지막으로 원문의 권고를 압축합니다. Welch t-test를 bootstrap confidence interval test보다 사용하고, empirical alpha가 .05 아래가 되도록 stricter alpha를 고려하며, multiple comparisons를 보정하고, pilot study의 SD estimate를 robust하게 만들고, power analysis가 준 N보다 더 큰 N을 고려하라는 것이 p.19의 문장입니다. 그러나 이 모든 권고는 논문이 검토한 test assumptions와 data conditions를 전제로 합니다. 우리는 Example N=10이나 pilot n=20을 모든 RL 비교의 자동 답으로 말하지 않습니다. 비교의 목적과 허용 오류를 먼저 적고, 그 근거로 seed 계획을 설명하는 것이 이 tutorial의 올바른 독해입니다.
공개 출처
colas-v2 | pp. 18–19, Message 4; Conclusion
arXiv:1806.08295v2 — How Many Random Seeds? Statistical Power Analysis in Deep Reinforcement Learning Experiments
https://arxiv.org/abs/1806.08295v2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DRL 실험의 random seed: 몇 번이 아니라 어떻게 설계할까</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How Many Random Seeds? Statistical Power Analysis in Deep Reinforcement Learning Experiments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Cédric Colas, Olivier Sigaud, Pierre-Yves Oudeyer (2018)</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효과크기·변동성·오류 위험을 함께 정해 비교 실험의 N을 계획하는 2018년 tutorial</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 title·abstract; arXiv v2</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5개 seed의 그럴듯한 그림이 왜 위험한가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학습곡선의 평균과 band는 출발점일 뿐, 두 알고리즘의 차이 검정 그 자체가 아니다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5회 실행</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Half-Cheetah 평균과 95% 구간</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겉보기</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Algo 1이 더 좋아 보인다</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검정 전 사실</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표본 변동과 오류율은 아직 모른다</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원문의 반례</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곡선은 실제로 같은 DDPG였다</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교훈</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그림 뒤에 차이 검정과 설계가 필요</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2, 4, 10; Fig. 1; Example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seed 실행은 평균이 아니라 확률변수의 한 관측이다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설정에서도 seed·초기 상태·환경 확률성 때문에 실행 성능이 달라질 수 있다</a:t>
            </a:r>
            <a:endParaRPr lang="en-US" sz="1900" dirty="0"/>
          </a:p>
        </p:txBody>
      </p:sp>
      <p:sp>
        <p:nvSpPr>
          <p:cNvPr id="4" name="mechanism-lane-runs"/>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반복 실행</a:t>
            </a:r>
            <a:endParaRPr lang="en-US" sz="1250" dirty="0"/>
          </a:p>
        </p:txBody>
      </p:sp>
      <p:sp>
        <p:nvSpPr>
          <p:cNvPr id="5" name="mechanism-edge-s-r-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r-x-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x-e-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f-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etup"/>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비교 조건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알고리즘·환경·지표를 명시</a:t>
            </a:r>
            <a:endParaRPr lang="en-US" sz="1150" dirty="0"/>
          </a:p>
        </p:txBody>
      </p:sp>
      <p:sp>
        <p:nvSpPr>
          <p:cNvPr id="10" name="mechanism-node-run"/>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seed별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seed·초기상태·환경이 변동</a:t>
            </a:r>
            <a:endParaRPr lang="en-US" sz="1150" dirty="0"/>
          </a:p>
        </p:txBody>
      </p:sp>
      <p:sp>
        <p:nvSpPr>
          <p:cNvPr id="11" name="mechanism-node-x"/>
          <p:cNvSpPr txBox="1"/>
          <p:nvPr/>
        </p:nvSpPr>
        <p:spPr>
          <a:xfrm>
            <a:off x="5824220" y="32639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관측 성능</a:t>
            </a:r>
            <a:endParaRPr lang="en-US" sz="1150" dirty="0"/>
          </a:p>
        </p:txBody>
      </p:sp>
      <p:sp>
        <p:nvSpPr>
          <p:cNvPr id="12" name="mechanism-node-x-queue-1"/>
          <p:cNvSpPr/>
          <p:nvPr/>
        </p:nvSpPr>
        <p:spPr>
          <a:xfrm>
            <a:off x="5824220" y="3517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x1</a:t>
            </a:r>
            <a:endParaRPr lang="en-US" sz="950" dirty="0"/>
          </a:p>
        </p:txBody>
      </p:sp>
      <p:sp>
        <p:nvSpPr>
          <p:cNvPr id="13" name="mechanism-node-x-queue-2"/>
          <p:cNvSpPr/>
          <p:nvPr/>
        </p:nvSpPr>
        <p:spPr>
          <a:xfrm>
            <a:off x="5824220" y="3708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x2</a:t>
            </a:r>
            <a:endParaRPr lang="en-US" sz="950" dirty="0"/>
          </a:p>
        </p:txBody>
      </p:sp>
      <p:sp>
        <p:nvSpPr>
          <p:cNvPr id="14" name="mechanism-node-x-queue-3"/>
          <p:cNvSpPr/>
          <p:nvPr/>
        </p:nvSpPr>
        <p:spPr>
          <a:xfrm>
            <a:off x="5824220" y="3898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a:r>
            <a:endParaRPr lang="en-US" sz="950" dirty="0"/>
          </a:p>
        </p:txBody>
      </p:sp>
      <p:sp>
        <p:nvSpPr>
          <p:cNvPr id="15" name="mechanism-node-x-queue-4"/>
          <p:cNvSpPr/>
          <p:nvPr/>
        </p:nvSpPr>
        <p:spPr>
          <a:xfrm>
            <a:off x="5824220" y="4089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xN</a:t>
            </a:r>
            <a:endParaRPr lang="en-US" sz="950" dirty="0"/>
          </a:p>
        </p:txBody>
      </p:sp>
      <p:sp>
        <p:nvSpPr>
          <p:cNvPr id="16" name="mechanism-node-estimat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표본 요약</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평균 x̄와 표본 SD s를 계산</a:t>
            </a:r>
            <a:endParaRPr lang="en-US" sz="1150" dirty="0"/>
          </a:p>
        </p:txBody>
      </p:sp>
      <p:sp>
        <p:nvSpPr>
          <p:cNvPr id="17" name="mechanism-node-effec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효과크기</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ε는 두 평균 성능의 차이</a:t>
            </a:r>
            <a:endParaRPr lang="en-US" sz="1150" dirty="0"/>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N이 커지면 평균·SD 추정은 안정하지만, N은 효과와 오류 목표에 따라 정한다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3, §2.1, Eq. (1)</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전에 무엇을 주장할지: 양측과 단측</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대칭적인 차이 질문과 방향을 사전에 가진 질문은 서로 다른 가설 계약이다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804920"/>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귀무가설 H0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대립가설 Ha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μdiff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μdiff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μdiff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μdiff &gt;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H0 아래의 극단성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H0가 참일 확률은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단측은 Algo 1이 더 낫다는 방향을 관측 전부터 정당화할 수 있을 때만 원문이 제시한다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4, §2.2, Eq.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오류와 power: 같은 threshold의 두 위험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검정은 H0 또는 Ha를 결정하지만, 실제 상태와 판단은 엇갈릴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369620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판단 / 실제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H0가 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Ha가 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H0를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negative: 1−α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false negative: 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H0를 기각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false positive: 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positive: 1−β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1−β: 참 차이를 잡을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α를 낮추면 보수적이 되지만, N을 늘리지 않으면 β가 커질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5–6, Table 1; pp. 8–9,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여러 비교를 하면 α 하나로 끝나지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NE개의 비교에서 familywise false positive 위험을 따로 다룬다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비교 family 정의</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어떤 알고리즘·환경 대비를 함께 판단할지 정한다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각 비교의 검정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선택한 α와 같은 규칙을 적용</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누적 위험</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원문은 NE가 늘면 false positive가 증가한다고 경고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보정 예</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Bonferroni: αBon = α / NE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비교 수와 보정 규칙을 함께 공개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원문은 다중 비교 보정은 다루지만, 중간 p값으로 N을 늘리는 순차 설계는 정의하지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5, §2.2; Rice (1989) citation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검정 도구의 역할과 전제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unequal variance 비교에는 Welch를, 분포 가정이 어려울 때는 bootstrap CI를 설명한다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696208"/>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도구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계산하는가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전제·주의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2-sample t-test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차이의 t 통계량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분산이 같다는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 t-test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차이와 추정 자유도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연속·대표성·독립·종형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CI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재표집 mean difference의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표본이 분포를 충분히 대표해야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KS 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분포가 같은지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원문은 순서 관계 주장에는 부적절하다고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‘distribution-free’ bootstrap도 작은 표본이 분포를 대표한다는 문제를 없애지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6–10, §3.1–3.2; footnote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Welch t-test는 평균 차이를 불확실성으로 나눈다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N을 쓰는 경우에도 두 알고리즘의 표본 SD는 서로 달라도 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Algo 1 표본</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x̄1, s1, N1</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Algo 2 표본</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x̄2, s2, N2</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Welch statistic</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평균 차이 ÷ 두 표본의 표준오차</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판정</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t와 자유도를 α 기준으로 비교</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7, §3.1, Eq. (4)</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유의하지 않음은 ‘같다’가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t가 임계값보다 작을 때 증거 부족과 type-II error 가능성을 구분한다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관측된 평균 차이</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x̄diff와 표본 SD, N으로 검정</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t가 임계값 이상</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선택한 α에서 H0를 기각</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t가 임계값 미만</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그 차이를 보일 증거가 부족</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두 번째 경우의 가능성</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noise와 작은 N이 β를 키울 수 있다</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다음 질문</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목표 효과를 잡을 N과 power는 충분한가</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9, §3.1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bootstrap CI: 재표집 평균 차이의 구간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알고리즘의 표본을 각각 replacement로 재표집하고, 반복 mean difference의 분위수를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 표본</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Algo 1과 Algo 2의 N개 성능을 준비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B회 재표집</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표본에서 N개를 replacement로 다시 뽑기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각 평균</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재표집마다 두 empirical mean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mean difference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B개의 평균 차이를 모은다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CI 판정</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0이 구간에 들어가는지 본다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B&gt;1000은 재표집 횟수의 예일 뿐, 작은 원 표본의 대표성 문제를 고치지 못한다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9–10, §3.2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pilot·power 결정·최종 평가는 역할이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3단계는 pilot n으로 변동성을 추정한 뒤, 목표 beta를 만족하는 최종 N을 선택하고 검정한다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질문 고정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비교, 양측/단측, α, 목표 효과 ε를 정한다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pilot 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알고리즘의 평균과 s1, s2를 추정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power 계산</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ε와 α에서 β 대 N 곡선을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final N 선택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허용 β를 만족하는 각 알고리즘의 N</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최종 평가</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알고리즘의 N개 표본으로 검정 실행</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pilot에서 본 차이는 N 결정을 위한 입력이며, 같은 관측을 최종 확증 증거로 과장하지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11–14, §4.1–4.3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 pilot: 작은 n은 planning 입력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Half-Cheetah에서 두 DDPG perturbation variant를 n=5로 관찰한 조건부 사례다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391664"/>
                <a:gridCol w="239166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Algo 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Algo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noise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 noise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DDPG variant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 x̄diff = 1382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SD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계산의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α=0.05에서는 H0 미기각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CI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[795, 2692]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0을 포함하지 않는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검정이 다를 수 있으므로, 수치 하나를 진실로 읽지 말고 전제와 power를 함께 점검한다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12, §4.1;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power curve를 읽는 법: N은 조건부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α, 목표 효과 ε, pilot SD 추정치가 고정될 때만 β 대 N의 곡선이 정의된다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69620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고정한 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curve에서 읽는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검정·유의수준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 α = 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critical value와 β 계산에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SD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s1=1341, s2=990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변동성이 큰 만큼 더 큰 N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 = 1382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차이를 해당 curve에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 0.51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효과를 놓칠 확률이 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 = 0.19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β≤0.2 요구를 이 사례에서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N=10은 이 효과·분산·α·β 요구 아래의 예시일 뿐 다른 task의 권장 seed 수가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13, §4.2; Fig. 4; Eq.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 N=10 관측: 더 좁은 구간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N을 늘린 뒤 같은 Half-Cheetah 비교에서 두 검정이 모두 H0를 기각한 사례다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58749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N=5</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N=10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알고리즘 표본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(Algo 1, Algo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3523, 4905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3690, 5323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SD (Algo 1, Algo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1341, 990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1086, 1454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 = 0.0037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CI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[795, 2692]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[732, 2612]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많은 seed는 불확실성을 줄일 수 있지만, 결과는 이 알고리즘·환경·지표 조건의 관측이다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14, §4.3; Fig.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자체 제작 산술 예시: Welch statistic을 손으로 따라가기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값은 원문 데이터가 아닌, Eq. (4)의 입력·출력을 확인하기 위한 새 예시다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500376"/>
                <a:gridCol w="25003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 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 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차이 검정 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5개 seed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96, 99, 100, 103, 102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91, 94, 95, 98, 97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강의용으로 만든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x̄1 =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x̄2 = 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x̄diff =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 SD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s1 ≈ 2.74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s2 ≈ 2.74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 = √(7.5/5 + 7.5/5) ≈ 1.73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5 / 1.73 = 2.89; df ≈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차이뿐 아니라 seed별 변동과 표본 수가 t를 바꾼다; power는 별도로 설계한다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7, Eq. (4); 자체 제작 예시</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알고리즘 split으로 empirical α 점검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H0가 참임을 알 수 있는 동일 알고리즘의 2N회 결과를 이용해 false-positive 비율을 추정한다</a:t>
            </a:r>
            <a:endParaRPr lang="en-US" sz="1900" dirty="0"/>
          </a:p>
        </p:txBody>
      </p:sp>
      <p:sp>
        <p:nvSpPr>
          <p:cNvPr id="4" name="mechanism-lane-audit"/>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empirical α audit</a:t>
            </a:r>
            <a:endParaRPr lang="en-US" sz="1250" dirty="0"/>
          </a:p>
        </p:txBody>
      </p:sp>
      <p:sp>
        <p:nvSpPr>
          <p:cNvPr id="5" name="mechanism-edge-r-s-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s-t-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r-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r-a-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runs"/>
          <p:cNvSpPr txBox="1"/>
          <p:nvPr/>
        </p:nvSpPr>
        <p:spPr>
          <a:xfrm>
            <a:off x="1739900" y="33591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동일 Algo 2N</a:t>
            </a:r>
            <a:endParaRPr lang="en-US" sz="1150" dirty="0"/>
          </a:p>
        </p:txBody>
      </p:sp>
      <p:sp>
        <p:nvSpPr>
          <p:cNvPr id="10" name="mechanism-node-runs-queue-1"/>
          <p:cNvSpPr/>
          <p:nvPr/>
        </p:nvSpPr>
        <p:spPr>
          <a:xfrm>
            <a:off x="1739900" y="3613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run 1</a:t>
            </a:r>
            <a:endParaRPr lang="en-US" sz="950" dirty="0"/>
          </a:p>
        </p:txBody>
      </p:sp>
      <p:sp>
        <p:nvSpPr>
          <p:cNvPr id="11" name="mechanism-node-runs-queue-2"/>
          <p:cNvSpPr/>
          <p:nvPr/>
        </p:nvSpPr>
        <p:spPr>
          <a:xfrm>
            <a:off x="173990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a:r>
            <a:endParaRPr lang="en-US" sz="950" dirty="0"/>
          </a:p>
        </p:txBody>
      </p:sp>
      <p:sp>
        <p:nvSpPr>
          <p:cNvPr id="12" name="mechanism-node-runs-queue-3"/>
          <p:cNvSpPr/>
          <p:nvPr/>
        </p:nvSpPr>
        <p:spPr>
          <a:xfrm>
            <a:off x="1739900" y="3994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run 2N</a:t>
            </a:r>
            <a:endParaRPr lang="en-US" sz="950" dirty="0"/>
          </a:p>
        </p:txBody>
      </p:sp>
      <p:sp>
        <p:nvSpPr>
          <p:cNvPr id="13" name="mechanism-node-split"/>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두 split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N개; H0 참인 가짜 Algo</a:t>
            </a:r>
            <a:endParaRPr lang="en-US" sz="1150" dirty="0"/>
          </a:p>
        </p:txBody>
      </p:sp>
      <p:sp>
        <p:nvSpPr>
          <p:cNvPr id="14" name="mechanism-node-tes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차이 검정</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H0 기각 여부를 1회 기록</a:t>
            </a:r>
            <a:endParaRPr lang="en-US" sz="1150" dirty="0"/>
          </a:p>
        </p:txBody>
      </p:sp>
      <p:sp>
        <p:nvSpPr>
          <p:cNvPr id="15" name="mechanism-node-repeat"/>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T회 반복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원문은 예로 T=1000을 든다</a:t>
            </a:r>
            <a:endParaRPr lang="en-US" sz="1150" dirty="0"/>
          </a:p>
        </p:txBody>
      </p:sp>
      <p:sp>
        <p:nvSpPr>
          <p:cNvPr id="16" name="mechanism-node-rat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기각 비율</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 비율이 empirical α 추정치</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nominal α가 아니라 이 데이터·test·N에서 실제 false-positive 비율을 확인하는 audit다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15, §5.1; Example 3</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6의 작은-N 경고를 과장하지 않기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42개 성능 관측에서 N=2..21을 바꾸어 nominal α=0.05와 empirical false-positive를 비교했다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239768"/>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관측</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작은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실험에서 nominal 5%보다 훨씬 큰 false positive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DRL task의 같은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 작은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보수적이지만 empirical α가 약간 과소평가될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위반이 없다는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6의 데이터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42 available measures; N=2..21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algorithm의 calibration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결론의 보수적 문구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CI는 N&lt;20에 쓰지 말 것</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비교의 N은 20이면 충분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원문은 α의 경험적 점검을 권하지만, 한 calibration 그림을 범용 benchmark로 만들지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15–16, Example 3; Fig. 6; p. 19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 SD 과소추정은 power를 낙관시킨다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n에서 s1·s2가 실제보다 작게 추정되면 β를 낮게 보고 필요한 N도 작게 선택할 수 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작은 pilot n</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s1, s2의 추정 자체가 크게 흔들린다</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SD 과소추정</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표준오차와 critical term을 낙관적으로 계산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β 과소추정</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목표 효과를 잡기 쉽다고 오판</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 선택 오류</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power 계산이 요구하는 N보다 작게 고를 수 있다</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원문의 대응</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pilot을 키우고 계산값보다 큰 N을 선택</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16–18, §5.2; Figs. 7–8</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‘20’을 올바른 자리에서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서로 다른 숫자와 역할을 섞으면 ‘항상 20 seed’라는 잘못된 규칙이 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기호·수치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바꾸면 안 되는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n≥20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s1·s2를 robust하게 추정하라는 final recommendation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최종 비교 N이 20이면 충분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N&lt;20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conclusion의 bootstrap CI 사용 금지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Welch에도 같은 보편 cutoff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Example N=10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ε, α, pilot SD, β에서의 Half-Cheetah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task의 권장 seed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larger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SD 오차 보상을 위한 source guidance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정확한 보편 여유분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최종 N은 지표 변동성, 목표 효과, α·β 요구, 검정 가정과 calibration에 따라 정한다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 19, Conclusion; final recommendations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논문에 남겨야 할 비교 설계 카드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‘seed를 몇 개 썼다’만으로는 독자가 오류 위험과 재현 가능성을 평가할 수 없다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5659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반드시 적을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논문과의 연결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estimand·metric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실행의 성능 정의와 집계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 xi, 평균·SD의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가설·α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양측/단측, 사전 방향, 유의수준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type-I error 계약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pilot과 final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 s1·s2, 목표 ε·β, 각 알고리즘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analysis의 입력·출력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Welch/bootstrp, 독립·분포·대표성 점검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위반 시 α가 흔들림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family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NE와 보정, stopping design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Bonferroni 예와 source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재현 가능한 비교는 seed 수뿐 아니라 그 수의 오류 목표와 조건도 기록한다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3–5, 7–19; synthesized reporting aid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결론: seed 수는 관례가 아니라 검정 설계의 결과다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원문의 가장 중요한 기여는 ‘더 많이’보다 ‘어떤 오류를, 어떤 조건에서 줄일 것인가’를 묻게 만든 데 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run은 확률변수의 관측이며, 평균 곡선만으로 성능 우위를 단정할 수 없다.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P(false positive)=α, P(false negative)=β, power=1−β.</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pilot n으로 SD를 추정하고 목표 ε·α·β 아래 final N을 정해 비교한다.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검정 전제·empirical α와 다중 비교·stopping rule을 공개한다.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n≥20, bootstrap N&lt;20, Example N=10은 문맥별 숫자이지 보편 seed 수가 아니다.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DRL 비교는 seed 수보다 조건부 오류 위험을 투명하게 설계·검증·보고한다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colas-v2 pp. 18–19, Message 4; Conclusion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DRL 실험의 random seed: 몇 번이 아니라 어떻게 설계할까</dc:title>
  <dc:subject>How Many Random Seeds? Statistical Power Analysis in Deep Reinforcement Learning Experiments</dc:subject>
  <dc:creator>Research Seminars</dc:creator>
  <cp:lastModifiedBy>Research Seminars</cp:lastModifiedBy>
  <cp:revision>1</cp:revision>
  <dcterms:created xsi:type="dcterms:W3CDTF">2026-09-12T06:39:29Z</dcterms:created>
  <dcterms:modified xsi:type="dcterms:W3CDTF">2026-09-12T06:39:29Z</dcterms:modified>
</cp:coreProperties>
</file>
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Long Short-Term Memory (1997): 긴 지연을 건너는 기억
발표 대본
이 자료는 1997년 Hochreiter와 Schmidhuber가 발표한 원 논문을 설명합니다. 오늘날 흔히 보는 forget gate가 포함된 LSTM 수식을 원 논문에 소급하지 않습니다. 핵심 질문은 먼 과거의 단서까지 오차 신호를 어떻게 전달하면서 필요한 정보만 쓰고 읽는가입니다.
공개 출처
mit-record | title and publication record
Long Short-Term Memory, Neural Computation 9(8)
https://doi.org/10.1162/neco.1997.9.8.1735
author-pdf | p. 1
Long Short-Term Memory, author-hosted paper PDF
https://people.idsia.ch/~juergen/lstm1997-2024head.pdf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긴 지연 문제의 구조
발표 대본
Recurrent network는 과거 activation을 short-term memory처럼 사용할 수 있지만, 실제 학습은 끝에서 생긴 teacher error가 먼 과거의 weight까지 도달해야 합니다. 원 논문은 최소 time lag가 천 단계를 넘는 인공 문제까지 다룹니다. 가운데 방해 입력은 단순히 기다리는 시간이 아니라 기존 기억을 계속 흔들 수 있는 입력입니다.
공개 출처
author-pdf | pp. 1-3
Long Short-Term Memory, author-hosted paper PDF
https://people.idsia.ch/~juergen/lstm1997-2024head.pdf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Recurrent gradient는 반복 곱으로 변한다
발표 대본
수치는 논문 실험 결과가 아니라 반복 곱의 성질을 보여 주는 계산입니다. 원 논문의 식 1과 식 2에서는 weight와 activation derivative가 시간마다 곱해집니다. 각 local factor의 절댓값이 1보다 작으면 error가 지수적으로 사라지고, 1보다 크면 폭발할 수 있습니다. Logistic sigmoid derivative의 상한도 이 소실 문제를 악화시킵니다.
공개 출처
author-pdf | pp. 3-5, Eqs. 1-2
Long Short-Term Memory, author-hosted paper PDF
https://people.idsia.ch/~juergen/lstm1997-2024head.pdf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CEC는 상태와 error에 factor 1을 제공한다
발표 대본
Constant error carousel은 identity activation을 쓰는 linear state unit과 weight 1.0의 delayed self-connection으로 구성됩니다. 시간축으로 펼치면 상태가 매 단계 같은 factor one을 통과합니다. Appendix 식 35는 truncated backprop 아래에서 내부 state error의 step derivative가 approximately one임을 보입니다. 전체 network의 모든 gradient가 constant라는 뜻은 아닙니다.
공개 출처
author-pdf | pp. 5-6; p. 29, Eq. 35
Long Short-Term Memory, author-hosted paper PDF
https://people.idsia.ch/~juergen/lstm1997-2024head.pdf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Bare CEC에는 쓰기와 읽기 충돌이 남는다
발표 대본
원 논문은 먼저 gate가 없는 CEC를 생각한 뒤 두 weight conflict를 지적합니다. Input weight는 특정 신호를 저장하면서 뒤의 무관한 입력에는 반응하지 않아야 합니다. Output weight는 필요할 때 기억을 사용하면서 다른 시점에는 이미 잘 작동하는 출력을 방해하지 않아야 합니다. 이 충돌을 분리하기 위해 input gate와 output gate를 도입합니다.
공개 출처
author-pdf | pp. 5-7
Long Short-Term Memory, author-hosted paper PDF
https://people.idsia.ch/~juergen/lstm1997-2024head.pdf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1997년 원 논문의 memory cell
발표 대본
Figure 1의 계산을 시간축으로 펼쳐 재구성한 도식입니다. Candidate g_t는 input gate i_t를 통과할 때만 state에 더해집니다. 이전 state는 fixed factor one으로 CEC에 들어갑니다. Output gate o_t는 h of state를 외부에 보일지 정합니다. 이 원형에는 forget gate도 peephole connection도 없습니다. Canonical Figure 1은 두 gate를 모두 보이지만 일부 실험 구성은 output gate 없이도 동작했습니다.
공개 출처
author-pdf | p. 7, Fig. 1
Long Short-Term Memory, author-hosted paper PDF
https://people.idsia.ch/~juergen/lstm1997-2024head.pdf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원 논문 cell의 두 계산
발표 대본
원 논문 표기는 y_in_j와 y_out_j처럼 더 길지만, 화면에서는 input gate output을 i_t, output gate output을 o_t로 줄였습니다. 첫 식에서 이전 state 앞의 factor는 항상 one입니다. 두 번째 식에서 output gate가 닫혀도 state는 삭제되지 않습니다. h와 g는 differentiable squashing functions이며, 이 표의 shorthand를 현대식 forget-gated recurrence로 바꾸어 읽으면 안 됩니다.
공개 출처
author-pdf | p. 7; p. 24, Eq. 9
Long Short-Term Memory, author-hosted paper PDF
https://people.idsia.ch/~juergen/lstm1997-2024head.pdf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세 단계 state 계산
발표 대본
t equals one에서 input gate가 열려 candidate zero point six가 state에 기록됩니다. t equals two에서는 candidate가 minus zero point nine이지만 input gate가 zero라 state는 그대로입니다. t equals three에서 output gate를 zero point eight로 열면 stored state의 tanh 값을 곱해 약 zero point four three zero을 내보냅니다. 이 값은 작동 원리를 보여 주는 독립 계산이며 논문의 experiment parameter가 아닙니다.
공개 출처
author-pdf | p. 7 recurrence; values illustrative
Long Short-Term Memory, author-hosted paper PDF
https://people.idsia.ch/~juergen/lstm1997-2024head.pdf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거리와 gradient scaling의 차이
발표 대본
Ordinary path 행은 매 step factor zero point nine를 가정한 교육용 비교입니다. CEC 내부에서는 truncated rule 아래에서 state-to-state derivative가 approximately one이므로 time lag length만큼 작은 factor가 반복되지 않습니다. 그러나 error가 cell output으로 들어올 때 output gate와 h prime에 의해 scaling되고, cell input으로 나갈 때 input gate와 g prime에 의해 다시 scaling됩니다. 이 경계 factor는 존재하지만 lag length만큼 반복되지는 않습니다.
공개 출처
author-pdf | pp. 28-29, Eqs. 33-41
Long Short-Term Memory, author-hosted paper PDF
https://people.idsia.ch/~juergen/lstm1997-2024head.pdf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Truncated gradient가 유지하고 끊는 경로
발표 대본
Section 4와 Appendix는 cell net input, input gate net, output gate net에서 더 이전 recurrent activity로 향하는 derivative를 truncate합니다. 그 위치의 incoming weights는 현재 error로 여전히 바뀝니다. 동시에 internal state에 대한 sensitivity는 이전 state로 계속 전달됩니다. 저자들은 이를 altered multiplicative dynamics를 반영한 RTRL variant로 설명하며 ordinary full BPTT와 구분합니다.
공개 출처
author-pdf | p. 8; pp. 24-29
Long Short-Term Memory, author-hosted paper PDF
https://people.idsia.ch/~juergen/lstm1997-2024head.pdf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원 논문의 learning update 흐름
발표 대본
LSTM을 cell equation만으로 설명하면 1997년 논문의 핵심 절반을 놓칩니다. Forward pass는 gate와 internal state를 계산합니다. 학습에서는 각 weight에 필요한 recent internal-state derivative만 저장합니다. 현재 output error가 CEC에 들어온 뒤 내부에서 유지되고, incoming weight update에 쓰인 다음 외부 recurrent path로 더 넘어가려는 gradient는 truncate합니다.
공개 출처
author-pdf | p. 8; pp. 24-28
Long Short-Term Memory, author-hosted paper PDF
https://people.idsia.ch/~juergen/lstm1997-2024head.pdf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O(1)은 전체 학습 시간이 아니다
발표 대본
초록의 O one 표현은 weight 하나와 time step 하나당 계산 복잡도입니다. Appendix 식 29는 전체 per-step update가 O of W임을 보입니다. 저장해야 하는 derivative도 O of W이며 input sequence length에는 의존하지 않습니다. 이는 training 전체가 constant time이라는 뜻이 아니고, 실제 실험은 수만에서 수십만 training sequences를 사용합니다.
공개 출처
author-pdf | p. 8; p. 27, Eq. 29
Long Short-Term Memory, author-hosted paper PDF
https://people.idsia.ch/~juergen/lstm1997-2024head.pdf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Memory cell block과 network topology
발표 대본
원 논문은 distributed input을 single cell 하나에 담기 어렵다는 이유로 memory cell block을 정의합니다. 같은 block의 여러 cells는 input gate와 output gate를 공유합니다. Network topology는 사용자가 정하며 gate와 cells가 다른 hidden units의 activation을 입력으로 받을 수 있습니다. 일부 local-output 실험에서는 output gate가 없어도 되었지만 이를 전체 1997 architecture의 정의로 일반화하면 안 됩니다.
공개 출처
author-pdf | pp. 7-9, Fig. 2
Long Short-Term Memory, author-hosted paper PDF
https://people.idsia.ch/~juergen/lstm1997-2024head.pdf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1997년 원형에 포함되지 않은 요소
발표 대본
이 표는 역사적 경계를 정리합니다. 1997년 설계는 CEC의 state factor와 internal derivative를 one으로 고정하려 했으므로 learned forget factor를 두지 않았습니다. Peephole도 없으며 gate가 internal state를 직접 보는 path를 정의하지 않습니다. 원 논문은 peephole omission을 별도 ablation으로 정당화하지 않았고 후대 variant가 이를 추가했습니다. 학습은 full BPTT가 아닌 truncated recurrent-gradient rule을 사용합니다.
공개 출처
author-pdf | pp. 6-8
Long Short-Term Memory, author-hosted paper PDF
https://people.idsia.ch/~juergen/lstm1997-2024head.pdf
odyssey | p. 3, historical variants
LSTM: A Search Space Odyssey
https://arxiv.org/abs/1503.04069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Original LSTM과 later standard LSTM
발표 대본
Later common LSTM은 f_t를 곱해 previous state를 유지하거나 줄입니다. Original 1997 cell은 previous state를 그대로 더하며 별도 forget gate가 없습니다. 따라서 CEC를 단순히 forget gate가 one인 modern cell로 설명하면 forward 식만 닮은 특수 경우처럼 보이고, original truncated learning rule과 역사적 설계 이유를 놓칩니다. Odyssey 논문은 이 variant history를 정리합니다.
공개 출처
author-pdf | p. 7
Long Short-Term Memory, author-hosted paper PDF
https://people.idsia.ch/~juergen/lstm1997-2024head.pdf
odyssey | pp. 2-3
LSTM: A Search Space Odyssey
https://arxiv.org/abs/1503.04069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1997년 실험을 읽는 기준
발표 대본
원 논문은 다양한 synthetic tasks로 긴 지연과 noise, continuous values, temporal order를 시험합니다. 그러나 각 표의 architecture와 learning rate, stopping rule이 완전히 같지는 않습니다. 따라서 하나의 숫자를 modern benchmark accuracy처럼 읽거나 모든 recurrent model에 대한 영구적인 ranking으로 해석하면 안 됩니다. 다음 결과 슬라이드는 조건과 반복 수를 함께 표시합니다.
공개 출처
author-pdf | pp. 9-21, Tables 1-11
Long Short-Term Memory, author-hosted paper PDF
https://people.idsia.ch/~juergen/lstm1997-2024head.pdf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Task 2a: delay 100의 무잡음 sequence
발표 대본
Table 2의 entries는 18 trials의 mean입니다. Delay one hundred에서 LSTM은 reported trials의 one hundred percent에 성공했고 평균 5,040 training sequences가 필요했습니다. BPTT와 RTRL은 five million presentations 이후에도 성공 trial이 없었습니다. 다만 표의 architecture, learning rate와 evaluation details가 method row마다 같지 않으므로 이를 일반적인 algorithm speed ratio로 바꾸면 안 됩니다.
공개 출처
author-pdf | p. 14, Table 2
Long Short-Term Memory, author-hosted paper PDF
https://people.idsia.ch/~juergen/lstm1997-2024head.pdf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Task 2c: 천 단계 이상의 최소 지연
발표 대본
Task 2c는 sequence 시작의 symbol을 기억해 끝의 class를 정하는 artificial problem입니다. p는 distractor vocabulary size이고 q plus one은 minimum time lag입니다. p equals one thousand, q equals one thousand 조건에서 mean success는 49,000 training sequences였고 20 trials를 수행했습니다. 표의 다른 rows는 distractor frequency와 weight 수가 바뀌므로 단순한 lag-only scaling curve가 아닙니다.
공개 출처
author-pdf | p. 15, Table 3
Long Short-Term Memory, author-hosted paper PDF
https://people.idsia.ch/~juergen/lstm1997-2024head.pdf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Continuous adding problem
발표 대본
Adding problem에서는 sequence의 두 위치가 marker로 선택되고 해당 real values의 sum을 끝에서 출력합니다. Table 7의 T equals one thousand 조건은 minimum lag five hundred입니다. 2,560 test sequences 중 wrong prediction은 one이고, stopping criterion까지 평균 853,000 training sequences가 필요했습니다. Values는 10 trials의 mean이며 artificial task 결과입니다.
공개 출처
author-pdf | pp. 17-18, Table 7
Long Short-Term Memory, author-hosted paper PDF
https://people.idsia.ch/~juergen/lstm1997-2024head.pdf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Temporal order problem
발표 대본
Task 6a는 두 relevant symbols의 순서로 four classes를 만들고, Task 6b는 세 symbols로 eight classes를 만듭니다. Error signal은 sequence 끝에서만 주어집니다. Table 9에서 Task 6a는 20 trials mean으로 31,390 training sequences와 one error out of 2,560을, Task 6b는 10 trials mean으로 571,100 sequences와 two errors를 보고합니다.
공개 출처
author-pdf | pp. 19-20, Table 9
Long Short-Term Memory, author-hosted paper PDF
https://people.idsia.ch/~juergen/lstm1997-2024head.pdf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실험이 지지하는 범위
발표 대본
논문 결과는 당시에 어려웠던 artificial long-lag tasks에서 CEC와 gates가 효과적으로 학습될 수 있음을 보입니다. 그러나 speech, language modeling, control 같은 applications는 conclusion에서 future work로 남습니다. Baseline comparisons도 task-specific architecture와 thresholds를 사용하므로 현대적인 benchmark ranking이나 모든 sequence problem에 대한 superiority claim으로 확장할 수 없습니다.
공개 출처
author-pdf | pp. 21-23
Long Short-Term Memory, author-hosted paper PDF
https://people.idsia.ch/~juergen/lstm1997-2024head.pdf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한계 1: strongly delayed XOR
발표 대본
Discussion은 strongly delayed XOR를 truncated version의 명시적 한계로 듭니다. 첫 bit만 저장하는 행동은 expected error를 줄이지 않으므로 network가 쉬운 subgoal부터 학습할 credit signal을 얻기 어렵습니다. 저자들은 이론적으로 full gradient와 추가 hidden units를 사용할 수 있다고 말하지만, efficient truncated algorithm의 장점과 tradeoff가 생기며 실험으로 해결을 입증하지는 않습니다.
공개 출처
author-pdf | p. 22, Limitations
Long Short-Term Memory, author-hosted paper PDF
https://people.idsia.ch/~juergen/lstm1997-2024head.pdf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한계 2: state drift와 output saturation
발표 대본
Input이 대체로 같은 sign이면 additive internal state가 점점 커질 수 있습니다. h가 sigmoid-like function이면 large state에서 h prime이 작아져 cell output을 통한 gradient가 줄어듭니다. 원 논문은 input gate에 negative initial bias를 주어 초기 write를 억제하고, output gate bias로 cell abuse를 줄입니다. 이는 learned forget gate로 state를 능동적으로 decay하는 방식과 다릅니다.
공개 출처
author-pdf | pp. 8-9; pp. 29-30
Long Short-Term Memory, author-hosted paper PDF
https://people.idsia.ch/~juergen/lstm1997-2024head.pdf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 한계 3: 정확한 discrete counting과 적용 범위
발표 대본
Discussion은 gradient-based approaches가 exact discrete elapsed time을 세기 어렵다고 설명합니다. 특정 signal이 99 steps 전인지 100 steps 전인지가 핵심이면 추가 counting mechanism이 필요할 수 있습니다. 이는 오래된 정보를 보존할 수 있다는 주장과 다른 능력입니다. 또한 논문 conclusion은 real-world application을 future work로 남기므로 artificial results를 현대 application 성능으로 확장하면 안 됩니다.
공개 출처
author-pdf | pp. 22-23
Long Short-Term Memory, author-hosted paper PDF
https://people.idsia.ch/~juergen/lstm1997-2024head.pdf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1997년 LSTM의 설계 논리
발표 대본
원 논문의 논리는 gradient repeated products 분석에서 시작합니다. CEC는 internal factor를 one으로 만들고, input gate와 output gate는 write and read conflicts를 분리합니다. Architecture-specific truncation은 CEC 내부 error flow를 남기면서 다른 recurrent paths를 차단합니다. Synthetic experiments는 이 결합이 long-lag tasks에서 실제로 학습됨을 보였습니다.
공개 출처
author-pdf | pp. 3-8; pp. 13-23
Long Short-Term Memory, author-hosted paper PDF
https://people.idsia.ch/~juergen/lstm1997-2024head.pdf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 원 논문을 정확히 설명하는 문장
발표 대본
마지막으로 original LSTM을 한 문장으로 정리하면 다음과 같습니다. Fixed unit self-connection으로 CEC를 만들고 input gate로 write를, output gate로 exposure를 학습하며, external recurrent gradient를 truncate해 long-lag internal error flow를 유지한 방법입니다. Forget gate와 peephole은 이 original mechanism에 없고, reported evidence는 artificial tasks에 한정됩니다.
공개 출처
author-pdf | pp. 5-8; pp. 22-23
Long Short-Term Memory, author-hosted paper PDF
https://people.idsia.ch/~juergen/lstm1997-2024head.pdf
odyssey | p. 3
LSTM: A Search Space Odyssey
https://arxiv.org/abs/1503.04069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5900" cy="6858000"/>
          </a:xfrm>
          <a:prstGeom prst="rect">
            <a:avLst/>
          </a:prstGeom>
          <a:solidFill>
            <a:srgbClr val="0D685C"/>
          </a:solidFill>
          <a:ln w="12700">
            <a:solidFill>
              <a:srgbClr val="0D685C">
                <a:alpha val="0"/>
              </a:srgbClr>
            </a:solidFill>
            <a:prstDash val="solid"/>
          </a:ln>
        </p:spPr>
        <p:txBody>
          <a:bodyPr/>
          <a:lstStyle/>
          <a:p>
            <a:endParaRPr lang="ko-KR"/>
          </a:p>
        </p:txBody>
      </p:sp>
      <p:sp>
        <p:nvSpPr>
          <p:cNvPr id="3" name="Text 1"/>
          <p:cNvSpPr txBox="1"/>
          <p:nvPr/>
        </p:nvSpPr>
        <p:spPr>
          <a:xfrm>
            <a:off x="889000" y="889000"/>
            <a:ext cx="8763000" cy="1346200"/>
          </a:xfrm>
          <a:prstGeom prst="rect">
            <a:avLst/>
          </a:prstGeom>
          <a:noFill/>
          <a:ln/>
        </p:spPr>
        <p:txBody>
          <a:bodyPr wrap="square" lIns="0" tIns="0" rIns="0" bIns="0" rtlCol="0" anchor="t"/>
          <a:lstStyle/>
          <a:p>
            <a:pPr algn="l" indent="0" marL="0">
              <a:lnSpc>
                <a:spcPct val="115000"/>
              </a:lnSpc>
              <a:buNone/>
            </a:pPr>
            <a:r>
              <a:rPr lang="en-US" sz="4000" b="1" dirty="0">
                <a:solidFill>
                  <a:srgbClr val="0D685C"/>
                </a:solidFill>
                <a:latin typeface="AppleGothic" pitchFamily="34" charset="0"/>
                <a:ea typeface="AppleGothic" pitchFamily="34" charset="-122"/>
                <a:cs typeface="AppleGothic" pitchFamily="34" charset="-120"/>
              </a:rPr>
              <a:t>Long Short-Term Memory (1997): 긴 지연을 건너는 기억</a:t>
            </a:r>
            <a:endParaRPr lang="en-US" sz="4000" dirty="0"/>
          </a:p>
        </p:txBody>
      </p:sp>
      <p:sp>
        <p:nvSpPr>
          <p:cNvPr id="4" name="Text 2"/>
          <p:cNvSpPr txBox="1"/>
          <p:nvPr/>
        </p:nvSpPr>
        <p:spPr>
          <a:xfrm>
            <a:off x="889000" y="2413000"/>
            <a:ext cx="9652000" cy="1333500"/>
          </a:xfrm>
          <a:prstGeom prst="rect">
            <a:avLst/>
          </a:prstGeom>
          <a:noFill/>
          <a:ln/>
        </p:spPr>
        <p:txBody>
          <a:bodyPr wrap="square" lIns="0" tIns="0" rIns="0" bIns="0" rtlCol="0" anchor="t"/>
          <a:lstStyle/>
          <a:p>
            <a:pPr algn="l" indent="0" marL="0">
              <a:lnSpc>
                <a:spcPct val="125000"/>
              </a:lnSpc>
              <a:buNone/>
            </a:pPr>
            <a:r>
              <a:rPr lang="en-US" sz="2200" dirty="0">
                <a:solidFill>
                  <a:srgbClr val="173C37"/>
                </a:solidFill>
                <a:latin typeface="AppleGothic" pitchFamily="34" charset="0"/>
                <a:ea typeface="AppleGothic" pitchFamily="34" charset="-122"/>
                <a:cs typeface="AppleGothic" pitchFamily="34" charset="-120"/>
              </a:rPr>
              <a:t>Long Short-Term Memory</a:t>
            </a:r>
            <a:endParaRPr lang="en-US" sz="2200" dirty="0"/>
          </a:p>
        </p:txBody>
      </p:sp>
      <p:sp>
        <p:nvSpPr>
          <p:cNvPr id="5" name="Shape 3"/>
          <p:cNvSpPr/>
          <p:nvPr/>
        </p:nvSpPr>
        <p:spPr>
          <a:xfrm>
            <a:off x="889000" y="4076700"/>
            <a:ext cx="96520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89000" y="4368800"/>
            <a:ext cx="9652000" cy="685800"/>
          </a:xfrm>
          <a:prstGeom prst="rect">
            <a:avLst/>
          </a:prstGeom>
          <a:noFill/>
          <a:ln/>
        </p:spPr>
        <p:txBody>
          <a:bodyPr wrap="square" lIns="0" tIns="0" rIns="0" bIns="0" rtlCol="0" anchor="t"/>
          <a:lstStyle/>
          <a:p>
            <a:pPr algn="l" indent="0" marL="0">
              <a:lnSpc>
                <a:spcPct val="125000"/>
              </a:lnSpc>
              <a:buNone/>
            </a:pPr>
            <a:r>
              <a:rPr lang="en-US" sz="1750" dirty="0">
                <a:solidFill>
                  <a:srgbClr val="5E6D69"/>
                </a:solidFill>
                <a:latin typeface="AppleGothic" pitchFamily="34" charset="0"/>
                <a:ea typeface="AppleGothic" pitchFamily="34" charset="-122"/>
                <a:cs typeface="AppleGothic" pitchFamily="34" charset="-120"/>
              </a:rPr>
              <a:t>Sepp Hochreiter and Jürgen Schmidhuber (1997)</a:t>
            </a:r>
            <a:endParaRPr lang="en-US" sz="1750" dirty="0"/>
          </a:p>
        </p:txBody>
      </p:sp>
      <p:sp>
        <p:nvSpPr>
          <p:cNvPr id="7" name="Text 5"/>
          <p:cNvSpPr txBox="1"/>
          <p:nvPr/>
        </p:nvSpPr>
        <p:spPr>
          <a:xfrm>
            <a:off x="889000" y="5245100"/>
            <a:ext cx="9652000" cy="571500"/>
          </a:xfrm>
          <a:prstGeom prst="rect">
            <a:avLst/>
          </a:prstGeom>
          <a:noFill/>
          <a:ln/>
        </p:spPr>
        <p:txBody>
          <a:bodyPr wrap="square" lIns="0" tIns="0" rIns="0" bIns="0" rtlCol="0" anchor="t"/>
          <a:lstStyle/>
          <a:p>
            <a:pPr algn="l" indent="0" marL="0">
              <a:lnSpc>
                <a:spcPct val="125000"/>
              </a:lnSpc>
              <a:buNone/>
            </a:pPr>
            <a:r>
              <a:rPr lang="en-US" sz="1750" dirty="0">
                <a:solidFill>
                  <a:srgbClr val="0D685C"/>
                </a:solidFill>
                <a:latin typeface="AppleGothic" pitchFamily="34" charset="0"/>
                <a:ea typeface="AppleGothic" pitchFamily="34" charset="-122"/>
                <a:cs typeface="AppleGothic" pitchFamily="34" charset="-120"/>
              </a:rPr>
              <a:t>원 논문의 gradient 문제, CEC, 두 gate, truncated learning rule을 함께 읽는다</a:t>
            </a:r>
            <a:endParaRPr lang="en-US" sz="1750" dirty="0"/>
          </a:p>
        </p:txBody>
      </p:sp>
      <p:sp>
        <p:nvSpPr>
          <p:cNvPr id="8" name="Shape 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mit-record title and publication record; author-pdf p. 1</a:t>
            </a:r>
            <a:endParaRPr lang="en-US" sz="1050" dirty="0"/>
          </a:p>
        </p:txBody>
      </p:sp>
      <p:sp>
        <p:nvSpPr>
          <p:cNvPr id="10" name="Text 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긴 지연 문제의 구조</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초기의 유용한 신호와 끝의 teacher signal 사이에 많은 방해 입력이 놓인다</a:t>
            </a:r>
            <a:endParaRPr lang="en-US" sz="1900" dirty="0"/>
          </a:p>
        </p:txBody>
      </p:sp>
      <p:sp>
        <p:nvSpPr>
          <p:cNvPr id="4" name="mechanism-lane-seq"/>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sequence</a:t>
            </a:r>
            <a:endParaRPr lang="en-US" sz="1250" dirty="0"/>
          </a:p>
        </p:txBody>
      </p:sp>
      <p:sp>
        <p:nvSpPr>
          <p:cNvPr id="5" name="mechanism-edge-e-clue-a-segment-1"/>
          <p:cNvSpPr/>
          <p:nvPr/>
        </p:nvSpPr>
        <p:spPr>
          <a:xfrm>
            <a:off x="38100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e-a-b-segment-1"/>
          <p:cNvSpPr/>
          <p:nvPr/>
        </p:nvSpPr>
        <p:spPr>
          <a:xfrm>
            <a:off x="63627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e-b-target-segment-1"/>
          <p:cNvSpPr/>
          <p:nvPr/>
        </p:nvSpPr>
        <p:spPr>
          <a:xfrm>
            <a:off x="89154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node-clue"/>
          <p:cNvSpPr/>
          <p:nvPr/>
        </p:nvSpPr>
        <p:spPr>
          <a:xfrm>
            <a:off x="17399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t=1 단서</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기억할 입력</a:t>
            </a:r>
            <a:endParaRPr lang="en-US" sz="1150" dirty="0"/>
          </a:p>
        </p:txBody>
      </p:sp>
      <p:sp>
        <p:nvSpPr>
          <p:cNvPr id="9" name="mechanism-node-noise-a"/>
          <p:cNvSpPr/>
          <p:nvPr/>
        </p:nvSpPr>
        <p:spPr>
          <a:xfrm>
            <a:off x="42926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초기 방해</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정답과 무관</a:t>
            </a:r>
            <a:endParaRPr lang="en-US" sz="1150" dirty="0"/>
          </a:p>
        </p:txBody>
      </p:sp>
      <p:sp>
        <p:nvSpPr>
          <p:cNvPr id="10" name="mechanism-node-noise-b"/>
          <p:cNvSpPr/>
          <p:nvPr/>
        </p:nvSpPr>
        <p:spPr>
          <a:xfrm>
            <a:off x="68453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반복 방해</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긴 지연 구간</a:t>
            </a:r>
            <a:endParaRPr lang="en-US" sz="1150" dirty="0"/>
          </a:p>
        </p:txBody>
      </p:sp>
      <p:sp>
        <p:nvSpPr>
          <p:cNvPr id="11" name="mechanism-node-target"/>
          <p:cNvSpPr/>
          <p:nvPr/>
        </p:nvSpPr>
        <p:spPr>
          <a:xfrm>
            <a:off x="93980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끝의 목표</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초기 단서 사용</a:t>
            </a:r>
            <a:endParaRPr lang="en-US" sz="1150" dirty="0"/>
          </a:p>
        </p:txBody>
      </p:sp>
      <p:sp>
        <p:nvSpPr>
          <p:cNvPr id="12" name="mechanism-axis-line"/>
          <p:cNvSpPr/>
          <p:nvPr/>
        </p:nvSpPr>
        <p:spPr>
          <a:xfrm>
            <a:off x="1676400" y="5080000"/>
            <a:ext cx="9855200" cy="0"/>
          </a:xfrm>
          <a:prstGeom prst="line">
            <a:avLst/>
          </a:prstGeom>
          <a:noFill/>
          <a:ln w="12700">
            <a:solidFill>
              <a:srgbClr val="5E6D69"/>
            </a:solidFill>
            <a:prstDash val="solid"/>
            <a:headEnd type="none"/>
            <a:tailEnd type="none"/>
          </a:ln>
        </p:spPr>
        <p:txBody>
          <a:bodyPr/>
          <a:lstStyle/>
          <a:p>
            <a:endParaRPr lang="ko-KR"/>
          </a:p>
        </p:txBody>
      </p:sp>
      <p:sp>
        <p:nvSpPr>
          <p:cNvPr id="13" name="mechanism-axis-tick-1"/>
          <p:cNvSpPr txBox="1"/>
          <p:nvPr/>
        </p:nvSpPr>
        <p:spPr>
          <a:xfrm>
            <a:off x="2419350" y="5118100"/>
            <a:ext cx="711200" cy="203200"/>
          </a:xfrm>
          <a:prstGeom prst="rect">
            <a:avLst/>
          </a:prstGeom>
          <a:noFill/>
          <a:ln/>
        </p:spPr>
        <p:txBody>
          <a:bodyPr wrap="square" lIns="0" tIns="0" rIns="0" bIns="0" rtlCol="0" anchor="ctr"/>
          <a:lstStyle/>
          <a:p>
            <a:pPr algn="ctr" indent="0" marL="0">
              <a:lnSpc>
                <a:spcPct val="120000"/>
              </a:lnSpc>
              <a:buNone/>
            </a:pPr>
            <a:r>
              <a:rPr lang="en-US" sz="950" dirty="0">
                <a:solidFill>
                  <a:srgbClr val="173C37"/>
                </a:solidFill>
                <a:latin typeface="Arial" pitchFamily="34" charset="0"/>
                <a:ea typeface="Arial" pitchFamily="34" charset="-122"/>
                <a:cs typeface="Arial" pitchFamily="34" charset="-120"/>
              </a:rPr>
              <a:t>t</a:t>
            </a:r>
            <a:endParaRPr lang="en-US" sz="950" dirty="0"/>
          </a:p>
        </p:txBody>
      </p:sp>
      <p:sp>
        <p:nvSpPr>
          <p:cNvPr id="14" name="mechanism-axis-tick-2"/>
          <p:cNvSpPr txBox="1"/>
          <p:nvPr/>
        </p:nvSpPr>
        <p:spPr>
          <a:xfrm>
            <a:off x="4972050" y="5118100"/>
            <a:ext cx="711200" cy="203200"/>
          </a:xfrm>
          <a:prstGeom prst="rect">
            <a:avLst/>
          </a:prstGeom>
          <a:noFill/>
          <a:ln/>
        </p:spPr>
        <p:txBody>
          <a:bodyPr wrap="square" lIns="0" tIns="0" rIns="0" bIns="0" rtlCol="0" anchor="ctr"/>
          <a:lstStyle/>
          <a:p>
            <a:pPr algn="ctr" indent="0" marL="0">
              <a:lnSpc>
                <a:spcPct val="120000"/>
              </a:lnSpc>
              <a:buNone/>
            </a:pPr>
            <a:r>
              <a:rPr lang="en-US" sz="950" dirty="0">
                <a:solidFill>
                  <a:srgbClr val="173C37"/>
                </a:solidFill>
                <a:latin typeface="Arial" pitchFamily="34" charset="0"/>
                <a:ea typeface="Arial" pitchFamily="34" charset="-122"/>
                <a:cs typeface="Arial" pitchFamily="34" charset="-120"/>
              </a:rPr>
              <a:t>t+1</a:t>
            </a:r>
            <a:endParaRPr lang="en-US" sz="950" dirty="0"/>
          </a:p>
        </p:txBody>
      </p:sp>
      <p:sp>
        <p:nvSpPr>
          <p:cNvPr id="15" name="mechanism-axis-tick-3"/>
          <p:cNvSpPr txBox="1"/>
          <p:nvPr/>
        </p:nvSpPr>
        <p:spPr>
          <a:xfrm>
            <a:off x="7524750" y="5118100"/>
            <a:ext cx="711200" cy="203200"/>
          </a:xfrm>
          <a:prstGeom prst="rect">
            <a:avLst/>
          </a:prstGeom>
          <a:noFill/>
          <a:ln/>
        </p:spPr>
        <p:txBody>
          <a:bodyPr wrap="square" lIns="0" tIns="0" rIns="0" bIns="0" rtlCol="0" anchor="ctr"/>
          <a:lstStyle/>
          <a:p>
            <a:pPr algn="ctr" indent="0" marL="0">
              <a:lnSpc>
                <a:spcPct val="120000"/>
              </a:lnSpc>
              <a:buNone/>
            </a:pPr>
            <a:r>
              <a:rPr lang="en-US" sz="950" dirty="0">
                <a:solidFill>
                  <a:srgbClr val="173C37"/>
                </a:solidFill>
                <a:latin typeface="Arial" pitchFamily="34" charset="0"/>
                <a:ea typeface="Arial" pitchFamily="34" charset="-122"/>
                <a:cs typeface="Arial" pitchFamily="34" charset="-120"/>
              </a:rPr>
              <a:t>t+2</a:t>
            </a:r>
            <a:endParaRPr lang="en-US" sz="950" dirty="0"/>
          </a:p>
        </p:txBody>
      </p:sp>
      <p:sp>
        <p:nvSpPr>
          <p:cNvPr id="16" name="mechanism-axis-tick-4"/>
          <p:cNvSpPr txBox="1"/>
          <p:nvPr/>
        </p:nvSpPr>
        <p:spPr>
          <a:xfrm>
            <a:off x="10077450" y="5118100"/>
            <a:ext cx="711200" cy="203200"/>
          </a:xfrm>
          <a:prstGeom prst="rect">
            <a:avLst/>
          </a:prstGeom>
          <a:noFill/>
          <a:ln/>
        </p:spPr>
        <p:txBody>
          <a:bodyPr wrap="square" lIns="0" tIns="0" rIns="0" bIns="0" rtlCol="0" anchor="ctr"/>
          <a:lstStyle/>
          <a:p>
            <a:pPr algn="ctr" indent="0" marL="0">
              <a:lnSpc>
                <a:spcPct val="120000"/>
              </a:lnSpc>
              <a:buNone/>
            </a:pPr>
            <a:r>
              <a:rPr lang="en-US" sz="950" dirty="0">
                <a:solidFill>
                  <a:srgbClr val="173C37"/>
                </a:solidFill>
                <a:latin typeface="Arial" pitchFamily="34" charset="0"/>
                <a:ea typeface="Arial" pitchFamily="34" charset="-122"/>
                <a:cs typeface="Arial" pitchFamily="34" charset="-120"/>
              </a:rPr>
              <a:t>later</a:t>
            </a:r>
            <a:endParaRPr lang="en-US" sz="950" dirty="0"/>
          </a:p>
        </p:txBody>
      </p:sp>
      <p:sp>
        <p:nvSpPr>
          <p:cNvPr id="17" name="Shape 15"/>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8" name="Text 16"/>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학습은 끝에서 생긴 error를 먼 과거의 저장 결정까지 돌려보내야 한다</a:t>
            </a:r>
            <a:endParaRPr lang="en-US" sz="1750" dirty="0"/>
          </a:p>
        </p:txBody>
      </p:sp>
      <p:sp>
        <p:nvSpPr>
          <p:cNvPr id="19" name="Shape 17"/>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0" name="Text 18"/>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author-pdf pp. 1-3</a:t>
            </a:r>
            <a:endParaRPr lang="en-US" sz="1050" dirty="0"/>
          </a:p>
        </p:txBody>
      </p:sp>
      <p:sp>
        <p:nvSpPr>
          <p:cNvPr id="21" name="Text 19"/>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Recurrent gradient는 반복 곱으로 변한다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교육용으로 매 단계의 local factor가 0.9라고 두면 거리 q가 늘수록 신호가 급감한다</a:t>
            </a:r>
            <a:endParaRPr lang="en-US" sz="1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739392"/>
                <a:gridCol w="2717800"/>
                <a:gridCol w="2935224"/>
                <a:gridCol w="347878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거리 q</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반복 곱 0.9^q</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남는 크기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의미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0.9^10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0.3487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이미 약해짐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0.9^100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0.0000266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학습 신호 희박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0.9^1000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1.75×10^−46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사실상 소실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각 단계의 factor가 1보다 작으면 long-range error가 거리의 지수로 감소한다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author-pdf pp. 3-5, Eqs. 1-2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CEC는 상태와 error에 factor 1을 제공한다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CEC는 linear unit의 self-connection weight를 1.0으로 고정한 상태 경로다</a:t>
            </a:r>
            <a:endParaRPr lang="en-US" sz="1900" dirty="0"/>
          </a:p>
        </p:txBody>
      </p:sp>
      <p:sp>
        <p:nvSpPr>
          <p:cNvPr id="4" name="mechanism-lane-state"/>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CEC state</a:t>
            </a:r>
            <a:endParaRPr lang="en-US" sz="1250" dirty="0"/>
          </a:p>
        </p:txBody>
      </p:sp>
      <p:sp>
        <p:nvSpPr>
          <p:cNvPr id="5" name="mechanism-edge-e-s0-s1-segment-1"/>
          <p:cNvSpPr/>
          <p:nvPr/>
        </p:nvSpPr>
        <p:spPr>
          <a:xfrm>
            <a:off x="3810000" y="3771900"/>
            <a:ext cx="482600" cy="0"/>
          </a:xfrm>
          <a:prstGeom prst="line">
            <a:avLst/>
          </a:prstGeom>
          <a:noFill/>
          <a:ln w="12700">
            <a:solidFill>
              <a:srgbClr val="5E6D69"/>
            </a:solidFill>
            <a:prstDash val="dash"/>
            <a:headEnd type="triangle"/>
            <a:tailEnd type="triangle"/>
          </a:ln>
        </p:spPr>
        <p:txBody>
          <a:bodyPr/>
          <a:lstStyle/>
          <a:p>
            <a:endParaRPr lang="ko-KR"/>
          </a:p>
        </p:txBody>
      </p:sp>
      <p:sp>
        <p:nvSpPr>
          <p:cNvPr id="6" name="mechanism-edge-e-s0-s1-label"/>
          <p:cNvSpPr txBox="1"/>
          <p:nvPr/>
        </p:nvSpPr>
        <p:spPr>
          <a:xfrm>
            <a:off x="3517900" y="3213100"/>
            <a:ext cx="1066800" cy="190500"/>
          </a:xfrm>
          <a:prstGeom prst="rect">
            <a:avLst/>
          </a:prstGeom>
          <a:noFill/>
          <a:ln/>
        </p:spPr>
        <p:txBody>
          <a:bodyPr wrap="square" lIns="0" tIns="0" rIns="0" bIns="0" rtlCol="0" anchor="ctr"/>
          <a:lstStyle/>
          <a:p>
            <a:pPr algn="ctr" indent="0" marL="0">
              <a:lnSpc>
                <a:spcPct val="120000"/>
              </a:lnSpc>
              <a:buNone/>
            </a:pPr>
            <a:r>
              <a:rPr lang="en-US" sz="950" b="1" dirty="0">
                <a:solidFill>
                  <a:srgbClr val="173C37"/>
                </a:solidFill>
                <a:latin typeface="AppleGothic" pitchFamily="34" charset="0"/>
                <a:ea typeface="AppleGothic" pitchFamily="34" charset="-122"/>
                <a:cs typeface="AppleGothic" pitchFamily="34" charset="-120"/>
              </a:rPr>
              <a:t>state ×1, grad ×1</a:t>
            </a:r>
            <a:endParaRPr lang="en-US" sz="950" dirty="0"/>
          </a:p>
        </p:txBody>
      </p:sp>
      <p:sp>
        <p:nvSpPr>
          <p:cNvPr id="7" name="mechanism-edge-e-s1-s2-segment-1"/>
          <p:cNvSpPr/>
          <p:nvPr/>
        </p:nvSpPr>
        <p:spPr>
          <a:xfrm>
            <a:off x="6362700" y="3771900"/>
            <a:ext cx="482600" cy="0"/>
          </a:xfrm>
          <a:prstGeom prst="line">
            <a:avLst/>
          </a:prstGeom>
          <a:noFill/>
          <a:ln w="12700">
            <a:solidFill>
              <a:srgbClr val="5E6D69"/>
            </a:solidFill>
            <a:prstDash val="dash"/>
            <a:headEnd type="triangle"/>
            <a:tailEnd type="triangle"/>
          </a:ln>
        </p:spPr>
        <p:txBody>
          <a:bodyPr/>
          <a:lstStyle/>
          <a:p>
            <a:endParaRPr lang="ko-KR"/>
          </a:p>
        </p:txBody>
      </p:sp>
      <p:sp>
        <p:nvSpPr>
          <p:cNvPr id="8" name="mechanism-edge-e-s1-s2-label"/>
          <p:cNvSpPr txBox="1"/>
          <p:nvPr/>
        </p:nvSpPr>
        <p:spPr>
          <a:xfrm>
            <a:off x="6070600" y="3213100"/>
            <a:ext cx="1066800" cy="190500"/>
          </a:xfrm>
          <a:prstGeom prst="rect">
            <a:avLst/>
          </a:prstGeom>
          <a:noFill/>
          <a:ln/>
        </p:spPr>
        <p:txBody>
          <a:bodyPr wrap="square" lIns="0" tIns="0" rIns="0" bIns="0" rtlCol="0" anchor="ctr"/>
          <a:lstStyle/>
          <a:p>
            <a:pPr algn="ctr" indent="0" marL="0">
              <a:lnSpc>
                <a:spcPct val="120000"/>
              </a:lnSpc>
              <a:buNone/>
            </a:pPr>
            <a:r>
              <a:rPr lang="en-US" sz="950" b="1" dirty="0">
                <a:solidFill>
                  <a:srgbClr val="173C37"/>
                </a:solidFill>
                <a:latin typeface="AppleGothic" pitchFamily="34" charset="0"/>
                <a:ea typeface="AppleGothic" pitchFamily="34" charset="-122"/>
                <a:cs typeface="AppleGothic" pitchFamily="34" charset="-120"/>
              </a:rPr>
              <a:t>state ×1, grad ×1</a:t>
            </a:r>
            <a:endParaRPr lang="en-US" sz="950" dirty="0"/>
          </a:p>
        </p:txBody>
      </p:sp>
      <p:sp>
        <p:nvSpPr>
          <p:cNvPr id="9" name="mechanism-edge-e-s2-s3-segment-1"/>
          <p:cNvSpPr/>
          <p:nvPr/>
        </p:nvSpPr>
        <p:spPr>
          <a:xfrm>
            <a:off x="8915400" y="3771900"/>
            <a:ext cx="482600" cy="0"/>
          </a:xfrm>
          <a:prstGeom prst="line">
            <a:avLst/>
          </a:prstGeom>
          <a:noFill/>
          <a:ln w="12700">
            <a:solidFill>
              <a:srgbClr val="5E6D69"/>
            </a:solidFill>
            <a:prstDash val="dash"/>
            <a:headEnd type="triangle"/>
            <a:tailEnd type="triangle"/>
          </a:ln>
        </p:spPr>
        <p:txBody>
          <a:bodyPr/>
          <a:lstStyle/>
          <a:p>
            <a:endParaRPr lang="ko-KR"/>
          </a:p>
        </p:txBody>
      </p:sp>
      <p:sp>
        <p:nvSpPr>
          <p:cNvPr id="10" name="mechanism-edge-e-s2-s3-label"/>
          <p:cNvSpPr txBox="1"/>
          <p:nvPr/>
        </p:nvSpPr>
        <p:spPr>
          <a:xfrm>
            <a:off x="8623300" y="3213100"/>
            <a:ext cx="1066800" cy="190500"/>
          </a:xfrm>
          <a:prstGeom prst="rect">
            <a:avLst/>
          </a:prstGeom>
          <a:noFill/>
          <a:ln/>
        </p:spPr>
        <p:txBody>
          <a:bodyPr wrap="square" lIns="0" tIns="0" rIns="0" bIns="0" rtlCol="0" anchor="ctr"/>
          <a:lstStyle/>
          <a:p>
            <a:pPr algn="ctr" indent="0" marL="0">
              <a:lnSpc>
                <a:spcPct val="120000"/>
              </a:lnSpc>
              <a:buNone/>
            </a:pPr>
            <a:r>
              <a:rPr lang="en-US" sz="950" b="1" dirty="0">
                <a:solidFill>
                  <a:srgbClr val="173C37"/>
                </a:solidFill>
                <a:latin typeface="AppleGothic" pitchFamily="34" charset="0"/>
                <a:ea typeface="AppleGothic" pitchFamily="34" charset="-122"/>
                <a:cs typeface="AppleGothic" pitchFamily="34" charset="-120"/>
              </a:rPr>
              <a:t>state ×1, grad ×1</a:t>
            </a:r>
            <a:endParaRPr lang="en-US" sz="950" dirty="0"/>
          </a:p>
        </p:txBody>
      </p:sp>
      <p:sp>
        <p:nvSpPr>
          <p:cNvPr id="11" name="mechanism-node-s0"/>
          <p:cNvSpPr/>
          <p:nvPr/>
        </p:nvSpPr>
        <p:spPr>
          <a:xfrm>
            <a:off x="17399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s_(t−3)</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stored state</a:t>
            </a:r>
            <a:endParaRPr lang="en-US" sz="1150" dirty="0"/>
          </a:p>
        </p:txBody>
      </p:sp>
      <p:sp>
        <p:nvSpPr>
          <p:cNvPr id="12" name="mechanism-node-s1"/>
          <p:cNvSpPr/>
          <p:nvPr/>
        </p:nvSpPr>
        <p:spPr>
          <a:xfrm>
            <a:off x="42926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s_(t−2)</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same self-path</a:t>
            </a:r>
            <a:endParaRPr lang="en-US" sz="1150" dirty="0"/>
          </a:p>
        </p:txBody>
      </p:sp>
      <p:sp>
        <p:nvSpPr>
          <p:cNvPr id="13" name="mechanism-node-s2"/>
          <p:cNvSpPr/>
          <p:nvPr/>
        </p:nvSpPr>
        <p:spPr>
          <a:xfrm>
            <a:off x="68453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s_(t−1)</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same self-path</a:t>
            </a:r>
            <a:endParaRPr lang="en-US" sz="1150" dirty="0"/>
          </a:p>
        </p:txBody>
      </p:sp>
      <p:sp>
        <p:nvSpPr>
          <p:cNvPr id="14" name="mechanism-node-s3"/>
          <p:cNvSpPr/>
          <p:nvPr/>
        </p:nvSpPr>
        <p:spPr>
          <a:xfrm>
            <a:off x="93980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s_t</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current state</a:t>
            </a:r>
            <a:endParaRPr lang="en-US" sz="1150" dirty="0"/>
          </a:p>
        </p:txBody>
      </p:sp>
      <p:sp>
        <p:nvSpPr>
          <p:cNvPr id="15" name="mechanism-axis-line"/>
          <p:cNvSpPr/>
          <p:nvPr/>
        </p:nvSpPr>
        <p:spPr>
          <a:xfrm>
            <a:off x="1676400" y="5080000"/>
            <a:ext cx="9855200" cy="0"/>
          </a:xfrm>
          <a:prstGeom prst="line">
            <a:avLst/>
          </a:prstGeom>
          <a:noFill/>
          <a:ln w="12700">
            <a:solidFill>
              <a:srgbClr val="5E6D69"/>
            </a:solidFill>
            <a:prstDash val="solid"/>
            <a:headEnd type="none"/>
            <a:tailEnd type="none"/>
          </a:ln>
        </p:spPr>
        <p:txBody>
          <a:bodyPr/>
          <a:lstStyle/>
          <a:p>
            <a:endParaRPr lang="ko-KR"/>
          </a:p>
        </p:txBody>
      </p:sp>
      <p:sp>
        <p:nvSpPr>
          <p:cNvPr id="16" name="mechanism-axis-tick-1"/>
          <p:cNvSpPr txBox="1"/>
          <p:nvPr/>
        </p:nvSpPr>
        <p:spPr>
          <a:xfrm>
            <a:off x="2419350" y="5118100"/>
            <a:ext cx="711200" cy="203200"/>
          </a:xfrm>
          <a:prstGeom prst="rect">
            <a:avLst/>
          </a:prstGeom>
          <a:noFill/>
          <a:ln/>
        </p:spPr>
        <p:txBody>
          <a:bodyPr wrap="square" lIns="0" tIns="0" rIns="0" bIns="0" rtlCol="0" anchor="ctr"/>
          <a:lstStyle/>
          <a:p>
            <a:pPr algn="ctr" indent="0" marL="0">
              <a:lnSpc>
                <a:spcPct val="120000"/>
              </a:lnSpc>
              <a:buNone/>
            </a:pPr>
            <a:r>
              <a:rPr lang="en-US" sz="950" dirty="0">
                <a:solidFill>
                  <a:srgbClr val="173C37"/>
                </a:solidFill>
                <a:latin typeface="Arial" pitchFamily="34" charset="0"/>
                <a:ea typeface="Arial" pitchFamily="34" charset="-122"/>
                <a:cs typeface="Arial" pitchFamily="34" charset="-120"/>
              </a:rPr>
              <a:t>t</a:t>
            </a:r>
            <a:endParaRPr lang="en-US" sz="950" dirty="0"/>
          </a:p>
        </p:txBody>
      </p:sp>
      <p:sp>
        <p:nvSpPr>
          <p:cNvPr id="17" name="mechanism-axis-tick-2"/>
          <p:cNvSpPr txBox="1"/>
          <p:nvPr/>
        </p:nvSpPr>
        <p:spPr>
          <a:xfrm>
            <a:off x="4972050" y="5118100"/>
            <a:ext cx="711200" cy="203200"/>
          </a:xfrm>
          <a:prstGeom prst="rect">
            <a:avLst/>
          </a:prstGeom>
          <a:noFill/>
          <a:ln/>
        </p:spPr>
        <p:txBody>
          <a:bodyPr wrap="square" lIns="0" tIns="0" rIns="0" bIns="0" rtlCol="0" anchor="ctr"/>
          <a:lstStyle/>
          <a:p>
            <a:pPr algn="ctr" indent="0" marL="0">
              <a:lnSpc>
                <a:spcPct val="120000"/>
              </a:lnSpc>
              <a:buNone/>
            </a:pPr>
            <a:r>
              <a:rPr lang="en-US" sz="950" dirty="0">
                <a:solidFill>
                  <a:srgbClr val="173C37"/>
                </a:solidFill>
                <a:latin typeface="Arial" pitchFamily="34" charset="0"/>
                <a:ea typeface="Arial" pitchFamily="34" charset="-122"/>
                <a:cs typeface="Arial" pitchFamily="34" charset="-120"/>
              </a:rPr>
              <a:t>t+1</a:t>
            </a:r>
            <a:endParaRPr lang="en-US" sz="950" dirty="0"/>
          </a:p>
        </p:txBody>
      </p:sp>
      <p:sp>
        <p:nvSpPr>
          <p:cNvPr id="18" name="mechanism-axis-tick-3"/>
          <p:cNvSpPr txBox="1"/>
          <p:nvPr/>
        </p:nvSpPr>
        <p:spPr>
          <a:xfrm>
            <a:off x="7524750" y="5118100"/>
            <a:ext cx="711200" cy="203200"/>
          </a:xfrm>
          <a:prstGeom prst="rect">
            <a:avLst/>
          </a:prstGeom>
          <a:noFill/>
          <a:ln/>
        </p:spPr>
        <p:txBody>
          <a:bodyPr wrap="square" lIns="0" tIns="0" rIns="0" bIns="0" rtlCol="0" anchor="ctr"/>
          <a:lstStyle/>
          <a:p>
            <a:pPr algn="ctr" indent="0" marL="0">
              <a:lnSpc>
                <a:spcPct val="120000"/>
              </a:lnSpc>
              <a:buNone/>
            </a:pPr>
            <a:r>
              <a:rPr lang="en-US" sz="950" dirty="0">
                <a:solidFill>
                  <a:srgbClr val="173C37"/>
                </a:solidFill>
                <a:latin typeface="Arial" pitchFamily="34" charset="0"/>
                <a:ea typeface="Arial" pitchFamily="34" charset="-122"/>
                <a:cs typeface="Arial" pitchFamily="34" charset="-120"/>
              </a:rPr>
              <a:t>t+2</a:t>
            </a:r>
            <a:endParaRPr lang="en-US" sz="950" dirty="0"/>
          </a:p>
        </p:txBody>
      </p:sp>
      <p:sp>
        <p:nvSpPr>
          <p:cNvPr id="19" name="mechanism-axis-tick-4"/>
          <p:cNvSpPr txBox="1"/>
          <p:nvPr/>
        </p:nvSpPr>
        <p:spPr>
          <a:xfrm>
            <a:off x="10077450" y="5118100"/>
            <a:ext cx="711200" cy="203200"/>
          </a:xfrm>
          <a:prstGeom prst="rect">
            <a:avLst/>
          </a:prstGeom>
          <a:noFill/>
          <a:ln/>
        </p:spPr>
        <p:txBody>
          <a:bodyPr wrap="square" lIns="0" tIns="0" rIns="0" bIns="0" rtlCol="0" anchor="ctr"/>
          <a:lstStyle/>
          <a:p>
            <a:pPr algn="ctr" indent="0" marL="0">
              <a:lnSpc>
                <a:spcPct val="120000"/>
              </a:lnSpc>
              <a:buNone/>
            </a:pPr>
            <a:r>
              <a:rPr lang="en-US" sz="950" dirty="0">
                <a:solidFill>
                  <a:srgbClr val="173C37"/>
                </a:solidFill>
                <a:latin typeface="Arial" pitchFamily="34" charset="0"/>
                <a:ea typeface="Arial" pitchFamily="34" charset="-122"/>
                <a:cs typeface="Arial" pitchFamily="34" charset="-120"/>
              </a:rPr>
              <a:t>later</a:t>
            </a:r>
            <a:endParaRPr lang="en-US" sz="950" dirty="0"/>
          </a:p>
        </p:txBody>
      </p:sp>
      <p:sp>
        <p:nvSpPr>
          <p:cNvPr id="20" name="Shape 18"/>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1" name="Text 19"/>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CEC 내부 derivative가 약 1이라는 주장은 원 논문의 truncation rule에 조건부다</a:t>
            </a:r>
            <a:endParaRPr lang="en-US" sz="1750" dirty="0"/>
          </a:p>
        </p:txBody>
      </p:sp>
      <p:sp>
        <p:nvSpPr>
          <p:cNvPr id="22" name="Shape 20"/>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3" name="Text 21"/>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author-pdf pp. 5-6; p. 29, Eq. 35</a:t>
            </a:r>
            <a:endParaRPr lang="en-US" sz="1050" dirty="0"/>
          </a:p>
        </p:txBody>
      </p:sp>
      <p:sp>
        <p:nvSpPr>
          <p:cNvPr id="24" name="Text 22"/>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Bare CEC에는 쓰기와 읽기 충돌이 남는다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고정 self-path만으로는 어떤 입력을 저장하고 언제 출력을 숨길지 결정할 수 없다</a:t>
            </a:r>
            <a:endParaRPr lang="en-US" sz="1900" dirty="0"/>
          </a:p>
        </p:txBody>
      </p:sp>
      <p:sp>
        <p:nvSpPr>
          <p:cNvPr id="4" name="Shape 2"/>
          <p:cNvSpPr/>
          <p:nvPr/>
        </p:nvSpPr>
        <p:spPr>
          <a:xfrm>
            <a:off x="3302000" y="2959100"/>
            <a:ext cx="0" cy="6096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8890000" y="2959100"/>
            <a:ext cx="0" cy="60960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3568700"/>
            <a:ext cx="2159000" cy="0"/>
          </a:xfrm>
          <a:prstGeom prst="line">
            <a:avLst/>
          </a:prstGeom>
          <a:noFill/>
          <a:ln w="12700">
            <a:solidFill>
              <a:srgbClr val="0D685C"/>
            </a:solidFill>
            <a:prstDash val="solid"/>
            <a:headEnd type="none"/>
            <a:tailEnd type="none"/>
          </a:ln>
        </p:spPr>
        <p:txBody>
          <a:bodyPr/>
          <a:lstStyle/>
          <a:p>
            <a:endParaRPr lang="ko-KR"/>
          </a:p>
        </p:txBody>
      </p:sp>
      <p:sp>
        <p:nvSpPr>
          <p:cNvPr id="7" name="Shape 5"/>
          <p:cNvSpPr/>
          <p:nvPr/>
        </p:nvSpPr>
        <p:spPr>
          <a:xfrm>
            <a:off x="6731000" y="3568700"/>
            <a:ext cx="2159000" cy="0"/>
          </a:xfrm>
          <a:prstGeom prst="line">
            <a:avLst/>
          </a:prstGeom>
          <a:noFill/>
          <a:ln w="12700">
            <a:solidFill>
              <a:srgbClr val="0D685C"/>
            </a:solidFill>
            <a:prstDash val="solid"/>
            <a:headEnd type="none"/>
            <a:tailEnd type="none"/>
          </a:ln>
        </p:spPr>
        <p:txBody>
          <a:bodyPr/>
          <a:lstStyle/>
          <a:p>
            <a:endParaRPr lang="ko-KR"/>
          </a:p>
        </p:txBody>
      </p:sp>
      <p:sp>
        <p:nvSpPr>
          <p:cNvPr id="8" name="Shape 6"/>
          <p:cNvSpPr/>
          <p:nvPr/>
        </p:nvSpPr>
        <p:spPr>
          <a:xfrm>
            <a:off x="5461000" y="3568700"/>
            <a:ext cx="0" cy="571500"/>
          </a:xfrm>
          <a:prstGeom prst="line">
            <a:avLst/>
          </a:prstGeom>
          <a:noFill/>
          <a:ln w="12700">
            <a:solidFill>
              <a:srgbClr val="0D685C"/>
            </a:solidFill>
            <a:prstDash val="solid"/>
            <a:headEnd type="none"/>
            <a:tailEnd type="triangle"/>
          </a:ln>
        </p:spPr>
        <p:txBody>
          <a:bodyPr/>
          <a:lstStyle/>
          <a:p>
            <a:endParaRPr lang="ko-KR"/>
          </a:p>
        </p:txBody>
      </p:sp>
      <p:sp>
        <p:nvSpPr>
          <p:cNvPr id="9" name="Shape 7"/>
          <p:cNvSpPr/>
          <p:nvPr/>
        </p:nvSpPr>
        <p:spPr>
          <a:xfrm>
            <a:off x="6731000" y="3568700"/>
            <a:ext cx="0" cy="571500"/>
          </a:xfrm>
          <a:prstGeom prst="line">
            <a:avLst/>
          </a:prstGeom>
          <a:noFill/>
          <a:ln w="12700">
            <a:solidFill>
              <a:srgbClr val="0D685C"/>
            </a:solidFill>
            <a:prstDash val="solid"/>
            <a:headEnd type="none"/>
            <a:tailEnd type="triangle"/>
          </a:ln>
        </p:spPr>
        <p:txBody>
          <a:bodyPr/>
          <a:lstStyle/>
          <a:p>
            <a:endParaRPr lang="ko-KR"/>
          </a:p>
        </p:txBody>
      </p:sp>
      <p:sp>
        <p:nvSpPr>
          <p:cNvPr id="10" name="Shape 8"/>
          <p:cNvSpPr/>
          <p:nvPr/>
        </p:nvSpPr>
        <p:spPr>
          <a:xfrm>
            <a:off x="6096000" y="4737100"/>
            <a:ext cx="0" cy="736600"/>
          </a:xfrm>
          <a:prstGeom prst="line">
            <a:avLst/>
          </a:prstGeom>
          <a:noFill/>
          <a:ln w="12700">
            <a:solidFill>
              <a:srgbClr val="0D685C"/>
            </a:solidFill>
            <a:prstDash val="solid"/>
            <a:headEnd type="none"/>
            <a:tailEnd type="triangle"/>
          </a:ln>
        </p:spPr>
        <p:txBody>
          <a:bodyPr/>
          <a:lstStyle/>
          <a:p>
            <a:endParaRPr lang="ko-KR"/>
          </a:p>
        </p:txBody>
      </p:sp>
      <p:sp>
        <p:nvSpPr>
          <p:cNvPr id="11" name="Text 9"/>
          <p:cNvSpPr txBox="1"/>
          <p:nvPr/>
        </p:nvSpPr>
        <p:spPr>
          <a:xfrm>
            <a:off x="1270000" y="23622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Input conflict</a:t>
            </a:r>
            <a:endParaRPr lang="en-US" sz="1750" dirty="0"/>
          </a:p>
        </p:txBody>
      </p:sp>
      <p:sp>
        <p:nvSpPr>
          <p:cNvPr id="12" name="Text 10"/>
          <p:cNvSpPr txBox="1"/>
          <p:nvPr/>
        </p:nvSpPr>
        <p:spPr>
          <a:xfrm>
            <a:off x="1270000" y="26416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같은 weight가 저장과 방해 차단을 함께 담당</a:t>
            </a:r>
            <a:endParaRPr lang="en-US" sz="1500" dirty="0"/>
          </a:p>
        </p:txBody>
      </p:sp>
      <p:sp>
        <p:nvSpPr>
          <p:cNvPr id="13" name="Text 11"/>
          <p:cNvSpPr txBox="1"/>
          <p:nvPr/>
        </p:nvSpPr>
        <p:spPr>
          <a:xfrm>
            <a:off x="6858000" y="23622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Output conflict</a:t>
            </a:r>
            <a:endParaRPr lang="en-US" sz="1750" dirty="0"/>
          </a:p>
        </p:txBody>
      </p:sp>
      <p:sp>
        <p:nvSpPr>
          <p:cNvPr id="14" name="Text 12"/>
          <p:cNvSpPr txBox="1"/>
          <p:nvPr/>
        </p:nvSpPr>
        <p:spPr>
          <a:xfrm>
            <a:off x="6858000" y="26416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같은 weight가 읽기와 불필요한 출력을 함께 담당</a:t>
            </a:r>
            <a:endParaRPr lang="en-US" sz="1500" dirty="0"/>
          </a:p>
        </p:txBody>
      </p:sp>
      <p:sp>
        <p:nvSpPr>
          <p:cNvPr id="15" name="Text 13"/>
          <p:cNvSpPr txBox="1"/>
          <p:nvPr/>
        </p:nvSpPr>
        <p:spPr>
          <a:xfrm>
            <a:off x="4191000" y="4140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Bare linear memory</a:t>
            </a:r>
            <a:endParaRPr lang="en-US" sz="1750" dirty="0"/>
          </a:p>
        </p:txBody>
      </p:sp>
      <p:sp>
        <p:nvSpPr>
          <p:cNvPr id="16" name="Text 14"/>
          <p:cNvSpPr txBox="1"/>
          <p:nvPr/>
        </p:nvSpPr>
        <p:spPr>
          <a:xfrm>
            <a:off x="4191000" y="4419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상태를 유지해도 접근 시점을 구분하지 못함</a:t>
            </a:r>
            <a:endParaRPr lang="en-US" sz="1500" dirty="0"/>
          </a:p>
        </p:txBody>
      </p:sp>
      <p:sp>
        <p:nvSpPr>
          <p:cNvPr id="17" name="Text 15"/>
          <p:cNvSpPr txBox="1"/>
          <p:nvPr/>
        </p:nvSpPr>
        <p:spPr>
          <a:xfrm>
            <a:off x="4191000" y="54737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두 gate</a:t>
            </a:r>
            <a:endParaRPr lang="en-US" sz="1750" dirty="0"/>
          </a:p>
        </p:txBody>
      </p:sp>
      <p:sp>
        <p:nvSpPr>
          <p:cNvPr id="18" name="Text 16"/>
          <p:cNvSpPr txBox="1"/>
          <p:nvPr/>
        </p:nvSpPr>
        <p:spPr>
          <a:xfrm>
            <a:off x="4191000" y="57531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Input gate: write, output gate: read</a:t>
            </a:r>
            <a:endParaRPr lang="en-US" sz="1500" dirty="0"/>
          </a:p>
        </p:txBody>
      </p:sp>
      <p:sp>
        <p:nvSpPr>
          <p:cNvPr id="19" name="Shape 17"/>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0" name="Text 18"/>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author-pdf pp. 5-7</a:t>
            </a:r>
            <a:endParaRPr lang="en-US" sz="1050" dirty="0"/>
          </a:p>
        </p:txBody>
      </p:sp>
      <p:sp>
        <p:nvSpPr>
          <p:cNvPr id="21" name="Text 19"/>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1997년 원 논문의 memory cell</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original algorithm: truncated gradient, input gate와 output gate만 사용</a:t>
            </a:r>
            <a:endParaRPr lang="en-US" sz="1900" dirty="0"/>
          </a:p>
        </p:txBody>
      </p:sp>
      <p:sp>
        <p:nvSpPr>
          <p:cNvPr id="4" name="mechanism-lane-state"/>
          <p:cNvSpPr txBox="1"/>
          <p:nvPr/>
        </p:nvSpPr>
        <p:spPr>
          <a:xfrm>
            <a:off x="660400" y="2209800"/>
            <a:ext cx="863600" cy="15621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state path</a:t>
            </a:r>
            <a:endParaRPr lang="en-US" sz="1250" dirty="0"/>
          </a:p>
        </p:txBody>
      </p:sp>
      <p:sp>
        <p:nvSpPr>
          <p:cNvPr id="5" name="mechanism-lane-write"/>
          <p:cNvSpPr txBox="1"/>
          <p:nvPr/>
        </p:nvSpPr>
        <p:spPr>
          <a:xfrm>
            <a:off x="660400" y="3771900"/>
            <a:ext cx="863600" cy="15621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write path</a:t>
            </a:r>
            <a:endParaRPr lang="en-US" sz="1250" dirty="0"/>
          </a:p>
        </p:txBody>
      </p:sp>
      <p:sp>
        <p:nvSpPr>
          <p:cNvPr id="6" name="mechanism-edge-e-prev-cec-segment-1"/>
          <p:cNvSpPr/>
          <p:nvPr/>
        </p:nvSpPr>
        <p:spPr>
          <a:xfrm>
            <a:off x="3299460" y="2990850"/>
            <a:ext cx="160867" cy="0"/>
          </a:xfrm>
          <a:prstGeom prst="line">
            <a:avLst/>
          </a:prstGeom>
          <a:noFill/>
          <a:ln w="12700">
            <a:solidFill>
              <a:srgbClr val="0D685C"/>
            </a:solidFill>
            <a:prstDash val="solid"/>
            <a:headEnd type="none"/>
            <a:tailEnd type="none"/>
          </a:ln>
        </p:spPr>
        <p:txBody>
          <a:bodyPr/>
          <a:lstStyle/>
          <a:p>
            <a:endParaRPr lang="ko-KR"/>
          </a:p>
        </p:txBody>
      </p:sp>
      <p:sp>
        <p:nvSpPr>
          <p:cNvPr id="7" name="mechanism-edge-e-prev-cec-segment-2"/>
          <p:cNvSpPr/>
          <p:nvPr/>
        </p:nvSpPr>
        <p:spPr>
          <a:xfrm flipV="1">
            <a:off x="3460327" y="2787650"/>
            <a:ext cx="0" cy="203200"/>
          </a:xfrm>
          <a:prstGeom prst="line">
            <a:avLst/>
          </a:prstGeom>
          <a:noFill/>
          <a:ln w="12700">
            <a:solidFill>
              <a:srgbClr val="0D685C"/>
            </a:solidFill>
            <a:prstDash val="solid"/>
            <a:headEnd type="none"/>
            <a:tailEnd type="none"/>
          </a:ln>
        </p:spPr>
        <p:txBody>
          <a:bodyPr/>
          <a:lstStyle/>
          <a:p>
            <a:endParaRPr lang="ko-KR"/>
          </a:p>
        </p:txBody>
      </p:sp>
      <p:sp>
        <p:nvSpPr>
          <p:cNvPr id="8" name="mechanism-edge-e-prev-cec-segment-3"/>
          <p:cNvSpPr/>
          <p:nvPr/>
        </p:nvSpPr>
        <p:spPr>
          <a:xfrm>
            <a:off x="3460327" y="2787650"/>
            <a:ext cx="2363893" cy="0"/>
          </a:xfrm>
          <a:prstGeom prst="line">
            <a:avLst/>
          </a:prstGeom>
          <a:noFill/>
          <a:ln w="12700">
            <a:solidFill>
              <a:srgbClr val="0D685C"/>
            </a:solidFill>
            <a:prstDash val="solid"/>
            <a:headEnd type="none"/>
            <a:tailEnd type="triangle"/>
          </a:ln>
        </p:spPr>
        <p:txBody>
          <a:bodyPr/>
          <a:lstStyle/>
          <a:p>
            <a:endParaRPr lang="ko-KR"/>
          </a:p>
        </p:txBody>
      </p:sp>
      <p:sp>
        <p:nvSpPr>
          <p:cNvPr id="9" name="mechanism-edge-e-prev-cec-label"/>
          <p:cNvSpPr txBox="1"/>
          <p:nvPr/>
        </p:nvSpPr>
        <p:spPr>
          <a:xfrm>
            <a:off x="4108873" y="2559050"/>
            <a:ext cx="1066800" cy="190500"/>
          </a:xfrm>
          <a:prstGeom prst="rect">
            <a:avLst/>
          </a:prstGeom>
          <a:noFill/>
          <a:ln/>
        </p:spPr>
        <p:txBody>
          <a:bodyPr wrap="square" lIns="0" tIns="0" rIns="0" bIns="0" rtlCol="0" anchor="ctr"/>
          <a:lstStyle/>
          <a:p>
            <a:pPr algn="ctr" indent="0" marL="0">
              <a:lnSpc>
                <a:spcPct val="120000"/>
              </a:lnSpc>
              <a:buNone/>
            </a:pPr>
            <a:r>
              <a:rPr lang="en-US" sz="950" b="1" dirty="0">
                <a:solidFill>
                  <a:srgbClr val="173C37"/>
                </a:solidFill>
                <a:latin typeface="AppleGothic" pitchFamily="34" charset="0"/>
                <a:ea typeface="AppleGothic" pitchFamily="34" charset="-122"/>
                <a:cs typeface="AppleGothic" pitchFamily="34" charset="-120"/>
              </a:rPr>
              <a:t>self-path ×1</a:t>
            </a:r>
            <a:endParaRPr lang="en-US" sz="950" dirty="0"/>
          </a:p>
        </p:txBody>
      </p:sp>
      <p:sp>
        <p:nvSpPr>
          <p:cNvPr id="10" name="mechanism-edge-e-cand-in-segment-1"/>
          <p:cNvSpPr/>
          <p:nvPr/>
        </p:nvSpPr>
        <p:spPr>
          <a:xfrm>
            <a:off x="3299460" y="4552950"/>
            <a:ext cx="482600" cy="0"/>
          </a:xfrm>
          <a:prstGeom prst="line">
            <a:avLst/>
          </a:prstGeom>
          <a:noFill/>
          <a:ln w="12700">
            <a:solidFill>
              <a:srgbClr val="0D685C"/>
            </a:solidFill>
            <a:prstDash val="solid"/>
            <a:headEnd type="none"/>
            <a:tailEnd type="triangle"/>
          </a:ln>
        </p:spPr>
        <p:txBody>
          <a:bodyPr/>
          <a:lstStyle/>
          <a:p>
            <a:endParaRPr lang="ko-KR"/>
          </a:p>
        </p:txBody>
      </p:sp>
      <p:sp>
        <p:nvSpPr>
          <p:cNvPr id="11" name="mechanism-edge-e-in-cec-segment-1"/>
          <p:cNvSpPr/>
          <p:nvPr/>
        </p:nvSpPr>
        <p:spPr>
          <a:xfrm>
            <a:off x="5341620" y="4552950"/>
            <a:ext cx="241300" cy="0"/>
          </a:xfrm>
          <a:prstGeom prst="line">
            <a:avLst/>
          </a:prstGeom>
          <a:noFill/>
          <a:ln w="12700">
            <a:solidFill>
              <a:srgbClr val="0D685C"/>
            </a:solidFill>
            <a:prstDash val="solid"/>
            <a:headEnd type="none"/>
            <a:tailEnd type="none"/>
          </a:ln>
        </p:spPr>
        <p:txBody>
          <a:bodyPr/>
          <a:lstStyle/>
          <a:p>
            <a:endParaRPr lang="ko-KR"/>
          </a:p>
        </p:txBody>
      </p:sp>
      <p:sp>
        <p:nvSpPr>
          <p:cNvPr id="12" name="mechanism-edge-e-in-cec-segment-2"/>
          <p:cNvSpPr/>
          <p:nvPr/>
        </p:nvSpPr>
        <p:spPr>
          <a:xfrm flipV="1">
            <a:off x="5582920" y="3194050"/>
            <a:ext cx="0" cy="1358900"/>
          </a:xfrm>
          <a:prstGeom prst="line">
            <a:avLst/>
          </a:prstGeom>
          <a:noFill/>
          <a:ln w="12700">
            <a:solidFill>
              <a:srgbClr val="0D685C"/>
            </a:solidFill>
            <a:prstDash val="solid"/>
            <a:headEnd type="none"/>
            <a:tailEnd type="none"/>
          </a:ln>
        </p:spPr>
        <p:txBody>
          <a:bodyPr/>
          <a:lstStyle/>
          <a:p>
            <a:endParaRPr lang="ko-KR"/>
          </a:p>
        </p:txBody>
      </p:sp>
      <p:sp>
        <p:nvSpPr>
          <p:cNvPr id="13" name="mechanism-edge-e-in-cec-segment-3"/>
          <p:cNvSpPr/>
          <p:nvPr/>
        </p:nvSpPr>
        <p:spPr>
          <a:xfrm>
            <a:off x="5582920" y="3194050"/>
            <a:ext cx="241300" cy="0"/>
          </a:xfrm>
          <a:prstGeom prst="line">
            <a:avLst/>
          </a:prstGeom>
          <a:noFill/>
          <a:ln w="12700">
            <a:solidFill>
              <a:srgbClr val="0D685C"/>
            </a:solidFill>
            <a:prstDash val="solid"/>
            <a:headEnd type="none"/>
            <a:tailEnd type="triangle"/>
          </a:ln>
        </p:spPr>
        <p:txBody>
          <a:bodyPr/>
          <a:lstStyle/>
          <a:p>
            <a:endParaRPr lang="ko-KR"/>
          </a:p>
        </p:txBody>
      </p:sp>
      <p:sp>
        <p:nvSpPr>
          <p:cNvPr id="14" name="mechanism-edge-e-cec-out-segment-1"/>
          <p:cNvSpPr/>
          <p:nvPr/>
        </p:nvSpPr>
        <p:spPr>
          <a:xfrm>
            <a:off x="7383780" y="2990850"/>
            <a:ext cx="482600" cy="0"/>
          </a:xfrm>
          <a:prstGeom prst="line">
            <a:avLst/>
          </a:prstGeom>
          <a:noFill/>
          <a:ln w="12700">
            <a:solidFill>
              <a:srgbClr val="0D685C"/>
            </a:solidFill>
            <a:prstDash val="solid"/>
            <a:headEnd type="none"/>
            <a:tailEnd type="triangle"/>
          </a:ln>
        </p:spPr>
        <p:txBody>
          <a:bodyPr/>
          <a:lstStyle/>
          <a:p>
            <a:endParaRPr lang="ko-KR"/>
          </a:p>
        </p:txBody>
      </p:sp>
      <p:sp>
        <p:nvSpPr>
          <p:cNvPr id="15" name="mechanism-edge-e-out-y-segment-1"/>
          <p:cNvSpPr/>
          <p:nvPr/>
        </p:nvSpPr>
        <p:spPr>
          <a:xfrm>
            <a:off x="9425940" y="2990850"/>
            <a:ext cx="482600" cy="0"/>
          </a:xfrm>
          <a:prstGeom prst="line">
            <a:avLst/>
          </a:prstGeom>
          <a:noFill/>
          <a:ln w="12700">
            <a:solidFill>
              <a:srgbClr val="0D685C"/>
            </a:solidFill>
            <a:prstDash val="solid"/>
            <a:headEnd type="none"/>
            <a:tailEnd type="triangle"/>
          </a:ln>
        </p:spPr>
        <p:txBody>
          <a:bodyPr/>
          <a:lstStyle/>
          <a:p>
            <a:endParaRPr lang="ko-KR"/>
          </a:p>
        </p:txBody>
      </p:sp>
      <p:sp>
        <p:nvSpPr>
          <p:cNvPr id="16" name="mechanism-node-prev"/>
          <p:cNvSpPr/>
          <p:nvPr/>
        </p:nvSpPr>
        <p:spPr>
          <a:xfrm>
            <a:off x="1739900" y="266065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이전 상태</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s_(t−1)</a:t>
            </a:r>
            <a:endParaRPr lang="en-US" sz="1150" dirty="0"/>
          </a:p>
        </p:txBody>
      </p:sp>
      <p:sp>
        <p:nvSpPr>
          <p:cNvPr id="17" name="mechanism-node-cand"/>
          <p:cNvSpPr/>
          <p:nvPr/>
        </p:nvSpPr>
        <p:spPr>
          <a:xfrm>
            <a:off x="1739900" y="422275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후보 g_t</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squashed input</a:t>
            </a:r>
            <a:endParaRPr lang="en-US" sz="1150" dirty="0"/>
          </a:p>
        </p:txBody>
      </p:sp>
      <p:sp>
        <p:nvSpPr>
          <p:cNvPr id="18" name="mechanism-node-in-gate"/>
          <p:cNvSpPr/>
          <p:nvPr/>
        </p:nvSpPr>
        <p:spPr>
          <a:xfrm>
            <a:off x="3782060" y="422275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입력 gate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i_t × g_t</a:t>
            </a:r>
            <a:endParaRPr lang="en-US" sz="1150" dirty="0"/>
          </a:p>
        </p:txBody>
      </p:sp>
      <p:sp>
        <p:nvSpPr>
          <p:cNvPr id="19" name="mechanism-node-cec"/>
          <p:cNvSpPr/>
          <p:nvPr/>
        </p:nvSpPr>
        <p:spPr>
          <a:xfrm>
            <a:off x="5824220" y="266065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CEC 상태</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s_t=s_(t−1)+i_tg_t</a:t>
            </a:r>
            <a:endParaRPr lang="en-US" sz="1150" dirty="0"/>
          </a:p>
        </p:txBody>
      </p:sp>
      <p:sp>
        <p:nvSpPr>
          <p:cNvPr id="20" name="mechanism-node-out-gate"/>
          <p:cNvSpPr/>
          <p:nvPr/>
        </p:nvSpPr>
        <p:spPr>
          <a:xfrm>
            <a:off x="7866380" y="266065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출력 gate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o_t × h(s_t)</a:t>
            </a:r>
            <a:endParaRPr lang="en-US" sz="1150" dirty="0"/>
          </a:p>
        </p:txBody>
      </p:sp>
      <p:sp>
        <p:nvSpPr>
          <p:cNvPr id="21" name="mechanism-node-output"/>
          <p:cNvSpPr/>
          <p:nvPr/>
        </p:nvSpPr>
        <p:spPr>
          <a:xfrm>
            <a:off x="9908540" y="266065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출력 y_t</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exposed memory</a:t>
            </a:r>
            <a:endParaRPr lang="en-US" sz="1150" dirty="0"/>
          </a:p>
        </p:txBody>
      </p:sp>
      <p:sp>
        <p:nvSpPr>
          <p:cNvPr id="22" name="Shape 20"/>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3" name="Text 21"/>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1997년 셀에는 forget gate와 peephole connection이 없다</a:t>
            </a:r>
            <a:endParaRPr lang="en-US" sz="1750" dirty="0"/>
          </a:p>
        </p:txBody>
      </p:sp>
      <p:sp>
        <p:nvSpPr>
          <p:cNvPr id="24" name="Shape 2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5" name="Text 2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author-pdf p. 7, Fig. 1</a:t>
            </a:r>
            <a:endParaRPr lang="en-US" sz="1050" dirty="0"/>
          </a:p>
        </p:txBody>
      </p:sp>
      <p:sp>
        <p:nvSpPr>
          <p:cNvPr id="26" name="Text 2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원 논문 cell의 두 계산</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i_t는 input gate 출력, o_t는 output gate 출력, g_t는 후보, s_t는 내부 상태다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609088"/>
                <a:gridCol w="4457192"/>
                <a:gridCol w="380492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계산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읽을 수 있는 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gate의 역할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State update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s_t = s_(t−1) + i_t × g_t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쓸 후보의 양을 선택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Cell output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y_t = o_t × h(s_t)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외부에 보일 양을 선택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Input closed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i_t ≈ 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후보가 state를 바꾸지 못함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Output closed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o_t ≈ 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state는 남고 출력은 숨김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쓰기와 읽기는 분리되지만 과거 state 자체를 줄이는 계수는 없다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author-pdf p. 7; p. 24, Eq. 9</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세 단계 state 계산</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교육용 값이며 s_0=0, h(s)=tanh(s)로 둔다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304544"/>
                <a:gridCol w="1521968"/>
                <a:gridCol w="1739392"/>
                <a:gridCol w="1956816"/>
                <a:gridCol w="434848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i_t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g_t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s_t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o_t × tanh(s_t)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0.60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0.60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−0.90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0.60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0.20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0.60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0.8×tanh(0.6)≈0.430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t=2의 방해 후보는 input gate가 닫혀 있어 저장값 0.60을 덮어쓰지 못한다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author-pdf p. 7 recurrence; values illustrative</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거리와 gradient scaling의 차이</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CEC의 내부 구간과 cell 경계에서 생기는 scaling을 구분한다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935224"/>
                <a:gridCol w="2500376"/>
                <a:gridCol w="2609088"/>
                <a:gridCol w="282651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경로</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한 단계 factor</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1000단계 효과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Ordinary path 예시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1.75×10^−46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매 단계 반복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CEC internal path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약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약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truncated rule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Cell 입구와 출구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gate와 h′, 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경계에서 한 번씩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포화 시 작아질 수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CEC는 lag 길이에 따른 반복 감쇠를 제거하지만 경계의 작은 derivative까지 없애지는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author-pdf pp. 28-29, Eqs. 33-41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Truncated gradient가 유지하고 끊는 경로</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원 논문의 constant-flow 주장은 ordinary full BPTT가 아니라 architecture-specific truncation에 의존한다</a:t>
            </a:r>
            <a:endParaRPr lang="en-US" sz="1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261360"/>
                <a:gridCol w="3261360"/>
                <a:gridCol w="434848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경로</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 논문의 처리</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학습상 의미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이전 internal state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CEC 안에서 유지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먼 state까지 error 전달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Cell과 gate 밖의 recurrent path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더 이전으로 전파 중단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추가 순환 곱 차단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현재 incoming weight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현재 error로 update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cut이 weight 고정을 뜻하지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Output connection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ordinary backprop 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현재 output error 반영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Error는 CEC 안에서 과거로 흐르고, cell 밖으로 나가려는 recurrent derivative는 잘린다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author-pdf p. 8; pp. 24-29</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원 논문의 learning update 흐름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Forward state와 local derivative를 순차적으로 갱신해 sequence length와 무관한 저장량을 유지한다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Forward</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Gate, candidate, internal state를 계산</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Local sensitivity</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필요한 state-to-weight derivative만 유지</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Output error</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현재 teacher error를 cell output에 전달</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CEC backflow</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Internal state를 따라 과거 error를 유지</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Update and cut</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Incoming weights를 갱신하고 외부 recurrence는 truncate</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원 algorithm은 forward mechanism과 gradient truncation을 함께 정의한다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author-pdf p. 8; pp. 24-28</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O(1)은 전체 학습 시간이 아니다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W는 weight 수이며 원 논문의 local-in-space-and-time 정의를 단위별로 읽어야 한다</a:t>
            </a:r>
            <a:endParaRPr lang="en-US" sz="1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4131056"/>
                <a:gridCol w="456590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Claim</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정확한 단위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의미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weight 하나, time step 하나당</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network 전체 비용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O(W)</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time step 하나의 전체 update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fully recurrent BPTT와 같은 차수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O(W) storage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유지할 derivative 총량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sequence length에 독립</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Full BPTT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time-unrolled activations 저장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저장량이 sequence length에 의존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효율성 주장은 per-step update와 저장량에 관한 것이며 training examples 수와는 별개다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author-pdf p. 8; p. 27, Eq. 29</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Memory cell block과 network topology</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여러 cell이 input gate와 output gate를 공유하면 distributed representation을 저장할 수 있다</a:t>
            </a:r>
            <a:endParaRPr lang="en-US" sz="1900" dirty="0"/>
          </a:p>
        </p:txBody>
      </p:sp>
      <p:sp>
        <p:nvSpPr>
          <p:cNvPr id="4" name="Text 2"/>
          <p:cNvSpPr txBox="1"/>
          <p:nvPr/>
        </p:nvSpPr>
        <p:spPr>
          <a:xfrm>
            <a:off x="838200" y="21717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크기 S의 block은 S개 memory cell과 하나의 input gate, 하나의 output gate를 공유한다.</a:t>
            </a:r>
            <a:endParaRPr lang="en-US" sz="2000" dirty="0"/>
          </a:p>
        </p:txBody>
      </p:sp>
      <p:sp>
        <p:nvSpPr>
          <p:cNvPr id="5" name="Shape 3"/>
          <p:cNvSpPr/>
          <p:nvPr/>
        </p:nvSpPr>
        <p:spPr>
          <a:xfrm>
            <a:off x="838200" y="29083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9464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Hidden layer에는 memory cells와 gate units가 함께 놓이며 conventional hidden units도 추가할 수 있다.</a:t>
            </a:r>
            <a:endParaRPr lang="en-US" sz="2000" dirty="0"/>
          </a:p>
        </p:txBody>
      </p:sp>
      <p:sp>
        <p:nvSpPr>
          <p:cNvPr id="7" name="Shape 5"/>
          <p:cNvSpPr/>
          <p:nvPr/>
        </p:nvSpPr>
        <p:spPr>
          <a:xfrm>
            <a:off x="838200" y="36830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7211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논문의 실험은 task에 따라 block 수와 block 크기를 다르게 정한다.</a:t>
            </a:r>
            <a:endParaRPr lang="en-US" sz="2000" dirty="0"/>
          </a:p>
        </p:txBody>
      </p:sp>
      <p:sp>
        <p:nvSpPr>
          <p:cNvPr id="9" name="Shape 7"/>
          <p:cNvSpPr/>
          <p:nvPr/>
        </p:nvSpPr>
        <p:spPr>
          <a:xfrm>
            <a:off x="838200" y="44577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44958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Output gate가 항상 필수는 아니지만 canonical Figure 1 cell에는 두 gate가 모두 있다.</a:t>
            </a:r>
            <a:endParaRPr lang="en-US" sz="2000" dirty="0"/>
          </a:p>
        </p:txBody>
      </p:sp>
      <p:sp>
        <p:nvSpPr>
          <p:cNvPr id="11" name="Shape 9"/>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2" name="Text 10"/>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LSTM은 단일 scalar cell만이 아니라 gate를 공유하는 cell block 구조로 실험됐다</a:t>
            </a:r>
            <a:endParaRPr lang="en-US" sz="1750" dirty="0"/>
          </a:p>
        </p:txBody>
      </p:sp>
      <p:sp>
        <p:nvSpPr>
          <p:cNvPr id="13" name="Shape 11"/>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4" name="Text 12"/>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author-pdf pp. 7-9, Fig. 2</a:t>
            </a:r>
            <a:endParaRPr lang="en-US" sz="1050" dirty="0"/>
          </a:p>
        </p:txBody>
      </p:sp>
      <p:sp>
        <p:nvSpPr>
          <p:cNvPr id="15" name="Text 13"/>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1997년 원형에 포함되지 않은 요소</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후대 구현에서 익숙한 기능을 원 논문의 mechanism으로 되돌려 넣지 않는다</a:t>
            </a:r>
            <a:endParaRPr lang="en-US" sz="1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3478784"/>
                <a:gridCol w="500075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요소</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1997년 원 논문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정확한 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Forget gate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과거 state 계수는 fixed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Peephole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직접 state-to-gate path를 정의하지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Input gate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새 candidate의 write 양을 제어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Output gate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canonical cell에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Stored state의 exposure를 제어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Learning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truncated RTRL variant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ordinary full BPTT와 구분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CEC를 modern forget gate가 1로 고정된 경우라고 부르면 역사와 학습 규칙이 흐려진다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author-pdf pp. 6-8; odyssey p. 3, historical variants</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Original LSTM과 later standard LSTM</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두 식의 차이는 과거 state를 보존하는 coefficient가 fixed인지 learned인지에 있다</a:t>
            </a:r>
            <a:endParaRPr lang="en-US" sz="1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3696208"/>
                <a:gridCol w="2609088"/>
                <a:gridCol w="217424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State recurrence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과거 state 처리</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대표 학습</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14097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Original 1997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s_t=s_(t−1)+i_tg_t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fixed coefficient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truncated rule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4097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Later common form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c_t=f_tc_(t−1)+i_tz_t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learned forget gate f_t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commonly full BPTT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Later forget gate는 기억을 의도적으로 줄이거나 reset할 수 있는 별도 제어다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author-pdf p. 7; odyssey pp. 2-3</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1997년 실험을 읽는 기준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Reported success는 각 synthetic task의 architecture, stopping criterion, trial 수에 묶여 있다</a:t>
            </a:r>
            <a:endParaRPr lang="en-US" sz="1900" dirty="0"/>
          </a:p>
        </p:txBody>
      </p:sp>
      <p:sp>
        <p:nvSpPr>
          <p:cNvPr id="4" name="Text 2"/>
          <p:cNvSpPr txBox="1"/>
          <p:nvPr/>
        </p:nvSpPr>
        <p:spPr>
          <a:xfrm>
            <a:off x="838200" y="21717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모든 주요 결과는 artificial long-lag task에서 측정됐다.</a:t>
            </a:r>
            <a:endParaRPr lang="en-US" sz="2000" dirty="0"/>
          </a:p>
        </p:txBody>
      </p:sp>
      <p:sp>
        <p:nvSpPr>
          <p:cNvPr id="5" name="Shape 3"/>
          <p:cNvSpPr/>
          <p:nvPr/>
        </p:nvSpPr>
        <p:spPr>
          <a:xfrm>
            <a:off x="838200" y="29083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9464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Task별로 architecture, learning rate, output encoding과 success threshold가 다르다.</a:t>
            </a:r>
            <a:endParaRPr lang="en-US" sz="2000" dirty="0"/>
          </a:p>
        </p:txBody>
      </p:sp>
      <p:sp>
        <p:nvSpPr>
          <p:cNvPr id="7" name="Shape 5"/>
          <p:cNvSpPr/>
          <p:nvPr/>
        </p:nvSpPr>
        <p:spPr>
          <a:xfrm>
            <a:off x="838200" y="36830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7211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Training sequences until success는 wall-clock speed나 sample efficiency의 보편적 척도가 아니다.</a:t>
            </a:r>
            <a:endParaRPr lang="en-US" sz="2000" dirty="0"/>
          </a:p>
        </p:txBody>
      </p:sp>
      <p:sp>
        <p:nvSpPr>
          <p:cNvPr id="9" name="Shape 7"/>
          <p:cNvSpPr/>
          <p:nvPr/>
        </p:nvSpPr>
        <p:spPr>
          <a:xfrm>
            <a:off x="838200" y="44577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44958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Baseline row도 같은 조건인지 확인한 뒤 paper-specific comparison으로 읽어야 한다.</a:t>
            </a:r>
            <a:endParaRPr lang="en-US" sz="2000" dirty="0"/>
          </a:p>
        </p:txBody>
      </p:sp>
      <p:sp>
        <p:nvSpPr>
          <p:cNvPr id="11" name="Shape 9"/>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2" name="Text 10"/>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숫자는 task 조건과 trial 또는 test count를 함께 제시할 때만 의미가 유지된다</a:t>
            </a:r>
            <a:endParaRPr lang="en-US" sz="1750" dirty="0"/>
          </a:p>
        </p:txBody>
      </p:sp>
      <p:sp>
        <p:nvSpPr>
          <p:cNvPr id="13" name="Shape 11"/>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4" name="Text 12"/>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author-pdf pp. 9-21, Tables 1-11</a:t>
            </a:r>
            <a:endParaRPr lang="en-US" sz="1050" dirty="0"/>
          </a:p>
        </p:txBody>
      </p:sp>
      <p:sp>
        <p:nvSpPr>
          <p:cNvPr id="15" name="Text 13"/>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Task 2a: delay 100의 무잡음 sequence</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Table 2는 18 trials의 mean과 각 method의 성공 trial 비율을 보고한다</a:t>
            </a:r>
            <a:endParaRPr lang="en-US" sz="1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609088"/>
                <a:gridCol w="1848104"/>
                <a:gridCol w="2935224"/>
                <a:gridCol w="347878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Method</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Delay</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Successful trials</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Success after</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LSTM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5,040 sequences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Chunker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32,400 sequences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BPTT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&gt;5,000,000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RTRL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&gt;5,000,000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task와 stopping rule에서는 LSTM이 delay 100을 안정적으로 학습했다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author-pdf p. 14, Table 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Task 2c: 천 단계 이상의 최소 지연</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p는 distractor symbol 수, q+1은 minimum lag이며 각 (p,q) 조건을 20 trials로 평가했다</a:t>
            </a:r>
            <a:endParaRPr lang="en-US" sz="1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521968"/>
                <a:gridCol w="1521968"/>
                <a:gridCol w="2500376"/>
                <a:gridCol w="2174240"/>
                <a:gridCol w="315264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q</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Minimum lag</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Weights</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Success after</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1001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6064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49,000 sequences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1001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3064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49,000 sequences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1001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1264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75,000 sequences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LSTM은 짧은 training sequence 없이도 noisy distractor 사이의 장기 dependency를 학습했다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author-pdf p. 15, Table 3</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Continuous adding problem</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두 marked real values의 합을 sequence 끝에서 예측하며 T/2가 minimum lag다</a:t>
            </a:r>
            <a:endParaRPr lang="en-US" sz="1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304544"/>
                <a:gridCol w="2391664"/>
                <a:gridCol w="2609088"/>
                <a:gridCol w="2609088"/>
                <a:gridCol w="195681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Minimum lag</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Test errors</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Success after</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Trials</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 / 2560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74,000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mean of 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250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 / 2560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209,000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mean of 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 / 2560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853,000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mean of 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원 논문은 binary latch뿐 아니라 continuous value 저장과 계산도 시험했다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author-pdf pp. 17-18, Table 7</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Temporal order problem</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Widely separated X와 Y의 순서를 기억해 sequence 끝에서 class를 고른다</a:t>
            </a:r>
            <a:endParaRPr lang="en-US" sz="1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521968"/>
                <a:gridCol w="2609088"/>
                <a:gridCol w="2609088"/>
                <a:gridCol w="2609088"/>
                <a:gridCol w="152196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Task</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Relevant symbols</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Test errors</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Success after</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Trials</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14097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 / 2560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31,390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mean of 20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4097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 / 2560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571,100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mean of 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여러 장기 단서를 순서대로 저장하는 난이도는 6b에서 training sequences 증가로 나타났다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author-pdf pp. 19-20, Table 9</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실험이 지지하는 범위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원 논문의 결과와 그 결과만으로 결론낼 수 없는 내용을 분리한다</a:t>
            </a:r>
            <a:endParaRPr lang="en-US" sz="1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5435600"/>
                <a:gridCol w="543560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Supported by 1997 experiments</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Not established by these experiments</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특정 synthetic tasks에서 long lag 학습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Modern speech와 NLP의 우월성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Noise와 distributed representation 처리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real-world distribution 일반화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Continuous adding과 temporal order 성공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non-decomposable task 해결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Reported baselines보다 많은 successful runs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현재 architecture 간 보편적 ranking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1997년 evidence는 mechanism 가능성을 보였고 real-world 성능은 future work로 남겼다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author-pdf pp. 21-23</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한계 1: strongly delayed XOR</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첫 input 하나만 저장해도 expected error가 줄지 않는 non-decomposable task는 truncated rule이 어렵게 만든다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First bit</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혼자서는 target 정보가 부족</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Long delay</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즉시 개선할 local subgoal이 없음</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Second bit</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두 bit를 함께 봐야 XOR 결정</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Truncated credit</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첫 저장 결정까지 유용한 signal 전달이 어려움</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CEC가 long lag를 보존해도 objective가 단계적으로 분해되지 않으면 학습은 어렵다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author-pdf p. 22, Limitations</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한계 2: state drift와 output saturation</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Forget gate가 없는 additive state는 입력 편향이 누적되면 큰 절댓값으로 drift할 수 있다</a:t>
            </a:r>
            <a:endParaRPr lang="en-US" sz="19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500376"/>
                <a:gridCol w="2609088"/>
                <a:gridCol w="3152648"/>
                <a:gridCol w="260908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문제</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영향</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1997년 mitigation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남는 경계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Mostly same-sign input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State magnitude 증가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Input gate를 초기에 닫히게 bias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Active forgetting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Large state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h′(s)가 작아짐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 선택과 gate bias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출구 gradient 감소 가능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Cell abuse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Bias cell처럼 점유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Negative output-gate bias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추가 allocation 필요 가능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CEC 내부 factor 1과 usable end-to-end gradient는 같은 개념이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author-pdf pp. 8-9; pp. 29-30</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한계 3: 정확한 discrete counting과 적용 범위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기억을 오래 유지하는 능력만으로 99단계와 100단계를 항상 정확히 구별하지는 못한다</a:t>
            </a:r>
            <a:endParaRPr lang="en-US" sz="1900" dirty="0"/>
          </a:p>
        </p:txBody>
      </p:sp>
      <p:sp>
        <p:nvSpPr>
          <p:cNvPr id="4" name="Text 2"/>
          <p:cNvSpPr txBox="1"/>
          <p:nvPr/>
        </p:nvSpPr>
        <p:spPr>
          <a:xfrm>
            <a:off x="838200" y="21717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정확한 elapsed-step counting에는 별도 counting mechanism이 필요할 수 있다.</a:t>
            </a:r>
            <a:endParaRPr lang="en-US" sz="2000" dirty="0"/>
          </a:p>
        </p:txBody>
      </p:sp>
      <p:sp>
        <p:nvSpPr>
          <p:cNvPr id="5" name="Shape 3"/>
          <p:cNvSpPr/>
          <p:nvPr/>
        </p:nvSpPr>
        <p:spPr>
          <a:xfrm>
            <a:off x="838200" y="29083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9464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짧은 lag와 긴 lag의 대략적 구분이나 learned decay는 가능하다.</a:t>
            </a:r>
            <a:endParaRPr lang="en-US" sz="2000" dirty="0"/>
          </a:p>
        </p:txBody>
      </p:sp>
      <p:sp>
        <p:nvSpPr>
          <p:cNvPr id="7" name="Shape 5"/>
          <p:cNvSpPr/>
          <p:nvPr/>
        </p:nvSpPr>
        <p:spPr>
          <a:xfrm>
            <a:off x="838200" y="36830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7211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논문의 tasks는 인공 데이터이며 real-world application은 future work로 제시됐다.</a:t>
            </a:r>
            <a:endParaRPr lang="en-US" sz="2000" dirty="0"/>
          </a:p>
        </p:txBody>
      </p:sp>
      <p:sp>
        <p:nvSpPr>
          <p:cNvPr id="9" name="Shape 7"/>
          <p:cNvSpPr/>
          <p:nvPr/>
        </p:nvSpPr>
        <p:spPr>
          <a:xfrm>
            <a:off x="838200" y="44577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44958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결론은 original algorithm과 1997년 evidence 범위 안에서 읽어야 한다.</a:t>
            </a:r>
            <a:endParaRPr lang="en-US" sz="2000" dirty="0"/>
          </a:p>
        </p:txBody>
      </p:sp>
      <p:sp>
        <p:nvSpPr>
          <p:cNvPr id="11" name="Shape 9"/>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2" name="Text 10"/>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Long memory, exact clock, broad real-world generalization은 서로 다른 주장이다</a:t>
            </a:r>
            <a:endParaRPr lang="en-US" sz="1750" dirty="0"/>
          </a:p>
        </p:txBody>
      </p:sp>
      <p:sp>
        <p:nvSpPr>
          <p:cNvPr id="13" name="Shape 11"/>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4" name="Text 12"/>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author-pdf pp. 22-23</a:t>
            </a:r>
            <a:endParaRPr lang="en-US" sz="1050" dirty="0"/>
          </a:p>
        </p:txBody>
      </p:sp>
      <p:sp>
        <p:nvSpPr>
          <p:cNvPr id="15" name="Text 13"/>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1997년 LSTM의 설계 논리</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문제 분석과 architecture, learning rule이 하나의 연쇄를 이룬다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Repeated products</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Long-range error가 사라지거나 폭발</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CEC</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Fixed self-connection으로 내부 factor를 1에 고정</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Two gates</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Write와 read conflict를 분리</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Truncation</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CEC 밖 recurrent gradient를 중단</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Synthetic evidence</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천 단계 이상 lag와 연속값 task를 시험</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LSTM의 original contribution은 cell 모양만이 아니라 error path를 설계한 전체 방법이다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author-pdf pp. 3-8; pp. 13-23</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원 논문을 정확히 설명하는 문장</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Mechanism, learning condition, historical boundary를 한 번에 포함한다</a:t>
            </a:r>
            <a:endParaRPr lang="en-US" sz="19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5979160"/>
                <a:gridCol w="489204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정확한 설명</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피해야 할 단순화</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CEC는 truncated rule 아래에서 length-independent internal error path를 만든다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gradient가 언제나 constant다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Input gate는 write, output gate는 exposure를 제어한다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Gate가 모든 vanishing gradient를 해결한다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1997년 cell은 fixed self-path를 사용한다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Original cell에 forget gate가 있다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Synthetic tasks에서 long lag 학습을 보였다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Modern sequence task 전반의 우월성을 증명했다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CEC, 두 gate, truncation을 함께 말해야 1997년 LSTM을 정확히 설명할 수 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author-pdf pp. 5-8; pp. 22-23; odyssey p. 3</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Long Short-Term Memory (1997): 긴 지연을 건너는 기억</dc:title>
  <dc:subject>Long Short-Term Memory</dc:subject>
  <dc:creator>Research Seminars</dc:creator>
  <cp:lastModifiedBy>Research Seminars</cp:lastModifiedBy>
  <cp:revision>1</cp:revision>
  <dcterms:created xsi:type="dcterms:W3CDTF">2026-09-12T04:42:06Z</dcterms:created>
  <dcterms:modified xsi:type="dcterms:W3CDTF">2026-09-12T04:42:06Z</dcterms:modified>
</cp:coreProperties>
</file>
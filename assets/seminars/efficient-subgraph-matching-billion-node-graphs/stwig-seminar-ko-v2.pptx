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Billion-node 그래프의 부분그래프 매칭
발표 대본
이 자료는 Sun 등(2012)의 단일 대형 라벨 그래프 부분그래프 매칭 시스템을 소개합니다. 핵심은 거대한 구조 인덱스를 만들지 않고, 작은 STwig 단위의 메모리 탐색과 필요한 join을 결합하는 것입니다.
공개 출처
paper | title, abstract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부분그래프 매칭의 입력과 출력
발표 대본
원문은 데이터 그래프 G=(V,E,T), 질의 q=(Vq,Eq,Tq)를 정의합니다. 매칭은 질의 정점과 결과 정점 사이의 bijection이 라벨과 질의 간선을 보존하는 경우입니다. 원문 Fig. 1의 질의에는 두 결과가 있습니다.
공개 출처
paper | p. 3, Definitions 1–2; Fig. 1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왜 billion-node 규모에서 기존 방식이 압박을 받는가
발표 대본
원문은 web-scale 그래프에서 고급 구조 인덱스의 공간과 구축 비용이 비현실적이라고 설명합니다. 이는 모든 인덱스가 불가능하다는 뜻이 아닙니다. 이 논문의 설계는 그래프 구조 인덱스 대신 라벨에서 노드 ID로 가는 string index만 사용합니다.
공개 출처
paper | pp. 1–2, §1.1–1.2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논문이 대비한 매칭 접근
발표 대본
이 표는 원문 Table 1과 §1.1의 설명을 교육용으로 압축한 것입니다. 각 방법의 복잡도는 데이터와 질의 모델에 따라 다릅니다. 여기서 이 논문의 차이는 그래프 구조를 미리 자세히 색인하지 않는 데 있습니다.
공개 출처
paper | pp. 1–2, Table 1 and §1.1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Trinity 위의 질의 경로
발표 대본
원문 Fig. 2는 client, query proxy, 여러 server, intermediate result 교환을 그립니다. Trinity는 partition, 저장, 메시지 전달을 사용자에게 투명하게 보이도록 제공합니다. 이 슬라이드는 그 논리 경로를 단순화한 것으로, proxy가 모든 join을 단독 수행한다고 주장하지 않습니다.
공개 출처
paper | pp. 3–4, §2.2 and Fig. 2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 join과 탐색은 서로 대체되지 않는다
발표 대본
원문 §3은 join-only 방식의 불필요한 중간 결과와 naive exploration의 반복 경로 탐색을 모두 지적합니다. 특히 cycle에서는 나중에 만난 정점이 시작 정점인지 검사해야 하며, 원문은 이를 join과 동등한 제약 확인으로 설명합니다.
공개 출처
paper | p. 4, §3 and Fig. 3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 STwig: 두 단계의 작은 질의 단위
발표 대본
원문 §4.1에서 STwig는 정확히 두 레벨의 트리입니다. Fig. 4(b)의 q1은 q1=(a,{b,c})입니다. STwig는 전체 질의를 보장하지 않으므로, 이후 바인딩과 join 단계가 필요합니다.
공개 출처
paper | p. 5, §4.1 and Fig. 4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MatchSTwig가 하는 세 번의 접근
발표 대본
Algorithm 1은 루트 라벨의 ID 집합을 얻고, 각 루트를 로드한 뒤, 자식 이웃의 라벨을 확인합니다. 원문의 의사코드는 각 자식 라벨에 대한 후보 집합의 곱으로 결과를 추가합니다. 실제 distributed execution에서 child label 확인은 원격 메모리 접근을 일으킬 수도 있습니다.
공개 출처
paper | pp. 5–6, Algorithm 1 and §4.3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 강의용 축약 추적: a-b-c 패턴
발표 대본
이 슬라이드는 원문 Fig. 1과 Algorithm 1을 따라 만든 교육용 축약 추적입니다. 실제 Fig. 1의 질의에는 a, b, c, d가 있으며 보고된 결과는 (a1,b1,c1,d1)와 (a2,b1,c1,d1)입니다. 여기서는 STwig의 국소 후보 생성만 보여 주기 위해 a-b-c 부분만 떼었습니다.
공개 출처
paper | p. 3, Fig. 1; p. 5, Algorithm 1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전체 매칭의 실행 흐름
발표 대본
원문 §4.2는 decomposition/order, exploration, join의 세 단계로 설명합니다. join을 탐색 순서대로 즉시 하지 않는 이유는 모든 pruned result를 본 뒤 더 작은 intermediate result를 만드는 join order를 선택하기 위해서입니다.
공개 출처
paper | pp. 5–6, §4.2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 바인딩 정보가 다음 탐색의 후보를 줄인다
발표 대본
원문 Fig. 5 예에서 q1 후 Ha={a1,a2,a3}, Hb={b1,b2,b3,b4}, Hc={c1,c2,c3}를 얻습니다. 원문은 G(q1)가 Ha x Hb x Hc와 같지 않다고 명시합니다. 다음 STwig의 root가 이미 bound라면 Index.getID를 다시 호출하지 않고 그 바인딩 집합을 root 후보로 사용합니다.
공개 출처
paper | p. 6, §4.2 and Fig. 5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join은 남기되, 순서와 메모리 사용을 조절한다
발표 대본
원문 §4.2는 sample-based join cost estimation과 cost-based join order selection을 적용한다고 설명합니다. 중간 결과가 여전히 큰 질의에서는 block-based pipeline join을 써서 각 STwig의 result 일부만 참여시키며, available memory가 block size를 제어합니다.
공개 출처
paper | p. 6, §4.2 Join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 분산 실행에서 탐색과 결합의 역할
발표 대본
원문 §4.3에서 query decomposition and STwig ordering은 병렬화하지 않으며 proxy가 계획을 broadcast합니다. 각 machine은 STwig matching을 병렬 수행합니다. 그러나 각 machine은 다른 machine의 결과와 join해야 할 수 있어, load set 선택이 핵심입니다.
공개 출처
paper | pp. 6–7, §4.3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헤드 STwig가 중복 없는 결과의 기준점이 된다
발표 대본
원문은 헤드 STwig qh에 대해 Fk,h=empty로 두며 Rk(qh)=Gk(qh)라고 설명합니다. data graph partition이 disjoint이므로 헤드 매칭이 다른 답은 다른 결과가 됩니다. 원문은 homomorphic answers를 서로 다른 answer로 간주한다는 조건도 덧붙입니다.
공개 출처
paper | p. 7, §4.3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STwig cover 수를 줄이는 이유
발표 대본
원문 Problem 1은 각 질의 간선이 정확히 하나의 STwig에 속하는 STwig cover를 정의합니다. Theorem 1은 minimum STwig cover가 minimum vertex cover와 polynomial equivalent라고 보입니다. 따라서 최적 cover 탐색은 NP-hard이며 원문은 2-approximation을 출발점으로 사용합니다.
공개 출처
paper | p. 7, §5.1, Problem 1 and Theorem 1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16. Algorithm 2는 cover와 실행 순서를 함께 만든다
발표 대본
원문 Algorithm 2의 f(v)는 deg(v)/freq(v.label)입니다. 이미 고른 부분에 이어지는 간선을 선택하는 규칙은 후속 STwig의 root가 앞 STwig의 leaf로 bound되도록 합니다. Theorem 2는 생성 STwig 수가 optimal cover의 두 배 이하임을 보입니다. 원문은 이 알고리즘의 시간 복잡도를 O(n^2 log n)으로 제시합니다.
공개 출처
paper | p. 8, Algorithm 2 and Theorem 2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 클러스터 그래프로 원격 로드 범위를 줄인다
발표 대본
원문 §5.3은 query-specific Gq를 실제 materialize할 필요가 없다고 말합니다. preprocessing 때 서버 쌍마다 가능한 label pair를 기록하고, query edge마다 이를 lookup하여 cluster graph를 만듭니다. Theorem 4의 식은 Fk,t={j | DC(k,j) &lt;= d(rs,rt)}입니다.
공개 출처
paper | pp. 8–9, §5.3 and Theorem 4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헤드 STwig 선택은 통신 반경을 줄이는 문제
발표 대본
Theorem 5는 head STwig qs의 통신 비용 T(s)를 각 서버 k에서 거리 d(s) 이내 서버 수의 합으로 정의합니다. 저자들은 T(s)를 줄이기 위해 d(s)를 최소화합니다. 여기서 m은 데이터 그래프 크기가 아니라 subgraph pattern q의 vertex 수입니다.
공개 출처
paper | p. 9, Theorem 5 and §5.3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실험 조건을 결과와 함께 읽기
발표 대본
원문은 real-data experiment에 cluster 1, synthetic experiment에 cluster 2를 사용합니다. US Patents는 3,774,768 nodes와 16,522,438 edges, WordNet은 82,670 nodes와 133,445 edges입니다. 각 data graph에서 100 queries의 평균 실행 시간을 기록했고 pipeline join에서는 1,024 matches가 발견되면 종료합니다.
공개 출처
paper | pp. 9–10, §6.1–6.3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실제 데이터에서 보고된 경향
발표 대본
원문의 설명은 query 형태별 관찰입니다. DFS query는 random start node에서 DFS로 생성해 첫 N nodes를 보존했고, random query는 N nodes에 E edges를 추가한 뒤 connected graph가 되도록 spanning tree를 만들었습니다. Fig. 9의 1–8 machine speedup은 real-data cluster 1에서의 결과입니다.
공개 출처
paper | pp. 10–11, Figs. 8–9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 합성 그래프 결과의 조건부 읽기
발표 대본
원문 Table 2에서는 graph loading 시간이 1B nodes에서 266초, 4,096M nodes에서 689초입니다. 이는 query response time이 아닙니다. Fig. 10(a)는 average degree 16을 고정한 graph-size experiment이며, 저자들은 total node count보다 STwig number와 size가 query time에 더 직접적이라고 해석합니다.
공개 출처
paper | pp. 10–11, Table 2 and Fig. 10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 이 논문의 설계상 차별점
발표 대본
이 비교는 원문 §§3–5의 설계를 묶어 설명합니다. 논문은 graph exploration만을 주장하지 않고, join을 skeleton으로 남기며 exploration으로 useless candidates를 피한다고 밝힙니다. 따라서 ‘join-free algorithm’이라고 부르면 부정확합니다.
공개 출처
paper | pp. 4–9, §§3–5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 해석할 때 남겨야 할 한계
발표 대본
원문은 §3에서 naive exploration이 join보다 비쌀 수 있는 경우와 둘 다 잘못될 수 있는 경우를 보입니다. 결론에서는 trillion-scale graph, system speedup, query throughput, response-time bounds, transmitted data의 추가 실험을 future work로 언급합니다.
공개 출처
paper | p. 4, §3; p. 12, §8
Efficient Subgraph Matching on Billion Node Graphs, PVLDB 2012
https://www.vldb.org/pvldb/vol5/p788_zhaosun_vldb2012.pdf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한 장으로 다시 보는 STwig 매칭
발표 대본
마무리에서는 구조 index를 포기하는 대신 라벨 index, 메모리 기반 graph exploration, STwig decomposition, binding information, join ordering, load set selection을 함께 사용한다는 점을 연결합니다. 이 조합이 2012년 논문이 제시한 web-scale matching의 설계입니다.
공개 출처
paper | pp. 3–12, §§2–8
Efficient Subgraph Matching on Billion Node Graphs, PVLDB 2012
https://www.vldb.org/pvldb/vol5/p788_zhaosun_vldb2012.pdf
doi | article record
DOI: 10.14778/2311906.2311907
https://doi.org/10.14778/2311906.2311907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215900" cy="6858000"/>
          </a:xfrm>
          <a:prstGeom prst="rect">
            <a:avLst/>
          </a:prstGeom>
          <a:solidFill>
            <a:srgbClr val="0D685C"/>
          </a:solidFill>
          <a:ln w="12700">
            <a:solidFill>
              <a:srgbClr val="0D685C">
                <a:alpha val="0"/>
              </a:srgbClr>
            </a:solidFill>
            <a:prstDash val="solid"/>
          </a:ln>
        </p:spPr>
        <p:txBody>
          <a:bodyPr/>
          <a:lstStyle/>
          <a:p>
            <a:endParaRPr lang="ko-KR"/>
          </a:p>
        </p:txBody>
      </p:sp>
      <p:sp>
        <p:nvSpPr>
          <p:cNvPr id="3" name="Text 1"/>
          <p:cNvSpPr txBox="1"/>
          <p:nvPr/>
        </p:nvSpPr>
        <p:spPr>
          <a:xfrm>
            <a:off x="889000" y="889000"/>
            <a:ext cx="8763000" cy="1346200"/>
          </a:xfrm>
          <a:prstGeom prst="rect">
            <a:avLst/>
          </a:prstGeom>
          <a:noFill/>
          <a:ln/>
        </p:spPr>
        <p:txBody>
          <a:bodyPr wrap="square" lIns="0" tIns="0" rIns="0" bIns="0" rtlCol="0" anchor="t"/>
          <a:lstStyle/>
          <a:p>
            <a:pPr algn="l" indent="0" marL="0">
              <a:lnSpc>
                <a:spcPct val="115000"/>
              </a:lnSpc>
              <a:buNone/>
            </a:pPr>
            <a:r>
              <a:rPr lang="en-US" sz="4000" b="1" dirty="0">
                <a:solidFill>
                  <a:srgbClr val="0D685C"/>
                </a:solidFill>
                <a:latin typeface="AppleGothic" pitchFamily="34" charset="0"/>
                <a:ea typeface="AppleGothic" pitchFamily="34" charset="-122"/>
                <a:cs typeface="AppleGothic" pitchFamily="34" charset="-120"/>
              </a:rPr>
              <a:t>Billion-node 그래프의 부분그래프 매칭</a:t>
            </a:r>
            <a:endParaRPr lang="en-US" sz="4000" dirty="0"/>
          </a:p>
        </p:txBody>
      </p:sp>
      <p:sp>
        <p:nvSpPr>
          <p:cNvPr id="4" name="Text 2"/>
          <p:cNvSpPr txBox="1"/>
          <p:nvPr/>
        </p:nvSpPr>
        <p:spPr>
          <a:xfrm>
            <a:off x="889000" y="2413000"/>
            <a:ext cx="9652000" cy="1333500"/>
          </a:xfrm>
          <a:prstGeom prst="rect">
            <a:avLst/>
          </a:prstGeom>
          <a:noFill/>
          <a:ln/>
        </p:spPr>
        <p:txBody>
          <a:bodyPr wrap="square" lIns="0" tIns="0" rIns="0" bIns="0" rtlCol="0" anchor="t"/>
          <a:lstStyle/>
          <a:p>
            <a:pPr algn="l" indent="0" marL="0">
              <a:lnSpc>
                <a:spcPct val="125000"/>
              </a:lnSpc>
              <a:buNone/>
            </a:pPr>
            <a:r>
              <a:rPr lang="en-US" sz="2200" dirty="0">
                <a:solidFill>
                  <a:srgbClr val="173C37"/>
                </a:solidFill>
                <a:latin typeface="AppleGothic" pitchFamily="34" charset="0"/>
                <a:ea typeface="AppleGothic" pitchFamily="34" charset="-122"/>
                <a:cs typeface="AppleGothic" pitchFamily="34" charset="-120"/>
              </a:rPr>
              <a:t>Efficient Subgraph Matching on Billion Node Graphs</a:t>
            </a:r>
            <a:endParaRPr lang="en-US" sz="2200" dirty="0"/>
          </a:p>
        </p:txBody>
      </p:sp>
      <p:sp>
        <p:nvSpPr>
          <p:cNvPr id="5" name="Shape 3"/>
          <p:cNvSpPr/>
          <p:nvPr/>
        </p:nvSpPr>
        <p:spPr>
          <a:xfrm>
            <a:off x="889000" y="4076700"/>
            <a:ext cx="96520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89000" y="4368800"/>
            <a:ext cx="9652000" cy="685800"/>
          </a:xfrm>
          <a:prstGeom prst="rect">
            <a:avLst/>
          </a:prstGeom>
          <a:noFill/>
          <a:ln/>
        </p:spPr>
        <p:txBody>
          <a:bodyPr wrap="square" lIns="0" tIns="0" rIns="0" bIns="0" rtlCol="0" anchor="t"/>
          <a:lstStyle/>
          <a:p>
            <a:pPr algn="l" indent="0" marL="0">
              <a:lnSpc>
                <a:spcPct val="125000"/>
              </a:lnSpc>
              <a:buNone/>
            </a:pPr>
            <a:r>
              <a:rPr lang="en-US" sz="1750" dirty="0">
                <a:solidFill>
                  <a:srgbClr val="5E6D69"/>
                </a:solidFill>
                <a:latin typeface="AppleGothic" pitchFamily="34" charset="0"/>
                <a:ea typeface="AppleGothic" pitchFamily="34" charset="-122"/>
                <a:cs typeface="AppleGothic" pitchFamily="34" charset="-120"/>
              </a:rPr>
              <a:t>Zhao Sun, Hongzhi Wang, Haixun Wang, Bin Shao, Jianzhong Li (2012)</a:t>
            </a:r>
            <a:endParaRPr lang="en-US" sz="1750" dirty="0"/>
          </a:p>
        </p:txBody>
      </p:sp>
      <p:sp>
        <p:nvSpPr>
          <p:cNvPr id="7" name="Text 5"/>
          <p:cNvSpPr txBox="1"/>
          <p:nvPr/>
        </p:nvSpPr>
        <p:spPr>
          <a:xfrm>
            <a:off x="889000" y="5245100"/>
            <a:ext cx="9652000" cy="571500"/>
          </a:xfrm>
          <a:prstGeom prst="rect">
            <a:avLst/>
          </a:prstGeom>
          <a:noFill/>
          <a:ln/>
        </p:spPr>
        <p:txBody>
          <a:bodyPr wrap="square" lIns="0" tIns="0" rIns="0" bIns="0" rtlCol="0" anchor="t"/>
          <a:lstStyle/>
          <a:p>
            <a:pPr algn="l" indent="0" marL="0">
              <a:lnSpc>
                <a:spcPct val="125000"/>
              </a:lnSpc>
              <a:buNone/>
            </a:pPr>
            <a:r>
              <a:rPr lang="en-US" sz="1750" dirty="0">
                <a:solidFill>
                  <a:srgbClr val="0D685C"/>
                </a:solidFill>
                <a:latin typeface="AppleGothic" pitchFamily="34" charset="0"/>
                <a:ea typeface="AppleGothic" pitchFamily="34" charset="-122"/>
                <a:cs typeface="AppleGothic" pitchFamily="34" charset="-120"/>
              </a:rPr>
              <a:t>STwig 분해, 메모리 기반 탐색, 분산 join 최적화</a:t>
            </a:r>
            <a:endParaRPr lang="en-US" sz="1750" dirty="0"/>
          </a:p>
        </p:txBody>
      </p:sp>
      <p:sp>
        <p:nvSpPr>
          <p:cNvPr id="8" name="Shape 6"/>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9" name="Text 7"/>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title, abstract</a:t>
            </a:r>
            <a:endParaRPr lang="en-US" sz="1050" dirty="0"/>
          </a:p>
        </p:txBody>
      </p:sp>
      <p:sp>
        <p:nvSpPr>
          <p:cNvPr id="10" name="Text 8"/>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부분그래프 매칭의 입력과 출력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라벨이 있는 질의 그래프의 모든 발생 위치를 큰 데이터 그래프에서 찾는다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데이터 그래프 G</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정점, 간선, 정점 라벨로 구성</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 그래프 q</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필요한 라벨과 간선 관계를 지정</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대응 f</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질의 정점을 데이터 정점에 일대일 대응</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매칭 결과</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라벨과 질의 간선을 모두 보존한 부분그래프</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이 논문은 하나의 매우 큰 그래프 안에서 부분그래프 매칭을 다룬다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Definitions 1–2; Fig. 1</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왜 billion-node 규모에서 기존 방식이 압박을 받는가</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질의마다 빠르게 찾기 위한 준비 작업이 그래프보다 더 커지거나 더 오래 걸릴 수 있다</a:t>
            </a:r>
            <a:endParaRPr lang="en-US" sz="1900" dirty="0"/>
          </a:p>
        </p:txBody>
      </p:sp>
      <p:sp>
        <p:nvSpPr>
          <p:cNvPr id="4" name="Text 2"/>
          <p:cNvSpPr txBox="1"/>
          <p:nvPr/>
        </p:nvSpPr>
        <p:spPr>
          <a:xfrm>
            <a:off x="838200" y="21717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그래프 탐색은 이웃으로의 임의 접근을 반복하므로 접근 지역성이 낮다</a:t>
            </a:r>
            <a:endParaRPr lang="en-US" sz="2000" dirty="0"/>
          </a:p>
        </p:txBody>
      </p:sp>
      <p:sp>
        <p:nvSpPr>
          <p:cNvPr id="5" name="Shape 3"/>
          <p:cNvSpPr/>
          <p:nvPr/>
        </p:nvSpPr>
        <p:spPr>
          <a:xfrm>
            <a:off x="838200" y="29083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9464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단일 장비 RAM에는 매우 큰 그래프를 모두 올리기 어렵다</a:t>
            </a:r>
            <a:endParaRPr lang="en-US" sz="2000" dirty="0"/>
          </a:p>
        </p:txBody>
      </p:sp>
      <p:sp>
        <p:nvSpPr>
          <p:cNvPr id="7" name="Shape 5"/>
          <p:cNvSpPr/>
          <p:nvPr/>
        </p:nvSpPr>
        <p:spPr>
          <a:xfrm>
            <a:off x="838200" y="36830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7211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2-hop 같은 구조 인덱스는 초선형 공간이나 구축 시간을 요구할 수 있다</a:t>
            </a:r>
            <a:endParaRPr lang="en-US" sz="2000" dirty="0"/>
          </a:p>
        </p:txBody>
      </p:sp>
      <p:sp>
        <p:nvSpPr>
          <p:cNvPr id="9" name="Shape 7"/>
          <p:cNvSpPr/>
          <p:nvPr/>
        </p:nvSpPr>
        <p:spPr>
          <a:xfrm>
            <a:off x="838200" y="44577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495800"/>
            <a:ext cx="10693400" cy="6858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간선 단위 분해 뒤의 multi-way join은 중간 결과를 크게 만들 수 있다</a:t>
            </a:r>
            <a:endParaRPr lang="en-US" sz="2000" dirty="0"/>
          </a:p>
        </p:txBody>
      </p:sp>
      <p:sp>
        <p:nvSpPr>
          <p:cNvPr id="11" name="Shape 9"/>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2" name="Text 10"/>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논문은 질의 실행 시간을 줄이는 구조 인덱스 자체가 규모의 병목이 될 수 있다고 본다</a:t>
            </a:r>
            <a:endParaRPr lang="en-US" sz="1750" dirty="0"/>
          </a:p>
        </p:txBody>
      </p:sp>
      <p:sp>
        <p:nvSpPr>
          <p:cNvPr id="13" name="Shape 11"/>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4" name="Text 12"/>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§1.1–1.2</a:t>
            </a:r>
            <a:endParaRPr lang="en-US" sz="1050" dirty="0"/>
          </a:p>
        </p:txBody>
      </p:sp>
      <p:sp>
        <p:nvSpPr>
          <p:cNvPr id="15" name="Text 13"/>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논문이 대비한 매칭 접근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Table 1의 분류는 방법의 절대적 서열이 아니라 billion-node 조건에서의 설계 부담을 보여준다</a:t>
            </a:r>
            <a:endParaRPr lang="en-US" sz="1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2174240"/>
                <a:gridCol w="2609088"/>
                <a:gridCol w="3043936"/>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접근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준비 구조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병목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논문의 관점</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무인덱스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별도 구조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탐색 공간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그래프 실험 중심</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간선 인덱스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edge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다수 join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표현 가능한 질의도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빈발 부분그래프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pattern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발굴·저장 비용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 편향에 민감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도달성·이웃 인덱스</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2-hop·반경 구조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초선형 구축·공간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web-scale에 부담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 논문</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라벨→ID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탐색·필요 join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RAM 분산 탐색으로 보완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1–2, Table 1 and §1.1</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Trinity 위의 질의 경로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proxy가 계획을 만들고, 메모리 클러스터의 서버들이 탐색·결합을 나눠 수행한다</a:t>
            </a:r>
            <a:endParaRPr lang="en-US" sz="1900" dirty="0"/>
          </a:p>
        </p:txBody>
      </p:sp>
      <p:sp>
        <p:nvSpPr>
          <p:cNvPr id="4" name="mechanism-lane-request"/>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질의 실행</a:t>
            </a:r>
            <a:endParaRPr lang="en-US" sz="1250" dirty="0"/>
          </a:p>
        </p:txBody>
      </p:sp>
      <p:sp>
        <p:nvSpPr>
          <p:cNvPr id="5" name="mechanism-edge-query-proxy-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proxy-srv-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srv-result-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query"/>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클라이언트 질의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라벨과 간선으로 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부분그래프 패턴</a:t>
            </a:r>
            <a:endParaRPr lang="en-US" sz="1150" dirty="0"/>
          </a:p>
        </p:txBody>
      </p:sp>
      <p:sp>
        <p:nvSpPr>
          <p:cNvPr id="9" name="mechanism-node-proxy"/>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Query proxy</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STwig 분해와 순서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계획을 서버에 전파</a:t>
            </a:r>
            <a:endParaRPr lang="en-US" sz="1150" dirty="0"/>
          </a:p>
        </p:txBody>
      </p:sp>
      <p:sp>
        <p:nvSpPr>
          <p:cNvPr id="10" name="mechanism-node-servers"/>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Trinity 서버</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RAM partition에서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STwig를 병렬 탐색</a:t>
            </a:r>
            <a:endParaRPr lang="en-US" sz="1150" dirty="0"/>
          </a:p>
        </p:txBody>
      </p:sp>
      <p:sp>
        <p:nvSpPr>
          <p:cNvPr id="11" name="mechanism-node-resul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결과 집계</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필요한 중간 결과를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join하여 응답</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통합 주소 공간처럼 보이지만, 실제 데이터와 중간 결과는 여러 장비의 RAM에 나뉘어 있다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3–4, §2.2 and Fig. 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join과 탐색은 서로 대체되지 않는다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논문은 join을 완전히 없애기보다, 탐색으로 후보를 줄이고 필요한 join을 남긴다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질의 패턴</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라벨 제약과 간선 제약</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간선별 join</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공통 정점으로 부분 결과 결합</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그래프 탐색</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현재 매칭의 이웃을 직접 확인</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STwig 기반 실행</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후보 탐색과 결합 제약 처리</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부분그래프 매칭</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필요한 join 뒤 유효한 결과 반환</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 and Fig. 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STwig: 두 단계의 작은 질의 단위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STwig q=(r,L)는 루트 라벨 r과 자식 라벨 집합 L로 표현한다</a:t>
            </a:r>
            <a:endParaRPr lang="en-US" sz="1900" dirty="0"/>
          </a:p>
        </p:txBody>
      </p:sp>
      <p:sp>
        <p:nvSpPr>
          <p:cNvPr id="4" name="Text 2"/>
          <p:cNvSpPr txBox="1"/>
          <p:nvPr/>
        </p:nvSpPr>
        <p:spPr>
          <a:xfrm>
            <a:off x="660400" y="210820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루트 라벨 r</a:t>
            </a:r>
            <a:endParaRPr lang="en-US" sz="1900" dirty="0"/>
          </a:p>
        </p:txBody>
      </p:sp>
      <p:sp>
        <p:nvSpPr>
          <p:cNvPr id="6" name="Text 4"/>
          <p:cNvSpPr txBox="1"/>
          <p:nvPr/>
        </p:nvSpPr>
        <p:spPr>
          <a:xfrm>
            <a:off x="4152900" y="210820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예: a 라벨을 가진 데이터 정점 후보</a:t>
            </a:r>
            <a:endParaRPr lang="en-US" sz="1650" dirty="0"/>
          </a:p>
        </p:txBody>
      </p:sp>
      <p:sp>
        <p:nvSpPr>
          <p:cNvPr id="7" name="Shape 5"/>
          <p:cNvSpPr/>
          <p:nvPr/>
        </p:nvSpPr>
        <p:spPr>
          <a:xfrm>
            <a:off x="1397000" y="2784475"/>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79717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97497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97497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자식 라벨 L</a:t>
            </a:r>
            <a:endParaRPr lang="en-US" sz="1900" dirty="0"/>
          </a:p>
        </p:txBody>
      </p:sp>
      <p:sp>
        <p:nvSpPr>
          <p:cNvPr id="11" name="Text 9"/>
          <p:cNvSpPr txBox="1"/>
          <p:nvPr/>
        </p:nvSpPr>
        <p:spPr>
          <a:xfrm>
            <a:off x="4152900" y="297497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예: b와 c 라벨 이웃이 필요한지 지정</a:t>
            </a:r>
            <a:endParaRPr lang="en-US" sz="1650" dirty="0"/>
          </a:p>
        </p:txBody>
      </p:sp>
      <p:sp>
        <p:nvSpPr>
          <p:cNvPr id="12" name="Shape 10"/>
          <p:cNvSpPr/>
          <p:nvPr/>
        </p:nvSpPr>
        <p:spPr>
          <a:xfrm>
            <a:off x="1397000" y="365125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66395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841750"/>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841750"/>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국소 접근</a:t>
            </a:r>
            <a:endParaRPr lang="en-US" sz="1900" dirty="0"/>
          </a:p>
        </p:txBody>
      </p:sp>
      <p:sp>
        <p:nvSpPr>
          <p:cNvPr id="16" name="Text 14"/>
          <p:cNvSpPr txBox="1"/>
          <p:nvPr/>
        </p:nvSpPr>
        <p:spPr>
          <a:xfrm>
            <a:off x="4152900" y="3841750"/>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루트의 이웃만 읽어 자식 라벨을 확인</a:t>
            </a:r>
            <a:endParaRPr lang="en-US" sz="1650" dirty="0"/>
          </a:p>
        </p:txBody>
      </p:sp>
      <p:sp>
        <p:nvSpPr>
          <p:cNvPr id="17" name="Shape 15"/>
          <p:cNvSpPr/>
          <p:nvPr/>
        </p:nvSpPr>
        <p:spPr>
          <a:xfrm>
            <a:off x="1397000" y="4518025"/>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530725"/>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708525"/>
            <a:ext cx="571500" cy="663575"/>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708525"/>
            <a:ext cx="2603500" cy="663575"/>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STwig 결과</a:t>
            </a:r>
            <a:endParaRPr lang="en-US" sz="1900" dirty="0"/>
          </a:p>
        </p:txBody>
      </p:sp>
      <p:sp>
        <p:nvSpPr>
          <p:cNvPr id="21" name="Text 19"/>
          <p:cNvSpPr txBox="1"/>
          <p:nvPr/>
        </p:nvSpPr>
        <p:spPr>
          <a:xfrm>
            <a:off x="4152900" y="4708525"/>
            <a:ext cx="7378700" cy="663575"/>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조건을 만족하는 루트·자식 조합을 반환</a:t>
            </a:r>
            <a:endParaRPr lang="en-US" sz="1650" dirty="0"/>
          </a:p>
        </p:txBody>
      </p:sp>
      <p:sp>
        <p:nvSpPr>
          <p:cNvPr id="22" name="Shape 20"/>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4" name="Text 2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STwig는 큰 구조 인덱스 대신 메모리에서 바로 검사할 수 있도록 의도적으로 작게 잡은 단위다</a:t>
            </a:r>
            <a:endParaRPr lang="en-US" sz="175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5, §4.1 and Fig. 4</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MatchSTwig가 하는 세 번의 접근</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전체 그래프를 스캔하지 않고 라벨 후보에서 시작해 이웃 라벨을 확인한다</a:t>
            </a:r>
            <a:endParaRPr lang="en-US" sz="1900" dirty="0"/>
          </a:p>
        </p:txBody>
      </p:sp>
      <p:sp>
        <p:nvSpPr>
          <p:cNvPr id="4" name="mechanism-lane-match"/>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STwig</a:t>
            </a:r>
            <a:endParaRPr lang="en-US" sz="1250" dirty="0"/>
          </a:p>
        </p:txBody>
      </p:sp>
      <p:sp>
        <p:nvSpPr>
          <p:cNvPr id="5" name="mechanism-edge-label-load-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load-filter-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filter-emit-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label"/>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Index.getID(r)</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루트 라벨 r의</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로컬 후보 ID 조회</a:t>
            </a:r>
            <a:endParaRPr lang="en-US" sz="1150" dirty="0"/>
          </a:p>
        </p:txBody>
      </p:sp>
      <p:sp>
        <p:nvSpPr>
          <p:cNvPr id="9" name="mechanism-node-load"/>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Cloud.Load(n)</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루트 n의 이웃 ID를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메모리에서 읽음</a:t>
            </a:r>
            <a:endParaRPr lang="en-US" sz="1150" dirty="0"/>
          </a:p>
        </p:txBody>
      </p:sp>
      <p:sp>
        <p:nvSpPr>
          <p:cNvPr id="10" name="mechanism-node-filter"/>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Index.hasLabel</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이웃이 필요한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자식 라벨인지 확인</a:t>
            </a:r>
            <a:endParaRPr lang="en-US" sz="1150" dirty="0"/>
          </a:p>
        </p:txBody>
      </p:sp>
      <p:sp>
        <p:nvSpPr>
          <p:cNvPr id="11" name="mechanism-node-emi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STwig 조합</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루트와 라벨별 자식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후보 조합을 기록</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라벨→ID index는 이웃 구조를 미리 저장하는 graph-structure index와 다르다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Algorithm 1 and §4.3</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강의용 축약 추적: a-b-c 패턴</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원문 Fig. 1의 라벨을 사용해 STwig 후보와 전체 매칭의 차이를 분리해 본다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a가 b와 c에 연결된 패턴</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a 후보</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라벨 index가 a1, a2를 찾는다</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이웃 검사</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a 후보에서 b·c 라벨 이웃을 찾는다</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부분 결과</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a-b-c 조합이 STwig 후보가 된다</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전체 확인</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남은 질의 간선과 정점 제약을 결합해 확인</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STwig 후보 뒤에는 바인딩과 join이 필요하다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3, Fig. 1; p. 5, Algorithm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전체 매칭의 실행 흐름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작은 STwig를 독립적으로 모두 join하지 않고, 앞 단계의 정보를 다음 탐색에 전달한다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분해와 순서</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질의를 STwig cover로 나누고 실행 순서를 정함</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순서 탐색</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앞 STwig의 바인딩으로 다음 후보를 제한</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부분 결과</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STwig에서 pruning된 결과를 유지</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join 순서 선택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작은 중간 결과부터 결합하도록 순서를 정함</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최종 결과</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서버의 결과를 합쳐 질의 응답을 만듦</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탐색 단계는 join 전에 후보 공간을 줄이고, join 단계는 남은 전역 제약을 해결한다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5–6, §4.2</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바인딩 정보가 다음 탐색의 후보를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앞 STwig가 매칭한 데이터 정점 집합을 보존해 다음 STwig의 루트나 자식을 제한한다</a:t>
            </a:r>
            <a:endParaRPr lang="en-US" sz="1900" dirty="0"/>
          </a:p>
        </p:txBody>
      </p:sp>
      <p:sp>
        <p:nvSpPr>
          <p:cNvPr id="4" name="mechanism-lane-binding"/>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순서 탐색</a:t>
            </a:r>
            <a:endParaRPr lang="en-US" sz="1250" dirty="0"/>
          </a:p>
        </p:txBody>
      </p:sp>
      <p:sp>
        <p:nvSpPr>
          <p:cNvPr id="5" name="mechanism-edge-first-sets-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sets-next-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next-pruned-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first"/>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첫 STwig q1</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a-b-c를 매칭해</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Ha, Hb, Hc를 얻음</a:t>
            </a:r>
            <a:endParaRPr lang="en-US" sz="1150" dirty="0"/>
          </a:p>
        </p:txBody>
      </p:sp>
      <p:sp>
        <p:nvSpPr>
          <p:cNvPr id="9" name="mechanism-node-sets"/>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바인딩 집합</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각 질의 라벨에</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가능한 데이터 정점 저장</a:t>
            </a:r>
            <a:endParaRPr lang="en-US" sz="1150" dirty="0"/>
          </a:p>
        </p:txBody>
      </p:sp>
      <p:sp>
        <p:nvSpPr>
          <p:cNvPr id="10" name="mechanism-node-next"/>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다음 STwig</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bound root는</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label lookup을 건너뜀</a:t>
            </a:r>
            <a:endParaRPr lang="en-US" sz="1150" dirty="0"/>
          </a:p>
        </p:txBody>
      </p:sp>
      <p:sp>
        <p:nvSpPr>
          <p:cNvPr id="11" name="mechanism-node-pruned"/>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pruned 결과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제약에 맞지 않는</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이웃 후보를 일찍 제거</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바인딩 집합은 답의 곱이 아니라 다음 검사의 후보 범위다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§4.2 and Fig. 5</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join은 남기되, 순서와 메모리 사용을 조절한다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탐색 뒤에도 남는 STwig 결과는 join해야 하며, 중간 결과가 커질 수 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pruned 결과 수집</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STwig의 탐색 결과 G(qi)를 모음</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join 비용 추정</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partial result 통계로 결합 순서를 선택</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block 분할</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STwig 결과 일부만 한 라운드에 참여</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pipeline join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전체 multi-way join 전에도 부분 결과를 생성</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메모리 제어</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사용 가능한 메모리로 block 크기를 조절</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pipeline join은 중간 결과의 동시 메모리 점유를 제한한다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6, §4.2 Join</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분산 실행에서 탐색과 결합의 역할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분해·순서는 proxy가 정하고, 각 서버는 자신의 partition에서 탐색한 뒤 필요한 결과를 교환한다</a:t>
            </a:r>
            <a:endParaRPr lang="en-US" sz="1900" dirty="0"/>
          </a:p>
        </p:txBody>
      </p:sp>
      <p:sp>
        <p:nvSpPr>
          <p:cNvPr id="4" name="Shape 2"/>
          <p:cNvSpPr/>
          <p:nvPr/>
        </p:nvSpPr>
        <p:spPr>
          <a:xfrm>
            <a:off x="6096000" y="2705100"/>
            <a:ext cx="0" cy="190500"/>
          </a:xfrm>
          <a:prstGeom prst="line">
            <a:avLst/>
          </a:prstGeom>
          <a:noFill/>
          <a:ln w="12700">
            <a:solidFill>
              <a:srgbClr val="0D685C"/>
            </a:solidFill>
            <a:prstDash val="solid"/>
            <a:headEnd type="none"/>
            <a:tailEnd type="none"/>
          </a:ln>
        </p:spPr>
        <p:txBody>
          <a:bodyPr/>
          <a:lstStyle/>
          <a:p>
            <a:endParaRPr lang="ko-KR"/>
          </a:p>
        </p:txBody>
      </p:sp>
      <p:sp>
        <p:nvSpPr>
          <p:cNvPr id="5" name="Shape 3"/>
          <p:cNvSpPr/>
          <p:nvPr/>
        </p:nvSpPr>
        <p:spPr>
          <a:xfrm>
            <a:off x="3302000" y="2895600"/>
            <a:ext cx="5588000" cy="0"/>
          </a:xfrm>
          <a:prstGeom prst="line">
            <a:avLst/>
          </a:prstGeom>
          <a:noFill/>
          <a:ln w="12700">
            <a:solidFill>
              <a:srgbClr val="0D685C"/>
            </a:solidFill>
            <a:prstDash val="solid"/>
            <a:headEnd type="none"/>
            <a:tailEnd type="none"/>
          </a:ln>
        </p:spPr>
        <p:txBody>
          <a:bodyPr/>
          <a:lstStyle/>
          <a:p>
            <a:endParaRPr lang="ko-KR"/>
          </a:p>
        </p:txBody>
      </p:sp>
      <p:sp>
        <p:nvSpPr>
          <p:cNvPr id="6" name="Shape 4"/>
          <p:cNvSpPr/>
          <p:nvPr/>
        </p:nvSpPr>
        <p:spPr>
          <a:xfrm>
            <a:off x="3302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7" name="Shape 5"/>
          <p:cNvSpPr/>
          <p:nvPr/>
        </p:nvSpPr>
        <p:spPr>
          <a:xfrm>
            <a:off x="8890000" y="2895600"/>
            <a:ext cx="0" cy="355600"/>
          </a:xfrm>
          <a:prstGeom prst="line">
            <a:avLst/>
          </a:prstGeom>
          <a:noFill/>
          <a:ln w="12700">
            <a:solidFill>
              <a:srgbClr val="0D685C"/>
            </a:solidFill>
            <a:prstDash val="solid"/>
            <a:headEnd type="none"/>
            <a:tailEnd type="triangle"/>
          </a:ln>
        </p:spPr>
        <p:txBody>
          <a:bodyPr/>
          <a:lstStyle/>
          <a:p>
            <a:endParaRPr lang="ko-KR"/>
          </a:p>
        </p:txBody>
      </p:sp>
      <p:sp>
        <p:nvSpPr>
          <p:cNvPr id="8" name="Shape 6"/>
          <p:cNvSpPr/>
          <p:nvPr/>
        </p:nvSpPr>
        <p:spPr>
          <a:xfrm>
            <a:off x="3302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9" name="Shape 7"/>
          <p:cNvSpPr/>
          <p:nvPr/>
        </p:nvSpPr>
        <p:spPr>
          <a:xfrm>
            <a:off x="3302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0" name="Shape 8"/>
          <p:cNvSpPr/>
          <p:nvPr/>
        </p:nvSpPr>
        <p:spPr>
          <a:xfrm>
            <a:off x="8890000" y="3962400"/>
            <a:ext cx="0" cy="254000"/>
          </a:xfrm>
          <a:prstGeom prst="line">
            <a:avLst/>
          </a:prstGeom>
          <a:noFill/>
          <a:ln w="12700">
            <a:solidFill>
              <a:srgbClr val="0D685C"/>
            </a:solidFill>
            <a:prstDash val="solid"/>
            <a:headEnd type="none"/>
            <a:tailEnd type="none"/>
          </a:ln>
        </p:spPr>
        <p:txBody>
          <a:bodyPr/>
          <a:lstStyle/>
          <a:p>
            <a:endParaRPr lang="ko-KR"/>
          </a:p>
        </p:txBody>
      </p:sp>
      <p:sp>
        <p:nvSpPr>
          <p:cNvPr id="11" name="Shape 9"/>
          <p:cNvSpPr/>
          <p:nvPr/>
        </p:nvSpPr>
        <p:spPr>
          <a:xfrm>
            <a:off x="6731000" y="4216400"/>
            <a:ext cx="2159000" cy="0"/>
          </a:xfrm>
          <a:prstGeom prst="line">
            <a:avLst/>
          </a:prstGeom>
          <a:noFill/>
          <a:ln w="12700">
            <a:solidFill>
              <a:srgbClr val="0D685C"/>
            </a:solidFill>
            <a:prstDash val="solid"/>
            <a:headEnd type="none"/>
            <a:tailEnd type="none"/>
          </a:ln>
        </p:spPr>
        <p:txBody>
          <a:bodyPr/>
          <a:lstStyle/>
          <a:p>
            <a:endParaRPr lang="ko-KR"/>
          </a:p>
        </p:txBody>
      </p:sp>
      <p:sp>
        <p:nvSpPr>
          <p:cNvPr id="12" name="Shape 10"/>
          <p:cNvSpPr/>
          <p:nvPr/>
        </p:nvSpPr>
        <p:spPr>
          <a:xfrm>
            <a:off x="546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3" name="Shape 11"/>
          <p:cNvSpPr/>
          <p:nvPr/>
        </p:nvSpPr>
        <p:spPr>
          <a:xfrm>
            <a:off x="6731000" y="4216400"/>
            <a:ext cx="0" cy="254000"/>
          </a:xfrm>
          <a:prstGeom prst="line">
            <a:avLst/>
          </a:prstGeom>
          <a:noFill/>
          <a:ln w="12700">
            <a:solidFill>
              <a:srgbClr val="0D685C"/>
            </a:solidFill>
            <a:prstDash val="solid"/>
            <a:headEnd type="none"/>
            <a:tailEnd type="triangle"/>
          </a:ln>
        </p:spPr>
        <p:txBody>
          <a:bodyPr/>
          <a:lstStyle/>
          <a:p>
            <a:endParaRPr lang="ko-KR"/>
          </a:p>
        </p:txBody>
      </p:sp>
      <p:sp>
        <p:nvSpPr>
          <p:cNvPr id="14" name="Shape 12"/>
          <p:cNvSpPr/>
          <p:nvPr/>
        </p:nvSpPr>
        <p:spPr>
          <a:xfrm>
            <a:off x="6096000" y="5181600"/>
            <a:ext cx="0" cy="330200"/>
          </a:xfrm>
          <a:prstGeom prst="line">
            <a:avLst/>
          </a:prstGeom>
          <a:noFill/>
          <a:ln w="12700">
            <a:solidFill>
              <a:srgbClr val="0D685C"/>
            </a:solidFill>
            <a:prstDash val="solid"/>
            <a:headEnd type="none"/>
            <a:tailEnd type="triangle"/>
          </a:ln>
        </p:spPr>
        <p:txBody>
          <a:bodyPr/>
          <a:lstStyle/>
          <a:p>
            <a:endParaRPr lang="ko-KR"/>
          </a:p>
        </p:txBody>
      </p:sp>
      <p:sp>
        <p:nvSpPr>
          <p:cNvPr id="15" name="Text 13"/>
          <p:cNvSpPr txBox="1"/>
          <p:nvPr/>
        </p:nvSpPr>
        <p:spPr>
          <a:xfrm>
            <a:off x="4191000" y="21082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STwig 실행 계획</a:t>
            </a:r>
            <a:endParaRPr lang="en-US" sz="1750" dirty="0"/>
          </a:p>
        </p:txBody>
      </p:sp>
      <p:sp>
        <p:nvSpPr>
          <p:cNvPr id="16" name="Text 14"/>
          <p:cNvSpPr txBox="1"/>
          <p:nvPr/>
        </p:nvSpPr>
        <p:spPr>
          <a:xfrm>
            <a:off x="4191000" y="23876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proxy가 분해·순서를 전파</a:t>
            </a:r>
            <a:endParaRPr lang="en-US" sz="1500" dirty="0"/>
          </a:p>
        </p:txBody>
      </p:sp>
      <p:sp>
        <p:nvSpPr>
          <p:cNvPr id="17" name="Text 15"/>
          <p:cNvSpPr txBox="1"/>
          <p:nvPr/>
        </p:nvSpPr>
        <p:spPr>
          <a:xfrm>
            <a:off x="1270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서버 k의 탐색</a:t>
            </a:r>
            <a:endParaRPr lang="en-US" sz="1750" dirty="0"/>
          </a:p>
        </p:txBody>
      </p:sp>
      <p:sp>
        <p:nvSpPr>
          <p:cNvPr id="18" name="Text 16"/>
          <p:cNvSpPr txBox="1"/>
          <p:nvPr/>
        </p:nvSpPr>
        <p:spPr>
          <a:xfrm>
            <a:off x="1270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local root 조회와 이웃 로드</a:t>
            </a:r>
            <a:endParaRPr lang="en-US" sz="1500" dirty="0"/>
          </a:p>
        </p:txBody>
      </p:sp>
      <p:sp>
        <p:nvSpPr>
          <p:cNvPr id="19" name="Text 17"/>
          <p:cNvSpPr txBox="1"/>
          <p:nvPr/>
        </p:nvSpPr>
        <p:spPr>
          <a:xfrm>
            <a:off x="6858000" y="3352800"/>
            <a:ext cx="4064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원격 결과 로드</a:t>
            </a:r>
            <a:endParaRPr lang="en-US" sz="1750" dirty="0"/>
          </a:p>
        </p:txBody>
      </p:sp>
      <p:sp>
        <p:nvSpPr>
          <p:cNvPr id="20" name="Text 18"/>
          <p:cNvSpPr txBox="1"/>
          <p:nvPr/>
        </p:nvSpPr>
        <p:spPr>
          <a:xfrm>
            <a:off x="6858000" y="3632200"/>
            <a:ext cx="4064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join에 필요한 STwig 결과 요청</a:t>
            </a:r>
            <a:endParaRPr lang="en-US" sz="1500" dirty="0"/>
          </a:p>
        </p:txBody>
      </p:sp>
      <p:sp>
        <p:nvSpPr>
          <p:cNvPr id="21" name="Text 19"/>
          <p:cNvSpPr txBox="1"/>
          <p:nvPr/>
        </p:nvSpPr>
        <p:spPr>
          <a:xfrm>
            <a:off x="4191000" y="45720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서버 k의 join</a:t>
            </a:r>
            <a:endParaRPr lang="en-US" sz="1750" dirty="0"/>
          </a:p>
        </p:txBody>
      </p:sp>
      <p:sp>
        <p:nvSpPr>
          <p:cNvPr id="22" name="Text 20"/>
          <p:cNvSpPr txBox="1"/>
          <p:nvPr/>
        </p:nvSpPr>
        <p:spPr>
          <a:xfrm>
            <a:off x="4191000" y="4851400"/>
            <a:ext cx="3810000" cy="3175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로드 집합 결과를 선택 순서로 결합</a:t>
            </a:r>
            <a:endParaRPr lang="en-US" sz="1500" dirty="0"/>
          </a:p>
        </p:txBody>
      </p:sp>
      <p:sp>
        <p:nvSpPr>
          <p:cNvPr id="23" name="Text 21"/>
          <p:cNvSpPr txBox="1"/>
          <p:nvPr/>
        </p:nvSpPr>
        <p:spPr>
          <a:xfrm>
            <a:off x="4191000" y="5613400"/>
            <a:ext cx="3810000" cy="266700"/>
          </a:xfrm>
          <a:prstGeom prst="rect">
            <a:avLst/>
          </a:prstGeom>
          <a:noFill/>
          <a:ln/>
        </p:spPr>
        <p:txBody>
          <a:bodyPr wrap="square" lIns="0" tIns="0" rIns="0" bIns="0" rtlCol="0" anchor="ctr"/>
          <a:lstStyle/>
          <a:p>
            <a:pPr algn="ctr" indent="0" marL="0">
              <a:lnSpc>
                <a:spcPct val="125000"/>
              </a:lnSpc>
              <a:buNone/>
            </a:pPr>
            <a:r>
              <a:rPr lang="en-US" sz="1750" b="1" dirty="0">
                <a:solidFill>
                  <a:srgbClr val="0D685C"/>
                </a:solidFill>
                <a:latin typeface="AppleGothic" pitchFamily="34" charset="0"/>
                <a:ea typeface="AppleGothic" pitchFamily="34" charset="-122"/>
                <a:cs typeface="AppleGothic" pitchFamily="34" charset="-120"/>
              </a:rPr>
              <a:t>클러스터 결과</a:t>
            </a:r>
            <a:endParaRPr lang="en-US" sz="1750" dirty="0"/>
          </a:p>
        </p:txBody>
      </p:sp>
      <p:sp>
        <p:nvSpPr>
          <p:cNvPr id="24" name="Text 22"/>
          <p:cNvSpPr txBox="1"/>
          <p:nvPr/>
        </p:nvSpPr>
        <p:spPr>
          <a:xfrm>
            <a:off x="4191000" y="5892800"/>
            <a:ext cx="3810000" cy="266700"/>
          </a:xfrm>
          <a:prstGeom prst="rect">
            <a:avLst/>
          </a:prstGeom>
          <a:noFill/>
          <a:ln/>
        </p:spPr>
        <p:txBody>
          <a:bodyPr wrap="square" lIns="0" tIns="0" rIns="0" bIns="0" rtlCol="0" anchor="ctr"/>
          <a:lstStyle/>
          <a:p>
            <a:pPr algn="ctr" indent="0" marL="0">
              <a:lnSpc>
                <a:spcPct val="125000"/>
              </a:lnSpc>
              <a:buNone/>
            </a:pPr>
            <a:r>
              <a:rPr lang="en-US" sz="1500" dirty="0">
                <a:solidFill>
                  <a:srgbClr val="173C37"/>
                </a:solidFill>
                <a:latin typeface="AppleGothic" pitchFamily="34" charset="0"/>
                <a:ea typeface="AppleGothic" pitchFamily="34" charset="-122"/>
                <a:cs typeface="AppleGothic" pitchFamily="34" charset="-120"/>
              </a:rPr>
              <a:t>서버별 결과를 union하여 응답</a:t>
            </a:r>
            <a:endParaRPr lang="en-US" sz="1500" dirty="0"/>
          </a:p>
        </p:txBody>
      </p:sp>
      <p:sp>
        <p:nvSpPr>
          <p:cNvPr id="25" name="Shape 2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26" name="Text 2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6–7, §4.3</a:t>
            </a:r>
            <a:endParaRPr lang="en-US" sz="1050" dirty="0"/>
          </a:p>
        </p:txBody>
      </p:sp>
      <p:sp>
        <p:nvSpPr>
          <p:cNvPr id="27" name="Text 2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헤드 STwig가 중복 없는 결과의 기준점이 된다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각 서버가 헤드 STwig는 로컬 결과만 사용하도록 고정한다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헤드 qs 선택</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분해된 STwig 하나를 기준으로 정함</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로컬 헤드 결과</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서버 k에서 Gk(qs)만 사용</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서버 partition</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데이터 partition이 서로 겹치지 않음</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서버별 최종 결과</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서로 다른 헤드 매칭을 anchor로 삼음</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union</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원문 모델에서는 별도 deduplication 없이 합침</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중복 회피는 local head anchor와 disjoint partition에 따른다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§4.3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STwig cover 수를 줄이는 이유</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STwig가 많아질수록 join과 원격 중간 결과 교환이 늘어날 수 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 간선</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모든 질의 간선을 한 번씩 덮어야 함</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STwig cover</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간선을 정확히 한 STwig에 배정</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최소 cover</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STwig 수와 잠재 join 수를 줄이려 함</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난해성</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minimum vertex cover와 다항식 동치</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근사</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논문은 2-근사 cover를 사용</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2-근사는 STwig cover의 크기에 대한 보장이지, 질의 전체 실행 시간의 2배 보장이 아니다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7, §5.1, Problem 1 and Theorem 1</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Algorithm 2는 cover와 실행 순서를 함께 만든다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이미 선택된 간선에 연결되고 selectivity가 높은 간선을 우선해 다음 루트를 가능한 한 bound 상태로 만든다</a:t>
            </a:r>
            <a:endParaRPr lang="en-US" sz="1900" dirty="0"/>
          </a:p>
        </p:txBody>
      </p:sp>
      <p:sp>
        <p:nvSpPr>
          <p:cNvPr id="4" name="mechanism-lane-order"/>
          <p:cNvSpPr txBox="1"/>
          <p:nvPr/>
        </p:nvSpPr>
        <p:spPr>
          <a:xfrm>
            <a:off x="660400" y="2209800"/>
            <a:ext cx="863600" cy="3124200"/>
          </a:xfrm>
          <a:prstGeom prst="rect">
            <a:avLst/>
          </a:prstGeom>
          <a:noFill/>
          <a:ln/>
        </p:spPr>
        <p:txBody>
          <a:bodyPr wrap="square" lIns="0" tIns="0" rIns="0" bIns="0" rtlCol="0" anchor="ctr"/>
          <a:lstStyle/>
          <a:p>
            <a:pPr algn="ctr" indent="0" marL="0">
              <a:lnSpc>
                <a:spcPct val="120000"/>
              </a:lnSpc>
              <a:buNone/>
            </a:pPr>
            <a:r>
              <a:rPr lang="en-US" sz="1250" b="1" dirty="0">
                <a:solidFill>
                  <a:srgbClr val="0D685C"/>
                </a:solidFill>
                <a:latin typeface="AppleGothic" pitchFamily="34" charset="0"/>
                <a:ea typeface="AppleGothic" pitchFamily="34" charset="-122"/>
                <a:cs typeface="AppleGothic" pitchFamily="34" charset="-120"/>
              </a:rPr>
              <a:t>STwig order</a:t>
            </a:r>
            <a:endParaRPr lang="en-US" sz="1250" dirty="0"/>
          </a:p>
        </p:txBody>
      </p:sp>
      <p:sp>
        <p:nvSpPr>
          <p:cNvPr id="5" name="mechanism-edge-score-edge-segment-1"/>
          <p:cNvSpPr/>
          <p:nvPr/>
        </p:nvSpPr>
        <p:spPr>
          <a:xfrm>
            <a:off x="38100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6" name="mechanism-edge-edge-twigs-segment-1"/>
          <p:cNvSpPr/>
          <p:nvPr/>
        </p:nvSpPr>
        <p:spPr>
          <a:xfrm>
            <a:off x="63627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7" name="mechanism-edge-twigs-order-segment-1"/>
          <p:cNvSpPr/>
          <p:nvPr/>
        </p:nvSpPr>
        <p:spPr>
          <a:xfrm>
            <a:off x="8915400" y="3771900"/>
            <a:ext cx="482600" cy="0"/>
          </a:xfrm>
          <a:prstGeom prst="line">
            <a:avLst/>
          </a:prstGeom>
          <a:noFill/>
          <a:ln w="12700">
            <a:solidFill>
              <a:srgbClr val="0D685C"/>
            </a:solidFill>
            <a:prstDash val="solid"/>
            <a:headEnd type="none"/>
            <a:tailEnd type="triangle"/>
          </a:ln>
        </p:spPr>
        <p:txBody>
          <a:bodyPr/>
          <a:lstStyle/>
          <a:p>
            <a:endParaRPr lang="ko-KR"/>
          </a:p>
        </p:txBody>
      </p:sp>
      <p:sp>
        <p:nvSpPr>
          <p:cNvPr id="8" name="mechanism-node-score"/>
          <p:cNvSpPr/>
          <p:nvPr/>
        </p:nvSpPr>
        <p:spPr>
          <a:xfrm>
            <a:off x="17399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f-value 계산</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degree와 label 빈도로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정점 순위를 매김</a:t>
            </a:r>
            <a:endParaRPr lang="en-US" sz="1150" dirty="0"/>
          </a:p>
        </p:txBody>
      </p:sp>
      <p:sp>
        <p:nvSpPr>
          <p:cNvPr id="9" name="mechanism-node-edge"/>
          <p:cNvSpPr/>
          <p:nvPr/>
        </p:nvSpPr>
        <p:spPr>
          <a:xfrm>
            <a:off x="42926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간선 선택</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큰 f 합을 고르고</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다음은 연결 간선 선택</a:t>
            </a:r>
            <a:endParaRPr lang="en-US" sz="1150" dirty="0"/>
          </a:p>
        </p:txBody>
      </p:sp>
      <p:sp>
        <p:nvSpPr>
          <p:cNvPr id="10" name="mechanism-node-twigs"/>
          <p:cNvSpPr/>
          <p:nvPr/>
        </p:nvSpPr>
        <p:spPr>
          <a:xfrm>
            <a:off x="68453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STwig 생성</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선택 간선에서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STwig를 만들고 제거</a:t>
            </a:r>
            <a:endParaRPr lang="en-US" sz="1150" dirty="0"/>
          </a:p>
        </p:txBody>
      </p:sp>
      <p:sp>
        <p:nvSpPr>
          <p:cNvPr id="11" name="mechanism-node-orderout"/>
          <p:cNvSpPr/>
          <p:nvPr/>
        </p:nvSpPr>
        <p:spPr>
          <a:xfrm>
            <a:off x="9398000" y="3441700"/>
            <a:ext cx="2070100" cy="660400"/>
          </a:xfrm>
          <a:prstGeom prst="roundRect">
            <a:avLst/>
          </a:prstGeom>
          <a:solidFill>
            <a:srgbClr val="E8F1EE"/>
          </a:solidFill>
          <a:ln>
            <a:solidFill>
              <a:srgbClr val="0D685C"/>
            </a:solidFill>
          </a:ln>
        </p:spPr>
        <p:txBody>
          <a:bodyPr wrap="square" lIns="50800" tIns="50800" rIns="50800" bIns="50800" rtlCol="0" anchor="ctr"/>
          <a:lstStyle/>
          <a:p>
            <a:pPr algn="ctr" indent="0" marL="0">
              <a:buNone/>
            </a:pPr>
            <a:r>
              <a:rPr lang="en-US" sz="1150" b="1" dirty="0">
                <a:solidFill>
                  <a:srgbClr val="0D685C"/>
                </a:solidFill>
                <a:latin typeface="AppleGothic" pitchFamily="34" charset="0"/>
                <a:ea typeface="AppleGothic" pitchFamily="34" charset="-122"/>
                <a:cs typeface="AppleGothic" pitchFamily="34" charset="-120"/>
              </a:rPr>
              <a:t>실행 순서</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후속 root를</a:t>
            </a:r>
            <a:endParaRPr lang="en-US" sz="1150" dirty="0"/>
          </a:p>
          <a:p>
            <a:pPr algn="ctr" indent="0" marL="0">
              <a:buNone/>
            </a:pPr>
            <a:r>
              <a:rPr lang="en-US" sz="1150" dirty="0">
                <a:solidFill>
                  <a:srgbClr val="173C37"/>
                </a:solidFill>
                <a:latin typeface="AppleGothic" pitchFamily="34" charset="0"/>
                <a:ea typeface="AppleGothic" pitchFamily="34" charset="-122"/>
                <a:cs typeface="AppleGothic" pitchFamily="34" charset="-120"/>
              </a:rPr>
              <a:t>bound 상태로 만듦</a:t>
            </a:r>
            <a:endParaRPr lang="en-US" sz="1150" dirty="0"/>
          </a:p>
        </p:txBody>
      </p:sp>
      <p:sp>
        <p:nvSpPr>
          <p:cNvPr id="12" name="Shape 10"/>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3" name="Text 11"/>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높은 f-value는 라벨이 드물고 연결 요구가 많은 쪽을 우선하려는 휴리스틱이다</a:t>
            </a:r>
            <a:endParaRPr lang="en-US" sz="1750" dirty="0"/>
          </a:p>
        </p:txBody>
      </p:sp>
      <p:sp>
        <p:nvSpPr>
          <p:cNvPr id="14" name="Shape 1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5" name="Text 1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8, Algorithm 2 and Theorem 2</a:t>
            </a:r>
            <a:endParaRPr lang="en-US" sz="1050" dirty="0"/>
          </a:p>
        </p:txBody>
      </p:sp>
      <p:sp>
        <p:nvSpPr>
          <p:cNvPr id="16" name="Text 1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클러스터 그래프로 원격 로드 범위를 줄인다</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모든 서버에서 모든 STwig 결과를 가져오지 않도록, 질의와 데이터 분포로 가능한 서버만 정한다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관련 그래프 Gq</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질의 간선과 맞지 않는 데이터 간선을 제외한 개념적 부분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클러스터 그래프 C</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서버가 정점, 관련 교차 partition 연결이 간선</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거리 DC</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서버 k와 j 사이의 최단 거리</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 거리 d</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헤드와 대상 STwig 루트 사이의 최단 거리</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로드 집합 Fk,t</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DC(k,j)가 d 이하인 서버 j만 요청</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load set은 서버별 라벨 쌍 기록을 lookup해 구성한다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8–9, §5.3 and Theorem 4</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17</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헤드 STwig 선택은 통신 반경을 줄이는 문제</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헤드의 루트가 다른 STwig 루트에서 멀수록 더 많은 서버가 로드 집합에 포함될 수 있다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STwig 후보 qi</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STwig의 루트 ri를 확인</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 최단거리</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질의 그래프에서 ri와 rj의 거리를 계산</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최대 반경 d(i)</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후보 i에서 다른 모든 루트까지의 최대 거리</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최소 후보 선택</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d(i)가 가장 작은 STwig를 head로 선택</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통신 비용</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원문 Eq. 2의 load-set 크기 합을 줄이는 방향</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head 선택은 질의 내 거리로 통신 반경을 줄인다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9, Theorem 5 and §5.3</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18</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실험 조건을 결과와 함께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논문의 수치는 2012년 Trinity 구현과 특정 데이터·쿼리·클러스터 조건에서 얻었다</a:t>
            </a:r>
            <a:endParaRPr lang="en-US" sz="19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1956816"/>
                <a:gridCol w="2935224"/>
                <a:gridCol w="2935224"/>
                <a:gridCol w="304393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항목</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실제 데이터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합성 데이터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해석 경계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클러스터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8대, 각 32 GB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12대, 각 48 GB RAM</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서로 다른 cluster</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그래프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US Patents, WordNet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R-MAT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workload 아님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데이터별 100개 평균</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DFS·random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pipeline은 1,024 match 뒤 종료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기본값</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라벨 집합 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64M nodes, degree 64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조건을 고정해 변수별 비교</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 .NET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C# / .NET 4</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현대 하드웨어 일반화 불가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9–10, §6.1–6.3</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19</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실제 데이터에서 보고된 경향</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8–9는 query 생성 방식과 서버 수가 runtime에 미치는 영향을 별도로 보여준다</a:t>
            </a:r>
            <a:endParaRPr lang="en-US" sz="1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3043936"/>
                <a:gridCol w="3696208"/>
                <a:gridCol w="4131056"/>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조건</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원문의 해석</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DFS 질의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3–10개 노드, Patents·WordNet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STwig·join 증가와 pruning 효과가 함께 나타남</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random 질의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5–15개 노드, 간선 수 2N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대체로 query 노드 수에 거의 선형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간선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10–20개 간선 실험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STwig·join 수가 크게 늘지 않아 영향이 작았음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서버 수</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동일 질의를 1–8대에서 실행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runtime은 감소했지만 network·sync로 sub-linear speedup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성능은 질의 형태와 라벨 밀도, 중간 결과를 함께 봐야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10–11, Figs. 8–9</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20</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합성 그래프 결과의 조건부 읽기</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Fig. 10은 한 변수를 바꾸고 나머지를 고정한 synthetic R-MAT 실험이다</a:t>
            </a:r>
            <a:endParaRPr lang="en-US" sz="19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314700"/>
        </p:xfrm>
        <a:graphic>
          <a:graphicData uri="http://schemas.openxmlformats.org/drawingml/2006/table">
            <a:tbl>
              <a:tblPr/>
              <a:tblGrid>
                <a:gridCol w="2609088"/>
                <a:gridCol w="3913632"/>
                <a:gridCol w="4348480"/>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변수</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고정 또는 범위</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보고된 관찰</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그래프 크기</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1M–4,096M nodes, degree 16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응답 시간 약 400–1,800 ms, 명확한 비례 관계 없음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노드 수(밀도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node count 변화, density 고정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degree 증가와 함께 runtime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평균 degree</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5–65 범위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이웃 접근과 중간 결과가 늘어 runtime 증가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70485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라벨 밀도</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10^-5–10^-1</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라벨 후보가 줄수록 runtime 감소</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6" name="Text 3"/>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논문의 ‘sub-linear’ 관찰은 제시된 R-MAT 파라미터와 질의 workload 안에서 읽어야 한다</a:t>
            </a:r>
            <a:endParaRPr lang="en-US" sz="1750" dirty="0"/>
          </a:p>
        </p:txBody>
      </p:sp>
      <p:sp>
        <p:nvSpPr>
          <p:cNvPr id="7" name="Shape 4"/>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8" name="Text 5"/>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10–11, Table 2 and Fig. 10</a:t>
            </a:r>
            <a:endParaRPr lang="en-US" sz="1050" dirty="0"/>
          </a:p>
        </p:txBody>
      </p:sp>
      <p:sp>
        <p:nvSpPr>
          <p:cNvPr id="9" name="Text 6"/>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21</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이 논문의 설계상 차별점</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차별점은 하나의 기법이 아니라, 가벼운 index와 탐색·join·통신 계획의 결합이다</a:t>
            </a:r>
            <a:endParaRPr lang="en-US" sz="19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60400" y="2082800"/>
          <a:ext cx="10871200" cy="3937000"/>
        </p:xfrm>
        <a:graphic>
          <a:graphicData uri="http://schemas.openxmlformats.org/drawingml/2006/table">
            <a:tbl>
              <a:tblPr/>
              <a:tblGrid>
                <a:gridCol w="3261360"/>
                <a:gridCol w="3587496"/>
                <a:gridCol w="4022344"/>
              </a:tblGrid>
              <a:tr h="495300">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설계 요소</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무엇을 피하는가</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c>
                  <a:txBody>
                    <a:bodyPr/>
                    <a:lstStyle/>
                    <a:p>
                      <a:pPr indent="0" marL="0">
                        <a:lnSpc>
                          <a:spcPct val="120000"/>
                        </a:lnSpc>
                        <a:buNone/>
                      </a:pPr>
                      <a:r>
                        <a:rPr lang="en-US" sz="1600" b="1" dirty="0">
                          <a:solidFill>
                            <a:srgbClr val="0D685C"/>
                          </a:solidFill>
                          <a:latin typeface="AppleGothic" pitchFamily="34" charset="0"/>
                          <a:ea typeface="AppleGothic" pitchFamily="34" charset="-122"/>
                          <a:cs typeface="AppleGothic" pitchFamily="34" charset="-120"/>
                        </a:rPr>
                        <a:t>대신 수행하는 일</a:t>
                      </a:r>
                      <a:endParaRPr lang="en-US" sz="160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12700" cap="flat" cmpd="sng" algn="ctr">
                      <a:solidFill>
                        <a:srgbClr val="0D685C"/>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구조 인덱스 미사용</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초선형 index 공간·구축</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라벨→ID lookup과 이웃 탐색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STwig 분해</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큰 pattern index</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작은 두 단계 단위의 후보 생성</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바인딩 기반 순서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불필요한 root lookup</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앞 결과로 다음 후보를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load set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전 서버 결과 broadcast</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질의·cluster 거리로 원격 요청 제한</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r h="688340">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pipeline join</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중간 결과의 한꺼번에 보관</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c>
                  <a:txBody>
                    <a:bodyPr/>
                    <a:lstStyle/>
                    <a:p>
                      <a:pPr indent="0" marL="0">
                        <a:lnSpc>
                          <a:spcPct val="120000"/>
                        </a:lnSpc>
                        <a:buNone/>
                      </a:pPr>
                      <a:r>
                        <a:rPr lang="en-US" sz="1550" dirty="0">
                          <a:solidFill>
                            <a:srgbClr val="173C37"/>
                          </a:solidFill>
                          <a:latin typeface="AppleGothic" pitchFamily="34" charset="0"/>
                          <a:ea typeface="AppleGothic" pitchFamily="34" charset="-122"/>
                          <a:cs typeface="AppleGothic" pitchFamily="34" charset="-120"/>
                        </a:rPr>
                        <a:t>block 단위로 join 진행</a:t>
                      </a:r>
                      <a:endParaRPr lang="en-US" sz="1550" dirty="0">
                        <a:latin typeface="AppleGothic" charset="0"/>
                        <a:ea typeface="AppleGothic" charset="0"/>
                        <a:cs typeface="AppleGothic" charset="0"/>
                      </a:endParaRPr>
                    </a:p>
                  </a:txBody>
                  <a:tcPr marL="100584" marR="100584" marT="54864" marB="54864" anchor="mid">
                    <a:lnL w="0" cap="flat" cmpd="sng" algn="ctr">
                      <a:solidFill>
                        <a:srgbClr val="FFFFFF"/>
                      </a:solidFill>
                      <a:prstDash val="solid"/>
                      <a:round/>
                      <a:headEnd type="none" w="med" len="med"/>
                      <a:tailEnd type="none" w="med" len="med"/>
                    </a:lnL>
                    <a:lnR w="0" cap="flat" cmpd="sng" algn="ctr">
                      <a:solidFill>
                        <a:srgbClr val="FFFFFF"/>
                      </a:solidFill>
                      <a:prstDash val="solid"/>
                      <a:round/>
                      <a:headEnd type="none" w="med" len="med"/>
                      <a:tailEnd type="none" w="med" len="med"/>
                    </a:lnR>
                    <a:lnT w="0" cap="flat" cmpd="sng" algn="ctr">
                      <a:solidFill>
                        <a:srgbClr val="FFFFFF"/>
                      </a:solidFill>
                      <a:prstDash val="solid"/>
                      <a:round/>
                      <a:headEnd type="none" w="med" len="med"/>
                      <a:tailEnd type="none" w="med" len="med"/>
                    </a:lnT>
                    <a:lnB w="6350" cap="flat" cmpd="sng" algn="ctr">
                      <a:solidFill>
                        <a:srgbClr val="C9D8D4"/>
                      </a:solidFill>
                      <a:prstDash val="solid"/>
                      <a:round/>
                      <a:headEnd type="none" w="med" len="med"/>
                      <a:tailEnd type="none" w="med" len="med"/>
                    </a:lnB>
                    <a:solidFill>
                      <a:srgbClr val="FFFFFF"/>
                    </a:solidFill>
                  </a:tcPr>
                </a:tc>
              </a:tr>
            </a:tbl>
          </a:graphicData>
        </a:graphic>
      </p:graphicFrame>
      <p:sp>
        <p:nvSpPr>
          <p:cNvPr id="5" name="Shape 2"/>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6" name="Text 3"/>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4–9, §§3–5</a:t>
            </a:r>
            <a:endParaRPr lang="en-US" sz="1050" dirty="0"/>
          </a:p>
        </p:txBody>
      </p:sp>
      <p:sp>
        <p:nvSpPr>
          <p:cNvPr id="7" name="Text 4"/>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해석할 때 남겨야 할 한계</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이 논문이 해결한 병목과 남아 있는 병목을 구분해야 한다</a:t>
            </a:r>
            <a:endParaRPr lang="en-US" sz="1900" dirty="0"/>
          </a:p>
        </p:txBody>
      </p:sp>
      <p:sp>
        <p:nvSpPr>
          <p:cNvPr id="4" name="Text 2"/>
          <p:cNvSpPr txBox="1"/>
          <p:nvPr/>
        </p:nvSpPr>
        <p:spPr>
          <a:xfrm>
            <a:off x="838200" y="21717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cycle과 전역 제약은 join 또는 동등한 결합 검사를 요구할 수 있다</a:t>
            </a:r>
            <a:endParaRPr lang="en-US" sz="2000" dirty="0"/>
          </a:p>
        </p:txBody>
      </p:sp>
      <p:sp>
        <p:nvSpPr>
          <p:cNvPr id="5" name="Shape 3"/>
          <p:cNvSpPr/>
          <p:nvPr/>
        </p:nvSpPr>
        <p:spPr>
          <a:xfrm>
            <a:off x="838200" y="2755900"/>
            <a:ext cx="10693400" cy="0"/>
          </a:xfrm>
          <a:prstGeom prst="line">
            <a:avLst/>
          </a:prstGeom>
          <a:noFill/>
          <a:ln w="12700">
            <a:solidFill>
              <a:srgbClr val="C9D8D4"/>
            </a:solidFill>
            <a:prstDash val="solid"/>
            <a:headEnd type="none"/>
            <a:tailEnd type="none"/>
          </a:ln>
        </p:spPr>
        <p:txBody>
          <a:bodyPr/>
          <a:lstStyle/>
          <a:p>
            <a:endParaRPr lang="ko-KR"/>
          </a:p>
        </p:txBody>
      </p:sp>
      <p:sp>
        <p:nvSpPr>
          <p:cNvPr id="6" name="Text 4"/>
          <p:cNvSpPr txBox="1"/>
          <p:nvPr/>
        </p:nvSpPr>
        <p:spPr>
          <a:xfrm>
            <a:off x="838200" y="27940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드문 라벨과 강한 바인딩이 없으면 STwig 후보와 중간 결과가 커질 수 있다</a:t>
            </a:r>
            <a:endParaRPr lang="en-US" sz="2000" dirty="0"/>
          </a:p>
        </p:txBody>
      </p:sp>
      <p:sp>
        <p:nvSpPr>
          <p:cNvPr id="7" name="Shape 5"/>
          <p:cNvSpPr/>
          <p:nvPr/>
        </p:nvSpPr>
        <p:spPr>
          <a:xfrm>
            <a:off x="838200" y="3378200"/>
            <a:ext cx="10693400" cy="0"/>
          </a:xfrm>
          <a:prstGeom prst="line">
            <a:avLst/>
          </a:prstGeom>
          <a:noFill/>
          <a:ln w="12700">
            <a:solidFill>
              <a:srgbClr val="C9D8D4"/>
            </a:solidFill>
            <a:prstDash val="solid"/>
            <a:headEnd type="none"/>
            <a:tailEnd type="none"/>
          </a:ln>
        </p:spPr>
        <p:txBody>
          <a:bodyPr/>
          <a:lstStyle/>
          <a:p>
            <a:endParaRPr lang="ko-KR"/>
          </a:p>
        </p:txBody>
      </p:sp>
      <p:sp>
        <p:nvSpPr>
          <p:cNvPr id="8" name="Text 6"/>
          <p:cNvSpPr txBox="1"/>
          <p:nvPr/>
        </p:nvSpPr>
        <p:spPr>
          <a:xfrm>
            <a:off x="838200" y="34163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2-근사 보장은 STwig cover 수에 관한 것이며 end-to-end latency 보장이 아니다</a:t>
            </a:r>
            <a:endParaRPr lang="en-US" sz="2000" dirty="0"/>
          </a:p>
        </p:txBody>
      </p:sp>
      <p:sp>
        <p:nvSpPr>
          <p:cNvPr id="9" name="Shape 7"/>
          <p:cNvSpPr/>
          <p:nvPr/>
        </p:nvSpPr>
        <p:spPr>
          <a:xfrm>
            <a:off x="838200" y="4000500"/>
            <a:ext cx="10693400" cy="0"/>
          </a:xfrm>
          <a:prstGeom prst="line">
            <a:avLst/>
          </a:prstGeom>
          <a:noFill/>
          <a:ln w="12700">
            <a:solidFill>
              <a:srgbClr val="C9D8D4"/>
            </a:solidFill>
            <a:prstDash val="solid"/>
            <a:headEnd type="none"/>
            <a:tailEnd type="none"/>
          </a:ln>
        </p:spPr>
        <p:txBody>
          <a:bodyPr/>
          <a:lstStyle/>
          <a:p>
            <a:endParaRPr lang="ko-KR"/>
          </a:p>
        </p:txBody>
      </p:sp>
      <p:sp>
        <p:nvSpPr>
          <p:cNvPr id="10" name="Text 8"/>
          <p:cNvSpPr txBox="1"/>
          <p:nvPr/>
        </p:nvSpPr>
        <p:spPr>
          <a:xfrm>
            <a:off x="838200" y="40386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결과는 Trinity 기반 2012년 hardware·network·workload 조건의 실험값이다</a:t>
            </a:r>
            <a:endParaRPr lang="en-US" sz="2000" dirty="0"/>
          </a:p>
        </p:txBody>
      </p:sp>
      <p:sp>
        <p:nvSpPr>
          <p:cNvPr id="11" name="Shape 9"/>
          <p:cNvSpPr/>
          <p:nvPr/>
        </p:nvSpPr>
        <p:spPr>
          <a:xfrm>
            <a:off x="838200" y="4622800"/>
            <a:ext cx="10693400" cy="0"/>
          </a:xfrm>
          <a:prstGeom prst="line">
            <a:avLst/>
          </a:prstGeom>
          <a:noFill/>
          <a:ln w="12700">
            <a:solidFill>
              <a:srgbClr val="C9D8D4"/>
            </a:solidFill>
            <a:prstDash val="solid"/>
            <a:headEnd type="none"/>
            <a:tailEnd type="none"/>
          </a:ln>
        </p:spPr>
        <p:txBody>
          <a:bodyPr/>
          <a:lstStyle/>
          <a:p>
            <a:endParaRPr lang="ko-KR"/>
          </a:p>
        </p:txBody>
      </p:sp>
      <p:sp>
        <p:nvSpPr>
          <p:cNvPr id="12" name="Text 10"/>
          <p:cNvSpPr txBox="1"/>
          <p:nvPr/>
        </p:nvSpPr>
        <p:spPr>
          <a:xfrm>
            <a:off x="838200" y="4660900"/>
            <a:ext cx="10693400" cy="533400"/>
          </a:xfrm>
          <a:prstGeom prst="rect">
            <a:avLst/>
          </a:prstGeom>
          <a:noFill/>
          <a:ln/>
        </p:spPr>
        <p:txBody>
          <a:bodyPr wrap="square" lIns="0" tIns="0" rIns="0" bIns="0" rtlCol="0" anchor="ctr"/>
          <a:lstStyle/>
          <a:p>
            <a:pPr algn="l" marL="254000" indent="-254000">
              <a:lnSpc>
                <a:spcPct val="125000"/>
              </a:lnSpc>
              <a:buSzPct val="100000"/>
              <a:buChar char="•"/>
            </a:pPr>
            <a:r>
              <a:rPr lang="en-US" sz="2000" dirty="0">
                <a:solidFill>
                  <a:srgbClr val="173C37"/>
                </a:solidFill>
                <a:latin typeface="AppleGothic" pitchFamily="34" charset="0"/>
                <a:ea typeface="AppleGothic" pitchFamily="34" charset="-122"/>
                <a:cs typeface="AppleGothic" pitchFamily="34" charset="-120"/>
              </a:rPr>
              <a:t>원문도 더 큰 graph, throughput, transmitted data 측정을 future work로 남겼다</a:t>
            </a:r>
            <a:endParaRPr lang="en-US" sz="2000" dirty="0"/>
          </a:p>
        </p:txBody>
      </p:sp>
      <p:sp>
        <p:nvSpPr>
          <p:cNvPr id="13" name="Shape 11"/>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14" name="Text 12"/>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빠른 메모리 이웃 접근과 작은 라벨 index가 이 설계의 전제다</a:t>
            </a:r>
            <a:endParaRPr lang="en-US" sz="1750" dirty="0"/>
          </a:p>
        </p:txBody>
      </p:sp>
      <p:sp>
        <p:nvSpPr>
          <p:cNvPr id="15" name="Shape 13"/>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16" name="Text 14"/>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 4, §3; p. 12, §8</a:t>
            </a:r>
            <a:endParaRPr lang="en-US" sz="1050" dirty="0"/>
          </a:p>
        </p:txBody>
      </p:sp>
      <p:sp>
        <p:nvSpPr>
          <p:cNvPr id="17" name="Text 15"/>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23</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60400" y="469900"/>
            <a:ext cx="10871200" cy="850900"/>
          </a:xfrm>
          <a:prstGeom prst="rect">
            <a:avLst/>
          </a:prstGeom>
          <a:noFill/>
          <a:ln/>
        </p:spPr>
        <p:txBody>
          <a:bodyPr wrap="square" lIns="0" tIns="0" rIns="0" bIns="0" rtlCol="0" anchor="t"/>
          <a:lstStyle/>
          <a:p>
            <a:pPr algn="l" indent="0" marL="0">
              <a:lnSpc>
                <a:spcPct val="125000"/>
              </a:lnSpc>
              <a:buNone/>
            </a:pPr>
            <a:r>
              <a:rPr lang="en-US" sz="3100" b="1" dirty="0">
                <a:solidFill>
                  <a:srgbClr val="173C37"/>
                </a:solidFill>
                <a:latin typeface="AppleGothic" pitchFamily="34" charset="0"/>
                <a:ea typeface="AppleGothic" pitchFamily="34" charset="-122"/>
                <a:cs typeface="AppleGothic" pitchFamily="34" charset="-120"/>
              </a:rPr>
              <a:t>한 장으로 다시 보는 STwig 매칭</a:t>
            </a:r>
            <a:endParaRPr lang="en-US" sz="3100" dirty="0"/>
          </a:p>
        </p:txBody>
      </p:sp>
      <p:sp>
        <p:nvSpPr>
          <p:cNvPr id="3" name="Text 1"/>
          <p:cNvSpPr txBox="1"/>
          <p:nvPr/>
        </p:nvSpPr>
        <p:spPr>
          <a:xfrm>
            <a:off x="660400" y="1333500"/>
            <a:ext cx="10871200" cy="647700"/>
          </a:xfrm>
          <a:prstGeom prst="rect">
            <a:avLst/>
          </a:prstGeom>
          <a:noFill/>
          <a:ln/>
        </p:spPr>
        <p:txBody>
          <a:bodyPr wrap="square" lIns="0" tIns="0" rIns="0" bIns="0" rtlCol="0" anchor="t"/>
          <a:lstStyle/>
          <a:p>
            <a:pPr algn="l" indent="0" marL="0">
              <a:lnSpc>
                <a:spcPct val="125000"/>
              </a:lnSpc>
              <a:buNone/>
            </a:pPr>
            <a:r>
              <a:rPr lang="en-US" sz="1900" dirty="0">
                <a:solidFill>
                  <a:srgbClr val="0D685C"/>
                </a:solidFill>
                <a:latin typeface="AppleGothic" pitchFamily="34" charset="0"/>
                <a:ea typeface="AppleGothic" pitchFamily="34" charset="-122"/>
                <a:cs typeface="AppleGothic" pitchFamily="34" charset="-120"/>
              </a:rPr>
              <a:t>거대 graph를 미리 세밀하게 index하지 않고, 질의 때 작은 단위로 탐색·제한·결합한다</a:t>
            </a:r>
            <a:endParaRPr lang="en-US" sz="1900" dirty="0"/>
          </a:p>
        </p:txBody>
      </p:sp>
      <p:sp>
        <p:nvSpPr>
          <p:cNvPr id="4" name="Text 2"/>
          <p:cNvSpPr txBox="1"/>
          <p:nvPr/>
        </p:nvSpPr>
        <p:spPr>
          <a:xfrm>
            <a:off x="660400" y="210820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01</a:t>
            </a:r>
            <a:endParaRPr lang="en-US" sz="2200" dirty="0"/>
          </a:p>
        </p:txBody>
      </p:sp>
      <p:sp>
        <p:nvSpPr>
          <p:cNvPr id="5" name="Text 3"/>
          <p:cNvSpPr txBox="1"/>
          <p:nvPr/>
        </p:nvSpPr>
        <p:spPr>
          <a:xfrm>
            <a:off x="1397000" y="210820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질의 입력</a:t>
            </a:r>
            <a:endParaRPr lang="en-US" sz="1900" dirty="0"/>
          </a:p>
        </p:txBody>
      </p:sp>
      <p:sp>
        <p:nvSpPr>
          <p:cNvPr id="6" name="Text 4"/>
          <p:cNvSpPr txBox="1"/>
          <p:nvPr/>
        </p:nvSpPr>
        <p:spPr>
          <a:xfrm>
            <a:off x="4152900" y="210820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라벨과 간선으로 부분그래프 패턴을 표현</a:t>
            </a:r>
            <a:endParaRPr lang="en-US" sz="1650" dirty="0"/>
          </a:p>
        </p:txBody>
      </p:sp>
      <p:sp>
        <p:nvSpPr>
          <p:cNvPr id="7" name="Shape 5"/>
          <p:cNvSpPr/>
          <p:nvPr/>
        </p:nvSpPr>
        <p:spPr>
          <a:xfrm>
            <a:off x="1397000" y="2611120"/>
            <a:ext cx="10134600" cy="0"/>
          </a:xfrm>
          <a:prstGeom prst="line">
            <a:avLst/>
          </a:prstGeom>
          <a:noFill/>
          <a:ln w="12700">
            <a:solidFill>
              <a:srgbClr val="C9D8D4"/>
            </a:solidFill>
            <a:prstDash val="solid"/>
            <a:headEnd type="none"/>
            <a:tailEnd type="none"/>
          </a:ln>
        </p:spPr>
        <p:txBody>
          <a:bodyPr/>
          <a:lstStyle/>
          <a:p>
            <a:endParaRPr lang="ko-KR"/>
          </a:p>
        </p:txBody>
      </p:sp>
      <p:sp>
        <p:nvSpPr>
          <p:cNvPr id="8" name="Shape 6"/>
          <p:cNvSpPr/>
          <p:nvPr/>
        </p:nvSpPr>
        <p:spPr>
          <a:xfrm>
            <a:off x="850900" y="262382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9" name="Text 7"/>
          <p:cNvSpPr txBox="1"/>
          <p:nvPr/>
        </p:nvSpPr>
        <p:spPr>
          <a:xfrm>
            <a:off x="660400" y="280162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02</a:t>
            </a:r>
            <a:endParaRPr lang="en-US" sz="2200" dirty="0"/>
          </a:p>
        </p:txBody>
      </p:sp>
      <p:sp>
        <p:nvSpPr>
          <p:cNvPr id="10" name="Text 8"/>
          <p:cNvSpPr txBox="1"/>
          <p:nvPr/>
        </p:nvSpPr>
        <p:spPr>
          <a:xfrm>
            <a:off x="1397000" y="280162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STwig 계획</a:t>
            </a:r>
            <a:endParaRPr lang="en-US" sz="1900" dirty="0"/>
          </a:p>
        </p:txBody>
      </p:sp>
      <p:sp>
        <p:nvSpPr>
          <p:cNvPr id="11" name="Text 9"/>
          <p:cNvSpPr txBox="1"/>
          <p:nvPr/>
        </p:nvSpPr>
        <p:spPr>
          <a:xfrm>
            <a:off x="4152900" y="280162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cover·순서·head를 정해 탐색 범위를 설계</a:t>
            </a:r>
            <a:endParaRPr lang="en-US" sz="1650" dirty="0"/>
          </a:p>
        </p:txBody>
      </p:sp>
      <p:sp>
        <p:nvSpPr>
          <p:cNvPr id="12" name="Shape 10"/>
          <p:cNvSpPr/>
          <p:nvPr/>
        </p:nvSpPr>
        <p:spPr>
          <a:xfrm>
            <a:off x="1397000" y="3304540"/>
            <a:ext cx="10134600" cy="0"/>
          </a:xfrm>
          <a:prstGeom prst="line">
            <a:avLst/>
          </a:prstGeom>
          <a:noFill/>
          <a:ln w="12700">
            <a:solidFill>
              <a:srgbClr val="C9D8D4"/>
            </a:solidFill>
            <a:prstDash val="solid"/>
            <a:headEnd type="none"/>
            <a:tailEnd type="none"/>
          </a:ln>
        </p:spPr>
        <p:txBody>
          <a:bodyPr/>
          <a:lstStyle/>
          <a:p>
            <a:endParaRPr lang="ko-KR"/>
          </a:p>
        </p:txBody>
      </p:sp>
      <p:sp>
        <p:nvSpPr>
          <p:cNvPr id="13" name="Shape 11"/>
          <p:cNvSpPr/>
          <p:nvPr/>
        </p:nvSpPr>
        <p:spPr>
          <a:xfrm>
            <a:off x="850900" y="331724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4" name="Text 12"/>
          <p:cNvSpPr txBox="1"/>
          <p:nvPr/>
        </p:nvSpPr>
        <p:spPr>
          <a:xfrm>
            <a:off x="660400" y="349504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03</a:t>
            </a:r>
            <a:endParaRPr lang="en-US" sz="2200" dirty="0"/>
          </a:p>
        </p:txBody>
      </p:sp>
      <p:sp>
        <p:nvSpPr>
          <p:cNvPr id="15" name="Text 13"/>
          <p:cNvSpPr txBox="1"/>
          <p:nvPr/>
        </p:nvSpPr>
        <p:spPr>
          <a:xfrm>
            <a:off x="1397000" y="349504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분산 탐색</a:t>
            </a:r>
            <a:endParaRPr lang="en-US" sz="1900" dirty="0"/>
          </a:p>
        </p:txBody>
      </p:sp>
      <p:sp>
        <p:nvSpPr>
          <p:cNvPr id="16" name="Text 14"/>
          <p:cNvSpPr txBox="1"/>
          <p:nvPr/>
        </p:nvSpPr>
        <p:spPr>
          <a:xfrm>
            <a:off x="4152900" y="349504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각 RAM partition에서 후보와 binding을 생성</a:t>
            </a:r>
            <a:endParaRPr lang="en-US" sz="1650" dirty="0"/>
          </a:p>
        </p:txBody>
      </p:sp>
      <p:sp>
        <p:nvSpPr>
          <p:cNvPr id="17" name="Shape 15"/>
          <p:cNvSpPr/>
          <p:nvPr/>
        </p:nvSpPr>
        <p:spPr>
          <a:xfrm>
            <a:off x="1397000" y="3997960"/>
            <a:ext cx="10134600" cy="0"/>
          </a:xfrm>
          <a:prstGeom prst="line">
            <a:avLst/>
          </a:prstGeom>
          <a:noFill/>
          <a:ln w="12700">
            <a:solidFill>
              <a:srgbClr val="C9D8D4"/>
            </a:solidFill>
            <a:prstDash val="solid"/>
            <a:headEnd type="none"/>
            <a:tailEnd type="none"/>
          </a:ln>
        </p:spPr>
        <p:txBody>
          <a:bodyPr/>
          <a:lstStyle/>
          <a:p>
            <a:endParaRPr lang="ko-KR"/>
          </a:p>
        </p:txBody>
      </p:sp>
      <p:sp>
        <p:nvSpPr>
          <p:cNvPr id="18" name="Shape 16"/>
          <p:cNvSpPr/>
          <p:nvPr/>
        </p:nvSpPr>
        <p:spPr>
          <a:xfrm>
            <a:off x="850900" y="401066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19" name="Text 17"/>
          <p:cNvSpPr txBox="1"/>
          <p:nvPr/>
        </p:nvSpPr>
        <p:spPr>
          <a:xfrm>
            <a:off x="660400" y="418846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04</a:t>
            </a:r>
            <a:endParaRPr lang="en-US" sz="2200" dirty="0"/>
          </a:p>
        </p:txBody>
      </p:sp>
      <p:sp>
        <p:nvSpPr>
          <p:cNvPr id="20" name="Text 18"/>
          <p:cNvSpPr txBox="1"/>
          <p:nvPr/>
        </p:nvSpPr>
        <p:spPr>
          <a:xfrm>
            <a:off x="1397000" y="418846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선별된 join</a:t>
            </a:r>
            <a:endParaRPr lang="en-US" sz="1900" dirty="0"/>
          </a:p>
        </p:txBody>
      </p:sp>
      <p:sp>
        <p:nvSpPr>
          <p:cNvPr id="21" name="Text 19"/>
          <p:cNvSpPr txBox="1"/>
          <p:nvPr/>
        </p:nvSpPr>
        <p:spPr>
          <a:xfrm>
            <a:off x="4152900" y="418846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load set과 join order로 남은 제약을 결합</a:t>
            </a:r>
            <a:endParaRPr lang="en-US" sz="1650" dirty="0"/>
          </a:p>
        </p:txBody>
      </p:sp>
      <p:sp>
        <p:nvSpPr>
          <p:cNvPr id="22" name="Shape 20"/>
          <p:cNvSpPr/>
          <p:nvPr/>
        </p:nvSpPr>
        <p:spPr>
          <a:xfrm>
            <a:off x="1397000" y="4691380"/>
            <a:ext cx="10134600" cy="0"/>
          </a:xfrm>
          <a:prstGeom prst="line">
            <a:avLst/>
          </a:prstGeom>
          <a:noFill/>
          <a:ln w="12700">
            <a:solidFill>
              <a:srgbClr val="C9D8D4"/>
            </a:solidFill>
            <a:prstDash val="solid"/>
            <a:headEnd type="none"/>
            <a:tailEnd type="none"/>
          </a:ln>
        </p:spPr>
        <p:txBody>
          <a:bodyPr/>
          <a:lstStyle/>
          <a:p>
            <a:endParaRPr lang="ko-KR"/>
          </a:p>
        </p:txBody>
      </p:sp>
      <p:sp>
        <p:nvSpPr>
          <p:cNvPr id="23" name="Shape 21"/>
          <p:cNvSpPr/>
          <p:nvPr/>
        </p:nvSpPr>
        <p:spPr>
          <a:xfrm>
            <a:off x="850900" y="4704080"/>
            <a:ext cx="190500" cy="152400"/>
          </a:xfrm>
          <a:prstGeom prst="downArrow">
            <a:avLst/>
          </a:prstGeom>
          <a:solidFill>
            <a:srgbClr val="0D685C"/>
          </a:solidFill>
          <a:ln w="12700">
            <a:solidFill>
              <a:srgbClr val="0D685C">
                <a:alpha val="0"/>
              </a:srgbClr>
            </a:solidFill>
            <a:prstDash val="solid"/>
          </a:ln>
        </p:spPr>
        <p:txBody>
          <a:bodyPr/>
          <a:lstStyle/>
          <a:p>
            <a:endParaRPr lang="ko-KR"/>
          </a:p>
        </p:txBody>
      </p:sp>
      <p:sp>
        <p:nvSpPr>
          <p:cNvPr id="24" name="Text 22"/>
          <p:cNvSpPr txBox="1"/>
          <p:nvPr/>
        </p:nvSpPr>
        <p:spPr>
          <a:xfrm>
            <a:off x="660400" y="4881880"/>
            <a:ext cx="571500" cy="490220"/>
          </a:xfrm>
          <a:prstGeom prst="rect">
            <a:avLst/>
          </a:prstGeom>
          <a:noFill/>
          <a:ln/>
        </p:spPr>
        <p:txBody>
          <a:bodyPr wrap="square" lIns="0" tIns="0" rIns="0" bIns="0" rtlCol="0" anchor="ctr"/>
          <a:lstStyle/>
          <a:p>
            <a:pPr algn="l" indent="0" marL="0">
              <a:lnSpc>
                <a:spcPct val="125000"/>
              </a:lnSpc>
              <a:buNone/>
            </a:pPr>
            <a:r>
              <a:rPr lang="en-US" sz="2200" dirty="0">
                <a:solidFill>
                  <a:srgbClr val="0D685C"/>
                </a:solidFill>
                <a:latin typeface="Arial" pitchFamily="34" charset="0"/>
                <a:ea typeface="Arial" pitchFamily="34" charset="-122"/>
                <a:cs typeface="Arial" pitchFamily="34" charset="-120"/>
              </a:rPr>
              <a:t>05</a:t>
            </a:r>
            <a:endParaRPr lang="en-US" sz="2200" dirty="0"/>
          </a:p>
        </p:txBody>
      </p:sp>
      <p:sp>
        <p:nvSpPr>
          <p:cNvPr id="25" name="Text 23"/>
          <p:cNvSpPr txBox="1"/>
          <p:nvPr/>
        </p:nvSpPr>
        <p:spPr>
          <a:xfrm>
            <a:off x="1397000" y="4881880"/>
            <a:ext cx="2603500" cy="490220"/>
          </a:xfrm>
          <a:prstGeom prst="rect">
            <a:avLst/>
          </a:prstGeom>
          <a:noFill/>
          <a:ln/>
        </p:spPr>
        <p:txBody>
          <a:bodyPr wrap="square" lIns="0" tIns="0" rIns="0" bIns="0" rtlCol="0" anchor="ctr"/>
          <a:lstStyle/>
          <a:p>
            <a:pPr algn="l" indent="0" marL="0">
              <a:lnSpc>
                <a:spcPct val="125000"/>
              </a:lnSpc>
              <a:buNone/>
            </a:pPr>
            <a:r>
              <a:rPr lang="en-US" sz="1900" b="1" dirty="0">
                <a:solidFill>
                  <a:srgbClr val="0D685C"/>
                </a:solidFill>
                <a:latin typeface="AppleGothic" pitchFamily="34" charset="0"/>
                <a:ea typeface="AppleGothic" pitchFamily="34" charset="-122"/>
                <a:cs typeface="AppleGothic" pitchFamily="34" charset="-120"/>
              </a:rPr>
              <a:t>조건부 성능</a:t>
            </a:r>
            <a:endParaRPr lang="en-US" sz="1900" dirty="0"/>
          </a:p>
        </p:txBody>
      </p:sp>
      <p:sp>
        <p:nvSpPr>
          <p:cNvPr id="26" name="Text 24"/>
          <p:cNvSpPr txBox="1"/>
          <p:nvPr/>
        </p:nvSpPr>
        <p:spPr>
          <a:xfrm>
            <a:off x="4152900" y="4881880"/>
            <a:ext cx="7378700" cy="490220"/>
          </a:xfrm>
          <a:prstGeom prst="rect">
            <a:avLst/>
          </a:prstGeom>
          <a:noFill/>
          <a:ln/>
        </p:spPr>
        <p:txBody>
          <a:bodyPr wrap="square" lIns="0" tIns="0" rIns="0" bIns="0" rtlCol="0" anchor="ctr"/>
          <a:lstStyle/>
          <a:p>
            <a:pPr algn="l" indent="0" marL="0">
              <a:lnSpc>
                <a:spcPct val="125000"/>
              </a:lnSpc>
              <a:buNone/>
            </a:pPr>
            <a:r>
              <a:rPr lang="en-US" sz="1650" dirty="0">
                <a:solidFill>
                  <a:srgbClr val="173C37"/>
                </a:solidFill>
                <a:latin typeface="AppleGothic" pitchFamily="34" charset="0"/>
                <a:ea typeface="AppleGothic" pitchFamily="34" charset="-122"/>
                <a:cs typeface="AppleGothic" pitchFamily="34" charset="-120"/>
              </a:rPr>
              <a:t>graph·질의·cluster 조건에서 결과를 해석</a:t>
            </a:r>
            <a:endParaRPr lang="en-US" sz="1650" dirty="0"/>
          </a:p>
        </p:txBody>
      </p:sp>
      <p:sp>
        <p:nvSpPr>
          <p:cNvPr id="27" name="Shape 25"/>
          <p:cNvSpPr/>
          <p:nvPr/>
        </p:nvSpPr>
        <p:spPr>
          <a:xfrm>
            <a:off x="1397000" y="5384800"/>
            <a:ext cx="10134600" cy="0"/>
          </a:xfrm>
          <a:prstGeom prst="line">
            <a:avLst/>
          </a:prstGeom>
          <a:noFill/>
          <a:ln w="12700">
            <a:solidFill>
              <a:srgbClr val="C9D8D4"/>
            </a:solidFill>
            <a:prstDash val="solid"/>
            <a:headEnd type="none"/>
            <a:tailEnd type="none"/>
          </a:ln>
        </p:spPr>
        <p:txBody>
          <a:bodyPr/>
          <a:lstStyle/>
          <a:p>
            <a:endParaRPr lang="ko-KR"/>
          </a:p>
        </p:txBody>
      </p:sp>
      <p:sp>
        <p:nvSpPr>
          <p:cNvPr id="28" name="Shape 26"/>
          <p:cNvSpPr/>
          <p:nvPr/>
        </p:nvSpPr>
        <p:spPr>
          <a:xfrm>
            <a:off x="660400" y="5562600"/>
            <a:ext cx="10871200" cy="0"/>
          </a:xfrm>
          <a:prstGeom prst="line">
            <a:avLst/>
          </a:prstGeom>
          <a:noFill/>
          <a:ln w="12700">
            <a:solidFill>
              <a:srgbClr val="0D685C"/>
            </a:solidFill>
            <a:prstDash val="solid"/>
            <a:headEnd type="none"/>
            <a:tailEnd type="none"/>
          </a:ln>
        </p:spPr>
        <p:txBody>
          <a:bodyPr/>
          <a:lstStyle/>
          <a:p>
            <a:endParaRPr lang="ko-KR"/>
          </a:p>
        </p:txBody>
      </p:sp>
      <p:sp>
        <p:nvSpPr>
          <p:cNvPr id="29" name="Text 27"/>
          <p:cNvSpPr txBox="1"/>
          <p:nvPr/>
        </p:nvSpPr>
        <p:spPr>
          <a:xfrm>
            <a:off x="660400" y="5727700"/>
            <a:ext cx="10871200" cy="495300"/>
          </a:xfrm>
          <a:prstGeom prst="rect">
            <a:avLst/>
          </a:prstGeom>
          <a:noFill/>
          <a:ln/>
        </p:spPr>
        <p:txBody>
          <a:bodyPr wrap="square" lIns="0" tIns="0" rIns="0" bIns="0" rtlCol="0" anchor="t"/>
          <a:lstStyle/>
          <a:p>
            <a:pPr algn="l" indent="0" marL="0">
              <a:lnSpc>
                <a:spcPct val="125000"/>
              </a:lnSpc>
              <a:buNone/>
            </a:pPr>
            <a:r>
              <a:rPr lang="en-US" sz="1750" b="1" dirty="0">
                <a:solidFill>
                  <a:srgbClr val="173C37"/>
                </a:solidFill>
                <a:latin typeface="AppleGothic" pitchFamily="34" charset="0"/>
                <a:ea typeface="AppleGothic" pitchFamily="34" charset="-122"/>
                <a:cs typeface="AppleGothic" pitchFamily="34" charset="-120"/>
              </a:rPr>
              <a:t>핵심은 index와 질의 시점 제약 처리의 역할을 다시 나누는 것이다</a:t>
            </a:r>
            <a:endParaRPr lang="en-US" sz="1750" dirty="0"/>
          </a:p>
        </p:txBody>
      </p:sp>
      <p:sp>
        <p:nvSpPr>
          <p:cNvPr id="30" name="Shape 28"/>
          <p:cNvSpPr/>
          <p:nvPr/>
        </p:nvSpPr>
        <p:spPr>
          <a:xfrm>
            <a:off x="660400" y="6311900"/>
            <a:ext cx="10871200" cy="0"/>
          </a:xfrm>
          <a:prstGeom prst="line">
            <a:avLst/>
          </a:prstGeom>
          <a:noFill/>
          <a:ln w="12700">
            <a:solidFill>
              <a:srgbClr val="C9D8D4"/>
            </a:solidFill>
            <a:prstDash val="solid"/>
            <a:headEnd type="none"/>
            <a:tailEnd type="none"/>
          </a:ln>
        </p:spPr>
        <p:txBody>
          <a:bodyPr/>
          <a:lstStyle/>
          <a:p>
            <a:endParaRPr lang="ko-KR"/>
          </a:p>
        </p:txBody>
      </p:sp>
      <p:sp>
        <p:nvSpPr>
          <p:cNvPr id="31" name="Text 29"/>
          <p:cNvSpPr txBox="1"/>
          <p:nvPr/>
        </p:nvSpPr>
        <p:spPr>
          <a:xfrm>
            <a:off x="660400" y="6413500"/>
            <a:ext cx="9982200" cy="279400"/>
          </a:xfrm>
          <a:prstGeom prst="rect">
            <a:avLst/>
          </a:prstGeom>
          <a:noFill/>
          <a:ln/>
        </p:spPr>
        <p:txBody>
          <a:bodyPr wrap="square" lIns="0" tIns="0" rIns="0" bIns="0" rtlCol="0" anchor="t"/>
          <a:lstStyle/>
          <a:p>
            <a:pPr algn="l" indent="0" marL="0">
              <a:lnSpc>
                <a:spcPct val="125000"/>
              </a:lnSpc>
              <a:buNone/>
            </a:pPr>
            <a:r>
              <a:rPr lang="en-US" sz="1050" dirty="0">
                <a:solidFill>
                  <a:srgbClr val="5E6D69"/>
                </a:solidFill>
                <a:latin typeface="AppleGothic" pitchFamily="34" charset="0"/>
                <a:ea typeface="AppleGothic" pitchFamily="34" charset="-122"/>
                <a:cs typeface="AppleGothic" pitchFamily="34" charset="-120"/>
              </a:rPr>
              <a:t>근거 paper pp. 3–12, §§2–8; doi article record</a:t>
            </a:r>
            <a:endParaRPr lang="en-US" sz="1050" dirty="0"/>
          </a:p>
        </p:txBody>
      </p:sp>
      <p:sp>
        <p:nvSpPr>
          <p:cNvPr id="32" name="Text 30"/>
          <p:cNvSpPr txBox="1"/>
          <p:nvPr/>
        </p:nvSpPr>
        <p:spPr>
          <a:xfrm>
            <a:off x="11112500" y="6400800"/>
            <a:ext cx="431800" cy="254000"/>
          </a:xfrm>
          <a:prstGeom prst="rect">
            <a:avLst/>
          </a:prstGeom>
          <a:noFill/>
          <a:ln/>
        </p:spPr>
        <p:txBody>
          <a:bodyPr wrap="square" lIns="0" tIns="0" rIns="0" bIns="0" rtlCol="0" anchor="t"/>
          <a:lstStyle/>
          <a:p>
            <a:pPr algn="ctr" indent="0" marL="0">
              <a:lnSpc>
                <a:spcPct val="125000"/>
              </a:lnSpc>
              <a:buNone/>
            </a:pPr>
            <a:r>
              <a:rPr lang="en-US" sz="1100" dirty="0">
                <a:solidFill>
                  <a:srgbClr val="0D685C"/>
                </a:solidFill>
                <a:latin typeface="Arial" pitchFamily="34" charset="0"/>
                <a:ea typeface="Arial" pitchFamily="34" charset="-122"/>
                <a:cs typeface="Arial" pitchFamily="34" charset="-120"/>
              </a:rPr>
              <a:t>24</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ple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ple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Billion-node 그래프의 부분그래프 매칭</dc:title>
  <dc:subject>Efficient Subgraph Matching on Billion Node Graphs</dc:subject>
  <dc:creator>Research Seminars</dc:creator>
  <cp:lastModifiedBy>Research Seminars</cp:lastModifiedBy>
  <cp:revision>1</cp:revision>
  <dcterms:created xsi:type="dcterms:W3CDTF">2026-09-12T07:09:10Z</dcterms:created>
  <dcterms:modified xsi:type="dcterms:W3CDTF">2026-09-12T07:09:10Z</dcterms:modified>
</cp:coreProperties>
</file>
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차량의 작업 순서와 오프로딩을 함께 결정하기
발표 대본
이 자료는 You 등, arXiv:2405.11352v1의 15쪽 원문을 기준으로 합니다. 핵심은 이동하는 차량이 선후관계가 있는 sub-task를 처리할 때, 어떤 task를 먼저 실행하고 local 또는 edge 중 어디서 처리하며 branch별 자원을 얼마나 줄지를 함께 고르는 것입니다. 이 원고는 2025년 12월 4일 arXiv에서 철회되었습니다. 공개 사유는 더 이상 개발하거나 투고하지 않겠다는 것입니다. 오류·부정행위 때문이라고 추정하지 않으며, 현행 검증 기술의 추천이 아닌 v1의 설계와 한계를 학습합니다.
공개 출처
arxiv-v1 | p. 1; title, abstract
Hierarchical Reinforcement Learning Empowered Task Offloading in V2I Networks
https://arxiv.org/abs/2405.11352v1
arxiv-status | v2 withdrawal notice, 4 Dec 2025
arXiv withdrawal notice, 4 December 2025
https://arxiv.org/abs/2405.11352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원고의 상태와 이 자료의 읽기 범위
발표 대본
공식 arXiv v1 및 현재 v2 레코드를 2026-09-12 확인했습니다. v2의 철회 사유는 더 이상 후속 개발이나 출판 투고를 하지 않겠다는 것입니다. 원문의 실험 결과가 거짓이라고 판정하는 문구가 아닙니다. 이 발표는 기존 원고를 교육적으로 분석하며 최신 출판 논문이나 배포 가능한 제품으로 권하지 않습니다.
공개 출처
arxiv-v1 | title; submission history
Hierarchical Reinforcement Learning Empowered Task Offloading in V2I Networks
https://arxiv.org/abs/2405.11352v1
arxiv-status | withdrawal notice; comments; submission history
arXiv withdrawal notice, 4 December 2025
https://arxiv.org/abs/2405.11352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문제: 차량은 이동하고, 작업은 선행 결과를 기다린다
발표 대본
원문은 random transmission delay, RSU handover, random sub-task DAG, varying driving speed를 함께 어려움으로 듭니다. 해결 대상은 하나의 V2I simulation 환경에서 joint computation offloading and resource allocation입니다.
공개 출처
arxiv-v1 | pp. 1-2; abstract; §I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무선 RSU 관계와 task DAG 관계는 다르다
발표 대본
Figure 1은 highway를 따라 균일하게 배치된 RSU와 time-varying vehicle speed를, Figure 2는 task DAG를 보입니다. DAG edge e(i,j)는 task j가 predecessor i가 완료되어야 시작된다는 뜻이며 wireless link가 아닙니다.
공개 출처
arxiv-v1 | pp. 3-4; Figs. 1-2; §III-A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local과 edge 선택은 서로 다른 cost 항을 만든다
발표 대본
원문은 offloading time을 uplink, edge execution, downlink, migration delay의 합으로 둡니다. Edge execution/downlink energy는 UE energy에서 빼고 uplink energy만 edge path energy로 셉니다. Migration은 차량의 이동거리 적분이 RSU coverage를 넘을 때 indicator로 발생합니다. 원문 식 12–17의 범위 판정은 시작 위치 d_i와 처리 중 이동거리의 합입니다. TESC는 서로 다른 단위의 가중합이며 가중치 합이 1이라는 조건만으로 단위가 같아지지는 않습니다.
공개 출처
arxiv-v1 | pp. 3-5; Eqs. 3-22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목적은 비용의 합을 줄이되 실행 제약을 지키는 것
발표 대본
Equation 23은 U=sum_i(beta1 t_i + beta2 e_i + beta3 c_i)로 TESC를 정의하며, nonnegative weight의 합은 1입니다. Equation 24는 predecessor start-time condition을 포함해 task serial number y, k, f, p를 함께 최적화합니다. 이는 source의 objective이며 global solution quality proof는 아닙니다.
공개 출처
arxiv-v1 | p. 5; Eqs. 18-24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GAT에는 작업 특성·차량 상태·DAG를 함께 넣는다
발표 대본
Section IV-A는 in-vehicle application이 보통 20개 이하 sub-task라는 가정 아래 ReLU one-layer GAT를 사용합니다. Paper는 multi-head attention 결과를 concatenate합니다. Feature에는 task data/cycles, execution state, vehicle coordinate, remaining-task count, last five seconds speed가 들어갑니다.
공개 출처
arxiv-v1 | pp. 5-6; Eqs. 25-27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attention coefficient가 뜻하는 것과 뜻하지 않는 것
발표 대본
Equation 25는 transformed endpoint feature에서 attention을 계산합니다. Equation 26은 i 자신을 포함한 neighbor들에 대해 이를 normalize하고, Equation 27은 K heads를 씁니다. ready-task constraint는 attention만으로 생기는 것이 아니라 DAG scheduling model에서 계속 옵니다.
공개 출처
arxiv-v1 | pp. 5-6; Eqs. 25-27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한 action은 세 층으로 정해진다
발표 대본
Figure 3과 Equation 28은 hierarchical action을 정의합니다. Paper는 layer 1을 task assignment, layer 2를 offloading decision, layer 3을 continuous parameter selection이라고 부릅니다. local decision에는 f, edge decision에는 p만 쓰므로 두 값을 독립적으로 모두 켜면 irrelevant-parameter coupling이 생깁니다.
공개 출처
arxiv-v1 | p. 6; Fig. 3; Eq. 28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PNAF는 이산 선택별로 연속 행동의 Q를 구성한다
발표 대본
Equations 30-35의 요점은 local Q(s,y,k,f)가 transmit power p에 의존하지 않고, edge Q가 local CPU f에 의존하지 않아야 한다는 것입니다. Source는 predicted continuous action 주변의 negative quadratic advantage와 Cholesky decomposition으로 만든 positive-definite matrix를 사용합니다. 이 자료는 예측 중심을 μ로 표기해 평가할 후보 a_c와 구분합니다. 원문 Fig. 4는 V, 연속 중심, L의 병렬 출력을 보입니다. Eq. 31 우변에는 Q(s,a_d)가 인쇄되어 있지만 앞 문장, Fig. 4와 Eqs. 32–35는 V+A를 설명하므로 그 근거를 따릅니다. 이산 행동은 epsilon-greedy, 연속 탐색에는 OU 잡음을 사용합니다. 유효 범위 제약과 학습 오차가 있으므로 μ를 실세계 최적해라고 부르지 않습니다.
공개 출처
arxiv-v1 | pp. 6-7; Eqs. 29-35; Fig. 4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계산 예시: 연속 행동이 중심에서 벗어나면 Q가 줄어든다
발표 대본
계산 예시의 V, 중심 μ, P는 임의의 무차원 값입니다. a_c=.2이면 −.5×4×.16=−.32이고 Q=1.68, .6이면 A=0과 Q=2, .9이면 A=−.18과 Q=1.82입니다. 원문의 식 34–35 구조를 설명할 뿐 훈련 결과가 아니며 실제 자원 단위 또는 행동 범위 처리 구현을 재현하지 않습니다.
공개 출처
arxiv-v1 | p. 7; Fig. 4; Eqs. 34-35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순서 예시: 선행 작업 A가 끝나야 B를 선택할 수 있다
발표 대본
이 표는 교육용 구성 예시입니다. beta1=beta2=beta3=1/3으로 두어 단순 평균을 재계산하게 했고, component는 normalized teaching values입니다. 원문 Table II의 physical units이나 원문 실행 결과를 재현한 수치가 아닙니다.
공개 출처
arxiv-v1 | pp. 5-7; Eqs. 19, 23, 28-35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실행 결과의 음수 비용을 replay에 저장해 학습한다
발표 대본
Equation 37은 immediate reward를 정의합니다. Algorithm 1은 state 관찰, hierarchical action 선택, (s,a,r,s_next) 저장, replay batch sampling, z=r+gamma max V-prime 형성, squared error 최소화, online/target parameter update 순서입니다. Target-network update는 source-specific이므로 actor-critic update로 바꾸지 않습니다. p. 7과 p. 8에서 reward와 target의 식 번호 37이 중복됩니다. γ=.99를 사용한 누적 보상은 원문의 비할인 작업 비용 합과 일반적으로 동일하지 않으므로 최소화의 정확한 동치나 수렴 보장이라고 설명하지 않습니다.
공개 출처
arxiv-v1 | pp. 7-8; Eq. 37; Algorithm 1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최근 속도는 통신 범위 이탈의 비용을 학습하는 입력이다
발표 대본
speed vector는 input feature이고, Equations 12-17은 RSU coverage에 대한 travel-distance integral로 migration을 정의합니다. Section V-D는 DHVO가 simulation interpretation에서 last-five-second speed로 risk를 추정한다고 설명합니다. 이는 일반적인 speed-forecasting guarantee가 아닙니다.
공개 출처
arxiv-v1 | pp. 4, 7, 11-12; Eqs. 12-17; §V-D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학습 절차와 원문의 표기 불일치를 구분하자
발표 대본
p. 8 본문은 양의 squared loss를 최소화하는 gradient descent를 말하지만 Algorithm 1과 Eqs. 40/41은 +alpha gradient로 인쇄되어 있습니다. 통상적인 양의 학습률에서는 부호가 맞지 않습니다. Algorithm 1의 target V-prime에는 theta_p, 옆 target 식 37에는 theta_p-prime이 들어가며 식 번호 37은 p. 7 보상과 중복됩니다. 강의는 본문의 학습 의도와 명시된 target GAT copy/PNAF soft update를 전달하되, 검증한 실행 코드나 공식 정정을 확보한 것으로 주장하지 않습니다. Q=V+A는 p. 7 Fig. 4/Eqs. 32–35를 따릅니다.
공개 출처
arxiv-v1 | p. 8; Algorithm 1; target Eq. 37; Eqs. 38, 40-43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Table II: simulation 환경을 먼저 고정한다
발표 대본
Table II는 kappa=10^-25, propagation delay 5 s, carrier frequency 915 MHz, path-loss exponent 3, noise power 10^-12 W, computation resource price .1 dollars/Mcycles, migration price 2 dollars/Mcycles도 지정합니다. Paper는 뒤 figure에서 일부 parameter만 바꾸고 나머지는 default를 사용합니다.
공개 출처
arxiv-v1 | p. 8; Table II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speed input과 neural-network 조건
발표 대본
Section V에 따르면 speed collection은 seven days, each measurement는 per second이며, 그 뒤 four 100-second trajectories를 tailored했습니다. Table III는 neural parameter를 보고합니다. Task 수로 graph size가 달라지므로 authors는 fixed-length state vector를 위해 padding을 사용합니다. 각 작업별 출력 차원은 12이고 N개 작업을 모은 graph state의 길이는 N에 따라 달라집니다. 전체 그래프가 무조건 12개 값이라는 뜻은 아닙니다.
공개 출처
arxiv-v1 | pp. 9-10; Fig. 6; Table III; §V-A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비교 대상은 무엇을 고정하거나 단순화하는가
발표 대본
Section V-A는 ALE, AO, GOE, DQN10을 정의합니다. GOE는 constant 30 km/h로 predict하므로 dynamic-speed DHVO setup과 migration behavior가 다릅니다. DQN10은 continuous interval을 ten equally spaced values로 근사합니다.
공개 출처
arxiv-v1 | p. 9; §V-A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convergence 수치는 두 실험 조건을 구분해야 한다
발표 대본
Page 9는 14-episode convergence observation을 Section V-B에 둡니다. Page 10은 performance comparison에서 DQN10과 DHVO를 40 episodes 학습하고 50 individual tests를 average한다고 적습니다. Timing은 listed software/server platform에 묶인 값이지 end-to-end V2I response guarantee가 아닙니다.
공개 출처
arxiv-v1 | pp. 9-10; §§V-B, V-C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Figs. 8-11: 어떤 parameter가 바뀔 때의 TESC인가
발표 대본
설명은 Figs. 8-11에 대한 source의 interpretation입니다. bandwidth threshold 2.25 MHz는 그 simulated setting에서 ALE와 AO 비교로 보고됩니다. Deck은 universal handover 또는 price threshold를 추론하지 않습니다.
공개 출처
arxiv-v1 | pp. 10-11; Figs. 8-11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정책의 선택과 비용 성분으로 결과를 해석한다
발표 대본
Section V-D는 GOE가 fixed 30 km/h speed, DHVO가 recent speed data를 쓴다고 설명하고 GOE migration penalty를 inaccurate constant-speed estimation에 돌립니다. Figure 14는 small fading을 추가해 less-smooth convergence curve를 보이지만 approach가 still learns라고 보고합니다.
공개 출처
arxiv-v1 | pp. 11-12; Figs. 12-14; §V-D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구성요소 제거 실험: DHVO의 정규화 비용이 가장 낮다
발표 대본
p. 13 Fig. 15의 실제 축은 Normalized TESC이며 DHVO 막대가 1.0으로 가장 낮습니다. p. 12 본문은 outperforms라고 쓰지만 높은 값이 우수하다는 뜻이 아닙니다. 정규화 수식이나 정확한 개선 백분율은 원문에 제시되지 않아 만들지 않습니다. PNAF는 GAT를 제거하고 GDQNX는 GAT를 유지한 채 [0,1] 구간을 X개 값으로 근사합니다. 저자는 GDQN5/10의 나쁜 결과를 동일 학습 예산에서의 미수렴으로 설명합니다.
공개 출처
arxiv-v1 | pp. 12-13; §V-E; Fig. 15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무엇을 이 결과에서 결론내릴 수 없는가
발표 대본
이 boundary는 stated system assumptions, Table II/III setup, Section VI conclusion을 합친 것입니다. Source는 end-to-end DRL solution과 numerical simulation result를 설명할 뿐 field trial이나 formal optimality theorem은 아닙니다.
공개 출처
arxiv-v1 | pp. 3-5, 8-9, 12-13; §§III, V, VI
Hierarchical Reinforcement Learning Empowered Task Offloading in V2I Networks
https://arxiv.org/abs/2405.11352v1
arxiv-status | v2 withdrawal notice; comments
arXiv withdrawal notice, 4 December 2025
https://arxiv.org/abs/2405.11352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DHVO의 설계를 한 흐름으로 정리하면
발표 대본
마무리는 Figures 1-5와 Algorithm 1을 연결합니다. Results in Figures 7-15 are evidence within their speed-trace simulation, baseline, training-budget, and Table II/III conditions. The deck does not treat them as a generic recommendation for every V2I deployment.
공개 출처
arxiv-v1 | pp. 1-13; Figs. 1-15; Algorithm 1
Hierarchical Reinforcement Learning Empowered Task Offloading in V2I Networks
https://arxiv.org/abs/2405.11352v1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차량의 작업 순서와 오프로딩을 함께 결정하기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Hierarchical Reinforcement Learning Empowered Task Offloading in V2I Networks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Xinyu You, Haojie Yan, Yuedong Xu, Lifeng Wang, Liangui Dai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DHVO: 그래프 주의집중과 계층형 Q-learning | 철회된 2024년 사전공개 원고의 교육적 분석</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1; title, abstract; arxiv-status v2 withdrawal notice, 4 Dec 2025</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원고의 상태와 이 자료의 읽기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분석 대상은 2024년 v1이며, arXiv는 2025년 12월 철회를 공지했다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565904"/>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확인된 사실</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학습할 때의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분석 원문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arXiv:2405.11352v1 · 2024-05-18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버전의 설계·실험을 설명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2025-12-04 철회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출판된 검증 기술로 소개하지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공개 사유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후속 개발·투고를 진행하지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이유를 오류·부정행위로 확대하지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활용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DAG 표현 + 혼합 행동 설계 사례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결과의 한계와 표기 불일치도 함께 읽기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철회 상태를 숨기지 않고, 무엇을 제안했는지와 무엇이 확인되지 않았는지를 구분한다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title; submission history; arxiv-status withdrawal notice; comments; submission history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문제: 차량은 이동하고, 작업은 선행 결과를 기다린다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차량–인프라 통신(V2I)에서 계산 속도뿐 아니라 연결 범위, 작업 순서, 비용을 함께 고려한다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차량 단말(UE)은 속도가 변하면서 여러 도로변 기지국(RSU)의 통신 범위를 지난다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한 응용프로그램은 방향성 비순환 그래프(DAG)로 표현한 여러 작업으로 나뉜다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후속 작업은 바로 앞의 모든 선행 작업이 완료되어야 시작할 수 있다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목적값 TESC는 작업 시간·단말 에너지·서비스 요금을 가중합한 비용이다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어떤 작업을 먼저, 어디서, 어느 자원 수준으로 처리할지를 함께 정한다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1-2; abstract; §I</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무선 RSU 관계와 task DAG 관계는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RSU coverage는 통신 가능성을, DAG edge는 실행 순서를 뜻한다</a:t>
            </a:r>
            <a:endParaRPr lang="en-US" sz="1900" dirty="0"/>
          </a:p>
        </p:txBody>
      </p:sp>
      <p:sp>
        <p:nvSpPr>
          <p:cNvPr id="4" name="mechanism-lane-road"/>
          <p:cNvSpPr txBox="1"/>
          <p:nvPr/>
        </p:nvSpPr>
        <p:spPr>
          <a:xfrm>
            <a:off x="660400" y="2209800"/>
            <a:ext cx="863600" cy="18923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V2I coverage</a:t>
            </a:r>
            <a:endParaRPr lang="en-US" sz="1250" dirty="0"/>
          </a:p>
        </p:txBody>
      </p:sp>
      <p:sp>
        <p:nvSpPr>
          <p:cNvPr id="5" name="mechanism-lane-dag"/>
          <p:cNvSpPr txBox="1"/>
          <p:nvPr/>
        </p:nvSpPr>
        <p:spPr>
          <a:xfrm>
            <a:off x="660400" y="4102100"/>
            <a:ext cx="863600" cy="18923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application DAG</a:t>
            </a:r>
            <a:endParaRPr lang="en-US" sz="1250" dirty="0"/>
          </a:p>
        </p:txBody>
      </p:sp>
      <p:sp>
        <p:nvSpPr>
          <p:cNvPr id="6" name="mechanism-edge-r1-segment-1"/>
          <p:cNvSpPr/>
          <p:nvPr/>
        </p:nvSpPr>
        <p:spPr>
          <a:xfrm>
            <a:off x="3810000" y="31559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r1-label"/>
          <p:cNvSpPr txBox="1"/>
          <p:nvPr/>
        </p:nvSpPr>
        <p:spPr>
          <a:xfrm>
            <a:off x="3517900" y="25971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802.11p link</a:t>
            </a:r>
            <a:endParaRPr lang="en-US" sz="950" dirty="0"/>
          </a:p>
        </p:txBody>
      </p:sp>
      <p:sp>
        <p:nvSpPr>
          <p:cNvPr id="8" name="mechanism-edge-r2-segment-1"/>
          <p:cNvSpPr/>
          <p:nvPr/>
        </p:nvSpPr>
        <p:spPr>
          <a:xfrm>
            <a:off x="6362700" y="315595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r2-label"/>
          <p:cNvSpPr txBox="1"/>
          <p:nvPr/>
        </p:nvSpPr>
        <p:spPr>
          <a:xfrm>
            <a:off x="6070600" y="25971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offload path</a:t>
            </a:r>
            <a:endParaRPr lang="en-US" sz="950" dirty="0"/>
          </a:p>
        </p:txBody>
      </p:sp>
      <p:sp>
        <p:nvSpPr>
          <p:cNvPr id="10" name="mechanism-edge-d1-segment-1"/>
          <p:cNvSpPr/>
          <p:nvPr/>
        </p:nvSpPr>
        <p:spPr>
          <a:xfrm>
            <a:off x="3810000" y="5048250"/>
            <a:ext cx="4826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d1-label"/>
          <p:cNvSpPr txBox="1"/>
          <p:nvPr/>
        </p:nvSpPr>
        <p:spPr>
          <a:xfrm>
            <a:off x="3517900" y="44894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precedence</a:t>
            </a:r>
            <a:endParaRPr lang="en-US" sz="950" dirty="0"/>
          </a:p>
        </p:txBody>
      </p:sp>
      <p:sp>
        <p:nvSpPr>
          <p:cNvPr id="12" name="mechanism-node-car"/>
          <p:cNvSpPr txBox="1"/>
          <p:nvPr/>
        </p:nvSpPr>
        <p:spPr>
          <a:xfrm>
            <a:off x="1739900" y="28384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vehicle UE</a:t>
            </a:r>
            <a:endParaRPr lang="en-US" sz="1150" dirty="0"/>
          </a:p>
        </p:txBody>
      </p:sp>
      <p:sp>
        <p:nvSpPr>
          <p:cNvPr id="13" name="mechanism-node-car-queue-1"/>
          <p:cNvSpPr/>
          <p:nvPr/>
        </p:nvSpPr>
        <p:spPr>
          <a:xfrm>
            <a:off x="1739900" y="30924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speed varies</a:t>
            </a:r>
            <a:endParaRPr lang="en-US" sz="950" dirty="0"/>
          </a:p>
        </p:txBody>
      </p:sp>
      <p:sp>
        <p:nvSpPr>
          <p:cNvPr id="14" name="mechanism-node-car-queue-2"/>
          <p:cNvSpPr/>
          <p:nvPr/>
        </p:nvSpPr>
        <p:spPr>
          <a:xfrm>
            <a:off x="1739900" y="32829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one application</a:t>
            </a:r>
            <a:endParaRPr lang="en-US" sz="950" dirty="0"/>
          </a:p>
        </p:txBody>
      </p:sp>
      <p:sp>
        <p:nvSpPr>
          <p:cNvPr id="15" name="mechanism-node-rsu"/>
          <p:cNvSpPr/>
          <p:nvPr/>
        </p:nvSpPr>
        <p:spPr>
          <a:xfrm>
            <a:off x="4292600" y="2825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current RSU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within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coverage</a:t>
            </a:r>
            <a:endParaRPr lang="en-US" sz="1150" dirty="0"/>
          </a:p>
        </p:txBody>
      </p:sp>
      <p:sp>
        <p:nvSpPr>
          <p:cNvPr id="16" name="mechanism-node-edge"/>
          <p:cNvSpPr/>
          <p:nvPr/>
        </p:nvSpPr>
        <p:spPr>
          <a:xfrm>
            <a:off x="6845300" y="2825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edge server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fixed CPU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resource</a:t>
            </a:r>
            <a:endParaRPr lang="en-US" sz="1150" dirty="0"/>
          </a:p>
        </p:txBody>
      </p:sp>
      <p:sp>
        <p:nvSpPr>
          <p:cNvPr id="17" name="mechanism-node-task-a"/>
          <p:cNvSpPr/>
          <p:nvPr/>
        </p:nvSpPr>
        <p:spPr>
          <a:xfrm>
            <a:off x="1739900" y="47180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task 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input, output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CPU cycles</a:t>
            </a:r>
            <a:endParaRPr lang="en-US" sz="1150" dirty="0"/>
          </a:p>
        </p:txBody>
      </p:sp>
      <p:sp>
        <p:nvSpPr>
          <p:cNvPr id="18" name="mechanism-node-task-b"/>
          <p:cNvSpPr/>
          <p:nvPr/>
        </p:nvSpPr>
        <p:spPr>
          <a:xfrm>
            <a:off x="4292600" y="47180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task B</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waits for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 completion</a:t>
            </a:r>
            <a:endParaRPr lang="en-US" sz="115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3-4; Figs. 1-2; §III-A</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local과 edge 선택은 서로 다른 cost 항을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edge path는 upload, edge execution, download에 coverage 이탈 시 migration delay·charge가 더해진다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4892040"/>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path</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time / energy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charge 또는 constraint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k=0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t_local=C/f; e_local=kappa C f^2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service charge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k=1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upload + edge + download + migration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UE energy는 uplink만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통신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시작 위치 + 처리 중 이동거리가 범위를 넘는가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넘으면 전파 지연·이관 요금 발생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precedence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T_start(i) &gt;= max predecessor end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ready task만 실행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edge가 항상 빠르거나 싼 것은 아니다. coverage 이탈은 시간과 service cost를 바꾼다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3-5; Eqs. 3-22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목적은 비용의 합을 줄이되 실행 제약을 지키는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시간·단말 에너지·서비스 요금의 가중합이 TESC다. 선행 작업 완료와 자원 상한도 만족해야 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작업 정보</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데이터·연산량·선후관계</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단말 실행</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k=0; CPU 주파수 f</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엣지 실행</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k=1; 송신 전력 p</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작업별 비용</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시간·에너지·요금 가중합</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전체 비용 최소화</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순서·CPU·전력 제약</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5; Eqs. 18-24</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GAT에는 작업 특성·차량 상태·DAG를 함께 넣는다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그래프 주의집중 신경망(GAT)은 인접 관계를 이용해 작업마다 새로운 특성 벡터를 만든다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783328"/>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 또는 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담는 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특성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입력량·출력량·연산량·완료 여부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무엇을 처리하며 어떤 작업이 남았는가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차량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좌표·남은 작업 수·최근 5초 속도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특성에 함께 붙이는 환경 정보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인접 행렬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 DAG의 연결 관계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어느 이웃 정보를 모을 것인가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2개 head × 6개 = 작업당 12개 특성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작업 벡터를 구성하고 길이를 맞춤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작업·환경 정보와 인접 행렬은 공동 입력이다. 서로를 순차 변환하는 단계가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5-6; Eqs. 25-27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attention coefficient가 뜻하는 것과 뜻하지 않는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GAT는 node i의 neighbor j feature가 i encoding에 얼마나 반영될지를 learned coefficient로 정한다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3913632"/>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operation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교육적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피해야 할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e_ij=a(W h_i, W h_j)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pairwise feature relevance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DAG scheduling priority 자체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softmax over neighbors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 주변의 normalized attention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network bandwidth allocation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multi-head concatenate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relation view를 feature로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task를 동시에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 GAT layer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source의 small-DAG design choice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graph depth를 본다는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attention은 task 관계를 state에 넣지만 precedence constraint를 대체하지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5-6; Eqs. 25-27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action은 세 층으로 정해진다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ready task를 고른 뒤 local 또는 edge를 정하고, 그 branch에만 맞는 continuous parameter를 선택한다</a:t>
            </a:r>
            <a:endParaRPr lang="en-US" sz="1900" dirty="0"/>
          </a:p>
        </p:txBody>
      </p:sp>
      <p:sp>
        <p:nvSpPr>
          <p:cNvPr id="4" name="mechanism-lane-main"/>
          <p:cNvSpPr txBox="1"/>
          <p:nvPr/>
        </p:nvSpPr>
        <p:spPr>
          <a:xfrm>
            <a:off x="660400" y="2209800"/>
            <a:ext cx="863600" cy="1261533"/>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shared discrete choice</a:t>
            </a:r>
            <a:endParaRPr lang="en-US" sz="1250" dirty="0"/>
          </a:p>
        </p:txBody>
      </p:sp>
      <p:sp>
        <p:nvSpPr>
          <p:cNvPr id="5" name="mechanism-lane-local"/>
          <p:cNvSpPr txBox="1"/>
          <p:nvPr/>
        </p:nvSpPr>
        <p:spPr>
          <a:xfrm>
            <a:off x="660400" y="3471333"/>
            <a:ext cx="863600" cy="1261533"/>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local branch</a:t>
            </a:r>
            <a:endParaRPr lang="en-US" sz="1250" dirty="0"/>
          </a:p>
        </p:txBody>
      </p:sp>
      <p:sp>
        <p:nvSpPr>
          <p:cNvPr id="6" name="mechanism-lane-edge"/>
          <p:cNvSpPr txBox="1"/>
          <p:nvPr/>
        </p:nvSpPr>
        <p:spPr>
          <a:xfrm>
            <a:off x="660400" y="4732867"/>
            <a:ext cx="863600" cy="1261533"/>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edge branch</a:t>
            </a:r>
            <a:endParaRPr lang="en-US" sz="1250" dirty="0"/>
          </a:p>
        </p:txBody>
      </p:sp>
      <p:sp>
        <p:nvSpPr>
          <p:cNvPr id="7" name="mechanism-edge-a1-segment-1"/>
          <p:cNvSpPr/>
          <p:nvPr/>
        </p:nvSpPr>
        <p:spPr>
          <a:xfrm>
            <a:off x="3810000" y="2840567"/>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a1-label"/>
          <p:cNvSpPr txBox="1"/>
          <p:nvPr/>
        </p:nvSpPr>
        <p:spPr>
          <a:xfrm>
            <a:off x="3517900" y="2281767"/>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valid y</a:t>
            </a:r>
            <a:endParaRPr lang="en-US" sz="950" dirty="0"/>
          </a:p>
        </p:txBody>
      </p:sp>
      <p:sp>
        <p:nvSpPr>
          <p:cNvPr id="9" name="mechanism-edge-a2-segment-1"/>
          <p:cNvSpPr/>
          <p:nvPr/>
        </p:nvSpPr>
        <p:spPr>
          <a:xfrm>
            <a:off x="6362700" y="2840567"/>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a2-label"/>
          <p:cNvSpPr txBox="1"/>
          <p:nvPr/>
        </p:nvSpPr>
        <p:spPr>
          <a:xfrm>
            <a:off x="6070600" y="2281767"/>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chosen task</a:t>
            </a:r>
            <a:endParaRPr lang="en-US" sz="950" dirty="0"/>
          </a:p>
        </p:txBody>
      </p:sp>
      <p:sp>
        <p:nvSpPr>
          <p:cNvPr id="11" name="mechanism-edge-a3-segment-1"/>
          <p:cNvSpPr/>
          <p:nvPr/>
        </p:nvSpPr>
        <p:spPr>
          <a:xfrm>
            <a:off x="8915400" y="2637367"/>
            <a:ext cx="321733" cy="0"/>
          </a:xfrm>
          <a:prstGeom prst="line">
            <a:avLst/>
          </a:prstGeom>
          <a:noFill/>
          <a:ln w="12700">
            <a:solidFill>
              <a:srgbClr val="0D685C"/>
            </a:solidFill>
            <a:prstDash val="solid"/>
            <a:headEnd type="none"/>
            <a:tailEnd type="none"/>
          </a:ln>
        </p:spPr>
        <p:txBody>
          <a:bodyPr/>
          <a:lstStyle/>
          <a:p>
            <a:endParaRPr lang="ko-KR"/>
          </a:p>
        </p:txBody>
      </p:sp>
      <p:sp>
        <p:nvSpPr>
          <p:cNvPr id="12" name="mechanism-edge-a3-segment-2"/>
          <p:cNvSpPr/>
          <p:nvPr/>
        </p:nvSpPr>
        <p:spPr>
          <a:xfrm>
            <a:off x="9237133" y="2637367"/>
            <a:ext cx="0" cy="1464733"/>
          </a:xfrm>
          <a:prstGeom prst="line">
            <a:avLst/>
          </a:prstGeom>
          <a:noFill/>
          <a:ln w="12700">
            <a:solidFill>
              <a:srgbClr val="0D685C"/>
            </a:solidFill>
            <a:prstDash val="solid"/>
            <a:headEnd type="none"/>
            <a:tailEnd type="none"/>
          </a:ln>
        </p:spPr>
        <p:txBody>
          <a:bodyPr/>
          <a:lstStyle/>
          <a:p>
            <a:endParaRPr lang="ko-KR"/>
          </a:p>
        </p:txBody>
      </p:sp>
      <p:sp>
        <p:nvSpPr>
          <p:cNvPr id="13" name="mechanism-edge-a3-segment-3"/>
          <p:cNvSpPr/>
          <p:nvPr/>
        </p:nvSpPr>
        <p:spPr>
          <a:xfrm>
            <a:off x="9237133" y="4102100"/>
            <a:ext cx="160867"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a3-label"/>
          <p:cNvSpPr txBox="1"/>
          <p:nvPr/>
        </p:nvSpPr>
        <p:spPr>
          <a:xfrm>
            <a:off x="8623300" y="2281767"/>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k=0</a:t>
            </a:r>
            <a:endParaRPr lang="en-US" sz="950" dirty="0"/>
          </a:p>
        </p:txBody>
      </p:sp>
      <p:sp>
        <p:nvSpPr>
          <p:cNvPr id="15" name="mechanism-edge-a4-segment-1"/>
          <p:cNvSpPr/>
          <p:nvPr/>
        </p:nvSpPr>
        <p:spPr>
          <a:xfrm>
            <a:off x="8915400" y="3043767"/>
            <a:ext cx="160867" cy="0"/>
          </a:xfrm>
          <a:prstGeom prst="line">
            <a:avLst/>
          </a:prstGeom>
          <a:noFill/>
          <a:ln w="12700">
            <a:solidFill>
              <a:srgbClr val="0D685C"/>
            </a:solidFill>
            <a:prstDash val="solid"/>
            <a:headEnd type="none"/>
            <a:tailEnd type="none"/>
          </a:ln>
        </p:spPr>
        <p:txBody>
          <a:bodyPr/>
          <a:lstStyle/>
          <a:p>
            <a:endParaRPr lang="ko-KR"/>
          </a:p>
        </p:txBody>
      </p:sp>
      <p:sp>
        <p:nvSpPr>
          <p:cNvPr id="16" name="mechanism-edge-a4-segment-2"/>
          <p:cNvSpPr/>
          <p:nvPr/>
        </p:nvSpPr>
        <p:spPr>
          <a:xfrm>
            <a:off x="9076267" y="3043767"/>
            <a:ext cx="0" cy="2319867"/>
          </a:xfrm>
          <a:prstGeom prst="line">
            <a:avLst/>
          </a:prstGeom>
          <a:noFill/>
          <a:ln w="12700">
            <a:solidFill>
              <a:srgbClr val="0D685C"/>
            </a:solidFill>
            <a:prstDash val="solid"/>
            <a:headEnd type="none"/>
            <a:tailEnd type="none"/>
          </a:ln>
        </p:spPr>
        <p:txBody>
          <a:bodyPr/>
          <a:lstStyle/>
          <a:p>
            <a:endParaRPr lang="ko-KR"/>
          </a:p>
        </p:txBody>
      </p:sp>
      <p:sp>
        <p:nvSpPr>
          <p:cNvPr id="17" name="mechanism-edge-a4-segment-3"/>
          <p:cNvSpPr/>
          <p:nvPr/>
        </p:nvSpPr>
        <p:spPr>
          <a:xfrm>
            <a:off x="9076267" y="5363633"/>
            <a:ext cx="321733" cy="0"/>
          </a:xfrm>
          <a:prstGeom prst="line">
            <a:avLst/>
          </a:prstGeom>
          <a:noFill/>
          <a:ln w="12700">
            <a:solidFill>
              <a:srgbClr val="0D685C"/>
            </a:solidFill>
            <a:prstDash val="solid"/>
            <a:headEnd type="none"/>
            <a:tailEnd type="triangle"/>
          </a:ln>
        </p:spPr>
        <p:txBody>
          <a:bodyPr/>
          <a:lstStyle/>
          <a:p>
            <a:endParaRPr lang="ko-KR"/>
          </a:p>
        </p:txBody>
      </p:sp>
      <p:sp>
        <p:nvSpPr>
          <p:cNvPr id="18" name="mechanism-edge-a4-label"/>
          <p:cNvSpPr txBox="1"/>
          <p:nvPr/>
        </p:nvSpPr>
        <p:spPr>
          <a:xfrm>
            <a:off x="8623300" y="5731933"/>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k=1</a:t>
            </a:r>
            <a:endParaRPr lang="en-US" sz="950" dirty="0"/>
          </a:p>
        </p:txBody>
      </p:sp>
      <p:sp>
        <p:nvSpPr>
          <p:cNvPr id="19" name="mechanism-node-ready"/>
          <p:cNvSpPr txBox="1"/>
          <p:nvPr/>
        </p:nvSpPr>
        <p:spPr>
          <a:xfrm>
            <a:off x="1739900" y="2618317"/>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ready tasks</a:t>
            </a:r>
            <a:endParaRPr lang="en-US" sz="1150" dirty="0"/>
          </a:p>
        </p:txBody>
      </p:sp>
      <p:sp>
        <p:nvSpPr>
          <p:cNvPr id="20" name="mechanism-node-ready-queue-1"/>
          <p:cNvSpPr/>
          <p:nvPr/>
        </p:nvSpPr>
        <p:spPr>
          <a:xfrm>
            <a:off x="1739900" y="2872317"/>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predecessors done</a:t>
            </a:r>
            <a:endParaRPr lang="en-US" sz="950" dirty="0"/>
          </a:p>
        </p:txBody>
      </p:sp>
      <p:sp>
        <p:nvSpPr>
          <p:cNvPr id="21" name="mechanism-node-assign"/>
          <p:cNvSpPr/>
          <p:nvPr/>
        </p:nvSpPr>
        <p:spPr>
          <a:xfrm>
            <a:off x="4292600" y="2510367"/>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layer 1: 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select one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task</a:t>
            </a:r>
            <a:endParaRPr lang="en-US" sz="1150" dirty="0"/>
          </a:p>
        </p:txBody>
      </p:sp>
      <p:sp>
        <p:nvSpPr>
          <p:cNvPr id="22" name="mechanism-node-mode"/>
          <p:cNvSpPr/>
          <p:nvPr/>
        </p:nvSpPr>
        <p:spPr>
          <a:xfrm>
            <a:off x="6845300" y="2510367"/>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layer 2: 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 or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edge</a:t>
            </a:r>
            <a:endParaRPr lang="en-US" sz="1150" dirty="0"/>
          </a:p>
        </p:txBody>
      </p:sp>
      <p:sp>
        <p:nvSpPr>
          <p:cNvPr id="23" name="mechanism-node-freq"/>
          <p:cNvSpPr/>
          <p:nvPr/>
        </p:nvSpPr>
        <p:spPr>
          <a:xfrm>
            <a:off x="9398000" y="37719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layer 3: f</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CPU frequency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when k=0</a:t>
            </a:r>
            <a:endParaRPr lang="en-US" sz="1150" dirty="0"/>
          </a:p>
        </p:txBody>
      </p:sp>
      <p:sp>
        <p:nvSpPr>
          <p:cNvPr id="24" name="mechanism-node-power"/>
          <p:cNvSpPr/>
          <p:nvPr/>
        </p:nvSpPr>
        <p:spPr>
          <a:xfrm>
            <a:off x="9398000" y="5033433"/>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layer 3: p</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transmit power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when k=1</a:t>
            </a:r>
            <a:endParaRPr lang="en-US" sz="11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6; Fig. 3; Eq. 28</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PNAF는 이산 선택별로 연속 행동의 Q를 구성한다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Parameterized Normalized Advantage Function: 값 V와 연속 행동의 이득 A를 합쳐 Q를 만든다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913632"/>
                <a:gridCol w="3804920"/>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신경망의 출력·계산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결합 관계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V(s, a_d)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이산 행동 a_d=(작업, 실행 위치)의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연속 행동이 중심일 때 Q=V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연속 중심 μ, 하삼각 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분기의 연속 행동과 곡률을 예측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V와 병렬 출력; P=L Lᵀ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A=−½(a_c−μ)ᵀP(a_c−μ)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중심에서 벗어나면 줄어드는 이득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P가 양의 정부호이면 A≤0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Q=V+A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후보 연속 행동까지 포함한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분기에 맞는 f 또는 p만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중심 μ에서 A=0이다. 학습한 Q의 최대점이지 실세계 최적성 보장은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6-7; Eqs. 29-35; Fig.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계산 예시: 연속 행동이 중심에서 벗어나면 Q가 줄어든다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유효 분기에서 V=2, μ=0.6, P=4로 가정한다. 원문 측정값이 아닌 1차원 교육 예시다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717800"/>
                <a:gridCol w="3261360"/>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연속 후보 a_c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차이 a_c−μ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A=−½×4×(차이)²</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Q=2+A</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분기의 Q는 0.6에서 최대다. 다른 분기나 실제 비용의 최적성을 뜻하지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7; Fig. 4; Eqs. 34-35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순서 예시: 선행 작업 A가 끝나야 B를 선택할 수 있다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가중치는 각각 1/3, 성분은 무차원 교육용 값이다. 원문 실험값이나 최적 정책의 재현이 아니다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304544"/>
                <a:gridCol w="3696208"/>
                <a:gridCol w="3043936"/>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유효한 행동</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가정한 비용 성분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재계산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A만 준비됨; 엣지 k=1, p=0.5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.6, 에너지 .3, 요금 .9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합/3 = .60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 완료 → B가 준비됨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1단계에서 B는 선택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선행 제약 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B를 단말에서 k=0, f=0.8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시간 .8, 에너지 .6, 요금 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합/3 ≈ .47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분기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엣지는 p, 단말은 f만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관련 없는 연속 변수는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이산 선택 + 분기별 자원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준비된 작업 → 실행 위치 → 그 위치의 자원 변수 순으로 선택을 해석한다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5-7; Eqs. 19, 23, 28-35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실행 결과의 음수 비용을 replay에 저장해 학습한다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선택 작업의 TESC가 작을수록 보상은 커진다. 할인된 보상으로 Q를 학습한다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관찰</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GAT 상태 표현</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선택</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y, k, f 또는 p</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실행</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작업 처리</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보상</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r=−작업 TESC</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replay 갱신</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목표 V′·제곱오차</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음수 TESC의 할인 합(γ=.99)은 비할인 비용 합과 정확히 같지 않다.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7-8; Eq. 37; Algorithm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최근 속도는 통신 범위 이탈의 비용을 학습하는 입력이다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시작 위치와 처리 중 이동거리가 범위를 넘으면 작업 이관의 지연과 요금이 추가된다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최근 속도</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5초 이력·차량 위치</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범위 내 완료</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이관 비용 없음</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범위 밖 완료</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이관 지연·요금</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TESC 피드백</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시간·에너지·요금</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replay 학습</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다음 선택에 반영</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4, 7, 11-12; Eqs. 12-17; §V-D</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학습 절차와 원문의 표기 불일치를 구분하자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본문은 목표값과 Q의 제곱오차 최소화를 설명한다. 인쇄된 갱신식을 그대로 실행 코드로 옮기면 안 된다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읽을 때 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경험·목표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(s,a,r,s′) → z=r+γ max V′</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Algorithm 1의 θ_p에는 목표 prime 누락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손실·학습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제곱오차 L; 본문은 gradient descent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식 40–41은 +∇L로 인쇄되어 불일치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 GAT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θ_g′ ← θ_g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온라인 값을 복사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목표 PNAF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θ_p′ ← τθ_p+(1−τ)θ_p′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복사가 아니라 soft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학습 의도와 표기 불일치를 분리한다. 인쇄식만으로 실행 구현을 확정하지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8; Algorithm 1; target Eq. 37; Eqs. 38, 40-43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II: simulation 환경을 먼저 고정한다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수치가 고정 또는 변화될 때에만 이후 TESC plots를 해석할 수 있다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348480"/>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category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setting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value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RSU coverage; slot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m; 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application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tasks; input/output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8-12; 2.5-3.5 MByte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cycles; local / edge peak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800-1200 Mcycles; 10^8 / 10^9 cycles/s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radio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bandwidth; peak power; distance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MHz; 200 mW; 100 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beta1, beta2, beta3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.33, .33, .33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결과는 작업 크기·통신·요금·범위·가중치라는 실험 조건에 묶여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8; Table 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speed input과 neural-network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실험은 real-world speed data를 input으로 쓰지만, V2I system과 workload는 simulation으로 구성한다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282952"/>
                <a:gridCol w="5109464"/>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item</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boundary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speed trajectories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CPIPC data; four tailored 100 s traces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7일간 초 단위 수집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1층; 2 heads × 6개 특성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작업당 12개; 길이 맞춤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PNAF network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one hidden layer; 128 neurons; ReLU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Adam; lr=.01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gamma=.99; soft update=.1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 20 episodes in Table III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platform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PyTorch / Python 3.5; Ubuntu server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not a vehicle deployment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실제 속도 이력을 입력했어도 전체 비용 결과는 시뮬레이션이다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9-10; Fig. 6; Table III; §V-A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비교 대상은 무엇을 고정하거나 단순화하는가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DHVO의 비교는 다섯 policy family가 같은 simulation 조건에서 내는 TESC를 보는 방식이다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5326888"/>
                <a:gridCol w="380492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rule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기준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 local at peak local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offloading 없는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 edge at peak transmit 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always offload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GOE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 km/h constant-speed return prediction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edge rule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equally spaced continuous values + GAT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finite discretization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DHVO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 + PNAF hierarchical actions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proposed method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비교 우위는 이 네 기준 정책과 해당 실험 조건에 한정된다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9; §V-A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convergence 수치는 두 실험 조건을 구분해야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별도 convergence setup과 parameter-sweep comparison은 training episodes와 목적이 다르다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convergence subsection: buffer transition 500개 초과 후 training, batch 256</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source는 DHVO가 해당 setup에서 14 episode 안에 converge했다고 보고한다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reported batch training time는 1.58 s, inference는 .0018 s다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later parameter comparisons: DQN10과 DHVO를 40 episodes train하고 50 individual tests 평균</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14회 수렴 관찰과 40회 학습 비교는 서로 다른 실험 절차다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9-10; §§V-B, V-C</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Figs. 8-11: 어떤 parameter가 바뀔 때의 TESC인가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plot의 공통 결론보다, 바꾼 variable과 비교 범위를 먼저 읽는다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630680"/>
                <a:gridCol w="3478784"/>
                <a:gridCol w="57617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figure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varied parameter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source interpretation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RSU coverage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ALE는 local-only라 constant; other costs decrease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bandwidth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below 2.25 MHz에서는 ALE가 AO보다 낫다고 보고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cycles; input/output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cycles는 local, data size는 edge 영향이 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compute price; migration price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migration price가 AO/GOE에 더 큰 영향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II defaults except varied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 trend, deployment guarantee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엣지의 이점은 대역폭·통신 범위·이관 요금에 따라 달라진다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10-11; Figs. 8-11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정책의 선택과 비용 성분으로 결과를 해석한다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action count와 TESC composition은 저자 해석을 보조하지만 각각 동일한 evidence type은 아니다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348480"/>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evidence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reported 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safe reading</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 applications, each 8-12 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DHVO local/edge balance; migration count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13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 energy, cost distribution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ALE energy; AO/GOE migration charge 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small fading complex Gaussian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curve is less smooth but learning observed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mechanism claim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last-five-second speed feature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 explanation, general forecast proof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저자는 단말·엣지의 혼합 선택이 이관을 줄였다고 해석한다. 근거는 시뮬레이션이다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11-12; Figs. 12-14; §V-D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구성요소 제거 실험: DHVO의 정규화 비용이 가장 낮다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15의 세로축은 Normalized TESC다. 성능 점수가 아니라 비용이므로 낮을수록 좋다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바꾼 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확인된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DHVO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 + PNAF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그림에서 가장 낮은 비용; 기준 막대 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PNAF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 없이 PNAF만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그래프 특성 추출의 기여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GDQN2/5/10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GAT + 연속 구간의 이산화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PNAF와 이산화 방법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예산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모두 같은 수의 episode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저자는 5/10의 미수렴이 영향을 줬다고 설명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두 구성요소의 기여는 확인되지만, 이산화 구간을 늘리면 항상 나쁘다는 뜻은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12-13; §V-E; Fig. 15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무엇을 이 결과에서 결론내릴 수 없는가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DHVO는 source의 V2I simulator에서 TESC를 줄이는 정책이며, 모든 road deployment를 해결했다는 증거는 아니다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원문 system model은 한 vehicle UE와 한 application DAG를 중심으로 둔다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edge server는 abundant resource와 fixed frequency를 가정한다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실제 입력은 속도 이력이다. 작업·통신·요금·RSU는 모의 환경이다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GAT one-layer and task count assumptions은 source design 범위다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철회된 원고다. 식에 불일치가 있고 최적성·현장 배포는 검증되지 않았다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속도 이력 기반 시뮬레이션의 가능성이지 실제 도로에서의 성능 보장은 아니다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3-5, 8-9, 12-13; §§III, V, VI; arxiv-status v2 withdrawal notice; comments</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DHVO의 설계를 한 흐름으로 정리하면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DAG와 이동 상태를 표현하고, 작업·실행 위치·자원을 골라 실행한 결과로 Q를 학습한다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V2I + DAG</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위치·속도·준비 작업</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GAT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이웃 정보로 표현</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PNAF</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y, k, f 또는 p</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환경</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시간·에너지·요금</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replay</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음수 비용으로 학습</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그래프 표현과 분기별 Q 구성을 배우되, 철회 상태와 재현 한계도 함께 기억한다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1-13; Figs. 1-15; Algorithm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차량의 작업 순서와 오프로딩을 함께 결정하기</dc:title>
  <dc:subject>Hierarchical Reinforcement Learning Empowered Task Offloading in V2I Networks</dc:subject>
  <dc:creator>Research Seminars</dc:creator>
  <cp:lastModifiedBy>Research Seminars</cp:lastModifiedBy>
  <cp:revision>1</cp:revision>
  <dcterms:created xsi:type="dcterms:W3CDTF">2026-09-12T08:25:15Z</dcterms:created>
  <dcterms:modified xsi:type="dcterms:W3CDTF">2026-09-12T08:25:15Z</dcterms:modified>
</cp:coreProperties>
</file>
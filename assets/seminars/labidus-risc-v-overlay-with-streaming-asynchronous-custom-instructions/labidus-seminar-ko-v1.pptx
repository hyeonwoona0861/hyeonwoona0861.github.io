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3F60453-AF13-4E8B-85A9-E5F357294B4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Labidus: Streaming Async Instruction RISC-V Overlay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RISC-V soft processor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자동 구성하는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질문은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편의성을 유지하면서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application-specific 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얻을 수 있는가입니다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asynchronous completion queue, stream-semantic memory, four-core shared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57,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F87096-DC1B-4AC8-8718-9195613789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개발의 두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application-specific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있지만 높은 성능을 얻으려면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regular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효과적이지만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loop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irregular control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hardware-aware guidance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 processor overlay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개발을 쉽게 만들지만 범용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processor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chip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느리기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57-58, Sections I-II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D67A88-8EB9-4FB1-8FC7-E7B784E341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 목표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compute-heavy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application-specific fused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복잡한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길 수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추가하는 것만으로는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높아지지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진행시키고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shared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57,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99BCEA-0E76-4778-B811-DFEA77165D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Programming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시스템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programming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Host 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호출하고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movement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조정하며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부분의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library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표시해야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Legacy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자동 추출하는 기능은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58-59, Section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DBBE38-F322-4019-9829-40B20B1F44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산출물까지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analysis tool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Hardware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application-specific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포함된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software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계산을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asynchronous custom instruction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표현하도록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산출물은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HDL compiler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bitfile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실행할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binary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58-59, Section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D32664-0790-4F80-8705-248EE34199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Haversine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fused operator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K-means Haversine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sinsq, coscos, arcsrt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Sinsq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각도의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제곱으로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coscos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arcsrt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복잡한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dozens of cycles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가질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pipelined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받을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단계의 문제는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실제로 채우는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58-59, Fig. 1 and Section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2E5CB5-ADDF-48C2-BECB-27228319BC9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배치와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lifecycle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generated bitfile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binary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DRAM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복사하고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시작시킵니다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돌아옵니다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평가한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standalone embedded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host-connected accelerator card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59, Section III-B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A14FD4-A6B3-4FEC-AB2B-372AA7A66F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Host, memory, Labidus 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III-B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DRAM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복사한 뒤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실선은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DRAM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start/control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제어 경로입니다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 controller, DRAM controller, 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mesh endpoint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점선 양방향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mesh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fabric 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뜻하며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복제된다는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반대 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돌아갑니다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59, Fig. 3 and Section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CE9C8B-1F5B-406C-A2DE-6ADA621F08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4-core 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operator pool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 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RV32I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stream-semantic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Custom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공유됩니다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Static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실제로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상대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Sharing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높이는 방법이지만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request routing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함께 있어야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long-latency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감당할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57 and 59,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5B8F8F-AEAB-4A15-A9E5-681FE5F8FA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path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RV32I 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 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readiness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Stream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off-chip data burst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공급하며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RISC-V local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분리되어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fused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59-60, Figs. 4-5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1685A6-0D83-491A-ACE0-F82B7A5305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Asynchronous 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동작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 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기다리지 않고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예약한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채우고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program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Reserved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incomplete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asynchronous semantics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제거하는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59-60, Fig. 4 and Section 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1F0E07-86C5-4F19-9371-AB2141BD58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Circular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epoch tracking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fixed-size BRAM circular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buffer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끝을 지나면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address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old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reservation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구분하기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 증가시키고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Slot epoch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아직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되지 않은 것으로 판단합니다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60, Section 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19396C-EAED-403B-9026-303963C69E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Latency hiding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성립하는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Long-latency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pipelined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Queue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기다리는 시간을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issue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겹칠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incomplete 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가득 차면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hiding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elimination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58-60, Figs. 2 and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51C654-A1BC-4065-9C7A-6C2639BB23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M=3 streaming trace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 size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0, 1,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실행 순서를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Sinsq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내보내는 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coscos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coscos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준비되면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multiply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설명할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숫자로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58-59, Fig. 2 and Section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CA3E6D-9D56-4A49-9010-A1D1A9A335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Multiply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operand stream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Haversine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sinsq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coscos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값을 묶어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세 번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coscos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multiply issue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coscos 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59, Section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4F8EDA-06B9-435E-BE2B-AC1903F58B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Stream-semantic memory path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off-chip access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Stream-semantic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RISC-V 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memory hierarchy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x29, x30, x31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반복해 읽으면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이어서 나오고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burst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확장해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60, Fig. 5 and Section 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998F57-B792-4C29-895C-75B5E0F666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Memory request immediate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Modified I-type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S-type memory instruction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12-bit immediate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6-bit burst length, 5-bit repeat count, 1-bit uncached flag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Repeat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여러 번 읽을 때 유용합니다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Uncached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off-chip access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오염시키지 않도록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bypass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custom instruction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R-type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60, Section 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793731-5ADA-493C-B1CA-240989020C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Operator repeat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command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 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여러 번 실행하게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register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반복할 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 burst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registers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 반복마다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공급할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RISC-V 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command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60-61, Section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305972-5F35-4B54-A4CD-E34EA20403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Custom operator instruction encoding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R-type opcode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호출됩니다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 fields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R-type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func7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operation, func3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Six-bit opcode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generated hardware 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64 operator types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Hardware template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수백 후보가 있어도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60-61, Section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89AF7C-8911-45E0-B2C7-BF3DA84948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Shared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trimming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있어도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항상 바쁘지는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공유하고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보수적으로 추정해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to four instances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tested configurations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관찰하지 않았고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benchmarks across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'over 100% points'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개선됐다고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산식은 따로 정의되지 않아 이를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percentage-point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증가로 재해석하지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61, Section IV-C and Section 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4F8FF9-BD74-4EE1-A4F1-00A1FD85F4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4-core tile operator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Labidus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instance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Cholesky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divide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adders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K-means Haversine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 multiply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sinsq, coscos, arcsrt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하나씩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possible 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항상 넣지 않는다는 점을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61, Table 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9C8618-C6D3-4EA1-AE0B-8D563E2F68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구현과 자원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Amazon AWS F1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Xilinx Virtex UltraScale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LUT usage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3.4%, Haversine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4.2%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Four RV32I cores, four stream caches, four completion queues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160 BRAM blocks, 7%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61, Section 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EF5EC0-D653-4F6E-BF44-BD576E7DEC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1024-slot latency-hiding resource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 latency-hiding capability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RISC-V processor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1024-slot reorder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than 80K LUTs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제외한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1024-size completion queue tile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38K LUTs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완전히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61, Section V-A.2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D47963-D75A-4D1F-9256-526139483C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DRAM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on-chip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가정하고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size-256 sub-matrix streams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256-point 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published FFT-4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Haversine distance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61-62, Fig. 6 and Section 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7BD0B69-F598-4EA9-94C0-D001B22D35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Cross-publication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under-optimized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피하기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published expert implementations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Slower clock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linearly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FPGA family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LUT inputs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GFLOPS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GFLOPS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취급합니다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이 방법이 완벽하지 않다고 밝히므로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 superiority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61-62, Section V-B.1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E675DE-D783-49ED-B285-69556C66AA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적용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chip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MicroBlaze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 50 times, published soft GPUs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almost 10 times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Soft-processor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example, favorable baseline configurations, 250 MHz normalization, 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80% operator utilization assumption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 multiplication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N-body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published RTL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 resources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4 to 7 times faster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선명하게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p. 57 and pp. 62-63, Sections I and V-B-C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D468A5-5636-4963-9B6C-DC1F0F0DE3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온디바이스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판단에 주는 근거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FPGA fabric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software-controlled RV32I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application-specific operators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구동하는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BRAM 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stream-register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resource-constrained accelerator 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참고할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evaluated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PCIe-connected FPGA card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DRAM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smartphone, MCU, battery, thermal, hard real-time, standalone execution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58-63, Sections III-V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18FD12-F636-4BB1-A5F0-4256DBE7AA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pool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custom-instruction 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burst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registers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completion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long-latency requests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진행시킵니다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Four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공유하고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FPGA, workload, normalization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안에서 해석해야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asap2025 | pp. 57-63, Sections I-VI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Labidus: RISC-V Overlay with Streaming Asynchronous Custom Instructions, IEEE ASAP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https://doi.org/10.1109/ASAP65064.2025.00018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5CD8D7-3FE0-4DB6-9A30-EB532F74D7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Labidus: Streaming Async Instruction RISC-V Overlay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Labidus: RISC-V Overlay with Streaming Asynchronous Custom Instructions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Gongjin Sun, Seongyoung Kang, Jane He, Se-Min Lim, and Sang-Woo Jun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Software-defined FPGA overlay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operator latency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범용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 overhead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줄이는 구조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57,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개발의 두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Custom 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processor overlay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비용을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얻는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응용에 맞춘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pipeline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수준의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design expertise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계열 언어에서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비정규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상세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guidance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 processor overlay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language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compiler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instruction 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 logic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 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개발 편의성을 유지하면서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줄이는 문제를 다룬다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57-58, Sections I-II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 목표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kernel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Programmer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software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계산을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Static analysis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operation tree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Custom operators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복잡한 연산을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fused instruction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 utilization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async 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실행을 겹침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 operator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만드는 일보다 계속 바쁘게 유지하는 데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57,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Programming model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시스템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2397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Labidus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처리하는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Programmer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책임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software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Generated accelerator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 software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 instruction call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삽입됨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compute-heavy region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pool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core cluster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library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region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host-kernel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구간을 완전히 자동화하지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58-59, Section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 kernel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두 산출물까지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Static analysis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kernel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구간을 지정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pool HDL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Software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Async call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삽입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Compile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Vivado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GCC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 pair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Bitfile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 binary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58-59, Section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Haversine loop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fused operator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Operation tree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묶되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 inputs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output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형태를 유지한다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lane-compil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static analysis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mechanism-edge-hf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mechanism-edge-hf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mechanism-edge-hf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mechanism-node-loop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loop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좌표와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center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거리 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node-tre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Operation tree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sin, cos, sqrt, multiply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node-fused"/>
          <p:cNvSpPr/>
          <p:nvPr/>
        </p:nvSpPr>
        <p:spPr>
          <a:xfrm>
            <a:off x="684540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Fused operators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node-fused-queue-1"/>
          <p:cNvSpPr/>
          <p:nvPr/>
        </p:nvSpPr>
        <p:spPr>
          <a:xfrm>
            <a:off x="684540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sinsq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mechanism-node-fused-queue-2"/>
          <p:cNvSpPr/>
          <p:nvPr/>
        </p:nvSpPr>
        <p:spPr>
          <a:xfrm>
            <a:off x="684540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coscos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node-fused-queue-3"/>
          <p:cNvSpPr/>
          <p:nvPr/>
        </p:nvSpPr>
        <p:spPr>
          <a:xfrm>
            <a:off x="684540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arcsrt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node-pool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Operator pool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응용에 필요한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instance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배치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Fused operator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수십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가질 수 있어도 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받을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58-59, Fig. 1 and Section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배치와 실행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lifecycle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Configure FPGA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Generated HDL bitfile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Load kernels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Compiled binary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Copy input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DRAM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Start cores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 signal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 results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DRAM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Evaluation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연결된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accelerator card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59, Section III-B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Host, memory, Labidus tile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점선은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start/control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fabric connectivity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mechanism-lane-host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boundary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mechanism-lane-fabric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FPGA mesh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mechanism-lane-memory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memory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mechanism-edge-at1-segment-1"/>
          <p:cNvSpPr/>
          <p:nvPr/>
        </p:nvSpPr>
        <p:spPr>
          <a:xfrm>
            <a:off x="3809880" y="273024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mechanism-edge-at1-segment-2"/>
          <p:cNvSpPr/>
          <p:nvPr/>
        </p:nvSpPr>
        <p:spPr>
          <a:xfrm>
            <a:off x="4051080" y="2730240"/>
            <a:ext cx="360" cy="1041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mechanism-edge-at1-segment-3"/>
          <p:cNvSpPr/>
          <p:nvPr/>
        </p:nvSpPr>
        <p:spPr>
          <a:xfrm>
            <a:off x="4051080" y="37717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mechanism-edge-at1-label"/>
          <p:cNvSpPr/>
          <p:nvPr/>
        </p:nvSpPr>
        <p:spPr>
          <a:xfrm>
            <a:off x="3517920" y="2171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edge-at2-segment-1"/>
          <p:cNvSpPr/>
          <p:nvPr/>
        </p:nvSpPr>
        <p:spPr>
          <a:xfrm>
            <a:off x="6362640" y="3974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mechanism-edge-at2-segment-2"/>
          <p:cNvSpPr/>
          <p:nvPr/>
        </p:nvSpPr>
        <p:spPr>
          <a:xfrm>
            <a:off x="652356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mechanism-edge-at2-segment-3"/>
          <p:cNvSpPr/>
          <p:nvPr/>
        </p:nvSpPr>
        <p:spPr>
          <a:xfrm>
            <a:off x="6523560" y="481320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edge-at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 FPGA DRAM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mechanism-edge-at3-segment-1"/>
          <p:cNvSpPr/>
          <p:nvPr/>
        </p:nvSpPr>
        <p:spPr>
          <a:xfrm>
            <a:off x="6362640" y="3568680"/>
            <a:ext cx="303516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at3-label"/>
          <p:cNvSpPr/>
          <p:nvPr/>
        </p:nvSpPr>
        <p:spPr>
          <a:xfrm>
            <a:off x="7346880" y="33400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start/control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mechanism-edge-at4-segment-1"/>
          <p:cNvSpPr/>
          <p:nvPr/>
        </p:nvSpPr>
        <p:spPr>
          <a:xfrm>
            <a:off x="8915400" y="481320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mechanism-edge-at4-segment-2"/>
          <p:cNvSpPr/>
          <p:nvPr/>
        </p:nvSpPr>
        <p:spPr>
          <a:xfrm flipV="1">
            <a:off x="9156600" y="3974760"/>
            <a:ext cx="360" cy="83844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mechanism-edge-at4-segment-3"/>
          <p:cNvSpPr/>
          <p:nvPr/>
        </p:nvSpPr>
        <p:spPr>
          <a:xfrm>
            <a:off x="9156600" y="397476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mechanism-edge-at4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mesh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node-host"/>
          <p:cNvSpPr/>
          <p:nvPr/>
        </p:nvSpPr>
        <p:spPr>
          <a:xfrm>
            <a:off x="173988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software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copy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echanism-node-pci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PCIe controller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mesh endpoint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 link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mechanism-node-dram"/>
          <p:cNvSpPr/>
          <p:nvPr/>
        </p:nvSpPr>
        <p:spPr>
          <a:xfrm>
            <a:off x="684540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DRAM controller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mesh endpoint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FPGA DRAM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mechanism-node-til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Labidus tile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mesh endpoint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cluster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2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mesh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level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59, Fig. 3 and Section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4-core tile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operator pool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lane-tile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tile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edge-ts1-segment-1"/>
          <p:cNvSpPr/>
          <p:nvPr/>
        </p:nvSpPr>
        <p:spPr>
          <a:xfrm>
            <a:off x="466056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mechanism-edge-ts2-segment-1"/>
          <p:cNvSpPr/>
          <p:nvPr/>
        </p:nvSpPr>
        <p:spPr>
          <a:xfrm>
            <a:off x="806436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node-cores"/>
          <p:cNvSpPr/>
          <p:nvPr/>
        </p:nvSpPr>
        <p:spPr>
          <a:xfrm>
            <a:off x="1739880" y="306072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RV32I cores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mechanism-node-cores-queue-1"/>
          <p:cNvSpPr/>
          <p:nvPr/>
        </p:nvSpPr>
        <p:spPr>
          <a:xfrm>
            <a:off x="1739880" y="331488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node-cores-queue-2"/>
          <p:cNvSpPr/>
          <p:nvPr/>
        </p:nvSpPr>
        <p:spPr>
          <a:xfrm>
            <a:off x="1739880" y="350532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node-cores-queue-3"/>
          <p:cNvSpPr/>
          <p:nvPr/>
        </p:nvSpPr>
        <p:spPr>
          <a:xfrm>
            <a:off x="1739880" y="36957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node-cores-queue-4"/>
          <p:cNvSpPr/>
          <p:nvPr/>
        </p:nvSpPr>
        <p:spPr>
          <a:xfrm>
            <a:off x="1739880" y="388620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mechanism-node-caches"/>
          <p:cNvSpPr/>
          <p:nvPr/>
        </p:nvSpPr>
        <p:spPr>
          <a:xfrm>
            <a:off x="5143680" y="306072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Per-core resources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mechanism-node-caches-queue-1"/>
          <p:cNvSpPr/>
          <p:nvPr/>
        </p:nvSpPr>
        <p:spPr>
          <a:xfrm>
            <a:off x="5143680" y="331488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0 and queue 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echanism-node-caches-queue-2"/>
          <p:cNvSpPr/>
          <p:nvPr/>
        </p:nvSpPr>
        <p:spPr>
          <a:xfrm>
            <a:off x="5143680" y="350532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1 and queue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mechanism-node-caches-queue-3"/>
          <p:cNvSpPr/>
          <p:nvPr/>
        </p:nvSpPr>
        <p:spPr>
          <a:xfrm>
            <a:off x="5143680" y="36957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2 and queue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mechanism-node-caches-queue-4"/>
          <p:cNvSpPr/>
          <p:nvPr/>
        </p:nvSpPr>
        <p:spPr>
          <a:xfrm>
            <a:off x="5143680" y="388620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3 and queue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mechanism-node-sharedpool"/>
          <p:cNvSpPr/>
          <p:nvPr/>
        </p:nvSpPr>
        <p:spPr>
          <a:xfrm>
            <a:off x="8547120" y="32385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operator pool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units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복제하지 않고 공유해 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57 and 59,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 path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565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연결되는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RV32I 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 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command issue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mem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reservation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async result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pool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Off-chip burst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공급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Router, DRAM, completion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Fused computation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pipeline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four cores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RV32I 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issue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readiness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흡수한다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59-60, Figs. 4-5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Asynchronous completion 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기본 동작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Operation issue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result completion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시점을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mechanism-lane-ti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state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mechanism-edge-cq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mechanism-edge-cq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mechanism-edge-cq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mechanism-edge-cq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mechanism-node-issue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Issue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 op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요청 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mechanism-node-reserve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Reserve tail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epoch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예약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mechanism-node-continu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command issue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mechanism-node-fill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Async fill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mechanism-node-read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 head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result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mechanism-axis-tick-1"/>
          <p:cNvSpPr/>
          <p:nvPr/>
        </p:nvSpPr>
        <p:spPr>
          <a:xfrm>
            <a:off x="2163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mechanism-axis-tick-2"/>
          <p:cNvSpPr/>
          <p:nvPr/>
        </p:nvSpPr>
        <p:spPr>
          <a:xfrm>
            <a:off x="42062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mechanism-axis-tick-3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mechanism-axis-tick-4"/>
          <p:cNvSpPr/>
          <p:nvPr/>
        </p:nvSpPr>
        <p:spPr>
          <a:xfrm>
            <a:off x="82904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mechanism-axis-tick-5"/>
          <p:cNvSpPr/>
          <p:nvPr/>
        </p:nvSpPr>
        <p:spPr>
          <a:xfrm>
            <a:off x="10332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도달하기 전에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겹칠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59-60, Fig. 4 and Section 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Circular buffer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epoch tracking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Reserve slot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Tag epoch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wrap generation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기록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Tail wraps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끝에서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epoch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arrives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Address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epoch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식별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Check readiness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Old epoch slot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new result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Epoch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physical slot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여러 바퀴 재사용할 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generation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60, Section 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hiding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성립하는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성립할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깨질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pipeline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cycle input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Initiation 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길면 공급률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In-flight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request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차면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request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대기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 readiness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 전에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 complete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Incomplete head read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stream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register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single-operation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pipeline utilization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개선하는 구조다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58-60, Figs. 2 and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M=3 streaming trace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M-input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펼친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constructed example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Issue sinsq x3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Inputs 0, 1, 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연속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results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sinsq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Issue coscos x3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동시에 다음 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공급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Wait for first ready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coscos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M=3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실행 순서를 설명하는 예시이며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measured cycle count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58-59, Fig. 2 and Section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Multiply stage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operand stream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M=3 constructed example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Cached sinsq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sinsq[0..2]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읽음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Queued coscos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coscos[0..2]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읽음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Multiply x3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값을 곱함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Three intermediates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distance operator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59, Section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Stream-semantic memory path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Burst request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load/store instruction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mechanism-lane-stream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stream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mechanism-edge-sm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mechanism-edge-sm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mechanism-edge-sm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mechanism-node-offchip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Router and DRAM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Off-chip data burst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mechanism-node-scach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cache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Burst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uncached bypass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mechanism-node-sregs"/>
          <p:cNvSpPr/>
          <p:nvPr/>
        </p:nvSpPr>
        <p:spPr>
          <a:xfrm>
            <a:off x="684540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registers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mechanism-node-sregs-queue-1"/>
          <p:cNvSpPr/>
          <p:nvPr/>
        </p:nvSpPr>
        <p:spPr>
          <a:xfrm>
            <a:off x="684540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x29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mechanism-node-sregs-queue-2"/>
          <p:cNvSpPr/>
          <p:nvPr/>
        </p:nvSpPr>
        <p:spPr>
          <a:xfrm>
            <a:off x="684540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x30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mechanism-node-sregs-queue-3"/>
          <p:cNvSpPr/>
          <p:nvPr/>
        </p:nvSpPr>
        <p:spPr>
          <a:xfrm>
            <a:off x="684540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x31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mechanism-node-consumer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and operators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operand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consume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 cache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 RISC-V local 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분리되고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전용으로 연결된다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60, Fig. 5 and Section 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request immediate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12-bit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261240"/>
                <a:gridCol w="195660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Burst length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request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region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반복 접근 횟수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Uncached flag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BRAM bypass 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Burst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repeat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command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줄이고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uncached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bypass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여부를 정한다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60, Section 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repeat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RISC-V issue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Repeat count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Operator repeat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연속 실행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 burst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새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operand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연속 공급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registers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x29, x30, x31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값 갱신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Overlapped work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control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실행을 겹침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60-61, Section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 operator instruction encoding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R-type field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Labidus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사용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Register fields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rd, rs1, rs2 register fields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 R-type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위치를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func7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호출할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Generated design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func3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repeat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immediate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6-bit opcode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 operator types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Template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수백 후보 중 사용분만 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Generated hardware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실제 사용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다시 배정한다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60-61, Section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operator pool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trimming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Count operations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Static analysis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상대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frequency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 per tile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Four cores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pool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Choose instances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배치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Remove idle copies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utilization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Trimming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사용하지 않는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과도한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복제를 줄인다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61, Section IV-C and Section 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4-core tile operator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arithmetic instances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Application-specific instances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Cholesky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multiply 2, divide 1, add 2, sqrt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multiply 2, add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multiply 2, add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multiply 2, add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sinsq 1, coscos 1, arcsrt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pool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달라지는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61, Table 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구현과 자원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configuration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Amazon AWS F1, Xilinx Virtex UltraScale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Host-connected accelerator card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Synthesis clock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Operator-pool LUT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FFT 3.4% to Haversine 4.2%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configuration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 and processor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160 BRAM blocks, 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Four cores, caches, queues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tile configuration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묶여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61, Section 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1024-slot latency-hiding resource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Application runtime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queue-style control 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LUT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52178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Design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 result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Deep-pipeline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1024-slot reorder buffer, matching ISA change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More than 80K, about 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Labidus tile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1024-entry completion queue, operator pool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38K, about 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비교를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배가 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resource-efficiency improvement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해석한다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61, Section V-A.2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Labidus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Compared implementations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Cholesky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Sub-matrix 256, matrix fits distributed on-chip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OmpSs, RTL, HLS, MicroBlaze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independent stream per 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Xilinx, ANL HLS, soft GPU, MicroBlaze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256-point FFTs across 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Xilinx, OpenCL, HLS, RTL, MBx32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Haversine comparisons across 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 RTL and HLS, published RTL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publication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platform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축에서 비교한다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61-62, Fig. 6 and Section 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Cross-publication normalization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Collect published results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Expert-optimized RTL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HLS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Scale slower clocks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Performance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250 MHz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선형 환산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 LUT inputs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family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LUT input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맞춤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Plot performance per LUT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Given resource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efficiency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5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직접 대결이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포함한 비교다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61-62, Section V-B.1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적용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statement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 50x vs MicroBlaze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Chip resource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performance headline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runtime ratio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Almost 10x vs soft GPUs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Published designs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Cholesky-based 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measurement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RTL is 4-7x faster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 multiplication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N-body, similar resources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Regular control 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Labidus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irregular control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regular dense 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앞설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p. 57 and pp. 62-63, Sections I and V-B-C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온디바이스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판단에 주는 근거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보여주는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보장할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RV32I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 operator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Smartphone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MCU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BRAM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many in-flight operations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thermal constraint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Three stream registers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burst memory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standalone execution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operator generation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trimming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 real-time, DNN, ASIC, NPU superiority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accelerator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 재료를 제공하지만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mobile on-device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 논문은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58-63, Sections III-V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Analyze C kernel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응용별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fused operator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9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0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Generate both paths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HDL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modified software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4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5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 streams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Burst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three registers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operand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9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0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Hide latency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겹침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4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5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 and trim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Four cores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operator utilization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9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0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Labidus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성능 논리는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compile-time specialization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latency hiding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2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asap2025 pp. 57-63, Sections I-VI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2026-09-12T06:08:34Z</dcterms:created>
  <dc:creator>Research Seminars</dc:creator>
  <dc:description/>
  <dc:language>ko-KR</dc:language>
  <cp:lastModifiedBy>Research Seminars</cp:lastModifiedBy>
  <dcterms:modified xsi:type="dcterms:W3CDTF">2026-09-12T06:08:34Z</dcterms:modified>
  <cp:revision>1</cp:revision>
  <dc:subject>Labidus: RISC-V Overlay with Streaming Asynchronous Custom Instructions</dc:subject>
  <dc:title>Labidus: Streaming Async Instruction RISC-V Overlay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28</vt:r8>
  </property>
  <property fmtid="{D5CDD505-2E9C-101B-9397-08002B2CF9AE}" pid="3" name="PresentationFormat">
    <vt:lpwstr>On-screen Show (16:9)</vt:lpwstr>
  </property>
  <property fmtid="{D5CDD505-2E9C-101B-9397-08002B2CF9AE}" pid="4" name="Slides">
    <vt:r8>28</vt:r8>
  </property>
</Properties>
</file>
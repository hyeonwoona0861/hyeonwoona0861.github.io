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D7EE67A-6244-4657-AA76-9108E1D99A5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SafeRL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 technical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바탕으로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PDF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페이지의 저자 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Ankita Kushwaha, Kiran Ravish, Preeti Lamba, Pawan Kumar, Anuj Mahajan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다섯 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자체는 하나의 새 알고리즘이나 통합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single-agent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multi-agent SafeRL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열린 문제를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FC72AE-4985-425F-B664-53D4156165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보상만 최대화할 때 남는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누적 보상의 기대값을 크게 하는 정책을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SafeRL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충돌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용량 초과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치료 부작용처럼 원하지 않는 결과를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모델링할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높다고 해서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자동으로 작거나 허용 한도 안이라는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정의했는지가 안전의 내용도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2, 5;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BAB921-89FD-4F74-A072-CA0A67F66B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foundations, methods, open problems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갈래로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Lagrangian optimization, CPO, shield, risk-sensitive methods,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application examples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library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표는 각 방법의 공정한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인용한 사례와 도구의 목록입니다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2–3,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E5E743-436E-4ED4-8C20-F08DD5EC7B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상호작용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set S, action set A, transition probability P, reward r, discount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 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J(pi)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따를 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cumulative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버리는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functions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4, Definitions 3.1–3.2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9C2866-FE6A-4FE6-BE1C-0CC995551F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CMDP: 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옆의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CMDP tuple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function c(i)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d(i)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Pi_safe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Jc(i)(pi) &lt;= d(i)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정의는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discounted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단 한 번도 위험 행동이 없다는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5, Fig. 2 and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BF0BAC-58E8-430F-A6C7-AB9E94D77D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최적화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cost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이하가 되게 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nonempty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finite 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multiple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satisfaction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stochastic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safe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언제나 존재한다고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5, Eq. 1 and Theorem 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FD6A1E-149B-410F-A99D-7597C5F12B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기대비용 제약이 말하는 것과 말하지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cumulative cost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하다는 의미는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in expectation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asymptotically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early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violations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허용할 수 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발표에서 안전이라고 말할 때 무엇의 기대값인지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시점의 안전인지 함께 밝혀야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8–15; p. 27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4CA0F23-1FF7-4DFF-AC25-4777B86133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가상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fast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cautious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아닌 교육용 가상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 pi_p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 p, cautious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 1-p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cautious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계산해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왜 등장하는지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5, finite CMDP policy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44B3F3-4B48-4A00-ADE5-DFAB5E1658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가상 예시를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inequality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 &lt;=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 7+3p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증가할수록 커지므로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J=8.5, Jc=0.5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one-step expectation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예시일 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finite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multiplier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항상 찾는다는 주장이나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every-step collision avoidance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주장은 여기서 나오지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5, Eq. 1 and policy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16EC89-840E-4D07-B934-CB5E02F3567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필요한 상황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policies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3.3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 rewards and costs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존재를 말하며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multiple 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policies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state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임의로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policy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그대로 같은 형태의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주장해서는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15, Theorem 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9C5A28-06B3-411A-8988-15ECC7116A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Lagrange multiplier: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Lagrangian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L(pi,lambda)=J(pi)+sum lambda(i)(d(i)-Jc(i)(pi))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fixed 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r_lambda=r-sum lambda(i)c(i)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penalized reward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practical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lambda(i) &lt;- [lambda(i)+alpha(Jc(i)-d(i))]+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되지 않게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incentive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optimization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action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6, Lagrangian formulation and Eq.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C642AD0-9AF8-470B-B056-FC13EE2AEA6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primal-dual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인과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multiplier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penalized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높이는 방향으로 갱신됩니다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multiplier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 별도로 갱신됩니다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policy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비중이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estimate error, function approximation, nonconvex neural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있으면 이 간단한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 training safety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6–7, Fig. 3; p. 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0E5C67-58D7-42B9-99A5-A970C9D4A3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occupancy measure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program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x(s,a)=(1-gamma) sum_t gamma^t Pr(s_t=s,a_t=a|pi)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0&lt;=gamma&lt;1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absorbing-terminal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표현에서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discounted occupancy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J_C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정규화하지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cumulative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J=[sum x r]/(1-gamma), J_C=[sum x c]/(1-gamma)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J_C&lt;=d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x c&lt;=(1-gamma)d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표시에서 이 정규화 인자를 생략하여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정의와 불일치합니다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두 정의가 일치하도록 인자를 명시한 산술 재구성입니다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양의 상수로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배율 조정하는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바꾸지 않지만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배율을 빠뜨리면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reward, expected cost, positivity, flow conservation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known-model 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moderate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있으나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직접 적용하기 어렵다고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5–8, return/occupancy definitions; normalization reconstructed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305181-5BD2-4ADF-A26A-5B951E547C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제약의 문법 다섯 가지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instantaneous, expected cumulative, probability of failure, risk measures, temporal logic specifications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strictest-to-flexible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 aid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유용하지만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현실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total 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다루는지 먼저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8–15, Fig.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6AB408-69E0-4378-BEFA-54CC44B8C6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제약과 기대비용 제약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instantaneous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time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c(s_t,a_t)&lt;=d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cumulative constraint J_C(pi)&lt;=d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cumulative expected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한도 아래로 요구하며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long-run average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정의가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long-run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설명과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cumulative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수식은 구분해서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instantaneous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challenging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barrier, shielding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자주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enforce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syntax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8–9; Fig.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DD0ACB-EA2C-4DFE-AD8C-9486CE188C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failure probability, CVaR, temporal logic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failure probability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failure 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진입 여부를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indicator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failure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CVaR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속한 나쁜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conditional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question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temporal logic specification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always avoid 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requirement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language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classic CMDP linear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항상 맞지는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9–15, §§3.3.2–3.3.5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A2C338-4B8D-4001-9BC1-BC04F59F9D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 지도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optimization, safety shields or action correction, risk-sensitive or distributional methods, multi-agent extensions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설명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Lagrangian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둘러쌀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CVaR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CMDP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들어갈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분류 이름만으로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판단하면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p. 18, Fig.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1D4647-E1F0-42A9-BC13-93645E2756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Lagrangian actor-critic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 분담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penalized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multiplier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 satisfaction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Lagrangian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 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민감하고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 constraint satisfaction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safety filter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18–19, Fig.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99311E-B63B-452E-936B-2197E587277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CPO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trust-region update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trust-region policy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constrained optimization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Constrained trust-region solve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backtracking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적절한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설명하는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PCPO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구분하며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자체의 필수 연산으로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Proposition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starting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feasible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cost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approximation-error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upper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zero violation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18–20, Fig. 11 and Prop. 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cpo | ICML 2017, pp. 22–31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Policy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https://proceedings.mlr.press/v70/achiam17a.html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A6B755-AD5F-46D0-B39C-12D283B0AD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CPO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보장의 조건과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 Proposition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CPO trust-region optimization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푼 경우를 전제로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gamma, KL radius, cost advantage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approximation-error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reliable cost and cost-advantage estimation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practical challenge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training 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소개하지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19–20, Prop. 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cpo | ICML 2017, trust-region bound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Policy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https://proceedings.mlr.press/v70/achiam17a.html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779FA5-DF2E-4300-B711-1845F84421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action a_t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specification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executed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예측하면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dynamics linearization, model, learned predictor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additional 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safety statement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조건을 함께 밝혀야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21–22, Fig. 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4B70CDD-EC3D-49B5-908F-07352FD0AF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장점과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shielding approach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safety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장점이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dynamics model, predefined safe set, external supervisor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additional 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shield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지나치게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conservative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space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일부를 경험하지 못해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shield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범위에서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21–22,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47E5CA-2384-408E-9A30-8157C20EAD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risk-sensitive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distributional 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risk-sensitive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CVaR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risk-aware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distributional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CVaR cost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넣을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specialized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sample-based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risk-sensitive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broader SafeRL toolbox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alternative 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11–13; p. 22,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4FF7A5-3874-49B2-B45B-7CC7FF9AA6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SafeMARL: joint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constraint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N-agent constrained Markov game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agents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action a=(a1,...,aN)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possibly its own cost functions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cooperative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있을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competitive or general-sum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equilibrium question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등장합니다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single-agent CMDP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SafeMARL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전체로 확장하면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22–23, §4.4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31B5A6-8FF9-4DFC-A7EB-474E506770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centralized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decentralized SafeMARL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 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그림과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decentralized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k-hop communication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쓰는 그림을 대비합니다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reward or cost design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safety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맞는다는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얻는 일이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communication limit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non-stationarity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안전을 더 어렵게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23–24, Fig. 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D2F151D-8D61-4470-9628-DC2B24C93C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cooperative SafeMARL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Proposition 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cooperative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team of n agents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Multi-agent Policy 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proof sketch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updates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agent-wise KL trust regions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decentralized, competitive, partially observed settings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challenge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두므로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그 영역의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23–24, Prop.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DF95E0-11CD-4A0F-82E9-E580094337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competitive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다른 문제를 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cooperative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team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joint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다룰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competitive or general-sum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own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높이고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own or shared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만족해야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Nash equilibrium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solution concept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game equilibria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SafeMARL competition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22, 25, 29;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595A79-23F4-4E31-8559-0A44B5C324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libraries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올바른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Tables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SafeRL and SafeMARL libraries, environments, datasets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category, capability, application area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observability, action space, constraint representation, model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비교할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release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recommendation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주장하지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사용 전에는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upstream documentation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별도로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25–27, Tables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80BF40-6482-45BC-AB4C-91BE0C2B5C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결론을 지지하는 다섯 열린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research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zero-violation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catastrophic failure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허용되지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partial observability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safety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decentralized systems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홀로 평가하지 못할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competitive and non-stationary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어렵게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27–30, Fig. 14 and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CE6F4B-144F-479A-9EC0-1949B73C2C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SafeRL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읽는 다섯 단계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name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쓰지 않는 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named cost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쓰게 해 주지만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expected cost, instantaneous constraint, failure probability, CVaR, temporal logic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Lagrange, CPO, shield, SafeMARL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문장을 읽을 때에는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보아야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남긴 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problems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이 조건부 해석을 뒷받침합니다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survey-v2 | pp. 14–18, 27–30,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v2: A Survey of Safe Reinforcement Learning and Constrained MDPs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https://arxiv.org/pdf/2505.17342v2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C842CE-3C88-4350-899D-7DAB39C861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SafeRL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CMDP: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보장의 조건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Survey of Safe Reinforcement Learning and Constrained MDPs: A Technical Survey on Single-Agent and Multi-Agent Safety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Ankita Kushwaha, Kiran Ravish, Preeti Lamba, Pawan Kumar, and Anuj Mahajan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 최대화에 제약을 더할 때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무엇이 보장되고 무엇이 남는가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보상만 최대화할 때 남는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평균 보상만으로는 어떤 손실을 허용했는지 알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상태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정책이 행동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누적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위험 비용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 한도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검사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보상과 명시된 안전 비용을 함께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2, 5;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CMDP foundations, SafeRL methods, SafeMARL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열린 문제를 잇는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technical survey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6746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foundations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CMDP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제약을 어떻게 쓰는가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정의와 이론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제약을 어떻게 다루는가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방법의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survey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SafeMARL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제약은 어떻게 묶이는가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협력과 경쟁을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 problems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무엇이 아직 해결되지 않았는가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 보장으로 확대하지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새 단일 알고리즘보다 개념 지도와 조건부 주장을 제공한다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2–3,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기본 상호작용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이해하려면 먼저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state, action, transition,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역할을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lane-mdp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interaction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mechanism-node-state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환경 상태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node-policy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pi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pi(a|s)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action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환경에 행동 전달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outcome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outcome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J(pi)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할인된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기대값이다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4, Definitions 3.1–3.2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CMDP: reward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옆의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interaction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 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추가해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lane-cmdp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CMDP interaction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mechanism-node-state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상태를 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mechanism-node-policy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pi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distribution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mechanism-node-env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mechanism-node-check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Jc(i) &lt;= d(i)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Pi_safe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지정된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discounted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만족하는 정책 집합이다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5, Fig. 2 and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최적화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return Jc(i)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pi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대해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6746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J(pi)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기대값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최대화할 성과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Jc(i)(pi)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기대값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한도와 비교할 위험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d(i)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사전에 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Jc(i) &lt;= d(i)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Pi_safe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만족하는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 J(pi), subject to Jc(i)(pi) &lt;= d(i)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5, Eq. 1 and Theorem 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기대비용 제약이 말하는 것과 말하지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Jc(pi) &lt;= 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distribution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discounted cost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CMDP expected-cost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장치가 필요한 경우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이하를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trajectory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나올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instantaneous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초기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violation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막지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exploration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오류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정의만으로 다루지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robustness 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safety, per-step safety, training safety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주장이다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8–15; p. 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가상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fast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cautious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단계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섞어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cost budget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맞춘다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3699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cost 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cautious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가상 예시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fast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5, finite CMDP policy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가상 예시를 계산한다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선택하는 확률이며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budget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range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J(p)=7+3p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Jc(p)=0.2+0.6p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0.2+0.6p &lt;= 0.5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 &lt;= 0.5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p*=0.5, J=8.5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optimum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Jc=0.5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쓰는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pi_0.5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5, Eq. 1 and policy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필요한 상황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finite CMDP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optimum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형태다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60892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always fast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 &gt; 0.5, infeasible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always cautious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 &lt;= 0.5, feasible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pi_0.5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 = 0.5, feasible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해법이며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의무 규칙은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15, Theorem 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Lagrange multiplier: 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lambda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 violation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전달한다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mechanism-lane-dual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primal-dual view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mechanism-node-policy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pi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echanism-node-gap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Jc(i)-d(i)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mechanism-node-lambda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lambda &gt;= 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violation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node-penalty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penalized 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 - sum lambda 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violation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크면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lambda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올라가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비싸게 평가된다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6, Lagrangian formulation and Eq.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primal-dual 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인과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multiplier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rollout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다르게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rollout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수집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penalized objective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증가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multiplier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Jc&gt;d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lambda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repeat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평가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dual 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cost estimate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반응하며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per-step filter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6–7, Fig. 3; p.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occupancy measure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 program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finite known-model CMDP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discounted visitation mass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reward, cost, flow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하게 쓸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5658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조건과 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x(s,a)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normalized discounted visitation mass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state-action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[sum x(s,a) r(s,a)] / (1-gamma)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cumulative 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 x(s,a) c(i)(s,a) &lt;= (1-gamma) d(i)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누적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d(i)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동치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flow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flow conservation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known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직접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occupancy LP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이론 기준선이며 대규모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RL recipe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5–8, return/occupancy definitions; normalization reconstructed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 제약의 문법 다섯 가지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무엇을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하는가에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라는 말의 의미가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4571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제한하는가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해석의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instantaneous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c(s_t,a_t) &lt;=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 stepwise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Jc(pi) &lt;=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failure probability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Pr[failure] &lt;= delta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horizon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measure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CVaR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dispersion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temporal logic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specification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automaton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이 다섯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서로 바꾸어 주지는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8–15, Fig.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제약과 기대비용 제약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signal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이라도 검사 시점과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quantifier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다르면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safety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state-action cost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instantaneous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every step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c(s_t,a_t)&lt;=d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CMDP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discounted mean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Jc(pi)&lt;=d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 choice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 or shield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 or critic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claim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the bound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and its conditions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8–9; Fig.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failure probability, CVaR, temporal logic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희귀 사건의 발생 가능성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tail loss,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specification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서로 다른 질문이다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391356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CMDP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Pr[failure] &lt;= delta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failure event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가능성은 낮은가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indicator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표현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CVaR_alpha(loss) &lt;=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worst alpha tail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 손실은 낮은가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classic LP structure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잃을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LTL specification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순서가 맞는가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augmentation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CVaR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failure probability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temporal logic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9–15, §§3.3.2–3.3.5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 지도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 분류는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organizing lens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결합될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2397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묶음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mechanism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constrained 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Lagrange, CPO, Lyapunov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surrogate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shield or correction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or distribution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 distribution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모델링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expected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constraints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협력과 경쟁을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Lagrangian 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둘 수 있으므로 네 묶음은 배타적 법칙이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p. 18, Fig.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Lagrangian actor-critic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 분담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포함해 갱신되고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reward critic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critic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mechanism-lane-ac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update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mechanism-node-env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mechanism-node-actor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pi(a|s)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mechanism-node-reward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critic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 estimate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mechanism-node-cost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critic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advantage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mechanism-node-dual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multiplier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lambda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critic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multiplier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있어도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early training violation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자동으로 사라지지는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18–19, Fig.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trust-region update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feasible 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surrogate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높이되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 surrogate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KL radius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start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pi_k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surrogates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근사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trust region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 radius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탐색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constrained solve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surrogate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policy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pi_(k+1)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unconstrained policy gradient step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그대로 쓰지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constrained surrogate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18–20, Fig. 11 and Prop. 4.1; cpo ICML 2017, pp. 22–31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CPO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보장의 조건과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near-constraint statement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start, solved surrogate, approximation term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함께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proposition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current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무위반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trust region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KL-bounded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dynamics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완전한 지식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surrogate solve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advantage estimate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 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이라는 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upper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approximation term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literal zero violation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statement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expected-cost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proof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19–20, Prop. 4.1; cpo ICML 2017, trust-region bound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correction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proposed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전달되는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executed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mechanism-lane-runti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 action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mechanism-node-obs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observation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belief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mechanism-node-agent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RL agent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proposed a_t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mechanism-node-model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safety model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set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mechanism-node-shield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pass or replace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mechanism-node-env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executed a_t prime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claim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model, specification, prediction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정확성 조건에 달려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21–22, Fig. 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장점과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 intervention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strong safety intent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knowledge requirement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exploration bias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6961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얻는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대가 또는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filtering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unsafe 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막거나 수정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model, safe set, spec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formal shield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forbidden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사전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automaton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가까운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projection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linearization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 행동을 줄임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보수성으로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space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편향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모든 환경에서 공짜로 안전한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주는 일반 해법이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21–22,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risk-sensitive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distributional route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tail risk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return distribution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ordinary expected cumulative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다른 안전 표현이다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2397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학습 또는 제한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주의할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risk-sensitive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utility, variance, CVaR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definition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먼저 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distributional 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 distribution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lower tail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초점을 둘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CMDP conversion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auxiliary variable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approximation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tail-risk method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expected-cost CMDP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11–13; p. 22,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SafeMARL: joint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constraint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명의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joint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정의될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mechanism-lane-marl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 interaction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mechanism-node-local"/>
          <p:cNvSpPr/>
          <p:nvPr/>
        </p:nvSpPr>
        <p:spPr>
          <a:xfrm>
            <a:off x="173988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mechanism-node-local-queue-1"/>
          <p:cNvSpPr/>
          <p:nvPr/>
        </p:nvSpPr>
        <p:spPr>
          <a:xfrm>
            <a:off x="173988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mechanism-node-local-queue-2"/>
          <p:cNvSpPr/>
          <p:nvPr/>
        </p:nvSpPr>
        <p:spPr>
          <a:xfrm>
            <a:off x="173988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mechanism-node-local-queue-3"/>
          <p:cNvSpPr/>
          <p:nvPr/>
        </p:nvSpPr>
        <p:spPr>
          <a:xfrm>
            <a:off x="173988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mechanism-node-joint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joint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a=(a1,...,aN)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mechanism-node-shared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env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transition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mechanism-node-cos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or global cost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SafeMARL 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혼자 평가 못 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22–23, §4.4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centralized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decentralized SafeMARL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 가능 정보와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 decomposition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방식이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핵심 차이다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91356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 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centralized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action space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decentralized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observation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보지 못할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k-hop coordination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제한된 이웃 통신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effect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truncate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 decomposition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costs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분해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분해되지는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decentralization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information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safety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간극을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23–24, Fig. 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cooperative SafeMARL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Proposition 4.2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cooperative joint 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sequential KL-bounded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전제로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38048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statement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확장할 수 없는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team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cooperative joint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competitive equilibrium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satisfaction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agent-wise constraints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arbitrary shared 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monotonic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sequential 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 radii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chosen agent-wise budgets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observation generality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Prop. 4.2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협력 환경의 조건부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result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competitive SafeMARL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23–24, Prop.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competitive SafeMARL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다른 문제를 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team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constrained optimization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constrained equilibrium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environment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actions interact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and constraints couple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cooperative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reward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team feasibility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competitive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own reward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constrained game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solution concept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optimum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 equilibrium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research status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competitive safety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remains limited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22, 25, 29;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libraries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environments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올바른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Tables 2–3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reproduction infrastructure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분류하며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cross-method winner table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5658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libraries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OmniSafe, SafePO, Safety Starter Agents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 suites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Safety-Gymnasium, Safe-Control-Gym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실환경 배포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Safety Gym, SafeLife, SMARTS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숫자의 방법 순위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도구와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비교 가능성의 출발점이지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safety proof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대체물이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25–27, Tables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결론을 지지하는 다섯 열린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open problems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 deployment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아직 조건부라는 근거다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804840"/>
                <a:gridCol w="456588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zero-violation 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violation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막기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observability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완전히 보지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decentralized SafeMARL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view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competitive SafeMARL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equilibrium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non-stationarity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변함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constraint satisfaction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information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문제이기도 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27–30, Fig. 14 and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SafeRL claim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읽는 다섯 단계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formula, constraint semantics, mechanism, assumptions, evidence type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순서대로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formulate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명시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specify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expectation, step, tail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mechanize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shield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condition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model, estimate, KL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interpret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보장의 범위를 말함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안전을 명확히 쓰는 언어이며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 보장은 조건을 보존할 때만 읽을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survey-v2 pp. 14–18, 27–30,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2026-09-12T05:44:16Z</dcterms:created>
  <dc:creator>Research Seminars</dc:creator>
  <dc:description/>
  <dc:language>ko-KR</dc:language>
  <cp:lastModifiedBy>Research Seminars</cp:lastModifiedBy>
  <dcterms:modified xsi:type="dcterms:W3CDTF">2026-09-12T05:44:16Z</dcterms:modified>
  <cp:revision>1</cp:revision>
  <dc:subject>A Survey of Safe Reinforcement Learning and Constrained MDPs: A Technical Survey on Single-Agent and Multi-Agent Safety</dc:subject>
  <dc:title>SafeRL과 CMDP: 보상, 제약, 보장의 조건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30</vt:r8>
  </property>
  <property fmtid="{D5CDD505-2E9C-101B-9397-08002B2CF9AE}" pid="3" name="PresentationFormat">
    <vt:lpwstr>On-screen Show (16:9)</vt:lpwstr>
  </property>
  <property fmtid="{D5CDD505-2E9C-101B-9397-08002B2CF9AE}" pid="4" name="Slides">
    <vt:r8>30</vt:r8>
  </property>
</Properties>
</file>
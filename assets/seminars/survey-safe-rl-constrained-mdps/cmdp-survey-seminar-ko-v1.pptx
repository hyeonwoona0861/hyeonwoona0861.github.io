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SafeRL과 CMDP: 보상, 제약, 보장의 조건
발표 대본
이 발표는 2026년 4월의 arXiv v2 technical survey를 바탕으로 합니다. PDF 첫 페이지의 저자 표기는 Ankita Kushwaha, Kiran Ravish, Preeti Lamba, Pawan Kumar, Anuj Mahajan의 다섯 명입니다. survey 자체는 하나의 새 알고리즘이나 통합 benchmark가 아니라, single-agent와 multi-agent SafeRL의 정의, 방법, 열린 문제를 정리합니다.
공개 출처
survey-v2 | p. 1, title and abstract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보상만 최대화할 때 남는 질문
발표 대본
일반 RL은 누적 보상의 기대값을 크게 하는 정책을 찾습니다. SafeRL에서는 충돌, 용량 초과, 치료 부작용처럼 원하지 않는 결과를 별도 cost signal로 모델링할 수 있습니다. reward가 높다고 해서 이 cost가 자동으로 작거나 허용 한도 안이라는 뜻은 아닙니다. 어떤 cost를 정의했는지가 안전의 내용도 결정합니다.
공개 출처
survey-v2 | pp. 2, 5; Fig. 2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이 survey의 범위
발표 대본
Figure 1은 survey를 foundations, methods, open problems의 세 갈래로 그립니다. methods에는 Lagrangian optimization, CPO, shield, risk-sensitive methods, SafeMARL이 들어갑니다. application examples나 library 표는 각 방법의 공정한 benchmark 결과가 아니라, survey가 인용한 사례와 도구의 목록입니다.
공개 출처
survey-v2 | pp. 2–3, Fig. 1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MDP의 기본 상호작용
발표 대본
source는 MDP를 state set S, action set A, transition probability P, reward r, discount gamma로 정의합니다. policy pi는 state에서 action distribution을 정합니다. J(pi)는 policy를 따를 때의 discounted cumulative reward의 기대값입니다. CMDP는 이 MDP를 버리는 것이 아니라 cost functions를 추가합니다.
공개 출처
survey-v2 | p. 4, Definitions 3.1–3.2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CMDP: reward 옆의 cost와 budget
발표 대본
CMDP tuple에는 reward r 외에 m개의 cost function c(i)가 있습니다. 각 cost에는 threshold d(i)가 대응합니다. Pi_safe는 모든 i에 대해 Jc(i)(pi) &lt;= d(i)를 만족하는 policy 집합입니다. 이 정의는 특정 expected discounted cost에 대한 feasibility이며, 모든 trajectory에서 단 한 번도 위험 행동이 없다는 뜻은 아닙니다.
공개 출처
survey-v2 | p. 5, Fig. 2 and Eq. 1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CMDP의 핵심 최적화 문제
발표 대본
CMDP의 objective는 reward J를 maximize하면서 모든 safety cost return이 해당 threshold 이하가 되게 하는 것입니다. source는 feasible set이 nonempty라고 가정합니다. finite CMDP에서는 optimal policy가 stationary일 수 있고, multiple constraint가 있을 때 exact satisfaction을 위해 stochastic policy가 필요할 수 있다고 설명합니다. 따라서 deterministic safe policy가 언제나 존재한다고 일반화하면 안 됩니다.
공개 출처
survey-v2 | p. 5, Eq. 1 and Theorem 3.3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기대비용 제약이 말하는 것과 말하지 않는 것
발표 대본
expected cumulative cost constraint는 source의 기본 CMDP 표현입니다. 한 episode나 한 transition이 항상 safe하다는 의미는 아닙니다. source는 많은 methods가 safety in expectation 또는 asymptotically를 제공하고, early training에서 violations를 허용할 수 있다고 명시합니다. 따라서 발표에서 안전이라고 말할 때 무엇의 기대값인지, 어느 시점의 안전인지 함께 밝혀야 합니다.
공개 출처
survey-v2 | pp. 8–15; p. 27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교육용 가상 예시: fast와 cautious
발표 대본
이 수치는 survey의 experiment가 아닌 교육용 가상 예시입니다. policy pi_p는 fast를 probability p, cautious를 probability 1-p로 선택합니다. fast는 높은 reward를 주지만 cost budget을 넘고, cautious는 feasible하지만 reward가 낮습니다. 다음 slide에서 expectation을 직접 계산해 randomized policy가 이 toy에서 왜 등장하는지 봅니다.
공개 출처
survey-v2 | p. 5, finite CMDP policy discussion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교육용 가상 예시를 계산한다
발표 대본
cost inequality를 풀면 p &lt;= 0.5입니다. reward 7+3p는 p가 증가할수록 커지므로 feasible range의 끝 p=0.5가 optimum입니다. 그때 J=8.5, Jc=0.5입니다. 이 계산은 one-step expectation의 예시일 뿐입니다. finite sample에서 multiplier training이 이 policy를 항상 찾는다는 주장이나, every-step collision avoidance 주장은 여기서 나오지 않습니다.
공개 출처
survey-v2 | p. 5, Eq. 1 and policy discussion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확률 policy가 필요한 상황
발표 대본
이 표는 두 deterministic policies와 toy의 randomized policy를 비교합니다. source의 Theorem 3.3은 finite CMDP와 bounded rewards and costs에서 stationary policy의 존재를 말하며, multiple constraints에는 deterministic policies 사이의 randomization이 필요할 수 있다고 설명합니다. state space나 model이 임의로 큰 neural policy setting에 그대로 같은 형태의 exact result를 주장해서는 안 됩니다.
공개 출처
survey-v2 | p. 15, Theorem 3.3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Lagrange multiplier: cost의 가격
발표 대본
source의 Lagrangian은 L(pi,lambda)=J(pi)+sum lambda(i)(d(i)-Jc(i)(pi))입니다. fixed lambda에서는 r_lambda=r-sum lambda(i)c(i)라는 penalized reward MDP를 optimize할 수 있습니다. practical update는 lambda(i) &lt;- [lambda(i)+alpha(Jc(i)-d(i))]+ 입니다. projection은 lambda가 negative가 되지 않게 합니다. 이 update는 incentive를 바꾸는 optimization mechanism이지 runtime action shield가 아닙니다.
공개 출처
survey-v2 | p. 6, Lagrangian formulation and Eq. 2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primal-dual update의 인과
발표 대본
policy는 fixed multiplier 아래의 penalized objective를 높이는 방향으로 갱신됩니다. multiplier는 constraint gap을 보고 별도로 갱신됩니다. Jc가 budget보다 크면 lambda가 증가해 future policy update에서 cost penalty의 비중이 커집니다. estimate error, function approximation, nonconvex neural optimization이 있으면 이 간단한 mechanism만으로 strict training safety를 보장하지 않습니다.
공개 출처
survey-v2 | pp. 6–7, Fig. 3; p. 18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occupancy measure와 linear program
발표 대본
x(s,a)=(1-gamma) sum_t gamma^t Pr(s_t=s,a_t=a|pi)는 0&lt;=gamma&lt;1인 continuing 또는 absorbing-terminal 표현에서 합이 1인 normalized discounted occupancy입니다. 원전 p. 5의 J와 J_C는 정규화하지 않은 discounted cumulative return이므로 J=[sum x r]/(1-gamma), J_C=[sum x c]/(1-gamma)입니다. 따라서 J_C&lt;=d는 sum x c&lt;=(1-gamma)d와 동치입니다. 원전 p. 7은 normalized x를 정의한 뒤 LP 표시에서 이 정규화 인자를 생략하여 p. 5의 return 정의와 불일치합니다. 이 슬라이드는 두 정의가 일치하도록 인자를 명시한 산술 재구성입니다. 양의 상수로 reward objective를 배율 조정하는 것은 optimizer를 바꾸지 않지만 cost budget의 배율을 빠뜨리면 feasible set이 달라집니다. reward, expected cost, positivity, flow conservation은 x에 대해 linear이므로 finite known-model CMDP를 LP로 쓸 수 있습니다. 원전은 moderate size에서는 efficient할 수 있으나 large-scale problem에 직접 적용하기 어렵다고 말합니다.
공개 출처
survey-v2 | pp. 5–8, return/occupancy definitions; normalization reconstructed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안전 제약의 문법 다섯 가지
발표 대본
source는 instantaneous, expected cumulative, probability of failure, risk measures, temporal logic specifications를 구분합니다. Figure 8의 strictest-to-flexible 그림은 teaching aid로 유용하지만, 모든 현실 specification에 대한 universal total ordering으로 읽으면 안 됩니다. method가 어떤 encoding을 다루는지 먼저 확인해야 합니다.
공개 출처
survey-v2 | pp. 8–15, Fig. 8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매 step 제약과 기대비용 제약
발표 대본
instantaneous constraint는 every time step에서 c(s_t,a_t)&lt;=d를 요구합니다. 여기의 expected cumulative constraint J_C(pi)&lt;=d는 discounted cumulative expected cost를 한도 아래로 요구하며, long-run average cost와 같은 정의가 아닙니다. 원전 Fig. 8의 long-run average라는 설명과 p. 5의 discounted cumulative 수식은 구분해서 읽습니다. 원전은 hard instantaneous constraint가 learning에서 더 challenging하며 safety filter나 barrier, shielding 같은 external mechanism으로 자주 enforce된다고 설명합니다. 두 branch는 같은 runtime operation이 아니라 서로 다른 safety syntax의 비교입니다.
공개 출처
survey-v2 | pp. 8–9; Fig. 8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failure probability, CVaR, temporal logic
발표 대본
failure probability constraint는 failure state 진입 여부를 indicator cost로 두어 discounted failure probability로 표현할 수 있습니다. CVaR은 tail에 속한 나쁜 loss의 conditional average를 제한하므로 mean이나 event probability와 다른 risk question입니다. temporal logic specification은 always avoid X 같은 sequence requirement를 formal language나 automaton으로 표현합니다. source는 risk constraints가 classic CMDP linear structure에 항상 맞지는 않는다고 설명합니다.
공개 출처
survey-v2 | pp. 9–15, §§3.3.2–3.3.5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이 survey의 SafeRL 방법 지도
발표 대본
Figure 9는 methods를 constrained optimization, safety shields or action correction, risk-sensitive or distributional methods, multi-agent extensions로 묶습니다. 이것은 이 survey의 설명 구조입니다. 예를 들어 shield가 a Lagrangian learner의 exploration을 둘러쌀 수 있고, CVaR constraint가 CMDP problem에 special formulation으로 들어갈 수도 있습니다. 따라서 분류 이름만으로 guarantee를 판단하면 안 됩니다.
공개 출처
survey-v2 | p. 18, Fig. 9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Lagrangian actor-critic의 역할 분담
발표 대본
Figure 10에서 actor는 reward critic과 cost critic의 advantage estimate를 사용해 penalized objective를 update합니다. multiplier는 constraint satisfaction term에 따라 online update됩니다. source는 simple Lagrangian method가 lambda tuning에 민감하고 convergence 전 strict constraint satisfaction을 guarantee하지 않는다고 설명합니다. 따라서 actor-critic architecture를 runtime safety filter로 말하면 안 됩니다.
공개 출처
survey-v2 | pp. 18–19, Fig. 10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CPO의 trust-region update
발표 대본
CPO는 trust-region policy optimization 안에서 local constrained optimization problem을 풉니다. Constrained trust-region solve 뒤 line search와 backtracking으로 적절한 step을 찾습니다. 명시적 projection은 Fig. 11과 p. 20에서 설명하는 별도 PCPO variant로 구분하며 CPO 자체의 필수 연산으로 부르지 않습니다. Proposition 4.1의 starting point는 current feasible policy이고, result는 original cost constraint에 approximation-error term이 붙은 upper bound입니다. 이 slide는 exact zero violation claim이 아닙니다.
공개 출처
survey-v2 | pp. 18–20, Fig. 11 and Prop. 4.1
arXiv v2: A Survey of Safe Reinforcement Learning and Constrained MDPs
https://arxiv.org/pdf/2505.17342v2
cpo | ICML 2017, pp. 22–31
Constrained Policy Optimization
https://proceedings.mlr.press/v70/achiam17a.html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CPO 보장의 조건과 범위
발표 대본
survey Proposition 4.1은 pi_k가 feasible이고 CPO trust-region optimization problem을 푼 경우를 전제로 합니다. bound에는 gamma, KL radius, cost advantage 관련 approximation-error term이 있습니다. reliable cost and cost-advantage estimation도 source가 practical challenge로 듭니다. 이 때문에 CPO를 모든 neural training run에서 zero violation을 보장하는 algorithm으로 소개하지 않습니다.
공개 출처
survey-v2 | pp. 19–20, Prop. 4.1
arXiv v2: A Survey of Safe Reinforcement Learning and Constrained MDPs
https://arxiv.org/pdf/2505.17342v2
cpo | ICML 2017, trust-region bound
Constrained Policy Optimization
https://proceedings.mlr.press/v70/achiam17a.html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shield와 action correction의 runtime 위치
발표 대본
Figure 12의 pipeline에서 RL agent는 proposed action a_t를 만들고, shield는 safety model 또는 formal specification을 사용해 environment로 보낼 executed action을 결정합니다. unsafe하다고 예측하면 shield는 action을 replace할 수 있습니다. source는 local dynamics linearization, model, learned predictor 같은 additional knowledge가 필요할 수 있다고 설명합니다. 따라서 action correction의 hard safety statement도 그 model과 safe set의 조건을 함께 밝혀야 합니다.
공개 출처
survey-v2 | pp. 21–22, Fig. 12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shield의 장점과 trade-off
발표 대본
source는 shielding approach가 hard safety라는 장점이 있지만, dynamics model, predefined safe set, external supervisor 같은 additional knowledge에 의존한다고 설명합니다. shield가 지나치게 conservative하면 agent가 state space 일부를 경험하지 못해 learning performance를 bias할 수도 있습니다. source가 말하는 no violation은 해당 shield 설계와 model assumptions의 범위에서 읽어야 합니다.
공개 출처
survey-v2 | pp. 21–22, §4.2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risk-sensitive와 distributional route
발표 대본
source는 risk-sensitive RL이 utility 또는 CVaR 같은 risk-aware objective를 optimize하고, distributional RL이 return의 full distribution을 학습한다고 설명합니다. CVaR cost constraint는 CMDP에 넣을 수 있지만 specialized algorithm이나 sample-based approximation을 요구할 수 있습니다. 이 survey에서는 risk-sensitive method를 broader SafeRL toolbox의 alternative route로 소개합니다.
공개 출처
survey-v2 | pp. 11–13; p. 22, §4.3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SafeMARL: joint action과 shared constraint
발표 대본
source는 SafeMARL을 N-agent constrained Markov game으로 설명합니다. agents는 joint action a=(a1,...,aN)을 만들고, 각 agent는 individual reward와 possibly its own cost functions를 가질 수 있습니다. cooperative setting에서는 common reward와 shared constraints가 있을 수 있지만, competitive or general-sum setting에서는 equilibrium question이 등장합니다. single-agent CMDP result를 SafeMARL 전체로 확장하면 안 됩니다.
공개 출처
survey-v2 | pp. 22–23, §4.4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centralized와 decentralized SafeMARL
발표 대본
Figure 13은 centralized SafeMARL에서 central controller가 global state를 보고 joint policy를 optimize하는 그림과, decentralized SafeMARL에서 각 agent가 local observation과 k-hop communication을 쓰는 그림을 대비합니다. source는 local reward or cost design이 global safety와 맞는다는 guarantee를 얻는 일이 hard problem이라고 합니다. communication limit와 non-stationarity도 안전을 더 어렵게 만듭니다.
공개 출처
survey-v2 | pp. 23–24, Fig. 13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cooperative SafeMARL 보장의 경계
발표 대본
source Proposition 4.2는 cooperative setting에서 team of n agents가 joint reward를 maximize하고 각 agent의 cost constraints를 만족하는 Safe Multi-agent Policy Iteration을 설명합니다. proof sketch는 sequential updates와 agent-wise KL trust regions를 사용합니다. source는 decentralized, competitive, partially observed settings를 별도의 challenge로 두므로 이 proposition을 그 영역의 general guarantee로 부르지 않습니다.
공개 출처
survey-v2 | pp. 23–24, Prop. 4.2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competitive SafeMARL은 다른 문제를 낸다
발표 대본
cooperative SafeMARL은 team objective를 optimize하는 single joint problem으로 다룰 수 있습니다. competitive or general-sum SafeMARL에서는 each agent가 own reward를 높이고 own or shared constraint를 만족해야 하므로 constrained Nash equilibrium 같은 solution concept가 필요할 수 있습니다. source는 constrained game equilibria와 SafeMARL competition의 results가 sparse하다고 설명합니다.
공개 출처
survey-v2 | pp. 22, 25, 29; §6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libraries와 environments의 올바른 읽기
발표 대본
Tables 2와 3은 SafeRL and SafeMARL libraries, environments, datasets를 category, capability, application area로 정리합니다. 서로 다른 methods는 observability, action space, constraint representation, model assumptions가 달라 같은 score 하나로 비교할 수 없습니다. 이 slide는 tools의 current release나 recommendation을 주장하지 않으며, 실제 사용 전에는 각 upstream documentation을 별도로 확인해야 합니다.
공개 출처
survey-v2 | pp. 25–27, Tables 2–3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결론을 지지하는 다섯 열린 문제
발표 대본
Figure 14와 Section 6은 다섯 open research problem을 제시합니다. zero-violation exploration은 catastrophic failure가 허용되지 않는 training setting을 다룹니다. partial observability에서는 true safety state를 모르고, decentralized systems에서는 어느 agent도 global constraint를 홀로 평가하지 못할 수 있습니다. competitive and non-stationary SafeMARL은 기존 convergence assumptions를 더 어렵게 만듭니다.
공개 출처
survey-v2 | pp. 27–30, Fig. 14 and §6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SafeRL claim을 읽는 다섯 단계
발표 대본
이 survey의 핵심은 SafeRL을 하나의 algorithm name으로 쓰지 않는 데 있습니다. CMDP는 reward와 named cost budget을 함께 쓰게 해 주지만, expected cost, instantaneous constraint, failure probability, CVaR, temporal logic은 서로 다른 safety claim을 만듭니다. Lagrange, CPO, shield, SafeMARL의 문장을 읽을 때에는 각 method의 evidence type과 assumptions를 함께 보아야 합니다. source가 남긴 다섯 open problems도 이 조건부 해석을 뒷받침합니다.
공개 출처
survey-v2 | pp. 14–18, 27–30, conclusion
arXiv v2: A Survey of Safe Reinforcement Learning and Constrained MDPs
https://arxiv.org/pdf/2505.17342v2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SafeRL과 CMDP: 보상, 제약, 보장의 조건</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 Survey of Safe Reinforcement Learning and Constrained MDPs: A Technical Survey on Single-Agent and Multi-Agent Safety</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Ankita Kushwaha, Kiran Ravish, Preeti Lamba, Pawan Kumar, and Anuj Mahajan (2026)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보상 최대화에 제약을 더할 때, 무엇이 보장되고 무엇이 남는가</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보상만 최대화할 때 남는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큰 평균 보상만으로는 어떤 손실을 허용했는지 알 수 없다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환경 상태 s를 관측</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정책이 행동 a를 제안</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reward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성과 r을 누적</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cost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위험 비용 c도 관측</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constraint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비용 한도 d를 검사</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SafeRL은 보상과 명시된 안전 비용을 함께 다룬다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 5; Fig.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survey의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CMDP foundations, SafeRL methods, SafeMARL의 열린 문제를 잇는 technical survey</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67461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부분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foundations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CMDP 제약을 어떻게 쓰는가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정의와 이론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methods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제약을 어떻게 다루는가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대표 방법의 survey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SafeMARL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agent의 제약은 어떻게 묶이는가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협력과 경쟁을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open problems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무엇이 아직 해결되지 않았는가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 보장으로 확대하지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새 단일 알고리즘보다 개념 지도와 조건부 주장을 제공한다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2–3, Fig.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MDP의 기본 상호작용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CMDP를 이해하려면 먼저 state, action, transition, reward의 역할을 분리한다</a:t>
            </a:r>
            <a:endParaRPr lang="en-US" sz="1900" dirty="0"/>
          </a:p>
        </p:txBody>
      </p:sp>
      <p:sp>
        <p:nvSpPr>
          <p:cNvPr id="4" name="mechanism-lane-mdp"/>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policy interaction</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ate"/>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state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현재 환경 상태</a:t>
            </a:r>
            <a:endParaRPr lang="en-US" sz="1150" dirty="0"/>
          </a:p>
        </p:txBody>
      </p:sp>
      <p:sp>
        <p:nvSpPr>
          <p:cNvPr id="9" name="mechanism-node-policy"/>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policy pi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pi(a|s)를 선택</a:t>
            </a:r>
            <a:endParaRPr lang="en-US" sz="1150" dirty="0"/>
          </a:p>
        </p:txBody>
      </p:sp>
      <p:sp>
        <p:nvSpPr>
          <p:cNvPr id="10" name="mechanism-node-action"/>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action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환경에 행동 전달</a:t>
            </a:r>
            <a:endParaRPr lang="en-US" sz="1150" dirty="0"/>
          </a:p>
        </p:txBody>
      </p:sp>
      <p:sp>
        <p:nvSpPr>
          <p:cNvPr id="11" name="mechanism-node-outcome"/>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outcome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next state와 reward</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MDP의 J(pi)는 할인된 reward의 기대값이다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4, Definitions 3.1–3.2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CMDP: reward 옆의 cost와 budget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policy interaction에 cost c와 threshold d를 추가해 feasible policy를 정의한다</a:t>
            </a:r>
            <a:endParaRPr lang="en-US" sz="1900" dirty="0"/>
          </a:p>
        </p:txBody>
      </p:sp>
      <p:sp>
        <p:nvSpPr>
          <p:cNvPr id="4" name="mechanism-lane-cmdp"/>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CMDP interaction</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tate"/>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state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환경 상태를 관측</a:t>
            </a:r>
            <a:endParaRPr lang="en-US" sz="1150" dirty="0"/>
          </a:p>
        </p:txBody>
      </p:sp>
      <p:sp>
        <p:nvSpPr>
          <p:cNvPr id="9" name="mechanism-node-policy"/>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policy pi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action distribution</a:t>
            </a:r>
            <a:endParaRPr lang="en-US" sz="1150" dirty="0"/>
          </a:p>
        </p:txBody>
      </p:sp>
      <p:sp>
        <p:nvSpPr>
          <p:cNvPr id="10" name="mechanism-node-env"/>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environment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r와 c를 생성</a:t>
            </a:r>
            <a:endParaRPr lang="en-US" sz="1150" dirty="0"/>
          </a:p>
        </p:txBody>
      </p:sp>
      <p:sp>
        <p:nvSpPr>
          <p:cNvPr id="11" name="mechanism-node-check"/>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feasibility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Jc(i) &lt;= d(i)</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Pi_safe는 지정된 expected discounted cost를 만족하는 정책 집합이다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5, Fig. 2 and Eq. 1</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CMDP의 핵심 최적화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목적 J와 cost return Jc(i)를 같은 policy pi에 대해 계산한다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67461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제약의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discounted reward의 기대값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최대화할 성과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Jc(i)(pi)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i번째 discounted cost의 기대값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한도와 비교할 위험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사전에 정한 cost 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Jc(i) &lt;= d(i)의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Pi_safe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budget을 만족하는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feasible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문제는 max J(pi), subject to Jc(i)(pi) &lt;= d(i)이다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5, Eq. 1 and Theorem 3.3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기대비용 제약이 말하는 것과 말하지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Jc(pi) &lt;= d는 policy distribution 아래의 expected discounted cost 조건이다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CMDP expected-cost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 장치가 필요한 경우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 이하를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model과 estimate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trajectory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cost가 나올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instantaneous 또는 risk 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초기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violation을 막지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 exploration 또는 shield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모델 오류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정의만으로 다루지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robustness model 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expected safety, per-step safety, training safety는 서로 다른 주장이다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8–15; p. 27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가상 예시: fast와 cautious</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단계 CMDP에서 action을 섞어 expected cost budget을 맞춘다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37007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reward 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safety cost 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cautious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교육용 가상 예시: fast를 확률 p로 고르는 policy를 계산한다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5, finite CMDP policy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가상 예시를 계산한다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p는 fast를 선택하는 확률이며, budget은 p의 feasible range를 제한한다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reward</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J(p)=7+3p</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cost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Jc(p)=0.2+0.6p</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feasibility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0.2+0.6p &lt;= 0.5</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range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 &lt;= 0.5</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optimum</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p*=0.5, J=8.5</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toy의 feasible optimum은 Jc=0.5를 쓰는 pi_0.5다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5, Eq. 1 and policy discussion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확률 policy가 필요한 상황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여러 constraint에서 randomization은 finite CMDP의 가능한 optimum 형태다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609088"/>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policy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reward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cost와 budget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always fast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 &gt; 0.5, infeasible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always cautious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 &lt;= 0.5, feasible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pi_0.5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 = 0.5, feasible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randomization은 이 toy의 해법이며, 모든 CMDP에서의 의무 규칙은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15, Theorem 3.3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Lagrange multiplier: cost의 가격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lambda는 reward와 constraint violation의 trade-off를 optimizer에 전달한다</a:t>
            </a:r>
            <a:endParaRPr lang="en-US" sz="1900" dirty="0"/>
          </a:p>
        </p:txBody>
      </p:sp>
      <p:sp>
        <p:nvSpPr>
          <p:cNvPr id="4" name="mechanism-lane-dual"/>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primal-dual view</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policy"/>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policy pi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J와 Jc를 생성</a:t>
            </a:r>
            <a:endParaRPr lang="en-US" sz="1150" dirty="0"/>
          </a:p>
        </p:txBody>
      </p:sp>
      <p:sp>
        <p:nvSpPr>
          <p:cNvPr id="9" name="mechanism-node-gap"/>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gap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Jc(i)-d(i)</a:t>
            </a:r>
            <a:endParaRPr lang="en-US" sz="1150" dirty="0"/>
          </a:p>
        </p:txBody>
      </p:sp>
      <p:sp>
        <p:nvSpPr>
          <p:cNvPr id="10" name="mechanism-node-lambda"/>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lambda &gt;= 0</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violation의 price</a:t>
            </a:r>
            <a:endParaRPr lang="en-US" sz="1150" dirty="0"/>
          </a:p>
        </p:txBody>
      </p:sp>
      <p:sp>
        <p:nvSpPr>
          <p:cNvPr id="11" name="mechanism-node-penalty"/>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penalized 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 - sum lambda c</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violation이 크면 lambda가 올라가 cost가 더 비싸게 평가된다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6, Lagrangian formulation and Eq. 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primal-dual update의 인과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policy update와 multiplier update는 같은 rollout의 reward와 cost estimate를 다르게 사용한다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rollout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pi로 trajectory를 수집</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estimate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J와 Jc를 추정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policy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penalized objective를 증가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multiplier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Jc&gt;d이면 lambda 증가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policy를 평가</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dual update는 expected cost estimate에 반응하며 per-step filter가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6–7, Fig. 3; p. 18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occupancy measure와 linear program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finite known-model CMDP에서는 discounted visitation mass로 reward, cost, flow를 linear하게 쓸 수 있다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56590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quantity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조건과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x(s,a)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normalized discounted visitation mass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합이 1인 state-action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 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 x(s,a) r(s,a)] / (1-gamma)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discounted cumulative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 x(s,a) c(i)(s,a) &lt;= (1-gamma) d(i)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누적 cost 한도 d(i)와 동치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flow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discounted flow conservation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known model에서 직접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occupancy LP는 CMDP의 이론 기준선이며 대규모 deep RL recipe가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5–8, return/occupancy definitions; normalization reconstructed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안전 제약의 문법 다섯 가지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무엇을 bound하는가에 따라 safe라는 말의 의미가 달라진다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457192"/>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encoding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제한하는가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해석의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instantaneous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step의 c(s_t,a_t) &lt;=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 stepwise condition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expected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Jc(pi) &lt;=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source의 기본 CMDP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failure probability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Pr[failure] &lt;= delta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horizon과 discount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measure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CVaR 또는 variance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tail 또는 dispersion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temporal logic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시간적 specification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automaton 또는 shield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하나의 safety label이 이 다섯 constraint를 서로 바꾸어 주지는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8–15, Fig.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매 step 제약과 기대비용 제약</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cost signal이라도 검사 시점과 quantifier가 다르면 safety claim이 달라진다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cost c</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state-action cost</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instantaneous</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every step</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c(s_t,a_t)&lt;=d</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expected CMDP</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discounted mean</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Jc(pi)&lt;=d</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method choice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filter or shield</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optimizer or critic</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claim</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state the bound</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and its conditions</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8–9; Fig. 8</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failure probability, CVaR, temporal logic</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희귀 사건의 발생 가능성, tail loss, 행동 sequence specification은 서로 다른 질문이다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3913632"/>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CMDP와의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Pr[failure] &lt;= delta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failure event의 가능성은 낮은가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indicator cost로 표현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CVaR_alpha(loss) &lt;=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worst alpha tail의 평균 손실은 낮은가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classic LP structure를 잃을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LTL specification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순서가 맞는가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augmentation 또는 shield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CVaR은 failure probability와 같지 않고, temporal logic은 scalar cost만이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9–15, §§3.3.2–3.3.5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survey의 SafeRL 방법 지도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네 분류는 source의 organizing lens이며 실제 method는 결합될 수 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239768"/>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묶음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mechanism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대표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constrained 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Lagrange, CPO, Lyapunov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estimate와 surrogate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or correction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proposal을 runtime에서 filter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model 또는 spec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or distribution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tail과 return distribution을 모델링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ordinary expected cost와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action과 shared constraints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협력과 경쟁을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 위에 Lagrangian learner를 둘 수 있으므로 네 묶음은 배타적 법칙이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 18, Fig.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Lagrangian actor-critic의 역할 분담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actor는 penalty를 포함해 갱신되고, reward critic과 cost critic은 다른 estimate를 제공한다</a:t>
            </a:r>
            <a:endParaRPr lang="en-US" sz="1900" dirty="0"/>
          </a:p>
        </p:txBody>
      </p:sp>
      <p:sp>
        <p:nvSpPr>
          <p:cNvPr id="4" name="mechanism-lane-ac"/>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learning update</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env"/>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environment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reward와 cost 관측</a:t>
            </a:r>
            <a:endParaRPr lang="en-US" sz="1150" dirty="0"/>
          </a:p>
        </p:txBody>
      </p:sp>
      <p:sp>
        <p:nvSpPr>
          <p:cNvPr id="10" name="mechanism-node-actor"/>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actor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policy pi(a|s)</a:t>
            </a:r>
            <a:endParaRPr lang="en-US" sz="1150" dirty="0"/>
          </a:p>
        </p:txBody>
      </p:sp>
      <p:sp>
        <p:nvSpPr>
          <p:cNvPr id="11" name="mechanism-node-reward"/>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reward critic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advantage estimate</a:t>
            </a:r>
            <a:endParaRPr lang="en-US" sz="1150" dirty="0"/>
          </a:p>
        </p:txBody>
      </p:sp>
      <p:sp>
        <p:nvSpPr>
          <p:cNvPr id="12" name="mechanism-node-cost"/>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cost critic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cost advantage</a:t>
            </a:r>
            <a:endParaRPr lang="en-US" sz="1150" dirty="0"/>
          </a:p>
        </p:txBody>
      </p:sp>
      <p:sp>
        <p:nvSpPr>
          <p:cNvPr id="13" name="mechanism-node-dual"/>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multiplier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lambda update</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cost critic과 multiplier가 있어도 early training violation이 자동으로 사라지지는 않는다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18–19, Fig. 10</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CPO의 trust-region update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current feasible policy에서 reward surrogate를 높이되 cost surrogate와 KL radius를 함께 제한한다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start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current pi_k가 feasible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surrogates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reward와 cost를 근사</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trust region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KL radius 안에서 탐색</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constrained solve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cost surrogate를 만족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new policy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pi_(k+1)을 생성</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CPO는 unconstrained policy gradient step을 그대로 쓰지 않고 constrained surrogate를 푼다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18–20, Fig. 11 and Prop. 4.1; cpo ICML 2017, pp. 22–31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CPO 보장의 조건과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near-constraint statement는 feasible start, solved surrogate, approximation term과 함께 읽는다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02234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proposition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feasible current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임의 초기 policy의 무위반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trust region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KL-bounded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true dynamics의 완전한 지식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surrogate solve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advantage estimate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 error가 0이라는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upper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approximation term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literal zero violation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CPO의 safety statement는 조건부 expected-cost bound이며 deployment proof가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19–20, Prop. 4.1; cpo ICML 2017, trust-region bound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shield와 action correction의 runtime 위치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agent의 proposed action과 environment에 전달되는 executed action을 분리한다</a:t>
            </a:r>
            <a:endParaRPr lang="en-US" sz="1900" dirty="0"/>
          </a:p>
        </p:txBody>
      </p:sp>
      <p:sp>
        <p:nvSpPr>
          <p:cNvPr id="4" name="mechanism-lane-runti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runtime action path</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obs"/>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observation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state 또는 belief</a:t>
            </a:r>
            <a:endParaRPr lang="en-US" sz="1150" dirty="0"/>
          </a:p>
        </p:txBody>
      </p:sp>
      <p:sp>
        <p:nvSpPr>
          <p:cNvPr id="10" name="mechanism-node-agent"/>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RL agent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proposed a_t</a:t>
            </a:r>
            <a:endParaRPr lang="en-US" sz="1150" dirty="0"/>
          </a:p>
        </p:txBody>
      </p:sp>
      <p:sp>
        <p:nvSpPr>
          <p:cNvPr id="11" name="mechanism-node-model"/>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safety model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safe set 또는 spec</a:t>
            </a:r>
            <a:endParaRPr lang="en-US" sz="1150" dirty="0"/>
          </a:p>
        </p:txBody>
      </p:sp>
      <p:sp>
        <p:nvSpPr>
          <p:cNvPr id="12" name="mechanism-node-shield"/>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shield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pass or replace</a:t>
            </a:r>
            <a:endParaRPr lang="en-US" sz="1150" dirty="0"/>
          </a:p>
        </p:txBody>
      </p:sp>
      <p:sp>
        <p:nvSpPr>
          <p:cNvPr id="13" name="mechanism-node-env"/>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environment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executed a_t prime</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 claim은 safety model, specification, prediction의 정확성 조건에 달려 있다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21–22, Fig. 12</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shield의 장점과 trade-off</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runtime intervention은 strong safety intent를 주지만 knowledge requirement와 exploration bias를 만든다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69620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특성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얻는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대가 또는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filtering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unsafe proposal을 막거나 수정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safe set, spec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formal shield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forbidden action을 사전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abstraction과 automaton 정확성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가까운 safe action으로 projection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linearization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 행동을 줄임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보수성으로 state space 편향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shield는 모든 환경에서 공짜로 안전한 exploration을 주는 일반 해법이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21–22,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risk-sensitive와 distributional route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tail risk와 full return distribution은 ordinary expected cumulative cost와 다른 안전 표현이다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23976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route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학습 또는 제한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주의할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risk-sensitive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utility, variance, CVaR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definition을 먼저 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distributional 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 distribution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lower tail에 초점을 둘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CMDP conversion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risk cost를 별도 constraint로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auxiliary variable나 sample approximation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tail-risk method와 expected-cost CMDP는 같은 guarantee를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11–13; p. 22, §4.3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SafeMARL: joint action과 shared constraint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N명의 action은 joint action을 만들고, cost는 agent별 또는 global로 정의될 수 있다</a:t>
            </a:r>
            <a:endParaRPr lang="en-US" sz="1900" dirty="0"/>
          </a:p>
        </p:txBody>
      </p:sp>
      <p:sp>
        <p:nvSpPr>
          <p:cNvPr id="4" name="mechanism-lane-marl"/>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agent interaction</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local"/>
          <p:cNvSpPr txBox="1"/>
          <p:nvPr/>
        </p:nvSpPr>
        <p:spPr>
          <a:xfrm>
            <a:off x="1739900" y="33591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agents</a:t>
            </a:r>
            <a:endParaRPr lang="en-US" sz="1150" dirty="0"/>
          </a:p>
        </p:txBody>
      </p:sp>
      <p:sp>
        <p:nvSpPr>
          <p:cNvPr id="9" name="mechanism-node-local-queue-1"/>
          <p:cNvSpPr/>
          <p:nvPr/>
        </p:nvSpPr>
        <p:spPr>
          <a:xfrm>
            <a:off x="1739900" y="3613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agent 1</a:t>
            </a:r>
            <a:endParaRPr lang="en-US" sz="950" dirty="0"/>
          </a:p>
        </p:txBody>
      </p:sp>
      <p:sp>
        <p:nvSpPr>
          <p:cNvPr id="10" name="mechanism-node-local-queue-2"/>
          <p:cNvSpPr/>
          <p:nvPr/>
        </p:nvSpPr>
        <p:spPr>
          <a:xfrm>
            <a:off x="1739900" y="38036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agent 2</a:t>
            </a:r>
            <a:endParaRPr lang="en-US" sz="950" dirty="0"/>
          </a:p>
        </p:txBody>
      </p:sp>
      <p:sp>
        <p:nvSpPr>
          <p:cNvPr id="11" name="mechanism-node-local-queue-3"/>
          <p:cNvSpPr/>
          <p:nvPr/>
        </p:nvSpPr>
        <p:spPr>
          <a:xfrm>
            <a:off x="1739900" y="3994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agent N</a:t>
            </a:r>
            <a:endParaRPr lang="en-US" sz="950" dirty="0"/>
          </a:p>
        </p:txBody>
      </p:sp>
      <p:sp>
        <p:nvSpPr>
          <p:cNvPr id="12" name="mechanism-node-joint"/>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joint 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a=(a1,...,aN)</a:t>
            </a:r>
            <a:endParaRPr lang="en-US" sz="1150" dirty="0"/>
          </a:p>
        </p:txBody>
      </p:sp>
      <p:sp>
        <p:nvSpPr>
          <p:cNvPr id="13" name="mechanism-node-shared"/>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shared env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joint transition</a:t>
            </a:r>
            <a:endParaRPr lang="en-US" sz="1150" dirty="0"/>
          </a:p>
        </p:txBody>
      </p:sp>
      <p:sp>
        <p:nvSpPr>
          <p:cNvPr id="14" name="mechanism-node-cos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constraints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or global cost</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SafeMARL constraint는 한 agent가 혼자 평가 못 하는 joint state를 포함할 수 있다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22–23, §4.4</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centralized와 decentralized SafeMARL</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관측 가능 정보와 constraint decomposition 방식이 architecture의 핵심 차이다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913632"/>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architecture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정보와 policy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안전 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centralized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state와 joint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action space가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decentralized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observation과 local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constraint를 보지 못할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k-hop coordination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제한된 이웃 통신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먼 agent effect를 truncate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 decomposition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cost를 local costs로 분해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constraint가 분해되지는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decentralization은 local information과 global safety의 간극을 다룬다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23–24, Fig.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cooperative SafeMARL 보장의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Proposition 4.2는 cooperative joint objective와 sequential KL-bounded update를 전제로 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380492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statement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확장할 수 없는 결론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team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cooperative joint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competitive equilibrium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 satisfaction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agent-wise constraints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arbitrary shared 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monotonic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sequential 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임의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KL radii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chosen agent-wise budgets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observation generality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Prop. 4.2는 협력 환경의 조건부 result이며 competitive SafeMARL 보장이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23–24, Prop.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competitive SafeMARL은 다른 문제를 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공통 team reward의 constrained optimization과 agent별 objective의 constrained equilibrium을 구분한다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shared environment</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actions interact</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and constraints couple</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cooperative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joint reward</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team feasibility</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competitive</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own reward</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constrained game</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solution concept</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policy optimum</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or equilibrium</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research status</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competitive safety</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remains limited</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22, 25, 29; §6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libraries와 environments의 올바른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Tables 2–3은 reproduction infrastructure를 분류하며 cross-method winner table이 아니다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565904"/>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종류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source의 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 libraries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OmniSafe, SafePO, Safety Starter Agents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safety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benchmark suites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Safety-Gymnasium, Safe-Control-Gym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실환경 배포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environments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Gym, SafeLife, SMARTS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숫자의 방법 순위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도구와 benchmark는 비교 가능성의 출발점이지 safety proof의 대체물이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25–27, Tables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결론을 지지하는 다섯 열린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source의 open problems는 safe deployment가 아직 조건부라는 근거다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804920"/>
                <a:gridCol w="4565904"/>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zero-violation 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중 violation을 막기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observability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 state를 완전히 보지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decentralized SafeMARL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constraint와 local view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competitive SafeMARL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constraint와 equilibrium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non-stationarity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environment와 agents가 변함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안전은 constraint satisfaction 외에 exploration과 information의 문제이기도 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27–30, Fig. 14 and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SafeRL claim을 읽는 다섯 단계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formula, constraint semantics, mechanism, assumptions, evidence type을 순서대로 확인한다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formulate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reward와 cost를 명시</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specify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expectation, step, tail을 구분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mechanize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optimizer 또는 shield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condition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model, estimate, KL을 확인</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interpret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보장의 범위를 말함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CMDP는 안전을 명확히 쓰는 언어이며, 안전 보장은 조건을 보존할 때만 읽을 수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survey-v2 pp. 14–18, 27–30,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SafeRL과 CMDP: 보상, 제약, 보장의 조건</dc:title>
  <dc:subject>A Survey of Safe Reinforcement Learning and Constrained MDPs: A Technical Survey on Single-Agent and Multi-Agent Safety</dc:subject>
  <dc:creator>Research Seminars</dc:creator>
  <cp:lastModifiedBy>Research Seminars</cp:lastModifiedBy>
  <cp:revision>1</cp:revision>
  <dcterms:created xsi:type="dcterms:W3CDTF">2026-09-12T05:44:16Z</dcterms:created>
  <dcterms:modified xsi:type="dcterms:W3CDTF">2026-09-12T05:44:16Z</dcterms:modified>
</cp:coreProperties>
</file>
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TOICA: 작업의 실행 위치와 채널 수를 함께 정하기
발표 대본
Tianyi Shi 외 연구진의 arXiv2505.04272v1, 2025년 5월 7일 공개본을 소개합니다. IEEE Transactions on Industrial Informatics의 서식을 사용하지만 이 버전에는 최종 권호가 없습니다. 최종 출판 여부를 서식만으로 판단하지 않습니다. 핵심은 작업을 어디로 보낼지와 그 서버의 통신 자원을 얼마나 줄지를 연결하는 TOICA입니다.
공개 출처
paper | pp. 1–11; arXiv2505.04272v1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서버가 빠르다고 오프로딩도 빠른 것은 아니다
발표 대본
논문은 단말마다 DAG 작업을 가진 다중 서버 MEC를 다룹니다. 채널이 나쁘면 서버 계산이 빨라도 전송이 오래 걸립니다. 다른 셀에서 같은 채널을 쓰거나 같은 서버에서 여러 VM이 실행되는 경우도 비용이 달라집니다. 모든 요인을 완벽하게 최적화했다는 뜻이 아니라 이 결합을 모델에 넣었다는 문제의식입니다.
공개 출처
paper | pp. 1–4, §§I–II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먼저 구분할 네 가지 이름
발표 대본
DP는 Dynamic Programming, 동적 계획법입니다. D3QN은 Double DQN과 Dueling DQN을 합친 Q학습 구조입니다. 논문은 TOICA를 task offloading integrated multi-cell channel allocation 방식으로 부릅니다. DTO의 행동은 위치 선택이며 특정 채널 ID나 채널 개수를 신경망이 직접 출력하는 방식이 아닙니다.
공개 출처
paper | pp. 1, 5–7, Algorithms 1–2, Fig. 4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의존 관계: 화살표는 선행 작업 완료를 요구한다
발표 대본
이 도식은 논문 Fig.2의 fork/join 의존성을 네 작업으로 줄인 설명용 예입니다. A의 결과가 B와 C에 필요하고 D는 B와 C를 모두 기다립니다. 서로 다른 행에 놓인 B와 C가 같은 단말에서 반드시 동시에 실행된다는 뜻은 아닙니다. 본문 DTO는 단말당 슬롯마다 현재 작업 하나를 선택합니다. q는 다음 슬라이드 우선순위 계산에 쓰는 양의 추정 비용으로 실제 실행시간이 아닙니다.
공개 출처
paper | pp. 3–5, Fig. 2, Eqs. 1–3, 12–13;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우선순위: 뒤에 남은 큰 비용을 역방향으로 누적한다
발표 대본
q는 논문의 COST에 대응하는 추정 비용입니다. 종료 노드부터 계산하므로 A는 아직 남아 있는 더 비싼 경로 B를 반영합니다. 양의 노드 비용이면 모든 선행 노드의 우선순위가 후속보다 커서 내림차순이 위상 순서를 지킵니다. 0비용 동률은 의존성을 지키는 tie-break가 필요합니다. Eq.12는 본문에서 평균이라고 부르지만 인쇄식은 실행 모드별 추정 비용의 합입니다. 평균으로 나누는 항을 조용히 추가하지 않고 추정 비용이라고 부릅니다. 추정 단계는 다른 단말의 접속과 셀간 간섭을 잠시 제외합니다.
공개 출처
paper | pp. 4–5, Eqs. 12–13;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슬롯 길이: 단말들의 처리시간 중 최댓값
발표 대본
설명용 두 슬롯 예입니다. 시간 슬롯이 사전에 고정된 길이가 아니라 해당 슬롯에서 가장 오래 걸린 작업 시간으로 정의됩니다. 논문은 T=max_n I_n, 단말당 슬롯마다 현재 작업 하나, 선행 작업 완료 후 준비라는 단순화된 모델을 사용합니다. DAG의 준비/완료시점 식과 슬롯별 최대 지연 합은 구분해야 합니다. 지연 목표가 개별 처리시간의 단순 합이 아니라는 점을 계산으로 확인합니다.
공개 출처
paper | pp. 3, 5–7, Eqs. 1–3, 14a;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두 종류의 간섭은 서로 다른 단계에 작용한다
발표 대본
VM은 virtual machine, 가상머신입니다. SINR은 원하는 신호 전력과 간섭·잡음 전력의 비율입니다. Eq.6은 배정 채널의 Bk log2(1+SINR)를 더해 전송률을 구합니다. 한 셀에서 채널별 단말을 하나로 제한해도 다른 셀의 재사용 간섭은 남습니다. Eq.8은 서버에 접속한 단말 수 Nm에 따라 기준 계산시간에 (1+ζ)^(Nm−1)을 곱합니다. 실제 모든 시스템의 물리 법칙이 아니라 채택한 모델입니다.
공개 출처
paper | pp. 4–5, Eqs. 6–8, 14e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계산 예: 서버 혼잡은 무선이 같아도 비용을 바꾼다
발표 대본
논문 식을 설명하는 가상 예이며 실험 측정값이 아닙니다. 송신 전력1W, 단말 정적 전력0.3W, ζ=.2입니다. 전송 .1초, 서버 기준 계산 .01초이고 Nm=3이면 .01×1.2²=.0144초입니다. 에너지는 Eq.10의 송신 전력×전송시간 + 단말 정적 전력×서버 계산시간입니다. 서버가 쓰는 에너지는 이 단말 에너지에 포함되지 않습니다. 반환 지연·반환 에너지와 다른 대기시간은 이 예에서 제외합니다.
공개 출처
paper | p. 4, Eqs. 7–10;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목표: 지연과 단말 에너지의 가중 비용을 줄인다
발표 대본
d는 초, e는 줄이므로 숫자의 단위·스케일을 바꾸면 같은 ω의 의미도 달라집니다. 인쇄된 식에 별도의 단위 정규화가 있다고 가정하지 않습니다. Eq.14의 지연항은 슬롯 최대값의 합입니다. 알고리즘의 개별 보상이 그 전역 목표와 수학적으로 동치라는 증명은 별도 문제입니다. 마감시간 위반을 직접 제한하는 hard deadline 제약으로 읽지 않습니다.
공개 출처
paper | pp. 4–6, Eqs. 11, 14, 18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TOICA 한 슬롯: 서버 선택 뒤 채널 배분이 이어진다
발표 대본
각 단말이 자신의 현재 상태로 위치를 선택한 뒤 같은 서버를 고른 단말들을 모읍니다. 각 서버에서 DCA를 실행하고 실제 채널 배정과 환경 상태로 지연·에너지 및 보상을 평가합니다. 학습 시 이 전이를 경험 저장소에 넣어 DTO를 갱신합니다. DCA가 별도로 미래 보상을 학습하는 두 번째 RL agent인 것은 아닙니다. DCA는 온라인 의사결정에서도 필요합니다.
공개 출처
paper | pp. 6–7, Algorithms 1–2, Fig. 4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DCA: 한 단말에 줄 채널 개수를 후보로 만든다
발표 대본
그룹 배낭 문제에서 단말 하나가 그룹이고, 해당 단말의 채널 개수 후보가 항목입니다. 용량은 총 채널 수 K, 항목의 무게는 z, 최소화하는 값은 통신 비용 v입니다. 일반 배낭처럼 아무 항목도 고르지 않아도 되는 문제가 아닙니다. 이 식에서는 모든 오프로딩 단말에 최소 한 채널을 주고 K개를 모두 사용합니다. Nm≤K인 활성 서버를 전제로 합니다.
공개 출처
paper | pp. 5–6, Eq. 15, Algorithm 1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배분 예: 4개 채널을 두 단말에 모두 나눈다
발표 대본
원문 측정값이 아닌 설명용 v[n,z] 표입니다. 이 표 자체를 DP의 입력으로 고정합니다. 예에서는 A의 비용이 더 크고 추가 채널의 이득도 큽니다. 실제 비용이 언제나 정확히 1/z로 줄어든다고 주장하지 않습니다. 채널 폭, 송신 전력 분배, 채널 이득, 다른 셀 간섭이 실제 전송률에 영향을 줍니다. 각 단말에 한 채널 이상을 줘야 하므로 4+0은 후보가 아닙니다.
공개 출처
paper | pp. 5–6, Eq. 15;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가능한 배분을 계산하면 A에 3개, B에 1개
발표 대본
이 작은 예는 세 조합을 전부 계산할 수 있지만 단말과 채널 수가 커지면 조합을 직접 나열하기 어렵습니다. DCA는 같은 부분 문제를 반복 계산하지 않도록 DP 표에 저장합니다. 여기서 얻은 최적성은 고정된 v 표의 채널 개수 문제에 대한 것이며 서버 선택까지 포함한 전체 TOICA의 전역 최적성은 아닙니다.
공개 출처
paper | pp. 5–6, Eq. 15;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동적 계획법: 앞 단말들의 최솟값을 재사용한다
발표 대본
점화식은 dp[n,j]=min_z(dp[n−1,j−z]+v[n,z])이고 z≤j인 후보만 검사합니다. n은 해당 서버의 단말 순서, j는 이미 배분할 총 채널 수입니다. n=0에서0채널만 가능하므로 다른 상태는 무한대입니다. 마지막 dp[Nm,K]에서 같은 값을 만든 z를 역추적합니다. 원문 Algorithm1은 j를 감소시키며 순회하지만 참조는 앞 행 n−1이므로 핵심은 단말당 한 후보만 고르는 것입니다.
공개 출처
paper | p. 6, Algorithm 1;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채널 3개와 채널 ID 1·2·4는 다른 정보다
발표 대본
논문 §III-A는 역추적 후 개수 요건에 맞춰 서로 다른 채널을 무작위 할당한다고 명시합니다. A={1,2,4}는 설명용으로 선택한 한 배정이며 원문 결과가 아닙니다. ID별 채널 이득이나 셀간 간섭이 다르면 같은 개수라도 실제 비용이 달라질 수 있습니다. 따라서 DCA를 전 세계 채널 ID와 간섭을 동시에 정확하게 최적화하는 알고리즘으로 소개하면 과장입니다.
공개 출처
paper | pp. 4, 6, Eq. 6, Algorithm 1 and following paragraph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채널보다 단말이 많으면 제약부터 충돌한다
발표 대본
Nm&gt;K이면 양의 채널 수를 하나씩 주는 것부터 불가능합니다. 이 경우를 해결하는 action masking이나 admission control이 DTO 의사코드에 완비되어 있다고 말할 수 없습니다. 논문 기본 실험은 전체 단말5개와 서버당 채널8개여서 이 제약을 만족하기 쉽지만 규모 확대 시 서버별 쏠림을 따로 확인해야 합니다. 빈 서버에 Eq.14f의 모든 채널 사용을 문자 그대로 적용하면 모순이므로 활성 서버 조건 또는 예외 처리가 필요합니다. 이는 수식/구현의 확인 항목이지 실제 코드 오류를 관측했다는 뜻은 아닙니다.
공개 출처
paper | pp. 5–6, Eqs. 14f–g, 15; feasibility consequence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Q값: 지금 행동의 장기 보상을 예측한다
발표 대본
Q는 해당 상태에서 행동을 선택한 후 얻을 할인된 누적 보상의 기대값입니다. DQN은 Deep Q-Network입니다. 학습된 신경망의 값은 정확한 미래를 아는 값이 아니라 경험으로 추정한 값입니다. Main은 행동 선택과 학습에 사용하고 Target은 다음 상태를 평가하는 목표를 안정화하는 데 사용합니다. 학습 중에는 경험을 더 모으기 위해 확률 ε로 탐험합니다. TOICA의 보상은 비용 개선량을 tanh로 바꾼 값이므로 Q는 직접적인 지연이나 에너지의 단위가 아닙니다.
공개 출처
paper | pp. 6–7, §III-B, Eqs. 18–22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DTO: 현재 작업의 상태로 로컬 또는 서버를 고른다
발표 대본
서버3개일 때 각 단말의 후보는 로컬0과 서버1,2,3의 네 개입니다. 신경망은 각 후보 Q값을 평가하고 ε-greedy로 행동을 선택합니다. Eq.16에는 다른 단말들의 행동, 모든 서버 부하, 실시간 전체 채널 상태를 완전하게 관측하는 벡터가 명시되어 있지 않습니다. 따라서 전역 상태를 모두 아는 완전 관측 MDP라고 단정하지 않습니다. 위치 X와 채널 배정 행렬 X는 원문에서 같은 문자를 써도 서로 다른 대상입니다.
공개 출처
paper | p. 6, Eqs. 16–17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Dueling: 상태 공통값과 행동별 차이를 나눈다
발표 대본
Eq.22의 구조입니다. 공통 표현 뒤에서 V와 raw A가 나뉘고 A의 행동 평균을 빼서 V에 더합니다. 두 독립 agent가 경쟁하는 것이 아닙니다. 원문은 이를 Duel DQN으로 부르지만 일반적인 용어 Dueling을 사용합니다. α와 β가 각각 어느 갈래인지 이 논문의 표기를 따르며 다른 Dueling 논문의 기호와 자동 대응시키지 않습니다. 출력은 M+1개이며 위치 선택에 사용됩니다.
공개 출처
paper | p. 7, Eq. 22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Double DQN: 고르는 망과 평가하는 망을 구분한다
발표 대본
설명용 비종료 전이입니다. Double DQN은 Main에서 높은 행동을 찾고, 같은 행동을 Target으로 평가합니다. Target에서 다시 최대 행동을 고르지 않습니다. 장기 목표는 보상에 할인된 다음 가치를 더합니다. 여기서는 원문 설정 γ=.99 대신 산술을 쉽게 하려 .9를 사용했습니다. 목표 값이 항상 참값보다 작거나 과대평가가 완전히 사라진다고 주장하지 않습니다. 종료 전이의 부트스트랩 처리는 원문 의사코드에 구체적으로 적혀 있지 않습니다.
공개 출처
paper | p. 7, Eq. 21;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보상: 로컬 실행보다 얼마나 비용을 줄였는가
발표 대본
가상 수치이며 특정 실험값은 아닙니다. 로컬을 선택하면 같은 기준 비용과 비교하므로 보상0입니다. tanh는 하나의 차이에 대해서 단조 증가하지만 여러 작업의 보상을 합한 목표가 전체 비용 합이나 슬롯 최댓값 합과 같다는 보장은 없습니다. 각 비용에 다른 단말의 선택과 DCA 배분이 영향을 주므로 환경을 통해 공동 행동의 영향이 들어갑니다. 관측 벡터에 그 영향이 완전하게 드러나는지는 별도입니다.
공개 출처
paper | p. 6, Eq. 18; constructed example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학습: 배분까지 끝난 전이를 경험으로 저장한다
발표 대본
Algorithm2의 순서입니다. 실행 결과로 보상을 받은 뒤 다음 상태를 저장하고 경험이 충분하면 mini-batch로 Main을 학습합니다. Target은 매 행동마다 같은 값으로 바꾸지 않고 정해진 주기마다 복사합니다. 원문 while 의사코드에는 episode와 t의 증가 문장이 생략되어 있으므로 실행 가능한 완전 코드로 그대로 복사하지 않습니다. 구현과 학습 안정성 검증은 별도입니다.
공개 출처
paper | p. 7, Algorithm 2; p. 8, Table II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학습과 실제 의사결정에서 필요한 계산을 나눈다
발표 대본
온라인 단계에서 신경망 추론만 남는다고 말하면 DCA 비용을 빠뜨립니다. 단말은 정책을 사용하고 서버는 접속 단말의 채널 배분을 수행하는 구성이 설명되어 있습니다. 논문은 시뮬레이션으로 평가했으므로 실제 단말·기지국의 제어 인터페이스, 측정 지연, 배터리 전력, 서버 간 협력 비용은 별도 확인이 필요합니다.
공개 출처
paper | p. 7, §III-B, Fig. 4; p. 8, §IV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최적화의 범위: DCA와 전체 TOICA를 구분한다
발표 대본
DCA가 풀어 주는 것은 고정된 오프로딩 집합과 v[n,z]가 주어진 문제입니다. 개별 통신 비용 합을 최소화하는 것은 시스템 지연 최대값을 직접 최소화하는 것과 다릅니다. tanh의 단조성도 합산 목표의 동치성을 보장하지 않습니다. 예를 들어 두 작업의 개선량(2,0)은 합2이고(1,.9)는 합1.9지만 tanh 합은 각각 약.964,1.478로 순서가 바뀝니다. 실제 전체 목표에는 에너지와 슬롯 최댓값도 있으므로 보상과 목적식의 관계를 더욱 구분해야 합니다.
공개 출처
paper | pp. 5–7, Eqs. 14–18; mathematical consequence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비교군: 무엇을 바꾸었는지 알아야 결과를 읽는다
발표 대본
추가 비교군 HRROGA는 유전 알고리즘 기반 multi-DAG 오프로딩과 response-ratio 우선순위를 사용하는 기존 연구입니다. 본문에서는 참고문헌[6]이지만 그림 범례 번호는[8]로 표시되는 등 참조 불일치가 있어 이름과 본문 설명을 기준으로 구분합니다. SEG도 본문[8]과 그림[9]가 다릅니다. 서로 다른 논문의 새 결과를 독립 재현한 것이 아니라 이 논문이 설정한 비교입니다. RA의 정확한 의존성 처리 세부를 원문 설명 이상으로 추측하지 않습니다.
공개 출처
paper | pp. 8–9, comparison descriptions, Figs. 5–7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평가 환경: 5개 단말과 3개 서버의 시뮬레이션
발표 대본
원문 TableII와 §IV의 설정입니다. 단말 CPU는1–1.2GHz, 송신 전력1–1.5W, 정적 전력300mW, 서버 간섭 계수.2입니다. 단말이나 실제 5G 시스템에 직접 배포한 측정값이 아닙니다. 실행 환경은 Intel i5-10210U, Python3.8, torch1.8.0입니다. 학습률.0003, γ=.99, replay100만, batch128, target갱신30이며 계수와 실험 범위를 함께 유지합니다.
공개 출처
paper | p. 8, §IV, Table II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결과: 자원 배분을 결합한 쪽의 비용이 낮았다
발표 대본
그림을 직접 대조한 정성 요약입니다. Fig.5 결정 단계의 TOICA는 대략5, DTO only는 대략4.5 부근으로 보이지만 원문에 표로 주어진 정확값이 아니므로 슬라이드에서 정밀 절감률로 만들지 않습니다. Fig.6–7의 Cost Valuation은 본문에 따라 tanh로 스케일링한 비용입니다. 이 축의 차이를 곧바로 에너지 절감률이나 초 단위 감소로 해석하면 안 됩니다. 채널 수 증가 효과는 저자도 더 세밀한 배분 때문일 수 있다고 설명합니다.
공개 출처
paper | pp. 8–9, Figs. 5–7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가중치와 규모를 바꾸면 성능과 학습도 바뀐다
발표 대본
Fig.8은 지연과 에너지를 서로 다른 축으로 표시합니다. 지연은 전체 경향상 줄지만 작은 증가/평탄 구간도 보여 모든 점에서 감소한다고 쓰지 않습니다. Fig.9와 p.10은 서버 수에 따라 행동 수와 망 구조, 학습률을 바꾸었다고 명시합니다. 기본.0003에서 서버6개.00025,9개.0002입니다. 따라서 미지 규모에 제로샷 일반화했다는 증거가 아닙니다. 인셋의 단말5–25 비교는 서버가 늘면 부하를 줄이는 경향을 보입니다.
공개 출처
paper | pp. 9–10, Figs. 8–9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36.8ms는 무엇을 나누어 얻은 시간인가
발표 대본
본문은 episode를 한 단말의 애플리케이션 완료로 정의하고 평균15노드 조건에서 task당36.8ms를 제시합니다. 위 산술은551.5/(1000×15)로 이 숫자를 설명합니다. 전체5단말 작업을 분모에 넣은 평균이나 신경망의 단일 forward pass 측정으로 바꾸지 않습니다. 학습·시뮬레이션·온라인 구간의 분리된 타이밍 표가 없으므로 하드 deadline 충족의 근거가 아닙니다. 평균이 짧아도 최악 지연이나 실제 장치의 처리량은 별도로 측정해야 합니다.
공개 출처
paper | p. 8, paragraph following Fig. 5; recomputed arithmetic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수식의 빈틈은 성과와 구분해서 읽는다
발표 대본
NP-hard를 보이려면 알려진 어려운 문제의 적절한 인스턴스를 이 문제로 환원하는 논증이 필요합니다. §III-A는 이 문제를 GKP로 매핑할 수 있으므로 NP-hard라고 적어 방향이 충분하지 않습니다. 이것이 전체 문제가 쉽다는 증명은 아닙니다. 계산량을 O(Nm K(K−Nm))로 단순화하면 Nm=K 경계에서0처럼 보이므로 원래의+1 형태 또는 O(Nm K²) 상계를 사용합니다. 전체 학습 비용에는 신경망 forward/backward도 있으므로 DCA 루프만으로 전 비용을 확정하지 않습니다. Eqs.4–5의 작업 i에 대한 슬롯 t 합은 미실행 슬롯의 활성 표시가 명료하지 않습니다. 이미 처리되지 않는 슬롯마다 로컬 비용을 더하는 것으로 가르치지 말고 한 작업의 실제 실행 슬롯을 기준으로 설명합니다.
공개 출처
paper | pp. 4–7, Eqs. 4–5, 12, 14–15, Algorithm 1, complexity paragraph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핵심 정리: 실행 위치와 자원 배분을 함께 본다
발표 대본
핵심 질문으로 돌아옵니다. 빠른 서버를 고르는 것만으로 충분하지 않습니다. 그 서버에 모이는 단말, 배정받는 통신 자원, 작업 의존성과 이동이 결과를 바꿉니다. TOICA의 특징은 DCA 결과를 포함한 환경에서 DTO를 학습하는 연결 구조입니다. 실제 배포를 판단하려면 단말별 상태 관측, Nm≤K 자원 가능성, 간섭 반영, 정확한 비용/시간 단위와 전체 제어 지연을 확인해야 합니다. 현재 논문은 그 모든 장치에서의 구현 완성을 증명하지 않습니다.
공개 출처
paper | pp. 1–10, §§II–V
Joint Task Offloading and Channel Allocation in Spatial-Temporal Dynamic for MEC Networks (arXiv v1)
https://arxiv.org/abs/2505.04272v1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TOICA: 작업의 실행 위치와 채널 수를 함께 정하기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Joint Task Offloading and Channel Allocation in Spatial-Temporal Dynamic for MEC Networks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Tianyi Shi, Tiankui Zhang, Jonathan Loo, Rong Huang, Yapeng Wang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이동하는 단말의 의존 작업을 강화학습과 동적 계획법으로 연결한다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 arXiv2505.04272v1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서버가 빠르다고 오프로딩도 빠른 것은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작업 순서·무선 전송·서버 내부 간섭이 함께 완료 시간을 바꾼다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무엇이 달라지나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판단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의존성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 작업의 결과가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가능한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거리·채널 이득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어느 서버에 보낼지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공유 통신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주파수의 간섭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채널을 얼마나 줄지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병렬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VM 사이 I/O 간섭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서버에 몰릴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오프로딩 위치만 고르고 통신 자원을 무작위로 주면 좋은 선택도 비싸질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1–4, §§I–II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구분할 네 가지 이름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서버 선택과 채널 배분은 같은 행동 변수가 아니다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논문의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MT / 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이동 단말 / 엣지 서버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 주체 / 실행 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D3QN-based Task 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 또는 서버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DP-based Channel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서버별 채널 수 배분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TOICA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DTO와 DCA의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배분 결과까지 보상에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DTO가 서버를 고르면, 그 서버에 모인 단말들을 대상으로 DCA가 작동한다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 5–7, Algorithms 1–2,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의존 관계: 화살표는 선행 작업 완료를 요구한다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DAG: A 다음 B·C, 둘 다 끝난 다음 D가 실행 가능하다</a:t>
            </a:r>
            <a:endParaRPr lang="en-US" sz="1900" dirty="0"/>
          </a:p>
        </p:txBody>
      </p:sp>
      <p:sp>
        <p:nvSpPr>
          <p:cNvPr id="4" name="mechanism-lane-upper"/>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경로 B</a:t>
            </a:r>
            <a:endParaRPr lang="en-US" sz="1250" dirty="0"/>
          </a:p>
        </p:txBody>
      </p:sp>
      <p:sp>
        <p:nvSpPr>
          <p:cNvPr id="5" name="mechanism-lane-middle"/>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분기·결합</a:t>
            </a:r>
            <a:endParaRPr lang="en-US" sz="1250" dirty="0"/>
          </a:p>
        </p:txBody>
      </p:sp>
      <p:sp>
        <p:nvSpPr>
          <p:cNvPr id="6" name="mechanism-lane-lower"/>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경로 C</a:t>
            </a:r>
            <a:endParaRPr lang="en-US" sz="1250" dirty="0"/>
          </a:p>
        </p:txBody>
      </p:sp>
      <p:sp>
        <p:nvSpPr>
          <p:cNvPr id="7" name="mechanism-edge-e0-segment-1"/>
          <p:cNvSpPr/>
          <p:nvPr/>
        </p:nvSpPr>
        <p:spPr>
          <a:xfrm>
            <a:off x="4660900" y="3568700"/>
            <a:ext cx="160867" cy="0"/>
          </a:xfrm>
          <a:prstGeom prst="line">
            <a:avLst/>
          </a:prstGeom>
          <a:noFill/>
          <a:ln w="12700">
            <a:solidFill>
              <a:srgbClr val="0D685C"/>
            </a:solidFill>
            <a:prstDash val="solid"/>
            <a:headEnd type="none"/>
            <a:tailEnd type="none"/>
          </a:ln>
        </p:spPr>
        <p:txBody>
          <a:bodyPr/>
          <a:lstStyle/>
          <a:p>
            <a:endParaRPr lang="ko-KR"/>
          </a:p>
        </p:txBody>
      </p:sp>
      <p:sp>
        <p:nvSpPr>
          <p:cNvPr id="8" name="mechanism-edge-e0-segment-2"/>
          <p:cNvSpPr/>
          <p:nvPr/>
        </p:nvSpPr>
        <p:spPr>
          <a:xfrm flipV="1">
            <a:off x="4821767"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9" name="mechanism-edge-e0-segment-3"/>
          <p:cNvSpPr/>
          <p:nvPr/>
        </p:nvSpPr>
        <p:spPr>
          <a:xfrm>
            <a:off x="4821767" y="2730500"/>
            <a:ext cx="321733"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e1-segment-1"/>
          <p:cNvSpPr/>
          <p:nvPr/>
        </p:nvSpPr>
        <p:spPr>
          <a:xfrm>
            <a:off x="4660900" y="3975100"/>
            <a:ext cx="321733" cy="0"/>
          </a:xfrm>
          <a:prstGeom prst="line">
            <a:avLst/>
          </a:prstGeom>
          <a:noFill/>
          <a:ln w="12700">
            <a:solidFill>
              <a:srgbClr val="0D685C"/>
            </a:solidFill>
            <a:prstDash val="solid"/>
            <a:headEnd type="none"/>
            <a:tailEnd type="none"/>
          </a:ln>
        </p:spPr>
        <p:txBody>
          <a:bodyPr/>
          <a:lstStyle/>
          <a:p>
            <a:endParaRPr lang="ko-KR"/>
          </a:p>
        </p:txBody>
      </p:sp>
      <p:sp>
        <p:nvSpPr>
          <p:cNvPr id="11" name="mechanism-edge-e1-segment-2"/>
          <p:cNvSpPr/>
          <p:nvPr/>
        </p:nvSpPr>
        <p:spPr>
          <a:xfrm>
            <a:off x="4982633"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12" name="mechanism-edge-e1-segment-3"/>
          <p:cNvSpPr/>
          <p:nvPr/>
        </p:nvSpPr>
        <p:spPr>
          <a:xfrm>
            <a:off x="4982633" y="4813300"/>
            <a:ext cx="160867"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e2-segment-1"/>
          <p:cNvSpPr/>
          <p:nvPr/>
        </p:nvSpPr>
        <p:spPr>
          <a:xfrm>
            <a:off x="8064500" y="2730500"/>
            <a:ext cx="160867" cy="0"/>
          </a:xfrm>
          <a:prstGeom prst="line">
            <a:avLst/>
          </a:prstGeom>
          <a:noFill/>
          <a:ln w="12700">
            <a:solidFill>
              <a:srgbClr val="0D685C"/>
            </a:solidFill>
            <a:prstDash val="solid"/>
            <a:headEnd type="none"/>
            <a:tailEnd type="none"/>
          </a:ln>
        </p:spPr>
        <p:txBody>
          <a:bodyPr/>
          <a:lstStyle/>
          <a:p>
            <a:endParaRPr lang="ko-KR"/>
          </a:p>
        </p:txBody>
      </p:sp>
      <p:sp>
        <p:nvSpPr>
          <p:cNvPr id="14" name="mechanism-edge-e2-segment-2"/>
          <p:cNvSpPr/>
          <p:nvPr/>
        </p:nvSpPr>
        <p:spPr>
          <a:xfrm>
            <a:off x="8225367"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15" name="mechanism-edge-e2-segment-3"/>
          <p:cNvSpPr/>
          <p:nvPr/>
        </p:nvSpPr>
        <p:spPr>
          <a:xfrm>
            <a:off x="8225367" y="3568700"/>
            <a:ext cx="321733"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e3-segment-1"/>
          <p:cNvSpPr/>
          <p:nvPr/>
        </p:nvSpPr>
        <p:spPr>
          <a:xfrm>
            <a:off x="8064500" y="4813300"/>
            <a:ext cx="321733" cy="0"/>
          </a:xfrm>
          <a:prstGeom prst="line">
            <a:avLst/>
          </a:prstGeom>
          <a:noFill/>
          <a:ln w="12700">
            <a:solidFill>
              <a:srgbClr val="0D685C"/>
            </a:solidFill>
            <a:prstDash val="solid"/>
            <a:headEnd type="none"/>
            <a:tailEnd type="none"/>
          </a:ln>
        </p:spPr>
        <p:txBody>
          <a:bodyPr/>
          <a:lstStyle/>
          <a:p>
            <a:endParaRPr lang="ko-KR"/>
          </a:p>
        </p:txBody>
      </p:sp>
      <p:sp>
        <p:nvSpPr>
          <p:cNvPr id="17" name="mechanism-edge-e3-segment-2"/>
          <p:cNvSpPr/>
          <p:nvPr/>
        </p:nvSpPr>
        <p:spPr>
          <a:xfrm flipV="1">
            <a:off x="8386233"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18" name="mechanism-edge-e3-segment-3"/>
          <p:cNvSpPr/>
          <p:nvPr/>
        </p:nvSpPr>
        <p:spPr>
          <a:xfrm>
            <a:off x="8386233" y="3975100"/>
            <a:ext cx="160867" cy="0"/>
          </a:xfrm>
          <a:prstGeom prst="line">
            <a:avLst/>
          </a:prstGeom>
          <a:noFill/>
          <a:ln w="12700">
            <a:solidFill>
              <a:srgbClr val="0D685C"/>
            </a:solidFill>
            <a:prstDash val="solid"/>
            <a:headEnd type="none"/>
            <a:tailEnd type="triangle"/>
          </a:ln>
        </p:spPr>
        <p:txBody>
          <a:bodyPr/>
          <a:lstStyle/>
          <a:p>
            <a:endParaRPr lang="ko-KR"/>
          </a:p>
        </p:txBody>
      </p:sp>
      <p:sp>
        <p:nvSpPr>
          <p:cNvPr id="19" name="mechanism-node-a"/>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작업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추정 비용 q = 2</a:t>
            </a:r>
            <a:endParaRPr lang="en-US" sz="1150" dirty="0"/>
          </a:p>
        </p:txBody>
      </p:sp>
      <p:sp>
        <p:nvSpPr>
          <p:cNvPr id="20" name="mechanism-node-b"/>
          <p:cNvSpPr/>
          <p:nvPr/>
        </p:nvSpPr>
        <p:spPr>
          <a:xfrm>
            <a:off x="5143500" y="24003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작업 B</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추정 비용 q = 6</a:t>
            </a:r>
            <a:endParaRPr lang="en-US" sz="1150" dirty="0"/>
          </a:p>
        </p:txBody>
      </p:sp>
      <p:sp>
        <p:nvSpPr>
          <p:cNvPr id="21" name="mechanism-node-c"/>
          <p:cNvSpPr/>
          <p:nvPr/>
        </p:nvSpPr>
        <p:spPr>
          <a:xfrm>
            <a:off x="5143500" y="44831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작업 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추정 비용 q = 3</a:t>
            </a:r>
            <a:endParaRPr lang="en-US" sz="1150" dirty="0"/>
          </a:p>
        </p:txBody>
      </p:sp>
      <p:sp>
        <p:nvSpPr>
          <p:cNvPr id="22" name="mechanism-node-d"/>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작업 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추정 비용 q = 1</a:t>
            </a:r>
            <a:endParaRPr lang="en-US" sz="1150" dirty="0"/>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D의 준비 시점은 B와 C의 완료 시점 중 더 늦은 시점이다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3–5, Fig. 2, Eqs. 1–3, 12–13; constructed example</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우선순위: 뒤에 남은 큰 비용을 역방향으로 누적한다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종료 작업은 P=q, 나머지는 P=q+max(후속 작업의 P)</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작업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우선순위 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 qD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 / 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2+max(7,4)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내림차순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 B → C →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의존성을 지키는 한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우선순위는 작업 순서를 정하는 규칙이며, 실행 위치를 고르는 DTO와 역할이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Eqs. 12–13;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슬롯 길이: 단말들의 처리시간 중 최댓값</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단말별 현재 작업 하나를 한 슬롯 안에 끝내는 모델을 사용한다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슬롯</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두 단말의 처리시간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슬롯 길이 D[t]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0.05s / 0.08s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0.02s / 0.04s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작업시간 합은 0.19s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슬롯 길이 합은 0.12s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단말의 시간을 줄이는 것과 시스템의 가장 긴 시간을 줄이는 것은 다를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 5–7, Eqs. 1–3, 14a;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종류의 간섭은 서로 다른 단계에 작용한다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셀에서는 채널을 나누고, 이웃 셀은 같은 채널을 재사용할 수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간섭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발생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처리시간에 미치는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셀 간 무선 간섭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셀의 동일 채널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SINR·전송률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셀의 채널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채널에 최대 한 단말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셀 안의 중복 배정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I/O 간섭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단말의 VM 동시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계산시간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이동·페이딩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거리와 무선 상태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배분도 성능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DCA는 채널 수를 배분하지만, 그 사실만으로 셀 간 간섭을 제거하지는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Eqs. 6–8, 14e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 서버 혼잡은 무선이 같아도 비용을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입력 2Mbit, 20Mbit/s, 50Mcycles, 서버 5GHz; 송신 1W·대기 0.3W</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처리시간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단말 에너지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VM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0.10+0.010 = 0.110s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0.10+0.003 = 0.103J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VM 3개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0.10+0.0144 = 0.1144s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0.10+0.00432 = 0.10432J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계산시간 배율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(1+0.2)² = 1.44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전력은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엣지 실행 에너지는 단말의 송신·대기 에너지이며 시스템 전체 에너지가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Eqs. 7–10;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목표: 지연과 단말 에너지의 가중 비용을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ω는 지연에 줄 가중치이고, 1−ω는 에너지에 줄 가중치다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수준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 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ωd + (1−ω)e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선택한 모드의 시간·에너지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시스템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ωΣD[t] + (1−ω)Σe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슬롯 최대 지연 + 단말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지연에 더 큰 비중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에너지가 늘 수도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전체를 한 위치에서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분할·반환 통신은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ω=0.5는 선택한 수치 단위에서의 가중치이지 물리적으로 같은 비중의 보장이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4–6, Eqs. 11, 14, 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TOICA 한 슬롯: 서버 선택 뒤 채널 배분이 이어진다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DTO의 행동을 DCA로 평가한 결과가 다시 DTO 학습의 보상이 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관측</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단말 위치와 현재 작업의 크기</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위치 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DTO: 로컬 또는 한 서버</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자원 배분</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DCA: 서버별 채널 수와 ID</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비용 평가</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전송·계산 후 보상과 다음 상태</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학습과 최적화가 결합된 방식이며, 모든 결정을 하나의 신경망이 출력하지 않는다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Algorithms 1–2, Fig. 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DCA: 한 단말에 줄 채널 개수를 후보로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서버 m에 접속한 Nm개 단말과 K개 채널을 놓고 배분한다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단말에 줄 채널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1부터 K−Nm+1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v[n,z]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z개를 줄 때 추정 통신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후보별 주어진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y[n,z]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후보를 선택했는가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단말마다 정확히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z의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정확히 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먼저 오프로딩 단말 집합을 고정한 뒤 그 집합 안에서 채널 수를 최적화한다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Eq. 15,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배분 예: 4개 채널을 두 단말에 모두 나눈다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비용표: 숫자는 작은 것이 좋고, 가능한 z는 1·2·3이다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채널 수 z</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단말 A의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단말 B의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단말에게 같은 수를 주는 것이 최소 비용 배분은 아닐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Eq. 15;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가능한 배분을 계산하면 A에 3개, B에 1개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K=4, Nm=2에서 모든 유효한 채널 개수 조합을 비교한다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 / B 채널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합산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24+2 = 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12+3 = 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 = 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표의 최솟값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B에 채널이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제약 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A에 한 채널을 더 주는 이득이 B에서 한 채널을 줄이는 손실보다 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Eq. 15;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동적 계획법: 앞 단말들의 최솟값을 재사용한다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dp[n,j]: 앞 n개 단말에 정확히 j개 채널을 쓴 최소 비용</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또는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dp[0,0]=0, 나머지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불가는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dp[1,1..3]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 12 /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 채널 4개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min(24+2,12+3,8+6)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dp[2,4]=14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역추적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B에 1개 → A에 3개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4개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DP는 채널을 임의로 조금씩 주는 것이 아니라 모든 유효한 후보의 최솟값을 누적한다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Algorithm 1;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채널 3개와 채널 ID 1·2·4는 다른 정보다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DCA의 DP는 개수를 구하고, 구체적 채널은 그 개수에 맞춰 무작위로 붙인다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개수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A=3, B=1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비용표 기준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 배정 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A={1,2,4}, B={3}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가능한 한 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겹치는 ID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셀 안 충돌 방지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 1을 재사용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셀 간 간섭은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배분 개수의 최적성과 특정 주파수 조합의 최적성을 구분한다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 6, Eq. 6, Algorithm 1 and following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채널보다 단말이 많으면 제약부터 충돌한다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단말 최소 1개와 총 K개 사용을 동시에 만족하려면 Nm≤K여야 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가능성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K=4, Nm=2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 후보는 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K=4, Nm=4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단말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배분 자유도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K=4, Nm=5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제약에서는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접속·오프로딩 결정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오프로딩 단말 0개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활성 배분 대상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빈 서버 처리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서버를 선택하는 것과 자원 제약 아래 그 선택을 실행하는 것은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Eqs. 14f–g, 15; feasibility consequence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Q값: 지금 행동의 장기 보상을 예측한다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DQN은 행동별 기대 보상을 표 대신 신경망으로 추정하는 방식이다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23976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TOICA에서의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결정에 쓰는 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위치·현재 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지금 선택할 실행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 또는 서버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결과의 개선 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 대비 비용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Q(s,a)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보상까지 고려한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Q값이 큰 행동을 고르는 것이 목표이며, Q값 자체가 초나 줄은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§III-B, Eqs. 18–22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DTO: 현재 작업의 상태로 로컬 또는 서버를 고른다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단말은 s={현재 위치, 입력 크기, 계산량}을 관측한다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 명시된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위치 Xn[t]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단말의 현재 공간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시간에 따라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b /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비트 / CPU 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작업의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a=0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단말에서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 배분 불필요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m에서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DCA의 접속 집합에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D3QN 출력 개수는 단말당 M+1이며, 채널 ID 전체 조합을 직접 출력하지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Eqs. 16–17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Dueling: 상태 공통값과 행동별 차이를 나눈다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D3QN의 Q망 안에서는 두 출력 갈래가 다시 한 Q벡터로 합쳐진다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표현</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상태의 특징</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 갈래</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상태에 공통인 값 1개</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 갈래</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행동별 raw 점수</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평균 제거·합산</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 = V + A − mean(A)</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 벡터</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로컬·서버별 Q값</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Eq. 22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DQN: 고르는 망과 평가하는 망을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다음 상태: Main Q=[2,3], Target Q=[4,1], 보상 0.2, γ=0.9</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선택·평가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목표 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Main에서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번째 행동: Q=3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argmax 행동만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Target에서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행동의 값은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0.2+0.9×1 = 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자체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번째 행동 값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DQN이라면 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D3QN은 Dueling Q망을 사용하면서 Double DQN 방식으로 목표를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Eq. 21;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보상: 로컬 실행보다 얼마나 비용을 줄였는가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r=tanh(로컬 비용−선택한 실행 비용), DCA 결과가 선택 비용에 들어간다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설명용 비용 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보상 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+0.380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로컬보다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로컬과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−0.291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로컬보다 나쁨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tanh 변환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−1과 1 사이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차이를 압축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보상은 학습을 위한 개선 신호이며, 전역 최적해의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Eq. 18;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배분까지 끝난 전이를 경험으로 저장한다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DCA를 제외하고 DTO만 학습하면 평가하는 환경 자체가 달라진다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행동·배분</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ε-greedy 선택 후 DCA</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경험 저장</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상태·행동·보상·다음 상태</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표본 학습</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replay에서 batch를 뽑아 갱신</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복사</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정해진 주기에 Main을 복사</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과거 경험의 재사용과 느리게 바꾸는 Target이 학습을 안정화하려는 장치다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Algorithm 2; p. 8, Table 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학습과 실제 의사결정에서 필요한 계산을 나눈다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오프라인 학습과 온라인 의사결정의 두 단계를 구분한다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활동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온라인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 Q값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DCA 배분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환경 상호작용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접속 집합에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Replay·망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경험으로 수행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추론만 할 때는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상태·비용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환경의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수집·제어 연동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오프라인으로 정책을 학습해도 온라인에서 상태 수집과 DCA 실행은 사라지지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§III-B, Fig. 4; p. 8, §IV</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최적화의 범위: DCA와 전체 TOICA를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고정된 비용표의 최적 배분은 전체 시스템의 전역 최적성보다 좁은 주장이다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직접 다루는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자동으로 보장하지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우선순위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추정 비용의 후속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 작업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v의 채널 개수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ID별 간섭의 전역 최적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 대비 tanh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전역 makespan 최소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공동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선택·배분을 매번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조건의 성능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기여는 결합 설계와 조건부 실험 성과로 읽는다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5–7, Eqs. 14–18; mathematical consequence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비교군: 무엇을 바꾸었는지 알아야 결과를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DCA를 쓰는 비교와 DCA를 제거한 비교는 다른 질문에 답한다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바꾼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점검하는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채널을 무작위로 배분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DCA 기여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TOICA-RA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무작위 작업 우선순위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의존 작업 순서 규칙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SEG+DCA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위치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DTO와 greedy의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ON+DCA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가까운 서버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거리만 쓰는 선택과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방법 이름만 비교하지 않고 작업 순서·위치 결정·자원 배분의 변경점을 나눈다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8–9, comparison descriptions, Figs. 5–7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환경: 5개 단말과 3개 서버의 시뮬레이션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기본값과 규모 확대 실험을 구분한다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50MHz / 8개 채널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서버별 배분 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 서버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5개 / 3개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이동 반경 500m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15개 노드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150–400kB, 30–80Mcycles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 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5GHz / ω=0.5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비교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하드웨어와 통신 수치는 평가 모델의 입력이며 실물 장치에서의 성능 보증이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§IV,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 자원 배분을 결합한 쪽의 비용이 낮았다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Fig.5–7은 제시된 시뮬레이션 설정 안에서의 비교다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바뀐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 only와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TOICA 보상 더 높게 안정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대역폭 30–70MHz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대역폭 증가 시 비용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계산력 3–7GHz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계산력 증가 시 비용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 수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대역폭의 K=8 / 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K=16의 비용이 더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그래프의 Cost Valuation은 원시 에너지 J나 지연 s가 아닌 변환된 비용이다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8–9, Figs. 5–7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가중치와 규모를 바꾸면 성능과 학습도 바뀐다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규모 확대 그래프는 하나의 망을 아무 수정 없이 적용한 결과가 아니다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ω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대체로 지연↓·에너지↑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점은 엄격 단조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수 9 / 15 / 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많을수록 비용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입력 난도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수 3 / 6 /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재학습 보상 곡선 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크기·학습률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자원 경쟁·전체 비용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무제한 확장성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확장 실험은 적응 가능성의 근거지만 동일 모델의 무수정 배포 보장과는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9–10,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36.8ms는 무엇을 나누어 얻은 시간인가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1,000 episode 시뮬레이션에 551.5초를 보고한다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239768"/>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시뮬레이션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551.5s / 1,000 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0.5515s/episode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15개 작업으로 나눔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0.5515/15 ≈ 0.0368s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36.8ms/작업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포함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시뮬레이션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순수 추론 지연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실시간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실장치 수집·DCA·제어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end-to-end 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시뮬레이션 시간을 실제 장치의 추론·마감시간 보장으로 옮기지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paragraph following Fig. 5; recomputed arithmetic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수식의 빈틈은 성과와 구분해서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설명을 그대로 인용하는 것과 증명을 확인하는 것은 다르다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913632"/>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인쇄된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안전한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평균이라 부르지만 합 표기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추정 비용 q로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NP-hard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문제에서 GKP로 매핑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방향만으로 증명 안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DCA 연산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Nm(K−Nm+1)(K+1)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경계 Nm=K에서도 양수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슬롯·무배정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합산식·빈 서버 예외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 시 조건 명시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비판은 제시된 증명·표기의 범위에 한정하며 전체 실험이 무효라고 단정하지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4–7, Eqs. 4–5, 12, 14–15, Algorithm 1, complexity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정리: 실행 위치와 자원 배분을 함께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TOICA는 작업 순서, 서버 선택, 채널 배분을 연결하는 설계다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순서</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DAG 후속 비용으로 우선순위</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위치</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D3QN으로 로컬·서버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채널</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DCA로 수량 최적화 후 ID 배정</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검증 범위</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조건부 시뮬레이션과 한계</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DCA의 부분 문제 최적성과 TOICA 전체의 조건부 성과를 함께 구분해 이해한다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1–10, §§II–V</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TOICA: 작업의 실행 위치와 채널 수를 함께 정하기</dc:title>
  <dc:subject>Joint Task Offloading and Channel Allocation in Spatial-Temporal Dynamic for MEC Networks</dc:subject>
  <dc:creator>Research Seminars</dc:creator>
  <cp:lastModifiedBy>Research Seminars</cp:lastModifiedBy>
  <cp:revision>1</cp:revision>
  <dcterms:created xsi:type="dcterms:W3CDTF">2026-09-12T09:26:14Z</dcterms:created>
  <dcterms:modified xsi:type="dcterms:W3CDTF">2026-09-12T09:26:14Z</dcterms:modified>
</cp:coreProperties>
</file>
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iDEAS: 모바일 계산의 위치와 속도를 함께 선택하기
발표 대본
Nima Samadi, Farbod Yadollahi, Hamed Shah-Mansouri의 IEEE Access 2025 논문을 소개합니다. 목표는 모바일 기기의 작업 마감시간을 고려하면서 기기에서 소모하는 에너지를 줄이는 것입니다. 논문의 모델과 수치 실험, 저자가 공개한 구현의 동작을 구분해 읽습니다. 결과가 실제 스마트폰이나 특정 가속기에서 검증되었다는 뜻은 아닙니다.
공개 출처
paper | pp. 200711–200724; title, abstract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출발점: 느리게 계산해도 항상 절약되지는 않는다
발표 대본
논문은 코어 선택, 주파수, 오프로딩, 송신 전력을 함께 결정합니다. 전력은 순간 소비율이고 에너지는 시간 동안 누적한 소비량입니다. 빨리 끝내거나 전력을 낮춘다는 사실 하나만으로 에너지 최소화를 보장할 수 없습니다. 클라우드 일반론이 아니라 근처 엣지 서버로 전체 작업을 보내는 모델입니다.
공개 출처
paper | pp. 200711–200714, §§I–III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용어: 전력·실행시간·학습 가치를 구분한다
발표 대본
DVFS는 Dynamic Voltage and Frequency Scaling입니다. WCET는 Worst-Case Execution Time, AET는 Actual Execution Time입니다. DQN은 에너지 값을 그대로 출력하는 회귀기라기보다 보상으로 정의한 행동 가치를 근사합니다. big.LITTLE은 빠른 코어와 전력 효율 중심 코어를 함께 사용하는 이기종 구조를 가리킵니다.
공개 출처
paper | pp. 200712, 200714, 200717–200718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한 작업의 경로: 셋 중 하나만 선택한다
발표 대본
도식의 행은 선택 경로를 구분하며 장치별 물리적 소유 영역이 아닙니다. 도착한 작업을 가운데 놓았다고 big에서 먼저 실행한다는 뜻이 아닙니다. 세 화살표는 동시에 실행되는 복제 경로가 아니라 선택 가능한 대안입니다. Eq.11–12의 xL, xb, xO는 0 또는 1이고 합이 1입니다. 논문은 독립 작업과 실행 중 비이동을 가정합니다. 목적식은 모바일 기기의 에너지이므로 엣지 서버가 쓰는 전력은 이 비용에 포함되지 않습니다. 반환 데이터가 작아 반환 통신 비용을 무시한다는 가정도 있습니다.
공개 출처
paper | pp. 200714–200716, Fig. 1, Eqs. 10–12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입력: 반복되는 작업과 그 부하
발표 대본
원문은 반복 작업 유형과 그 유형에서 생성되는 job을 함께 다룹니다. WCET 기준 주파수는 실험에서 엣지의 2.8GHz입니다. 따라서 w/p와 실제 로컬 코어 부하는 같지 않을 수 있습니다. Fig.4–5의 가로축은 총 활용률을 작업 수 N으로 나눈 값입니다. 독립 작업 가정이므로 의존성 그래프의 선후관계는 다루지 않습니다.
공개 출처
paper | pp. 200714, 200719, 200721, Eqs. 1–2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한 번의 결정 구간: 주기들의 최소공배수
발표 대본
이 예는 원문 측정값이 아닌 최소공배수의 계산 예입니다. 논문은 한 시간 단계의 길이를 그 단계 작업 주기들의 최소공배수로 정의합니다. 한 작업 유형이 구간 안에서 여러 job을 생성할 수 있습니다. 이 정의가 현실에서 임의의 비정수 주기와 모든 도착 패턴을 그대로 지원한다는 보장은 아닙니다.
공개 출처
paper | p. 200717, §IV-A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DVFS의 핵심: 에너지 = 전력 × 실행시간
발표 대본
f는 주파수, V는 전압, C는 스위칭 정전용량, Is는 누설 전류, q는 송신 전력, r은 전송률입니다. λ와 ρ는 모델 계수입니다. 이 식만으로 모든 기기의 소비를 정확히 예측할 수는 없습니다. 이 논문의 평가에서는 코어별 주파수·전력 표를 사용하며 서버 계산 에너지는 모바일 목적식 밖입니다.
공개 출처
paper | pp. 200715–200716, Eqs. 3–10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일반 실행시간 모델과 실제 평가 가정은 다르다
발표 대본
앞부분은 메모리 병목 때문에 실행시간과 주파수가 단순 반비례하지 않을 수 있다고 설명합니다. 그러나 평가 절에서는 AET와 WCET를 선택 주파수에 역비례해 조정한다고 명시합니다. 두 문장을 합쳐 비선형 실측 기반 스마트폰 실험이라고 소개하면 안 됩니다. Tables1–2의 마지막 열은 Energy Consumption(J)로 표기되어 있어 전력 열과 혼동하지 않습니다.
공개 출처
paper | pp. 200715, 200719–200720, 200723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계산 예: 같은 작업의 세 선택지를 비교한다
발표 대본
원문 실험값이 아닌 산술 예입니다. 대기·반환·추가 통신 비용은 제외합니다. 전송률은 6Mbit/s, 송신 전력은 0.1W, 서버 계산시간은 0.02s로 가정했습니다. LITTLE의 에너지가 big보다 작더라도 마감시간을 넘습니다. 엣지 에너지는 기기의 송신 부분만 계산했으며 서버가 소비한 에너지가 0이라는 뜻은 아닙니다. 실제 iDEAS의 학습 보상과 이 단일 작업의 조건 비교를 동일시하지 않습니다.
공개 출처
paper | pp. 200715–200718, Eqs. 10–15; constructed example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채널이 나빠지면 같은 선택의 결과도 바뀐다
발표 대본
이 역시 설명용 예입니다. q를 고정해 r이 감소한 경우만 비교했습니다. 실제 무선 모델은 r=W log2(1+qh/σ)이며 전력을 바꾸면 전송률과 에너지가 함께 변합니다. 따라서 항상 최대 송신 전력이 유리하다고 결론 내릴 수 없습니다.
공개 출처
paper | pp. 200715–200716, Eqs. 3, 10; constructed example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최적화 문제: 위치·주파수·전력을 묶는다
발표 대본
장기 목표는 여러 단계의 에너지 절감입니다. 하지만 DQN은 Eq.12를 매번 정확히 풀어 최적해를 내는 알고리즘이 아니라 보상으로 학습한 정책을 사용합니다. τ≤p만으로 여러 작업이 공유하는 코어의 대기·경합까지 검증되었다고 볼 수 없습니다. 평가에는 마감시간을 넘겨 drop으로 집계된 작업이 존재합니다.
공개 출처
paper | pp. 200716–200718, Eqs. 12–15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복잡성 주장: 제시된 축약식은 따로 점검한다
발표 대본
비용 숫자는 설명용입니다. 표시된 Eq.13의 목적식은 작업별 선형 비용의 합이고 제약은 각 작업에서 정확히 하나를 선택하는 것뿐입니다. 따라서 해는 모든 i에 대해 min(cb_i,cL_i,cO_i)를 더하면 됩니다. 이 관찰은 Eq.13을 이용한 NP-hard 증명을 그대로 받아들일 수 없다는 뜻이며, 모든 확장 스케줄링 문제가 쉽다는 주장이나 원문 전체 문제의 분류를 새로 확정한 것은 아닙니다.
공개 출처
paper | p. 200716, Theorem 1, Eq. 13; mathematical check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논문의 상태: 작업과 자원·채널을 함께 본다
발표 대본
논문 표기는 s=(u,w,b,h,ub,uL)입니다. 앞 네 항은 작업별 벡터이고 뒤는 코어 활용률입니다. 이 논문 표기 자체를 입력 뉴런 수가 항상 6이라는 뜻으로 읽으면 안 됩니다. 다음 장에서 공개 구현의 작업별 입력을 별도로 설명합니다.
공개 출처
paper | pp. 200717–200718, §IV-B States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공개 구현: 작업별 여섯 숫자를 넣는다
발표 대본
각 행은 한 작업의 6차원 입력입니다. 값은 설정 범위에 맞춰 잘라내고 정규화합니다. 논문의 벡터 표기와 다른 구현 표현임을 구분합니다. 이 설명은 고정된 공개 코드의 정적 확인이며 실험 재현 결과가 아닙니다.
공개 출처
env | HetrogenEnv._get_system_state; commit 1187ed4
Author implementation: environment observation and reward (1187ed4)
https://github.com/NimaSamadi007/iDEAS-Implementation/blob/1187ed4199770f5332e474918cd3a730b02cea1b/env_models/env.py
paper | pp. 200717–200718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행동 번호는 실행 대상과 설정값의 쌍이다
발표 대본
코드는 대상 순서를 offload, little, big으로 두고 후보 개수를 누적해 번호를 해석합니다. 공유 신경망이 작업별 Q값을 계산합니다. 주파수와 전력의 연속 최적화 문제를 그대로 해결한 것이 아니라 이산 후보 선택입니다.
공개 출처
dqn | DQN_DVFS action decoding; 1187ed4
Author implementation: DQN and action decoding (1187ed4)
https://github.com/NimaSamadi007/iDEAS-Implementation/blob/1187ed4199770f5332e474918cd3a730b02cea1b/dvfs/dqn_dvfs.py
config | cpus / channel configs; 1187ed4
Author implementation: main, CPU and wireless configurations (1187ed4)
https://github.com/NimaSamadi007/iDEAS-Implementation/tree/1187ed4199770f5332e474918cd3a730b02cea1b/configs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실행 흐름: 관측에서 세 경로 분배까지
발표 대본
Algorithm1은 탐험 시 임의 행동, 그 외에는 최대 Q값 행동을 선택하고 세 작업 집합으로 나눕니다. 각 집합을 실행한 결과에서 비용과 보상을 얻습니다. 탐험 행동을 실제 기기에 무제한 적용해도 안전하다는 보장은 없고 실물 안전 제어는 후속 과제로 남습니다.
공개 출처
paper | pp. 200718–200719, Algorithm 1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보상: 에너지와 지연으로 비용을 만든다
발표 대본
Eq.14는 에너지와 지연을 합하므로 ζ의 단위와 수치가 중요합니다. Eq.15는 작업별 지수 보상의 합입니다. 공개 구현은 유형별 job 비용을 평균내 지수 변환한 보상 배열을 사용하며 논문의 집합 표기와 구분해야 합니다. 큰 비용을 준다고 모든 상태에서 기한을 만족하는 행동이 존재하거나 그 행동을 반드시 찾는 것은 아닙니다.
공개 출처
paper | p. 200718, Eqs. 14–15
iDEAS: Intelligent DVFS for Energy-Efficient Task Scheduling in Mobile Devices With big.LITTLE Computing Architecture
https://doi.org/10.1109/ACCESS.2025.3636995
env | HetrogenEnv._cal_reward; 1187ed4
Author implementation: environment observation and reward (1187ed4)
https://github.com/NimaSamadi007/iDEAS-Implementation/blob/1187ed4199770f5332e474918cd3a730b02cea1b/env_models/env.py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보상 계산 예: 더 작은 비용에 더 큰 점수
발표 대본
앞의 경로 예를 mJ와 ms로 환산한 구성 예입니다. 10+0.005×120=10.6, 40+0.005×80=40.4입니다. 위반 비용의 구체적인 수치는 이 표에서 가정하지 않았습니다. 지수 보상 합의 최대화는 에너지 합의 최소화와 일반적으로 동치가 아니므로 학습 목적과 본래 목표의 차이도 남습니다.
공개 출처
paper | pp. 200718, 200720, Eqs. 14–15, Table 5; constructed example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학습 흐름: 과거 경험으로 Q망을 갱신한다
발표 대본
논문은 Adam과 smooth L1 loss, 표본 재사용, target 갱신을 명시합니다. DQN은 모든 최적화 제약을 정확히 풀어 주는 solver가 아닙니다. 본문 일반 Q-learning 식의 출력에는 덧셈 표기 누락으로 보이는 부분이 있으므로 이를 알고리즘 정의로 확대하지 않고 Algorithm1과 구현의 target을 기준으로 설명합니다.
공개 출처
paper | pp. 200717–200720, Algorithm 1, Table 5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Q 학습 예: 지금 보상과 다음 가치의 합
발표 대본
공개 코드의 target은 R+γ(1−done)max Qtarget(s′,a′)입니다. 이 수치는 설명용입니다. 행동 선택과 평가를 두 망으로 분리하는 Double DQN 식이 아니라 기본 DQN의 최대값 target입니다.
공개 출처
dqn | DQN_DVFS._compute_net_loss; 1187ed4
Author implementation: DQN and action decoding (1187ed4)
https://github.com/NimaSamadi007/iDEAS-Implementation/blob/1187ed4199770f5332e474918cd3a730b02cea1b/dvfs/dqn_dvfs.py
paper | pp. 200717–200719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네트워크가 작다는 주장과 전체 메모리는 다르다
발표 대본
논문의 파라미터 산식은 bias를 세지 않습니다. 64+32+30=126개 bias를 더한 계산이며 FP32 4바이트로 3518×4=14072바이트입니다. 입력과 출력 크기를 고정한 망의 연산 분석은 상태 수집, 모델 런타임, 운영체제, DVFS 전환, 무선 송신 비용을 포함한 실측 지연이 아닙니다.
공개 출처
paper | pp. 200718–200719, §IV-D
iDEAS: Intelligent DVFS for Energy-Efficient Task Scheduling in Mobile Devices With big.LITTLE Computing Architecture
https://doi.org/10.1109/ACCESS.2025.3636995
dqn | Network; 1187ed4
Author implementation: DQN and action decoding (1187ed4)
https://github.com/NimaSamadi007/iDEAS-Implementation/blob/1187ed4199770f5332e474918cd3a730b02cea1b/dvfs/dqn_dvfs.py
config | iDEAS_Main: state_dim; 1187ed4
Author implementation: main, CPU and wireless configurations (1187ed4)
https://github.com/NimaSamadi007/iDEAS-Implementation/tree/1187ed4199770f5332e474918cd3a730b02cea1b/configs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공개 코드의 실행 모델에도 경계가 있다
발표 대본
CPU.step은 각 job의 AET를 생성하고 기한 초과를 검사하며 선택 주파수의 전력을 곱합니다. 이 함수에 다중 코어 점유 시간표나 경합 대기열이 보이지 않습니다. RRLO용 CPU_CC에는 별도 EDF 시간 진행이 있습니다. 이는 읽은 함수의 범위에 대한 관찰이며 모든 구현이 잘못되었다는 판정이 아닙니다.
공개 출처
cpu | CPU.step / CPU_CC.step; 1187ed4
Author implementation: CPU execution model (1187ed4)
https://github.com/NimaSamadi007/iDEAS-Implementation/blob/1187ed4199770f5332e474918cd3a730b02cea1b/env_models/cpu.py
config | iDEAS_Main.yaml; 1187ed4
Author implementation: main, CPU and wireless configurations (1187ed4)
https://github.com/NimaSamadi007/iDEAS-Implementation/tree/1187ed4199770f5332e474918cd3a730b02cea1b/configs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평가 조건: 시뮬레이션과 고정 작업 집합
발표 대본
Tables3–4의 주기·WCET·크기 값과 훈련 범위로 작업을 생성합니다. Table5는 γ=.95, 학습률5e−6, replay10000, batch32, target 간격100을 제시합니다. 평가 반복 10000회를 독립 학습 seed10000개로 해석하면 안 됩니다. 오차 막대와 다양한 실물 기기 검증은 이 자료에서 확인되지 않습니다.
공개 출처
paper | pp. 200719–200720, Tables 1–5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서로 다른 두 비교 실험을 구분한다
발표 대본
원문 §V-D가 명시한 공정 비교 조건입니다. 따라서 그 절의 절감률을 big과 LITTLE을 모두 사용하는 장치의 효과라고 설명하면 안 됩니다. RRLO와 DRLDO의 특성 비교는 이 논문에서 제시한 설명 범위이며 원 논문의 전체 기능을 별도로 검증했다는 뜻은 아닙니다.
공개 출처
paper | pp. 200721–200722, §§V-C–D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기본 baseline 비교: Fig.6의 모바일 에너지
발표 대본
Fig.6의 수치입니다. Table6는 iDEAS의 절감률을 Random 대비62.8%/59.75%, Local 대비81.13%/79.18%, Edge-only 대비84.26%/84.25%로 보고합니다. 이 수치를 일반적인 모든 작업이나 기기에 적용하지 않습니다. Fig.3의 별도 막대 값과 미세하게 다른 숫자도 섞지 않습니다.
공개 출처
paper | p. 200721, Fig. 6, Table 6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기존 연구 비교: big-only 조건의 Fig.8
발표 대본
절감률은 1−iDEAS/baseline으로 계산합니다. 초록과 기여 요약은 무거운 작업과 가벼운 작업의 절감률 대응을 이 그림 및 §V-D와 반대로 기술합니다. 이 발표는 작업 집합 정의와 Fig.8 막대값에 기준을 고정합니다. 해당 불일치를 숨기거나 서로 다른 조건의 결과를 평균내지 않습니다.
공개 출처
paper | p. 200722, Fig. 8, §V-D; compare abstract / §I-B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부하가 커지면 마감시간 실패도 늘어난다
발표 대본
Fig.5의 막대 숫자를 사용했습니다. 본문의 '0.375까지 minimal drop'을 '항상 0'으로 바꾸면 틀립니다. Fig.10의 기존 연구 비교에서는 낮은 부하에서 DRLDO가 더 적게 drop할 수 있습니다. 서로 다른 실험의 drop 곡선을 한 실험의 숫자처럼 결합하지 않습니다.
공개 출처
paper | pp. 200721, 200723, Figs. 5, 10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온디바이스 적용을 판단할 때 남는 질문
발표 대본
저자들은 결론에서 Linux kernel 구현, 관측 지연, 하드웨어 비이상성, DVFS switching overhead, safe RL을 후속 과제로 적습니다. 따라서 온디바이스 연산을 연구하는 데 참고할 수 있지만 Tenstorrent 등 특정 플랫폼의 지원·성능을 이 논문만으로 확정할 수는 없습니다. 새로운 장치 실험을 수행한 자료가 아닙니다.
공개 출처
paper | p. 200723, §VI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한계: 적용 범위를 넓히기 전에 구분할 것
발표 대본
추가로 정리1의 축약 증명, 일반 모델과 평가 실행시간의 차이, 초록과 Fig.8의 작업 집합 대응, 논문과 코드의 상태 및 계수 차이를 구분했습니다. 이런 경계를 밝히는 것은 연구의 공동 제어 아이디어를 버리기 위한 것이 아니라 무엇을 다시 시험해야 하는지 알기 위한 것입니다.
공개 출처
paper | pp. 200714–200723, §§III–VI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핵심 정리: 위치·속도·전력을 함께 학습한다
발표 대본
발표를 마칠 때 청중이 구분해야 할 것은 세 가지입니다. 무엇을 함께 제어하는가, DQN의 상태·행동·보상은 무엇인가, 그리고 어떤 실험 조건에서 무엇이 개선되었는가입니다. 구현과 수식의 차이를 부록 취급으로 숨기지 않고 정확한 해석 범위에 연결했습니다.
공개 출처
paper | pp. 200711–200724
iDEAS: Intelligent DVFS for Energy-Efficient Task Scheduling in Mobile Devices With big.LITTLE Computing Architecture
https://doi.org/10.1109/ACCESS.2025.3636995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iDEAS: 모바일 계산의 위치와 속도를 함께 선택하기</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iDEAS: Intelligent DVFS for Energy-Efficient Task Scheduling in Mobile Devices With big.LITTLE Computing Architecture</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Nima Samadi, Farbod Yadollahi, Hamed Shah-Mansouri (2025)</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big.LITTLE 코어, DVFS, 엣지 오프로딩을 연결하는 강화학습 기반 설계</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200711–200724; title,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출발점: 느리게 계산해도 항상 절약되지는 않는다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기기 안에서의 계산과 무선 전송에는 서로 다른 비용과 시간 제약이 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913632"/>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얻는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함께 따져야 할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LITTLE 코어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상대적으로 낮은 전력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긴 처리시간과 마감시간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big 코어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높은 계산 성능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큰 소비전력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낮은 주파수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동작 전력 감소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늘어난 실행시간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엣지 전송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기기 계산을 외부로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전송 에너지·전송 지연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실행 위치를 정한 뒤 속도를 따로 고르면 더 좋은 조합을 놓칠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200711–200714, §§I–III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용어: 전력·실행시간·학습 가치를 구분한다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표기의 뜻을 먼저 고정하면 뒤의 계산을 직접 따라갈 수 있다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239768"/>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기호·약어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 논문에서의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DVFS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전압·주파수 동적 조절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전력과 시간의 절충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WCET / AET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최악 / 실제 실행시간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상한 정보 / 실행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Mobile Edge Computing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근처 서버로 계산 이전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Deep Q-Network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신경망으로 행동 가치 추정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Q(s,a)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상태 s의 행동 a 가치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미래 할인 보상의 예상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Q값은 CPU 성능이나 즉시 에너지 자체가 아니라 학습된 행동 가치다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200712, 200714, 200717–200718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작업의 경로: 셋 중 하나만 선택한다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작업을 쪼개어 세 곳에 동시에 보내는 부분 오프로딩 모델이 아니다</a:t>
            </a:r>
            <a:endParaRPr lang="en-US" sz="1900" dirty="0"/>
          </a:p>
        </p:txBody>
      </p:sp>
      <p:sp>
        <p:nvSpPr>
          <p:cNvPr id="4" name="mechanism-lane-little"/>
          <p:cNvSpPr txBox="1"/>
          <p:nvPr/>
        </p:nvSpPr>
        <p:spPr>
          <a:xfrm>
            <a:off x="660400" y="22098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LITTLE 경로</a:t>
            </a:r>
            <a:endParaRPr lang="en-US" sz="1250" dirty="0"/>
          </a:p>
        </p:txBody>
      </p:sp>
      <p:sp>
        <p:nvSpPr>
          <p:cNvPr id="5" name="mechanism-lane-big"/>
          <p:cNvSpPr txBox="1"/>
          <p:nvPr/>
        </p:nvSpPr>
        <p:spPr>
          <a:xfrm>
            <a:off x="660400" y="32512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big 경로</a:t>
            </a:r>
            <a:endParaRPr lang="en-US" sz="1250" dirty="0"/>
          </a:p>
        </p:txBody>
      </p:sp>
      <p:sp>
        <p:nvSpPr>
          <p:cNvPr id="6" name="mechanism-lane-edge"/>
          <p:cNvSpPr txBox="1"/>
          <p:nvPr/>
        </p:nvSpPr>
        <p:spPr>
          <a:xfrm>
            <a:off x="660400" y="42926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엣지 경로</a:t>
            </a:r>
            <a:endParaRPr lang="en-US" sz="1250" dirty="0"/>
          </a:p>
        </p:txBody>
      </p:sp>
      <p:sp>
        <p:nvSpPr>
          <p:cNvPr id="7" name="mechanism-edge-e0-segment-1"/>
          <p:cNvSpPr/>
          <p:nvPr/>
        </p:nvSpPr>
        <p:spPr>
          <a:xfrm>
            <a:off x="4660900" y="3568700"/>
            <a:ext cx="120650" cy="0"/>
          </a:xfrm>
          <a:prstGeom prst="line">
            <a:avLst/>
          </a:prstGeom>
          <a:noFill/>
          <a:ln w="12700">
            <a:solidFill>
              <a:srgbClr val="0D685C"/>
            </a:solidFill>
            <a:prstDash val="solid"/>
            <a:headEnd type="none"/>
            <a:tailEnd type="none"/>
          </a:ln>
        </p:spPr>
        <p:txBody>
          <a:bodyPr/>
          <a:lstStyle/>
          <a:p>
            <a:endParaRPr lang="ko-KR"/>
          </a:p>
        </p:txBody>
      </p:sp>
      <p:sp>
        <p:nvSpPr>
          <p:cNvPr id="8" name="mechanism-edge-e0-segment-2"/>
          <p:cNvSpPr/>
          <p:nvPr/>
        </p:nvSpPr>
        <p:spPr>
          <a:xfrm flipV="1">
            <a:off x="4781550" y="2730500"/>
            <a:ext cx="0" cy="838200"/>
          </a:xfrm>
          <a:prstGeom prst="line">
            <a:avLst/>
          </a:prstGeom>
          <a:noFill/>
          <a:ln w="12700">
            <a:solidFill>
              <a:srgbClr val="0D685C"/>
            </a:solidFill>
            <a:prstDash val="solid"/>
            <a:headEnd type="none"/>
            <a:tailEnd type="none"/>
          </a:ln>
        </p:spPr>
        <p:txBody>
          <a:bodyPr/>
          <a:lstStyle/>
          <a:p>
            <a:endParaRPr lang="ko-KR"/>
          </a:p>
        </p:txBody>
      </p:sp>
      <p:sp>
        <p:nvSpPr>
          <p:cNvPr id="9" name="mechanism-edge-e0-segment-3"/>
          <p:cNvSpPr/>
          <p:nvPr/>
        </p:nvSpPr>
        <p:spPr>
          <a:xfrm>
            <a:off x="4781550" y="2730500"/>
            <a:ext cx="361950"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e1-segment-1"/>
          <p:cNvSpPr/>
          <p:nvPr/>
        </p:nvSpPr>
        <p:spPr>
          <a:xfrm>
            <a:off x="46609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e2-segment-1"/>
          <p:cNvSpPr/>
          <p:nvPr/>
        </p:nvSpPr>
        <p:spPr>
          <a:xfrm>
            <a:off x="4660900" y="3975100"/>
            <a:ext cx="241300" cy="0"/>
          </a:xfrm>
          <a:prstGeom prst="line">
            <a:avLst/>
          </a:prstGeom>
          <a:noFill/>
          <a:ln w="12700">
            <a:solidFill>
              <a:srgbClr val="0D685C"/>
            </a:solidFill>
            <a:prstDash val="solid"/>
            <a:headEnd type="none"/>
            <a:tailEnd type="none"/>
          </a:ln>
        </p:spPr>
        <p:txBody>
          <a:bodyPr/>
          <a:lstStyle/>
          <a:p>
            <a:endParaRPr lang="ko-KR"/>
          </a:p>
        </p:txBody>
      </p:sp>
      <p:sp>
        <p:nvSpPr>
          <p:cNvPr id="12" name="mechanism-edge-e2-segment-2"/>
          <p:cNvSpPr/>
          <p:nvPr/>
        </p:nvSpPr>
        <p:spPr>
          <a:xfrm>
            <a:off x="4902200" y="3975100"/>
            <a:ext cx="0" cy="838200"/>
          </a:xfrm>
          <a:prstGeom prst="line">
            <a:avLst/>
          </a:prstGeom>
          <a:noFill/>
          <a:ln w="12700">
            <a:solidFill>
              <a:srgbClr val="0D685C"/>
            </a:solidFill>
            <a:prstDash val="solid"/>
            <a:headEnd type="none"/>
            <a:tailEnd type="none"/>
          </a:ln>
        </p:spPr>
        <p:txBody>
          <a:bodyPr/>
          <a:lstStyle/>
          <a:p>
            <a:endParaRPr lang="ko-KR"/>
          </a:p>
        </p:txBody>
      </p:sp>
      <p:sp>
        <p:nvSpPr>
          <p:cNvPr id="13" name="mechanism-edge-e2-segment-3"/>
          <p:cNvSpPr/>
          <p:nvPr/>
        </p:nvSpPr>
        <p:spPr>
          <a:xfrm>
            <a:off x="4902200" y="4813300"/>
            <a:ext cx="241300" cy="0"/>
          </a:xfrm>
          <a:prstGeom prst="line">
            <a:avLst/>
          </a:prstGeom>
          <a:noFill/>
          <a:ln w="12700">
            <a:solidFill>
              <a:srgbClr val="0D685C"/>
            </a:solidFill>
            <a:prstDash val="solid"/>
            <a:headEnd type="none"/>
            <a:tailEnd type="triangle"/>
          </a:ln>
        </p:spPr>
        <p:txBody>
          <a:bodyPr/>
          <a:lstStyle/>
          <a:p>
            <a:endParaRPr lang="ko-KR"/>
          </a:p>
        </p:txBody>
      </p:sp>
      <p:sp>
        <p:nvSpPr>
          <p:cNvPr id="14" name="mechanism-edge-e3-segment-1"/>
          <p:cNvSpPr/>
          <p:nvPr/>
        </p:nvSpPr>
        <p:spPr>
          <a:xfrm>
            <a:off x="8064500" y="2730500"/>
            <a:ext cx="482600" cy="0"/>
          </a:xfrm>
          <a:prstGeom prst="line">
            <a:avLst/>
          </a:prstGeom>
          <a:noFill/>
          <a:ln w="12700">
            <a:solidFill>
              <a:srgbClr val="0D685C"/>
            </a:solidFill>
            <a:prstDash val="solid"/>
            <a:headEnd type="none"/>
            <a:tailEnd type="triangle"/>
          </a:ln>
        </p:spPr>
        <p:txBody>
          <a:bodyPr/>
          <a:lstStyle/>
          <a:p>
            <a:endParaRPr lang="ko-KR"/>
          </a:p>
        </p:txBody>
      </p:sp>
      <p:sp>
        <p:nvSpPr>
          <p:cNvPr id="15" name="mechanism-edge-e4-segment-1"/>
          <p:cNvSpPr/>
          <p:nvPr/>
        </p:nvSpPr>
        <p:spPr>
          <a:xfrm>
            <a:off x="80645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16" name="mechanism-edge-e5-segment-1"/>
          <p:cNvSpPr/>
          <p:nvPr/>
        </p:nvSpPr>
        <p:spPr>
          <a:xfrm>
            <a:off x="8064500" y="4813300"/>
            <a:ext cx="482600" cy="0"/>
          </a:xfrm>
          <a:prstGeom prst="line">
            <a:avLst/>
          </a:prstGeom>
          <a:noFill/>
          <a:ln w="12700">
            <a:solidFill>
              <a:srgbClr val="0D685C"/>
            </a:solidFill>
            <a:prstDash val="solid"/>
            <a:headEnd type="none"/>
            <a:tailEnd type="triangle"/>
          </a:ln>
        </p:spPr>
        <p:txBody>
          <a:bodyPr/>
          <a:lstStyle/>
          <a:p>
            <a:endParaRPr lang="ko-KR"/>
          </a:p>
        </p:txBody>
      </p:sp>
      <p:sp>
        <p:nvSpPr>
          <p:cNvPr id="17" name="mechanism-node-task"/>
          <p:cNvSpPr/>
          <p:nvPr/>
        </p:nvSpPr>
        <p:spPr>
          <a:xfrm>
            <a:off x="17399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도착한 작업</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데이터·주기·WCET</a:t>
            </a:r>
            <a:endParaRPr lang="en-US" sz="1150" dirty="0"/>
          </a:p>
        </p:txBody>
      </p:sp>
      <p:sp>
        <p:nvSpPr>
          <p:cNvPr id="18" name="mechanism-node-l"/>
          <p:cNvSpPr/>
          <p:nvPr/>
        </p:nvSpPr>
        <p:spPr>
          <a:xfrm>
            <a:off x="5143500" y="24003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LITTLE 선택</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이 코어의 주파수</a:t>
            </a:r>
            <a:endParaRPr lang="en-US" sz="1150" dirty="0"/>
          </a:p>
        </p:txBody>
      </p:sp>
      <p:sp>
        <p:nvSpPr>
          <p:cNvPr id="19" name="mechanism-node-b"/>
          <p:cNvSpPr/>
          <p:nvPr/>
        </p:nvSpPr>
        <p:spPr>
          <a:xfrm>
            <a:off x="51435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big 선택</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이 코어의 주파수</a:t>
            </a:r>
            <a:endParaRPr lang="en-US" sz="1150" dirty="0"/>
          </a:p>
        </p:txBody>
      </p:sp>
      <p:sp>
        <p:nvSpPr>
          <p:cNvPr id="20" name="mechanism-node-o"/>
          <p:cNvSpPr/>
          <p:nvPr/>
        </p:nvSpPr>
        <p:spPr>
          <a:xfrm>
            <a:off x="5143500" y="44831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오프로딩 선택</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송신 전력</a:t>
            </a:r>
            <a:endParaRPr lang="en-US" sz="1150" dirty="0"/>
          </a:p>
        </p:txBody>
      </p:sp>
      <p:sp>
        <p:nvSpPr>
          <p:cNvPr id="21" name="mechanism-node-lr"/>
          <p:cNvSpPr/>
          <p:nvPr/>
        </p:nvSpPr>
        <p:spPr>
          <a:xfrm>
            <a:off x="8547100" y="24003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기기 내 실행</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계산 에너지</a:t>
            </a:r>
            <a:endParaRPr lang="en-US" sz="1150" dirty="0"/>
          </a:p>
        </p:txBody>
      </p:sp>
      <p:sp>
        <p:nvSpPr>
          <p:cNvPr id="22" name="mechanism-node-br"/>
          <p:cNvSpPr/>
          <p:nvPr/>
        </p:nvSpPr>
        <p:spPr>
          <a:xfrm>
            <a:off x="85471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기기 내 실행</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계산 에너지</a:t>
            </a:r>
            <a:endParaRPr lang="en-US" sz="1150" dirty="0"/>
          </a:p>
        </p:txBody>
      </p:sp>
      <p:sp>
        <p:nvSpPr>
          <p:cNvPr id="23" name="mechanism-node-or"/>
          <p:cNvSpPr/>
          <p:nvPr/>
        </p:nvSpPr>
        <p:spPr>
          <a:xfrm>
            <a:off x="8547100" y="44831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전송 후 서버 실행</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기기 전송 에너지</a:t>
            </a:r>
            <a:endParaRPr lang="en-US" sz="1150" dirty="0"/>
          </a:p>
        </p:txBody>
      </p:sp>
      <p:sp>
        <p:nvSpPr>
          <p:cNvPr id="24" name="Shape 2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5" name="Text 2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선택 변수의 합은 1이며, 실행 도중 코어를 옮기는 마이그레이션은 제외한다</a:t>
            </a:r>
            <a:endParaRPr lang="en-US" sz="1750" dirty="0"/>
          </a:p>
        </p:txBody>
      </p:sp>
      <p:sp>
        <p:nvSpPr>
          <p:cNvPr id="26" name="Shape 2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7" name="Text 2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200714–200716, Fig. 1, Eqs. 10–12</a:t>
            </a:r>
            <a:endParaRPr lang="en-US" sz="1050" dirty="0"/>
          </a:p>
        </p:txBody>
      </p:sp>
      <p:sp>
        <p:nvSpPr>
          <p:cNvPr id="28" name="Text 2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입력: 반복되는 작업과 그 부하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작업은 주기 p, 입력 크기 b, 최악 실행시간 w로 나타낸다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913632"/>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주기 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작업이 다시 도착하는 간격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마감시간의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입력 크기 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서버에 보낼 데이터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무선 전송시간에 영향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활용률 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 / 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주기 대비 계산 요구량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총 활용률 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작업의 u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그림에서는 U/N으로 정규화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활용률 축 1은 모든 CPU 코어의 실측 점유율 100%라는 뜻이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200714, 200719, 200721, Eqs. 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번의 결정 구간: 주기들의 최소공배수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설명용 예: 두 작업의 주기가 20ms와 30ms라면 구간 길이는 60ms다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892040"/>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작업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60ms 안의 도착 시점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구간 내 job 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 주기 20ms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20, 40ms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 주기 30ms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30ms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합계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이상 60ms 미만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구간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60ms부터 다시 시작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상태·결정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강화학습의 한 단계와 개별 job 한 번의 실행을 같은 것으로 보지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200717, §IV-A</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DVFS의 핵심: 에너지 = 전력 × 실행시간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전압과 주파수를 내리면 동작 전력이 줄 수 있지만 실행시간도 변한다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022344"/>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모델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동적 전력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Pdyn = C × f × V²</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스위칭에 드는 전력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정적 전력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Pstatic = V × Is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누설 등에 드는 전력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에너지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τ × (λPdyn + ρPstatic)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τ 동안 누적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송신 에너지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 × b/r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송신 전력 × 전송시간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낮은 전력과 작은 에너지는 다르므로 주파수의 최솟값이 항상 정답은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200715–200716, Eqs. 3–10</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일반 실행시간 모델과 실제 평가 가정은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논문의 허용 모델과 수치 실험에서 사용한 설정을 구분한다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348480"/>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위치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논문의 설명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§III-D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τ를 경험적으로 얻을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비선형 관계를 허용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실행시간을 주파수 역비례로 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평가는 더 단순한 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Tables 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주파수별 전력·에너지 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모델 입력으로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하드웨어 구현은 후속 과제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온디바이스 측정 결과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비선형 실행시간을 허용한다는 설계 설명이 실물 검증을 대신하지는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200715, 200719–200720, 200723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계산 예: 같은 작업의 세 선택지를 비교한다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설명용: 입력 0.6Mbit, 전송률 6Mbit/s, 서버 계산 0.02s, 마감 0.15s</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478784"/>
                <a:gridCol w="3043936"/>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완료까지 시간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기기 에너지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LITTLE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0.18s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0.2W × 0.18s = 0.036J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초과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0.08s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0.5W × 0.08s = 0.040J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충족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엣지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0.6/6 + 0.02 = 0.12s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0.1W × 0.10s = 0.010J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충족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LITTLE은 big보다 에너지가 작지만 기한을 넘는다. 이 조건에서는 엣지가 유리하다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200715–200718, Eqs. 10–15;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채널이 나빠지면 같은 선택의 결과도 바뀐다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앞의 계산 예에서 다른 조건은 그대로 두고 전송률만 절반으로 낮춘다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587496"/>
                <a:gridCol w="2935224"/>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채널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전송 + 서버 시간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송신 에너지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6Mbit/s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0.10 + 0.02 = 0.12s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0.010J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충족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3Mbit/s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0.20 + 0.02 = 0.22s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0.020J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초과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big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0.08s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0.040J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충족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기기 계산을 외부로 옮기는 결정에는 작업 크기뿐 아니라 현재 채널도 필요하다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200715–200716, Eqs. 3, 10;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최적화 문제: 위치·주파수·전력을 묶는다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Eq.12는 한 단계 작업 집합의 모바일 에너지 합을 줄이는 문제다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4239768"/>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결정 또는 제약</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주의할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 대상 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작업을 세 경로 중 하나로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분할·복제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주파수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허용된 이산 주파수 집합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연속 임의 주파수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송신 전력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오프로딩의 속도·비용 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구현은 후보값으로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제약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실행시간 τ ≤ 주기 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결과의 보장과 별개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정식화의 제약과 학습 정책이 실제로 달성한 성공률을 따로 확인한다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200716–200718, Eqs. 12–15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복잡성 주장: 제시된 축약식은 따로 점검한다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정리 1은 NP-hard를 주장하지만 Eq.13에는 작업 사이의 결합 제약이 없다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5109464"/>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작업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big / LITTLE / 엣지 비용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독립 최솟값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 / 2 /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LITTLE: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 3 / 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big: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행에서 하나씩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최솟값 합: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Eq.13만 놓고 보면 작업별 세 비용 비교로 풀리므로 제시된 증명에는 빈틈이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200716, Theorem 1, Eq. 13; mathematical check</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논문의 상태: 작업과 자원·채널을 함께 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§IV-B는 한 단계의 작업 집합을 벡터로 표현한다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2717800"/>
                <a:gridCol w="53268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표기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필요한 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활용률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주기 대비 계산 수요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WCET·크기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 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요구·전송량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채널 상태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전송률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코어 활용률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ub, uL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직전 결정의 자원 상태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관측이 빠지면 같은 작업이라도 언제 오프로딩이 유리한지 구분하기 어렵다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200717–200718, §IV-B States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공개 구현: 작업별 여섯 숫자를 넣는다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저자 구현 1187ed4의 HetrogenEnv 관측을 설명한다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152648"/>
                <a:gridCol w="4348480"/>
                <a:gridCol w="337007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공유 여부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총 활용률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작업 w/p의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작업들이 공유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LITTLE·big 활용률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자원 상태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작업들이 공유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작업의 WCET·크기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w와 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채널 전송률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채널의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작업들이 공유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작업 집합의 모든 조합을 한 번에 출력하는 거대한 네트워크는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env HetrogenEnv._get_system_state; commit 1187ed4; paper pp. 200717–200718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행동 번호는 실행 대상과 설정값의 쌍이다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공개 구현의 기본 구성에서는 8 + 9 + 13 = 30개 행동 후보를 사용한다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3152648"/>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번호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실행 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함께 고르는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오프로딩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송신 전력 8단계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LITTLE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주파수 9단계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17–29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주파수 13단계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4개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작업별 번호 하나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대상별로 모아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30은 전체 작업 배치 조합 수가 아니라 한 작업의 선택 후보 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dqn DQN_DVFS action decoding; 1187ed4; config cpus / channel configs; 1187ed4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실행 흐름: 관측에서 세 경로 분배까지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선택과 실행을 한 번의 계산 과정으로 이어 본다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관측</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작업·자원·채널 정보 구성</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가치 추정</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후보 행동의 Q값 계산</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행동 선택</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탐험 또는 가장 큰 Q값</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대상별 분배</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LITTLE·big·offload로 구분</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실행·기록</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시간·에너지·기한 위반 기록</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정책의 출력은 명령 선택이고, 실제 소비량은 실행 모델에서 계산된다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200718–200719, Algorithm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보상: 에너지와 지연으로 비용을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기한을 만족한 작업은 C = E + ζ × AET, 보상 기여는 exp(−βC)다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804920"/>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값이 커질 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보상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기기 에너지 절감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ζ × AET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보상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긴 처리시간 억제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기한 초과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비용 부여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위반을 불리하게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exp(−βC)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C가 작을수록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작업별 값을 합산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기한 위반 벌점은 위반을 막는 하드웨어 차단 장치가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200718, Eqs. 14–15; env HetrogenEnv._cal_reward; 1187ed4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보상 계산 예: 더 작은 비용에 더 큰 점수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설명용 수치에 Table5의 ζ=0.005, β=0.05를 적용한다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587496"/>
                <a:gridCol w="2174240"/>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E(mJ) / AET(ms)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비용 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exp(−0.05C)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엣지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 120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0.589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 / 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0.133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기한 초과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매우 큰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0에 가까움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보상은 에너지만의 함수가 아니므로 지연 계수와 단위를 함께 읽는다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200718, 200720, Eqs. 14–15, Table 5;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학습 흐름: 과거 경험으로 Q망을 갱신한다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Algorithm1은 replay buffer와 별도의 target network를 사용한다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초기화</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주 Q망과 target Q망 준비</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경험 저장</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상태·행동·보상·다음 상태</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표본 추출</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저장 경험에서 minibatch 선택</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주망 갱신</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smooth L1 오차를 줄임</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주기 갱신</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target 복사·탐험률 감소</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주망은 자주 바꾸고 target은 주기적으로 복사해 학습 목표의 변동을 줄인다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200717–200720, Algorithm 1, Table 5</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 학습 예: 지금 보상과 다음 가치의 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종료가 아닌 전이의 설명용 값: R=0.6, γ=0.95, 다음 최대 Q=0.8</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152648"/>
                <a:gridCol w="3370072"/>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가치 할인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0.95 × 0.8 = 0.76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미래 기여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목표 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 + 0.76 = 1.36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Q망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Q=1.10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차이 0.26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smooth L1로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종료 전이라면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 = 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미래 항을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Q값을 보상 하나와 같게 만드는 것이 아니라 미래 가치까지 포함한 목표에 맞춘다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dqn DQN_DVFS._compute_net_loss; 1187ed4; paper pp. 200717–200719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네트워크가 작다는 주장과 전체 메모리는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본문의 구조는 입력 M → 64 → 32 → 30이다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239768"/>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개수·산술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포함하지 않는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가중치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64M + 3008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bias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M=6 구성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3392개 가중치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코드의 입력 구성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bias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3518개 학습 파라미터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일반 Linear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FP32 한 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13.7KiB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target·replay·optimizer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작은 망의 추론 비용만으로 온디바이스 학습 전체가 가볍다고 결론 내릴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200718–200719, §IV-D; dqn Network; 1187ed4; config iDEAS_Main: state_dim; 1187ed4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공개 코드의 실행 모델에도 경계가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정적 코드 확인은 논문 실험 전체를 재현하거나 실제 장치를 제어한 결과가 아니다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34848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확인한 부분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동작</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CPU.step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job별 시간·에너지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명시적 코어 시간표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기한 검사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AET와 주기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자원 경합 보장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설정 파일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ζ=0.03인 Main 구성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Table5의 0.005와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버전 고정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공개 commit 1187ed4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 숫자 재현 미확인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모델이 코어를 선택한다는 것과 운영체제 스케줄러를 완성했다는 것은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cpu CPU.step / CPU_CC.step; 1187ed4; config iDEAS_Main.yaml; 1187ed4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평가 조건: 시뮬레이션과 고정 작업 집합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표의 하드웨어 수치는 실제 배터리 계측 결과가 아니라 평가 모델의 설정이다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457192"/>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코어·서버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Cortex A57 / A53; 서버 2.8GHz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 기반 수치 실험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집합 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t1, t2, t3, 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상대적으로 무거움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집합 II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t1, t2, t2, 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t3를 가벼운 t2로 대체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반복·무선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150만; 평가 1만; 5MHz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개별 실행의 반복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작업 집합과 비교 방법을 바꾸면 절감률도 달라진다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200719–200720, Tables 1–5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서로 다른 두 비교 실험을 구분한다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세 경로 전체를 쓰는 실험과 기존 알고리즘 비교의 자원 구성이 다르다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131056"/>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 방식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임의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baseline 실험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 Edge-only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기기만 / 서버만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baseline 실험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RRLO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Q-table 기반 + CC/LA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기존 연구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DRLDO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 기반 DVFS·오프로딩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기존 연구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RRLO·DRLDO 비교에서는 iDEAS도 로컬 선택을 big 코어로 제한한다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200721–200722, §§V-C–D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기본 baseline 비교: Fig.6의 모바일 에너지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 막대 위 숫자(mJ)를 옮긴 표이며 서버 소비 에너지는 포함하지 않는다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913632"/>
                <a:gridCol w="3478784"/>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집합 I (mJ)</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집합 II (mJ)</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iDEAS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238.823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184.948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642.016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459.479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1265.772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888.347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1517.731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1174.608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실험 안에서는 iDEAS가 세 baseline보다 작은 모바일 에너지를 보인다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200721, Fig. 6, Table 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기존 연구 비교: big-only 조건의 Fig.8</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Fig.8의 막대값으로 절감률을 다시 계산한다</a:t>
            </a:r>
            <a:endParaRPr lang="en-US" sz="1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913632"/>
                <a:gridCol w="3478784"/>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집합 I (mJ)</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집합 II (mJ)</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iDEAS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279.182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215.961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RRLO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896.851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471.112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DRLDO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1114.533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782.214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iDEAS 절감률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69% / 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54% / 72%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절감률은 각각 RRLO / DRLDO 대비이며, 집합 I과 II의 순서를 유지한다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200722, Fig. 8, §V-D; compare abstract / §I-B</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부하가 커지면 마감시간 실패도 늘어난다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Fig.5의 활용률은 U/N이고 drop은 기한 안에 끝내지 못한 작업 비율이다</a:t>
            </a:r>
            <a:endParaRPr lang="en-US" sz="1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261360"/>
                <a:gridCol w="326136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정규화 활용률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drop 비율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0.125 / 0.25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구간에서는 실패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2.588%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이미 일부 실패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17.770%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실패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0.75 /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49.223% / 83.300%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높은 부하에서 다수 실패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에너지 절감 성과와 모든 작업의 기한 준수는 같은 주장이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200721, 200723, Figs. 5, 10</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온디바이스 적용을 판단할 때 남는 질문</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작은 DQN을 쓴다는 것만으로 특정 기기에서 안전하게 동작한다고 결정할 수 없다</a:t>
            </a:r>
            <a:endParaRPr lang="en-US" sz="1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3913632"/>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확인할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논문에서 확인한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남은 검증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추론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소형 망 분석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기기별 지연·전력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상태 수집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관측 항목 정의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계측 지연·오차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제어 적용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주파수·대상 선택 모델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OS 연동·전환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안전성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위반 비용과 drop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안전 탐험·하드 제약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논문은 설계 아이디어와 수치 근거이지, 특정 가속기의 실행 가능 판정서는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200723, §VI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한계: 적용 범위를 넓히기 전에 구분할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제안의 장점과 검증되지 않은 부분을 함께 유지한다</a:t>
            </a:r>
            <a:endParaRPr lang="en-US" sz="1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13105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현재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확장 시 필요한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독립·반복·전체 오프로딩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의존성·비주기 도착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도중 코어 이동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마이그레이션 설계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벌점 기반 경험적 성능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기한·최적성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재현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공개 코드와 설정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버전·계수·평가 조건 정합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일반화된 에너지 최적성이나 실물 마감 보장을 실험 그래프에서 추론하지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200714–200723, §§III–VI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핵심 정리: 위치·속도·전력을 함께 학습한다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단일 기준 규칙보다 다양한 작업과 채널 상태에 적응하려는 설계다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문제</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에너지를 줄이며 기한 고려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공동 선택</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코어·주파수·전송 전력</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학습</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비용 기반 보상으로 DQN 갱신</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검증 범위</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조건부 수치 실험·공개 구현</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iDEAS의 가치는 공동 제어 설계이며 실물 적용과 엄밀한 보장은 별도의 검증 대상이다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200711–200724</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iDEAS: 모바일 계산의 위치와 속도를 함께 선택하기</dc:title>
  <dc:subject>iDEAS: Intelligent DVFS for Energy-Efficient Task Scheduling in Mobile Devices With big.LITTLE Computing Architecture</dc:subject>
  <dc:creator>Research Seminars</dc:creator>
  <cp:lastModifiedBy>Research Seminars</cp:lastModifiedBy>
  <cp:revision>1</cp:revision>
  <dcterms:created xsi:type="dcterms:W3CDTF">2026-09-12T09:14:03Z</dcterms:created>
  <dcterms:modified xsi:type="dcterms:W3CDTF">2026-09-12T09:14:03Z</dcterms:modified>
</cp:coreProperties>
</file>
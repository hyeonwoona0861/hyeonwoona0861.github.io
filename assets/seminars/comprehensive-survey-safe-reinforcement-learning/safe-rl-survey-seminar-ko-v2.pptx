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Safe Reinforcement Learning의 지도
발표 대본
이 자료는 하나의 Safe RL 알고리즘을 소개하는 발표가 아닙니다. García와 Fernández의 2015년 survey가 정리한 연구 갈래를 따라, 먼저 기대 보상만 최대화할 때 무엇을 놓칠 수 있는지 보고, 그다음 목적함수와 탐색 과정을 바꾸는 방법을 구분합니다.
공개 출처
jmlr | title page, abstract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이 survey가 말하는 Safe RL
발표 대본
저자들은 Safe RL을 학습 또는 배포 과정에서 합리적인 시스템 성능을 보장하거나 안전 제약을 존중하는 일이 중요한 문제에서 return의 기대값을 최대화하는 정책 학습으로 넓게 정의합니다. 따라서 어떤 방법이 무엇을 위험으로 보는지 먼저 확인해야 합니다. 이 survey 자체를 하나의 통합 알고리즘이나 모든 환경의 hard safety 보장으로 소개하면 안 됩니다.
공개 출처
jmlr | pp. 1437-1439, abstract and §1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기대 return만으로는 보이지 않는 것
발표 대본
논문은 전통적 RL을 risk-neutral control로 부릅니다. 할인 return R은 시간별 보상의 할인합이고, risk-neutral 목적은 Eπ[R] 최대화입니다. 이 기준은 보상 분포의 variance나 높은 차수의 특성을 직접 반영하지 않습니다. 이후 기준들은 평균을 버린다는 뜻이 아니라, 평균만으로 부족한 위험 정보를 목적에 넣는 서로 다른 방식입니다.
공개 출처
jmlr | pp. 1439-1444, §2 and §3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교육용 예시: 평균과 최악 결과
발표 대본
이 표는 논문 실험이 아니라 교육용 계산입니다. 평균만 보면 Risky의 6.1이 Safe의 5보다 크므로 Risky를 고릅니다. 가장 나쁜 결과를 기준으로 보면 Safe의 5가 Risky의 -20보다 낫습니다. 이 차이는 worst-case가 언제나 옳다는 주장이 아니라, 안전의 정의가 행동 선택을 바꾼다는 사실을 보여 줍니다.
공개 출처
jmlr | pp. 1443-1445, §3.1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학습 중 위험과 배포 후 위험
발표 대본
survey는 learning process와 deployment process 모두를 범위에 넣습니다. demonstration처럼 온라인 무작위 시도를 줄이는 방법은 학습 중 위험을 낮추는 데 초점이 있습니다. 반대로 목적함수를 위험 민감하게 바꾸는 방법은 최종적으로 무엇을 좋은 정책으로 평가하는지 바꿉니다. 두 효과는 연결되지만 같은 보장은 아닙니다.
공개 출처
jmlr | pp. 1437-1442, §§1-2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두 개입 지점
발표 대본
두 흐름은 완전히 독립적이지 않습니다. 목적함수를 바꾸면 탐색 중 행동도 달라질 수 있습니다. 그러나 저자들은 목적에 risk를 직접 넣는 방법과, 고전적 목적을 유지하면서 탐색 행동을 바꾸는 방법을 구별합니다. 이후 슬라이드는 이 두 흐름을 섞지 않고 각각의 하위 분류를 설명합니다.
공개 출처
jmlr | pp. 1439-1442, §2 and Table 1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목적함수 수정의 네 갈래
발표 대본
목적함수 수정은 최적 정책의 정의를 바꿉니다. survey는 worst-case, risk-sensitive, constrained, 기타 기준으로 나눕니다. 표의 example은 survey가 묶어 소개한 기준의 예이며, 한 공통 알고리즘의 구성 요소가 아닙니다. 특히 VaR 같은 기준은 다른 목적과 동일한 hard constraint라고 부르면 안 됩니다.
공개 출처
jmlr | pp. 1440-1442, §2 and Table 1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worst-case와 두 종류의 불확실성
발표 대본
inherent uncertainty는 환경이 본래 stochastic해서 같은 정책도 여러 결과를 낳는 경우입니다. 이 survey의 robust-MDP treatment에서는 transition probability/model parameter를 정확히 모릅니다. 둘 다 worst-case라는 이름으로 묶이지만, 무엇을 최악으로 보는지와 필요한 model information이 다릅니다.
공개 출처
jmlr | pp. 1443-1445, §§3.1.1-3.1.2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지수 utility 기반 risk sensitivity
발표 대본
survey는 exponential utility를 risk-sensitive criterion의 한 갈래로 다룹니다. 핵심은 동일한 return도 utility 변환 뒤에는 다르게 평가될 수 있다는 점입니다. 따라서 sensitivity parameter는 단순한 학습률이 아니라 위험과 성능 사이에서 의사결정자가 둔 선호를 나타냅니다. 이 survey는 그 parameter를 보편적으로 정하는 규칙을 제시하지 않습니다.
공개 출처
jmlr | pp. 1445-1447, §3.2.1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return과 risk의 가중 결합
발표 대본
이 접근은 return과 risk의 linear combination을 목적에 둡니다. survey가 예로 드는 risk에는 return variance와 error state로 들어갈 probability가 있습니다. 따라서 ‘risk-sensitive’라는 이름만으로는 무엇을 보장하는지 알 수 없습니다. risk measure의 정의, estimation quality, weight를 함께 말해야 합니다.
공개 출처
jmlr | pp. 1447-1449, §3.2.2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constrained criterion
발표 대본
constrained criterion은 하나 이상의 constraint 아래에서 return을 최대화하려는 접근입니다. survey는 expected measure를 주어진 bound보다 높거나 낮지 않게 유지하는 문제로 설명합니다. 따라서 한 단계의 모든 trajectory가 반드시 안전하다는 뜻으로 자동 해석하면 안 됩니다. 정확한 제약, 기대값인지, feasibility 가정이 무엇인지가 필요합니다.
공개 출처
jmlr | pp. 1449-1450, §3.3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기타 목적함수 기준
발표 대본
Section 3.4는 r-squared, Value-at-Risk, return density 같은 기준을 기타 optimization criteria로 모읍니다. 이들은 survey의 넓은 coverage를 보여 줍니다. 이 source만으로 각 금융 metric의 상세 정의나 공통 보장을 단정하지 않고, 필요한 경우 해당 원 논문을 확인해야 합니다.
공개 출처
jmlr | pp. 1450-1451, §3.4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탐색 과정 수정의 두 갈래
발표 대본
탐색 과정 수정은 목적함수를 위험 항으로 바꾸지 않는 방법을 중심으로 합니다. external knowledge는 task에 관한 정보를 미리 넣고, risk-directed exploration은 risk measure로 행동 선택 확률을 조절합니다. 이 구분은 목적함수 수정과 완전히 배타적이지 않지만, source의 taxonomy에서는 주된 개입 위치가 다릅니다.
공개 출처
jmlr | pp. 1440-1442 and 1452, §§2 and 4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초기 지식으로 탐색을 시작하는 방식
발표 대본
초기 지식 제공은 learner를 bootstrap하는 방식입니다. survey는 teacher example이나 이전 task 정보를 이용해 초기 training 단계부터 더 relevant한 state-action region에 노출시키는 사례를 설명합니다. 이것은 지식이 정확할 때 위험한 무작위 탐색을 줄일 수 있다는 뜻이지, 초기 지식이 항상 안전하거나 최적이라는 뜻은 아닙니다.
공개 출처
jmlr | pp. 1452-1454, §4.1.1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유한 demonstration에서 정책을 얻는 방식
발표 대본
survey는 finite demonstration으로부터 policy를 도출하는 방법을 initial knowledge와 구분합니다. 이 경우 example은 단지 value 초기화에 쓰이지 않고, offline이며 따라서 안전한 방식으로 policy를 유도할 model을 학습하는 데 사용됩니다. 제공된 demonstration이 다루지 않은 state에서는 별도의 위험과 일반화 문제가 남습니다.
공개 출처
jmlr | pp. 1454-1455, §4.1.2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teacher advice의 시작 주체
발표 대본
teacher advice 기반 탐색에서는 learner와 teacher가 모두 상호작용에 참여합니다. learner가 요청할 수도 있고 teacher가 먼저 advice를 줄 수도 있으며, 두 역할이 섞인 접근도 있습니다. survey는 teacher가 반드시 task expert일 필요는 없다고 설명합니다. 따라서 advice라는 말만으로 formal correctness나 완전한 안전을 추론하면 안 됩니다.
공개 출처
jmlr | pp. 1455-1460, §§4.1.3.1-4.1.3.3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risk-directed exploration
발표 대본
risk-directed exploration에서 risk metric은 action을 고르는 확률을 바꾸는 데 사용됩니다. survey는 temporal-difference 기반 risk metric이나 entropy와 expected return의 결합을 예로 듭니다. 여기서 중요한 구분은 final optimization criterion을 risk-sensitive criterion으로 바꾸는 것이 아니라, exploration policy의 행동 분포를 조절한다는 점입니다.
공개 출처
jmlr | pp. 1460-1461, §4.2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목적함수 수정과 탐색 수정의 비교
발표 대본
이 표는 survey의 분류를 발표용으로 압축한 것입니다. 목적함수 수정은 어떤 final policy를 좋은 것으로 평가할지 바꾸며, 탐색 수정은 학습 중 어떤 경험을 쌓을지 바꿉니다. 실제 방법은 두 요소를 함께 쓸 수 있지만, 발표에서는 각각의 가정과 보장 범위를 따로 확인해야 합니다.
공개 출처
jmlr | pp. 1439-1442, 1452-1461, §§2-4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방법을 비교하는 네 차원
발표 대본
Section 5.1은 survey한 algorithm을 allowed learner, spaces, risk, exploration의 네 특성으로 정리합니다. 여기서 spaces는 method가 적용된 domain의 state/action space 규모·형태를 뜻하며, 추가 memory/storage 요구량을 뜻하지 않습니다. 이 차원은 특정 방법의 순위를 위한 것이 아닙니다. 적용 task의 state/action domain, risk 표현, learner와 exploration 조건을 함께 확인하는 틀입니다.
공개 출처
jmlr | pp. 1462-1466, §5.1 and Tables 2-3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열린 설계 질문
발표 대본
저자들은 risk metric, optimum criterion, risk detection mechanism, learning schema, exploration strategy를 논의와 열린 쟁점으로 제시합니다. 이 목록은 발표 뒤의 일반 토론 주제가 아니라, 어떤 safe RL method를 읽을 때 실제로 확인해야 할 설계 변수입니다. 예를 들어 error state를 알 수 없으면 error probability를 기준으로 쓰는 방법의 전제가 약해집니다.
공개 출처
jmlr | pp. 1466-1470, §§5.2.1-5.2.5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2015년 survey의 역사적 범위
발표 대본
이 slide는 survey의 범위를 지키기 위한 것입니다. survey는 2015년까지의 다양한 접근을 체계화하지만, 서로 다른 cited paper가 동일한 환경과 risk definition에서 경쟁했다는 뜻은 아닙니다. 따라서 현재 방법이나 formal guarantee를 말하려면 별도 원문을 확인해야 하며, 이 발표에서는 JMLR source가 직접 말한 분류와 열린 문제까지만 주장합니다.
공개 출처
jmlr | pp. 1437-1439 and 1470-1471, §§1 and 6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Safe RL 논문을 읽는 순서
발표 대본
마무리할 때는 세 가지 구분을 다시 강조합니다. 첫째, 기대 return만으로 표현되지 않는 위험을 무엇으로 정의하는가입니다. 둘째, 그 위험을 목적함수에 넣는지 탐색 행동에 넣는지입니다. 셋째, 논문이 실제로 보인 증거가 learning-time risk 감소인지, deployment policy의 criterion 변화인지, 특정 가정 아래의 보장인지입니다.
공개 출처
jmlr | pp. 1439-1442 and 1470-1471, §§2 and 6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공개 출처
발표 대본
이 강의자료의 과학적 근거는 García와 Fernández의 JMLR 원문입니다. 각 slide의 발표자 노트에는 해당 section 또는 page locator가 연결됩니다. 이 자료는 원문이 survey한 대표 방법을 설명하지만, 개별 cited paper의 세부 theorem이나 최신 결과를 대신 검증하지는 않습니다.
공개 출처
jmlr | publication record
JMLR: A Comprehensive Survey on Safe Reinforcement Learning
https://www.jmlr.org/papers/v16/garcia15a.html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Safe Reinforcement Learning의 지도</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 Comprehensive Survey on Safe Reinforcement Learning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Javier García, Fernando Fernández (2015)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기대 보상, 위험 기준, 탐색 제어를 구분해 읽는 2015년 JMLR survey</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title page,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survey가 말하는 Safe RL</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 또는 배포 중 성능과 안전 제약이 중요한 문제에서 정책을 배우는 방법의 분류</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목표는 기대 return을 크게 하는 정책 학습이다.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안전은 물리적 손상 회피만 뜻하지 않는다.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희귀한 큰 손실, 불확실성, error state도 risk가 될 수 있다.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저자들의 핵심 기여는 방법들의 taxonomy와 비교 기준이다.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논문은 단일한 안전 보장을 제안하기보다 서로 다른 risk 개념을 정리한다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1437-1439, abstract and §1</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기대 return만으로는 보이지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risk-neutral RL은 평균을 최적화하지만 return 분포의 다른 성질을 무시한다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935224"/>
                <a:gridCol w="53268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주로 보는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위험을 읽는 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risk-neutral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Eπ[R]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분산과 희귀한 큰 손실을 놓칠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worst-case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나쁜 return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드물어도 치명적인 결과까지 고려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risk-sensitive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return과 risk의 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선호하는 risk 수준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return과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 한도를 넘는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평균 보상이라도 손실의 크기와 발생 방식은 다를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1439-1444, §2 and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 평균과 최악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상태에서 기준을 바꾸면 선호 행동도 달라질 수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370072"/>
                <a:gridCol w="3478784"/>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return 분포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기대 return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최악 return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90%: 9, 10%: -20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0.9×9 + 0.1×(-20) = 6.1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기대 return 기준은 Risky를, worst-case 기준은 Safe를 고른다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1443-1445, §3.1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중 위험과 배포 후 위험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방법도 어느 시점의 위험을 줄이는지에 따라 해석이 달라진다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 과정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배포된 정책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주된 걱정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 행동이 손상이나 error를 일으킴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정책이 불리한 결과를 선택함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대표 개입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demonstration, teacher advice, risk-directed exploration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worst-case, risk-sensitive, constrained criterion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주의점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안전한 탐색이 최종 최적성을 자동 보장하지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좋은 최종 정책이 안전한 학습 과정을 보장하지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안전한 학습 경로와 위험을 고려한 최종 정책은 구별해야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1437-1442,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개입 지점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survey는 안전을 반영하는 위치에 따라 literature를 정리한다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risk가 중요한 RL task</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기대 return만으로 충분한가</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목적함수 수정</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무엇을 최적이라고 부를지 변경</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탐색 과정 수정</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무엇을 시도할지 변경</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정책 행동</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risk를 반영한 선택</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Safe RL 분류</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방법의 가정과 효과를 비교</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1439-1442, §2 and Table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목적함수 수정의 네 갈래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평균 return 이외의 기준을 최적화 문제에 넣는다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022344"/>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갈래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목적에 추가하는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source의 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worst-case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최악 return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inherent 또는 parameter uncertainty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risk-sensitive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 또는 risk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지수 utility, variance, error 확률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기대 측도의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 또는 error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other criteria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특수한 분포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VaR, R-squared, return density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갈래는 risk를 측정하는 방식과 필요한 가정이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1440-1442, §2 and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worst-case와 두 종류의 불확실성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나쁜 결과의 원인을 구분해야 worst-case 기준의 의미가 선명해진다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worst-case criterion</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최소 return을 크게 하는 정책</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inherent uncertainty</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확률적 환경에서 결과가 달라짐</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parameter uncertainty</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MDP parameter를 정확히 모름</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보수적 평가</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불리한 경우를 기준에 반영</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정책 선택</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가정한 uncertainty 모델에 의존</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1443-1445, §§3.1.1-3.1.2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지수 utility 기반 risk sensitivity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return을 utility로 변환해 큰 손실과 변동성에 대한 민감도를 조절한다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정책 평가는 raw return 대신 exponential utility를 사용한다.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risk sensitivity parameter가 위험 회피 또는 선호의 정도를 정한다.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parameter 선택은 application의 의사결정 선호를 반영해야 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이 기준은 위험의 정의를 자동으로 발견하지 않는다.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utility 함수의 모양은 평균 return 이외에 무엇을 벌점으로 볼지 정한다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1445-1447, §3.2.1</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return과 risk의 가중 결합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기대 return에 risk measure의 벌점을 결합하는 방식</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478784"/>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risk measure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줄이려는가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return variance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return의 변동 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위험을 variance로 보는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error-state probability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 state에 들어갈 가능성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 state 정의와 확률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가중 계수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return과 risk의 trade-off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계수 선택이 정책을 바꿈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가중 결합은 risk 정의와 weight를 함께 정해야 의미가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1447-1449, §3.2.2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constrained criterion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return을 키우되 별도의 기대 측도를 허용 범위 안에 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정책 후보</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return과 cost를 함께 예측</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제약 확인</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기대 측도가 bound를 만족하는가</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feasible 정책</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제약을 만족한 후보만 남김</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return 최대화</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남은 후보 중 목적을 최적화</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제약의 의미는 어떤 측정값에 어떤 bound를 두는지로 결정된다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1449-1450, §3.3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기타 목적함수 기준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survey는 금융·분포 관점의 기준도 별도 갈래로 남긴다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r-squared와 VaR 등 금융 risk metric도 다룬다.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metric의 상세 정의와 가정은 원 논문에서 확인해야 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return density 추정은 return 분포 자체를 모델링한다.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서로 다른 기준은 같은 안전 뜻이나 같은 보장을 공유하지 않는다.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risk의 수학적 표현을 바꾸면 정책 비교의 의미도 바뀐다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1450-1451, §3.4</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탐색 과정 수정의 두 갈래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고전적 return 목적을 유지하면서 위험한 trial을 덜 하도록 행동 선택을 바꾼다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갈래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개입 수단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 초기에 바꾸는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external knowledge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지식, demonstration, teacher advice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탐색의 출발점이나 행동 후보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risk-directed exploration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 metric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행동을 선택할 확률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탐색 수정은 ‘무엇이 최적인가’보다 ‘무엇을 먼저 해 볼 것인가’에 초점을 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1440-1442 and 1452, §§2 and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초기 지식으로 탐색을 시작하는 방식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teacher example 또는 과거 정보로 초기 policy와 value를 bootstrap한다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사전 정보</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example 또는 task 지식</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초기화</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value, policy, case에 반영</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 탐색</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relevant region을 먼저 시도</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후속 학습</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관측으로 policy를 계속 갱신</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초기 지식은 blind random exploration을 줄일 수 있지만 그 품질에 의존한다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1452-1454, §4.1.1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유한 demonstration에서 정책을 얻는 방식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온라인 무작위 시도 대신 teacher가 준 example으로 offline policy를 학습한다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teacher demonstrations</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유한한 state-action example</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offline 학습</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example으로 model 또는 policy를 유도</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정책 도출</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offline model에서 policy를 얻음</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배포 또는 추가 학습</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새 상황의 일반화는 별도 문제</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demonstration은 탐색 데이터를 대체하지만 coverage와 teacher 품질이 중요하다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1454-1455, §4.1.2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teacher advice의 시작 주체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advice는 누가 언제 상호작용을 시작하는지에 따라 세 갈래로 정리된다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913632"/>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형태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상호작용 시작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learner 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learner가 필요할 때 요청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불확실하거나 위험하다고 판단한 순간의 도움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teacher gives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teacher가 먼저 개입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teacher가 필요하다고 판단할 때 행동 또는 정보 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other interaction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주체가 혼합되거나 불명확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teacher-learner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advice의 안전 효과는 teacher의 정보와 개입 규칙에 달려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1455-1460, §§4.1.3.1-4.1.3.3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risk-directed exploration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최종 목적은 유지하고 exploration action의 선택 확률에 risk를 반영한다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현재 state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가능한 action과 관측 정보</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risk measure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action별 위험 신호를 추정</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탐색 확률</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위험을 고려해 action probability 조정</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경험 수집</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고전적 return 목적 아래 policy 갱신</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risk-directed exploration은 risk를 action selection에 쓰되 고전적 목적을 유지한다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1460-1461, §4.2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목적함수 수정과 탐색 수정의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흐름은 바꾸는 대상과 주장할 수 있는 범위가 다르다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목적함수 수정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탐색 과정 수정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주로 바꾸는 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정책을 평가하는 criterion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중 action 선택 방식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 definition과 trade-off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 knowledge 또는 risk signal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주요 위험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잘못된 risk metric과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부정확한 advice와 부족한 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중 안전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탐색 설계 없이는 불명확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위험 trial 감소를 겨냥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어느 흐름을 택할지는 위험의 정의와 사용할 수 있는 정보에 달려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1439-1442, 1452-1461, §§2-4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방법을 비교하는 네 차원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Section 5는 방법을 하나의 점수로 줄이지 않고 특성을 나란히 본다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차원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확인할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allowed learner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RL learner와 결합 가능한가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model-free 또는 특정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state/action-space 규모·형태의 domain에서 적용됐는가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 large/continuous state, small/discrete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위험으로 측정하는가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variance, error probability, 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exploration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위험을 언제 어떻게 줄이는가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 knowledge, advice, action probability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‘safe’라는 이름보다 risk 표현과 적용된 state/action domain을 먼저 비교해야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1462-1466, §5.1 and Tables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열린 설계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survey는 안전을 위한 단일 default를 제시하지 않고 선택해야 할 문제를 남긴다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필요한가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 확인할 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 metric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위험 정의가 행동 선택을 바꿈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unacceptable로 보는가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optimum criterion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평균과 risk의 trade-off가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최적의 의미는 무엇인가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 detection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위험 신호가 부정확할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어떻게 위험을 알아내는가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schema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 knowledge와 learner 구조가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정보가 주어지는가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exploration strategy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trial 자체가 비용일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언제 intervention하는가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Safe RL의 선택은 알고리즘 이름보다 위험 정의와 정보 가정에서 시작한다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1466-1470, §§5.2.1-5.2.5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2015년 survey의 역사적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당시 literature의 taxonomy이며 이후 방법의 포괄적 성능 판정이 아니다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source는 2015년에 출판된 JMLR survey다.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대표 citation들은 공통 benchmark의 직접 비교 결과가 아니다.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branch의 guarantee는 원 논문별 가정과 risk 정의에 달려 있다.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현대 deep RL이나 최신 safe RL 결과는 별도 source가 필요하다.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taxonomy는 출발점이며 최신 성능이나 보장의 대체 근거가 아니다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1437-1439 and 1470-1471, §§1 and 6</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Safe RL 논문을 읽는 순서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안전이라는 말보다 먼저 위험의 정의와 개입 위치를 확인한다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위험 정의</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손실, uncertainty, error, constraint 중 무엇인가</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개입 위치</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목적함수 또는 탐색 과정</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가정 확인</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model, prior knowledge, risk estimate</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증거 해석</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학습 중 위험, 배포 성능, 보장 범위를 분리</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Safe RL은 하나의 기법 이름이 아니라 위험을 정책 학습에 넣는 설계 공간이다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pp. 1439-1442 and 1470-1471, §§2 and 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출처</a:t>
            </a:r>
            <a:endParaRPr lang="en-US" sz="3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4343400"/>
        </p:xfrm>
        <a:graphic>
          <a:graphicData uri="http://schemas.openxmlformats.org/drawingml/2006/table">
            <a:tbl>
              <a:tblPr/>
              <a:tblGrid>
                <a:gridCol w="2609088"/>
                <a:gridCol w="456590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공개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강의자료에서의 용도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38481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JMLR survey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jmlr.org/papers/v16/garcia15a.html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정의, taxonomy, representative literature, discussion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5" name="Text 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jmlr publication record</a:t>
            </a:r>
            <a:endParaRPr lang="en-US" sz="1050" dirty="0"/>
          </a:p>
        </p:txBody>
      </p:sp>
      <p:sp>
        <p:nvSpPr>
          <p:cNvPr id="6" name="Text 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Reinforcement Learning의 지도</dc:title>
  <dc:subject>A Comprehensive Survey on Safe Reinforcement Learning</dc:subject>
  <dc:creator>Research Seminars</dc:creator>
  <cp:lastModifiedBy>Research Seminars</cp:lastModifiedBy>
  <cp:revision>1</cp:revision>
  <dcterms:created xsi:type="dcterms:W3CDTF">2026-09-12T05:25:08Z</dcterms:created>
  <dcterms:modified xsi:type="dcterms:W3CDTF">2026-09-12T05:25:08Z</dcterms:modified>
</cp:coreProperties>
</file>
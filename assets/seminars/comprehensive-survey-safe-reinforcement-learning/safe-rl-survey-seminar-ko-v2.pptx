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19.xml" ContentType="application/vnd.openxmlformats-officedocument.presentationml.slide+xml"/>
  <Override PartName="/ppt/slides/slide11.xml" ContentType="application/vnd.openxmlformats-officedocument.presentationml.slide+xml"/>
  <Override PartName="/ppt/slides/slide2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s/slide14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2FB0068D-E2E7-498A-9D38-0C27A3FF6FF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Safe Reinforcement Learning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지도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자료는 하나의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 RL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알고리즘을 소개하는 발표가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García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Fernández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2015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정리한 연구 갈래를 따라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먼저 기대 보상만 최대화할 때 무엇을 놓칠 수 있는지 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그다음 목적함수와 탐색 과정을 바꾸는 방법을 구분합니다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jmlr | title page, abstract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JMLR: A Comprehensive Survey on Safe Reinforcement Learning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https://www.jmlr.org/papers/v16/garcia15a.html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1EF4778-5046-4B1B-B75C-E72ACF539CF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말하는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 RL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저자들은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 RL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학습 또는 배포 과정에서 합리적인 시스템 성능을 보장하거나 안전 제약을 존중하는 일이 중요한 문제에서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return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기대값을 최대화하는 정책 학습으로 넓게 정의합니다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어떤 방법이 무엇을 위험으로 보는지 먼저 확인해야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자체를 하나의 통합 알고리즘이나 모든 환경의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hard safety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보장으로 소개하면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jmlr | pp. 1437-1439, abstract and §1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JMLR: A Comprehensive Survey on Safe Reinforcement Learning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https://www.jmlr.org/papers/v16/garcia15a.html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635D8D0-0B45-424D-AA36-FDE766AA79F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return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만으로는 보이지 않는 것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전통적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risk-neutral control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부릅니다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할인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return 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시간별 보상의 할인합이고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risk-neutral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목적은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Eπ[R]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최대화입니다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기준은 보상 분포의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variance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높은 차수의 특성을 직접 반영하지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이후 기준들은 평균을 버린다는 뜻이 아니라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평균만으로 부족한 위험 정보를 목적에 넣는 서로 다른 방식입니다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jmlr | pp. 1439-1444, §2 and §3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JMLR: A Comprehensive Survey on Safe Reinforcement Learning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https://www.jmlr.org/papers/v16/garcia15a.html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1E4E73E-8CCE-4B79-855C-123C694B0E9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교육용 예시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평균과 최악 결과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표는 논문 실험이 아니라 교육용 계산입니다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평균만 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Risky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크므로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Risky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고릅니다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가장 나쁜 결과를 기준으로 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Risky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-20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낫습니다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차이는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worst-case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언제나 옳다는 주장이 아니라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안전의 정의가 행동 선택을 바꾼다는 사실을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jmlr | pp. 1443-1445, §3.1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JMLR: A Comprehensive Survey on Safe Reinforcement Learning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https://www.jmlr.org/papers/v16/garcia15a.html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D6D5433-2387-4EC8-8AED-79D088B4DE6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 중 위험과 배포 후 위험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learning process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deployment process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모두를 범위에 넣습니다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demonstration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처럼 온라인 무작위 시도를 줄이는 방법은 학습 중 위험을 낮추는 데 초점이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반대로 목적함수를 위험 민감하게 바꾸는 방법은 최종적으로 무엇을 좋은 정책으로 평가하는지 바꿉니다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효과는 연결되지만 같은 보장은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jmlr | pp. 1437-1442, §§1-2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JMLR: A Comprehensive Survey on Safe Reinforcement Learning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https://www.jmlr.org/papers/v16/garcia15a.html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50E67EF-730A-4492-AE8F-D85C48B6CE8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개입 지점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흐름은 완전히 독립적이지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목적함수를 바꾸면 탐색 중 행동도 달라질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저자들은 목적에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risk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직접 넣는 방법과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고전적 목적을 유지하면서 탐색 행동을 바꾸는 방법을 구별합니다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이후 슬라이드는 이 두 흐름을 섞지 않고 각각의 하위 분류를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jmlr | pp. 1439-1442, §2 and Table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JMLR: A Comprehensive Survey on Safe Reinforcement Learning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https://www.jmlr.org/papers/v16/garcia15a.html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8AFCBAA-4389-43D6-BFE2-1D2918B0380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목적함수 수정의 네 갈래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목적함수 수정은 최적 정책의 정의를 바꿉니다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survey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worst-case, risk-sensitive, constrained,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기타 기준으로 나눕니다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묶어 소개한 기준의 예이며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공통 알고리즘의 구성 요소가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특히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기준은 다른 목적과 동일한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hard constraint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부르면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jmlr | pp. 1440-1442, §2 and Table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JMLR: A Comprehensive Survey on Safe Reinforcement Learning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https://www.jmlr.org/papers/v16/garcia15a.html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1203F45-DD04-4654-A84B-F35460B19C0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worst-case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두 종류의 불확실성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inherent uncertainty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환경이 본래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stochastic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해서 같은 정책도 여러 결과를 낳는 경우입니다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robust-MDP treatment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transition probability/model 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정확히 모릅니다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둘 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worst-case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이름으로 묶이지만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무엇을 최악으로 보는지와 필요한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 information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jmlr | pp. 1443-1445, §§3.1.1-3.1.2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JMLR: A Comprehensive Survey on Safe Reinforcement Learning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https://www.jmlr.org/papers/v16/garcia15a.html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A39076F-D1C3-40EF-8B8E-C477A4719AB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지수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utility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risk sensitivity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exponential utility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risk-sensitive criterion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한 갈래로 다룹니다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핵심은 동일한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return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utility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변환 뒤에는 다르게 평가될 수 있다는 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sensitivity 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단순한 학습률이 아니라 위험과 성능 사이에서 의사결정자가 둔 선호를 나타냅니다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보편적으로 정하는 규칙을 제시하지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jmlr | pp. 1445-1447, §3.2.1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JMLR: A Comprehensive Survey on Safe Reinforcement Learning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https://www.jmlr.org/papers/v16/garcia15a.html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C51FF47-67D1-4EFA-8CFF-5BE4FC52EE6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return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risk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가중 결합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접근은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return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risk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linear combination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목적에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survey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예로 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risk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return variance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error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들어갈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probability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risk-sensitive’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이름만으로는 무엇을 보장하는지 알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risk measure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정의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estimation quality, 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함께 말해야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jmlr | pp. 1447-1449, §3.2.2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JMLR: A Comprehensive Survey on Safe Reinforcement Learning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https://www.jmlr.org/papers/v16/garcia15a.html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4640E41-6329-4783-8F44-62069F9C2CE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constrained criterion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constrained criterion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하나 이상의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constraint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아래에서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return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최대화하려는 접근입니다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survey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expected measure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주어진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높거나 낮지 않게 유지하는 문제로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한 단계의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trajectory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반드시 안전하다는 뜻으로 자동 해석하면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정확한 제약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기대값인지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feasibility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가정이 무엇인지가 필요합니다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jmlr | pp. 1449-1450, §3.3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JMLR: A Comprehensive Survey on Safe Reinforcement Learning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https://www.jmlr.org/papers/v16/garcia15a.html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868A755-33ED-46B0-8257-D20A6284B6B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기타 목적함수 기준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Section 3.4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r-squared, Value-at-Risk, return density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기준을 기타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optimization criteria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모읍니다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이들은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넓은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coverage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만으로 각 금융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metric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상세 정의나 공통 보장을 단정하지 않고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필요한 경우 해당 원 논문을 확인해야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jmlr | pp. 1450-1451, §3.4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JMLR: A Comprehensive Survey on Safe Reinforcement Learning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https://www.jmlr.org/papers/v16/garcia15a.html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35ADC07-AD77-4C6D-96E4-760FBF107AD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탐색 과정 수정의 두 갈래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탐색 과정 수정은 목적함수를 위험 항으로 바꾸지 않는 방법을 중심으로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external knowledge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관한 정보를 미리 넣고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risk-directed exploration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risk measure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행동 선택 확률을 조절합니다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구분은 목적함수 수정과 완전히 배타적이지 않지만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taxonomy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주된 개입 위치가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jmlr | pp. 1440-1442 and 1452, §§2 and 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JMLR: A Comprehensive Survey on Safe Reinforcement Learning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https://www.jmlr.org/papers/v16/garcia15a.html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D854E56-9860-42B5-9F84-B77CEE15F80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초기 지식으로 탐색을 시작하는 방식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초기 지식 제공은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bootstrap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하는 방식입니다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survey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teacher example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이나 이전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정보를 이용해 초기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단계부터 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relevant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state-action region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노출시키는 사례를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이것은 지식이 정확할 때 위험한 무작위 탐색을 줄일 수 있다는 뜻이지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초기 지식이 항상 안전하거나 최적이라는 뜻은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jmlr | pp. 1452-1454, §4.1.1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JMLR: A Comprehensive Survey on Safe Reinforcement Learning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https://www.jmlr.org/papers/v16/garcia15a.html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71EE544-1426-4CEF-9CAA-07F75BB31AC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유한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demonstration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정책을 얻는 방식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finite demonstration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으로부터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도출하는 방법을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initial knowledge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구분합니다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경우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단지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value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초기화에 쓰이지 않고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offline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따라서 안전한 방식으로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유도할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학습하는 데 사용됩니다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제공된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demonstration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다루지 않은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별도의 위험과 일반화 문제가 남습니다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jmlr | pp. 1454-1455, §4.1.2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JMLR: A Comprehensive Survey on Safe Reinforcement Learning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https://www.jmlr.org/papers/v16/garcia15a.html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59251DB-A704-4368-A80E-45EF839E784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teacher advice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시작 주체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teacher advice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기반 탐색에서는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teacher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모두 상호작용에 참여합니다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learner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요청할 수도 있고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teacher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먼저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advice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줄 수도 있으며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역할이 섞인 접근도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survey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teacher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반드시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expert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 필요는 없다고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advice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말만으로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formal correctness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완전한 안전을 추론하면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jmlr | pp. 1455-1460, §§4.1.3.1-4.1.3.3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JMLR: A Comprehensive Survey on Safe Reinforcement Learning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https://www.jmlr.org/papers/v16/garcia15a.html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34ED44F-8DFC-4CA1-8A0B-1433B3B7D68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risk-directed exploration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risk-directed exploration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risk metric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고르는 확률을 바꾸는 데 사용됩니다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survey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temporal-difference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risk metric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entropy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expected return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결합을 예로 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 중요한 구분은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final optimization criterion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risk-sensitive criterion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바꾸는 것이 아니라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exploration 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행동 분포를 조절한다는 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jmlr | pp. 1460-1461, §4.2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JMLR: A Comprehensive Survey on Safe Reinforcement Learning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https://www.jmlr.org/papers/v16/garcia15a.html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D865B8F-54BB-4F62-81EA-B6498A0783A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목적함수 수정과 탐색 수정의 비교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분류를 발표용으로 압축한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목적함수 수정은 어떤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final 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좋은 것으로 평가할지 바꾸며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탐색 수정은 학습 중 어떤 경험을 쌓을지 바꿉니다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방법은 두 요소를 함께 쓸 수 있지만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발표에서는 각각의 가정과 보장 범위를 따로 확인해야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jmlr | pp. 1439-1442, 1452-1461, §§2-4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JMLR: A Comprehensive Survey on Safe Reinforcement Learning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https://www.jmlr.org/papers/v16/garcia15a.html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7295DE6-C16A-42CD-95BB-DEE4A4C8C77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방법을 비교하는 네 차원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Section 5.1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allowed learner, spaces, risk, exploration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네 특성으로 정리합니다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spaces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method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적용된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domain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state/action space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규모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형태를 뜻하며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추가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memory/storage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요구량을 뜻하지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차원은 특정 방법의 순위를 위한 것이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적용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state/action domain, risk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learner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exploration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조건을 함께 확인하는 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jmlr | pp. 1462-1466, §5.1 and Tables 2-3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JMLR: A Comprehensive Survey on Safe Reinforcement Learning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https://www.jmlr.org/papers/v16/garcia15a.html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4804269-2544-4D90-8C66-BA4EE61DB4E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열린 설계 질문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저자들은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risk metric, optimum criterion, risk detection mechanism, learning schema, exploration strategy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논의와 열린 쟁점으로 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목록은 발표 뒤의 일반 토론 주제가 아니라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어떤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 RL method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읽을 때 실제로 확인해야 할 설계 변수입니다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예를 들어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error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알 수 없으면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error probability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기준으로 쓰는 방법의 전제가 약해집니다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jmlr | pp. 1466-1470, §§5.2.1-5.2.5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JMLR: A Comprehensive Survey on Safe Reinforcement Learning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https://www.jmlr.org/papers/v16/garcia15a.html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F83EE05-5D19-4C38-9462-A93AAECA6E8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21. 2015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역사적 범위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범위를 지키기 위한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survey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2015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년까지의 다양한 접근을 체계화하지만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서로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cited paper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동일한 환경과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risk definition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경쟁했다는 뜻은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현재 방법이나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formal guarantee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말하려면 별도 원문을 확인해야 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발표에서는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JMLR 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직접 말한 분류와 열린 문제까지만 주장합니다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jmlr | pp. 1437-1439 and 1470-1471, §§1 and 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JMLR: A Comprehensive Survey on Safe Reinforcement Learning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https://www.jmlr.org/papers/v16/garcia15a.html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9A30D2D-5484-4AF3-876E-426DAA66D16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22. Safe RL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논문을 읽는 순서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마무리할 때는 세 가지 구분을 다시 강조합니다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첫째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return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만으로 표현되지 않는 위험을 무엇으로 정의하는가입니다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둘째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위험을 목적함수에 넣는지 탐색 행동에 넣는지입니다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셋째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논문이 실제로 보인 증거가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learning-time risk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감소인지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deployment 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criterion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변화인지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특정 가정 아래의 보장인지입니다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jmlr | pp. 1439-1442 and 1470-1471, §§2 and 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JMLR: A Comprehensive Survey on Safe Reinforcement Learning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https://www.jmlr.org/papers/v16/garcia15a.html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5208A57-51CC-4C66-A1D3-520A5823DC7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강의자료의 과학적 근거는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García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Fernández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JMLR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발표자 노트에는 해당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page locator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연결됩니다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자료는 원문이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대표 방법을 설명하지만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cited paper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세부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theorem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이나 최신 결과를 대신 검증하지는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jmlr | publication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JMLR: A Comprehensive Survey on Safe Reinforcement Learning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https://www.jmlr.org/papers/v16/garcia15a.html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B9DD317-E77A-4032-8D56-6B8B5176887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Safe Reinforcement Learning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지도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 Comprehensive Survey on Safe Reinforcement Learning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Javier García, Fernando Fernández (2015)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기대 보상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위험 기준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탐색 제어를 구분해 읽는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2015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년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JMLR survey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jmlr title page, abstract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survey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말하는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Safe RL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학습 또는 배포 중 성능과 안전 제약이 중요한 문제에서 정책을 배우는 방법의 분류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2"/>
          <p:cNvSpPr/>
          <p:nvPr/>
        </p:nvSpPr>
        <p:spPr>
          <a:xfrm>
            <a:off x="838080" y="21718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목표는 기대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return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크게 하는 정책 학습이다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3"/>
          <p:cNvSpPr/>
          <p:nvPr/>
        </p:nvSpPr>
        <p:spPr>
          <a:xfrm>
            <a:off x="838080" y="29080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" name="Text 4"/>
          <p:cNvSpPr/>
          <p:nvPr/>
        </p:nvSpPr>
        <p:spPr>
          <a:xfrm>
            <a:off x="838080" y="294624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안전은 물리적 손상 회피만 뜻하지 않는다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5"/>
          <p:cNvSpPr/>
          <p:nvPr/>
        </p:nvSpPr>
        <p:spPr>
          <a:xfrm>
            <a:off x="838080" y="3682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Text 6"/>
          <p:cNvSpPr/>
          <p:nvPr/>
        </p:nvSpPr>
        <p:spPr>
          <a:xfrm>
            <a:off x="838080" y="372096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희귀한 큰 손실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불확실성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error state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도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risk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될 수 있다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7"/>
          <p:cNvSpPr/>
          <p:nvPr/>
        </p:nvSpPr>
        <p:spPr>
          <a:xfrm>
            <a:off x="838080" y="44575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" name="Text 8"/>
          <p:cNvSpPr/>
          <p:nvPr/>
        </p:nvSpPr>
        <p:spPr>
          <a:xfrm>
            <a:off x="838080" y="44956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저자들의 핵심 기여는 방법들의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taxonomy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비교 기준이다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Shape 9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" name="Text 10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논문은 단일한 안전 보장을 제안하기보다 서로 다른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risk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개념을 정리한다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11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" name="Text 12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jmlr pp. 1437-1439, abstract and §1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3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return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만으로는 보이지 않는 것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risk-neutral RL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평균을 최적화하지만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return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분포의 다른 성질을 무시한다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2935080"/>
                <a:gridCol w="53265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주로 보는 값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위험을 읽는 관점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risk-neutral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Eπ[R]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분산과 희귀한 큰 손실을 놓칠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worst-case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가장 나쁜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return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드물어도 치명적인 결과까지 고려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risk-sensitive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return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risk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조합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선호하는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risk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constrained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return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제약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허용 한도를 넘는 비용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평균 보상이라도 손실의 크기와 발생 방식은 다를 수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jmlr pp. 1439-1444, §2 and §3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교육용 예시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평균과 최악 결과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같은 상태에서 기준을 바꾸면 선호 행동도 달라질 수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739160"/>
                <a:gridCol w="3369960"/>
                <a:gridCol w="3478680"/>
                <a:gridCol w="22827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행동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return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분포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기대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return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최악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return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09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Safe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09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Risky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90%: 9, 10%: -20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0.9×9 + 0.1×(-20) = 6.1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-20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return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기준은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Risky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worst-case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기준은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Safe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고른다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jmlr pp. 1443-1445, §3.1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학습 중 위험과 배포 후 위험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같은 방법도 어느 시점의 위험을 줄이는지에 따라 해석이 달라진다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4348440"/>
                <a:gridCol w="43484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질문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 과정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배포된 정책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주된 걱정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탐색 행동이 손상이나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error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일으킴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최종 정책이 불리한 결과를 선택함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대표 개입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demonstration, teacher advice, risk-directed exploration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worst-case, risk-sensitive, constrained criterion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주의점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안전한 탐색이 최종 최적성을 자동 보장하지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좋은 최종 정책이 안전한 학습 과정을 보장하지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안전한 학습 경로와 위험을 고려한 최종 정책은 구별해야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jmlr pp. 1437-1442, §§1-2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개입 지점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survey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안전을 반영하는 위치에 따라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literature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정리한다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0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1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2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3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4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5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6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7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8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9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0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risk</a:t>
            </a: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중요한 </a:t>
            </a: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RL task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기대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return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만으로 충분한가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목적함수 수정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무엇을 최적이라고 부를지 변경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탐색 과정 수정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무엇을 시도할지 변경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정책 행동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risk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반영한 선택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Safe RL </a:t>
            </a: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분류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방법의 가정과 효과를 비교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1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jmlr pp. 1439-1442, §2 and Table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목적함수 수정의 네 갈래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평균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return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이외의 기준을 최적화 문제에 넣는다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4022280"/>
                <a:gridCol w="44571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갈래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목적에 추가하는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source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예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worst-case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최악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return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inherent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parameter uncertainty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risk-sensitive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utility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risk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지수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utility, variance, error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확률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constrained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기대 측도의 경계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cost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error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제약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other criteria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특수한 분포 기준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VaR, R-squared, return density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갈래는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risk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측정하는 방식과 필요한 가정이 다르다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jmlr pp. 1440-1442, §2 and Table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worst-case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두 종류의 불확실성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나쁜 결과의 원인을 구분해야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worst-case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기준의 의미가 선명해진다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4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5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6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7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8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9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0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1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2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3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4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worst-case criterion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최소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return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크게 하는 정책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inherent uncertainty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확률적 환경에서 결과가 달라짐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parameter uncertainty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MDP parameter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정확히 모름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보수적 평가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불리한 경우를 기준에 반영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정책 선택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가정한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uncertainty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모델에 의존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5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jmlr pp. 1443-1445, §§3.1.1-3.1.2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지수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utility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risk sensitivity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return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utility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변환해 큰 손실과 변동성에 대한 민감도를 조절한다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2"/>
          <p:cNvSpPr/>
          <p:nvPr/>
        </p:nvSpPr>
        <p:spPr>
          <a:xfrm>
            <a:off x="838080" y="21718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정책 평가는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raw return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대신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exponential utility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사용한다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Shape 3"/>
          <p:cNvSpPr/>
          <p:nvPr/>
        </p:nvSpPr>
        <p:spPr>
          <a:xfrm>
            <a:off x="838080" y="29080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1" name="Text 4"/>
          <p:cNvSpPr/>
          <p:nvPr/>
        </p:nvSpPr>
        <p:spPr>
          <a:xfrm>
            <a:off x="838080" y="294624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risk sensitivity parameter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위험 회피 또는 선호의 정도를 정한다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5"/>
          <p:cNvSpPr/>
          <p:nvPr/>
        </p:nvSpPr>
        <p:spPr>
          <a:xfrm>
            <a:off x="838080" y="3682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3" name="Text 6"/>
          <p:cNvSpPr/>
          <p:nvPr/>
        </p:nvSpPr>
        <p:spPr>
          <a:xfrm>
            <a:off x="838080" y="372096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parameter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application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의사결정 선호를 반영해야 한다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7"/>
          <p:cNvSpPr/>
          <p:nvPr/>
        </p:nvSpPr>
        <p:spPr>
          <a:xfrm>
            <a:off x="838080" y="44575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5" name="Text 8"/>
          <p:cNvSpPr/>
          <p:nvPr/>
        </p:nvSpPr>
        <p:spPr>
          <a:xfrm>
            <a:off x="838080" y="44956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기준은 위험의 정의를 자동으로 발견하지 않는다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9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7" name="Text 10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utility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함수의 모양은 평균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return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이외에 무엇을 벌점으로 볼지 정한다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11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9" name="Text 12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jmlr pp. 1445-1447, §3.2.1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13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return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risk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가중 결합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기대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return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risk measure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벌점을 결합하는 방식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3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826360"/>
                <a:gridCol w="3478680"/>
                <a:gridCol w="45658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risk measure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무엇을 줄이려는가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 시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return variance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return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변동 폭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위험을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variance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보는 가정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error-state probability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error state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들어갈 가능성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error state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정의와 확률 추정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가중 계수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return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risk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trade-off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계수 선택이 정책을 바꿈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가중 결합은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risk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정의와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함께 정해야 의미가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jmlr pp. 1447-1449, §3.2.2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constrained criterion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return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키우되 별도의 기대 측도를 허용 범위 안에 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정책 후보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return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cost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함께 예측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5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6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제약 확인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기대 측도가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bound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만족하는가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0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1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feasible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정책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제약을 만족한 후보만 남김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5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6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return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최대화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남은 후보 중 목적을 최적화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0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1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제약의 의미는 어떤 측정값에 어떤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bound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두는지로 결정된다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3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jmlr pp. 1449-1450, §3.3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기타 목적함수 기준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survey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금융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분포 관점의 기준도 별도 갈래로 남긴다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2"/>
          <p:cNvSpPr/>
          <p:nvPr/>
        </p:nvSpPr>
        <p:spPr>
          <a:xfrm>
            <a:off x="838080" y="21718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r-squared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VaR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등 금융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risk metric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도 다룬다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3"/>
          <p:cNvSpPr/>
          <p:nvPr/>
        </p:nvSpPr>
        <p:spPr>
          <a:xfrm>
            <a:off x="838080" y="29080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9" name="Text 4"/>
          <p:cNvSpPr/>
          <p:nvPr/>
        </p:nvSpPr>
        <p:spPr>
          <a:xfrm>
            <a:off x="838080" y="294624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metric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상세 정의와 가정은 원 논문에서 확인해야 한다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Shape 5"/>
          <p:cNvSpPr/>
          <p:nvPr/>
        </p:nvSpPr>
        <p:spPr>
          <a:xfrm>
            <a:off x="838080" y="3682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1" name="Text 6"/>
          <p:cNvSpPr/>
          <p:nvPr/>
        </p:nvSpPr>
        <p:spPr>
          <a:xfrm>
            <a:off x="838080" y="372096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return density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추정은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return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분포 자체를 모델링한다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Shape 7"/>
          <p:cNvSpPr/>
          <p:nvPr/>
        </p:nvSpPr>
        <p:spPr>
          <a:xfrm>
            <a:off x="838080" y="44575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3" name="Text 8"/>
          <p:cNvSpPr/>
          <p:nvPr/>
        </p:nvSpPr>
        <p:spPr>
          <a:xfrm>
            <a:off x="838080" y="44956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서로 다른 기준은 같은 안전 뜻이나 같은 보장을 공유하지 않는다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9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5" name="Text 10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risk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수학적 표현을 바꾸면 정책 비교의 의미도 바뀐다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11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7" name="Text 12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jmlr pp. 1450-1451, §3.4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13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탐색 과정 수정의 두 갈래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고전적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return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목적을 유지하면서 위험한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trial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덜 하도록 행동 선택을 바꾼다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4239720"/>
                <a:gridCol w="39135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갈래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개입 수단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 초기에 바꾸는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09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external knowledge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초기 지식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demonstration, teacher advice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탐색의 출발점이나 행동 후보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09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risk-directed exploration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risk metric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행동을 선택할 확률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탐색 수정은 ‘무엇이 최적인가’보다 ‘무엇을 먼저 해 볼 것인가’에 초점을 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jmlr pp. 1440-1442 and 1452, §§2 and 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초기 지식으로 탐색을 시작하는 방식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teacher example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또는 과거 정보로 초기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policy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value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bootstrap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사전 정보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example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또는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지식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3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4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초기화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value, policy, case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반영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8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9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초기 탐색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relevant region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먼저 시도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3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4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후속 학습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관측으로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policy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계속 갱신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8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9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초기 지식은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blind random exploration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줄일 수 있지만 그 품질에 의존한다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1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jmlr pp. 1452-1454, §4.1.1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유한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demonstration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정책을 얻는 방식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온라인 무작위 시도 대신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teacher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example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으로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offline policy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학습한다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teacher demonstrations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유한한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state-action example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9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0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offline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학습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example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model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또는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policy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유도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4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5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정책 도출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offline model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policy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얻음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9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0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배포 또는 추가 학습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새 상황의 일반화는 별도 문제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4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5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demonstration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탐색 데이터를 대체하지만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coverage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teacher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품질이 중요하다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7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jmlr pp. 1454-1455, §4.1.2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teacher advice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시작 주체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advice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누가 언제 상호작용을 시작하는지에 따라 세 갈래로 정리된다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4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3913560"/>
                <a:gridCol w="42397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형태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상호작용 시작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learner asks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learner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필요할 때 요청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불확실하거나 위험하다고 판단한 순간의 도움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teacher gives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teacher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먼저 개입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teacher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필요하다고 판단할 때 행동 또는 정보 제공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other interaction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주체가 혼합되거나 불명확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여러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teacher-learner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advice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안전 효과는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teacher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정보와 개입 규칙에 달려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jmlr pp. 1455-1460, §§4.1.3.1-4.1.3.3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risk-directed exploration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최종 목적은 유지하고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exploration action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선택 확률에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risk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반영한다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현재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가능한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관측 정보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3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4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risk measure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위험 신호를 추정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8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9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탐색 확률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위험을 고려해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 probability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조정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3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4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경험 수집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고전적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return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목적 아래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policy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갱신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8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9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risk-directed exploration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risk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 selection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쓰되 고전적 목적을 유지한다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1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jmlr pp. 1460-1461, §4.2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목적함수 수정과 탐색 수정의 비교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두 흐름은 바꾸는 대상과 주장할 수 있는 범위가 다르다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413100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질문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목적함수 수정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탐색 과정 수정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주로 바꾸는 것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정책을 평가하는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criterion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 중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 방식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필요한 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risk definition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trade-off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prior knowledge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risk signal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주요 위험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잘못된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risk metric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부정확한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advice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부족한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coverage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 중 안전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별도 탐색 설계 없이는 불명확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위험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trial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감소를 겨냥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어느 흐름을 택할지는 위험의 정의와 사용할 수 있는 정보에 달려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jmlr pp. 1439-1442, 1452-1461, §§2-4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방법을 비교하는 네 차원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Section 5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방법을 하나의 점수로 줄이지 않고 특성을 나란히 본다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402228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차원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확인할 질문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예시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allowed learner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어떤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RL learner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결합 가능한가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model-free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특정 구조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spaces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어떤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state/action-space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규모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형태의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domain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적용됐는가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S/a: large/continuous state, small/discrete action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risk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무엇을 위험으로 측정하는가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variance, error probability, constraint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exploration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위험을 언제 어떻게 줄이는가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prior knowledge, advice, action probability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‘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safe’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라는 이름보다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risk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표현과 적용된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state/action domain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먼저 비교해야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jmlr pp. 1462-1466, §5.1 and Tables 2-3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열린 설계 질문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survey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안전을 위한 단일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default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제시하지 않고 선택해야 할 문제를 남긴다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4239720"/>
                <a:gridCol w="42397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질문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왜 필요한가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발표에서 확인할 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risk metric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위험 정의가 행동 선택을 바꿈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무엇을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unacceptable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보는가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optimum criterion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평균과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risk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trade-off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필요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최적의 의미는 무엇인가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risk detection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위험 신호가 부정확할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어떻게 위험을 알아내는가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learning schema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prior knowledge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learner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구조가 다름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어떤 정보가 주어지는가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exploration strategy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초기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trial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자체가 비용일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언제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intervention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하는가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Safe RL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선택은 알고리즘 이름보다 위험 정의와 정보 가정에서 시작한다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jmlr pp. 1466-1470, §§5.2.1-5.2.5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2015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년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survey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역사적 범위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논문은 당시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literature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taxonomy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이며 이후 방법의 포괄적 성능 판정이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2"/>
          <p:cNvSpPr/>
          <p:nvPr/>
        </p:nvSpPr>
        <p:spPr>
          <a:xfrm>
            <a:off x="838080" y="21718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source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2015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년에 출판된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JMLR survey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Shape 3"/>
          <p:cNvSpPr/>
          <p:nvPr/>
        </p:nvSpPr>
        <p:spPr>
          <a:xfrm>
            <a:off x="838080" y="29080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1" name="Text 4"/>
          <p:cNvSpPr/>
          <p:nvPr/>
        </p:nvSpPr>
        <p:spPr>
          <a:xfrm>
            <a:off x="838080" y="294624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대표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citation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들은 공통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benchmark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직접 비교 결과가 아니다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Shape 5"/>
          <p:cNvSpPr/>
          <p:nvPr/>
        </p:nvSpPr>
        <p:spPr>
          <a:xfrm>
            <a:off x="838080" y="3682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3" name="Text 6"/>
          <p:cNvSpPr/>
          <p:nvPr/>
        </p:nvSpPr>
        <p:spPr>
          <a:xfrm>
            <a:off x="838080" y="372096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branch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guarantee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원 논문별 가정과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risk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정의에 달려 있다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Shape 7"/>
          <p:cNvSpPr/>
          <p:nvPr/>
        </p:nvSpPr>
        <p:spPr>
          <a:xfrm>
            <a:off x="838080" y="44575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5" name="Text 8"/>
          <p:cNvSpPr/>
          <p:nvPr/>
        </p:nvSpPr>
        <p:spPr>
          <a:xfrm>
            <a:off x="838080" y="44956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현대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deep RL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이나 최신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safe RL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결과는 별도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source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필요하다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Shape 9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7" name="Text 10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taxonomy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출발점이며 최신 성능이나 보장의 대체 근거가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Shape 11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9" name="Text 12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jmlr pp. 1437-1439 and 1470-1471, §§1 and 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13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Safe RL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논문을 읽는 순서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안전이라는 말보다 먼저 위험의 정의와 개입 위치를 확인한다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위험 정의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손실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uncertainty, error, constraint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중 무엇인가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7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8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개입 위치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목적함수 또는 탐색 과정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2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3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가정 확인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model, prior knowledge, risk estimate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7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8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증거 해석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학습 중 위험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배포 성능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보장 범위를 분리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2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3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Safe RL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하나의 기법 이름이 아니라 위험을 정책 학습에 넣는 설계 공간이다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5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jmlr pp. 1439-1442 and 1470-1471, §§2 and 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공개 출처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38" name="Table 0"/>
          <p:cNvGraphicFramePr/>
          <p:nvPr/>
        </p:nvGraphicFramePr>
        <p:xfrm>
          <a:off x="660240" y="1676520"/>
          <a:ext cx="10870920" cy="4343040"/>
        </p:xfrm>
        <a:graphic>
          <a:graphicData uri="http://schemas.openxmlformats.org/drawingml/2006/table">
            <a:tbl>
              <a:tblPr/>
              <a:tblGrid>
                <a:gridCol w="2608920"/>
                <a:gridCol w="4565880"/>
                <a:gridCol w="3696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자료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공개 위치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강의자료에서의 용도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804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JMLR survey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jmlr.org/papers/v16/garcia15a.html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정의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taxonomy, representative literature, discussion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9" name="Shape 1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0" name="Text 2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jmlr publication record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3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2026-09-12T05:25:08Z</dcterms:created>
  <dc:creator>Research Seminars</dc:creator>
  <dc:description/>
  <dc:language>ko-KR</dc:language>
  <cp:lastModifiedBy>Research Seminars</cp:lastModifiedBy>
  <dcterms:modified xsi:type="dcterms:W3CDTF">2026-09-12T05:25:08Z</dcterms:modified>
  <cp:revision>1</cp:revision>
  <dc:subject>A Comprehensive Survey on Safe Reinforcement Learning</dc:subject>
  <dc:title>Safe Reinforcement Learning의 지도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23</vt:r8>
  </property>
  <property fmtid="{D5CDD505-2E9C-101B-9397-08002B2CF9AE}" pid="3" name="PresentationFormat">
    <vt:lpwstr>On-screen Show (16:9)</vt:lpwstr>
  </property>
  <property fmtid="{D5CDD505-2E9C-101B-9397-08002B2CF9AE}" pid="4" name="Slides">
    <vt:r8>23</vt:r8>
  </property>
</Properties>
</file>
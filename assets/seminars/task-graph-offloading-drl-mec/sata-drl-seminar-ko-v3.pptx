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9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s/slide14.xml" ContentType="application/vnd.openxmlformats-officedocument.presentationml.slide+xml"/>
  <Override PartName="/ppt/slides/slide4.xml" ContentType="application/vnd.openxmlformats-officedocument.presentationml.slide+xml"/>
  <Override PartName="/ppt/slides/slide27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5.xml" ContentType="application/vnd.openxmlformats-officedocument.presentationml.slide+xml"/>
  <Override PartName="/ppt/slides/slide24.xml" ContentType="application/vnd.openxmlformats-officedocument.presentationml.slide+xml"/>
  <Override PartName="/ppt/slides/slide30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8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CA95A164-BDBD-4271-9F6C-0250D4934F8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SATA-DRL: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의존 작업의 실행 위치를 학습하다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발표는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SATA-DRL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의존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ready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어느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computing device, ECD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배치할지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정하는 방식을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핵심은 네 가지입니다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DAG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의존성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FCFS 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전송 지연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event-driven ready queue,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그리고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prediction/target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arxiv-v4 | p. 1, title and Abstract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arXiv:2309.10569v4 primary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https://arxiv.org/abs/2309.10569v4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9B2C622-EDF4-40FC-90B1-4A9930048CE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문제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독립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하나가 아니라 의존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배치한다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모바일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application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directed acyclic graph, DAG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모델링합니다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정점은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atomic and indivisible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directed 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dependency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computing device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processing capability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time varying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고정된 분석 모델이나 휴리스틱만으로 환경 변화에 적응하기 어렵다는 점에서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도입합니다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arxiv-v4 | pp. 1–3, Abstract and §3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arXiv:2309.10569v4 primary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https://arxiv.org/abs/2309.10569v4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AC92759-16B1-4C1B-B81A-4DB69D3CBE7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논문을 읽기 위한 용어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Deep Reinforcement Learning, FCFS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First-Come First-Served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Scheduling strAtegy for the Task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대문자 조합으로 정의하고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결합합니다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이름 자체가 별도 표준 알고리즘이라는 뜻은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MEC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Mobile Edge Computing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makespan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여기서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application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요청 이후 최종 완료까지의 길이입니다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arxiv-v4 | pp. 3–8; §§3–6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arXiv:2309.10569v4 primary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https://arxiv.org/abs/2309.10569v4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DDD9CC9-B004-4AFE-943B-8C2C73F7AAA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MEC system: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중앙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controller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ECD queue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일부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ECD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위치한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decision controller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ECD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broadcast status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수집하고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안의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reinforcement-learning 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scheduling decision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내린다고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단순 모델에서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ECD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 processing element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가지며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FCFS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실행합니다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ECD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들 사이에는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wired link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arxiv-v4 | p. 3, Fig. 1 and §3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arXiv:2309.10569v4 primary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https://arxiv.org/abs/2309.10569v4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62E39DD-7479-4FFC-8415-A5A6138EBBD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DAG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source·real task·sink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 application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dummy source v_n0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dummy sink v_nI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두며 둘은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나타내는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fictitious ECD 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workload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나머지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real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atomic and indivisible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ECD 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real ECD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real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ECD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에서만 실행할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그림은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 Fig.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특정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topology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복제하지 않고 모델의 최소 의존 순서를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arxiv-v4 | pp. 3–5, Fig. 3 and Eqs. 1–4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arXiv:2309.10569v4 primary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https://arxiv.org/abs/2309.10569v4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5111EEF-3BED-4314-99B1-09104699F04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완료 시간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입력 도착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큐 준비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실행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workload rho_ni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ECD capability delta_m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execution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정의합니다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Eqs. 6–10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 input, result,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그리고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task-to-task data transfer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정의하고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ECD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놓인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parent/child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transfer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Eq. 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ECD queue-ready time 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parent input arrival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maximum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취한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execution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arxiv-v4 | pp. 4–6, Eqs. 5–13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arXiv:2309.10569v4 primary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https://arxiv.org/abs/2309.10569v4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022E98E-8ED8-43B4-AA02-850163C7803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목표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application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makespan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최소화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14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application 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makespan Psi_n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completion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최댓값에서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request time r_n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뺀 값으로 정의합니다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Eq. 15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application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들의 평균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makespan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최소화합니다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Eqs. 1–4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binary assignment, ECD 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dummy task, real task offloading,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당 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ECD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NP-hard multiprocessor scheduling problem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분류합니다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arxiv-v4 | pp. 5–6, Eqs. 1–4 and 14–16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arXiv:2309.10569v4 primary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https://arxiv.org/abs/2309.10569v4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AEC39C2-9F96-4DE6-BF23-1F63D27A2EA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SATA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arrival·completion event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움직인다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§5.1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application arrival event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completion event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작동한다고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Eq. 17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latest completion estimate F_lct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application list xi_n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정렬하고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dependency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충족된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ready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Q_r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넣습니다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Algorithm 1 lines 8–19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Q_r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하나씩 가져와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얻고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ECD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schedule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하는 순서입니다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목록 생성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우선순위 계산은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arrival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분기이고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ready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항목 수집은 두 이벤트 모두에서 수행됩니다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목록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검사하므로 한 번의 호출이 임의 위치의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정점을 동시에 수집한다고 설명하지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arxiv-v4 | pp. 6–7, Eq. 17; p. 9, Algorithm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arXiv:2309.10569v4 primary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https://arxiv.org/abs/2309.10569v4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73FEA61-FCFB-4CE0-AD8F-A71A23730F4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F_lct: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기한에서 거꾸로 계산한 우선순위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측정값이 아닌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Eq17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계산용 가상 시간입니다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dummy sink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부모이므로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deadline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반환 전송을 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각 자식의 최신 완료에서 자식 실행과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A→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자식 전송을 뺀 값 중 작은 값을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실행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3·4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workload6·8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기준 처리 능력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전송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1·2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기준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얻었다고 가정했습니다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Q_r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들어온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ready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항목만 우선순위로 정렬하며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우선순위가 높다고 의존성을 건너뛰지는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추정에는 최댓값 자원을 사용하므로 혼잡한 실제 실행 완료의 보장이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arxiv-v4 | p. 6, Eq. 17; constructed example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arXiv:2309.10569v4 primary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https://arxiv.org/abs/2309.10569v4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AC87B6A-F557-427D-A2EF-1AD1056E03F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배치를 결정하는 시점과 실행 시작은 다르다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부모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scheduling plans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이후 자식의 계획을 만들 수 있다고 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p7 Eq19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설명은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ready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각 부모가 완료되어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얻는다고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발표는 이 차이를 숨기거나 임의 구현 규칙으로 메우지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대조적으로 실제 실행은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조건으로 정의되어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목록 삭제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중복 방지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여러 사건 사이 상태 보존의 상세 구현도 의사코드에 전부 드러나 있지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arxiv-v4 | pp. 5–7, Eqs. 12–13; p. 9, Algorithm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arXiv:2309.10569v4 primary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https://arxiv.org/abs/2309.10569v4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48AB330-D391-49EF-8061-301A816B55A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MDP state: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다섯 종류의 지연 관련 관측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§5.2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 s_tau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computing 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transmission 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관한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five parameters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포함한다고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본문은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ECD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transmission-rate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MU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covering ECD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link-rate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항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ECD processing-capability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ready queue Q_r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total workload,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computing 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total workload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슬라이드는 원문이 정의한 합계 관측을 그대로 설명하며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임의의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ECD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벡터를 추가하지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arxiv-v4 | p. 7, §5.2 State Space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arXiv:2309.10569v4 primary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https://arxiv.org/abs/2309.10569v4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8A19B46-C66C-4528-A0E2-6A77D7F2832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합계가 같아도 어느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ECD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빠른지는 다를 수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4-ECD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실험을 재현한 결과가 아니라 상태 표현을 이해하기 위한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ECD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반례입니다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capacity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합을 유지한 채 위치만 바꾸고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link/queue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합도 고정하면 같은 관측에서 유리한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ECD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달라집니다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명칭만으로 집계 관측의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Markov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충분성 또는 최적 정책 식별 가능성이 증명되지는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이 경우의 정량 실패율을 측정하지 않았으므로 실패율이나 실제 구현 버그라고 확대하지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arxiv-v4 | p. 7, §5.2 State Space; constructed example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arXiv:2309.10569v4 primary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https://arxiv.org/abs/2309.10569v4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2172FA5-BA50-4F60-8DCB-501F676DCDC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action: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ready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ECD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배치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§5.2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 a_tau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지금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scheduling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decision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표현한다고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dummy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ECD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 하나에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schedule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binary entry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strategy x_ni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대응합니다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Eqs.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real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정확히 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ECD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요구합니다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real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execution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두지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action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표기는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M+1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real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a0=0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요구하지만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이를 강제하는 구체적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masking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방법은 제공하지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ready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판정과 입력 데이터 도착은 동일 개념이라고 단정하지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arxiv-v4 | pp. 5, 7, Eqs. 1–4 and §5.2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arXiv:2309.10569v4 primary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https://arxiv.org/abs/2309.10569v4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A0DE15B-AF51-49AF-AB3E-588B23184CD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reward = utility - duration - penalty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Eq18–20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그대로 분리합니다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maxA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가장 늦은 부모 입력 도착 시각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ECD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준비 시각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실행 길이입니다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완료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F=max(Q,maxA)+E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Eq19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ψ(maxA+Q+E)/ρ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둘은 같지 않으며 중복 시간 대기를 제거한 식으로 보상식을 바꾸지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Eq20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max(0,·)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F&lt;F_lct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P&lt;0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빼므로 보상이 증가합니다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β,ψ,η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가중치이며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U−D−P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평균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makespan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정확한 음수나 등가 목적이라고 단정하지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arxiv-v4 | p. 7, Eqs. 18–20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arXiv:2309.10569v4 primary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https://arxiv.org/abs/2309.10569v4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70180FB-EA4A-4D36-AF90-04EF72ED414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교육용 계산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완료 시간과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shaped 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구분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가상 시각과 작업량을 선택한 설명용 계산입니다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U=.6×6.64385619=3.98631371,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완료는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4, D=.3, P=−.4, r=4.08631371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비교용으로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F_lct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바꾸면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P=.4, r=3.28631371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Eq20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양수 부분 함수가 없다는 점을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물리 단위가 보상 안에서 어떻게 무차원화되는지는 원문이 상세하게 논의하지 않으므로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monetary utility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최적 성능으로 해석하지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arxiv-v4 | pp. 5–7, Eqs. 12,18–20; p. 11; constructed example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arXiv:2309.10569v4 primary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https://arxiv.org/abs/2309.10569v4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943F4AC-1CE3-40D5-97F6-DC208A9E9FA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training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epsilon-greedy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고른다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24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정의합니다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probability epsilon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밖에는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prediction-network Q-value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argmax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고릅니다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action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 environment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next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돌려주고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저장해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batch learning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convergence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working algorithm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직접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argmax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고르는 것과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arxiv-v4 | p. 8, Eq. 24 and §6.1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arXiv:2309.10569v4 primary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https://arxiv.org/abs/2309.10569v4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284221D-C4F8-4B33-BCE9-201739E9B6F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7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DQN training: replay, target, loss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Eqs. 22–23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current 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squared error loss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정의합니다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experience record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state, selected action, reward, next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sampled current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prediction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next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넣고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prediction-network 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SGD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적용합니다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Algorithm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prior state-action pair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없는 첫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scheduling step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저장을 건너뜁니다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arxiv-v4 | pp. 7–9, Eqs. 22–23; Algorithm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arXiv:2309.10569v4 primary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https://arxiv.org/abs/2309.10569v4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D8C5FD1-84F1-4097-8DB3-74429E876CB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7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target network: 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회 반복 뒤 파라미터 복사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p9 Algorithm2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들여쓰기를 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line18 θ−←θ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line3 for k=1,…,K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같은 깊이입니다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표기상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회 블록이 끝난 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hard copy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p8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본문의 일정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후 복사 및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synchronization condition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모순되지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호출 사이 초기화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경험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pool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지속 방식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구체적 값과 전역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cadence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충분히 명시되지 않았으므로 구현 상세까지 확정하지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arxiv-v4 | pp. 8–9, §5.3 and Algorithm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arXiv:2309.10569v4 primary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https://arxiv.org/abs/2309.10569v4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35C1CB6-F1BC-4BD6-A0CD-168FB462C23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7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실제 연결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구현합니다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받고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만들고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ready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Q_r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넣고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얻습니다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첫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step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계산하고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DRL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schedule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Algorithm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받아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epsilon-greedy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고르고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첫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step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저장한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minibatch 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계산하여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prediction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갱신합니다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이름은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environment scheduling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 learning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분리합니다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보상은 이전 선택의 결과와 짝지은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저장합니다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현재 선택 전에 현재 선택의 실제 결과를 알고 있는 것으로 그리지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원문의 사건 처리와 미완료 작업의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측정 시점은 별도 구현 명세가 부족합니다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arxiv-v4 | p. 9, Algorithms 1–2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arXiv:2309.10569v4 primary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https://arxiv.org/abs/2309.10569v4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A6B15D0-AEF3-4921-85C8-C8203D63A39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7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SATA-Work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결정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§6.3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working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구분합니다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Algorithm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predefined number of episodes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동안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DRL invocation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반복합니다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neural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converged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SATA-Work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arrival/completion event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ready-task handling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응답하지만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prediction-network Q 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최대화하는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고릅니다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working path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epsilon-random exploration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arxiv-v4 | pp. 9–10, Algorithms 3–4 and §6.3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arXiv:2309.10569v4 primary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https://arxiv.org/abs/2309.10569v4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E4EF417-5729-424A-B251-1E8507C659E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8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교육용 가상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trace: parent output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child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시작을 바꾼다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설명용으로 새로 만든 값입니다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1000 instructions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1000 instructions/s ECD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실행해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끝납니다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 output 200 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ECD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받으면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200 bit/s link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더 기다리고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s execution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 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끝납니다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ECD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 Eq. 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same-ECD transfer rule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이어서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FCFS queue 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 Q-value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미계산으로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대안에서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적용하면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ECD2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준비 시각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데이터 도착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 실행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더해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ECD1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종료로 준비 시각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ECD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입력도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도착하여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max(1,1)+1=2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이미 입력을 받은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부터의 부분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application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dummy sink/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최종 반환 지연은 포함하지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arxiv-v4 | pp. 4–6, Eqs. 5, 10, 12–13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arXiv:2309.10569v4 primary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https://arxiv.org/abs/2309.10569v4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6106671-62EC-49BC-A63D-EA2328AA41F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8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 조건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ECD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Montage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작업 그래프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§7.1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 ECD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ECD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 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둔다고 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ECD capacity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6000, 5500, 5000, 4500, 4000 MIPS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discrete 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가지며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printed matrix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따라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inter-ECD 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440 Mbps, MU-to-covering-ECD 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1000 Mbps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Montage workflow dataset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 nodes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저자들은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CloudSim, EdgeCloudSim, ElasticSim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함께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adapt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했으며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physical deployment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보고하지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처리 능력은 임의의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완료 이벤트 뒤 전이 행렬에 따라 갱신합니다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DAX runtime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100–500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범위로 자르고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평균 전송률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520Mbps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이용한 기준 통신 시간을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.001–.01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범위로 제한한 뒤 데이터 크기를 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원시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Montage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수정 없이 그대로 실행한 실험이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Eq17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Bhat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ECD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간 최대 전송률로 정의되지만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Bhat=1000Mbps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설정해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ECD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440Mbps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맞지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정규화 및 기준 설정을 기록하고 원문 밖 구현을 추정하지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arxiv-v4 | p. 10, §7.1 and Fig. 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arXiv:2309.10569v4 primary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https://arxiv.org/abs/2309.10569v4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879158B-2772-477A-910A-CCBA91D6E88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8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23. deadline metric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읽을 때의 조건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p. 11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basic makespan MS_n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construction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application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every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maximum average processing capability 5000 MIPS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서로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ECD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schedule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되고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transfer 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무시한다고 가정합니다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d_n=r_n+6 MS_n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페이지는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deadline violation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deadline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위반한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application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수를 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application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수로 나눈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 percent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곱한 값으로 정의합니다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validated real-system SLA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제시하면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주의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5000=(6000×4+1000)/6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이라고 인쇄하지만 우변은 약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4166.67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발표는 본문이 지정한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5000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실험 기준값으로만 옮기며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산식이 맞거나 실제 코드가 어느 값을 사용했다고 단정하지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25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서로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ECD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놓는 것은 기준 계산의 가정이지 실제 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ECD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배치가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arxiv-v4 | p. 11, §7.1 and §7.4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arXiv:2309.10569v4 primary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https://arxiv.org/abs/2309.10569v4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9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4134E2D-EA0A-4D87-AFBD-14DCB1693B3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9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24. DQN 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보고된 설정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§7.2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fully connected five-layer structure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node counts 128, 64, 32, 16,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two neural networks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논문에 따르면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first four layers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linear activation, final 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softmax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Adam learning rate 0.0006, pool size 200000, batch 64, beta 0.6, psi 5, eta 40, gamma 0.95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숫자는 해당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simulation configuration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속합니다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arxiv-v4 | p. 11, §7.2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arXiv:2309.10569v4 primary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https://arxiv.org/abs/2309.10569v4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494C676-2D23-4154-8BDF-CB2D3FA554C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9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재현할 때 원문만으로 확정하기 어려운 지점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a0…aM, p11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ECD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개출력을 보고하므로 차원 자체는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M+1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맞습니다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real-task a0=0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실제 선택에서 강제하는 방법은 명시되지 않았습니다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softmax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출력 합이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제한된 값을 주는데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Eq23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보상과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bootstrap 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일반적으로 그 범위에 제한되지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이를 원문 표기의 재현 질문으로 기록하며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코드가 반드시 그대로이거나 실험이 틀렸다고 단정하지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5000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기준 산식도 숫자 불일치가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발표는 본문 지정값과 수식 불일치를 나눠 전달합니다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arxiv-v4 | pp. 5,7–11; Eqs. 3,23; Algorithms 2–3; §7.2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arXiv:2309.10569v4 primary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https://arxiv.org/abs/2309.10569v4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F1A5C5E-C847-4802-8BB9-61678ED4B04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26. cumulative reward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 곡선의 범위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§7.3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episode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 applications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처리할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arrival rate lambda 5, 7, 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cumulative 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평가합니다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저자들은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total 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 episode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함께 증가하며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5(c)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가리켜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600 episode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trend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relatively stable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하다고 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setting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밖의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formal convergence proof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generalization test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제공하지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arxiv-v4 | pp. 10–11, Fig. 5 and §7.3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arXiv:2309.10569v4 primary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https://arxiv.org/abs/2309.10569v4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PlaceHolder 3"/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F11DC45-5A05-4414-B563-6FAE39EB3C8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27. optimization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비교의 대상과 측정값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§7.4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SATA-DRL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Zhang's PCP, OnDoc, DTO-CED, Dueling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비교합니다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Dueling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§5.2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정의한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same state, action, 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쓴다고 저자들이 밝힙니다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Poisson arrival 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application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fetch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algorithm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들이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application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회 처리한 평균을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metric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average makespan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deadline violation 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arxiv-v4 | p. 11, §7.4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arXiv:2309.10569v4 primary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https://arxiv.org/abs/2309.10569v4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PlaceHolder 3"/>
          <p:cNvSpPr>
            <a:spLocks noGrp="1"/>
          </p:cNvSpPr>
          <p:nvPr>
            <p:ph type="sldNum" idx="3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7BCEBE6-FAD8-49F9-A613-6AFD7779B70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28. Fig. 6–7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조건부 결과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pp. 11–12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Figs. 6–7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논의합니다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저자들은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tested arrival 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SATA-DRL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five algorithms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lowest makespan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달성하고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deadline violation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much lower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하다고 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metric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Dueling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superior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하다고도 밝힙니다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result table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제공하므로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 pixel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exact percentage margin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만들어 내지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arxiv-v4 | pp. 11–12, Figs. 6–7 and §7.4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arXiv:2309.10569v4 primary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https://arxiv.org/abs/2309.10569v4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PlaceHolder 3"/>
          <p:cNvSpPr>
            <a:spLocks noGrp="1"/>
          </p:cNvSpPr>
          <p:nvPr>
            <p:ph type="sldNum" idx="3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09C3231-7B00-4449-B1A3-7D14BBCCA68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모델을 적용할 때 남는 경계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경계는 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system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experimental construction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직접 나옵니다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controller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centralized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ECD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 FCFS 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가지며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simulation capacity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five level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optimization objective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average makespan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deadline violation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constructed deadline rule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real-task execution, energy, price, reliability, wireless fading, bandwidth-allocation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모델링하지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arxiv-v4 | pp. 3, 6, 10–11, §§3,4,7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arXiv:2309.10569v4 primary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https://arxiv.org/abs/2309.10569v4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PlaceHolder 3"/>
          <p:cNvSpPr>
            <a:spLocks noGrp="1"/>
          </p:cNvSpPr>
          <p:nvPr>
            <p:ph type="sldNum" idx="3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0EE755E-983F-418F-AA0C-8B541640375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30. SATA-DRL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전체 연결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application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도착과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완료 이벤트를 우선순위가 붙은 준비 작업 순서로 바꿉니다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논문이 정의한 집계 상태를 보고 현재 작업의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ECD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선택하며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shaped 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경험 재생으로 학습합니다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ECD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결과를 해석할 때 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처리 능력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workflow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정규화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deadline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규칙을 함께 봐야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arxiv-v4 | pp. 3–12, §§3–8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arXiv:2309.10569v4 primary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https://arxiv.org/abs/2309.10569v4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PlaceHolder 3"/>
          <p:cNvSpPr>
            <a:spLocks noGrp="1"/>
          </p:cNvSpPr>
          <p:nvPr>
            <p:ph type="sldNum" idx="3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D342C9F-86D4-47C6-B46D-34D99BCAFD8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SATA-DRL: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의존 작업의 실행 위치를 학습하다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Graph offloading via Deep Reinforcement Learning in Mobile Edge Computing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Jiagang Liu · Yun Mi · Xinyu Zhang · Xiaocui Li (2024)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arrival·completion event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ready task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꺼내고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시간 변화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ECD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상태에서 한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ECD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선택한다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arxiv-v4 p. 1, title and Abstract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문제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독립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하나가 아니라 의존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DAG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배치한다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838080" y="1739880"/>
            <a:ext cx="1069308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모바일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application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여러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atomic task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그 사이의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 dependency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구성된다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2"/>
          <p:cNvSpPr/>
          <p:nvPr/>
        </p:nvSpPr>
        <p:spPr>
          <a:xfrm>
            <a:off x="838080" y="27432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" name="Text 3"/>
          <p:cNvSpPr/>
          <p:nvPr/>
        </p:nvSpPr>
        <p:spPr>
          <a:xfrm>
            <a:off x="838080" y="2781360"/>
            <a:ext cx="1069308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부모 출력이 도착하고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ECD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비어야 자식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실행을 시작할 수 있다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4"/>
          <p:cNvSpPr/>
          <p:nvPr/>
        </p:nvSpPr>
        <p:spPr>
          <a:xfrm>
            <a:off x="838080" y="37843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" name="Text 5"/>
          <p:cNvSpPr/>
          <p:nvPr/>
        </p:nvSpPr>
        <p:spPr>
          <a:xfrm>
            <a:off x="838080" y="3822840"/>
            <a:ext cx="1069308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ECD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processing capability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queue workload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시간에 따라 달라진다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" name="Text 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현재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ECD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선택은 나중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 arrival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queue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바꾼다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" name="Text 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arxiv-v4 pp. 1–3, Abstract and §3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1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논문을 읽기 위한 용어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1" name="Table 0"/>
          <p:cNvGraphicFramePr/>
          <p:nvPr/>
        </p:nvGraphicFramePr>
        <p:xfrm>
          <a:off x="660240" y="1676520"/>
          <a:ext cx="10870920" cy="4343040"/>
        </p:xfrm>
        <a:graphic>
          <a:graphicData uri="http://schemas.openxmlformats.org/drawingml/2006/table">
            <a:tbl>
              <a:tblPr/>
              <a:tblGrid>
                <a:gridCol w="1739160"/>
                <a:gridCol w="532656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풀어 쓰기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발표에서의 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619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MU / ECD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Mobile User / Edge Computing Device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/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 목적지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619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 / DAG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Processing Element / Directed Acyclic Graph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 장치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/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의존 그래프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619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MDP / DQN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Markov Decision Process / Deep Q-Network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의사결정 모델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/ Q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619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SATA-DRL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Scheduling strAtegy for the Task grAph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DQN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기반 작업 배치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Shape 1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" name="Text 2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arxiv-v4 pp. 3–8; §§3–6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3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MEC system: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중앙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controller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ECD queue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controller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ECD status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받고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task scheduling decision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한 곳에서 내린다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mechanism-lane-control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control and execution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mechanism-edge-e1-segment-1"/>
          <p:cNvSpPr/>
          <p:nvPr/>
        </p:nvSpPr>
        <p:spPr>
          <a:xfrm>
            <a:off x="3809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" name="mechanism-edge-e1-label"/>
          <p:cNvSpPr/>
          <p:nvPr/>
        </p:nvSpPr>
        <p:spPr>
          <a:xfrm>
            <a:off x="3517920" y="321300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application data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mechanism-edge-e2-segment-1"/>
          <p:cNvSpPr/>
          <p:nvPr/>
        </p:nvSpPr>
        <p:spPr>
          <a:xfrm>
            <a:off x="636264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" name="mechanism-edge-e2-label"/>
          <p:cNvSpPr/>
          <p:nvPr/>
        </p:nvSpPr>
        <p:spPr>
          <a:xfrm>
            <a:off x="6070680" y="321300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ready task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mechanism-edge-e3-segment-1"/>
          <p:cNvSpPr/>
          <p:nvPr/>
        </p:nvSpPr>
        <p:spPr>
          <a:xfrm>
            <a:off x="8915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" name="mechanism-edge-e3-label"/>
          <p:cNvSpPr/>
          <p:nvPr/>
        </p:nvSpPr>
        <p:spPr>
          <a:xfrm>
            <a:off x="8623440" y="321300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ECD assignment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mechanism-node-mu"/>
          <p:cNvSpPr/>
          <p:nvPr/>
        </p:nvSpPr>
        <p:spPr>
          <a:xfrm>
            <a:off x="1739880" y="3454560"/>
            <a:ext cx="2069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mobile user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mechanism-node-mu-queue-1"/>
          <p:cNvSpPr/>
          <p:nvPr/>
        </p:nvSpPr>
        <p:spPr>
          <a:xfrm>
            <a:off x="1739880" y="370836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application DAG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mechanism-node-mu-queue-2"/>
          <p:cNvSpPr/>
          <p:nvPr/>
        </p:nvSpPr>
        <p:spPr>
          <a:xfrm>
            <a:off x="1739880" y="389880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request and result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mechanism-node-cover"/>
          <p:cNvSpPr/>
          <p:nvPr/>
        </p:nvSpPr>
        <p:spPr>
          <a:xfrm>
            <a:off x="429264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covering ECD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cellular request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extract ready task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mechanism-node-ctrl"/>
          <p:cNvSpPr/>
          <p:nvPr/>
        </p:nvSpPr>
        <p:spPr>
          <a:xfrm>
            <a:off x="684540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decision controller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observe status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DQN agent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mechanism-node-ecd"/>
          <p:cNvSpPr/>
          <p:nvPr/>
        </p:nvSpPr>
        <p:spPr>
          <a:xfrm>
            <a:off x="9398160" y="3454560"/>
            <a:ext cx="2069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target ECD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mechanism-node-ecd-queue-1"/>
          <p:cNvSpPr/>
          <p:nvPr/>
        </p:nvSpPr>
        <p:spPr>
          <a:xfrm>
            <a:off x="9398160" y="370836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one PE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mechanism-node-ecd-queue-2"/>
          <p:cNvSpPr/>
          <p:nvPr/>
        </p:nvSpPr>
        <p:spPr>
          <a:xfrm>
            <a:off x="9398160" y="389880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FCFS queue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17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3" name="Text 18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논문의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agent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decentralized vehicle agent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아니라 중앙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controller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19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5" name="Text 20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arxiv-v4 p. 3, Fig. 1 and §3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21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DAG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source·real task·sink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MU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fictitious ECD 0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으로 두고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dummy source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sink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추가한다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mechanism-lane-dag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one application DAG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mechanism-edge-d1-segment-1"/>
          <p:cNvSpPr/>
          <p:nvPr/>
        </p:nvSpPr>
        <p:spPr>
          <a:xfrm>
            <a:off x="3299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1" name="mechanism-edge-d2-segment-1"/>
          <p:cNvSpPr/>
          <p:nvPr/>
        </p:nvSpPr>
        <p:spPr>
          <a:xfrm>
            <a:off x="534132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2" name="mechanism-edge-d3-segment-1"/>
          <p:cNvSpPr/>
          <p:nvPr/>
        </p:nvSpPr>
        <p:spPr>
          <a:xfrm>
            <a:off x="738360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3" name="mechanism-edge-d4-segment-1"/>
          <p:cNvSpPr/>
          <p:nvPr/>
        </p:nvSpPr>
        <p:spPr>
          <a:xfrm>
            <a:off x="9425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4" name="mechanism-node-src"/>
          <p:cNvSpPr/>
          <p:nvPr/>
        </p:nvSpPr>
        <p:spPr>
          <a:xfrm>
            <a:off x="17398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dummy source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v_n0 at MU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workload 0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mechanism-node-task-a"/>
          <p:cNvSpPr/>
          <p:nvPr/>
        </p:nvSpPr>
        <p:spPr>
          <a:xfrm>
            <a:off x="37821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real task A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workload rho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choose one ECD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mechanism-node-data"/>
          <p:cNvSpPr/>
          <p:nvPr/>
        </p:nvSpPr>
        <p:spPr>
          <a:xfrm>
            <a:off x="5824080" y="3454560"/>
            <a:ext cx="1559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edge data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mechanism-node-data-queue-1"/>
          <p:cNvSpPr/>
          <p:nvPr/>
        </p:nvSpPr>
        <p:spPr>
          <a:xfrm>
            <a:off x="5824080" y="370836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e_nij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mechanism-node-data-queue-2"/>
          <p:cNvSpPr/>
          <p:nvPr/>
        </p:nvSpPr>
        <p:spPr>
          <a:xfrm>
            <a:off x="5824080" y="389880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parent output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mechanism-node-task-b"/>
          <p:cNvSpPr/>
          <p:nvPr/>
        </p:nvSpPr>
        <p:spPr>
          <a:xfrm>
            <a:off x="78663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real task B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execute after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parent data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mechanism-node-sink"/>
          <p:cNvSpPr/>
          <p:nvPr/>
        </p:nvSpPr>
        <p:spPr>
          <a:xfrm>
            <a:off x="990864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dummy sink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v_nI at MU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workload 0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14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2" name="Text 15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real task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실행 선택지가 없고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정확히 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real ECD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배치된다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1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4" name="Text 1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arxiv-v4 pp. 3–5, Fig. 3 and Eqs. 1–4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1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완료 시간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입력 도착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큐 준비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실행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7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065320"/>
                <a:gridCol w="3913560"/>
                <a:gridCol w="48920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요소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언제 생기는가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 모델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데이터 전송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부모와 다른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ECD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배치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부모 완료 뒤 링크 전송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큐 대기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목적지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ECD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바쁨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ECD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준비 시각까지 대기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입력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·ECD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모두 준비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작업량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/ ECD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처리 능력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ECD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부모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자식이 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ECD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작업 사이 전송 지연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8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9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child completion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가장 늦은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parent data arrival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 queue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함께 기다린다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1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arxiv-v4 pp. 4–6, Eqs. 5–13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목표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application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평균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makespan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최소화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makespan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요청 시각 뒤 모든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끝날 때까지의 길이다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6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7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8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9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0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1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2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3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4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5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6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each real task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one-hot ECD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배치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dependency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부모 데이터 도착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target ECD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ECD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준비 시각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completion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max(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시각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) +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application makespan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최종 완료 − 요청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7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arxiv-v4 pp. 5–6, Eqs. 1–4 and 14–16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SATA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arrival·completion event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움직인다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1"/>
          <p:cNvSpPr/>
          <p:nvPr/>
        </p:nvSpPr>
        <p:spPr>
          <a:xfrm>
            <a:off x="660240" y="170172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2"/>
          <p:cNvSpPr/>
          <p:nvPr/>
        </p:nvSpPr>
        <p:spPr>
          <a:xfrm>
            <a:off x="1397160" y="170172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이벤트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3"/>
          <p:cNvSpPr/>
          <p:nvPr/>
        </p:nvSpPr>
        <p:spPr>
          <a:xfrm>
            <a:off x="4152960" y="170172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입력 도착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/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작업 완료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Shape 4"/>
          <p:cNvSpPr/>
          <p:nvPr/>
        </p:nvSpPr>
        <p:spPr>
          <a:xfrm>
            <a:off x="1396800" y="2286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4" name="Shape 5"/>
          <p:cNvSpPr/>
          <p:nvPr/>
        </p:nvSpPr>
        <p:spPr>
          <a:xfrm>
            <a:off x="851040" y="2298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5" name="Text 6"/>
          <p:cNvSpPr/>
          <p:nvPr/>
        </p:nvSpPr>
        <p:spPr>
          <a:xfrm>
            <a:off x="660240" y="247644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7"/>
          <p:cNvSpPr/>
          <p:nvPr/>
        </p:nvSpPr>
        <p:spPr>
          <a:xfrm>
            <a:off x="1397160" y="247644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도착 시 목록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8"/>
          <p:cNvSpPr/>
          <p:nvPr/>
        </p:nvSpPr>
        <p:spPr>
          <a:xfrm>
            <a:off x="4152960" y="247644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F_lct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오름차순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9"/>
          <p:cNvSpPr/>
          <p:nvPr/>
        </p:nvSpPr>
        <p:spPr>
          <a:xfrm>
            <a:off x="1396800" y="30603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9" name="Shape 10"/>
          <p:cNvSpPr/>
          <p:nvPr/>
        </p:nvSpPr>
        <p:spPr>
          <a:xfrm>
            <a:off x="851040" y="30733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0" name="Text 11"/>
          <p:cNvSpPr/>
          <p:nvPr/>
        </p:nvSpPr>
        <p:spPr>
          <a:xfrm>
            <a:off x="660240" y="325116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2"/>
          <p:cNvSpPr/>
          <p:nvPr/>
        </p:nvSpPr>
        <p:spPr>
          <a:xfrm>
            <a:off x="1397160" y="325116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준비 항목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13"/>
          <p:cNvSpPr/>
          <p:nvPr/>
        </p:nvSpPr>
        <p:spPr>
          <a:xfrm>
            <a:off x="4152960" y="325116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목록 맨 앞 검사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14"/>
          <p:cNvSpPr/>
          <p:nvPr/>
        </p:nvSpPr>
        <p:spPr>
          <a:xfrm>
            <a:off x="1396800" y="3835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4" name="Shape 15"/>
          <p:cNvSpPr/>
          <p:nvPr/>
        </p:nvSpPr>
        <p:spPr>
          <a:xfrm>
            <a:off x="851040" y="384804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5" name="Text 16"/>
          <p:cNvSpPr/>
          <p:nvPr/>
        </p:nvSpPr>
        <p:spPr>
          <a:xfrm>
            <a:off x="660240" y="402588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17"/>
          <p:cNvSpPr/>
          <p:nvPr/>
        </p:nvSpPr>
        <p:spPr>
          <a:xfrm>
            <a:off x="1397160" y="402588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다음 작업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8"/>
          <p:cNvSpPr/>
          <p:nvPr/>
        </p:nvSpPr>
        <p:spPr>
          <a:xfrm>
            <a:off x="4152960" y="402588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Q_r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하나 선택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19"/>
          <p:cNvSpPr/>
          <p:nvPr/>
        </p:nvSpPr>
        <p:spPr>
          <a:xfrm>
            <a:off x="1396800" y="4609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9" name="Shape 20"/>
          <p:cNvSpPr/>
          <p:nvPr/>
        </p:nvSpPr>
        <p:spPr>
          <a:xfrm>
            <a:off x="851040" y="4622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0" name="Text 21"/>
          <p:cNvSpPr/>
          <p:nvPr/>
        </p:nvSpPr>
        <p:spPr>
          <a:xfrm>
            <a:off x="660240" y="480060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22"/>
          <p:cNvSpPr/>
          <p:nvPr/>
        </p:nvSpPr>
        <p:spPr>
          <a:xfrm>
            <a:off x="1397160" y="480060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ECD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배치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23"/>
          <p:cNvSpPr/>
          <p:nvPr/>
        </p:nvSpPr>
        <p:spPr>
          <a:xfrm>
            <a:off x="4152960" y="480060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DQN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목적지 결정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Shape 24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4" name="Shape 25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5" name="Text 26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DQN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임의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DAG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전체를 한 번에 배치하지 않고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ready task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하나씩 결정한다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27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7" name="Text 28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arxiv-v4 pp. 6–7, Eq. 17; p. 9, Algorithm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29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F_lct: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기한에서 거꾸로 계산한 우선순위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A→B, A→C; deadline=20. (B,C)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반환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=(2,1),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실행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=(3,4), A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로부터 전송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=(1,2)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065320"/>
                <a:gridCol w="4892040"/>
                <a:gridCol w="39135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Eq. 17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계산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F_lct(B)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20−2 = 18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최종 반환 전에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종료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F_lct(C)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20−1 = 19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최종 반환 전에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종료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F_lct(A)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min(18−3−1, 19−4−2) = 13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자식 중 더 빠른 요구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ready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순서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모두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ready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B→C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F_lct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부터 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F_lct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보장된 실제 완료 시각이 아니라 빠른 자원 기준으로 추정한 기한이다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arxiv-v4 p. 6, Eq. 17; constructed example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배치를 결정하는 시점과 실행 시작은 다르다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8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391480"/>
                <a:gridCol w="467460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원문에 있는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설명 범위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p. 6 ready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부모의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scheduling plan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배치 순서의 조건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p. 7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보상 설명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ready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부모가 완료됨을 가정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본문 표현 차이 존재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Algorithm 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목록의 맨 앞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ready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 수집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정점 동시 탐색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실제 실행 시작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max(ECD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준비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입력 도착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Eq. 12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정하는 시각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9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0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ready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곧바로 데이터 도착 완료 또는 실행 시작이라고 부르지 않는다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2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arxiv-v4 pp. 5–7, Eqs. 12–13; p. 9, Algorithm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MDP state: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다섯 종류의 지연 관련 관측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55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717640"/>
                <a:gridCol w="4131000"/>
                <a:gridCol w="4022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 component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무엇을 요약하는가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결정에 필요한 이유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inter-ECD rate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ECD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간 전송률의 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parent output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이동 시간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MU link rate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MU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covering ECD link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application input·result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경로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ECD capability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ECD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처리 능력의 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execution time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ready workload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Q_r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총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workload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곧 배치할 작업량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 큐 작업량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ECD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큐 작업량 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FCFS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대기 시간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6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7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DAG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모양 전체가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link·capacity·queue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집계 관측이다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9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arxiv-v4 p. 7, §5.2 State Space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합계가 같아도 어느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ECD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빠른지는 다를 수 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교육용 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ECD,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빈 큐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전송 영향 없음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작업량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6000 MI;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다른 관측은 동일하게 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521720"/>
                <a:gridCol w="3261240"/>
                <a:gridCol w="2391480"/>
                <a:gridCol w="3696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ECD 1 / ECD 2 MIPS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관측된 합계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실행 시간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6000 / 4000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10000 MIPS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ECD 1: 1 s, ECD 2: 1.5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4000 / 6000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10000 MIPS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ECD 1: 1.5 s, ECD 2: 1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차이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빠른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ECD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바뀜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합계 관측은 같음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유리한 선택은 바뀜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집계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만으로 모든 개별 자원 상태를 구분한다고 보장할 수 없다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arxiv-v4 p. 7, §5.2 State Space; constructed example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현재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ready task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ECD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배치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one-hot binary action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target ECD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하나를 뜻한다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mechanism-lane-action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one ready task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mechanism-edge-a1-segment-1"/>
          <p:cNvSpPr/>
          <p:nvPr/>
        </p:nvSpPr>
        <p:spPr>
          <a:xfrm>
            <a:off x="3809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3" name="mechanism-edge-a2-segment-1"/>
          <p:cNvSpPr/>
          <p:nvPr/>
        </p:nvSpPr>
        <p:spPr>
          <a:xfrm>
            <a:off x="636264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4" name="mechanism-edge-a2-label"/>
          <p:cNvSpPr/>
          <p:nvPr/>
        </p:nvSpPr>
        <p:spPr>
          <a:xfrm>
            <a:off x="6070680" y="321300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select one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mechanism-edge-a3-segment-1"/>
          <p:cNvSpPr/>
          <p:nvPr/>
        </p:nvSpPr>
        <p:spPr>
          <a:xfrm>
            <a:off x="8915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6" name="mechanism-node-ready"/>
          <p:cNvSpPr/>
          <p:nvPr/>
        </p:nvSpPr>
        <p:spPr>
          <a:xfrm>
            <a:off x="1739880" y="3454560"/>
            <a:ext cx="2069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ready task v_ni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mechanism-node-ready-queue-1"/>
          <p:cNvSpPr/>
          <p:nvPr/>
        </p:nvSpPr>
        <p:spPr>
          <a:xfrm>
            <a:off x="1739880" y="370836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의존성 검사 통과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mechanism-node-ready-queue-2"/>
          <p:cNvSpPr/>
          <p:nvPr/>
        </p:nvSpPr>
        <p:spPr>
          <a:xfrm>
            <a:off x="1739880" y="389880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workload ρ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mechanism-node-act"/>
          <p:cNvSpPr/>
          <p:nvPr/>
        </p:nvSpPr>
        <p:spPr>
          <a:xfrm>
            <a:off x="429264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action a_tau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binary vector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one selected entry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mechanism-node-target"/>
          <p:cNvSpPr/>
          <p:nvPr/>
        </p:nvSpPr>
        <p:spPr>
          <a:xfrm>
            <a:off x="684540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target ECD m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x_ni^m=1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other entries 0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mechanism-node-queue"/>
          <p:cNvSpPr/>
          <p:nvPr/>
        </p:nvSpPr>
        <p:spPr>
          <a:xfrm>
            <a:off x="9398160" y="3454560"/>
            <a:ext cx="2069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FCFS queue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mechanism-node-queue-queue-1"/>
          <p:cNvSpPr/>
          <p:nvPr/>
        </p:nvSpPr>
        <p:spPr>
          <a:xfrm>
            <a:off x="9398160" y="370836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wait Q(x_ni)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mechanism-node-queue-queue-2"/>
          <p:cNvSpPr/>
          <p:nvPr/>
        </p:nvSpPr>
        <p:spPr>
          <a:xfrm>
            <a:off x="9398160" y="389880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then execute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15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5" name="Text 16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CPU allocation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bandwidth allocation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task-to-ECD assignment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17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7" name="Text 18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arxiv-v4 pp. 5, 7, Eqs. 1–4 and §5.2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19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reward = utility - duration - penalty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90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1304280"/>
                <a:gridCol w="5870160"/>
                <a:gridCol w="3696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정의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직관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β log2(ρ)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작업량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utility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ψ(maxA + Q + E)/ρ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합으로 만든 지연 비용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η(F − F_lct)/ρ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일찍 끝나면 음수 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 − D − 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보상 정의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1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2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reward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makespan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하나가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workload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보정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utility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두 종류의 지연 비용을 결합한다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4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arxiv-v4 p. 7, Eqs. 18–20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교육용 계산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완료 시간과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shaped reward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구분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가상 값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ρ=100, maxA=2, Q=3, E=1, F_lct=5;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원문 가중치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β=.6, ψ=5, η=40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9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5217840"/>
                <a:gridCol w="30438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대입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실제 완료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max(3,2)+1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utility U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.6 log2(100)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3.9863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duration 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5(2+3+1)/100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0.30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penalty P / reward 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40(4−5)/100; U−.30−P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−0.40 /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4.0863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기한 추정보다 빠르면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P&lt;0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;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보상식의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F/ρ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다르다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arxiv-v4 pp. 5–7, Eqs. 12,18–20; p. 11; constructed example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training action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epsilon-greedy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고른다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1"/>
          <p:cNvSpPr/>
          <p:nvPr/>
        </p:nvSpPr>
        <p:spPr>
          <a:xfrm>
            <a:off x="6095880" y="2323800"/>
            <a:ext cx="360" cy="19080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6" name="Shape 2"/>
          <p:cNvSpPr/>
          <p:nvPr/>
        </p:nvSpPr>
        <p:spPr>
          <a:xfrm>
            <a:off x="3301920" y="251460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7" name="Shape 3"/>
          <p:cNvSpPr/>
          <p:nvPr/>
        </p:nvSpPr>
        <p:spPr>
          <a:xfrm>
            <a:off x="3301920" y="2514600"/>
            <a:ext cx="360" cy="3553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8" name="Shape 4"/>
          <p:cNvSpPr/>
          <p:nvPr/>
        </p:nvSpPr>
        <p:spPr>
          <a:xfrm>
            <a:off x="8889840" y="2514600"/>
            <a:ext cx="360" cy="3553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9" name="Shape 5"/>
          <p:cNvSpPr/>
          <p:nvPr/>
        </p:nvSpPr>
        <p:spPr>
          <a:xfrm>
            <a:off x="3301920" y="358128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0" name="Shape 6"/>
          <p:cNvSpPr/>
          <p:nvPr/>
        </p:nvSpPr>
        <p:spPr>
          <a:xfrm>
            <a:off x="3301920" y="383508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1" name="Shape 7"/>
          <p:cNvSpPr/>
          <p:nvPr/>
        </p:nvSpPr>
        <p:spPr>
          <a:xfrm>
            <a:off x="8889840" y="358128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2" name="Shape 8"/>
          <p:cNvSpPr/>
          <p:nvPr/>
        </p:nvSpPr>
        <p:spPr>
          <a:xfrm>
            <a:off x="6730920" y="383508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3" name="Shape 9"/>
          <p:cNvSpPr/>
          <p:nvPr/>
        </p:nvSpPr>
        <p:spPr>
          <a:xfrm>
            <a:off x="5460840" y="383508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4" name="Shape 10"/>
          <p:cNvSpPr/>
          <p:nvPr/>
        </p:nvSpPr>
        <p:spPr>
          <a:xfrm>
            <a:off x="6730920" y="383508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5" name="Shape 11"/>
          <p:cNvSpPr/>
          <p:nvPr/>
        </p:nvSpPr>
        <p:spPr>
          <a:xfrm>
            <a:off x="6095880" y="480060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6" name="Text 12"/>
          <p:cNvSpPr/>
          <p:nvPr/>
        </p:nvSpPr>
        <p:spPr>
          <a:xfrm>
            <a:off x="4191120" y="17272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 s_tau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13"/>
          <p:cNvSpPr/>
          <p:nvPr/>
        </p:nvSpPr>
        <p:spPr>
          <a:xfrm>
            <a:off x="4191120" y="200664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link·capacity·queue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14"/>
          <p:cNvSpPr/>
          <p:nvPr/>
        </p:nvSpPr>
        <p:spPr>
          <a:xfrm>
            <a:off x="1270080" y="297180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탐색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15"/>
          <p:cNvSpPr/>
          <p:nvPr/>
        </p:nvSpPr>
        <p:spPr>
          <a:xfrm>
            <a:off x="1270080" y="325116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확률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ε: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무작위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ECD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16"/>
          <p:cNvSpPr/>
          <p:nvPr/>
        </p:nvSpPr>
        <p:spPr>
          <a:xfrm>
            <a:off x="6858000" y="297180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활용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17"/>
          <p:cNvSpPr/>
          <p:nvPr/>
        </p:nvSpPr>
        <p:spPr>
          <a:xfrm>
            <a:off x="6858000" y="325116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확률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1−ε: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최대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18"/>
          <p:cNvSpPr/>
          <p:nvPr/>
        </p:nvSpPr>
        <p:spPr>
          <a:xfrm>
            <a:off x="4191120" y="419112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execute action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19"/>
          <p:cNvSpPr/>
          <p:nvPr/>
        </p:nvSpPr>
        <p:spPr>
          <a:xfrm>
            <a:off x="4191120" y="447048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현재 작업을 배치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20"/>
          <p:cNvSpPr/>
          <p:nvPr/>
        </p:nvSpPr>
        <p:spPr>
          <a:xfrm>
            <a:off x="4191120" y="52322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transition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21"/>
          <p:cNvSpPr/>
          <p:nvPr/>
        </p:nvSpPr>
        <p:spPr>
          <a:xfrm>
            <a:off x="4191120" y="55119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다음 상태와 보상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2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7" name="Text 2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arxiv-v4 p. 8, Eq. 24 and §6.1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2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DQN training: replay, target, loss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Q_tar = r + γ max_a Q_target(s′,a);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학습하는 값은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Q_current(s,a)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mechanism-lane-loop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one training update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mechanism-edge-l1-segment-1"/>
          <p:cNvSpPr/>
          <p:nvPr/>
        </p:nvSpPr>
        <p:spPr>
          <a:xfrm>
            <a:off x="3809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3" name="mechanism-edge-l2-segment-1"/>
          <p:cNvSpPr/>
          <p:nvPr/>
        </p:nvSpPr>
        <p:spPr>
          <a:xfrm>
            <a:off x="636264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4" name="mechanism-edge-l3-segment-1"/>
          <p:cNvSpPr/>
          <p:nvPr/>
        </p:nvSpPr>
        <p:spPr>
          <a:xfrm>
            <a:off x="8915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5" name="mechanism-node-trans"/>
          <p:cNvSpPr/>
          <p:nvPr/>
        </p:nvSpPr>
        <p:spPr>
          <a:xfrm>
            <a:off x="1739880" y="3454560"/>
            <a:ext cx="2069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transition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mechanism-node-trans-queue-1"/>
          <p:cNvSpPr/>
          <p:nvPr/>
        </p:nvSpPr>
        <p:spPr>
          <a:xfrm>
            <a:off x="1739880" y="370836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s_t, a_t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mechanism-node-trans-queue-2"/>
          <p:cNvSpPr/>
          <p:nvPr/>
        </p:nvSpPr>
        <p:spPr>
          <a:xfrm>
            <a:off x="1739880" y="389880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r_t+1, s_t+1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mechanism-node-pool"/>
          <p:cNvSpPr/>
          <p:nvPr/>
        </p:nvSpPr>
        <p:spPr>
          <a:xfrm>
            <a:off x="4292640" y="3454560"/>
            <a:ext cx="2069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replay pool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mechanism-node-pool-queue-1"/>
          <p:cNvSpPr/>
          <p:nvPr/>
        </p:nvSpPr>
        <p:spPr>
          <a:xfrm>
            <a:off x="4292640" y="370836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store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mechanism-node-pool-queue-2"/>
          <p:cNvSpPr/>
          <p:nvPr/>
        </p:nvSpPr>
        <p:spPr>
          <a:xfrm>
            <a:off x="4292640" y="389880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batch sample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mechanism-node-qpair"/>
          <p:cNvSpPr/>
          <p:nvPr/>
        </p:nvSpPr>
        <p:spPr>
          <a:xfrm>
            <a:off x="684540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two Q values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prediction: Q_cur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target: Q_tar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mechanism-node-loss"/>
          <p:cNvSpPr/>
          <p:nvPr/>
        </p:nvSpPr>
        <p:spPr>
          <a:xfrm>
            <a:off x="939816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squared loss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(Q_tar−Q_cur)²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update θ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Shape 14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4" name="Text 15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prediction network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current Q, target network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bootstrap target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제공한다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1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6" name="Text 1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arxiv-v4 pp. 7–9, Eqs. 22–23; Algorithm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1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 network: 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회 반복 뒤 파라미터 복사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1"/>
          <p:cNvSpPr/>
          <p:nvPr/>
        </p:nvSpPr>
        <p:spPr>
          <a:xfrm>
            <a:off x="838080" y="1739880"/>
            <a:ext cx="1069308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prediction network θ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minibatch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손실을 줄이는 방향으로 갱신한다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Shape 2"/>
          <p:cNvSpPr/>
          <p:nvPr/>
        </p:nvSpPr>
        <p:spPr>
          <a:xfrm>
            <a:off x="838080" y="27432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1" name="Text 3"/>
          <p:cNvSpPr/>
          <p:nvPr/>
        </p:nvSpPr>
        <p:spPr>
          <a:xfrm>
            <a:off x="838080" y="2781360"/>
            <a:ext cx="1069308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Algorithm 2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θ−←θ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k=1…K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반복문 바깥에 있다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Shape 4"/>
          <p:cNvSpPr/>
          <p:nvPr/>
        </p:nvSpPr>
        <p:spPr>
          <a:xfrm>
            <a:off x="838080" y="37843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3" name="Text 5"/>
          <p:cNvSpPr/>
          <p:nvPr/>
        </p:nvSpPr>
        <p:spPr>
          <a:xfrm>
            <a:off x="838080" y="3822840"/>
            <a:ext cx="1069308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Fig. 4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본문도 동기화 조건을 만족할 때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복사한다고 설명한다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Shape 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5" name="Text 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회 처리 블록과 복사를 구분한다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;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매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scheduling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단계 복사라고 읽지 않는다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Shape 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7" name="Text 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arxiv-v4 pp. 8–9, §5.3 and Algorithm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1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Algorithm 1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실제 연결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1"/>
          <p:cNvSpPr/>
          <p:nvPr/>
        </p:nvSpPr>
        <p:spPr>
          <a:xfrm>
            <a:off x="660240" y="170172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2"/>
          <p:cNvSpPr/>
          <p:nvPr/>
        </p:nvSpPr>
        <p:spPr>
          <a:xfrm>
            <a:off x="1397160" y="170172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SATA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이벤트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3"/>
          <p:cNvSpPr/>
          <p:nvPr/>
        </p:nvSpPr>
        <p:spPr>
          <a:xfrm>
            <a:off x="4152960" y="170172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ready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항목 수집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Shape 4"/>
          <p:cNvSpPr/>
          <p:nvPr/>
        </p:nvSpPr>
        <p:spPr>
          <a:xfrm>
            <a:off x="1396800" y="2286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4" name="Shape 5"/>
          <p:cNvSpPr/>
          <p:nvPr/>
        </p:nvSpPr>
        <p:spPr>
          <a:xfrm>
            <a:off x="851040" y="2298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5" name="Text 6"/>
          <p:cNvSpPr/>
          <p:nvPr/>
        </p:nvSpPr>
        <p:spPr>
          <a:xfrm>
            <a:off x="660240" y="247644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7"/>
          <p:cNvSpPr/>
          <p:nvPr/>
        </p:nvSpPr>
        <p:spPr>
          <a:xfrm>
            <a:off x="1397160" y="247644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상태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보상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8"/>
          <p:cNvSpPr/>
          <p:nvPr/>
        </p:nvSpPr>
        <p:spPr>
          <a:xfrm>
            <a:off x="4152960" y="247644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이전 배치 결과 관측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Shape 9"/>
          <p:cNvSpPr/>
          <p:nvPr/>
        </p:nvSpPr>
        <p:spPr>
          <a:xfrm>
            <a:off x="1396800" y="30603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9" name="Shape 10"/>
          <p:cNvSpPr/>
          <p:nvPr/>
        </p:nvSpPr>
        <p:spPr>
          <a:xfrm>
            <a:off x="851040" y="30733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0" name="Text 11"/>
          <p:cNvSpPr/>
          <p:nvPr/>
        </p:nvSpPr>
        <p:spPr>
          <a:xfrm>
            <a:off x="660240" y="325116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12"/>
          <p:cNvSpPr/>
          <p:nvPr/>
        </p:nvSpPr>
        <p:spPr>
          <a:xfrm>
            <a:off x="1397160" y="325116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DRL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결정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13"/>
          <p:cNvSpPr/>
          <p:nvPr/>
        </p:nvSpPr>
        <p:spPr>
          <a:xfrm>
            <a:off x="4152960" y="325116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ε-greedy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ECD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Shape 14"/>
          <p:cNvSpPr/>
          <p:nvPr/>
        </p:nvSpPr>
        <p:spPr>
          <a:xfrm>
            <a:off x="1396800" y="3835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4" name="Shape 15"/>
          <p:cNvSpPr/>
          <p:nvPr/>
        </p:nvSpPr>
        <p:spPr>
          <a:xfrm>
            <a:off x="851040" y="384804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5" name="Text 16"/>
          <p:cNvSpPr/>
          <p:nvPr/>
        </p:nvSpPr>
        <p:spPr>
          <a:xfrm>
            <a:off x="660240" y="402588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17"/>
          <p:cNvSpPr/>
          <p:nvPr/>
        </p:nvSpPr>
        <p:spPr>
          <a:xfrm>
            <a:off x="1397160" y="402588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현재 배치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18"/>
          <p:cNvSpPr/>
          <p:nvPr/>
        </p:nvSpPr>
        <p:spPr>
          <a:xfrm>
            <a:off x="4152960" y="402588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ECD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할당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Shape 19"/>
          <p:cNvSpPr/>
          <p:nvPr/>
        </p:nvSpPr>
        <p:spPr>
          <a:xfrm>
            <a:off x="1396800" y="4609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9" name="Shape 20"/>
          <p:cNvSpPr/>
          <p:nvPr/>
        </p:nvSpPr>
        <p:spPr>
          <a:xfrm>
            <a:off x="851040" y="4622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0" name="Text 21"/>
          <p:cNvSpPr/>
          <p:nvPr/>
        </p:nvSpPr>
        <p:spPr>
          <a:xfrm>
            <a:off x="660240" y="480060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22"/>
          <p:cNvSpPr/>
          <p:nvPr/>
        </p:nvSpPr>
        <p:spPr>
          <a:xfrm>
            <a:off x="1397160" y="480060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학습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23"/>
          <p:cNvSpPr/>
          <p:nvPr/>
        </p:nvSpPr>
        <p:spPr>
          <a:xfrm>
            <a:off x="4152960" y="480060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이전 전이 저장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·SGD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Shape 24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4" name="Shape 25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5" name="Text 26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SATA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scheduler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순서를 만들고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DQN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각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ready task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ECD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선택을 학습한다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Shape 27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7" name="Text 28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arxiv-v4 p. 9, Algorithms 1–2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29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학습 뒤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SATA-Work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결정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1"/>
          <p:cNvSpPr/>
          <p:nvPr/>
        </p:nvSpPr>
        <p:spPr>
          <a:xfrm>
            <a:off x="660240" y="170172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2"/>
          <p:cNvSpPr/>
          <p:nvPr/>
        </p:nvSpPr>
        <p:spPr>
          <a:xfrm>
            <a:off x="1397160" y="170172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학습 반복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3"/>
          <p:cNvSpPr/>
          <p:nvPr/>
        </p:nvSpPr>
        <p:spPr>
          <a:xfrm>
            <a:off x="4152960" y="170172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여러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episode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경험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Shape 4"/>
          <p:cNvSpPr/>
          <p:nvPr/>
        </p:nvSpPr>
        <p:spPr>
          <a:xfrm>
            <a:off x="1396800" y="2286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4" name="Shape 5"/>
          <p:cNvSpPr/>
          <p:nvPr/>
        </p:nvSpPr>
        <p:spPr>
          <a:xfrm>
            <a:off x="851040" y="2298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5" name="Text 6"/>
          <p:cNvSpPr/>
          <p:nvPr/>
        </p:nvSpPr>
        <p:spPr>
          <a:xfrm>
            <a:off x="660240" y="247644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7"/>
          <p:cNvSpPr/>
          <p:nvPr/>
        </p:nvSpPr>
        <p:spPr>
          <a:xfrm>
            <a:off x="1397160" y="247644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학습된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θ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 8"/>
          <p:cNvSpPr/>
          <p:nvPr/>
        </p:nvSpPr>
        <p:spPr>
          <a:xfrm>
            <a:off x="4152960" y="247644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prediction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사용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Shape 9"/>
          <p:cNvSpPr/>
          <p:nvPr/>
        </p:nvSpPr>
        <p:spPr>
          <a:xfrm>
            <a:off x="1396800" y="30603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9" name="Shape 10"/>
          <p:cNvSpPr/>
          <p:nvPr/>
        </p:nvSpPr>
        <p:spPr>
          <a:xfrm>
            <a:off x="851040" y="30733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0" name="Text 11"/>
          <p:cNvSpPr/>
          <p:nvPr/>
        </p:nvSpPr>
        <p:spPr>
          <a:xfrm>
            <a:off x="660240" y="325116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12"/>
          <p:cNvSpPr/>
          <p:nvPr/>
        </p:nvSpPr>
        <p:spPr>
          <a:xfrm>
            <a:off x="1397160" y="325116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이벤트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13"/>
          <p:cNvSpPr/>
          <p:nvPr/>
        </p:nvSpPr>
        <p:spPr>
          <a:xfrm>
            <a:off x="4152960" y="325116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ready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항목 수집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Shape 14"/>
          <p:cNvSpPr/>
          <p:nvPr/>
        </p:nvSpPr>
        <p:spPr>
          <a:xfrm>
            <a:off x="1396800" y="3835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4" name="Shape 15"/>
          <p:cNvSpPr/>
          <p:nvPr/>
        </p:nvSpPr>
        <p:spPr>
          <a:xfrm>
            <a:off x="851040" y="384804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5" name="Text 16"/>
          <p:cNvSpPr/>
          <p:nvPr/>
        </p:nvSpPr>
        <p:spPr>
          <a:xfrm>
            <a:off x="660240" y="402588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17"/>
          <p:cNvSpPr/>
          <p:nvPr/>
        </p:nvSpPr>
        <p:spPr>
          <a:xfrm>
            <a:off x="1397160" y="402588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최대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18"/>
          <p:cNvSpPr/>
          <p:nvPr/>
        </p:nvSpPr>
        <p:spPr>
          <a:xfrm>
            <a:off x="4152960" y="402588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탐색 없는 선택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Shape 19"/>
          <p:cNvSpPr/>
          <p:nvPr/>
        </p:nvSpPr>
        <p:spPr>
          <a:xfrm>
            <a:off x="1396800" y="4609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9" name="Shape 20"/>
          <p:cNvSpPr/>
          <p:nvPr/>
        </p:nvSpPr>
        <p:spPr>
          <a:xfrm>
            <a:off x="851040" y="4622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0" name="Text 21"/>
          <p:cNvSpPr/>
          <p:nvPr/>
        </p:nvSpPr>
        <p:spPr>
          <a:xfrm>
            <a:off x="660240" y="480060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22"/>
          <p:cNvSpPr/>
          <p:nvPr/>
        </p:nvSpPr>
        <p:spPr>
          <a:xfrm>
            <a:off x="1397160" y="480060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작업 배치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23"/>
          <p:cNvSpPr/>
          <p:nvPr/>
        </p:nvSpPr>
        <p:spPr>
          <a:xfrm>
            <a:off x="4152960" y="480060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ECD queue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할당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Shape 24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4" name="Shape 25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5" name="Text 26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working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단계는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exploration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대신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prediction network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argmax action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Shape 27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7" name="Text 28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arxiv-v4 pp. 9–10, Algorithms 3–4 and §6.3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29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교육용 가상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trace: parent output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child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시작을 바꾼다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가상 값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: workload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instructions,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속도는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instructions/s;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대기 경쟁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초기 입력 전송은 제외한다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2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2717640"/>
                <a:gridCol w="2880720"/>
                <a:gridCol w="28807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A: ECD 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B: ECD 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B: ECD 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작업량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/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속도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1000 / 1000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1000 / 1000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1000 / 1000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완료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입력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200 bit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입력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200 bit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부모 전송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가정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: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초기 입력 도착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200 / 200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= 1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ECD: 0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완료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해당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max(0,2)+1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= 3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max(1,1)+1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= 2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가정에서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same-ECD placement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inter-ECD parent transfer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피한다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arxiv-v4 pp. 4–6, Eqs. 5, 10, 12–13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실험 조건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네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ECD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Montage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작업 그래프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28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391480"/>
                <a:gridCol w="3043800"/>
                <a:gridCol w="2500200"/>
                <a:gridCol w="29350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 설정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 설정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real ECD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ECD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마다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ECD capability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4000–6000 MIPS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inter-ECD rate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440 Mbps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MU covering link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1000 Mbps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workflow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Montage 25 nodes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deadline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r_n + 6 MS_n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capacity dynamics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stated Markov matrix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simulator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CloudSim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확장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evaluation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simulation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9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0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결과는 네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ECD,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정량화된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capacity, Montage workflow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라는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simulation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조건에 묶인다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2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arxiv-v4 p. 10, §7.1 and Fig. 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deadline metric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읽을 때의 조건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1"/>
          <p:cNvSpPr/>
          <p:nvPr/>
        </p:nvSpPr>
        <p:spPr>
          <a:xfrm>
            <a:off x="838080" y="1739880"/>
            <a:ext cx="1069308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reference makespan MS_n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계산한 뒤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deadline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r_n + 6 MS_n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둔다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Shape 2"/>
          <p:cNvSpPr/>
          <p:nvPr/>
        </p:nvSpPr>
        <p:spPr>
          <a:xfrm>
            <a:off x="838080" y="27432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7" name="Text 3"/>
          <p:cNvSpPr/>
          <p:nvPr/>
        </p:nvSpPr>
        <p:spPr>
          <a:xfrm>
            <a:off x="838080" y="2781360"/>
            <a:ext cx="1069308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MS_n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각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서로 다른 가상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ECD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5000 MIPS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배치하고 전송을 무시한 기준이다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4"/>
          <p:cNvSpPr/>
          <p:nvPr/>
        </p:nvSpPr>
        <p:spPr>
          <a:xfrm>
            <a:off x="838080" y="37843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9" name="Text 5"/>
          <p:cNvSpPr/>
          <p:nvPr/>
        </p:nvSpPr>
        <p:spPr>
          <a:xfrm>
            <a:off x="838080" y="3822840"/>
            <a:ext cx="1069308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deadline violation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deadline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넘긴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application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/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전체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application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Shape 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1" name="Text 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deadline violation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외부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SLA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아니라 논문이 만든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deadline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규칙의 결과다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Shape 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3" name="Text 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arxiv-v4 p. 11, §7.1 and §7.4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1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DQN agent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보고된 설정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46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608920"/>
                <a:gridCol w="2391480"/>
                <a:gridCol w="2608920"/>
                <a:gridCol w="32612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구성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값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구성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값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완전 연결층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뉴런 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128→64→32→16→5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optimizer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Adam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learning rate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0.0006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experience pool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200000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minibatch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β / ψ / η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0.6 / 5 / 40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할인율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γ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0.95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7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8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설정은 논문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simulation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재현 단서이며 다른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graph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최적값 보장은 아니다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0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arxiv-v4 p. 11, §7.2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재현할 때 원문만으로 확정하기 어려운 지점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53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174040"/>
                <a:gridCol w="456588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지점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보고된 내용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남는 질문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출력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/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행동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 ECD,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출력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a0…a4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real task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a0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금지 구현은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?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출력 범위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앞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층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linear,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마지막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softmax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Q-target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값 범위 처리는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?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5000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5000=(6000×4+1000)/6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우변은 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4166.67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 호출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회 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θ−←θ; episode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반복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호출 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buffer·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상태 지속은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?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4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5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모델 제약과 보고된 설정을 구분하고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미제공 구현은 추정으로 채우지 않는다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7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arxiv-v4 pp. 5,7–11; Eqs. 3,23; Algorithms 2–3; §7.2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cumulative reward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학습 곡선의 범위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1"/>
          <p:cNvSpPr/>
          <p:nvPr/>
        </p:nvSpPr>
        <p:spPr>
          <a:xfrm>
            <a:off x="838080" y="1739880"/>
            <a:ext cx="1069308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arrival rate lambda 5, 7, 9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episode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당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10 application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simulator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넣는다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Shape 2"/>
          <p:cNvSpPr/>
          <p:nvPr/>
        </p:nvSpPr>
        <p:spPr>
          <a:xfrm>
            <a:off x="838080" y="27432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2" name="Text 3"/>
          <p:cNvSpPr/>
          <p:nvPr/>
        </p:nvSpPr>
        <p:spPr>
          <a:xfrm>
            <a:off x="838080" y="2781360"/>
            <a:ext cx="1069308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Fig. 5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cumulative reward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episode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함께 증가하는 세 곡선을 보인다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Shape 4"/>
          <p:cNvSpPr/>
          <p:nvPr/>
        </p:nvSpPr>
        <p:spPr>
          <a:xfrm>
            <a:off x="838080" y="37843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4" name="Text 5"/>
          <p:cNvSpPr/>
          <p:nvPr/>
        </p:nvSpPr>
        <p:spPr>
          <a:xfrm>
            <a:off x="838080" y="3822840"/>
            <a:ext cx="1069308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본문은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Fig. 5(c)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600 episode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이후 상대적으로 안정적이라고 해석한다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Shape 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6" name="Text 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곡선은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arrival-rate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학습 관찰일 뿐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일반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convergence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증명은 아니다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Shape 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8" name="Text 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arxiv-v4 pp. 10–11, Fig. 5 and §7.3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1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optimization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비교의 대상과 측정값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71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608920"/>
                <a:gridCol w="4239720"/>
                <a:gridCol w="4022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논문에서의 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지표 공통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Zhang's PCP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휴리스틱 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makespan·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기한 위반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OnDoc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온라인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makespan·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기한 위반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DTO-CED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의존 작업 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makespan·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기한 위반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Dueling DQN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상태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행동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makespan·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기한 위반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SATA-DRL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제안 방법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makespan·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기한 위반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2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3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모든 방법은 같은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fetched application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30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회 처리한 평균으로 비교된다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5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arxiv-v4 p. 11, §7.4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Fig. 6–7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조건부 결과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78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1956600"/>
                <a:gridCol w="3913560"/>
                <a:gridCol w="50004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그림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실험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본문의 보고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작업 그래프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5–35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λ=5,7,9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SATA-DRL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makespan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simulation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PCP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부하 증가에 민감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작업 그래프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5–35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λ=5,7,9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SATA-DRL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위반율 더 낮음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6–7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Dueling DQN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설정에서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SATA-DRL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우세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9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0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plotted settings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SATA-DRL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makespan·deadline violation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낮다고 보고한다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2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arxiv-v4 pp. 11–12, Figs. 6–7 and §7.4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모델을 적용할 때 남는 경계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85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174040"/>
                <a:gridCol w="456588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모델에서의 처리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해석상 주의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control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central controller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status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수집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distributed robustness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미검증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compute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ECD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당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one PE, FCFS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parallel scheduler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다름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capacity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 quantized MIPS levels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continuous runtime dynamics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목표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/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makespan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최소화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/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기한 위반 측정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energy·cost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최적화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deadline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transfer-ignoring MS_n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구성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external SLA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일반화 불가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6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7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SATA-DRL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명시된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simulation MEC model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task-to-ECD scheduling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방법이다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9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arxiv-v4 pp. 3, 6, 10–11, §§3,4,7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SATA-DRL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전체 연결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1"/>
          <p:cNvSpPr/>
          <p:nvPr/>
        </p:nvSpPr>
        <p:spPr>
          <a:xfrm>
            <a:off x="660240" y="170172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2"/>
          <p:cNvSpPr/>
          <p:nvPr/>
        </p:nvSpPr>
        <p:spPr>
          <a:xfrm>
            <a:off x="1397160" y="170172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DAG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3"/>
          <p:cNvSpPr/>
          <p:nvPr/>
        </p:nvSpPr>
        <p:spPr>
          <a:xfrm>
            <a:off x="4152960" y="170172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부모 출력 의존성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Shape 4"/>
          <p:cNvSpPr/>
          <p:nvPr/>
        </p:nvSpPr>
        <p:spPr>
          <a:xfrm>
            <a:off x="1396800" y="2286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6" name="Shape 5"/>
          <p:cNvSpPr/>
          <p:nvPr/>
        </p:nvSpPr>
        <p:spPr>
          <a:xfrm>
            <a:off x="851040" y="2298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7" name="Text 6"/>
          <p:cNvSpPr/>
          <p:nvPr/>
        </p:nvSpPr>
        <p:spPr>
          <a:xfrm>
            <a:off x="660240" y="247644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 7"/>
          <p:cNvSpPr/>
          <p:nvPr/>
        </p:nvSpPr>
        <p:spPr>
          <a:xfrm>
            <a:off x="1397160" y="247644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SATA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8"/>
          <p:cNvSpPr/>
          <p:nvPr/>
        </p:nvSpPr>
        <p:spPr>
          <a:xfrm>
            <a:off x="4152960" y="247644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이벤트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우선순위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Shape 9"/>
          <p:cNvSpPr/>
          <p:nvPr/>
        </p:nvSpPr>
        <p:spPr>
          <a:xfrm>
            <a:off x="1396800" y="30603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1" name="Shape 10"/>
          <p:cNvSpPr/>
          <p:nvPr/>
        </p:nvSpPr>
        <p:spPr>
          <a:xfrm>
            <a:off x="851040" y="30733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2" name="Text 11"/>
          <p:cNvSpPr/>
          <p:nvPr/>
        </p:nvSpPr>
        <p:spPr>
          <a:xfrm>
            <a:off x="660240" y="325116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 12"/>
          <p:cNvSpPr/>
          <p:nvPr/>
        </p:nvSpPr>
        <p:spPr>
          <a:xfrm>
            <a:off x="1397160" y="325116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MDP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 13"/>
          <p:cNvSpPr/>
          <p:nvPr/>
        </p:nvSpPr>
        <p:spPr>
          <a:xfrm>
            <a:off x="4152960" y="325116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집계 상태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·ECD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Shape 14"/>
          <p:cNvSpPr/>
          <p:nvPr/>
        </p:nvSpPr>
        <p:spPr>
          <a:xfrm>
            <a:off x="1396800" y="3835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6" name="Shape 15"/>
          <p:cNvSpPr/>
          <p:nvPr/>
        </p:nvSpPr>
        <p:spPr>
          <a:xfrm>
            <a:off x="851040" y="384804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7" name="Text 16"/>
          <p:cNvSpPr/>
          <p:nvPr/>
        </p:nvSpPr>
        <p:spPr>
          <a:xfrm>
            <a:off x="660240" y="402588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Text 17"/>
          <p:cNvSpPr/>
          <p:nvPr/>
        </p:nvSpPr>
        <p:spPr>
          <a:xfrm>
            <a:off x="1397160" y="402588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DQN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Text 18"/>
          <p:cNvSpPr/>
          <p:nvPr/>
        </p:nvSpPr>
        <p:spPr>
          <a:xfrm>
            <a:off x="4152960" y="402588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경험으로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학습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Shape 19"/>
          <p:cNvSpPr/>
          <p:nvPr/>
        </p:nvSpPr>
        <p:spPr>
          <a:xfrm>
            <a:off x="1396800" y="4609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1" name="Shape 20"/>
          <p:cNvSpPr/>
          <p:nvPr/>
        </p:nvSpPr>
        <p:spPr>
          <a:xfrm>
            <a:off x="851040" y="4622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2" name="Text 21"/>
          <p:cNvSpPr/>
          <p:nvPr/>
        </p:nvSpPr>
        <p:spPr>
          <a:xfrm>
            <a:off x="660240" y="480060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22"/>
          <p:cNvSpPr/>
          <p:nvPr/>
        </p:nvSpPr>
        <p:spPr>
          <a:xfrm>
            <a:off x="1397160" y="480060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결과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23"/>
          <p:cNvSpPr/>
          <p:nvPr/>
        </p:nvSpPr>
        <p:spPr>
          <a:xfrm>
            <a:off x="4152960" y="480060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simulation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조건부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Shape 24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6" name="Shape 25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7" name="Text 26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논문은 의존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event-driven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순서와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DQN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ECD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선택을 결합한다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Shape 27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9" name="Text 28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arxiv-v4 pp. 3–12, §§3–8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 29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30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2026-09-12T08:50:12Z</dcterms:created>
  <dc:creator>Research Seminars</dc:creator>
  <dc:description/>
  <dc:language>ko-KR</dc:language>
  <cp:lastModifiedBy>Research Seminars</cp:lastModifiedBy>
  <dcterms:modified xsi:type="dcterms:W3CDTF">2026-09-12T08:50:12Z</dcterms:modified>
  <cp:revision>1</cp:revision>
  <dc:subject>Task Graph offloading via Deep Reinforcement Learning in Mobile Edge Computing</dc:subject>
  <dc:title>SATA-DRL: 의존 작업의 실행 위치를 학습하다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30</vt:r8>
  </property>
  <property fmtid="{D5CDD505-2E9C-101B-9397-08002B2CF9AE}" pid="3" name="PresentationFormat">
    <vt:lpwstr>On-screen Show (16:9)</vt:lpwstr>
  </property>
  <property fmtid="{D5CDD505-2E9C-101B-9397-08002B2CF9AE}" pid="4" name="Slides">
    <vt:r8>30</vt:r8>
  </property>
</Properties>
</file>
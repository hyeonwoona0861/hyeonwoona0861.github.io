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CTTP: 여러 round로 triangle 열거하기
발표 대본
이 발표는 MapReduce Triangle Enumeration With Guarantees 논문을 소개합니다. 논문의 핵심 질문은 triangle을 찾는 국소 알고리즘보다, 필요한 edge 묶음을 reducer에 모으는 shuffle이 한 round의 시스템 용량을 넘지 않게 만드는 방법입니다. CTTP는 기존 TTP의 triangle-type subproblem을 유지하고 modular rule로 여러 MapReduce round에 배치합니다. 그 결과 한 round에 활성화되는 intermediate data를 aggregate limit 안에 두면서, expected guarantee와 추가 조건 아래의 high-probability guarantee를 제시합니다.
공개 출처
paper-doi | bibliographic record
ACM DOI record
https://doi.org/10.1145/2661829.2662017
author-pdf | p. 1, Abstract
Public author-hosted paper
https://www.dei.unipd.it/~silvestri/assets/publications/PSKP14.pdf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Triangle enumeration의 출력 경계
발표 대본
먼저 문제의 출력 범위를 분명히 하겠습니다. Triangle은 서로 다른 세 vertex 사이에 세 edge가 모두 존재하는 경우입니다. 논문은 reducer 안에서 triangle을 발견하면 local enum 함수를 호출할 수 있다고 둡니다. 따라서 열거 결과를 반드시 31 billion개의 별도 record로 저장해야 한다는 요구와는 다릅니다. 물론 실제 system은 enum이 무엇을 하는지 정해야 하지만, 이 논문의 space analysis는 전체 출력 파일을 materialize하는 비용까지 강제하지 않습니다. 이 경계를 알아야 input과 shuffle data의 병목을 output storage 문제와 섞지 않을 수 있습니다.
공개 출처
author-pdf | p. 3, Sec. 3.2
Public author-hosted paper
https://www.dei.unipd.it/~silvestri/assets/publications/PSKP14.pdf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원본 graph보다 커지는 shuffle
발표 대본
MapReduce에서 원본 graph가 여러 machine에 나뉘어 있다는 사실만으로 job이 실행되는 것은 아닙니다. 한 edge가 여러 color subproblem에 필요하면 mapper는 같은 edge를 여러 reducer key로 보냅니다. Shuffle은 이 복제본을 key별로 모으므로 reducer가 실제 triangle을 찾기 전에 system-wide intermediate data가 크게 늘어날 수 있습니다. 논문은 적은 round를 사용하는 기존 방법이 input보다 훨씬 큰 intermediate data를 만들 수 있고, 이것이 congestion과 performance degradation, out-of-space failure를 일으킬 수 있다고 지적합니다.
공개 출처
author-pdf | pp. 1-2, Introduction and Sec. 2.1
Public author-hosted paper
https://www.dei.unipd.it/~silvestri/assets/publications/PSKP14.pdf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MR(m, M)의 resource limits
발표 대본
기호를 정확히 구분하겠습니다. E는 input graph의 edge 수입니다. m은 한 mapper 또는 reducer 함수가 사용할 수 있는 maximum memory를 word 단위로 나타냅니다. M은 한 machine의 RAM이 아니라, 같은 round에 실행되는 모든 map과 reduce 함수의 aggregate memory-space limit입니다. 따라서 어떤 reducer 하나의 key group이 m을 넘으면 local failure가 생기고, 각 reducer가 m 이하더라도 전체 key group 합이 M을 넘으면 round 자체를 수용할 수 없습니다. 논문은 이 두 limit를 동시에 만족하도록 subproblem 크기와 round 수를 정합니다.
공개 출처
author-pdf | p. 2, Table 1
Public author-hosted paper
https://www.dei.unipd.it/~silvestri/assets/publications/PSKP14.pdf
author-pdf | p. 3, Sec. 3.1
Public author-hosted paper
https://www.dei.unipd.it/~silvestri/assets/publications/PSKP14.pdf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색은 vertex identity가 아니라 partition label
발표 대본
CTTP는 각 vertex v에 xi(v)라는 color label을 배정합니다. rho는 가능한 label 수입니다. Base algorithm은 rho를 ceil of square root of 6E over m으로 둡니다. Edge의 두 endpoint color를 작은 값부터 i와 j로 쓰면 E_(i,j)는 그런 color pair를 가진 모든 original edge의 집합입니다. 여기서 color는 proper coloring이 아닙니다. 인접한 두 vertex도 같은 color를 받을 수 있고, 같은 color를 받은 vertex들이 하나의 vertex로 합쳐지는 것도 아닙니다. 이 label은 edge group과 reducer task를 정하기 위한 randomized partition입니다.
공개 출처
author-pdf | pp. 3-4, Sec. 4 opening
Public author-hosted paper
https://www.dei.unipd.it/~silvestri/assets/publications/PSKP14.pdf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Color label로 정한 세 triangle type
발표 대본
세 vertex의 color label만 보고 triangle type을 정합니다. 0, 1, 2처럼 세 label이 모두 다르면 type-3입니다. 0, 0, 1처럼 정확히 두 vertex가 같은 label이면 type-2입니다. 1, 1, 1처럼 셋이 모두 같으면 type-1입니다. 예를 들어 type-2에서 color 0인 두 vertex는 여전히 서로 다른 vertex이며 그 사이의 실제 edge가 E_(0,0)에 들어갑니다. 세 번째 vertex로 가는 두 edge는 모두 E_(0,1)에 들어갑니다. Recoloring하면 같은 original triangle의 type이 바뀔 수 있으므로 type은 graph의 영구 속성이 아닙니다.
공개 출처
author-pdf | p. 4, triangle types
Public author-hosted paper
https://www.dei.unipd.it/~silvestri/assets/publications/PSKP14.pdf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TTP와 CTTP가 사용하는 두 task family
발표 대본
TTP가 만든 task family는 두 종류입니다. 서로 다른 color i, j, k를 가진 triple task는 세 cross-color group E_(i,j), E_(i,k), E_(j,k)를 받아 type-3 triangle을 찾습니다. Pair task (i,j)는 E_(i,i), E_(i,j), E_(j,j)를 받아 type-1과 type-2 triangle을 찾습니다. Pair task가 두 internal group을 모두 받는 이유는 color i만으로 된 type-1과 color j만으로 된 type-1을 함께 cover하기 위해서입니다. CTTP의 triangle partition 자체도 이 두 family를 그대로 사용하며 새로 추가한 것은 round scheduling과 load analysis입니다.
공개 출처
author-pdf | p. 4, task families and Algorithm 1
Public author-hosted paper
https://www.dei.unipd.it/~silvestri/assets/publications/PSKP14.pdf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교육용 예시: Type-2 triangle의 routing
발표 대본
교육용 예시를 끝까지 따라가겠습니다. a와 b는 서로 다른 vertex지만 두 vertex의 color label이 모두 0입니다. c의 label은 1입니다. a와 b 사이의 original edge ab는 endpoint pair가 0, 0이므로 E_(0,0)에 들어갑니다. ac와 bc는 0, 1 pair이므로 E_(0,1)에 들어갑니다. 화면의 group boxes는 ab를 E00에, ac와 bc를 E01에 묶고 두 group을 pair reducer (0,1)로 전달하는 관계를 보여 줍니다. Pair reducer는 E_(0,0), E_(0,1), E_(1,1)의 union을 받으며, E_(1,1)이 비어 있어도 필요한 세 edge를 확인해 enum을 호출할 수 있습니다.
공개 출처
author-pdf | p. 4, pair subproblems
Public author-hosted paper
https://www.dei.unipd.it/~silvestri/assets/publications/PSKP14.pdf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교육용 예시: rho=4의 edge routing
발표 대본
rho가 4인 교육용 routing을 계산하겠습니다. Internal edge E_(0,0)는 color 0을 포함한 pair task (0,1), (0,2), (0,3)에 필요하므로 세 copy가 생깁니다. Cross edge E_(0,1)는 pair task (0,1)과 triple task (0,1,2), (0,1,3)에 필요해 역시 세 copy가 생깁니다. 일반적으로 두 경우 모두 rho-1개의 TTP-style task에 전달됩니다. Color가 모두 0인 type-1 triangle은 세 pair task 안에 모두 나타날 수 있습니다. 모든 triangle을 cover한다는 주장과 같은 triangle을 정확히 한 번 계산한다는 주장은 다릅니다.
공개 출처
author-pdf | p. 4, TTP-style task families
Public author-hosted paper
https://www.dei.unipd.it/~silvestri/assets/publications/PSKP14.pdf
pte-doi | related-work context on type-1 repetition
PTE paper DOI record
https://doi.org/10.1145/2939672.2939757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GP와 TTP의 constant-factor 차이
발표 대본
TTP가 GP를 constant factor만큼 개선한다는 뜻을 정확히 보겠습니다. 논문이 사용한 고른 분포 계산에서 GP의 three-color task는 expected 9E over rho squared edge를 받습니다. TTP는 type-3 task에 필요한 cross-color group만 보내 expected 6E over rho squared로 줄이고, type-1과 type-2 pair task는 expected 4E over rho squared입니다. E와 rho에 대한 성장 형태는 같은 O(E over rho squared)이므로 asymptotic order는 달라지지 않습니다. 9를 6으로 줄였다는 사실도 모든 graph와 cluster에서 1.5배 빨라진다는 runtime guarantee가 아닙니다.
공개 출처
author-pdf | p. 7, Sec. 5.2
Public author-hosted paper
https://www.dei.unipd.it/~silvestri/assets/publications/PSKP14.pdf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CTTP가 유지한 것과 추가한 것
발표 대본
CTTP라는 이름은 Colored TTP를 뜻합니다. CTTP는 TTP의 triple task와 pair task를 그대로 사용합니다. Base setting에서 rho는 ceil of square root of 6E over m으로 정합니다. R은 전체 MapReduce round 수이며 construction은 rho E over M 규모의 round로 subproblem을 나눕니다. Base CTTP는 arbitrary input graph에서도 expected load를 분석하기 위해 uniformly selected 4-wise independent coloring family를 사용합니다. 이것이 모든 reducer load를 deterministic하게 bound한다는 뜻은 아닙니다. 강한 high-probability result는 뒤에서 다른 coloring treatment와 memory condition을 추가합니다.
공개 출처
author-pdf | pp. 3-5, Sec. 4 and Algorithm 1
Public author-hosted paper
https://www.dei.unipd.it/~silvestri/assets/publications/PSKP14.pdf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Subproblem의 modular round assignment
발표 대본
각 subproblem을 어느 round에서 실행할지 modular sum으로 정합니다. Triple task (i,j,k)는 i+j+k를 R로 나눈 residue가 현재 r일 때 실행합니다. Pair task (i,j)는 i+j의 residue가 r일 때 실행합니다. Mapper는 input edge의 color pair를 구한 뒤, 현재 round에 예정된 task key만 emit합니다. R개의 round를 모두 실행하면 모든 residue가 처리되어 필요한 logical subproblem이 빠짐없이 실행됩니다. 이 rule은 별도 queue나 storage mechanism이 아니라 deterministic round assignment입니다.
공개 출처
author-pdf | p. 4, Algorithm 1
Public author-hosted paper
https://www.dei.unipd.it/~silvestri/assets/publications/PSKP14.pdf
author-pdf | p. 5, Lemma 1
Public author-hosted paper
https://www.dei.unipd.it/~silvestri/assets/publications/PSKP14.pdf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교육용 예시: rho=4, R=2의 round 분산
발표 대본
rho 4와 R 2인 교육용 예시입니다. Cross edge E_(0,1)는 pair task (0,1), triple task (0,1,2), triple task (0,1,3)에 필요합니다. Pair index sum 1은 round 1에 배정됩니다. Triple sums 3과 4는 mod 2에서 각각 round 1과 round 0입니다. 따라서 round 0에는 한 copy, round 1에는 두 copies가 전달됩니다. One-round execution의 세 copies를 없앤 것이 아니라 두 round에 1과 2로 나눈 것입니다. 이 숫자 설정은 mechanism 설명용이며 논문의 실험 parameter라고 해석하면 안 됩니다.
공개 출처
author-pdf | p. 4, modular schedule; constructed example
Public author-hosted paper
https://www.dei.unipd.it/~silvestri/assets/publications/PSKP14.pdf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한 edge가 현재 round를 통과하는 과정
발표 대본
하나의 edge record가 현재 round에서 처리되는 과정을 보겠습니다. Mapper는 edge (u,v)를 읽고 두 endpoint의 color를 계산한 뒤 ordered pair i,j를 정합니다. 이어서 이 edge가 필요한 pair와 triple task 중 current round residue와 맞는 key만 emit합니다. Shuffle은 같은 task key의 edge를 모읍니다. Reducer는 자신의 task family에 맞는 세 edge group의 union을 받아 local triangle enumerator를 실행합니다. 다른 residue의 task는 다음 round에서 처리하므로 input graph를 다시 map해야 합니다.
공개 출처
author-pdf | p. 4, Algorithm 1
Public author-hosted paper
https://www.dei.unipd.it/~silvestri/assets/publications/PSKP14.pdf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Round 수와 data movement의 tradeoff
발표 대본
R을 늘렸을 때 무엇이 줄고 무엇이 남는지 구분하겠습니다. 논문에서 per-round shuffled data는 (rho-1)E over R입니다. R이 커지면 한 round에 보내는 edge copy가 줄어 aggregate peak를 M 안에 두기 쉬워집니다. 그러나 모든 logical task가 사라지는 것은 아닙니다. 전체 round를 마치면 필요한 TTP-style deliveries가 수행됩니다. 또한 CTTP는 각 round에서 input을 다시 map하므로 disk read와 mapper startup cost가 반복됩니다. 즉 CTTP의 tradeoff는 total computation을 없애는 것이 아니라 한 번에 감당할 data를 줄이는 것입니다.
공개 출처
author-pdf | pp. 7-8, Eqs. 5-6 and Sec. 5.3.1
Public author-hosted paper
https://www.dei.unipd.it/~silvestri/assets/publications/PSKP14.pdf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Theorem 1: Base CTTP의 expected guarantee
발표 대본
Theorem 1의 base guarantee를 항목별로 읽겠습니다. Round complexity는 O of E to 1.5 over M square root m입니다. 한 mapper가 쓰는 space는 M over E이고 한 round의 aggregate space는 M입니다. 한 reducer의 space m과 total work O(E to 1.5)는 expectation 수준입니다. 또한 모든 triangle을 cover합니다. 4-wise-independent coloring이 arbitrary graph에서 이 expected analysis를 지지하지만, unlucky coloring에서도 모든 reducer가 반드시 O(m)이라는 deterministic statement는 아닙니다. 이 차이가 high-probability variant가 필요한 이유입니다.
공개 출처
author-pdf | p. 5, Theorem 1
Public author-hosted paper
https://www.dei.unipd.it/~silvestri/assets/publications/PSKP14.pdf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Theorem 2의 worst-case round lower bound
발표 대본
Theorem 2는 capacity argument입니다. Reducer i가 m_i words를 가진다면 stated memory-word assumption 아래 최대 m_i to the 1.5 distinct triangles를 열거할 수 있습니다. 각 m_i는 m 이하이고 모든 reducer input 합은 M 이하이므로, 한 round 전체가 열거할 수 있는 triangle은 최대 M square root m입니다. 따라서 t개의 distinct triangle이 있는 graph는 worst case에서 Omega of t over M square root m rounds가 필요합니다. Graph가 E to the 1.5 규모의 triangle을 가질 수 있으므로 Theorem 1의 round order와 맞습니다. 이 optimality는 모든 graph와 모든 framework에서 가장 빠르다는 뜻이 아닙니다.
공개 출처
author-pdf | p. 5, Theorem 2
Public author-hosted paper
https://www.dei.unipd.it/~silvestri/assets/publications/PSKP14.pdf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Expected load와 last-reducer risk
발표 대본
Expected reducer space가 m이라는 사실만으로 모든 reducer가 안전한 것은 아닙니다. 많은 reducer가 작아도 한 color pair나 task key에 edge가 몰리면 그 reducer가 m을 넘거나 훨씬 오래 걸릴 수 있습니다. MapReduce round는 가장 늦은 reducer를 기다리므로 maximum load가 실제 completion time을 좌우합니다. 논문은 이를 curse of the last reducer라고 설명합니다. 해결 방향은 같은 4-wise coloring을 단순히 반복하는 것이 아니라 degree에 따라 vertex를 나누고 stronger hash와 deterministic assignment를 결합하는 것입니다.
공개 출처
author-pdf | p. 6, Sec. 4.2
Public author-hosted paper
https://www.dei.unipd.it/~silvestri/assets/publications/PSKP14.pdf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Theorem 3: 추가 조건 아래의 high-probability guarantee
발표 대본
Theorem 3의 full variant는 세 단계를 구분해야 합니다. 먼저 degree가 square root of E m보다 큰 very-high-degree vertex가 포함된 triangle을 sorting으로 별도 처리합니다. 남은 vertex 중 degree가 square root E 이하인 low-degree vertex는 log-E-wise hash로 color를 배정합니다. 그보다 높은 degree이면서 square root E m 이하인 vertex는 color별 total degree mass가 균형을 이루도록 deterministic하게 배정합니다. 추가 memory condition은 m = Omega of E to 3/4 times square root log E입니다. 이 조건 아래 임의의 양의 constant epsilon에 대해 probability at least 1 - 1/E^epsilon으로 모든 reducer가 O(m), total work가 O(E^1.5)가 됩니다. Round order는 O((E/M)sqrt(E/m)) 형태를 유지합니다.
공개 출처
author-pdf | p. 3, degree preprocessing
Public author-hosted paper
https://www.dei.unipd.it/~silvestri/assets/publications/PSKP14.pdf
author-pdf | p. 6, Sec. 4.2 and Theorem 3
Public author-hosted paper
https://www.dei.unipd.it/~silvestri/assets/publications/PSKP14.pdf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2014 Hadoop experiment setup
발표 대본
실험 결과를 보기 전에 환경을 고정하겠습니다. 저자들은 Java로 GP, TTP, CTTP를 구현해 Hadoop cluster에서 비교했습니다. Cluster는 40 machines로 구성되고 각 machine은 4 GB memory를 가졌습니다. Default reducer 수는 80입니다. 이 hardware memory 수치를 theoretical model의 m과 M에 그대로 대입했다고 단정하면 안 됩니다. 아래 결과는 2014년의 이 implementation과 cluster에서 얻은 empirical evidence이며, 현재의 모든 distributed graph framework에 동일한 threshold가 적용된다는 뜻은 아닙니다.
공개 출처
author-pdf | p. 7, experimental setup
Public author-hosted paper
https://www.dei.unipd.it/~silvestri/assets/publications/PSKP14.pdf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Twitter에서 관찰한 one-round shuffle peak
발표 대본
Twitter experiment는 intermediate data 병목을 구체적인 unit로 보여 줍니다. Input graph는 32 GB였지만 R=1인 CTTP execution은 985 GB의 shuffle data를 만들었습니다. 단순 비율은 약 30.8배입니다. 논문은 R이 4보다 작은 경우 map과 shuffle path에 massive intermediate data가 몰려 예상보다 긴 runtime이 나타났다고 설명합니다. R을 늘리면 per-round shuffle은 줄지만 input을 다시 읽고 job startup과 map 작업을 반복해야 합니다. 이 수치는 reported cluster의 측정값이며 universal capacity threshold가 아닙니다.
공개 출처
author-pdf | pp. 7-8, Fig. 1 and Sec. 5.3.1
Public author-hosted paper
https://www.dei.unipd.it/~silvestri/assets/publications/PSKP14.pdf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YahooWeb subgraph의 data scalability 결과
발표 대본
Data scalability experiment는 YahooWeb에서 random subgraph를 만들어 0.2, 0.4, 0.8, 1.6, 3.2, 6.4 billion edges까지 늘렸습니다. CTTP는 모든 reported point를 완료했습니다. TTP와 GP는 1.6 billion edges보다 큰 reported subgraph에서 out-of-space error로 실패했습니다. 별도의 Twitter machine-scaling plot에서는 세 방법 가운데 CTTP가 ideal scaling에 가장 가까웠다고 보고합니다. 이 결과는 multi-round scheduling이 해당 implementation의 aggregate intermediate-data pressure를 낮춘다는 경험적 근거지만, 다른 cluster의 절대 한계를 정하는 값은 아닙니다.
공개 출처
author-pdf | p. 8, Fig. 3 and Sec. 5.3.2
Public author-hosted paper
https://www.dei.unipd.it/~silvestri/assets/publications/PSKP14.pdf
author-pdf | p. 9, Fig. 6
Public author-hosted paper
https://www.dei.unipd.it/~silvestri/assets/publications/PSKP14.pdf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Real graph의 reported enumeration time
발표 대본
Selected real graph timing을 minutes 단위로 비교합니다. 작은 LiveJournal에서는 세 방법이 모두 1 minute이지만 Twitter와 SubDomain에서는 CTTP가 TTP와 GP보다 짧았습니다. ClueWeb09에서는 CTTP가 1,328 minutes에 완료했고 TTP와 GP는 실패했습니다. 논문은 preprocessing 후 ClueWeb09가 4.8 billion vertices, 7.9 billion edges, 31,013,037,486 triangles를 가졌고 CTTP가 약 23 hours에 이를 열거했다고 정리합니다. 여기서 listed라는 표현은 31 billion output records를 하나의 파일에 저장했다는 증거가 아닙니다. Problem specification은 local enum call을 허용합니다.
공개 출처
author-pdf | p. 6, Table 2
Public author-hosted paper
https://www.dei.unipd.it/~silvestri/assets/publications/PSKP14.pdf
author-pdf | p. 9, Figs. 5-6 and Conclusion
Public author-hosted paper
https://www.dei.unipd.it/~silvestri/assets/publications/PSKP14.pdf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 Later PTE paper와의 관계
발표 대본
이 슬라이드는 CTTP의 실험 결과가 아니라 후속 PTE 논문의 related-work 맥락입니다. CTTP는 TTP-style edge-task copies를 modular rule로 여러 round에 배치해 one-round aggregate peak를 제한합니다. 하지만 전체 run에서는 필요한 task deliveries가 남고 매 round input을 다시 읽습니다. PTE는 massive intermediate data와 기존 type-partition의 중복 문제를 지적하고 data partition과 read timing을 다르게 구성한 별도 distributed enumeration method를 제안합니다. 두 논문의 runtime 숫자를 이 슬라이드에서 직접 비교하지 않으며, CTTP와 PTE를 동일 algorithm이라고 부르지 않습니다.
공개 출처
author-pdf | pp. 7-8, CTTP data tradeoff
Public author-hosted paper
https://www.dei.unipd.it/~silvestri/assets/publications/PSKP14.pdf
pte-doi | related work and method context
PTE paper DOI record
https://doi.org/10.1145/2939672.2939757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CTTP의 핵심과 주장 범위
발표 대본
전체 내용을 정리하겠습니다. CTTP는 TTP의 pair와 triple color tasks를 유지하고 color-index sum으로 여러 round에 배치합니다. Base theorem은 expected reducer space와 total work를 제시합니다. 모든 reducer에 대한 high-probability O(m) bound는 very-high-degree preprocessing, low-degree log-E-wise hashing, high-degree deterministic degree-mass coloring, 그리고 m에 대한 threshold가 함께 있어야 합니다. Experiment는 2014 Hadoop cluster에서 intermediate-data peak를 줄인 효과를 보여 주지만 모든 platform의 failure threshold를 정하지 않습니다. 또한 local enum action을 허용하므로 전체 triangle list를 반드시 저장하는 model도 아닙니다.
공개 출처
author-pdf | pp. 4-6, Algorithms and Theorems 1-3
Public author-hosted paper
https://www.dei.unipd.it/~silvestri/assets/publications/PSKP14.pdf
author-pdf | pp. 7-9, experiments and Conclusion
Public author-hosted paper
https://www.dei.unipd.it/~silvestri/assets/publications/PSKP14.pdf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5900" cy="6858000"/>
          </a:xfrm>
          <a:prstGeom prst="rect">
            <a:avLst/>
          </a:prstGeom>
          <a:solidFill>
            <a:srgbClr val="0D685C"/>
          </a:solidFill>
          <a:ln w="12700">
            <a:solidFill>
              <a:srgbClr val="0D685C">
                <a:alpha val="0"/>
              </a:srgbClr>
            </a:solidFill>
            <a:prstDash val="solid"/>
          </a:ln>
        </p:spPr>
        <p:txBody>
          <a:bodyPr/>
          <a:lstStyle/>
          <a:p>
            <a:endParaRPr lang="ko-KR"/>
          </a:p>
        </p:txBody>
      </p:sp>
      <p:sp>
        <p:nvSpPr>
          <p:cNvPr id="3" name="Text 1"/>
          <p:cNvSpPr txBox="1"/>
          <p:nvPr/>
        </p:nvSpPr>
        <p:spPr>
          <a:xfrm>
            <a:off x="889000" y="889000"/>
            <a:ext cx="8763000" cy="1346200"/>
          </a:xfrm>
          <a:prstGeom prst="rect">
            <a:avLst/>
          </a:prstGeom>
          <a:noFill/>
          <a:ln/>
        </p:spPr>
        <p:txBody>
          <a:bodyPr wrap="square" lIns="0" tIns="0" rIns="0" bIns="0" rtlCol="0" anchor="t"/>
          <a:lstStyle/>
          <a:p>
            <a:pPr algn="l" indent="0" marL="0">
              <a:lnSpc>
                <a:spcPct val="115000"/>
              </a:lnSpc>
              <a:buNone/>
            </a:pPr>
            <a:r>
              <a:rPr lang="en-US" sz="4000" b="1" dirty="0">
                <a:solidFill>
                  <a:srgbClr val="0D685C"/>
                </a:solidFill>
                <a:latin typeface="AppleGothic" pitchFamily="34" charset="0"/>
                <a:ea typeface="AppleGothic" pitchFamily="34" charset="-122"/>
                <a:cs typeface="AppleGothic" pitchFamily="34" charset="-120"/>
              </a:rPr>
              <a:t>CTTP: 여러 round로 triangle 열거하기</a:t>
            </a:r>
            <a:endParaRPr lang="en-US" sz="4000" dirty="0"/>
          </a:p>
        </p:txBody>
      </p:sp>
      <p:sp>
        <p:nvSpPr>
          <p:cNvPr id="4" name="Text 2"/>
          <p:cNvSpPr txBox="1"/>
          <p:nvPr/>
        </p:nvSpPr>
        <p:spPr>
          <a:xfrm>
            <a:off x="889000" y="2413000"/>
            <a:ext cx="9652000" cy="1333500"/>
          </a:xfrm>
          <a:prstGeom prst="rect">
            <a:avLst/>
          </a:prstGeom>
          <a:noFill/>
          <a:ln/>
        </p:spPr>
        <p:txBody>
          <a:bodyPr wrap="square" lIns="0" tIns="0" rIns="0" bIns="0" rtlCol="0" anchor="t"/>
          <a:lstStyle/>
          <a:p>
            <a:pPr algn="l" indent="0" marL="0">
              <a:lnSpc>
                <a:spcPct val="125000"/>
              </a:lnSpc>
              <a:buNone/>
            </a:pPr>
            <a:r>
              <a:rPr lang="en-US" sz="2200" dirty="0">
                <a:solidFill>
                  <a:srgbClr val="173C37"/>
                </a:solidFill>
                <a:latin typeface="AppleGothic" pitchFamily="34" charset="0"/>
                <a:ea typeface="AppleGothic" pitchFamily="34" charset="-122"/>
                <a:cs typeface="AppleGothic" pitchFamily="34" charset="-120"/>
              </a:rPr>
              <a:t>MapReduce Triangle Enumeration With Guarantees</a:t>
            </a:r>
            <a:endParaRPr lang="en-US" sz="2200" dirty="0"/>
          </a:p>
        </p:txBody>
      </p:sp>
      <p:sp>
        <p:nvSpPr>
          <p:cNvPr id="5" name="Shape 3"/>
          <p:cNvSpPr/>
          <p:nvPr/>
        </p:nvSpPr>
        <p:spPr>
          <a:xfrm>
            <a:off x="889000" y="4076700"/>
            <a:ext cx="96520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89000" y="4368800"/>
            <a:ext cx="9652000" cy="685800"/>
          </a:xfrm>
          <a:prstGeom prst="rect">
            <a:avLst/>
          </a:prstGeom>
          <a:noFill/>
          <a:ln/>
        </p:spPr>
        <p:txBody>
          <a:bodyPr wrap="square" lIns="0" tIns="0" rIns="0" bIns="0" rtlCol="0" anchor="t"/>
          <a:lstStyle/>
          <a:p>
            <a:pPr algn="l" indent="0" marL="0">
              <a:lnSpc>
                <a:spcPct val="125000"/>
              </a:lnSpc>
              <a:buNone/>
            </a:pPr>
            <a:r>
              <a:rPr lang="en-US" sz="1750" dirty="0">
                <a:solidFill>
                  <a:srgbClr val="5E6D69"/>
                </a:solidFill>
                <a:latin typeface="AppleGothic" pitchFamily="34" charset="0"/>
                <a:ea typeface="AppleGothic" pitchFamily="34" charset="-122"/>
                <a:cs typeface="AppleGothic" pitchFamily="34" charset="-120"/>
              </a:rPr>
              <a:t>Ha-Myung Park, Francesco Silvestri, U Kang, Rasmus Pagh (2014)</a:t>
            </a:r>
            <a:endParaRPr lang="en-US" sz="1750" dirty="0"/>
          </a:p>
        </p:txBody>
      </p:sp>
      <p:sp>
        <p:nvSpPr>
          <p:cNvPr id="7" name="Text 5"/>
          <p:cNvSpPr txBox="1"/>
          <p:nvPr/>
        </p:nvSpPr>
        <p:spPr>
          <a:xfrm>
            <a:off x="889000" y="5245100"/>
            <a:ext cx="9652000" cy="571500"/>
          </a:xfrm>
          <a:prstGeom prst="rect">
            <a:avLst/>
          </a:prstGeom>
          <a:noFill/>
          <a:ln/>
        </p:spPr>
        <p:txBody>
          <a:bodyPr wrap="square" lIns="0" tIns="0" rIns="0" bIns="0" rtlCol="0" anchor="t"/>
          <a:lstStyle/>
          <a:p>
            <a:pPr algn="l" indent="0" marL="0">
              <a:lnSpc>
                <a:spcPct val="125000"/>
              </a:lnSpc>
              <a:buNone/>
            </a:pPr>
            <a:r>
              <a:rPr lang="en-US" sz="1750" dirty="0">
                <a:solidFill>
                  <a:srgbClr val="0D685C"/>
                </a:solidFill>
                <a:latin typeface="AppleGothic" pitchFamily="34" charset="0"/>
                <a:ea typeface="AppleGothic" pitchFamily="34" charset="-122"/>
                <a:cs typeface="AppleGothic" pitchFamily="34" charset="-120"/>
              </a:rPr>
              <a:t>색 기반 subproblem을 분산해 한 round의 intermediate-data peak를 제한한다</a:t>
            </a:r>
            <a:endParaRPr lang="en-US" sz="1750" dirty="0"/>
          </a:p>
        </p:txBody>
      </p:sp>
      <p:sp>
        <p:nvSpPr>
          <p:cNvPr id="8" name="Shape 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paper-doi bibliographic record; author-pdf p. 1, Abstract</a:t>
            </a:r>
            <a:endParaRPr lang="en-US" sz="1050" dirty="0"/>
          </a:p>
        </p:txBody>
      </p:sp>
      <p:sp>
        <p:nvSpPr>
          <p:cNvPr id="10" name="Text 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Triangle enumeration의 출력 경계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입력은 simple undirected graph이며 triangle은 서로 다른 세 vertex와 세 edge로 구성된다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Graph edge</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중복 edge와 self-loop가 없는 undirected graph를 입력받는다</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세 vertex</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서로 다른 u, v, w를 후보로 본다</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세 edge 확인</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uv, uw, vw가 모두 실제 graph에 있어야 한다</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Local enum</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찾은 triangle마다 enum(u, v, w)를 호출할 수 있다</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논문 모델은 모든 triangle record를 하나의 거대한 파일로 저장하도록 요구하지 않는다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author-pdf p. 3, Sec. 3.2</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원본 graph보다 커지는 shuffle</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한 input edge가 여러 triangle subproblem에 필요하면 mapper가 같은 edge record를 여러 key로 복제한다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Input edge</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mapper가 한 edge record를 읽는다</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여러 subproblem</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그 edge가 필요한 reducer key를 계산한다</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Record 복제</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같은 edge를 여러 key-value record로 emit한다</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Shuffle regroup</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system이 key별로 모든 복제본을 동시에 모은다</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One-round peak</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reducer 실행 전에 aggregate data가 capacity를 넘을 수 있다</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분산 저장된 graph도 intermediate edge copies가 몰리면 한 round를 실행하지 못할 수 있다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author-pdf pp. 1-2, Introduction and Sec. 2.1</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MR(m, M)의 resource limits</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E는 graph edge 수이며 m과 M은 서로 다른 scope의 memory-space bound다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065528"/>
                <a:gridCol w="4674616"/>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기호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정의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초과하면 생기는 문제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입력 edge 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Partition·round 식의 기준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함수 하나의 최대 words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Key group이 크면 실패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한 round의 총 words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전체 group 합이 크면 실패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m_k,r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Key k의 round-r words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m_k,r ≤ m 필요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Aggregate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round의 m_k,r 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합계 ≤ M 필요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m은 한 함수의 limit이고 M은 cluster 전체의 one-round aggregate limit이다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author-pdf p. 2, Table 1; author-pdf p. 3, Sec. 3.1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색은 vertex identity가 아니라 partition label</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rho는 color 수이고 xi(v)는 vertex v에 배정한 color label이다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4674616"/>
                <a:gridCol w="402234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표현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뜻</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주의할 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rho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Color label 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ceil(sqrt(6E/m))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xi(v)</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v의 random label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Vertex 자체는 그대로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E_(i,j)</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Label pair i,j의 edge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 ≤ j로 기록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color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bucket label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Vertex 합체가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인접 vertex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label도 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Proper coloring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Color label은 triangle을 어느 작은 task에 보낼지 결정하며 original edge는 그대로다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author-pdf pp. 3-4, Sec. 4 opening</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Color label로 정한 세 triangle type</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같은 original triangle도 xi를 다시 선택하면 다른 type에 속할 수 있다</a:t>
            </a:r>
            <a:endParaRPr lang="en-US" sz="1900" dirty="0"/>
          </a:p>
        </p:txBody>
      </p:sp>
      <p:sp>
        <p:nvSpPr>
          <p:cNvPr id="4" name="graph-panel-1-caption"/>
          <p:cNvSpPr txBox="1"/>
          <p:nvPr/>
        </p:nvSpPr>
        <p:spPr>
          <a:xfrm>
            <a:off x="660400" y="2082800"/>
            <a:ext cx="3454400" cy="330200"/>
          </a:xfrm>
          <a:prstGeom prst="rect">
            <a:avLst/>
          </a:prstGeom>
          <a:noFill/>
          <a:ln/>
        </p:spPr>
        <p:txBody>
          <a:bodyPr wrap="square" lIns="0" tIns="0" rIns="0" bIns="0" rtlCol="0" anchor="ctr"/>
          <a:lstStyle/>
          <a:p>
            <a:pPr algn="ctr" indent="0" marL="0">
              <a:lnSpc>
                <a:spcPct val="120000"/>
              </a:lnSpc>
              <a:buNone/>
            </a:pPr>
            <a:r>
              <a:rPr lang="en-US" sz="1650" b="1" dirty="0">
                <a:solidFill>
                  <a:srgbClr val="173C37"/>
                </a:solidFill>
                <a:latin typeface="AppleGothic" pitchFamily="34" charset="0"/>
                <a:ea typeface="AppleGothic" pitchFamily="34" charset="-122"/>
                <a:cs typeface="AppleGothic" pitchFamily="34" charset="-120"/>
              </a:rPr>
              <a:t>Type-3 · 색 라벨 0,1,2</a:t>
            </a:r>
            <a:endParaRPr lang="en-US" sz="1650" dirty="0"/>
          </a:p>
        </p:txBody>
      </p:sp>
      <p:sp>
        <p:nvSpPr>
          <p:cNvPr id="5" name="graph-panel-1-edge-line-u3-v3"/>
          <p:cNvSpPr/>
          <p:nvPr/>
        </p:nvSpPr>
        <p:spPr>
          <a:xfrm flipV="1">
            <a:off x="1558544" y="3390900"/>
            <a:ext cx="829056" cy="1612900"/>
          </a:xfrm>
          <a:prstGeom prst="line">
            <a:avLst/>
          </a:prstGeom>
          <a:noFill/>
          <a:ln w="12700">
            <a:solidFill>
              <a:srgbClr val="5E6D69"/>
            </a:solidFill>
            <a:prstDash val="solid"/>
            <a:headEnd type="none"/>
            <a:tailEnd type="none"/>
          </a:ln>
        </p:spPr>
        <p:txBody>
          <a:bodyPr/>
          <a:lstStyle/>
          <a:p>
            <a:endParaRPr lang="ko-KR"/>
          </a:p>
        </p:txBody>
      </p:sp>
      <p:sp>
        <p:nvSpPr>
          <p:cNvPr id="6" name="graph-panel-1-edge-label-u3-v3"/>
          <p:cNvSpPr txBox="1"/>
          <p:nvPr/>
        </p:nvSpPr>
        <p:spPr>
          <a:xfrm>
            <a:off x="1287272" y="4070350"/>
            <a:ext cx="762000" cy="228600"/>
          </a:xfrm>
          <a:prstGeom prst="rect">
            <a:avLst/>
          </a:prstGeom>
          <a:noFill/>
          <a:ln/>
        </p:spPr>
        <p:txBody>
          <a:bodyPr wrap="square" lIns="0" tIns="0" rIns="0" bIns="0" rtlCol="0" anchor="ctr"/>
          <a:lstStyle/>
          <a:p>
            <a:pPr algn="ctr" indent="0" marL="0">
              <a:lnSpc>
                <a:spcPct val="120000"/>
              </a:lnSpc>
              <a:buNone/>
            </a:pPr>
            <a:r>
              <a:rPr lang="en-US" sz="1250" b="1" dirty="0">
                <a:solidFill>
                  <a:srgbClr val="173C37"/>
                </a:solidFill>
                <a:latin typeface="AppleGothic" pitchFamily="34" charset="0"/>
                <a:ea typeface="AppleGothic" pitchFamily="34" charset="-122"/>
                <a:cs typeface="AppleGothic" pitchFamily="34" charset="-120"/>
              </a:rPr>
              <a:t>E01</a:t>
            </a:r>
            <a:endParaRPr lang="en-US" sz="1250" dirty="0"/>
          </a:p>
        </p:txBody>
      </p:sp>
      <p:sp>
        <p:nvSpPr>
          <p:cNvPr id="7" name="graph-panel-1-edge-line-u3-w3"/>
          <p:cNvSpPr/>
          <p:nvPr/>
        </p:nvSpPr>
        <p:spPr>
          <a:xfrm>
            <a:off x="2387600" y="3390900"/>
            <a:ext cx="829056" cy="1612900"/>
          </a:xfrm>
          <a:prstGeom prst="line">
            <a:avLst/>
          </a:prstGeom>
          <a:noFill/>
          <a:ln w="12700">
            <a:solidFill>
              <a:srgbClr val="5E6D69"/>
            </a:solidFill>
            <a:prstDash val="solid"/>
            <a:headEnd type="none"/>
            <a:tailEnd type="none"/>
          </a:ln>
        </p:spPr>
        <p:txBody>
          <a:bodyPr/>
          <a:lstStyle/>
          <a:p>
            <a:endParaRPr lang="ko-KR"/>
          </a:p>
        </p:txBody>
      </p:sp>
      <p:sp>
        <p:nvSpPr>
          <p:cNvPr id="8" name="graph-panel-1-edge-label-u3-w3"/>
          <p:cNvSpPr txBox="1"/>
          <p:nvPr/>
        </p:nvSpPr>
        <p:spPr>
          <a:xfrm>
            <a:off x="2903728" y="4070350"/>
            <a:ext cx="762000" cy="228600"/>
          </a:xfrm>
          <a:prstGeom prst="rect">
            <a:avLst/>
          </a:prstGeom>
          <a:noFill/>
          <a:ln/>
        </p:spPr>
        <p:txBody>
          <a:bodyPr wrap="square" lIns="0" tIns="0" rIns="0" bIns="0" rtlCol="0" anchor="ctr"/>
          <a:lstStyle/>
          <a:p>
            <a:pPr algn="ctr" indent="0" marL="0">
              <a:lnSpc>
                <a:spcPct val="120000"/>
              </a:lnSpc>
              <a:buNone/>
            </a:pPr>
            <a:r>
              <a:rPr lang="en-US" sz="1250" b="1" dirty="0">
                <a:solidFill>
                  <a:srgbClr val="173C37"/>
                </a:solidFill>
                <a:latin typeface="AppleGothic" pitchFamily="34" charset="0"/>
                <a:ea typeface="AppleGothic" pitchFamily="34" charset="-122"/>
                <a:cs typeface="AppleGothic" pitchFamily="34" charset="-120"/>
              </a:rPr>
              <a:t>E02</a:t>
            </a:r>
            <a:endParaRPr lang="en-US" sz="1250" dirty="0"/>
          </a:p>
        </p:txBody>
      </p:sp>
      <p:sp>
        <p:nvSpPr>
          <p:cNvPr id="9" name="graph-panel-1-edge-line-v3-w3"/>
          <p:cNvSpPr/>
          <p:nvPr/>
        </p:nvSpPr>
        <p:spPr>
          <a:xfrm flipV="1">
            <a:off x="1558544" y="5003800"/>
            <a:ext cx="1658112" cy="0"/>
          </a:xfrm>
          <a:prstGeom prst="line">
            <a:avLst/>
          </a:prstGeom>
          <a:noFill/>
          <a:ln w="12700">
            <a:solidFill>
              <a:srgbClr val="5E6D69"/>
            </a:solidFill>
            <a:prstDash val="solid"/>
            <a:headEnd type="none"/>
            <a:tailEnd type="none"/>
          </a:ln>
        </p:spPr>
        <p:txBody>
          <a:bodyPr/>
          <a:lstStyle/>
          <a:p>
            <a:endParaRPr lang="ko-KR"/>
          </a:p>
        </p:txBody>
      </p:sp>
      <p:sp>
        <p:nvSpPr>
          <p:cNvPr id="10" name="graph-panel-1-edge-label-v3-w3"/>
          <p:cNvSpPr txBox="1"/>
          <p:nvPr/>
        </p:nvSpPr>
        <p:spPr>
          <a:xfrm>
            <a:off x="2006600" y="5143500"/>
            <a:ext cx="762000" cy="228600"/>
          </a:xfrm>
          <a:prstGeom prst="rect">
            <a:avLst/>
          </a:prstGeom>
          <a:noFill/>
          <a:ln/>
        </p:spPr>
        <p:txBody>
          <a:bodyPr wrap="square" lIns="0" tIns="0" rIns="0" bIns="0" rtlCol="0" anchor="ctr"/>
          <a:lstStyle/>
          <a:p>
            <a:pPr algn="ctr" indent="0" marL="0">
              <a:lnSpc>
                <a:spcPct val="120000"/>
              </a:lnSpc>
              <a:buNone/>
            </a:pPr>
            <a:r>
              <a:rPr lang="en-US" sz="1250" b="1" dirty="0">
                <a:solidFill>
                  <a:srgbClr val="173C37"/>
                </a:solidFill>
                <a:latin typeface="AppleGothic" pitchFamily="34" charset="0"/>
                <a:ea typeface="AppleGothic" pitchFamily="34" charset="-122"/>
                <a:cs typeface="AppleGothic" pitchFamily="34" charset="-120"/>
              </a:rPr>
              <a:t>E12</a:t>
            </a:r>
            <a:endParaRPr lang="en-US" sz="1250" dirty="0"/>
          </a:p>
        </p:txBody>
      </p:sp>
      <p:sp>
        <p:nvSpPr>
          <p:cNvPr id="11" name="graph-panel-1-node-u3"/>
          <p:cNvSpPr/>
          <p:nvPr/>
        </p:nvSpPr>
        <p:spPr>
          <a:xfrm>
            <a:off x="2108200" y="3111500"/>
            <a:ext cx="558800" cy="558800"/>
          </a:xfrm>
          <a:prstGeom prst="ellipse">
            <a:avLst/>
          </a:prstGeom>
          <a:solidFill>
            <a:srgbClr val="D7ECE6"/>
          </a:solidFill>
          <a:ln>
            <a:solidFill>
              <a:srgbClr val="0D685C"/>
            </a:solidFill>
          </a:ln>
        </p:spPr>
        <p:txBody>
          <a:bodyPr wrap="square" lIns="0" tIns="0" rIns="0" bIns="0" rtlCol="0" anchor="ctr"/>
          <a:lstStyle/>
          <a:p>
            <a:pPr algn="ctr" indent="0" marL="0">
              <a:buNone/>
            </a:pPr>
            <a:r>
              <a:rPr lang="en-US" sz="1700" b="1" dirty="0">
                <a:solidFill>
                  <a:srgbClr val="173C37"/>
                </a:solidFill>
                <a:latin typeface="Arial" pitchFamily="34" charset="0"/>
                <a:ea typeface="Arial" pitchFamily="34" charset="-122"/>
                <a:cs typeface="Arial" pitchFamily="34" charset="-120"/>
              </a:rPr>
              <a:t>u3</a:t>
            </a:r>
            <a:endParaRPr lang="en-US" sz="1700" dirty="0"/>
          </a:p>
        </p:txBody>
      </p:sp>
      <p:sp>
        <p:nvSpPr>
          <p:cNvPr id="12" name="graph-panel-1-node-label-u3"/>
          <p:cNvSpPr txBox="1"/>
          <p:nvPr/>
        </p:nvSpPr>
        <p:spPr>
          <a:xfrm>
            <a:off x="1727200" y="2565400"/>
            <a:ext cx="1320800" cy="431800"/>
          </a:xfrm>
          <a:prstGeom prst="rect">
            <a:avLst/>
          </a:prstGeom>
          <a:noFill/>
          <a:ln/>
        </p:spPr>
        <p:txBody>
          <a:bodyPr wrap="square" lIns="0" tIns="0" rIns="0" bIns="0" rtlCol="0" anchor="ctr"/>
          <a:lstStyle/>
          <a:p>
            <a:pPr algn="ctr" indent="0" marL="0">
              <a:lnSpc>
                <a:spcPct val="105000"/>
              </a:lnSpc>
              <a:buNone/>
            </a:pPr>
            <a:r>
              <a:rPr lang="en-US" sz="1350" dirty="0">
                <a:solidFill>
                  <a:srgbClr val="173C37"/>
                </a:solidFill>
                <a:latin typeface="AppleGothic" pitchFamily="34" charset="0"/>
                <a:ea typeface="AppleGothic" pitchFamily="34" charset="-122"/>
                <a:cs typeface="AppleGothic" pitchFamily="34" charset="-120"/>
              </a:rPr>
              <a:t>정점 u</a:t>
            </a:r>
            <a:endParaRPr lang="en-US" sz="1350" dirty="0"/>
          </a:p>
          <a:p>
            <a:pPr algn="ctr" indent="0" marL="0">
              <a:lnSpc>
                <a:spcPct val="105000"/>
              </a:lnSpc>
              <a:buNone/>
            </a:pPr>
            <a:r>
              <a:rPr lang="en-US" sz="1350" dirty="0">
                <a:solidFill>
                  <a:srgbClr val="173C37"/>
                </a:solidFill>
                <a:latin typeface="AppleGothic" pitchFamily="34" charset="0"/>
                <a:ea typeface="AppleGothic" pitchFamily="34" charset="-122"/>
                <a:cs typeface="AppleGothic" pitchFamily="34" charset="-120"/>
              </a:rPr>
              <a:t>색 0</a:t>
            </a:r>
            <a:endParaRPr lang="en-US" sz="1350" dirty="0"/>
          </a:p>
        </p:txBody>
      </p:sp>
      <p:sp>
        <p:nvSpPr>
          <p:cNvPr id="13" name="graph-panel-1-node-v3"/>
          <p:cNvSpPr/>
          <p:nvPr/>
        </p:nvSpPr>
        <p:spPr>
          <a:xfrm>
            <a:off x="1279144" y="4724400"/>
            <a:ext cx="558800" cy="558800"/>
          </a:xfrm>
          <a:prstGeom prst="ellipse">
            <a:avLst/>
          </a:prstGeom>
          <a:solidFill>
            <a:srgbClr val="F2D9CC"/>
          </a:solidFill>
          <a:ln>
            <a:solidFill>
              <a:srgbClr val="0D685C"/>
            </a:solidFill>
          </a:ln>
        </p:spPr>
        <p:txBody>
          <a:bodyPr wrap="square" lIns="0" tIns="0" rIns="0" bIns="0" rtlCol="0" anchor="ctr"/>
          <a:lstStyle/>
          <a:p>
            <a:pPr algn="ctr" indent="0" marL="0">
              <a:buNone/>
            </a:pPr>
            <a:r>
              <a:rPr lang="en-US" sz="1700" b="1" dirty="0">
                <a:solidFill>
                  <a:srgbClr val="173C37"/>
                </a:solidFill>
                <a:latin typeface="Arial" pitchFamily="34" charset="0"/>
                <a:ea typeface="Arial" pitchFamily="34" charset="-122"/>
                <a:cs typeface="Arial" pitchFamily="34" charset="-120"/>
              </a:rPr>
              <a:t>v3</a:t>
            </a:r>
            <a:endParaRPr lang="en-US" sz="1700" dirty="0"/>
          </a:p>
        </p:txBody>
      </p:sp>
      <p:sp>
        <p:nvSpPr>
          <p:cNvPr id="14" name="graph-panel-1-node-label-v3"/>
          <p:cNvSpPr txBox="1"/>
          <p:nvPr/>
        </p:nvSpPr>
        <p:spPr>
          <a:xfrm>
            <a:off x="898144" y="5334000"/>
            <a:ext cx="1320800" cy="431800"/>
          </a:xfrm>
          <a:prstGeom prst="rect">
            <a:avLst/>
          </a:prstGeom>
          <a:noFill/>
          <a:ln/>
        </p:spPr>
        <p:txBody>
          <a:bodyPr wrap="square" lIns="0" tIns="0" rIns="0" bIns="0" rtlCol="0" anchor="ctr"/>
          <a:lstStyle/>
          <a:p>
            <a:pPr algn="ctr" indent="0" marL="0">
              <a:lnSpc>
                <a:spcPct val="105000"/>
              </a:lnSpc>
              <a:buNone/>
            </a:pPr>
            <a:r>
              <a:rPr lang="en-US" sz="1350" dirty="0">
                <a:solidFill>
                  <a:srgbClr val="173C37"/>
                </a:solidFill>
                <a:latin typeface="AppleGothic" pitchFamily="34" charset="0"/>
                <a:ea typeface="AppleGothic" pitchFamily="34" charset="-122"/>
                <a:cs typeface="AppleGothic" pitchFamily="34" charset="-120"/>
              </a:rPr>
              <a:t>정점 v</a:t>
            </a:r>
            <a:endParaRPr lang="en-US" sz="1350" dirty="0"/>
          </a:p>
          <a:p>
            <a:pPr algn="ctr" indent="0" marL="0">
              <a:lnSpc>
                <a:spcPct val="105000"/>
              </a:lnSpc>
              <a:buNone/>
            </a:pPr>
            <a:r>
              <a:rPr lang="en-US" sz="1350" dirty="0">
                <a:solidFill>
                  <a:srgbClr val="173C37"/>
                </a:solidFill>
                <a:latin typeface="AppleGothic" pitchFamily="34" charset="0"/>
                <a:ea typeface="AppleGothic" pitchFamily="34" charset="-122"/>
                <a:cs typeface="AppleGothic" pitchFamily="34" charset="-120"/>
              </a:rPr>
              <a:t>색 1</a:t>
            </a:r>
            <a:endParaRPr lang="en-US" sz="1350" dirty="0"/>
          </a:p>
        </p:txBody>
      </p:sp>
      <p:sp>
        <p:nvSpPr>
          <p:cNvPr id="15" name="graph-panel-1-node-w3"/>
          <p:cNvSpPr/>
          <p:nvPr/>
        </p:nvSpPr>
        <p:spPr>
          <a:xfrm>
            <a:off x="2937256" y="4724400"/>
            <a:ext cx="558800" cy="558800"/>
          </a:xfrm>
          <a:prstGeom prst="ellipse">
            <a:avLst/>
          </a:prstGeom>
          <a:solidFill>
            <a:srgbClr val="DCE3F2"/>
          </a:solidFill>
          <a:ln>
            <a:solidFill>
              <a:srgbClr val="0D685C"/>
            </a:solidFill>
          </a:ln>
        </p:spPr>
        <p:txBody>
          <a:bodyPr wrap="square" lIns="0" tIns="0" rIns="0" bIns="0" rtlCol="0" anchor="ctr"/>
          <a:lstStyle/>
          <a:p>
            <a:pPr algn="ctr" indent="0" marL="0">
              <a:buNone/>
            </a:pPr>
            <a:r>
              <a:rPr lang="en-US" sz="1700" b="1" dirty="0">
                <a:solidFill>
                  <a:srgbClr val="173C37"/>
                </a:solidFill>
                <a:latin typeface="Arial" pitchFamily="34" charset="0"/>
                <a:ea typeface="Arial" pitchFamily="34" charset="-122"/>
                <a:cs typeface="Arial" pitchFamily="34" charset="-120"/>
              </a:rPr>
              <a:t>w3</a:t>
            </a:r>
            <a:endParaRPr lang="en-US" sz="1700" dirty="0"/>
          </a:p>
        </p:txBody>
      </p:sp>
      <p:sp>
        <p:nvSpPr>
          <p:cNvPr id="16" name="graph-panel-1-node-label-w3"/>
          <p:cNvSpPr txBox="1"/>
          <p:nvPr/>
        </p:nvSpPr>
        <p:spPr>
          <a:xfrm>
            <a:off x="2556256" y="5334000"/>
            <a:ext cx="1320800" cy="431800"/>
          </a:xfrm>
          <a:prstGeom prst="rect">
            <a:avLst/>
          </a:prstGeom>
          <a:noFill/>
          <a:ln/>
        </p:spPr>
        <p:txBody>
          <a:bodyPr wrap="square" lIns="0" tIns="0" rIns="0" bIns="0" rtlCol="0" anchor="ctr"/>
          <a:lstStyle/>
          <a:p>
            <a:pPr algn="ctr" indent="0" marL="0">
              <a:lnSpc>
                <a:spcPct val="105000"/>
              </a:lnSpc>
              <a:buNone/>
            </a:pPr>
            <a:r>
              <a:rPr lang="en-US" sz="1350" dirty="0">
                <a:solidFill>
                  <a:srgbClr val="173C37"/>
                </a:solidFill>
                <a:latin typeface="AppleGothic" pitchFamily="34" charset="0"/>
                <a:ea typeface="AppleGothic" pitchFamily="34" charset="-122"/>
                <a:cs typeface="AppleGothic" pitchFamily="34" charset="-120"/>
              </a:rPr>
              <a:t>정점 w</a:t>
            </a:r>
            <a:endParaRPr lang="en-US" sz="1350" dirty="0"/>
          </a:p>
          <a:p>
            <a:pPr algn="ctr" indent="0" marL="0">
              <a:lnSpc>
                <a:spcPct val="105000"/>
              </a:lnSpc>
              <a:buNone/>
            </a:pPr>
            <a:r>
              <a:rPr lang="en-US" sz="1350" dirty="0">
                <a:solidFill>
                  <a:srgbClr val="173C37"/>
                </a:solidFill>
                <a:latin typeface="AppleGothic" pitchFamily="34" charset="0"/>
                <a:ea typeface="AppleGothic" pitchFamily="34" charset="-122"/>
                <a:cs typeface="AppleGothic" pitchFamily="34" charset="-120"/>
              </a:rPr>
              <a:t>색 2</a:t>
            </a:r>
            <a:endParaRPr lang="en-US" sz="1350" dirty="0"/>
          </a:p>
        </p:txBody>
      </p:sp>
      <p:sp>
        <p:nvSpPr>
          <p:cNvPr id="17" name="graph-panel-2-caption"/>
          <p:cNvSpPr txBox="1"/>
          <p:nvPr/>
        </p:nvSpPr>
        <p:spPr>
          <a:xfrm>
            <a:off x="4368800" y="2082800"/>
            <a:ext cx="3454400" cy="330200"/>
          </a:xfrm>
          <a:prstGeom prst="rect">
            <a:avLst/>
          </a:prstGeom>
          <a:noFill/>
          <a:ln/>
        </p:spPr>
        <p:txBody>
          <a:bodyPr wrap="square" lIns="0" tIns="0" rIns="0" bIns="0" rtlCol="0" anchor="ctr"/>
          <a:lstStyle/>
          <a:p>
            <a:pPr algn="ctr" indent="0" marL="0">
              <a:lnSpc>
                <a:spcPct val="120000"/>
              </a:lnSpc>
              <a:buNone/>
            </a:pPr>
            <a:r>
              <a:rPr lang="en-US" sz="1650" b="1" dirty="0">
                <a:solidFill>
                  <a:srgbClr val="173C37"/>
                </a:solidFill>
                <a:latin typeface="AppleGothic" pitchFamily="34" charset="0"/>
                <a:ea typeface="AppleGothic" pitchFamily="34" charset="-122"/>
                <a:cs typeface="AppleGothic" pitchFamily="34" charset="-120"/>
              </a:rPr>
              <a:t>Type-2 · 색 라벨 0,0,1</a:t>
            </a:r>
            <a:endParaRPr lang="en-US" sz="1650" dirty="0"/>
          </a:p>
        </p:txBody>
      </p:sp>
      <p:sp>
        <p:nvSpPr>
          <p:cNvPr id="18" name="graph-panel-2-edge-line-u2-v2"/>
          <p:cNvSpPr/>
          <p:nvPr/>
        </p:nvSpPr>
        <p:spPr>
          <a:xfrm flipV="1">
            <a:off x="5266944" y="3390900"/>
            <a:ext cx="829056" cy="1612900"/>
          </a:xfrm>
          <a:prstGeom prst="line">
            <a:avLst/>
          </a:prstGeom>
          <a:noFill/>
          <a:ln w="12700">
            <a:solidFill>
              <a:srgbClr val="5E6D69"/>
            </a:solidFill>
            <a:prstDash val="solid"/>
            <a:headEnd type="none"/>
            <a:tailEnd type="none"/>
          </a:ln>
        </p:spPr>
        <p:txBody>
          <a:bodyPr/>
          <a:lstStyle/>
          <a:p>
            <a:endParaRPr lang="ko-KR"/>
          </a:p>
        </p:txBody>
      </p:sp>
      <p:sp>
        <p:nvSpPr>
          <p:cNvPr id="19" name="graph-panel-2-edge-label-u2-v2"/>
          <p:cNvSpPr txBox="1"/>
          <p:nvPr/>
        </p:nvSpPr>
        <p:spPr>
          <a:xfrm>
            <a:off x="4995672" y="4070350"/>
            <a:ext cx="762000" cy="228600"/>
          </a:xfrm>
          <a:prstGeom prst="rect">
            <a:avLst/>
          </a:prstGeom>
          <a:noFill/>
          <a:ln/>
        </p:spPr>
        <p:txBody>
          <a:bodyPr wrap="square" lIns="0" tIns="0" rIns="0" bIns="0" rtlCol="0" anchor="ctr"/>
          <a:lstStyle/>
          <a:p>
            <a:pPr algn="ctr" indent="0" marL="0">
              <a:lnSpc>
                <a:spcPct val="120000"/>
              </a:lnSpc>
              <a:buNone/>
            </a:pPr>
            <a:r>
              <a:rPr lang="en-US" sz="1250" b="1" dirty="0">
                <a:solidFill>
                  <a:srgbClr val="173C37"/>
                </a:solidFill>
                <a:latin typeface="AppleGothic" pitchFamily="34" charset="0"/>
                <a:ea typeface="AppleGothic" pitchFamily="34" charset="-122"/>
                <a:cs typeface="AppleGothic" pitchFamily="34" charset="-120"/>
              </a:rPr>
              <a:t>E00</a:t>
            </a:r>
            <a:endParaRPr lang="en-US" sz="1250" dirty="0"/>
          </a:p>
        </p:txBody>
      </p:sp>
      <p:sp>
        <p:nvSpPr>
          <p:cNvPr id="20" name="graph-panel-2-edge-line-u2-w2"/>
          <p:cNvSpPr/>
          <p:nvPr/>
        </p:nvSpPr>
        <p:spPr>
          <a:xfrm>
            <a:off x="6096000" y="3390900"/>
            <a:ext cx="829056" cy="1612900"/>
          </a:xfrm>
          <a:prstGeom prst="line">
            <a:avLst/>
          </a:prstGeom>
          <a:noFill/>
          <a:ln w="12700">
            <a:solidFill>
              <a:srgbClr val="5E6D69"/>
            </a:solidFill>
            <a:prstDash val="solid"/>
            <a:headEnd type="none"/>
            <a:tailEnd type="none"/>
          </a:ln>
        </p:spPr>
        <p:txBody>
          <a:bodyPr/>
          <a:lstStyle/>
          <a:p>
            <a:endParaRPr lang="ko-KR"/>
          </a:p>
        </p:txBody>
      </p:sp>
      <p:sp>
        <p:nvSpPr>
          <p:cNvPr id="21" name="graph-panel-2-edge-label-u2-w2"/>
          <p:cNvSpPr txBox="1"/>
          <p:nvPr/>
        </p:nvSpPr>
        <p:spPr>
          <a:xfrm>
            <a:off x="6612128" y="4070350"/>
            <a:ext cx="762000" cy="228600"/>
          </a:xfrm>
          <a:prstGeom prst="rect">
            <a:avLst/>
          </a:prstGeom>
          <a:noFill/>
          <a:ln/>
        </p:spPr>
        <p:txBody>
          <a:bodyPr wrap="square" lIns="0" tIns="0" rIns="0" bIns="0" rtlCol="0" anchor="ctr"/>
          <a:lstStyle/>
          <a:p>
            <a:pPr algn="ctr" indent="0" marL="0">
              <a:lnSpc>
                <a:spcPct val="120000"/>
              </a:lnSpc>
              <a:buNone/>
            </a:pPr>
            <a:r>
              <a:rPr lang="en-US" sz="1250" b="1" dirty="0">
                <a:solidFill>
                  <a:srgbClr val="173C37"/>
                </a:solidFill>
                <a:latin typeface="AppleGothic" pitchFamily="34" charset="0"/>
                <a:ea typeface="AppleGothic" pitchFamily="34" charset="-122"/>
                <a:cs typeface="AppleGothic" pitchFamily="34" charset="-120"/>
              </a:rPr>
              <a:t>E01</a:t>
            </a:r>
            <a:endParaRPr lang="en-US" sz="1250" dirty="0"/>
          </a:p>
        </p:txBody>
      </p:sp>
      <p:sp>
        <p:nvSpPr>
          <p:cNvPr id="22" name="graph-panel-2-edge-line-v2-w2"/>
          <p:cNvSpPr/>
          <p:nvPr/>
        </p:nvSpPr>
        <p:spPr>
          <a:xfrm flipV="1">
            <a:off x="5266944" y="5003800"/>
            <a:ext cx="1658112" cy="0"/>
          </a:xfrm>
          <a:prstGeom prst="line">
            <a:avLst/>
          </a:prstGeom>
          <a:noFill/>
          <a:ln w="12700">
            <a:solidFill>
              <a:srgbClr val="5E6D69"/>
            </a:solidFill>
            <a:prstDash val="solid"/>
            <a:headEnd type="none"/>
            <a:tailEnd type="none"/>
          </a:ln>
        </p:spPr>
        <p:txBody>
          <a:bodyPr/>
          <a:lstStyle/>
          <a:p>
            <a:endParaRPr lang="ko-KR"/>
          </a:p>
        </p:txBody>
      </p:sp>
      <p:sp>
        <p:nvSpPr>
          <p:cNvPr id="23" name="graph-panel-2-edge-label-v2-w2"/>
          <p:cNvSpPr txBox="1"/>
          <p:nvPr/>
        </p:nvSpPr>
        <p:spPr>
          <a:xfrm>
            <a:off x="5715000" y="5143500"/>
            <a:ext cx="762000" cy="228600"/>
          </a:xfrm>
          <a:prstGeom prst="rect">
            <a:avLst/>
          </a:prstGeom>
          <a:noFill/>
          <a:ln/>
        </p:spPr>
        <p:txBody>
          <a:bodyPr wrap="square" lIns="0" tIns="0" rIns="0" bIns="0" rtlCol="0" anchor="ctr"/>
          <a:lstStyle/>
          <a:p>
            <a:pPr algn="ctr" indent="0" marL="0">
              <a:lnSpc>
                <a:spcPct val="120000"/>
              </a:lnSpc>
              <a:buNone/>
            </a:pPr>
            <a:r>
              <a:rPr lang="en-US" sz="1250" b="1" dirty="0">
                <a:solidFill>
                  <a:srgbClr val="173C37"/>
                </a:solidFill>
                <a:latin typeface="AppleGothic" pitchFamily="34" charset="0"/>
                <a:ea typeface="AppleGothic" pitchFamily="34" charset="-122"/>
                <a:cs typeface="AppleGothic" pitchFamily="34" charset="-120"/>
              </a:rPr>
              <a:t>E01</a:t>
            </a:r>
            <a:endParaRPr lang="en-US" sz="1250" dirty="0"/>
          </a:p>
        </p:txBody>
      </p:sp>
      <p:sp>
        <p:nvSpPr>
          <p:cNvPr id="24" name="graph-panel-2-node-u2"/>
          <p:cNvSpPr/>
          <p:nvPr/>
        </p:nvSpPr>
        <p:spPr>
          <a:xfrm>
            <a:off x="5816600" y="3111500"/>
            <a:ext cx="558800" cy="558800"/>
          </a:xfrm>
          <a:prstGeom prst="ellipse">
            <a:avLst/>
          </a:prstGeom>
          <a:solidFill>
            <a:srgbClr val="D7ECE6"/>
          </a:solidFill>
          <a:ln>
            <a:solidFill>
              <a:srgbClr val="0D685C"/>
            </a:solidFill>
          </a:ln>
        </p:spPr>
        <p:txBody>
          <a:bodyPr wrap="square" lIns="0" tIns="0" rIns="0" bIns="0" rtlCol="0" anchor="ctr"/>
          <a:lstStyle/>
          <a:p>
            <a:pPr algn="ctr" indent="0" marL="0">
              <a:buNone/>
            </a:pPr>
            <a:r>
              <a:rPr lang="en-US" sz="1700" b="1" dirty="0">
                <a:solidFill>
                  <a:srgbClr val="173C37"/>
                </a:solidFill>
                <a:latin typeface="Arial" pitchFamily="34" charset="0"/>
                <a:ea typeface="Arial" pitchFamily="34" charset="-122"/>
                <a:cs typeface="Arial" pitchFamily="34" charset="-120"/>
              </a:rPr>
              <a:t>u2</a:t>
            </a:r>
            <a:endParaRPr lang="en-US" sz="1700" dirty="0"/>
          </a:p>
        </p:txBody>
      </p:sp>
      <p:sp>
        <p:nvSpPr>
          <p:cNvPr id="25" name="graph-panel-2-node-label-u2"/>
          <p:cNvSpPr txBox="1"/>
          <p:nvPr/>
        </p:nvSpPr>
        <p:spPr>
          <a:xfrm>
            <a:off x="5435600" y="2565400"/>
            <a:ext cx="1320800" cy="431800"/>
          </a:xfrm>
          <a:prstGeom prst="rect">
            <a:avLst/>
          </a:prstGeom>
          <a:noFill/>
          <a:ln/>
        </p:spPr>
        <p:txBody>
          <a:bodyPr wrap="square" lIns="0" tIns="0" rIns="0" bIns="0" rtlCol="0" anchor="ctr"/>
          <a:lstStyle/>
          <a:p>
            <a:pPr algn="ctr" indent="0" marL="0">
              <a:lnSpc>
                <a:spcPct val="105000"/>
              </a:lnSpc>
              <a:buNone/>
            </a:pPr>
            <a:r>
              <a:rPr lang="en-US" sz="1350" dirty="0">
                <a:solidFill>
                  <a:srgbClr val="173C37"/>
                </a:solidFill>
                <a:latin typeface="AppleGothic" pitchFamily="34" charset="0"/>
                <a:ea typeface="AppleGothic" pitchFamily="34" charset="-122"/>
                <a:cs typeface="AppleGothic" pitchFamily="34" charset="-120"/>
              </a:rPr>
              <a:t>정점 u</a:t>
            </a:r>
            <a:endParaRPr lang="en-US" sz="1350" dirty="0"/>
          </a:p>
          <a:p>
            <a:pPr algn="ctr" indent="0" marL="0">
              <a:lnSpc>
                <a:spcPct val="105000"/>
              </a:lnSpc>
              <a:buNone/>
            </a:pPr>
            <a:r>
              <a:rPr lang="en-US" sz="1350" dirty="0">
                <a:solidFill>
                  <a:srgbClr val="173C37"/>
                </a:solidFill>
                <a:latin typeface="AppleGothic" pitchFamily="34" charset="0"/>
                <a:ea typeface="AppleGothic" pitchFamily="34" charset="-122"/>
                <a:cs typeface="AppleGothic" pitchFamily="34" charset="-120"/>
              </a:rPr>
              <a:t>색 0</a:t>
            </a:r>
            <a:endParaRPr lang="en-US" sz="1350" dirty="0"/>
          </a:p>
        </p:txBody>
      </p:sp>
      <p:sp>
        <p:nvSpPr>
          <p:cNvPr id="26" name="graph-panel-2-node-v2"/>
          <p:cNvSpPr/>
          <p:nvPr/>
        </p:nvSpPr>
        <p:spPr>
          <a:xfrm>
            <a:off x="4987544" y="4724400"/>
            <a:ext cx="558800" cy="558800"/>
          </a:xfrm>
          <a:prstGeom prst="ellipse">
            <a:avLst/>
          </a:prstGeom>
          <a:solidFill>
            <a:srgbClr val="D7ECE6"/>
          </a:solidFill>
          <a:ln>
            <a:solidFill>
              <a:srgbClr val="0D685C"/>
            </a:solidFill>
          </a:ln>
        </p:spPr>
        <p:txBody>
          <a:bodyPr wrap="square" lIns="0" tIns="0" rIns="0" bIns="0" rtlCol="0" anchor="ctr"/>
          <a:lstStyle/>
          <a:p>
            <a:pPr algn="ctr" indent="0" marL="0">
              <a:buNone/>
            </a:pPr>
            <a:r>
              <a:rPr lang="en-US" sz="1700" b="1" dirty="0">
                <a:solidFill>
                  <a:srgbClr val="173C37"/>
                </a:solidFill>
                <a:latin typeface="Arial" pitchFamily="34" charset="0"/>
                <a:ea typeface="Arial" pitchFamily="34" charset="-122"/>
                <a:cs typeface="Arial" pitchFamily="34" charset="-120"/>
              </a:rPr>
              <a:t>v2</a:t>
            </a:r>
            <a:endParaRPr lang="en-US" sz="1700" dirty="0"/>
          </a:p>
        </p:txBody>
      </p:sp>
      <p:sp>
        <p:nvSpPr>
          <p:cNvPr id="27" name="graph-panel-2-node-label-v2"/>
          <p:cNvSpPr txBox="1"/>
          <p:nvPr/>
        </p:nvSpPr>
        <p:spPr>
          <a:xfrm>
            <a:off x="4606544" y="5334000"/>
            <a:ext cx="1320800" cy="431800"/>
          </a:xfrm>
          <a:prstGeom prst="rect">
            <a:avLst/>
          </a:prstGeom>
          <a:noFill/>
          <a:ln/>
        </p:spPr>
        <p:txBody>
          <a:bodyPr wrap="square" lIns="0" tIns="0" rIns="0" bIns="0" rtlCol="0" anchor="ctr"/>
          <a:lstStyle/>
          <a:p>
            <a:pPr algn="ctr" indent="0" marL="0">
              <a:lnSpc>
                <a:spcPct val="105000"/>
              </a:lnSpc>
              <a:buNone/>
            </a:pPr>
            <a:r>
              <a:rPr lang="en-US" sz="1350" dirty="0">
                <a:solidFill>
                  <a:srgbClr val="173C37"/>
                </a:solidFill>
                <a:latin typeface="AppleGothic" pitchFamily="34" charset="0"/>
                <a:ea typeface="AppleGothic" pitchFamily="34" charset="-122"/>
                <a:cs typeface="AppleGothic" pitchFamily="34" charset="-120"/>
              </a:rPr>
              <a:t>정점 v</a:t>
            </a:r>
            <a:endParaRPr lang="en-US" sz="1350" dirty="0"/>
          </a:p>
          <a:p>
            <a:pPr algn="ctr" indent="0" marL="0">
              <a:lnSpc>
                <a:spcPct val="105000"/>
              </a:lnSpc>
              <a:buNone/>
            </a:pPr>
            <a:r>
              <a:rPr lang="en-US" sz="1350" dirty="0">
                <a:solidFill>
                  <a:srgbClr val="173C37"/>
                </a:solidFill>
                <a:latin typeface="AppleGothic" pitchFamily="34" charset="0"/>
                <a:ea typeface="AppleGothic" pitchFamily="34" charset="-122"/>
                <a:cs typeface="AppleGothic" pitchFamily="34" charset="-120"/>
              </a:rPr>
              <a:t>색 0</a:t>
            </a:r>
            <a:endParaRPr lang="en-US" sz="1350" dirty="0"/>
          </a:p>
        </p:txBody>
      </p:sp>
      <p:sp>
        <p:nvSpPr>
          <p:cNvPr id="28" name="graph-panel-2-node-w2"/>
          <p:cNvSpPr/>
          <p:nvPr/>
        </p:nvSpPr>
        <p:spPr>
          <a:xfrm>
            <a:off x="6645656" y="4724400"/>
            <a:ext cx="558800" cy="558800"/>
          </a:xfrm>
          <a:prstGeom prst="ellipse">
            <a:avLst/>
          </a:prstGeom>
          <a:solidFill>
            <a:srgbClr val="F2D9CC"/>
          </a:solidFill>
          <a:ln>
            <a:solidFill>
              <a:srgbClr val="0D685C"/>
            </a:solidFill>
          </a:ln>
        </p:spPr>
        <p:txBody>
          <a:bodyPr wrap="square" lIns="0" tIns="0" rIns="0" bIns="0" rtlCol="0" anchor="ctr"/>
          <a:lstStyle/>
          <a:p>
            <a:pPr algn="ctr" indent="0" marL="0">
              <a:buNone/>
            </a:pPr>
            <a:r>
              <a:rPr lang="en-US" sz="1700" b="1" dirty="0">
                <a:solidFill>
                  <a:srgbClr val="173C37"/>
                </a:solidFill>
                <a:latin typeface="Arial" pitchFamily="34" charset="0"/>
                <a:ea typeface="Arial" pitchFamily="34" charset="-122"/>
                <a:cs typeface="Arial" pitchFamily="34" charset="-120"/>
              </a:rPr>
              <a:t>w2</a:t>
            </a:r>
            <a:endParaRPr lang="en-US" sz="1700" dirty="0"/>
          </a:p>
        </p:txBody>
      </p:sp>
      <p:sp>
        <p:nvSpPr>
          <p:cNvPr id="29" name="graph-panel-2-node-label-w2"/>
          <p:cNvSpPr txBox="1"/>
          <p:nvPr/>
        </p:nvSpPr>
        <p:spPr>
          <a:xfrm>
            <a:off x="6264656" y="5334000"/>
            <a:ext cx="1320800" cy="431800"/>
          </a:xfrm>
          <a:prstGeom prst="rect">
            <a:avLst/>
          </a:prstGeom>
          <a:noFill/>
          <a:ln/>
        </p:spPr>
        <p:txBody>
          <a:bodyPr wrap="square" lIns="0" tIns="0" rIns="0" bIns="0" rtlCol="0" anchor="ctr"/>
          <a:lstStyle/>
          <a:p>
            <a:pPr algn="ctr" indent="0" marL="0">
              <a:lnSpc>
                <a:spcPct val="105000"/>
              </a:lnSpc>
              <a:buNone/>
            </a:pPr>
            <a:r>
              <a:rPr lang="en-US" sz="1350" dirty="0">
                <a:solidFill>
                  <a:srgbClr val="173C37"/>
                </a:solidFill>
                <a:latin typeface="AppleGothic" pitchFamily="34" charset="0"/>
                <a:ea typeface="AppleGothic" pitchFamily="34" charset="-122"/>
                <a:cs typeface="AppleGothic" pitchFamily="34" charset="-120"/>
              </a:rPr>
              <a:t>정점 w</a:t>
            </a:r>
            <a:endParaRPr lang="en-US" sz="1350" dirty="0"/>
          </a:p>
          <a:p>
            <a:pPr algn="ctr" indent="0" marL="0">
              <a:lnSpc>
                <a:spcPct val="105000"/>
              </a:lnSpc>
              <a:buNone/>
            </a:pPr>
            <a:r>
              <a:rPr lang="en-US" sz="1350" dirty="0">
                <a:solidFill>
                  <a:srgbClr val="173C37"/>
                </a:solidFill>
                <a:latin typeface="AppleGothic" pitchFamily="34" charset="0"/>
                <a:ea typeface="AppleGothic" pitchFamily="34" charset="-122"/>
                <a:cs typeface="AppleGothic" pitchFamily="34" charset="-120"/>
              </a:rPr>
              <a:t>색 1</a:t>
            </a:r>
            <a:endParaRPr lang="en-US" sz="1350" dirty="0"/>
          </a:p>
        </p:txBody>
      </p:sp>
      <p:sp>
        <p:nvSpPr>
          <p:cNvPr id="30" name="graph-panel-3-caption"/>
          <p:cNvSpPr txBox="1"/>
          <p:nvPr/>
        </p:nvSpPr>
        <p:spPr>
          <a:xfrm>
            <a:off x="8077200" y="2082800"/>
            <a:ext cx="3454400" cy="330200"/>
          </a:xfrm>
          <a:prstGeom prst="rect">
            <a:avLst/>
          </a:prstGeom>
          <a:noFill/>
          <a:ln/>
        </p:spPr>
        <p:txBody>
          <a:bodyPr wrap="square" lIns="0" tIns="0" rIns="0" bIns="0" rtlCol="0" anchor="ctr"/>
          <a:lstStyle/>
          <a:p>
            <a:pPr algn="ctr" indent="0" marL="0">
              <a:lnSpc>
                <a:spcPct val="120000"/>
              </a:lnSpc>
              <a:buNone/>
            </a:pPr>
            <a:r>
              <a:rPr lang="en-US" sz="1650" b="1" dirty="0">
                <a:solidFill>
                  <a:srgbClr val="173C37"/>
                </a:solidFill>
                <a:latin typeface="AppleGothic" pitchFamily="34" charset="0"/>
                <a:ea typeface="AppleGothic" pitchFamily="34" charset="-122"/>
                <a:cs typeface="AppleGothic" pitchFamily="34" charset="-120"/>
              </a:rPr>
              <a:t>Type-1 · 색 라벨 1,1,1</a:t>
            </a:r>
            <a:endParaRPr lang="en-US" sz="1650" dirty="0"/>
          </a:p>
        </p:txBody>
      </p:sp>
      <p:sp>
        <p:nvSpPr>
          <p:cNvPr id="31" name="graph-panel-3-edge-line-u1-v1"/>
          <p:cNvSpPr/>
          <p:nvPr/>
        </p:nvSpPr>
        <p:spPr>
          <a:xfrm flipV="1">
            <a:off x="8975344" y="3390900"/>
            <a:ext cx="829056" cy="1612900"/>
          </a:xfrm>
          <a:prstGeom prst="line">
            <a:avLst/>
          </a:prstGeom>
          <a:noFill/>
          <a:ln w="12700">
            <a:solidFill>
              <a:srgbClr val="5E6D69"/>
            </a:solidFill>
            <a:prstDash val="solid"/>
            <a:headEnd type="none"/>
            <a:tailEnd type="none"/>
          </a:ln>
        </p:spPr>
        <p:txBody>
          <a:bodyPr/>
          <a:lstStyle/>
          <a:p>
            <a:endParaRPr lang="ko-KR"/>
          </a:p>
        </p:txBody>
      </p:sp>
      <p:sp>
        <p:nvSpPr>
          <p:cNvPr id="32" name="graph-panel-3-edge-label-u1-v1"/>
          <p:cNvSpPr txBox="1"/>
          <p:nvPr/>
        </p:nvSpPr>
        <p:spPr>
          <a:xfrm>
            <a:off x="8704072" y="4070350"/>
            <a:ext cx="762000" cy="228600"/>
          </a:xfrm>
          <a:prstGeom prst="rect">
            <a:avLst/>
          </a:prstGeom>
          <a:noFill/>
          <a:ln/>
        </p:spPr>
        <p:txBody>
          <a:bodyPr wrap="square" lIns="0" tIns="0" rIns="0" bIns="0" rtlCol="0" anchor="ctr"/>
          <a:lstStyle/>
          <a:p>
            <a:pPr algn="ctr" indent="0" marL="0">
              <a:lnSpc>
                <a:spcPct val="120000"/>
              </a:lnSpc>
              <a:buNone/>
            </a:pPr>
            <a:r>
              <a:rPr lang="en-US" sz="1250" b="1" dirty="0">
                <a:solidFill>
                  <a:srgbClr val="173C37"/>
                </a:solidFill>
                <a:latin typeface="AppleGothic" pitchFamily="34" charset="0"/>
                <a:ea typeface="AppleGothic" pitchFamily="34" charset="-122"/>
                <a:cs typeface="AppleGothic" pitchFamily="34" charset="-120"/>
              </a:rPr>
              <a:t>E11</a:t>
            </a:r>
            <a:endParaRPr lang="en-US" sz="1250" dirty="0"/>
          </a:p>
        </p:txBody>
      </p:sp>
      <p:sp>
        <p:nvSpPr>
          <p:cNvPr id="33" name="graph-panel-3-edge-line-u1-w1"/>
          <p:cNvSpPr/>
          <p:nvPr/>
        </p:nvSpPr>
        <p:spPr>
          <a:xfrm>
            <a:off x="9804400" y="3390900"/>
            <a:ext cx="829056" cy="1612900"/>
          </a:xfrm>
          <a:prstGeom prst="line">
            <a:avLst/>
          </a:prstGeom>
          <a:noFill/>
          <a:ln w="12700">
            <a:solidFill>
              <a:srgbClr val="5E6D69"/>
            </a:solidFill>
            <a:prstDash val="solid"/>
            <a:headEnd type="none"/>
            <a:tailEnd type="none"/>
          </a:ln>
        </p:spPr>
        <p:txBody>
          <a:bodyPr/>
          <a:lstStyle/>
          <a:p>
            <a:endParaRPr lang="ko-KR"/>
          </a:p>
        </p:txBody>
      </p:sp>
      <p:sp>
        <p:nvSpPr>
          <p:cNvPr id="34" name="graph-panel-3-edge-label-u1-w1"/>
          <p:cNvSpPr txBox="1"/>
          <p:nvPr/>
        </p:nvSpPr>
        <p:spPr>
          <a:xfrm>
            <a:off x="10320528" y="4070350"/>
            <a:ext cx="762000" cy="228600"/>
          </a:xfrm>
          <a:prstGeom prst="rect">
            <a:avLst/>
          </a:prstGeom>
          <a:noFill/>
          <a:ln/>
        </p:spPr>
        <p:txBody>
          <a:bodyPr wrap="square" lIns="0" tIns="0" rIns="0" bIns="0" rtlCol="0" anchor="ctr"/>
          <a:lstStyle/>
          <a:p>
            <a:pPr algn="ctr" indent="0" marL="0">
              <a:lnSpc>
                <a:spcPct val="120000"/>
              </a:lnSpc>
              <a:buNone/>
            </a:pPr>
            <a:r>
              <a:rPr lang="en-US" sz="1250" b="1" dirty="0">
                <a:solidFill>
                  <a:srgbClr val="173C37"/>
                </a:solidFill>
                <a:latin typeface="AppleGothic" pitchFamily="34" charset="0"/>
                <a:ea typeface="AppleGothic" pitchFamily="34" charset="-122"/>
                <a:cs typeface="AppleGothic" pitchFamily="34" charset="-120"/>
              </a:rPr>
              <a:t>E11</a:t>
            </a:r>
            <a:endParaRPr lang="en-US" sz="1250" dirty="0"/>
          </a:p>
        </p:txBody>
      </p:sp>
      <p:sp>
        <p:nvSpPr>
          <p:cNvPr id="35" name="graph-panel-3-edge-line-v1-w1"/>
          <p:cNvSpPr/>
          <p:nvPr/>
        </p:nvSpPr>
        <p:spPr>
          <a:xfrm flipV="1">
            <a:off x="8975344" y="5003800"/>
            <a:ext cx="1658112" cy="0"/>
          </a:xfrm>
          <a:prstGeom prst="line">
            <a:avLst/>
          </a:prstGeom>
          <a:noFill/>
          <a:ln w="12700">
            <a:solidFill>
              <a:srgbClr val="5E6D69"/>
            </a:solidFill>
            <a:prstDash val="solid"/>
            <a:headEnd type="none"/>
            <a:tailEnd type="none"/>
          </a:ln>
        </p:spPr>
        <p:txBody>
          <a:bodyPr/>
          <a:lstStyle/>
          <a:p>
            <a:endParaRPr lang="ko-KR"/>
          </a:p>
        </p:txBody>
      </p:sp>
      <p:sp>
        <p:nvSpPr>
          <p:cNvPr id="36" name="graph-panel-3-edge-label-v1-w1"/>
          <p:cNvSpPr txBox="1"/>
          <p:nvPr/>
        </p:nvSpPr>
        <p:spPr>
          <a:xfrm>
            <a:off x="9423400" y="5143500"/>
            <a:ext cx="762000" cy="228600"/>
          </a:xfrm>
          <a:prstGeom prst="rect">
            <a:avLst/>
          </a:prstGeom>
          <a:noFill/>
          <a:ln/>
        </p:spPr>
        <p:txBody>
          <a:bodyPr wrap="square" lIns="0" tIns="0" rIns="0" bIns="0" rtlCol="0" anchor="ctr"/>
          <a:lstStyle/>
          <a:p>
            <a:pPr algn="ctr" indent="0" marL="0">
              <a:lnSpc>
                <a:spcPct val="120000"/>
              </a:lnSpc>
              <a:buNone/>
            </a:pPr>
            <a:r>
              <a:rPr lang="en-US" sz="1250" b="1" dirty="0">
                <a:solidFill>
                  <a:srgbClr val="173C37"/>
                </a:solidFill>
                <a:latin typeface="AppleGothic" pitchFamily="34" charset="0"/>
                <a:ea typeface="AppleGothic" pitchFamily="34" charset="-122"/>
                <a:cs typeface="AppleGothic" pitchFamily="34" charset="-120"/>
              </a:rPr>
              <a:t>E11</a:t>
            </a:r>
            <a:endParaRPr lang="en-US" sz="1250" dirty="0"/>
          </a:p>
        </p:txBody>
      </p:sp>
      <p:sp>
        <p:nvSpPr>
          <p:cNvPr id="37" name="graph-panel-3-node-u1"/>
          <p:cNvSpPr/>
          <p:nvPr/>
        </p:nvSpPr>
        <p:spPr>
          <a:xfrm>
            <a:off x="9525000" y="3111500"/>
            <a:ext cx="558800" cy="558800"/>
          </a:xfrm>
          <a:prstGeom prst="ellipse">
            <a:avLst/>
          </a:prstGeom>
          <a:solidFill>
            <a:srgbClr val="F2D9CC"/>
          </a:solidFill>
          <a:ln>
            <a:solidFill>
              <a:srgbClr val="0D685C"/>
            </a:solidFill>
          </a:ln>
        </p:spPr>
        <p:txBody>
          <a:bodyPr wrap="square" lIns="0" tIns="0" rIns="0" bIns="0" rtlCol="0" anchor="ctr"/>
          <a:lstStyle/>
          <a:p>
            <a:pPr algn="ctr" indent="0" marL="0">
              <a:buNone/>
            </a:pPr>
            <a:r>
              <a:rPr lang="en-US" sz="1700" b="1" dirty="0">
                <a:solidFill>
                  <a:srgbClr val="173C37"/>
                </a:solidFill>
                <a:latin typeface="Arial" pitchFamily="34" charset="0"/>
                <a:ea typeface="Arial" pitchFamily="34" charset="-122"/>
                <a:cs typeface="Arial" pitchFamily="34" charset="-120"/>
              </a:rPr>
              <a:t>u1</a:t>
            </a:r>
            <a:endParaRPr lang="en-US" sz="1700" dirty="0"/>
          </a:p>
        </p:txBody>
      </p:sp>
      <p:sp>
        <p:nvSpPr>
          <p:cNvPr id="38" name="graph-panel-3-node-label-u1"/>
          <p:cNvSpPr txBox="1"/>
          <p:nvPr/>
        </p:nvSpPr>
        <p:spPr>
          <a:xfrm>
            <a:off x="9144000" y="2565400"/>
            <a:ext cx="1320800" cy="431800"/>
          </a:xfrm>
          <a:prstGeom prst="rect">
            <a:avLst/>
          </a:prstGeom>
          <a:noFill/>
          <a:ln/>
        </p:spPr>
        <p:txBody>
          <a:bodyPr wrap="square" lIns="0" tIns="0" rIns="0" bIns="0" rtlCol="0" anchor="ctr"/>
          <a:lstStyle/>
          <a:p>
            <a:pPr algn="ctr" indent="0" marL="0">
              <a:lnSpc>
                <a:spcPct val="105000"/>
              </a:lnSpc>
              <a:buNone/>
            </a:pPr>
            <a:r>
              <a:rPr lang="en-US" sz="1350" dirty="0">
                <a:solidFill>
                  <a:srgbClr val="173C37"/>
                </a:solidFill>
                <a:latin typeface="AppleGothic" pitchFamily="34" charset="0"/>
                <a:ea typeface="AppleGothic" pitchFamily="34" charset="-122"/>
                <a:cs typeface="AppleGothic" pitchFamily="34" charset="-120"/>
              </a:rPr>
              <a:t>정점 u</a:t>
            </a:r>
            <a:endParaRPr lang="en-US" sz="1350" dirty="0"/>
          </a:p>
          <a:p>
            <a:pPr algn="ctr" indent="0" marL="0">
              <a:lnSpc>
                <a:spcPct val="105000"/>
              </a:lnSpc>
              <a:buNone/>
            </a:pPr>
            <a:r>
              <a:rPr lang="en-US" sz="1350" dirty="0">
                <a:solidFill>
                  <a:srgbClr val="173C37"/>
                </a:solidFill>
                <a:latin typeface="AppleGothic" pitchFamily="34" charset="0"/>
                <a:ea typeface="AppleGothic" pitchFamily="34" charset="-122"/>
                <a:cs typeface="AppleGothic" pitchFamily="34" charset="-120"/>
              </a:rPr>
              <a:t>색 1</a:t>
            </a:r>
            <a:endParaRPr lang="en-US" sz="1350" dirty="0"/>
          </a:p>
        </p:txBody>
      </p:sp>
      <p:sp>
        <p:nvSpPr>
          <p:cNvPr id="39" name="graph-panel-3-node-v1"/>
          <p:cNvSpPr/>
          <p:nvPr/>
        </p:nvSpPr>
        <p:spPr>
          <a:xfrm>
            <a:off x="8695944" y="4724400"/>
            <a:ext cx="558800" cy="558800"/>
          </a:xfrm>
          <a:prstGeom prst="ellipse">
            <a:avLst/>
          </a:prstGeom>
          <a:solidFill>
            <a:srgbClr val="F2D9CC"/>
          </a:solidFill>
          <a:ln>
            <a:solidFill>
              <a:srgbClr val="0D685C"/>
            </a:solidFill>
          </a:ln>
        </p:spPr>
        <p:txBody>
          <a:bodyPr wrap="square" lIns="0" tIns="0" rIns="0" bIns="0" rtlCol="0" anchor="ctr"/>
          <a:lstStyle/>
          <a:p>
            <a:pPr algn="ctr" indent="0" marL="0">
              <a:buNone/>
            </a:pPr>
            <a:r>
              <a:rPr lang="en-US" sz="1700" b="1" dirty="0">
                <a:solidFill>
                  <a:srgbClr val="173C37"/>
                </a:solidFill>
                <a:latin typeface="Arial" pitchFamily="34" charset="0"/>
                <a:ea typeface="Arial" pitchFamily="34" charset="-122"/>
                <a:cs typeface="Arial" pitchFamily="34" charset="-120"/>
              </a:rPr>
              <a:t>v1</a:t>
            </a:r>
            <a:endParaRPr lang="en-US" sz="1700" dirty="0"/>
          </a:p>
        </p:txBody>
      </p:sp>
      <p:sp>
        <p:nvSpPr>
          <p:cNvPr id="40" name="graph-panel-3-node-label-v1"/>
          <p:cNvSpPr txBox="1"/>
          <p:nvPr/>
        </p:nvSpPr>
        <p:spPr>
          <a:xfrm>
            <a:off x="8314944" y="5334000"/>
            <a:ext cx="1320800" cy="431800"/>
          </a:xfrm>
          <a:prstGeom prst="rect">
            <a:avLst/>
          </a:prstGeom>
          <a:noFill/>
          <a:ln/>
        </p:spPr>
        <p:txBody>
          <a:bodyPr wrap="square" lIns="0" tIns="0" rIns="0" bIns="0" rtlCol="0" anchor="ctr"/>
          <a:lstStyle/>
          <a:p>
            <a:pPr algn="ctr" indent="0" marL="0">
              <a:lnSpc>
                <a:spcPct val="105000"/>
              </a:lnSpc>
              <a:buNone/>
            </a:pPr>
            <a:r>
              <a:rPr lang="en-US" sz="1350" dirty="0">
                <a:solidFill>
                  <a:srgbClr val="173C37"/>
                </a:solidFill>
                <a:latin typeface="AppleGothic" pitchFamily="34" charset="0"/>
                <a:ea typeface="AppleGothic" pitchFamily="34" charset="-122"/>
                <a:cs typeface="AppleGothic" pitchFamily="34" charset="-120"/>
              </a:rPr>
              <a:t>정점 v</a:t>
            </a:r>
            <a:endParaRPr lang="en-US" sz="1350" dirty="0"/>
          </a:p>
          <a:p>
            <a:pPr algn="ctr" indent="0" marL="0">
              <a:lnSpc>
                <a:spcPct val="105000"/>
              </a:lnSpc>
              <a:buNone/>
            </a:pPr>
            <a:r>
              <a:rPr lang="en-US" sz="1350" dirty="0">
                <a:solidFill>
                  <a:srgbClr val="173C37"/>
                </a:solidFill>
                <a:latin typeface="AppleGothic" pitchFamily="34" charset="0"/>
                <a:ea typeface="AppleGothic" pitchFamily="34" charset="-122"/>
                <a:cs typeface="AppleGothic" pitchFamily="34" charset="-120"/>
              </a:rPr>
              <a:t>색 1</a:t>
            </a:r>
            <a:endParaRPr lang="en-US" sz="1350" dirty="0"/>
          </a:p>
        </p:txBody>
      </p:sp>
      <p:sp>
        <p:nvSpPr>
          <p:cNvPr id="41" name="graph-panel-3-node-w1"/>
          <p:cNvSpPr/>
          <p:nvPr/>
        </p:nvSpPr>
        <p:spPr>
          <a:xfrm>
            <a:off x="10354056" y="4724400"/>
            <a:ext cx="558800" cy="558800"/>
          </a:xfrm>
          <a:prstGeom prst="ellipse">
            <a:avLst/>
          </a:prstGeom>
          <a:solidFill>
            <a:srgbClr val="F2D9CC"/>
          </a:solidFill>
          <a:ln>
            <a:solidFill>
              <a:srgbClr val="0D685C"/>
            </a:solidFill>
          </a:ln>
        </p:spPr>
        <p:txBody>
          <a:bodyPr wrap="square" lIns="0" tIns="0" rIns="0" bIns="0" rtlCol="0" anchor="ctr"/>
          <a:lstStyle/>
          <a:p>
            <a:pPr algn="ctr" indent="0" marL="0">
              <a:buNone/>
            </a:pPr>
            <a:r>
              <a:rPr lang="en-US" sz="1700" b="1" dirty="0">
                <a:solidFill>
                  <a:srgbClr val="173C37"/>
                </a:solidFill>
                <a:latin typeface="Arial" pitchFamily="34" charset="0"/>
                <a:ea typeface="Arial" pitchFamily="34" charset="-122"/>
                <a:cs typeface="Arial" pitchFamily="34" charset="-120"/>
              </a:rPr>
              <a:t>w1</a:t>
            </a:r>
            <a:endParaRPr lang="en-US" sz="1700" dirty="0"/>
          </a:p>
        </p:txBody>
      </p:sp>
      <p:sp>
        <p:nvSpPr>
          <p:cNvPr id="42" name="graph-panel-3-node-label-w1"/>
          <p:cNvSpPr txBox="1"/>
          <p:nvPr/>
        </p:nvSpPr>
        <p:spPr>
          <a:xfrm>
            <a:off x="9973056" y="5334000"/>
            <a:ext cx="1320800" cy="431800"/>
          </a:xfrm>
          <a:prstGeom prst="rect">
            <a:avLst/>
          </a:prstGeom>
          <a:noFill/>
          <a:ln/>
        </p:spPr>
        <p:txBody>
          <a:bodyPr wrap="square" lIns="0" tIns="0" rIns="0" bIns="0" rtlCol="0" anchor="ctr"/>
          <a:lstStyle/>
          <a:p>
            <a:pPr algn="ctr" indent="0" marL="0">
              <a:lnSpc>
                <a:spcPct val="105000"/>
              </a:lnSpc>
              <a:buNone/>
            </a:pPr>
            <a:r>
              <a:rPr lang="en-US" sz="1350" dirty="0">
                <a:solidFill>
                  <a:srgbClr val="173C37"/>
                </a:solidFill>
                <a:latin typeface="AppleGothic" pitchFamily="34" charset="0"/>
                <a:ea typeface="AppleGothic" pitchFamily="34" charset="-122"/>
                <a:cs typeface="AppleGothic" pitchFamily="34" charset="-120"/>
              </a:rPr>
              <a:t>정점 w</a:t>
            </a:r>
            <a:endParaRPr lang="en-US" sz="1350" dirty="0"/>
          </a:p>
          <a:p>
            <a:pPr algn="ctr" indent="0" marL="0">
              <a:lnSpc>
                <a:spcPct val="105000"/>
              </a:lnSpc>
              <a:buNone/>
            </a:pPr>
            <a:r>
              <a:rPr lang="en-US" sz="1350" dirty="0">
                <a:solidFill>
                  <a:srgbClr val="173C37"/>
                </a:solidFill>
                <a:latin typeface="AppleGothic" pitchFamily="34" charset="0"/>
                <a:ea typeface="AppleGothic" pitchFamily="34" charset="-122"/>
                <a:cs typeface="AppleGothic" pitchFamily="34" charset="-120"/>
              </a:rPr>
              <a:t>색 1</a:t>
            </a:r>
            <a:endParaRPr lang="en-US" sz="1350" dirty="0"/>
          </a:p>
        </p:txBody>
      </p:sp>
      <p:sp>
        <p:nvSpPr>
          <p:cNvPr id="43" name="Shape 41"/>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44" name="Text 42"/>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author-pdf p. 4, triangle types</a:t>
            </a:r>
            <a:endParaRPr lang="en-US" sz="1050" dirty="0"/>
          </a:p>
        </p:txBody>
      </p:sp>
      <p:sp>
        <p:nvSpPr>
          <p:cNvPr id="45" name="Text 43"/>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TTP와 CTTP가 사용하는 두 task family</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두 family가 필요한 edge groups를 모은 뒤 같은 local triangle enumerator를 실행한다</a:t>
            </a:r>
            <a:endParaRPr lang="en-US" sz="1900" dirty="0"/>
          </a:p>
        </p:txBody>
      </p:sp>
      <p:sp>
        <p:nvSpPr>
          <p:cNvPr id="4" name="Shape 2"/>
          <p:cNvSpPr/>
          <p:nvPr/>
        </p:nvSpPr>
        <p:spPr>
          <a:xfrm>
            <a:off x="6096000" y="2705100"/>
            <a:ext cx="0" cy="1905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2895600"/>
            <a:ext cx="5588000" cy="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7" name="Shape 5"/>
          <p:cNvSpPr/>
          <p:nvPr/>
        </p:nvSpPr>
        <p:spPr>
          <a:xfrm>
            <a:off x="8890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8" name="Shape 6"/>
          <p:cNvSpPr/>
          <p:nvPr/>
        </p:nvSpPr>
        <p:spPr>
          <a:xfrm>
            <a:off x="3302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9" name="Shape 7"/>
          <p:cNvSpPr/>
          <p:nvPr/>
        </p:nvSpPr>
        <p:spPr>
          <a:xfrm>
            <a:off x="3302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0" name="Shape 8"/>
          <p:cNvSpPr/>
          <p:nvPr/>
        </p:nvSpPr>
        <p:spPr>
          <a:xfrm>
            <a:off x="8890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11" name="Shape 9"/>
          <p:cNvSpPr/>
          <p:nvPr/>
        </p:nvSpPr>
        <p:spPr>
          <a:xfrm>
            <a:off x="6731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2" name="Shape 10"/>
          <p:cNvSpPr/>
          <p:nvPr/>
        </p:nvSpPr>
        <p:spPr>
          <a:xfrm>
            <a:off x="546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3" name="Shape 11"/>
          <p:cNvSpPr/>
          <p:nvPr/>
        </p:nvSpPr>
        <p:spPr>
          <a:xfrm>
            <a:off x="673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4" name="Shape 12"/>
          <p:cNvSpPr/>
          <p:nvPr/>
        </p:nvSpPr>
        <p:spPr>
          <a:xfrm>
            <a:off x="6096000" y="5181600"/>
            <a:ext cx="0" cy="330200"/>
          </a:xfrm>
          <a:prstGeom prst="line">
            <a:avLst/>
          </a:prstGeom>
          <a:noFill/>
          <a:ln w="12700">
            <a:solidFill>
              <a:srgbClr val="0D685C"/>
            </a:solidFill>
            <a:prstDash val="solid"/>
            <a:headEnd type="none"/>
            <a:tailEnd type="triangle"/>
          </a:ln>
        </p:spPr>
        <p:txBody>
          <a:bodyPr/>
          <a:lstStyle/>
          <a:p>
            <a:endParaRPr lang="ko-KR"/>
          </a:p>
        </p:txBody>
      </p:sp>
      <p:sp>
        <p:nvSpPr>
          <p:cNvPr id="15" name="Text 13"/>
          <p:cNvSpPr txBox="1"/>
          <p:nvPr/>
        </p:nvSpPr>
        <p:spPr>
          <a:xfrm>
            <a:off x="4191000" y="2108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Color edge groups</a:t>
            </a:r>
            <a:endParaRPr lang="en-US" sz="1750" dirty="0"/>
          </a:p>
        </p:txBody>
      </p:sp>
      <p:sp>
        <p:nvSpPr>
          <p:cNvPr id="16" name="Text 14"/>
          <p:cNvSpPr txBox="1"/>
          <p:nvPr/>
        </p:nvSpPr>
        <p:spPr>
          <a:xfrm>
            <a:off x="4191000" y="2387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Original graph의 E_(i,j)</a:t>
            </a:r>
            <a:endParaRPr lang="en-US" sz="1500" dirty="0"/>
          </a:p>
        </p:txBody>
      </p:sp>
      <p:sp>
        <p:nvSpPr>
          <p:cNvPr id="17" name="Text 15"/>
          <p:cNvSpPr txBox="1"/>
          <p:nvPr/>
        </p:nvSpPr>
        <p:spPr>
          <a:xfrm>
            <a:off x="1270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Triple (i,j,k)</a:t>
            </a:r>
            <a:endParaRPr lang="en-US" sz="1750" dirty="0"/>
          </a:p>
        </p:txBody>
      </p:sp>
      <p:sp>
        <p:nvSpPr>
          <p:cNvPr id="18" name="Text 16"/>
          <p:cNvSpPr txBox="1"/>
          <p:nvPr/>
        </p:nvSpPr>
        <p:spPr>
          <a:xfrm>
            <a:off x="1270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E_(i,j), E_(i,k), E_(j,k)</a:t>
            </a:r>
            <a:endParaRPr lang="en-US" sz="1500" dirty="0"/>
          </a:p>
        </p:txBody>
      </p:sp>
      <p:sp>
        <p:nvSpPr>
          <p:cNvPr id="19" name="Text 17"/>
          <p:cNvSpPr txBox="1"/>
          <p:nvPr/>
        </p:nvSpPr>
        <p:spPr>
          <a:xfrm>
            <a:off x="6858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Pair (i,j)</a:t>
            </a:r>
            <a:endParaRPr lang="en-US" sz="1750" dirty="0"/>
          </a:p>
        </p:txBody>
      </p:sp>
      <p:sp>
        <p:nvSpPr>
          <p:cNvPr id="20" name="Text 18"/>
          <p:cNvSpPr txBox="1"/>
          <p:nvPr/>
        </p:nvSpPr>
        <p:spPr>
          <a:xfrm>
            <a:off x="6858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E_(i,i), E_(i,j), E_(j,j)</a:t>
            </a:r>
            <a:endParaRPr lang="en-US" sz="1500" dirty="0"/>
          </a:p>
        </p:txBody>
      </p:sp>
      <p:sp>
        <p:nvSpPr>
          <p:cNvPr id="21" name="Text 19"/>
          <p:cNvSpPr txBox="1"/>
          <p:nvPr/>
        </p:nvSpPr>
        <p:spPr>
          <a:xfrm>
            <a:off x="4191000" y="45720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Reducer subgraph</a:t>
            </a:r>
            <a:endParaRPr lang="en-US" sz="1750" dirty="0"/>
          </a:p>
        </p:txBody>
      </p:sp>
      <p:sp>
        <p:nvSpPr>
          <p:cNvPr id="22" name="Text 20"/>
          <p:cNvSpPr txBox="1"/>
          <p:nvPr/>
        </p:nvSpPr>
        <p:spPr>
          <a:xfrm>
            <a:off x="4191000" y="48514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Key별 세 group의 union</a:t>
            </a:r>
            <a:endParaRPr lang="en-US" sz="1500" dirty="0"/>
          </a:p>
        </p:txBody>
      </p:sp>
      <p:sp>
        <p:nvSpPr>
          <p:cNvPr id="23" name="Text 21"/>
          <p:cNvSpPr txBox="1"/>
          <p:nvPr/>
        </p:nvSpPr>
        <p:spPr>
          <a:xfrm>
            <a:off x="4191000" y="56134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CTTP schedule</a:t>
            </a:r>
            <a:endParaRPr lang="en-US" sz="1750" dirty="0"/>
          </a:p>
        </p:txBody>
      </p:sp>
      <p:sp>
        <p:nvSpPr>
          <p:cNvPr id="24" name="Text 22"/>
          <p:cNvSpPr txBox="1"/>
          <p:nvPr/>
        </p:nvSpPr>
        <p:spPr>
          <a:xfrm>
            <a:off x="4191000" y="58928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두 family를 여러 round에 배치</a:t>
            </a:r>
            <a:endParaRPr lang="en-US" sz="150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author-pdf p. 4, task families and Algorithm 1</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교육용 예시: Type-2 triangle의 routing</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서로 다른 a, b, c의 색이 0,0,1이면 E00·E01 groups가 pair reducer (0,1)로 모인다</a:t>
            </a:r>
            <a:endParaRPr lang="en-US" sz="1900" dirty="0"/>
          </a:p>
        </p:txBody>
      </p:sp>
      <p:sp>
        <p:nvSpPr>
          <p:cNvPr id="4" name="graph-panel-1-caption"/>
          <p:cNvSpPr txBox="1"/>
          <p:nvPr/>
        </p:nvSpPr>
        <p:spPr>
          <a:xfrm>
            <a:off x="660400" y="2082800"/>
            <a:ext cx="6858000" cy="330200"/>
          </a:xfrm>
          <a:prstGeom prst="rect">
            <a:avLst/>
          </a:prstGeom>
          <a:noFill/>
          <a:ln/>
        </p:spPr>
        <p:txBody>
          <a:bodyPr wrap="square" lIns="0" tIns="0" rIns="0" bIns="0" rtlCol="0" anchor="ctr"/>
          <a:lstStyle/>
          <a:p>
            <a:pPr algn="ctr" indent="0" marL="0">
              <a:lnSpc>
                <a:spcPct val="120000"/>
              </a:lnSpc>
              <a:buNone/>
            </a:pPr>
            <a:r>
              <a:rPr lang="en-US" sz="1650" b="1" dirty="0">
                <a:solidFill>
                  <a:srgbClr val="173C37"/>
                </a:solidFill>
                <a:latin typeface="AppleGothic" pitchFamily="34" charset="0"/>
                <a:ea typeface="AppleGothic" pitchFamily="34" charset="-122"/>
                <a:cs typeface="AppleGothic" pitchFamily="34" charset="-120"/>
              </a:rPr>
              <a:t>Pair task (0,1): E00·E01 → reducer</a:t>
            </a:r>
            <a:endParaRPr lang="en-US" sz="1650" dirty="0"/>
          </a:p>
        </p:txBody>
      </p:sp>
      <p:sp>
        <p:nvSpPr>
          <p:cNvPr id="5" name="graph-panel-1-edge-line-a-b"/>
          <p:cNvSpPr/>
          <p:nvPr/>
        </p:nvSpPr>
        <p:spPr>
          <a:xfrm flipV="1">
            <a:off x="2755900" y="3390900"/>
            <a:ext cx="1333500" cy="1612900"/>
          </a:xfrm>
          <a:prstGeom prst="line">
            <a:avLst/>
          </a:prstGeom>
          <a:noFill/>
          <a:ln w="12700">
            <a:solidFill>
              <a:srgbClr val="5E6D69"/>
            </a:solidFill>
            <a:prstDash val="solid"/>
            <a:headEnd type="none"/>
            <a:tailEnd type="none"/>
          </a:ln>
        </p:spPr>
        <p:txBody>
          <a:bodyPr/>
          <a:lstStyle/>
          <a:p>
            <a:endParaRPr lang="ko-KR"/>
          </a:p>
        </p:txBody>
      </p:sp>
      <p:sp>
        <p:nvSpPr>
          <p:cNvPr id="6" name="graph-panel-1-edge-label-a-b"/>
          <p:cNvSpPr txBox="1"/>
          <p:nvPr/>
        </p:nvSpPr>
        <p:spPr>
          <a:xfrm>
            <a:off x="2736850" y="4070350"/>
            <a:ext cx="762000" cy="228600"/>
          </a:xfrm>
          <a:prstGeom prst="rect">
            <a:avLst/>
          </a:prstGeom>
          <a:noFill/>
          <a:ln/>
        </p:spPr>
        <p:txBody>
          <a:bodyPr wrap="square" lIns="0" tIns="0" rIns="0" bIns="0" rtlCol="0" anchor="ctr"/>
          <a:lstStyle/>
          <a:p>
            <a:pPr algn="ctr" indent="0" marL="0">
              <a:lnSpc>
                <a:spcPct val="120000"/>
              </a:lnSpc>
              <a:buNone/>
            </a:pPr>
            <a:r>
              <a:rPr lang="en-US" sz="1250" b="1" dirty="0">
                <a:solidFill>
                  <a:srgbClr val="173C37"/>
                </a:solidFill>
                <a:latin typeface="AppleGothic" pitchFamily="34" charset="0"/>
                <a:ea typeface="AppleGothic" pitchFamily="34" charset="-122"/>
                <a:cs typeface="AppleGothic" pitchFamily="34" charset="-120"/>
              </a:rPr>
              <a:t>E00</a:t>
            </a:r>
            <a:endParaRPr lang="en-US" sz="1250" dirty="0"/>
          </a:p>
        </p:txBody>
      </p:sp>
      <p:sp>
        <p:nvSpPr>
          <p:cNvPr id="7" name="graph-panel-1-edge-line-a-c"/>
          <p:cNvSpPr/>
          <p:nvPr/>
        </p:nvSpPr>
        <p:spPr>
          <a:xfrm>
            <a:off x="4089400" y="3390900"/>
            <a:ext cx="1333500" cy="1612900"/>
          </a:xfrm>
          <a:prstGeom prst="line">
            <a:avLst/>
          </a:prstGeom>
          <a:noFill/>
          <a:ln w="12700">
            <a:solidFill>
              <a:srgbClr val="5E6D69"/>
            </a:solidFill>
            <a:prstDash val="solid"/>
            <a:headEnd type="none"/>
            <a:tailEnd type="none"/>
          </a:ln>
        </p:spPr>
        <p:txBody>
          <a:bodyPr/>
          <a:lstStyle/>
          <a:p>
            <a:endParaRPr lang="ko-KR"/>
          </a:p>
        </p:txBody>
      </p:sp>
      <p:sp>
        <p:nvSpPr>
          <p:cNvPr id="8" name="graph-panel-1-edge-label-a-c"/>
          <p:cNvSpPr txBox="1"/>
          <p:nvPr/>
        </p:nvSpPr>
        <p:spPr>
          <a:xfrm>
            <a:off x="4857750" y="4070350"/>
            <a:ext cx="762000" cy="228600"/>
          </a:xfrm>
          <a:prstGeom prst="rect">
            <a:avLst/>
          </a:prstGeom>
          <a:noFill/>
          <a:ln/>
        </p:spPr>
        <p:txBody>
          <a:bodyPr wrap="square" lIns="0" tIns="0" rIns="0" bIns="0" rtlCol="0" anchor="ctr"/>
          <a:lstStyle/>
          <a:p>
            <a:pPr algn="ctr" indent="0" marL="0">
              <a:lnSpc>
                <a:spcPct val="120000"/>
              </a:lnSpc>
              <a:buNone/>
            </a:pPr>
            <a:r>
              <a:rPr lang="en-US" sz="1250" b="1" dirty="0">
                <a:solidFill>
                  <a:srgbClr val="173C37"/>
                </a:solidFill>
                <a:latin typeface="AppleGothic" pitchFamily="34" charset="0"/>
                <a:ea typeface="AppleGothic" pitchFamily="34" charset="-122"/>
                <a:cs typeface="AppleGothic" pitchFamily="34" charset="-120"/>
              </a:rPr>
              <a:t>E01</a:t>
            </a:r>
            <a:endParaRPr lang="en-US" sz="1250" dirty="0"/>
          </a:p>
        </p:txBody>
      </p:sp>
      <p:sp>
        <p:nvSpPr>
          <p:cNvPr id="9" name="graph-panel-1-edge-line-b-c"/>
          <p:cNvSpPr/>
          <p:nvPr/>
        </p:nvSpPr>
        <p:spPr>
          <a:xfrm flipV="1">
            <a:off x="2755900" y="5003800"/>
            <a:ext cx="2667000" cy="0"/>
          </a:xfrm>
          <a:prstGeom prst="line">
            <a:avLst/>
          </a:prstGeom>
          <a:noFill/>
          <a:ln w="12700">
            <a:solidFill>
              <a:srgbClr val="5E6D69"/>
            </a:solidFill>
            <a:prstDash val="solid"/>
            <a:headEnd type="none"/>
            <a:tailEnd type="none"/>
          </a:ln>
        </p:spPr>
        <p:txBody>
          <a:bodyPr/>
          <a:lstStyle/>
          <a:p>
            <a:endParaRPr lang="ko-KR"/>
          </a:p>
        </p:txBody>
      </p:sp>
      <p:sp>
        <p:nvSpPr>
          <p:cNvPr id="10" name="graph-panel-1-edge-label-b-c"/>
          <p:cNvSpPr txBox="1"/>
          <p:nvPr/>
        </p:nvSpPr>
        <p:spPr>
          <a:xfrm>
            <a:off x="3708400" y="5143500"/>
            <a:ext cx="762000" cy="228600"/>
          </a:xfrm>
          <a:prstGeom prst="rect">
            <a:avLst/>
          </a:prstGeom>
          <a:noFill/>
          <a:ln/>
        </p:spPr>
        <p:txBody>
          <a:bodyPr wrap="square" lIns="0" tIns="0" rIns="0" bIns="0" rtlCol="0" anchor="ctr"/>
          <a:lstStyle/>
          <a:p>
            <a:pPr algn="ctr" indent="0" marL="0">
              <a:lnSpc>
                <a:spcPct val="120000"/>
              </a:lnSpc>
              <a:buNone/>
            </a:pPr>
            <a:r>
              <a:rPr lang="en-US" sz="1250" b="1" dirty="0">
                <a:solidFill>
                  <a:srgbClr val="173C37"/>
                </a:solidFill>
                <a:latin typeface="AppleGothic" pitchFamily="34" charset="0"/>
                <a:ea typeface="AppleGothic" pitchFamily="34" charset="-122"/>
                <a:cs typeface="AppleGothic" pitchFamily="34" charset="-120"/>
              </a:rPr>
              <a:t>E01</a:t>
            </a:r>
            <a:endParaRPr lang="en-US" sz="1250" dirty="0"/>
          </a:p>
        </p:txBody>
      </p:sp>
      <p:sp>
        <p:nvSpPr>
          <p:cNvPr id="11" name="graph-panel-1-node-a"/>
          <p:cNvSpPr/>
          <p:nvPr/>
        </p:nvSpPr>
        <p:spPr>
          <a:xfrm>
            <a:off x="3810000" y="3111500"/>
            <a:ext cx="558800" cy="558800"/>
          </a:xfrm>
          <a:prstGeom prst="ellipse">
            <a:avLst/>
          </a:prstGeom>
          <a:solidFill>
            <a:srgbClr val="D7ECE6"/>
          </a:solidFill>
          <a:ln>
            <a:solidFill>
              <a:srgbClr val="0D685C"/>
            </a:solidFill>
          </a:ln>
        </p:spPr>
        <p:txBody>
          <a:bodyPr wrap="square" lIns="0" tIns="0" rIns="0" bIns="0" rtlCol="0" anchor="ctr"/>
          <a:lstStyle/>
          <a:p>
            <a:pPr algn="ctr" indent="0" marL="0">
              <a:buNone/>
            </a:pPr>
            <a:r>
              <a:rPr lang="en-US" sz="1700" b="1" dirty="0">
                <a:solidFill>
                  <a:srgbClr val="173C37"/>
                </a:solidFill>
                <a:latin typeface="Arial" pitchFamily="34" charset="0"/>
                <a:ea typeface="Arial" pitchFamily="34" charset="-122"/>
                <a:cs typeface="Arial" pitchFamily="34" charset="-120"/>
              </a:rPr>
              <a:t>a</a:t>
            </a:r>
            <a:endParaRPr lang="en-US" sz="1700" dirty="0"/>
          </a:p>
        </p:txBody>
      </p:sp>
      <p:sp>
        <p:nvSpPr>
          <p:cNvPr id="12" name="graph-panel-1-node-label-a"/>
          <p:cNvSpPr txBox="1"/>
          <p:nvPr/>
        </p:nvSpPr>
        <p:spPr>
          <a:xfrm>
            <a:off x="3429000" y="2565400"/>
            <a:ext cx="1320800" cy="431800"/>
          </a:xfrm>
          <a:prstGeom prst="rect">
            <a:avLst/>
          </a:prstGeom>
          <a:noFill/>
          <a:ln/>
        </p:spPr>
        <p:txBody>
          <a:bodyPr wrap="square" lIns="0" tIns="0" rIns="0" bIns="0" rtlCol="0" anchor="ctr"/>
          <a:lstStyle/>
          <a:p>
            <a:pPr algn="ctr" indent="0" marL="0">
              <a:lnSpc>
                <a:spcPct val="105000"/>
              </a:lnSpc>
              <a:buNone/>
            </a:pPr>
            <a:r>
              <a:rPr lang="en-US" sz="1350" dirty="0">
                <a:solidFill>
                  <a:srgbClr val="173C37"/>
                </a:solidFill>
                <a:latin typeface="AppleGothic" pitchFamily="34" charset="0"/>
                <a:ea typeface="AppleGothic" pitchFamily="34" charset="-122"/>
                <a:cs typeface="AppleGothic" pitchFamily="34" charset="-120"/>
              </a:rPr>
              <a:t>정점 a</a:t>
            </a:r>
            <a:endParaRPr lang="en-US" sz="1350" dirty="0"/>
          </a:p>
          <a:p>
            <a:pPr algn="ctr" indent="0" marL="0">
              <a:lnSpc>
                <a:spcPct val="105000"/>
              </a:lnSpc>
              <a:buNone/>
            </a:pPr>
            <a:r>
              <a:rPr lang="en-US" sz="1350" dirty="0">
                <a:solidFill>
                  <a:srgbClr val="173C37"/>
                </a:solidFill>
                <a:latin typeface="AppleGothic" pitchFamily="34" charset="0"/>
                <a:ea typeface="AppleGothic" pitchFamily="34" charset="-122"/>
                <a:cs typeface="AppleGothic" pitchFamily="34" charset="-120"/>
              </a:rPr>
              <a:t>색 0</a:t>
            </a:r>
            <a:endParaRPr lang="en-US" sz="1350" dirty="0"/>
          </a:p>
        </p:txBody>
      </p:sp>
      <p:sp>
        <p:nvSpPr>
          <p:cNvPr id="13" name="graph-panel-1-node-b"/>
          <p:cNvSpPr/>
          <p:nvPr/>
        </p:nvSpPr>
        <p:spPr>
          <a:xfrm>
            <a:off x="2476500" y="4724400"/>
            <a:ext cx="558800" cy="558800"/>
          </a:xfrm>
          <a:prstGeom prst="ellipse">
            <a:avLst/>
          </a:prstGeom>
          <a:solidFill>
            <a:srgbClr val="D7ECE6"/>
          </a:solidFill>
          <a:ln>
            <a:solidFill>
              <a:srgbClr val="0D685C"/>
            </a:solidFill>
          </a:ln>
        </p:spPr>
        <p:txBody>
          <a:bodyPr wrap="square" lIns="0" tIns="0" rIns="0" bIns="0" rtlCol="0" anchor="ctr"/>
          <a:lstStyle/>
          <a:p>
            <a:pPr algn="ctr" indent="0" marL="0">
              <a:buNone/>
            </a:pPr>
            <a:r>
              <a:rPr lang="en-US" sz="1700" b="1" dirty="0">
                <a:solidFill>
                  <a:srgbClr val="173C37"/>
                </a:solidFill>
                <a:latin typeface="Arial" pitchFamily="34" charset="0"/>
                <a:ea typeface="Arial" pitchFamily="34" charset="-122"/>
                <a:cs typeface="Arial" pitchFamily="34" charset="-120"/>
              </a:rPr>
              <a:t>b</a:t>
            </a:r>
            <a:endParaRPr lang="en-US" sz="1700" dirty="0"/>
          </a:p>
        </p:txBody>
      </p:sp>
      <p:sp>
        <p:nvSpPr>
          <p:cNvPr id="14" name="graph-panel-1-node-label-b"/>
          <p:cNvSpPr txBox="1"/>
          <p:nvPr/>
        </p:nvSpPr>
        <p:spPr>
          <a:xfrm>
            <a:off x="2095500" y="5334000"/>
            <a:ext cx="1320800" cy="431800"/>
          </a:xfrm>
          <a:prstGeom prst="rect">
            <a:avLst/>
          </a:prstGeom>
          <a:noFill/>
          <a:ln/>
        </p:spPr>
        <p:txBody>
          <a:bodyPr wrap="square" lIns="0" tIns="0" rIns="0" bIns="0" rtlCol="0" anchor="ctr"/>
          <a:lstStyle/>
          <a:p>
            <a:pPr algn="ctr" indent="0" marL="0">
              <a:lnSpc>
                <a:spcPct val="105000"/>
              </a:lnSpc>
              <a:buNone/>
            </a:pPr>
            <a:r>
              <a:rPr lang="en-US" sz="1350" dirty="0">
                <a:solidFill>
                  <a:srgbClr val="173C37"/>
                </a:solidFill>
                <a:latin typeface="AppleGothic" pitchFamily="34" charset="0"/>
                <a:ea typeface="AppleGothic" pitchFamily="34" charset="-122"/>
                <a:cs typeface="AppleGothic" pitchFamily="34" charset="-120"/>
              </a:rPr>
              <a:t>정점 b</a:t>
            </a:r>
            <a:endParaRPr lang="en-US" sz="1350" dirty="0"/>
          </a:p>
          <a:p>
            <a:pPr algn="ctr" indent="0" marL="0">
              <a:lnSpc>
                <a:spcPct val="105000"/>
              </a:lnSpc>
              <a:buNone/>
            </a:pPr>
            <a:r>
              <a:rPr lang="en-US" sz="1350" dirty="0">
                <a:solidFill>
                  <a:srgbClr val="173C37"/>
                </a:solidFill>
                <a:latin typeface="AppleGothic" pitchFamily="34" charset="0"/>
                <a:ea typeface="AppleGothic" pitchFamily="34" charset="-122"/>
                <a:cs typeface="AppleGothic" pitchFamily="34" charset="-120"/>
              </a:rPr>
              <a:t>색 0</a:t>
            </a:r>
            <a:endParaRPr lang="en-US" sz="1350" dirty="0"/>
          </a:p>
        </p:txBody>
      </p:sp>
      <p:sp>
        <p:nvSpPr>
          <p:cNvPr id="15" name="graph-panel-1-node-c"/>
          <p:cNvSpPr/>
          <p:nvPr/>
        </p:nvSpPr>
        <p:spPr>
          <a:xfrm>
            <a:off x="5143500" y="4724400"/>
            <a:ext cx="558800" cy="558800"/>
          </a:xfrm>
          <a:prstGeom prst="ellipse">
            <a:avLst/>
          </a:prstGeom>
          <a:solidFill>
            <a:srgbClr val="F2D9CC"/>
          </a:solidFill>
          <a:ln>
            <a:solidFill>
              <a:srgbClr val="0D685C"/>
            </a:solidFill>
          </a:ln>
        </p:spPr>
        <p:txBody>
          <a:bodyPr wrap="square" lIns="0" tIns="0" rIns="0" bIns="0" rtlCol="0" anchor="ctr"/>
          <a:lstStyle/>
          <a:p>
            <a:pPr algn="ctr" indent="0" marL="0">
              <a:buNone/>
            </a:pPr>
            <a:r>
              <a:rPr lang="en-US" sz="1700" b="1" dirty="0">
                <a:solidFill>
                  <a:srgbClr val="173C37"/>
                </a:solidFill>
                <a:latin typeface="Arial" pitchFamily="34" charset="0"/>
                <a:ea typeface="Arial" pitchFamily="34" charset="-122"/>
                <a:cs typeface="Arial" pitchFamily="34" charset="-120"/>
              </a:rPr>
              <a:t>c</a:t>
            </a:r>
            <a:endParaRPr lang="en-US" sz="1700" dirty="0"/>
          </a:p>
        </p:txBody>
      </p:sp>
      <p:sp>
        <p:nvSpPr>
          <p:cNvPr id="16" name="graph-panel-1-node-label-c"/>
          <p:cNvSpPr txBox="1"/>
          <p:nvPr/>
        </p:nvSpPr>
        <p:spPr>
          <a:xfrm>
            <a:off x="4762500" y="5334000"/>
            <a:ext cx="1320800" cy="431800"/>
          </a:xfrm>
          <a:prstGeom prst="rect">
            <a:avLst/>
          </a:prstGeom>
          <a:noFill/>
          <a:ln/>
        </p:spPr>
        <p:txBody>
          <a:bodyPr wrap="square" lIns="0" tIns="0" rIns="0" bIns="0" rtlCol="0" anchor="ctr"/>
          <a:lstStyle/>
          <a:p>
            <a:pPr algn="ctr" indent="0" marL="0">
              <a:lnSpc>
                <a:spcPct val="105000"/>
              </a:lnSpc>
              <a:buNone/>
            </a:pPr>
            <a:r>
              <a:rPr lang="en-US" sz="1350" dirty="0">
                <a:solidFill>
                  <a:srgbClr val="173C37"/>
                </a:solidFill>
                <a:latin typeface="AppleGothic" pitchFamily="34" charset="0"/>
                <a:ea typeface="AppleGothic" pitchFamily="34" charset="-122"/>
                <a:cs typeface="AppleGothic" pitchFamily="34" charset="-120"/>
              </a:rPr>
              <a:t>정점 c</a:t>
            </a:r>
            <a:endParaRPr lang="en-US" sz="1350" dirty="0"/>
          </a:p>
          <a:p>
            <a:pPr algn="ctr" indent="0" marL="0">
              <a:lnSpc>
                <a:spcPct val="105000"/>
              </a:lnSpc>
              <a:buNone/>
            </a:pPr>
            <a:r>
              <a:rPr lang="en-US" sz="1350" dirty="0">
                <a:solidFill>
                  <a:srgbClr val="173C37"/>
                </a:solidFill>
                <a:latin typeface="AppleGothic" pitchFamily="34" charset="0"/>
                <a:ea typeface="AppleGothic" pitchFamily="34" charset="-122"/>
                <a:cs typeface="AppleGothic" pitchFamily="34" charset="-120"/>
              </a:rPr>
              <a:t>색 1</a:t>
            </a:r>
            <a:endParaRPr lang="en-US" sz="1350" dirty="0"/>
          </a:p>
        </p:txBody>
      </p:sp>
      <p:sp>
        <p:nvSpPr>
          <p:cNvPr id="17" name="graph-panel-1-edge-group-1"/>
          <p:cNvSpPr/>
          <p:nvPr/>
        </p:nvSpPr>
        <p:spPr>
          <a:xfrm>
            <a:off x="7899400" y="2743200"/>
            <a:ext cx="3632200" cy="914400"/>
          </a:xfrm>
          <a:prstGeom prst="rect">
            <a:avLst/>
          </a:prstGeom>
          <a:solidFill>
            <a:srgbClr val="E8F1EE"/>
          </a:solidFill>
          <a:ln>
            <a:solidFill>
              <a:srgbClr val="0D685C"/>
            </a:solidFill>
          </a:ln>
        </p:spPr>
        <p:txBody>
          <a:bodyPr wrap="square" lIns="76200" tIns="76200" rIns="76200" bIns="76200" rtlCol="0" anchor="ctr"/>
          <a:lstStyle/>
          <a:p>
            <a:pPr algn="ctr" indent="0" marL="0">
              <a:buNone/>
            </a:pPr>
            <a:r>
              <a:rPr lang="en-US" sz="1600" b="1" dirty="0">
                <a:solidFill>
                  <a:srgbClr val="173C37"/>
                </a:solidFill>
                <a:latin typeface="AppleGothic" pitchFamily="34" charset="0"/>
                <a:ea typeface="AppleGothic" pitchFamily="34" charset="-122"/>
                <a:cs typeface="AppleGothic" pitchFamily="34" charset="-120"/>
              </a:rPr>
              <a:t>E00</a:t>
            </a:r>
            <a:endParaRPr lang="en-US" sz="1600" dirty="0"/>
          </a:p>
          <a:p>
            <a:pPr algn="ctr" indent="0" marL="0">
              <a:buNone/>
            </a:pPr>
            <a:r>
              <a:rPr lang="en-US" sz="1600" dirty="0">
                <a:solidFill>
                  <a:srgbClr val="173C37"/>
                </a:solidFill>
                <a:latin typeface="AppleGothic" pitchFamily="34" charset="0"/>
                <a:ea typeface="AppleGothic" pitchFamily="34" charset="-122"/>
                <a:cs typeface="AppleGothic" pitchFamily="34" charset="-120"/>
              </a:rPr>
              <a:t>a-b</a:t>
            </a:r>
            <a:endParaRPr lang="en-US" sz="1600" dirty="0"/>
          </a:p>
        </p:txBody>
      </p:sp>
      <p:sp>
        <p:nvSpPr>
          <p:cNvPr id="18" name="graph-panel-1-edge-group-2"/>
          <p:cNvSpPr/>
          <p:nvPr/>
        </p:nvSpPr>
        <p:spPr>
          <a:xfrm>
            <a:off x="7899400" y="3835400"/>
            <a:ext cx="3632200" cy="914400"/>
          </a:xfrm>
          <a:prstGeom prst="rect">
            <a:avLst/>
          </a:prstGeom>
          <a:solidFill>
            <a:srgbClr val="E8F1EE"/>
          </a:solidFill>
          <a:ln>
            <a:solidFill>
              <a:srgbClr val="0D685C"/>
            </a:solidFill>
          </a:ln>
        </p:spPr>
        <p:txBody>
          <a:bodyPr wrap="square" lIns="76200" tIns="76200" rIns="76200" bIns="76200" rtlCol="0" anchor="ctr"/>
          <a:lstStyle/>
          <a:p>
            <a:pPr algn="ctr" indent="0" marL="0">
              <a:buNone/>
            </a:pPr>
            <a:r>
              <a:rPr lang="en-US" sz="1600" b="1" dirty="0">
                <a:solidFill>
                  <a:srgbClr val="173C37"/>
                </a:solidFill>
                <a:latin typeface="AppleGothic" pitchFamily="34" charset="0"/>
                <a:ea typeface="AppleGothic" pitchFamily="34" charset="-122"/>
                <a:cs typeface="AppleGothic" pitchFamily="34" charset="-120"/>
              </a:rPr>
              <a:t>E01</a:t>
            </a:r>
            <a:endParaRPr lang="en-US" sz="1600" dirty="0"/>
          </a:p>
          <a:p>
            <a:pPr algn="ctr" indent="0" marL="0">
              <a:buNone/>
            </a:pPr>
            <a:r>
              <a:rPr lang="en-US" sz="1600" dirty="0">
                <a:solidFill>
                  <a:srgbClr val="173C37"/>
                </a:solidFill>
                <a:latin typeface="AppleGothic" pitchFamily="34" charset="0"/>
                <a:ea typeface="AppleGothic" pitchFamily="34" charset="-122"/>
                <a:cs typeface="AppleGothic" pitchFamily="34" charset="-120"/>
              </a:rPr>
              <a:t>a-c, b-c</a:t>
            </a:r>
            <a:endParaRPr lang="en-US" sz="1600" dirty="0"/>
          </a:p>
        </p:txBody>
      </p:sp>
      <p:sp>
        <p:nvSpPr>
          <p:cNvPr id="19" name="Shape 17"/>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0" name="Text 18"/>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author-pdf p. 4, pair subproblems</a:t>
            </a:r>
            <a:endParaRPr lang="en-US" sz="1050" dirty="0"/>
          </a:p>
        </p:txBody>
      </p:sp>
      <p:sp>
        <p:nvSpPr>
          <p:cNvPr id="21" name="Text 19"/>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교육용 예시: rho=4의 edge routing</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Color는 0, 1, 2, 3이며 한 edge가 필요한 TTP-style task를 정확히 센다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609088"/>
                <a:gridCol w="4239768"/>
                <a:gridCol w="1521968"/>
                <a:gridCol w="250037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대상</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필요한 task keys</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Copy 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의미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Internal E_(0,0)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(0,1), (0,2), (0,3)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rho-1 pair tasks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Cross E_(0,1)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(0,1), (0,1,2), (0,1,3)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 pair + rho-2 triples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Type-1 (0,0,0)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(0,1), (0,2), (0,3)에 존재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Coverage와 1회 계산은 다름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CTTP는 rho-1 copies를 없애지 않고 서로 다른 round에 나누어 보낸다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author-pdf p. 4, TTP-style task families; pte-doi related-work context on type-1 repetition</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GP와 TTP의 constant-factor 차이</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아래 값은 edge가 color pair에 고르게 분포한다는 계산에서 얻은 expected task input이다</a:t>
            </a:r>
            <a:endParaRPr lang="en-US" sz="1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261360"/>
                <a:gridCol w="2935224"/>
                <a:gridCol w="467461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방법과 task</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Expected edge input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변경점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GP three-color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9E/rho^2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Internal과 cross edge case를 함께 포함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TTP type-3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6E/rho^2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필요한 세 cross-color groups만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TTP type-1/2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4E/rho^2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두 internal과 한 cross group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CTTP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TTP와 같은 task input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task를 여러 round에 schedule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9, 6, 4는 constant coefficient이며 asymptotic class나 실제 runtime 비율을 바꾸지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author-pdf p. 7, Sec. 5.2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CTTP가 유지한 것과 추가한 것</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R은 전체 MapReduce round 수이며 base coloring은 4-wise independent family를 사용한다</a:t>
            </a:r>
            <a:endParaRPr lang="en-US" sz="1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4022344"/>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TTP에서 유지</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CTTP에서 추가</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Color subproblem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Triple (i,j,k), pair (i,j)</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family를 round에 배정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Color 수 rho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Expected task size를 m에 맞춤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rho = ceil(sqrt(6E/m))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Round 수 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One-round partition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 = rho E/M 규모로 분산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Coloring analysis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Type-based partition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Base는 4-wise independent xi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System 목표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Reducer-local enumeration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One-round aggregate를 M 이하로 제한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CTTP의 새 요소는 triangle type이 아니라 multi-round scheduling과 load guarantee다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author-pdf pp. 3-5, Sec. 4 and Algorithm 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Subproblem의 modular round assignment</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현재 round를 r이라고 할 때 각 logical subproblem은 color-index sum의 residue로 한 round에 배정된다</a:t>
            </a:r>
            <a:endParaRPr lang="en-US" sz="1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935224"/>
                <a:gridCol w="3587496"/>
                <a:gridCol w="434848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Task family</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Round 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Reducer가 받는 groups</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Triple (i,j,k)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 + j + k = r mod 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E_(i,j), E_(i,k), E_(j,k)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Pair (i,j)</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 + j = r mod 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E_(i,i), E_(i,j), E_(j,j)</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Input edge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현재 r에 맞는 key만 emit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다른 key는 해당 round까지 기다림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전체 R rounds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residue를 한 번씩 실행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필요한 logical task를 모두 cover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Schedule은 task 실행 시점을 바꾸며 triangle type이나 필요한 edge group을 바꾸지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author-pdf p. 4, Algorithm 1; author-pdf p. 5, Lemma 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교육용 예시: rho=4, R=2의 round 분산</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E_(0,1) edge의 세 logical copies를 task-key sum mod 2로 정확히 배치한다</a:t>
            </a:r>
            <a:endParaRPr lang="en-US" sz="1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043936"/>
                <a:gridCol w="2717800"/>
                <a:gridCol w="2391664"/>
                <a:gridCol w="271780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Task key</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Index sum</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Assigned round</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해당 edge copy</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Pair (0,1)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 + 1 =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 =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E_(0,1)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Triple (0,1,2)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 + 1 + 2 = 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 =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E_(0,1)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Triple (0,1,3)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 + 1 + 3 = 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 = 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E_(0,1)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Round 0 합계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한 task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한 copy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전체 세 copy 중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Round 1 합계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두 tasks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두 copies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전체 세 copy 중 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한 round의 copy 수는 줄지만 두 round 뒤에는 필요한 세 deliveries가 모두 일어난다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author-pdf p. 4, modular schedule; constructed example</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한 edge가 현재 round를 통과하는 과정</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Mapper는 현재 round에 schedule된 key만 만들고 reducer는 필요한 세 edge group의 union을 받는다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Map input</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Edge (u,v)를 읽고 xi(u), xi(v)를 계산한다</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Group 확인</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Ordered color pair로 E_(i,j)를 정한다</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Current-round emit</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Color sum이 현재 r과 맞는 task key만 emit한다</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Shuffle</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같은 pair 또는 triple key의 edge records를 모은다</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Reduce와 enum</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세 group의 union에서 triangle을 local enumerate한다</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다음 round에는 input을 다시 읽어 그 round의 다른 task keys를 생성한다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author-pdf p. 4, Algorithm 1</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Round 수와 data movement의 tradeoff</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Per-round shuffle은 (rho-1)E/R이며 R을 늘리면 한 번의 peak가 낮아진다</a:t>
            </a:r>
            <a:endParaRPr lang="en-US" sz="1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043936"/>
                <a:gridCol w="3913632"/>
                <a:gridCol w="391363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R이 작을 때</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R이 클 때</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한 round의 shuffle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많은 edge copies가 동시에 활성화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더 적은 copies가 활성화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Aggregate peak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M을 넘을 위험이 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M에 맞추기 쉬움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Input scan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적은 횟수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매 round에서 다시 읽음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Startup과 map cost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적은 반복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Round 수만큼 반복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전체 task deliveries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필요한 TTP copies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여전히 필요한 TTP copies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CTTP는 total work를 무료로 제거하지 않고 one-round peak와 repeated overhead를 교환한다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author-pdf pp. 7-8, Eqs. 5-6 and Sec. 5.3.1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Theorem 1: Base CTTP의 expected guarantee</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Base 4-wise-independent coloring에서 reducer load와 total work는 expectation으로 제시된다</a:t>
            </a:r>
            <a:endParaRPr lang="en-US" sz="1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043936"/>
                <a:gridCol w="4565904"/>
                <a:gridCol w="326136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보장 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Theorem 1의 bound</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Guarantee 수준</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Round 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O(E^1.5 / (M sqrt(m)))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Asymptotic bound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한 mapper space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Construction bound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한 reducer space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Expected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한 round aggregate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Bound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Total work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O(E^1.5)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Expected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Expected reducer size는 모든 random coloring에서 deterministic O(m)을 뜻하지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author-pdf p. 5, Theorem 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Theorem 2의 worst-case round lower bound</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m_i는 reducer i가 받은 words이며 모든 reducer 합은 M 이하라고 둔다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한 reducer</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m_i words로 최대 m_i^1.5개 distinct triangles를 열거한다</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Local limit</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각 m_i는 한 함수 limit m 이하이다</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Aggregate limit</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같은 round의 모든 m_i 합은 M 이하이다</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One-round output</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한 round에서 최대 M sqrt(m) triangles를 열거한다</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Lower bound</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t triangles에는 Omega(t / (M sqrt(m))) rounds가 필요하다</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Optimal은 MR(m,M)와 memory-word assumption 안의 asymptotic worst-case 의미다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author-pdf p. 5, Theorem 2</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Expected load와 last-reducer risk</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전체 평균이 작아도 특정 color group에 edge가 몰리면 가장 늦은 reducer가 round를 지연시킬 수 있다</a:t>
            </a:r>
            <a:endParaRPr lang="en-US" sz="1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4131056"/>
                <a:gridCol w="402234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관점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Base expected result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남는 위험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한 reducer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평균적으로 m 규모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특정 key가 m보다 클 수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Round 완료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대부분 reducer가 작을 수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가장 큰 reducer를 기다려야 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4-wise coloring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Expected analysis를 지지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load의 deterministic bound는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필요한 강화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Coloring과 degree 처리를 수정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High-probability maximum load bound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Curse of the last reducer는 평균이 아니라 maximum reducer input의 불균형 문제다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author-pdf p. 6, Sec. 4.2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Theorem 3: 추가 조건 아래의 high-probability guarantee</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Full variant는 very-high-degree preprocessing과 degree-aware coloring을 함께 사용한다</a:t>
            </a:r>
            <a:endParaRPr lang="en-US" sz="1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5218176"/>
                <a:gridCol w="293522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구성</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조건 또는 방법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역할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Very-high degree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degree &gt; sqrt(E m): sorting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Main range 분리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Low degree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degree ≤ sqrt(E): log-E-wise hash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Load 집중</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High degree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sqrt(E) &lt; degree ≤ sqrt(E 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Degree-mass coloring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Memory condition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 = Omega(E^0.75 sqrt(log 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적용 조건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Probability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at least 1 - 1/E^epsilon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O(m); work O(E^1.5)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강한 bound에는 전처리, coloring 변경, memory 조건이 모두 필요하다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author-pdf p. 3, degree preprocessing; author-pdf p. 6, Sec. 4.2 and Theorem 3</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2014 Hadoop experiment setup</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아래 결과는 논문이 보고한 Java/Hadoop implementation과 KAIST cluster 조건의 evidence다</a:t>
            </a:r>
            <a:endParaRPr lang="en-US" sz="1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609088"/>
                <a:gridCol w="3804920"/>
                <a:gridCol w="445719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보고된 설정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 범위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Implementation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Java와 Hadoop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논문의 세 algorithm을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Cluster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40 machines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당시 실험 infrastructure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Memory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machine 4 GB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총 RAM이나 M과 동일시하지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Reducers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Default 80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Experiment parameter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시점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CIKM 2014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현재 framework 성능 claim이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Failure threshold와 runtime은 이 구현·cluster·dataset에 한정된다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author-pdf p. 7, experimental setup</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Twitter에서 관찰한 one-round shuffle peak</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보고된 2014 setup에서 R=1은 32 GB input으로부터 985 GB shuffle을 생성했다</a:t>
            </a:r>
            <a:endParaRPr lang="en-US" sz="1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2717800"/>
                <a:gridCol w="1739392"/>
                <a:gridCol w="369620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측정 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보고값</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단위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의미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Twitter input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원본 input size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R=1 shuffle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985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한 round의 intermediate data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크기 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약 30.8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985 / 32의 단순 비율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 &lt; 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Unexpected high runtime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관찰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Map과 shuffle overload로 설명</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 증가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Per-round shuffle 감소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Tradeoff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Input read와 startup 반복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Graph file이 32 GB여도 같은 edge copies가 몰린 shuffle은 985 GB에 이를 수 있었다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author-pdf pp. 7-8, Fig. 1 and Sec. 5.3.1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YahooWeb subgraph의 data scalability 결과</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같은 2014 Hadoop setup에서 random YahooWeb subgraph의 edge 수를 늘려 세 방법을 비교했다</a:t>
            </a:r>
            <a:endParaRPr lang="en-US" sz="19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2826512"/>
                <a:gridCol w="2935224"/>
                <a:gridCol w="271780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Edge 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CTTP</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TTP와 GP</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0.2B-1.6B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Reported runs 완료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Reported runs 완료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세 방법이 비교 가능한 구간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3.2B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완료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Out-of-space failure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1.6B를 넘은 reported point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6.4B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완료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Out-of-space failure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가장 큰 reported subgraph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Twitter machine scaling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세 방법 중 ideal에 가장 가까움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상대적으로 낮은 scaling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동일 구현의 machine-scaling 관찰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1.6B 이후 failure는 reported cluster 결과이며 hardware-independent limit가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author-pdf p. 8, Fig. 3 and Sec. 5.3.2; author-pdf p. 9, Fig. 6</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Real graph의 reported enumeration time</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단위는 minutes이며 failure는 같은 2014 Hadoop setup에서의 결과다</a:t>
            </a:r>
            <a:endParaRPr lang="en-US" sz="19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043936"/>
                <a:gridCol w="1956816"/>
                <a:gridCol w="1956816"/>
                <a:gridCol w="1956816"/>
                <a:gridCol w="195681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Dataset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CTTP</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TTP</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GP</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단위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LiveJournal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min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PhoneCall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min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Twitter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92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162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302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min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SubDomain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218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455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1496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min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ClueWeb09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1328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Failed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Failed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min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ClueWeb09의 31,013,037,486 triangles를 CTTP가 약 23 hours에 열거했다고 보고했다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author-pdf p. 6, Table 2; author-pdf p. 9, Figs. 5-6 and Conclusion</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Later PTE paper와의 관계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이 비교는 후속 연구 맥락이며 두 paper의 동일 구현 benchmark가 아니다</a:t>
            </a:r>
            <a:endParaRPr lang="en-US" sz="1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4131056"/>
                <a:gridCol w="402234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관점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CTTP 2014</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PTE 2016 context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핵심 문제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One-round shuffle peak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Massive intermediate data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CTTP의 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TTP tasks를 round에 분산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Related-work baseline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남는 비용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Input reread와 task copies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다른 read pipeline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Type-1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여러 pair task에 존재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중복 계산을 지적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비교 한계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CIKM 2014 setup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KDD 2016 별도 setup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CTTP의 multi-round scheduling과 PTE의 later redesign을 같은 algorithm으로 합치면 안 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author-pdf pp. 7-8, CTTP data tradeoff; pte-doi related work and method context</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CTTP의 핵심과 주장 범위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TTP의 color-type partition을 여러 round에 schedule해 one-round aggregate space를 통제한다</a:t>
            </a:r>
            <a:endParaRPr lang="en-US" sz="19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500376"/>
                <a:gridCol w="4674616"/>
                <a:gridCol w="369620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논문이 제시한 내용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제시하지 않은 내용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Mechanism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Pair·triple의 modular schedule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Replication 완전 제거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Base guarantee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Expected m; work O(E^1.5)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Deterministic load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Strong guarantee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Degree·memory 조건부 high probability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무조건적 load balance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Experiment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2014 Hadoop evidence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현대 framework 일반화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Output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Reducer-local enum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전체 record 저장 의무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CTTP는 coverage를 유지하며 한 round의 intermediate data를 제한한다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author-pdf pp. 4-6, Algorithms and Theorems 1-3; author-pdf pp. 7-9, experiments and Conclusion</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25</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CTTP: 여러 round로 triangle 열거하기</dc:title>
  <dc:subject>MapReduce Triangle Enumeration With Guarantees</dc:subject>
  <dc:creator>Research Seminars</dc:creator>
  <cp:lastModifiedBy>Research Seminars</cp:lastModifiedBy>
  <cp:revision>1</cp:revision>
  <dcterms:created xsi:type="dcterms:W3CDTF">2026-09-12T03:52:14Z</dcterms:created>
  <dcterms:modified xsi:type="dcterms:W3CDTF">2026-09-12T03:52:14Z</dcterms:modified>
</cp:coreProperties>
</file>
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B25DB753-84E2-465B-A63E-406A2BC4AFF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CTTP: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triangle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열거하기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발표는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MapReduce Triangle Enumeration With Guarantees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논문을 소개합니다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핵심 질문은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triangle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찾는 국소 알고리즘보다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필요한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묶음을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모으는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shuffle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시스템 용량을 넘지 않게 만드는 방법입니다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기존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triangle-type subproblem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유지하고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modular rule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MapReduce 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배치합니다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결과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활성화되는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intermediate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aggregate limit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 두면서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expected 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추가 조건 아래의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high-probability 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paper-doi | bibliographic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 DOI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https://doi.org/10.1145/2661829.2662017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p. 1,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author-hosted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https://www.dei.unipd.it/~silvestri/assets/publications/PSKP14.pdf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1366CE0-35EE-43CA-A1EC-21B15A81221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Triangle enumeration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출력 경계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문제의 출력 범위를 분명히 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Triangle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서로 다른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vertex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사이에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모두 존재하는 경우입니다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triangle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발견하면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enum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함수를 호출할 수 있다고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열거 결과를 반드시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31 billion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record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저장해야 한다는 요구와는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물론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system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무엇을 하는지 정해야 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space analysis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전체 출력 파일을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materialize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하는 비용까지 강제하지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경계를 알아야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shuffle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병목을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storage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문제와 섞지 않을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p. 3, Sec. 3.2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author-hosted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https://www.dei.unipd.it/~silvestri/assets/publications/PSKP14.pdf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5C187BF-846A-496F-AF09-70E01C71C91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커지는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shuffle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MapReduce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원본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machine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나뉘어 있다는 사실만으로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실행되는 것은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color subproblem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필요하면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reducer key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Shuffle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 복제본을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별로 모으므로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triangle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찾기 전에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system-wide intermediate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크게 늘어날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적은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사용하는 기존 방법이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훨씬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intermediate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 수 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이것이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congestion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performance degradation, out-of-space failure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일으킬 수 있다고 지적합니다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pp. 1-2, Introduction and Sec. 2.1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author-hosted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https://www.dei.unipd.it/~silvestri/assets/publications/PSKP14.pdf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C307B0E-E91C-4AF6-AA7F-AFAD09BDE86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MR(m, M)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resource limits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기호를 정확히 구분하겠습니다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mapper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함수가 사용할 수 있는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maximum 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단위로 나타냅니다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machine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실행되는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함수의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aggregate memory-space limit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어떤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 group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넘으면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failure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생기고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이하더라도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 group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넘으면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자체를 수용할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이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limit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동시에 만족하도록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subproblem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크기와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수를 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p. 2, Table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author-hosted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https://www.dei.unipd.it/~silvestri/assets/publications/PSKP14.pdf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p. 3, Sec. 3.1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author-hosted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https://www.dei.unipd.it/~silvestri/assets/publications/PSKP14.pdf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0EFF77F-54FB-4415-8DF4-36368F7BFE6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색은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vertex identity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partition label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vertex 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xi(v)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color 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배정합니다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rho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가능한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Base algorithm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ceil of square root of 6E over 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endpoint color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작은 값부터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쓰면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E_(i,j)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그런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color 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가진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집합입니다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proper coloring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인접한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vertex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받을 수 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받은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vertex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들이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vertex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합쳐지는 것도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group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reducer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정하기 위한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randomized partition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pp. 3-4, Sec. 4 opening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author-hosted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https://www.dei.unipd.it/~silvestri/assets/publications/PSKP14.pdf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41450DE-B80E-4A95-B201-516F5399CE8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Color 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정한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triangle type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vertex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color 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triangle 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0, 1,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모두 다르면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type-3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0, 0,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정확히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vertex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type-2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1, 1,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셋이 모두 같으면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type-1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예를 들어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type-2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color 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vertex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여전히 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vertex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그 사이의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E_(0,0)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들어갑니다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번째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vertex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가는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E_(0,1)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들어갑니다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Recoloring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하면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triangle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바뀔 수 있으므로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영구 속성이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p. 4, triangle types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author-hosted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https://www.dei.unipd.it/~silvestri/assets/publications/PSKP14.pdf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65E95BF-C808-4E9E-BBC3-747BD1B7CD7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사용하는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family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만든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family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두 종류입니다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color i, j,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triple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cross-color group E_(i,j), E_(i,k), E_(j,k)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받아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type-3 triangle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찾습니다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Pair task (i,j)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E_(i,i), E_(i,j), E_(j,j)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받아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type-1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type-2 triangle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찾습니다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Pair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internal group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모두 받는 이유는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color 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만으로 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type-1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color 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만으로 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type-1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함께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하기 위해서입니다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triangle partition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자체도 이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family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그대로 사용하며 새로 추가한 것은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 scheduling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load analysis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p. 4, task families and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author-hosted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https://www.dei.unipd.it/~silvestri/assets/publications/PSKP14.pdf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0A965C4-3771-4032-8AE7-5F72D11B176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Type-2 triangle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예시를 끝까지 따라가겠습니다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vertex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지만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vertex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color 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edge ab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endpoint 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0, 0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E_(0,0)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들어갑니다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0, 1 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E_(0,1)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들어갑니다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화면의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 boxes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묶고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 reducer (0,1)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전달하는 관계를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Pair reducer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E_(0,0), E_(0,1), E_(1,1)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받으며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E_(1,1)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비어 있어도 필요한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확인해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호출할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p. 4, pair subproblems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author-hosted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https://www.dei.unipd.it/~silvestri/assets/publications/PSKP14.pdf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9963B58-2F4B-4380-A1B1-FDE3449C23C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rho=4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routing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교육용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계산하겠습니다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Internal edge E_(0,0)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color 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포함한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 task (0,1), (0,2), (0,3)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필요하므로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copy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생깁니다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Cross edge E_(0,1)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 task (0,1)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triple task (0,1,2), (0,1,3)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필요해 역시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copy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생깁니다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일반적으로 두 경우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rho-1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TTP-style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전달됩니다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Color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type-1 triangle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 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 모두 나타날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triangle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한다는 주장과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triangle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정확히 한 번 계산한다는 주장은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p. 4, TTP-style task families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author-hosted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https://www.dei.unipd.it/~silvestri/assets/publications/PSKP14.pdf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pte-doi | related-work context on type-1 repetition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PTE paper DOI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BBEE7D4-AC0A-4407-85C5-A3AE9F0CF41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GP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constant-factor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constant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만큼 개선한다는 뜻을 정확히 보겠습니다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논문이 사용한 고른 분포 계산에서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three-color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expected 9E over rho squared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받습니다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type-3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필요한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cross-color group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보내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expected 6E over rho squared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줄이고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type-1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type-2 pair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expected 4E over rho squared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성장 형태는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O(E over rho squared)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asymptotic order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달라지지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줄였다는 사실도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 빨라진다는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runtime 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p. 7, Sec. 5.2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author-hosted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https://www.dei.unipd.it/~silvestri/assets/publications/PSKP14.pdf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5060323-39A3-46DC-9780-57609346B4B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CTTP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유지한 것과 추가한 것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이름은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Colored 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뜻합니다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triple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그대로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Base setting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ceil of square root of 6E over 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MapReduce round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construction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rho E over 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규모의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subproblem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나눕니다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Base CTTP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arbitrary input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expected 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분석하기 위해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uniformly selected 4-wise independent coloring family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이것이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reducer 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deterministic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high-probability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뒤에서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coloring treatment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 condition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추가합니다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pp. 3-5, Sec. 4 and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author-hosted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https://www.dei.unipd.it/~silvestri/assets/publications/PSKP14.pdf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76AB0D7-7047-4C12-9B5E-B3EA8C960C2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Subproblem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modular round assignment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subproblem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어느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실행할지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modular sum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Triple task (i,j,k)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i+j+k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residue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때 실행합니다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Pair task (i,j)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i+j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residue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때 실행합니다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Mapper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color 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구한 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예정된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key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모두 실행하면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residue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처리되어 필요한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logical subproblem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빠짐없이 실행됩니다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storage mechanism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deterministic round assignment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p. 4,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author-hosted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https://www.dei.unipd.it/~silvestri/assets/publications/PSKP14.pdf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p. 5, Lemma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author-hosted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https://www.dei.unipd.it/~silvestri/assets/publications/PSKP14.pdf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2531735-4BB8-4C43-BC87-99D2FFD3A5D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rho=4, R=2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rho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교육용 예시입니다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Cross edge E_(0,1)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 task (0,1), triple task (0,1,2), triple task (0,1,3)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Pair index sum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배정됩니다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Triple sums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 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 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copy, round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copies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전달됩니다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One-round execution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copies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없앤 것이 아니라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나눈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숫자 설정은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mechanism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설명용이며 논문의 실험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해석하면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p. 4, modular schedule;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author-hosted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https://www.dei.unipd.it/~silvestri/assets/publications/PSKP14.pdf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BA2A382-9429-44E1-82AE-84F4F3816EC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통과하는 과정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record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처리되는 과정을 보겠습니다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Mapper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(u,v)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읽고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endpoint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ordered pair i,j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이어서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필요한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triple 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current round residue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맞는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Shuffle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key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모읍니다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Reducer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자신의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family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맞는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group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받아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triangle enumerator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실행합니다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residue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처리하므로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p. 4,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author-hosted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https://www.dei.unipd.it/~silvestri/assets/publications/PSKP14.pdf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02A4FD4-406A-477B-9F8B-30671334DE2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Round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movement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tradeoff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늘렸을 때 무엇이 줄고 무엇이 남는지 구분하겠습니다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per-round shuffled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(rho-1)E over 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커지면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보내는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copy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줄어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aggregate peak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 두기 쉬워집니다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logical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사라지는 것은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마치면 필요한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TTP-style deliveries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수행됩니다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다시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disk read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mapper startup 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반복됩니다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tradeoff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total computation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없애는 것이 아니라 한 번에 감당할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줄이는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pp. 7-8, Eqs. 5-6 and Sec. 5.3.1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author-hosted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https://www.dei.unipd.it/~silvestri/assets/publications/PSKP14.pdf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B73A455-6A7A-4E8C-A8E5-34466BBF6FC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Theorem 1: Base CTTP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expected guarantee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 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항목별로 읽겠습니다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Round complexity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 of E to 1.5 over M square root 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 over 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aggregate space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space 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total work O(E to 1.5)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triangle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4-wise-independent coloring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arbitrary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expected analysis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지지하지만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unlucky coloring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에서도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반드시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O(m)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deterministic statement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차이가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high-probability variant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필요한 이유입니다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p. 5, Theorem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author-hosted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https://www.dei.unipd.it/~silvestri/assets/publications/PSKP14.pdf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7CFBB3A-8DE1-40F6-A972-5AD4B1232BC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Theorem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worst-case round lower bound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capacity argument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Reducer 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m_i words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가진다면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stated memory-word assumption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 최대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m_i to the 1.5 distinct triangles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열거할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이하이고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reducer input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이하이므로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전체가 열거할 수 있는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triangle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최대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 square root 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distinct triangle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있는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worst case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Omega of t over M square root m rounds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 to the 1.5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규모의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triangle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가질 수 있으므로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 order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맞습니다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optimality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가장 빠르다는 뜻이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p. 5, Theorem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author-hosted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https://www.dei.unipd.it/~silvestri/assets/publications/PSKP14.pdf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3FDC9C2-807C-4720-87EB-F23B9690D7F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Expected 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last-reducer risk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Expected reducer space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사실만으로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안전한 것은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많은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작아도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color 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key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몰리면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넘거나 훨씬 오래 걸릴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MapReduce 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가장 늦은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기다리므로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maximum 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completion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좌우합니다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curse of the last reducer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해결 방향은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4-wise coloring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단순히 반복하는 것이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degree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vertex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나누고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stronger hash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deterministic assignment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결합하는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p. 6, Sec. 4.2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author-hosted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https://www.dei.unipd.it/~silvestri/assets/publications/PSKP14.pdf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FB133C4-9606-486C-90D4-02293D9A25C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Theorem 3: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추가 조건 아래의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high-probability guarantee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variant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세 단계를 구분해야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degree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square root of E 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very-high-degree vertex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포함된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triangle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sorting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별도 처리합니다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남은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vertex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degree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square root 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이하인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low-degree vertex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log-E-wise hash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배정합니다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그보다 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degree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square root E 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이하인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vertex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total degree mass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균형을 이루도록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deterministic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하게 배정합니다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추가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 condition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 = Omega of E to 3/4 times square root log 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조건 아래 임의의 양의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constant epsilon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probability at least 1 - 1/E^epsilon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O(m), total 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O(E^1.5)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Round order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O((E/M)sqrt(E/m))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형태를 유지합니다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p. 3, degree preprocessing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author-hosted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https://www.dei.unipd.it/~silvestri/assets/publications/PSKP14.pdf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p. 6, Sec. 4.2 and Theorem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author-hosted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https://www.dei.unipd.it/~silvestri/assets/publications/PSKP14.pdf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8A3B357-22BF-46F9-AFDE-57828EEC164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2014 Hadoop experiment setup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 결과를 보기 전에 환경을 고정하겠습니다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Java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GP, TTP, CTTP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구현해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Hadoop cluster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비교했습니다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Cluster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40 machines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구성되고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machine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 GB 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가졌습니다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Default reducer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hardware memory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수치를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theoretical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그대로 대입했다고 단정하면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 결과는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2014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년의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implementation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얻은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empirical evidence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현재의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distributed graph framework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동일한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적용된다는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p. 7, experimental setup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author-hosted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https://www.dei.unipd.it/~silvestri/assets/publications/PSKP14.pdf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4CEDCC7-D8C5-4495-97E7-933446B05D8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Twitter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관찰한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one-round shuffle peak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Twitter experiment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intermediate data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병목을 구체적인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Input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 GB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였지만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R=1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CTTP execution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985 GB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shuffle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단순 비율은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작은 경우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shuffle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massive intermediate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몰려 예상보다 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나타났다고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늘리면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per-round shuffle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줄지만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다시 읽고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job startup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작업을 반복해야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수치는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reported cluster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측정값이며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universal capacity 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pp. 7-8, Fig. 1 and Sec. 5.3.1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author-hosted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https://www.dei.unipd.it/~silvestri/assets/publications/PSKP14.pdf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250AE4F-85E1-423D-ABD7-1D09E15DE01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YahooWeb subgraph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scalability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scalability experiment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YahooWeb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subgraph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0.2, 0.4, 0.8, 1.6, 3.2, 6.4 billion edges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늘렸습니다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reported point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완료했습니다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1.6 billion edges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reported subgraph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out-of-space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실패했습니다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Twitter machine-scaling plot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세 방법 가운데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ideal scaling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가장 가까웠다고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결과는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multi-round scheduling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implementation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aggregate intermediate-data pressure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낮춘다는 경험적 근거지만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절대 한계를 정하는 값은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p. 8, Fig. 3 and Sec. 5.3.2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author-hosted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https://www.dei.unipd.it/~silvestri/assets/publications/PSKP14.pdf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p. 9, Fig. 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author-hosted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https://www.dei.unipd.it/~silvestri/assets/publications/PSKP14.pdf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A47D35E-17E5-4E4F-97F3-20B7791B286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Real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reported enumeration time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Selected real graph timing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minutes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단위로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LiveJournal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세 방법이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minute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Twitter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SubDomain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짧았습니다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ClueWeb09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1,328 minutes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완료했고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실패했습니다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preprocessing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ClueWeb09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4.8 billion vertices, 7.9 billion edges, 31,013,037,486 triangles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가졌고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 hours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이를 열거했다고 정리합니다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listed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표현은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31 billion output records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하나의 파일에 저장했다는 증거가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Problem specification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enum call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허용합니다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p. 6, Table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author-hosted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https://www.dei.unipd.it/~silvestri/assets/publications/PSKP14.pdf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p. 9, Figs. 5-6 and Conclusion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author-hosted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https://www.dei.unipd.it/~silvestri/assets/publications/PSKP14.pdf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715796F-3256-46C6-AE59-9A4E88B7204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Later PTE 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와의 관계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실험 결과가 아니라 후속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related-work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맥락입니다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TTP-style edge-task copies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modular rule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배치해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one-round aggregate peak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하지만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필요한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deliveries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남고 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 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다시 읽습니다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massive intermediate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기존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type-partition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중복 문제를 지적하고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partition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read timing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다르게 구성한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distributed enumeration method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제안합니다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runtime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숫자를 이 슬라이드에서 직접 비교하지 않으며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동일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부르지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pp. 7-8, CTTP data tradeoff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author-hosted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https://www.dei.unipd.it/~silvestri/assets/publications/PSKP14.pdf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pte-doi | related work and method context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PTE paper DOI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https://doi.org/10.1145/2939672.2939757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AD6415F-97F5-4EA1-BD4D-3FDDEA71509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 CTTP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핵심과 주장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내용을 정리하겠습니다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triple color tasks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유지하고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color-index sum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배치합니다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Base 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expected reducer space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total 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high-probability O(m) 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very-high-degree preprocessing, low-degree log-E-wise hashing, high-degree deterministic degree-mass coloring,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함께 있어야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Experiment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2014 Hadoop cluster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intermediate-data peak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줄인 효과를 보여 주지만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platform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failure 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enum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허용하므로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triangle list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반드시 저장하는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pp. 4-6, Algorithms and Theorems 1-3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author-hosted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https://www.dei.unipd.it/~silvestri/assets/publications/PSKP14.pdf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pp. 7-9, experiments and Conclusion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author-hosted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https://www.dei.unipd.it/~silvestri/assets/publications/PSKP14.pdf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3F33E54-48D2-4614-9047-98CFB9F9A6B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CTTP: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여러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round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triangle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열거하기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MapReduce Triangle Enumeration With Guarantees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Ha-Myung Park, Francesco Silvestri, U Kang, Rasmus Pagh (2014)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색 기반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subproblem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분산해 한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round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intermediate-data peak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제한한다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paper-doi bibliographic record; author-pdf p. 1,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Triangle enumeration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출력 경계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simple undirected graph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triangle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서로 다른 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vertex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구성된다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Graph edge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중복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self-loop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없는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undirected graph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입력받는다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세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vertex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서로 다른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u, v, w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후보로 본다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세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확인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uv, uw, vw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모두 실제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있어야 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enum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찾은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triangle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마다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enum(u, v, w)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호출할 수 있다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 모델은 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triangle record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하나의 거대한 파일로 저장하도록 요구하지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p. 3, Sec. 3.2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커지는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shuffle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input edge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여러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triangle subproblem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필요하면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mapper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 record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여러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key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복제한다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Input edge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mapper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record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읽는다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여러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subproblem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필요한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reducer key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계산한다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Record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복제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여러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key-value record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emit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1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2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Shuffle regroup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system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key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별로 모든 복제본을 동시에 모은다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6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7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One-round peak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reducer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 전에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aggregate data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capacity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넘을 수 있다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1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2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분산 저장된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intermediate edge copies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몰리면 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실행하지 못할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4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pp. 1-2, Introduction and Sec. 2.1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MR(m, M)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resource limits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graph edge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수이며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서로 다른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scope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memory-space bound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065320"/>
                <a:gridCol w="467460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초과하면 생기는 문제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Partition·round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식의 기준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함수 하나의 최대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words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Key group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크면 실패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총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words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group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합이 크면 실패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m_k,r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Key 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round-r words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m_k,r ≤ 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Aggregate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m_k,r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합계 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한 함수의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limit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cluster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one-round aggregate limit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p. 2, Table 1; author-pdf p. 3, Sec. 3.1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색은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vertex identity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partition label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rho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color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수이고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xi(v)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vertex v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배정한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color label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67460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뜻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주의할 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rho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Color label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ceil(sqrt(6E/m))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xi(v)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 label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Vertex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자체는 그대로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E_(i,j)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Label pair i,j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 ≤ j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기록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color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bucket label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Vertex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합체가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인접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vertex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label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Proper coloring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Color label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triangle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어느 작은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보낼지 결정하며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original edge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그대로다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pp. 3-4, Sec. 4 opening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Color label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정한 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triangle type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original triangle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xi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다시 선택하면 다른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type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속할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graph-panel-1-caption"/>
          <p:cNvSpPr/>
          <p:nvPr/>
        </p:nvSpPr>
        <p:spPr>
          <a:xfrm>
            <a:off x="660240" y="2082960"/>
            <a:ext cx="345420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Type-3 · </a:t>
            </a:r>
            <a:r>
              <a:rPr lang="ko-KR" sz="16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색 라벨 </a:t>
            </a:r>
            <a:r>
              <a:rPr lang="en-US" sz="16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0,1,2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graph-panel-1-edge-line-u3-v3"/>
          <p:cNvSpPr/>
          <p:nvPr/>
        </p:nvSpPr>
        <p:spPr>
          <a:xfrm flipV="1">
            <a:off x="1558440" y="3390840"/>
            <a:ext cx="829080" cy="1612800"/>
          </a:xfrm>
          <a:prstGeom prst="line">
            <a:avLst/>
          </a:prstGeom>
          <a:ln w="12700">
            <a:solidFill>
              <a:srgbClr val="5E6D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6" name="graph-panel-1-edge-label-u3-v3"/>
          <p:cNvSpPr/>
          <p:nvPr/>
        </p:nvSpPr>
        <p:spPr>
          <a:xfrm>
            <a:off x="1287360" y="4070520"/>
            <a:ext cx="7617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E01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graph-panel-1-edge-line-u3-w3"/>
          <p:cNvSpPr/>
          <p:nvPr/>
        </p:nvSpPr>
        <p:spPr>
          <a:xfrm>
            <a:off x="2387520" y="3390840"/>
            <a:ext cx="829080" cy="1612800"/>
          </a:xfrm>
          <a:prstGeom prst="line">
            <a:avLst/>
          </a:prstGeom>
          <a:ln w="12700">
            <a:solidFill>
              <a:srgbClr val="5E6D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8" name="graph-panel-1-edge-label-u3-w3"/>
          <p:cNvSpPr/>
          <p:nvPr/>
        </p:nvSpPr>
        <p:spPr>
          <a:xfrm>
            <a:off x="2903760" y="4070520"/>
            <a:ext cx="7617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E02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graph-panel-1-edge-line-v3-w3"/>
          <p:cNvSpPr/>
          <p:nvPr/>
        </p:nvSpPr>
        <p:spPr>
          <a:xfrm>
            <a:off x="1558440" y="5003640"/>
            <a:ext cx="1658160" cy="360"/>
          </a:xfrm>
          <a:prstGeom prst="line">
            <a:avLst/>
          </a:prstGeom>
          <a:ln w="12700">
            <a:solidFill>
              <a:srgbClr val="5E6D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0" name="graph-panel-1-edge-label-v3-w3"/>
          <p:cNvSpPr/>
          <p:nvPr/>
        </p:nvSpPr>
        <p:spPr>
          <a:xfrm>
            <a:off x="2006640" y="5143680"/>
            <a:ext cx="7617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E12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graph-panel-1-node-u3"/>
          <p:cNvSpPr/>
          <p:nvPr/>
        </p:nvSpPr>
        <p:spPr>
          <a:xfrm>
            <a:off x="2108160" y="3111480"/>
            <a:ext cx="558360" cy="558360"/>
          </a:xfrm>
          <a:prstGeom prst="ellipse">
            <a:avLst/>
          </a:prstGeom>
          <a:solidFill>
            <a:srgbClr val="D7ECE6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u3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graph-panel-1-node-label-u3"/>
          <p:cNvSpPr/>
          <p:nvPr/>
        </p:nvSpPr>
        <p:spPr>
          <a:xfrm>
            <a:off x="1727280" y="2565360"/>
            <a:ext cx="13204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정점 </a:t>
            </a:r>
            <a:r>
              <a:rPr lang="en-US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색 </a:t>
            </a:r>
            <a:r>
              <a:rPr lang="en-US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graph-panel-1-node-v3"/>
          <p:cNvSpPr/>
          <p:nvPr/>
        </p:nvSpPr>
        <p:spPr>
          <a:xfrm>
            <a:off x="1279080" y="4724280"/>
            <a:ext cx="558360" cy="558360"/>
          </a:xfrm>
          <a:prstGeom prst="ellipse">
            <a:avLst/>
          </a:prstGeom>
          <a:solidFill>
            <a:srgbClr val="F2D9CC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v3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graph-panel-1-node-label-v3"/>
          <p:cNvSpPr/>
          <p:nvPr/>
        </p:nvSpPr>
        <p:spPr>
          <a:xfrm>
            <a:off x="898200" y="5334120"/>
            <a:ext cx="13204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정점 </a:t>
            </a:r>
            <a:r>
              <a:rPr lang="en-US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색 </a:t>
            </a:r>
            <a:r>
              <a:rPr lang="en-US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graph-panel-1-node-w3"/>
          <p:cNvSpPr/>
          <p:nvPr/>
        </p:nvSpPr>
        <p:spPr>
          <a:xfrm>
            <a:off x="2937240" y="4724280"/>
            <a:ext cx="558360" cy="558360"/>
          </a:xfrm>
          <a:prstGeom prst="ellipse">
            <a:avLst/>
          </a:prstGeom>
          <a:solidFill>
            <a:srgbClr val="DCE3F2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w3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graph-panel-1-node-label-w3"/>
          <p:cNvSpPr/>
          <p:nvPr/>
        </p:nvSpPr>
        <p:spPr>
          <a:xfrm>
            <a:off x="2556360" y="5334120"/>
            <a:ext cx="13204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정점 </a:t>
            </a:r>
            <a:r>
              <a:rPr lang="en-US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색 </a:t>
            </a:r>
            <a:r>
              <a:rPr lang="en-US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graph-panel-2-caption"/>
          <p:cNvSpPr/>
          <p:nvPr/>
        </p:nvSpPr>
        <p:spPr>
          <a:xfrm>
            <a:off x="4368960" y="2082960"/>
            <a:ext cx="345420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Type-2 · </a:t>
            </a:r>
            <a:r>
              <a:rPr lang="ko-KR" sz="16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색 라벨 </a:t>
            </a:r>
            <a:r>
              <a:rPr lang="en-US" sz="16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0,0,1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graph-panel-2-edge-line-u2-v2"/>
          <p:cNvSpPr/>
          <p:nvPr/>
        </p:nvSpPr>
        <p:spPr>
          <a:xfrm flipV="1">
            <a:off x="5266800" y="3390840"/>
            <a:ext cx="829080" cy="1612800"/>
          </a:xfrm>
          <a:prstGeom prst="line">
            <a:avLst/>
          </a:prstGeom>
          <a:ln w="12700">
            <a:solidFill>
              <a:srgbClr val="5E6D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9" name="graph-panel-2-edge-label-u2-v2"/>
          <p:cNvSpPr/>
          <p:nvPr/>
        </p:nvSpPr>
        <p:spPr>
          <a:xfrm>
            <a:off x="4995720" y="4070520"/>
            <a:ext cx="7617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E00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graph-panel-2-edge-line-u2-w2"/>
          <p:cNvSpPr/>
          <p:nvPr/>
        </p:nvSpPr>
        <p:spPr>
          <a:xfrm>
            <a:off x="6095880" y="3390840"/>
            <a:ext cx="829080" cy="1612800"/>
          </a:xfrm>
          <a:prstGeom prst="line">
            <a:avLst/>
          </a:prstGeom>
          <a:ln w="12700">
            <a:solidFill>
              <a:srgbClr val="5E6D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1" name="graph-panel-2-edge-label-u2-w2"/>
          <p:cNvSpPr/>
          <p:nvPr/>
        </p:nvSpPr>
        <p:spPr>
          <a:xfrm>
            <a:off x="6612120" y="4070520"/>
            <a:ext cx="7617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E01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graph-panel-2-edge-line-v2-w2"/>
          <p:cNvSpPr/>
          <p:nvPr/>
        </p:nvSpPr>
        <p:spPr>
          <a:xfrm>
            <a:off x="5266800" y="5003640"/>
            <a:ext cx="1658160" cy="360"/>
          </a:xfrm>
          <a:prstGeom prst="line">
            <a:avLst/>
          </a:prstGeom>
          <a:ln w="12700">
            <a:solidFill>
              <a:srgbClr val="5E6D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3" name="graph-panel-2-edge-label-v2-w2"/>
          <p:cNvSpPr/>
          <p:nvPr/>
        </p:nvSpPr>
        <p:spPr>
          <a:xfrm>
            <a:off x="5715000" y="5143680"/>
            <a:ext cx="7617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E01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graph-panel-2-node-u2"/>
          <p:cNvSpPr/>
          <p:nvPr/>
        </p:nvSpPr>
        <p:spPr>
          <a:xfrm>
            <a:off x="5816520" y="3111480"/>
            <a:ext cx="558360" cy="558360"/>
          </a:xfrm>
          <a:prstGeom prst="ellipse">
            <a:avLst/>
          </a:prstGeom>
          <a:solidFill>
            <a:srgbClr val="D7ECE6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u2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graph-panel-2-node-label-u2"/>
          <p:cNvSpPr/>
          <p:nvPr/>
        </p:nvSpPr>
        <p:spPr>
          <a:xfrm>
            <a:off x="5435640" y="2565360"/>
            <a:ext cx="13204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정점 </a:t>
            </a:r>
            <a:r>
              <a:rPr lang="en-US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색 </a:t>
            </a:r>
            <a:r>
              <a:rPr lang="en-US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graph-panel-2-node-v2"/>
          <p:cNvSpPr/>
          <p:nvPr/>
        </p:nvSpPr>
        <p:spPr>
          <a:xfrm>
            <a:off x="4987440" y="4724280"/>
            <a:ext cx="558360" cy="558360"/>
          </a:xfrm>
          <a:prstGeom prst="ellipse">
            <a:avLst/>
          </a:prstGeom>
          <a:solidFill>
            <a:srgbClr val="D7ECE6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v2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graph-panel-2-node-label-v2"/>
          <p:cNvSpPr/>
          <p:nvPr/>
        </p:nvSpPr>
        <p:spPr>
          <a:xfrm>
            <a:off x="4606560" y="5334120"/>
            <a:ext cx="13204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정점 </a:t>
            </a:r>
            <a:r>
              <a:rPr lang="en-US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색 </a:t>
            </a:r>
            <a:r>
              <a:rPr lang="en-US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raph-panel-2-node-w2"/>
          <p:cNvSpPr/>
          <p:nvPr/>
        </p:nvSpPr>
        <p:spPr>
          <a:xfrm>
            <a:off x="6645600" y="4724280"/>
            <a:ext cx="558360" cy="558360"/>
          </a:xfrm>
          <a:prstGeom prst="ellipse">
            <a:avLst/>
          </a:prstGeom>
          <a:solidFill>
            <a:srgbClr val="F2D9CC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w2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raph-panel-2-node-label-w2"/>
          <p:cNvSpPr/>
          <p:nvPr/>
        </p:nvSpPr>
        <p:spPr>
          <a:xfrm>
            <a:off x="6264720" y="5334120"/>
            <a:ext cx="13204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정점 </a:t>
            </a:r>
            <a:r>
              <a:rPr lang="en-US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색 </a:t>
            </a:r>
            <a:r>
              <a:rPr lang="en-US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graph-panel-3-caption"/>
          <p:cNvSpPr/>
          <p:nvPr/>
        </p:nvSpPr>
        <p:spPr>
          <a:xfrm>
            <a:off x="8077320" y="2082960"/>
            <a:ext cx="345420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Type-1 · </a:t>
            </a:r>
            <a:r>
              <a:rPr lang="ko-KR" sz="16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색 라벨 </a:t>
            </a:r>
            <a:r>
              <a:rPr lang="en-US" sz="16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1,1,1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graph-panel-3-edge-line-u1-v1"/>
          <p:cNvSpPr/>
          <p:nvPr/>
        </p:nvSpPr>
        <p:spPr>
          <a:xfrm flipV="1">
            <a:off x="8975160" y="3390840"/>
            <a:ext cx="829080" cy="1612800"/>
          </a:xfrm>
          <a:prstGeom prst="line">
            <a:avLst/>
          </a:prstGeom>
          <a:ln w="12700">
            <a:solidFill>
              <a:srgbClr val="5E6D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2" name="graph-panel-3-edge-label-u1-v1"/>
          <p:cNvSpPr/>
          <p:nvPr/>
        </p:nvSpPr>
        <p:spPr>
          <a:xfrm>
            <a:off x="8704080" y="4070520"/>
            <a:ext cx="7617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E11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raph-panel-3-edge-line-u1-w1"/>
          <p:cNvSpPr/>
          <p:nvPr/>
        </p:nvSpPr>
        <p:spPr>
          <a:xfrm>
            <a:off x="9804240" y="3390840"/>
            <a:ext cx="829080" cy="1612800"/>
          </a:xfrm>
          <a:prstGeom prst="line">
            <a:avLst/>
          </a:prstGeom>
          <a:ln w="12700">
            <a:solidFill>
              <a:srgbClr val="5E6D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graph-panel-3-edge-label-u1-w1"/>
          <p:cNvSpPr/>
          <p:nvPr/>
        </p:nvSpPr>
        <p:spPr>
          <a:xfrm>
            <a:off x="10320480" y="4070520"/>
            <a:ext cx="7617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E11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graph-panel-3-edge-line-v1-w1"/>
          <p:cNvSpPr/>
          <p:nvPr/>
        </p:nvSpPr>
        <p:spPr>
          <a:xfrm>
            <a:off x="8975160" y="5003640"/>
            <a:ext cx="1658160" cy="360"/>
          </a:xfrm>
          <a:prstGeom prst="line">
            <a:avLst/>
          </a:prstGeom>
          <a:ln w="12700">
            <a:solidFill>
              <a:srgbClr val="5E6D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6" name="graph-panel-3-edge-label-v1-w1"/>
          <p:cNvSpPr/>
          <p:nvPr/>
        </p:nvSpPr>
        <p:spPr>
          <a:xfrm>
            <a:off x="9423360" y="5143680"/>
            <a:ext cx="7617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E11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graph-panel-3-node-u1"/>
          <p:cNvSpPr/>
          <p:nvPr/>
        </p:nvSpPr>
        <p:spPr>
          <a:xfrm>
            <a:off x="9524880" y="3111480"/>
            <a:ext cx="558360" cy="558360"/>
          </a:xfrm>
          <a:prstGeom prst="ellipse">
            <a:avLst/>
          </a:prstGeom>
          <a:solidFill>
            <a:srgbClr val="F2D9CC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u1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graph-panel-3-node-label-u1"/>
          <p:cNvSpPr/>
          <p:nvPr/>
        </p:nvSpPr>
        <p:spPr>
          <a:xfrm>
            <a:off x="9144000" y="2565360"/>
            <a:ext cx="13204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정점 </a:t>
            </a:r>
            <a:r>
              <a:rPr lang="en-US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색 </a:t>
            </a:r>
            <a:r>
              <a:rPr lang="en-US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graph-panel-3-node-v1"/>
          <p:cNvSpPr/>
          <p:nvPr/>
        </p:nvSpPr>
        <p:spPr>
          <a:xfrm>
            <a:off x="8695800" y="4724280"/>
            <a:ext cx="558360" cy="558360"/>
          </a:xfrm>
          <a:prstGeom prst="ellipse">
            <a:avLst/>
          </a:prstGeom>
          <a:solidFill>
            <a:srgbClr val="F2D9CC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v1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graph-panel-3-node-label-v1"/>
          <p:cNvSpPr/>
          <p:nvPr/>
        </p:nvSpPr>
        <p:spPr>
          <a:xfrm>
            <a:off x="8314920" y="5334120"/>
            <a:ext cx="13204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정점 </a:t>
            </a:r>
            <a:r>
              <a:rPr lang="en-US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색 </a:t>
            </a:r>
            <a:r>
              <a:rPr lang="en-US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graph-panel-3-node-w1"/>
          <p:cNvSpPr/>
          <p:nvPr/>
        </p:nvSpPr>
        <p:spPr>
          <a:xfrm>
            <a:off x="10353960" y="4724280"/>
            <a:ext cx="558360" cy="558360"/>
          </a:xfrm>
          <a:prstGeom prst="ellipse">
            <a:avLst/>
          </a:prstGeom>
          <a:solidFill>
            <a:srgbClr val="F2D9CC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w1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graph-panel-3-node-label-w1"/>
          <p:cNvSpPr/>
          <p:nvPr/>
        </p:nvSpPr>
        <p:spPr>
          <a:xfrm>
            <a:off x="9973080" y="5334120"/>
            <a:ext cx="13204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정점 </a:t>
            </a:r>
            <a:r>
              <a:rPr lang="en-US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색 </a:t>
            </a:r>
            <a:r>
              <a:rPr lang="en-US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4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4" name="Text 4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p. 4, triangle types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4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TTP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CTTP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사용하는 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family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family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필요한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 groups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모은 뒤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triangle enumerator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실행한다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9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0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1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2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3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4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5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6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7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8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9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Color edge groups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Original graph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E_(i,j)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Triple (i,j,k)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E_(i,j), E_(i,k), E_(j,k)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Pair (i,j)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E_(i,i), E_(i,j), E_(j,j)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Reducer subgraph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Key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세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group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CTTP schedule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family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여러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배치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0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p. 4, task families and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예시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Type-2 triangle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routing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서로 다른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a, b, 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색이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0,0,1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E00·E01 groups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pair reducer (0,1)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모인다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graph-panel-1-caption"/>
          <p:cNvSpPr/>
          <p:nvPr/>
        </p:nvSpPr>
        <p:spPr>
          <a:xfrm>
            <a:off x="660240" y="2082960"/>
            <a:ext cx="685764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Pair task (0,1): E00·E01 → reducer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graph-panel-1-edge-line-a-b"/>
          <p:cNvSpPr/>
          <p:nvPr/>
        </p:nvSpPr>
        <p:spPr>
          <a:xfrm flipV="1">
            <a:off x="2755800" y="3390840"/>
            <a:ext cx="1333440" cy="1612800"/>
          </a:xfrm>
          <a:prstGeom prst="line">
            <a:avLst/>
          </a:prstGeom>
          <a:ln w="12700">
            <a:solidFill>
              <a:srgbClr val="5E6D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6" name="graph-panel-1-edge-label-a-b"/>
          <p:cNvSpPr/>
          <p:nvPr/>
        </p:nvSpPr>
        <p:spPr>
          <a:xfrm>
            <a:off x="2736720" y="4070520"/>
            <a:ext cx="7617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E00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graph-panel-1-edge-line-a-c"/>
          <p:cNvSpPr/>
          <p:nvPr/>
        </p:nvSpPr>
        <p:spPr>
          <a:xfrm>
            <a:off x="4089240" y="3390840"/>
            <a:ext cx="1333440" cy="1612800"/>
          </a:xfrm>
          <a:prstGeom prst="line">
            <a:avLst/>
          </a:prstGeom>
          <a:ln w="12700">
            <a:solidFill>
              <a:srgbClr val="5E6D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8" name="graph-panel-1-edge-label-a-c"/>
          <p:cNvSpPr/>
          <p:nvPr/>
        </p:nvSpPr>
        <p:spPr>
          <a:xfrm>
            <a:off x="4857840" y="4070520"/>
            <a:ext cx="7617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E01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graph-panel-1-edge-line-b-c"/>
          <p:cNvSpPr/>
          <p:nvPr/>
        </p:nvSpPr>
        <p:spPr>
          <a:xfrm>
            <a:off x="2755800" y="5003640"/>
            <a:ext cx="2666880" cy="360"/>
          </a:xfrm>
          <a:prstGeom prst="line">
            <a:avLst/>
          </a:prstGeom>
          <a:ln w="12700">
            <a:solidFill>
              <a:srgbClr val="5E6D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0" name="graph-panel-1-edge-label-b-c"/>
          <p:cNvSpPr/>
          <p:nvPr/>
        </p:nvSpPr>
        <p:spPr>
          <a:xfrm>
            <a:off x="3708360" y="5143680"/>
            <a:ext cx="7617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E01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graph-panel-1-node-a"/>
          <p:cNvSpPr/>
          <p:nvPr/>
        </p:nvSpPr>
        <p:spPr>
          <a:xfrm>
            <a:off x="3809880" y="3111480"/>
            <a:ext cx="558360" cy="558360"/>
          </a:xfrm>
          <a:prstGeom prst="ellipse">
            <a:avLst/>
          </a:prstGeom>
          <a:solidFill>
            <a:srgbClr val="D7ECE6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a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graph-panel-1-node-label-a"/>
          <p:cNvSpPr/>
          <p:nvPr/>
        </p:nvSpPr>
        <p:spPr>
          <a:xfrm>
            <a:off x="3429000" y="2565360"/>
            <a:ext cx="13204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정점 </a:t>
            </a:r>
            <a:r>
              <a:rPr lang="en-US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색 </a:t>
            </a:r>
            <a:r>
              <a:rPr lang="en-US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graph-panel-1-node-b"/>
          <p:cNvSpPr/>
          <p:nvPr/>
        </p:nvSpPr>
        <p:spPr>
          <a:xfrm>
            <a:off x="2476440" y="4724280"/>
            <a:ext cx="558360" cy="558360"/>
          </a:xfrm>
          <a:prstGeom prst="ellipse">
            <a:avLst/>
          </a:prstGeom>
          <a:solidFill>
            <a:srgbClr val="D7ECE6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b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graph-panel-1-node-label-b"/>
          <p:cNvSpPr/>
          <p:nvPr/>
        </p:nvSpPr>
        <p:spPr>
          <a:xfrm>
            <a:off x="2095560" y="5334120"/>
            <a:ext cx="13204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정점 </a:t>
            </a:r>
            <a:r>
              <a:rPr lang="en-US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색 </a:t>
            </a:r>
            <a:r>
              <a:rPr lang="en-US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graph-panel-1-node-c"/>
          <p:cNvSpPr/>
          <p:nvPr/>
        </p:nvSpPr>
        <p:spPr>
          <a:xfrm>
            <a:off x="5143680" y="4724280"/>
            <a:ext cx="558360" cy="558360"/>
          </a:xfrm>
          <a:prstGeom prst="ellipse">
            <a:avLst/>
          </a:prstGeom>
          <a:solidFill>
            <a:srgbClr val="F2D9CC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c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graph-panel-1-node-label-c"/>
          <p:cNvSpPr/>
          <p:nvPr/>
        </p:nvSpPr>
        <p:spPr>
          <a:xfrm>
            <a:off x="4762440" y="5334120"/>
            <a:ext cx="13204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정점 </a:t>
            </a:r>
            <a:r>
              <a:rPr lang="en-US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색 </a:t>
            </a:r>
            <a:r>
              <a:rPr lang="en-US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graph-panel-1-edge-group-1"/>
          <p:cNvSpPr/>
          <p:nvPr/>
        </p:nvSpPr>
        <p:spPr>
          <a:xfrm>
            <a:off x="7899480" y="2743200"/>
            <a:ext cx="3631680" cy="914040"/>
          </a:xfrm>
          <a:prstGeom prst="rect">
            <a:avLst/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76320" tIns="76320" rIns="76320" bIns="763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E00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a-b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graph-panel-1-edge-group-2"/>
          <p:cNvSpPr/>
          <p:nvPr/>
        </p:nvSpPr>
        <p:spPr>
          <a:xfrm>
            <a:off x="7899480" y="3835440"/>
            <a:ext cx="3631680" cy="914040"/>
          </a:xfrm>
          <a:prstGeom prst="rect">
            <a:avLst/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76320" tIns="76320" rIns="76320" bIns="763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E01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a-c, b-c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1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0" name="Text 1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p. 4, pair subproblems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예시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rho=4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routing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Color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0, 1, 2, 3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 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필요한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TTP-style 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정확히 센다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4239720"/>
                <a:gridCol w="1521720"/>
                <a:gridCol w="25002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필요한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keys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Copy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Internal E_(0,0)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(0,1), (0,2), (0,3)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rho-1 pair tasks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Cross E_(0,1)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(0,1), (0,1,2), (0,1,3)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pair + rho-2 triples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Type-1 (0,0,0)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(0,1), (0,2), (0,3)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존재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Coverage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회 계산은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CTTP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rho-1 copies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없애지 않고 서로 다른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나누어 보낸다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p. 4, TTP-style task families; pte-doi related-work context on type-1 repetition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TTP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constant-factor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 값은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color pair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고르게 분포한다는 계산에서 얻은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expected task input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261240"/>
                <a:gridCol w="2935080"/>
                <a:gridCol w="4674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방법과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Expected edge input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변경점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 three-color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9E/rho^2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Internal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cross edge case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함께 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TTP type-3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6E/rho^2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필요한 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cross-color groups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TTP type-1/2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4E/rho^2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internal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cross group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CTTP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TTP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input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여러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schedule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9, 6, 4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constant coefficient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asymptotic class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나 실제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runtime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비율을 바꾸지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p. 7, Sec. 5.2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CTTP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유지한 것과 추가한 것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전체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MapReduce round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수이며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base coloring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4-wise independent family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사용한다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0222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TTP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유지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CTTP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추가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Color subproblem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Triple (i,j,k), pair (i,j)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family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배정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Color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rho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Expected task size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맞춤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rho = ceil(sqrt(6E/m))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One-round partition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 = rho E/M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규모로 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Coloring analysis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Type-based partition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4-wise independent xi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System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Reducer-local enumeration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One-round aggregate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이하로 제한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CTTP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새 요소는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triangle type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multi-round scheduling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load guarantee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pp. 3-5, Sec. 4 and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Subproblem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modular round assignment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round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이라고 할 때 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logical subproblem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color-index sum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residue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round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배정된다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935080"/>
                <a:gridCol w="358740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family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Reducer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받는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groups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Triple (i,j,k)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 + j + k = r mod 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E_(i,j), E_(i,k), E_(j,k)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Pair (i,j)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 + j = r mod 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E_(i,i), E_(i,j), E_(j,j)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Input edge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맞는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key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emit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key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해당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까지 기다림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 rounds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residue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한 번씩 실행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logical 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모두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cover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Schedule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 시점을 바꾸며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triangle type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이나 필요한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group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바꾸지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p. 4, Algorithm 1; author-pdf p. 5, Lemma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예시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rho=4, R=2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E_(0,1) edge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logical copies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task-key sum mod 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정확히 배치한다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2717640"/>
                <a:gridCol w="239148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key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Index sum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Assigned round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해당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copy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Pair (0,1)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 + 1 =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 =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E_(0,1)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Triple (0,1,2)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 + 1 + 2 = 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 =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E_(0,1)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Triple (0,1,3)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 + 1 + 3 = 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 = 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E_(0,1)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 0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copy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copy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 1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copies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copy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copy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수는 줄지만 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뒤에는 필요한 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deliveries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모두 일어난다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p. 4, modular schedule;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현재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통과하는 과정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Mapper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현재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round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schedule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key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 만들고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reducer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필요한 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 group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union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받는다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Map input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(u,v)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읽고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xi(u), xi(v)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계산한다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8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9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Group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확인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Ordered color pair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E_(i,j)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정한다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3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4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Current-round emit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Color sum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현재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맞는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key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emit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8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9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Shuffle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pair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triple key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records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모은다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3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4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Reduce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enum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group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triangle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enumerate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8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9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input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다시 읽어 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다른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keys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생성한다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1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p. 4,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 movement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tradeoff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Per-round shuffle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(rho-1)E/R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늘리면 한 번의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peak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낮아진다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391356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작을 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클 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shuffle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많은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copies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동시에 활성화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더 적은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copies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활성화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Aggregate peak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넘을 위험이 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맞추기 쉬움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Input scan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적은 횟수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다시 읽음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Startup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map cost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적은 반복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수만큼 반복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deliveries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TTP copies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여전히 필요한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TTP copies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CTTP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total work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무료로 제거하지 않고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one-round peak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repeated overhead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교환한다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pp. 7-8, Eqs. 5-6 and Sec. 5.3.1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Theorem 1: Base CTTP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expected guarantee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Base 4-wise-independent coloring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reducer load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total work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expectation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제시된다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456588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보장 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Theorem 1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bound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Guarantee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O(E^1.5 / (M sqrt(m)))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Asymptotic bound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mapper space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M/E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Construction bound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reducer space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Expected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 aggregate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Total work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O(E^1.5)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Expected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Expected reducer size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random coloring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deterministic O(m)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뜻하지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p. 5, Theorem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Theorem 2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worst-case round lower bound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m_i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reducer 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받은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words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 모든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reducer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합은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이하라고 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reducer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m_i words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최대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m_i^1.5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distinct triangles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열거한다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5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6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limit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m_i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한 함수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limit m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이하이다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0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1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Aggregate limit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모든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m_i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합은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이하이다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5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6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One-round output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최대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 sqrt(m) triangles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열거한다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0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1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Lower bound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 triangles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Omega(t / (M sqrt(m))) rounds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필요하다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5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6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Optimal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MR(m,M)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memory-word assumption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asymptotic worst-case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8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p. 5, Theorem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Expected load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last-reducer risk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전체 평균이 작아도 특정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color group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몰리면 가장 늦은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reducer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round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지연시킬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13100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 expected result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남는 위험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reducer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평균적으로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규모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특정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key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클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대부분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reducer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작을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가장 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reducer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기다려야 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4-wise coloring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Expected analysis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지지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load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deterministic bound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필요한 강화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Coloring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degree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처리를 수정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High-probability maximum load bound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Curse of the last reducer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평균이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maximum reducer input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불균형 문제다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p. 6, Sec. 4.2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Theorem 3: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추가 조건 아래의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high-probability guarantee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Full variant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very-high-degree preprocessing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degree-aware coloring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함께 사용한다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5217840"/>
                <a:gridCol w="29350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 또는 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Very-high degree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degree &gt; sqrt(E m): sorting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Main range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Low degree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degree ≤ sqrt(E): log-E-wise hash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Load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집중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High degree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sqrt(E) &lt; degree ≤ sqrt(E m)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Degree-mass coloring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Memory condition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 = Omega(E^0.75 sqrt(log E))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적용 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Probability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at least 1 - 1/E^epsilon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O(m); work O(E^1.5)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강한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bound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에는 전처리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coloring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변경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memory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조건이 모두 필요하다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p. 3, degree preprocessing; author-pdf p. 6, Sec. 4.2 and Theorem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2014 Hadoop experiment setup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 결과는 논문이 보고한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Java/Hadoop implementation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KAIST cluster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조건의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evidence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3804840"/>
                <a:gridCol w="44571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보고된 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Implementation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Java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Hadoop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논문의 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algorithm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Cluster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40 machines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당시 실험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infrastructure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Memory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machine 4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총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동일시하지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Reducers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Default 80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Experiment parameter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CIKM 2014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framework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성능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claim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Failure threshold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runtime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이 구현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·cluster·dataset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한정된다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p. 7, experimental setup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Twitter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관찰한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one-round shuffle peak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보고된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2014 setup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R=1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32 GB input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으로부터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985 GB shuffle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생성했다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2717640"/>
                <a:gridCol w="173916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측정 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보고값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Twitter input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input size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R=1 shuffle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985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intermediate data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크기 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985 / 32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단순 비율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 &lt; 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Unexpected high runtime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shuffle overload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설명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Per-round shuffle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Tradeoff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Input read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startup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 file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32 GB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여도 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copies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몰린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shuffle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985 GB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이를 수 있었다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pp. 7-8, Fig. 1 and Sec. 5.3.1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YahooWeb subgraph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 scalability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2014 Hadoop setup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random YahooWeb subgraph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수를 늘려 세 방법을 비교했다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2826360"/>
                <a:gridCol w="293508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CTTP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TTP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0.2B-1.6B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Reported runs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Reported runs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세 방법이 비교 가능한 구간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3.2B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Out-of-space failure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1.6B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넘은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reported point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6.4B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Out-of-space failure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가장 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reported subgraph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Twitter machine scaling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세 방법 중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ideal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가장 가까움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상대적으로 낮은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scaling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동일 구현의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machine-scaling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1.6B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failure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reported cluster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hardware-independent limit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p. 8, Fig. 3 and Sec. 5.3.2; author-pdf p. 9, Fig. 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Real graph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reported enumeration time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단위는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minutes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failure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2014 Hadoop setup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에서의 결과다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1956600"/>
                <a:gridCol w="1956600"/>
                <a:gridCol w="1956600"/>
                <a:gridCol w="1956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CTTP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TTP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LiveJournal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PhoneCall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Twitter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SubDomain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218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455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1496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ClueWeb09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1328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Failed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Failed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ClueWeb09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31,013,037,486 triangles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CTTP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약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23 hours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열거했다고 보고했다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p. 6, Table 2; author-pdf p. 9, Figs. 5-6 and Conclusion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Later PTE paper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와의 관계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비교는 후속 연구 맥락이며 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paper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동일 구현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benchmark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5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13100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CTTP 2014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PTE 2016 context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핵심 문제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One-round shuffle peak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Massive intermediate data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CTTP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TTP tasks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Related-work baseline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남는 비용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Input reread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copies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read pipeline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Type-1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pair 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존재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중복 계산을 지적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 한계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CIKM 2014 setup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KDD 2016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setup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CTTP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multi-round scheduling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later redesign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합치면 안 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pp. 7-8, CTTP data tradeoff; pte-doi related work and method context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CTTP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핵심과 주장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TTP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color-type partition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여러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round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schedule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one-round aggregate space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통제한다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5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467460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논문이 제시한 내용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제시하지 않은 내용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Mechanism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Pair·triple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modular schedule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Replication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완전 제거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 guarantee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Expected m; work O(E^1.5)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Deterministic load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Strong guarantee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Degree·memory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high probability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무조건적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load balance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Experiment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2014 Hadoop evidence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framework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일반화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Reducer-local enum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record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저장 의무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CTTP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coverage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유지하며 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intermediate data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제한한다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pp. 4-6, Algorithms and Theorems 1-3; author-pdf pp. 7-9, experiments and Conclusion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2026-09-12T03:52:14Z</dcterms:created>
  <dc:creator>Research Seminars</dc:creator>
  <dc:description/>
  <dc:language>ko-KR</dc:language>
  <cp:lastModifiedBy>Research Seminars</cp:lastModifiedBy>
  <dcterms:modified xsi:type="dcterms:W3CDTF">2026-09-12T03:52:14Z</dcterms:modified>
  <cp:revision>1</cp:revision>
  <dc:subject>MapReduce Triangle Enumeration With Guarantees</dc:subject>
  <dc:title>CTTP: 여러 round로 triangle 열거하기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25</vt:r8>
  </property>
  <property fmtid="{D5CDD505-2E9C-101B-9397-08002B2CF9AE}" pid="3" name="PresentationFormat">
    <vt:lpwstr>On-screen Show (16:9)</vt:lpwstr>
  </property>
  <property fmtid="{D5CDD505-2E9C-101B-9397-08002B2CF9AE}" pid="4" name="Slides">
    <vt:r8>25</vt:r8>
  </property>
</Properties>
</file>
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A23C85E8-5F96-4E90-8B8E-583AE763ED6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이기종 모델을 잇는 계층형 연합학습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INFOCOM 2024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최종본을 읽는 세미나다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제목의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agglomerative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공통 파라미터를 평균한다는 뜻으로 읽지 말고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서로 다른 모델을 계층적으로 지식증류로 연결한다는 문제의식에서 출발한다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ieee-infocom | p. 131, title and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INFOCOM 2024 final paper, pp. 131–140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https://doi.org/10.1109/INFOCOM52122.2024.10621254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22FBFA0-4F27-4B4A-889E-7757D815DD6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데이터 위치와 모델 크기가 함께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End–Edge–Cloud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구조와 계층별 모델 규모를 제시한다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슬라이드는 물리 배치의 보편 법칙을 주장하지 않는다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실험에서의 구체적인 모델 조합은 뒤의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I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슬라이드에서 분리해 제시한다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ieee-infocom | pp. 131–133; Fig. 1–2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INFOCOM 2024 final paper, pp. 131–140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https://doi.org/10.1109/INFOCOM52122.2024.10621254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76B3D24-53B4-43FF-8E65-9E1F2F18B5E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End–Edge–Cloud: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역할과 능력의 계층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점선은 능력과 프로토콜의 계층 관계를 가리킨다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raw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이 화살표를 따라 이동한다는 뜻이 아니다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이질적 모델 크기 때문에 단순한 동형 모델 평균과 다른 협력 방식을 설계한다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ieee-infocom | p. 133, Fig. 1; p. 137, Table 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INFOCOM 2024 final paper, pp. 131–140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https://doi.org/10.1109/INFOCOM52122.2024.10621254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745C0A0-9100-41C2-B9E1-DD60E5BDA2F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 구분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공통 벡터 평균이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BSBODP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통해 이질적 모델 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distillation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수행한다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논문의 메커니즘을 이해하기 위한 개념 대비이며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계층형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방법을 한 가지 방식으로 일반화한 분류표는 아니다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ieee-infocom | pp. 132, 134–135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INFOCOM 2024 final paper, pp. 131–140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https://doi.org/10.1109/INFOCOM52122.2024.10621254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92AE5E3-9B74-4D61-9561-B47ED1E127F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무엇이 어디에 남고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무엇이 전달되는가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알고리즘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초기화는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encoder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ε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추출해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함께 부모 쪽에 저장하도록 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ε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bridge 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만들고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teacher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logits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낸다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formal privacy proof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논문이 제시한 데이터 공유 완화 설계다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ieee-infocom | pp. 134–135; Fig. 3–4, Alg.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INFOCOM 2024 final paper, pp. 131–140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https://doi.org/10.1109/INFOCOM52122.2024.10621254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CE237AB-E911-47B2-84E2-4971B2A8A6B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BSBODP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양방향 교사–학생 갱신이다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BSBODP(v1,v2)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directional BSBODP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호출로 구현한다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방향의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teacher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bridge 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logits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student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이를 사용한다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그림은 두 방향을 분리해 보일 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서로 다른 두 모델이 같은 파라미터를 복사한다는 뜻이 아니다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ieee-infocom | pp. 134–135; Fig. 3, Alg.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INFOCOM 2024 final paper, pp. 131–140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https://doi.org/10.1109/INFOCOM52122.2024.10621254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6A32E89-CBBD-4132-8167-FB8F9E5D3E6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학생의 위치가 손실을 바꾼다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(2)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non-leaf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손실은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bridge 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cross entropy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temperature-softened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출력 사이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항을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β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가중한다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 (4)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자신의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raw local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supervised cross entropy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γ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non-leaf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손실을 더한다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그림의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논문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(2)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짧게 표시한 것이다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ieee-infocom | p. 135, Eqs. 2–5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INFOCOM 2024 final paper, pp. 131–140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https://doi.org/10.1109/INFOCOM52122.2024.10621254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A000ACB-D2D3-436C-B5B6-A019B98E92F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초기화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embedding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재귀적으로 저장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child INIT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재귀적으로 호출하고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leaf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자신의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ε=enc(X)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얻어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보낸다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intermediate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child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상태를 받은 뒤 저장하고 상위로 전달한다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도식은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논리적 상태 전달이며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네트워크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wall-clock trace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ieee-infocom | p. 135, Alg. 2 INIT; Eq. 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INFOCOM 2024 final paper, pp. 131–140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https://doi.org/10.1109/INFOCOM52122.2024.10621254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A3AE6C6-E694-48C2-B924-A1E90804622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반복 단위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Algorithm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재귀 학습 라운드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2 lines 25–27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internal non-root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BSBODP(v*,Parent(v*))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parallel for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child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분기 안에 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각 분기는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FedAggTrain(u,E)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마친 직후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v*–parent BSBODP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호출하며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된 뒤 한 번만 호출하는 구조가 아니다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그림의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u1·u2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child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두 분기를 보인 것이다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leaf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BSBODP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한 번 수행하고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root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없으므로 병렬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child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재귀만 시작한다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ieee-infocom | p. 135, Alg. 2 FedAggTrain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INFOCOM 2024 final paper, pp. 131–140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https://doi.org/10.1109/INFOCOM52122.2024.10621254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849C2E0-BF9E-439F-A9A8-F869DAA2563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동적 계층 변경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정리가 보장하는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v1,v2∈Vt, t∈{2,…,T}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후보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들이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hierarchy level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있는 교체를 다룬다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Theorem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equivalence interaction protocol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교체 가능하다는 긍정 결과다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Theorem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partial-order protocol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같은 교체가 항상 가능하지 않음을 반례로 보인다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어느 정리도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runtime accuracy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수렴을 보장하지 않는다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ieee-infocom | pp. 133, 136–137; Fig. 1, Thm. 1–2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INFOCOM 2024 final paper, pp. 131–140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https://doi.org/10.1109/INFOCOM52122.2024.10621254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59D5F75-87A3-4221-8051-300A13E4F6A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손실을 손으로 계산해 보기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명시적 가상 예시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가상 확률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logits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결과가 아니다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natural logarithm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계산하면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CE=0.6931471806, KL(p||q)=0.0920328502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β=10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CE+βKL=1.6134756829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네 자리 소수로 반올림하면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1.6135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accuracy, privacy, bridge image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품질을 뒷받침하지 않는다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ieee-infocom | p. 135, Eq. 2; p. 137, setup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INFOCOM 2024 final paper, pp. 131–140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https://doi.org/10.1109/INFOCOM52122.2024.10621254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E717B6E-3E51-48A1-8CD2-EE1D462B019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 모델과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autoencoder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규모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 M1, edge M2, cloud M3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autoencoder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크기를 제공한다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본문은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autoencoder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ImageNet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pretrain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했다고 서술한다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수치를 계산량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throughput, privacy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강도의 측정치로 재해석하지 않는다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ieee-infocom | p. 137, Table I and setup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INFOCOM 2024 final paper, pp. 131–140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https://doi.org/10.1109/INFOCOM52122.2024.10621254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891A2F2-5269-4CFA-B1A7-29261B72999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결과를 읽기 위한 실험 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 데이터는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FedML CIFAR-10/100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non-IID partition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본문은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α=1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 heterogeneity, α=3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 heterogeneity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표기한다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CIFAR-10 Table 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HierFAVG, DemLearn, FedGKT, FedDKC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모두 비교한다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CIFAR-100 Table III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HierFAVG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DemLearn level 3, 5, 7,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비교하며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FedGKT·FedDKC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포함하지 않는다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ieee-infocom | p. 137, experimental setup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INFOCOM 2024 final paper, pp. 131–140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https://doi.org/10.1109/INFOCOM52122.2024.10621254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3134E96-056E-48B1-A447-B374A910B73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CIFAR-10 cloud-model accuracy: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 조건을 함께 읽기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평균은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FedAgg 35.05%,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 FedDKC 30.52%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발표에서는 평균 한 개로 실험 조건을 지우지 말고 네 열을 먼저 읽는다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논문이 제시한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four-column gain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Table-II comparison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한정한다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ieee-infocom | p. 138, Table 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INFOCOM 2024 final paper, pp. 131–140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https://doi.org/10.1109/INFOCOM52122.2024.10621254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9C4AB15-CB02-496D-A94A-C1F8959B206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CIFAR-100 α=3: client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수별 비교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III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DemLearn level 3, 5, 7,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실려 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여기서는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가장 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DemLearn level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다른 대표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baseline, FedAgg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보여 준다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축약은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α=3, CIFAR-100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조건과 정확도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metric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보존한다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ieee-infocom | p. 138, Table III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INFOCOM 2024 final paper, pp. 131–140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https://doi.org/10.1109/INFOCOM52122.2024.10621254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EF79E95-6321-4D70-A257-956B8554A9E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통신 라운드 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시간이나 에너지로 읽지 않기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Tables IV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특정 목표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accuracy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처음 넘기 위한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communication rounds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보고한다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데이터셋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K, α, 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바뀌면 숫자의 의미도 바뀐다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이 표에서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wall-clock latency, bandwidth, battery 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측정하지 않는다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ieee-infocom | p. 138, Tables IV–V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INFOCOM 2024 final paper, pp. 131–140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https://doi.org/10.1109/INFOCOM52122.2024.10621254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F5BB7B4-510D-4BAE-ABA5-38CE255F98D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민감도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β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모델 이질성의 한정된 관찰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VI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β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CIFAR-10 K=225 α=1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VII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20% device M1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바꾼 비교이며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Table VIII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cloud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달리한 비교다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서로 다른 표의 조건을 섞어 일반적 최적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β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보편 모델 순위를 주장하지 않는다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ieee-infocom | p. 139, Tables VI–VIII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INFOCOM 2024 final paper, pp. 131–140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https://doi.org/10.1109/INFOCOM52122.2024.10621254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DE8A9D0-1C97-4940-8155-752323C6F55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논문이 지지하는 주장과 지지하지 않는 주장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논문을 약화시키는 것이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claim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검증 가능 범위를 지킨다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autoencoder bridge design, Table II–VIII, Theorem 1–2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서로 다른 종류의 근거다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각각을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privacy proof, deployment benchmark, convergence 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바꾸어 말하지 않는다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ieee-infocom | pp. 134–139; Fig. 4, Thm. 1–2, Tables II–VIII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INFOCOM 2024 final paper, pp. 131–140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https://doi.org/10.1109/INFOCOM52122.2024.10621254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7193F4D-A74E-4489-97B5-F619EC3E7C5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읽기 순서로 정리하기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학생은 먼저 정보 객체를 분리하고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양방향성과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각 병렬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child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분기 안의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recursion→BSBODP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순서를 확인한 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표의 조건을 붙여 결과를 읽는다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네 질문이 답되면 이질적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End–Edge–Cloud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협력이라는 논문의 주장과 한계를 함께 설명할 수 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ieee-infocom | pp. 134–139; Alg. 1–2, Tables I–VIII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INFOCOM 2024 final paper, pp. 131–140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https://doi.org/10.1109/INFOCOM52122.2024.10621254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F8879CF-31CE-4A0D-B2BC-1098A70D812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이기종 모델을 잇는 계층형 연합학습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Agglomerative Federated Learning: Empowering Larger Model Training via End-Edge-Cloud Collaboration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Zhiyuan Wu · Sheng Sun · Yuwei Wang · Min Liu · Bo Gao · Quyang Pan · Tianliu He · Xuefeng Jiang (2024)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FedAgg: End–Edge–Cloud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파라미터 평균 대신 양방향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bridge-sample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지식증류를 반복한다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ieee-infocom p. 131, title and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문제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데이터 위치와 모델 크기가 함께 다르다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단말은 데이터를 갖지만 작은 모델을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상위 계층은 더 큰 모델을 둘 수 있다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로컬 데이터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작은 모델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여러 단말을 잇는 중간 모델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Cloud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더 큰 전역 모델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핵심 질문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서로 다른 모델을 어떻게 함께 학습할까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?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FedAgg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출발점은 데이터 분할뿐 아니라 모델 이질성이다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ieee-infocom pp. 131–133; Fig. 1–2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End–Edge–Cloud: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역할과 능력의 계층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공간적 계층도이며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라운드의 시간 순서를 뜻하지 않는다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mechanism-lane-end"/>
          <p:cNvSpPr/>
          <p:nvPr/>
        </p:nvSpPr>
        <p:spPr>
          <a:xfrm>
            <a:off x="660240" y="220968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mechanism-lane-edge"/>
          <p:cNvSpPr/>
          <p:nvPr/>
        </p:nvSpPr>
        <p:spPr>
          <a:xfrm>
            <a:off x="660240" y="325116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mechanism-lane-cloud"/>
          <p:cNvSpPr/>
          <p:nvPr/>
        </p:nvSpPr>
        <p:spPr>
          <a:xfrm>
            <a:off x="660240" y="429264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Cloud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mechanism-edge-tier1-segment-1"/>
          <p:cNvSpPr/>
          <p:nvPr/>
        </p:nvSpPr>
        <p:spPr>
          <a:xfrm>
            <a:off x="4660560" y="2730240"/>
            <a:ext cx="241560" cy="36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mechanism-edge-tier1-segment-2"/>
          <p:cNvSpPr/>
          <p:nvPr/>
        </p:nvSpPr>
        <p:spPr>
          <a:xfrm>
            <a:off x="4902120" y="2730240"/>
            <a:ext cx="360" cy="104148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" name="mechanism-edge-tier1-segment-3"/>
          <p:cNvSpPr/>
          <p:nvPr/>
        </p:nvSpPr>
        <p:spPr>
          <a:xfrm>
            <a:off x="4902120" y="3771720"/>
            <a:ext cx="241200" cy="36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3" name="mechanism-edge-tier1-label"/>
          <p:cNvSpPr/>
          <p:nvPr/>
        </p:nvSpPr>
        <p:spPr>
          <a:xfrm>
            <a:off x="4368960" y="217188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계층 연결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mechanism-edge-tier2-segment-1"/>
          <p:cNvSpPr/>
          <p:nvPr/>
        </p:nvSpPr>
        <p:spPr>
          <a:xfrm>
            <a:off x="8064360" y="3771720"/>
            <a:ext cx="241200" cy="36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" name="mechanism-edge-tier2-segment-2"/>
          <p:cNvSpPr/>
          <p:nvPr/>
        </p:nvSpPr>
        <p:spPr>
          <a:xfrm>
            <a:off x="8305560" y="3771720"/>
            <a:ext cx="360" cy="104148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" name="mechanism-edge-tier2-segment-3"/>
          <p:cNvSpPr/>
          <p:nvPr/>
        </p:nvSpPr>
        <p:spPr>
          <a:xfrm>
            <a:off x="8305560" y="4813200"/>
            <a:ext cx="241200" cy="36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" name="mechanism-edge-tier2-label"/>
          <p:cNvSpPr/>
          <p:nvPr/>
        </p:nvSpPr>
        <p:spPr>
          <a:xfrm>
            <a:off x="7772400" y="32130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계층 연결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mechanism-node-endnode"/>
          <p:cNvSpPr/>
          <p:nvPr/>
        </p:nvSpPr>
        <p:spPr>
          <a:xfrm>
            <a:off x="1739880" y="240048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단말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로컬 데이터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·M1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mechanism-node-edgenode"/>
          <p:cNvSpPr/>
          <p:nvPr/>
        </p:nvSpPr>
        <p:spPr>
          <a:xfrm>
            <a:off x="5143680" y="344160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에지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중간 모델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·M2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mechanism-node-cloudnode"/>
          <p:cNvSpPr/>
          <p:nvPr/>
        </p:nvSpPr>
        <p:spPr>
          <a:xfrm>
            <a:off x="8547120" y="448308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클라우드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큰 모델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·M3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1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2" name="Text 1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 모델은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M1=3-layer CNN, M2=ResNet-10, M3=ResNet-18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1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4" name="Text 1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ieee-infocom p. 133, Fig. 1; p. 137, Table 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2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 구분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공통 벡터 평균이 아니다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FedAgg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모델 구조가 다른 계층을 대상으로 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3696120"/>
                <a:gridCol w="45658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동형 평균의 전제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FedAgg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대응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파라미터 형태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M1·M2·M3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처럼 달라도 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상위 전달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파라미터 벡터 결합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bridge sample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logits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뒤 각자 갱신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교사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학생 역할을 양방향 교대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‘aggregation’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이라는 이름만으로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FedAvg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식 평균을 추정하면 안 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ieee-infocom pp. 132, 134–135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무엇이 어디에 남고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무엇이 전달되는가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raw sample, embedding, bridge sample, logits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같은 화살표로 섞지 않는다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mechanism-lane-state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상태 흐름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mechanism-edge-local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8" name="mechanism-edge-local-label"/>
          <p:cNvSpPr/>
          <p:nvPr/>
        </p:nvSpPr>
        <p:spPr>
          <a:xfrm>
            <a:off x="3517920" y="32130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로컬 인코딩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mechanism-edge-upload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0" name="mechanism-edge-upload-label"/>
          <p:cNvSpPr/>
          <p:nvPr/>
        </p:nvSpPr>
        <p:spPr>
          <a:xfrm>
            <a:off x="6070680" y="32130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ε + label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mechanism-edge-decode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2" name="mechanism-edge-decode-label"/>
          <p:cNvSpPr/>
          <p:nvPr/>
        </p:nvSpPr>
        <p:spPr>
          <a:xfrm>
            <a:off x="8623440" y="32130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decode·teacher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mechanism-node-raw"/>
          <p:cNvSpPr/>
          <p:nvPr/>
        </p:nvSpPr>
        <p:spPr>
          <a:xfrm>
            <a:off x="173988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단말의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raw X,y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로컬에 유지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mechanism-node-embed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enc(X)=ε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ε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label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생성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mechanism-node-cache"/>
          <p:cNvSpPr/>
          <p:nvPr/>
        </p:nvSpPr>
        <p:spPr>
          <a:xfrm>
            <a:off x="6845400" y="3454560"/>
            <a:ext cx="206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상위 저장소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mechanism-node-cache-queue-1"/>
          <p:cNvSpPr/>
          <p:nvPr/>
        </p:nvSpPr>
        <p:spPr>
          <a:xfrm>
            <a:off x="6845400" y="370836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ε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mechanism-node-cache-queue-2"/>
          <p:cNvSpPr/>
          <p:nvPr/>
        </p:nvSpPr>
        <p:spPr>
          <a:xfrm>
            <a:off x="6845400" y="389880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label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mechanism-node-logit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dec(ε)·logits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bridge sample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지도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15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0" name="Text 16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논문은 부모에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raw X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저장한다고 말하지 않는다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1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2" name="Text 1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ieee-infocom pp. 134–135; Fig. 3–4, Alg.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BSBODP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양방향 교사–학생 갱신이다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쌍의 노드는 한 방향만 끝내지 않고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교사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학생을 바꿔 다시 수행한다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mechanism-lane-down"/>
          <p:cNvSpPr/>
          <p:nvPr/>
        </p:nvSpPr>
        <p:spPr>
          <a:xfrm>
            <a:off x="660240" y="22096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방향 </a:t>
            </a: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mechanism-lane-up"/>
          <p:cNvSpPr/>
          <p:nvPr/>
        </p:nvSpPr>
        <p:spPr>
          <a:xfrm>
            <a:off x="660240" y="37720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방향 </a:t>
            </a: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mechanism-edge-a1-segment-1"/>
          <p:cNvSpPr/>
          <p:nvPr/>
        </p:nvSpPr>
        <p:spPr>
          <a:xfrm>
            <a:off x="4660560" y="29905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9" name="mechanism-edge-a1-label"/>
          <p:cNvSpPr/>
          <p:nvPr/>
        </p:nvSpPr>
        <p:spPr>
          <a:xfrm>
            <a:off x="4368960" y="243216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logits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mechanism-edge-a2-segment-1"/>
          <p:cNvSpPr/>
          <p:nvPr/>
        </p:nvSpPr>
        <p:spPr>
          <a:xfrm>
            <a:off x="8064360" y="29905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1" name="mechanism-edge-a2-label"/>
          <p:cNvSpPr/>
          <p:nvPr/>
        </p:nvSpPr>
        <p:spPr>
          <a:xfrm>
            <a:off x="7772400" y="243216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지도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mechanism-edge-b1-segment-1"/>
          <p:cNvSpPr/>
          <p:nvPr/>
        </p:nvSpPr>
        <p:spPr>
          <a:xfrm>
            <a:off x="4660560" y="45529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3" name="mechanism-edge-b1-label"/>
          <p:cNvSpPr/>
          <p:nvPr/>
        </p:nvSpPr>
        <p:spPr>
          <a:xfrm>
            <a:off x="4368960" y="39942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logits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mechanism-edge-b2-segment-1"/>
          <p:cNvSpPr/>
          <p:nvPr/>
        </p:nvSpPr>
        <p:spPr>
          <a:xfrm>
            <a:off x="8064360" y="45529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5" name="mechanism-edge-b2-label"/>
          <p:cNvSpPr/>
          <p:nvPr/>
        </p:nvSpPr>
        <p:spPr>
          <a:xfrm>
            <a:off x="7772400" y="39942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지도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mechanism-node-pt"/>
          <p:cNvSpPr/>
          <p:nvPr/>
        </p:nvSpPr>
        <p:spPr>
          <a:xfrm>
            <a:off x="1739880" y="266076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부모 교사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bridge logits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생성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mechanism-node-pl"/>
          <p:cNvSpPr/>
          <p:nvPr/>
        </p:nvSpPr>
        <p:spPr>
          <a:xfrm>
            <a:off x="5143680" y="266076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전달 객체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teacher logits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mechanism-node-cs"/>
          <p:cNvSpPr/>
          <p:nvPr/>
        </p:nvSpPr>
        <p:spPr>
          <a:xfrm>
            <a:off x="8547120" y="266076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자식 학생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distillation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갱신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mechanism-node-ct"/>
          <p:cNvSpPr/>
          <p:nvPr/>
        </p:nvSpPr>
        <p:spPr>
          <a:xfrm>
            <a:off x="1739880" y="422280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자식 교사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bridge logits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생성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mechanism-node-cl"/>
          <p:cNvSpPr/>
          <p:nvPr/>
        </p:nvSpPr>
        <p:spPr>
          <a:xfrm>
            <a:off x="5143680" y="422280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전달 객체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teacher logits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mechanism-node-ps"/>
          <p:cNvSpPr/>
          <p:nvPr/>
        </p:nvSpPr>
        <p:spPr>
          <a:xfrm>
            <a:off x="8547120" y="422280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부모 학생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distillation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갱신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18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3" name="Text 19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역할이 바뀌므로 ‘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cloud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teacher’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라는 단순 그림은 부정확하다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20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5" name="Text 21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ieee-infocom pp. 134–135; Fig. 3, Alg.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22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학생의 위치가 손실을 바꾼다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Eq. (2)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non-leaf, Eq. (4)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leaf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손실이다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0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1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2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3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4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5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6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7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8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9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0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bridge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상태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teacher logits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non-leaf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 + β·KL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leaf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CE + γL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student update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모델 갱신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역방향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역할을 바꿔 반복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1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ieee-infocom p. 135, Eqs. 2–5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초기화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embedding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label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재귀적으로 저장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Algorithm 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INIT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학습 라운드와 구분되는 준비 단계다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mechanism-lane-init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INIT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mechanism-edge-i1-segment-1"/>
          <p:cNvSpPr/>
          <p:nvPr/>
        </p:nvSpPr>
        <p:spPr>
          <a:xfrm>
            <a:off x="466056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7" name="mechanism-edge-i1-label"/>
          <p:cNvSpPr/>
          <p:nvPr/>
        </p:nvSpPr>
        <p:spPr>
          <a:xfrm>
            <a:off x="4368960" y="32130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ε + label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mechanism-edge-i2-segment-1"/>
          <p:cNvSpPr/>
          <p:nvPr/>
        </p:nvSpPr>
        <p:spPr>
          <a:xfrm>
            <a:off x="806436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9" name="mechanism-edge-i2-label"/>
          <p:cNvSpPr/>
          <p:nvPr/>
        </p:nvSpPr>
        <p:spPr>
          <a:xfrm>
            <a:off x="7772400" y="32130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저장 상태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mechanism-node-leaf"/>
          <p:cNvSpPr/>
          <p:nvPr/>
        </p:nvSpPr>
        <p:spPr>
          <a:xfrm>
            <a:off x="1739880" y="344160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leaf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enc(X), ε·label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저장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mechanism-node-mid"/>
          <p:cNvSpPr/>
          <p:nvPr/>
        </p:nvSpPr>
        <p:spPr>
          <a:xfrm>
            <a:off x="5143680" y="344160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intermediate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child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상태 수신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저장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mechanism-node-root"/>
          <p:cNvSpPr/>
          <p:nvPr/>
        </p:nvSpPr>
        <p:spPr>
          <a:xfrm>
            <a:off x="8547120" y="344160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root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하위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ε·label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보관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1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4" name="Text 1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상위 노드가 쓰는 것은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raw sample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아니라 저장된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ε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label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1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6" name="Text 1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ieee-infocom p. 135, Alg. 2 INIT; Eq. 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실제 반복 단위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Algorithm 2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재귀 학습 라운드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internal non-root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병렬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child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분기는 재귀 호출 직후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v*–parent BSBODP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실행한다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mechanism-lane-parent"/>
          <p:cNvSpPr/>
          <p:nvPr/>
        </p:nvSpPr>
        <p:spPr>
          <a:xfrm>
            <a:off x="660240" y="220968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node v*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mechanism-lane-child1"/>
          <p:cNvSpPr/>
          <p:nvPr/>
        </p:nvSpPr>
        <p:spPr>
          <a:xfrm>
            <a:off x="660240" y="325116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child branch u1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mechanism-lane-child2"/>
          <p:cNvSpPr/>
          <p:nvPr/>
        </p:nvSpPr>
        <p:spPr>
          <a:xfrm>
            <a:off x="660240" y="429264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child branch u2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mechanism-edge-r1-segment-1"/>
          <p:cNvSpPr/>
          <p:nvPr/>
        </p:nvSpPr>
        <p:spPr>
          <a:xfrm>
            <a:off x="4660560" y="2527200"/>
            <a:ext cx="32184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4" name="mechanism-edge-r1-segment-2"/>
          <p:cNvSpPr/>
          <p:nvPr/>
        </p:nvSpPr>
        <p:spPr>
          <a:xfrm>
            <a:off x="4982400" y="2527200"/>
            <a:ext cx="360" cy="124452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5" name="mechanism-edge-r1-segment-3"/>
          <p:cNvSpPr/>
          <p:nvPr/>
        </p:nvSpPr>
        <p:spPr>
          <a:xfrm>
            <a:off x="4982400" y="377172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6" name="mechanism-edge-r1-label"/>
          <p:cNvSpPr/>
          <p:nvPr/>
        </p:nvSpPr>
        <p:spPr>
          <a:xfrm>
            <a:off x="4368960" y="217188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병렬 분기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mechanism-edge-r2-segment-1"/>
          <p:cNvSpPr/>
          <p:nvPr/>
        </p:nvSpPr>
        <p:spPr>
          <a:xfrm>
            <a:off x="806436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8" name="mechanism-edge-r2-label"/>
          <p:cNvSpPr/>
          <p:nvPr/>
        </p:nvSpPr>
        <p:spPr>
          <a:xfrm>
            <a:off x="7772400" y="32130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분기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mechanism-edge-r3-segment-1"/>
          <p:cNvSpPr/>
          <p:nvPr/>
        </p:nvSpPr>
        <p:spPr>
          <a:xfrm>
            <a:off x="4660560" y="293364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0" name="mechanism-edge-r3-segment-2"/>
          <p:cNvSpPr/>
          <p:nvPr/>
        </p:nvSpPr>
        <p:spPr>
          <a:xfrm>
            <a:off x="4821480" y="2933640"/>
            <a:ext cx="360" cy="18795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1" name="mechanism-edge-r3-segment-3"/>
          <p:cNvSpPr/>
          <p:nvPr/>
        </p:nvSpPr>
        <p:spPr>
          <a:xfrm>
            <a:off x="4821480" y="4813200"/>
            <a:ext cx="32184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2" name="mechanism-edge-r3-label"/>
          <p:cNvSpPr/>
          <p:nvPr/>
        </p:nvSpPr>
        <p:spPr>
          <a:xfrm>
            <a:off x="4368960" y="518148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병렬 분기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mechanism-edge-r4-segment-1"/>
          <p:cNvSpPr/>
          <p:nvPr/>
        </p:nvSpPr>
        <p:spPr>
          <a:xfrm>
            <a:off x="8064360" y="481320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4" name="mechanism-edge-r4-label"/>
          <p:cNvSpPr/>
          <p:nvPr/>
        </p:nvSpPr>
        <p:spPr>
          <a:xfrm>
            <a:off x="7772400" y="425448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분기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mechanism-node-dispatch"/>
          <p:cNvSpPr/>
          <p:nvPr/>
        </p:nvSpPr>
        <p:spPr>
          <a:xfrm>
            <a:off x="1739880" y="240048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for u in Child(v*)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child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분기를 병렬 시작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mechanism-node-rec1"/>
          <p:cNvSpPr/>
          <p:nvPr/>
        </p:nvSpPr>
        <p:spPr>
          <a:xfrm>
            <a:off x="5143680" y="344160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FedAggTrain(u1,E)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u1 subtree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재귀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mechanism-node-pair1"/>
          <p:cNvSpPr/>
          <p:nvPr/>
        </p:nvSpPr>
        <p:spPr>
          <a:xfrm>
            <a:off x="8547120" y="344160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BSBODP(v*,parent)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u1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분기 안에서 실행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mechanism-node-rec2"/>
          <p:cNvSpPr/>
          <p:nvPr/>
        </p:nvSpPr>
        <p:spPr>
          <a:xfrm>
            <a:off x="5143680" y="448308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FedAggTrain(u2,E)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u2 subtree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재귀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mechanism-node-pair2"/>
          <p:cNvSpPr/>
          <p:nvPr/>
        </p:nvSpPr>
        <p:spPr>
          <a:xfrm>
            <a:off x="8547120" y="448308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BSBODP(v*,parent)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u2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분기 안에서 실행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2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1" name="Text 2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leaf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BSBODP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한 번 호출하고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root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child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호출만 수행하며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parent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교환은 하지 않는다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2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3" name="Text 2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ieee-infocom p. 135, Alg. 2 FedAggTrain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2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동적 계층 변경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정리가 보장하는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정리는 같은 계층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parent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교체의 가능 조건과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partial-order protocol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반례 기반 한계를 구분한다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521784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가정과 결론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말하지 않는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Theorem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equivalence protocol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이면 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level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교체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정확도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수렴 보장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Theorem 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partial-order protocol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에서는 같은 교체가 반드시 가능하지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partial order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보존 정리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same-level parent switching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예시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실험적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migration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성능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equivalence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교체를 허용하지만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partial order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만으로는 같은 교체를 보장할 수 없다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ieee-infocom pp. 133, 136–137; Fig. 1, Thm. 1–2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손실을 손으로 계산해 보기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명시적 가상 예시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 확률과 계산은 논문 데이터가 아니라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Eq. (2)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형태를 읽기 위한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invented toy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34844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가상 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teacher 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(0.70, 0.20, 0.10)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온도 적용 뒤의 가상 확률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student 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(0.50, 0.30, 0.20)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bridge label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class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−ln(0.50)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0.6931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KL·loss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KL(p||q)≈0.09203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β=10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이면 ≈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1.61348 (4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1.6135)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번째 방향에서는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teacher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student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바꿔 같은 구조를 다시 계산한다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ieee-infocom p. 135, Eq. 2; p. 137, setup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 모델과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autoencoder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규모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 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구성은 이 논문의 실험 선택이며 모든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FedAgg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배포의 고정 규격이 아니다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3152520"/>
                <a:gridCol w="2717640"/>
                <a:gridCol w="2608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feature extractor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classifier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M1 / End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3-layer CNN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9.31K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10.88K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M2 / Edge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ResNet-10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4.67M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M3 / Cloud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ResNet-18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10.65M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Autoencoder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 layers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encoder 1.90K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decoder 2.47K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모델 규모 차이가 지식증류 연결을 요구하는 직접적 실험 맥락이다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ieee-infocom p. 137, Table I and setup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결과를 읽기 위한 실험 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정확도 숫자에는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dataset, K, α, tree,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모델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hyperparameter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함께 붙는다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2717640"/>
                <a:gridCol w="271764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CIFAR-10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CIFAR-100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공통 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client 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225, 400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144, 196, 225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one cloud, √K edge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heterogeneity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α=1, 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α=3 reported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1=high, 3=low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optimization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LR .001, batch 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LR .001, batch 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γ=1, T=3, β=10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baselines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모두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HierFAVG, DemLearn lv=3/5/7/10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dataset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비교군이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α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high/low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해석은 이 논문 표기의 조건부 약속이다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ieee-infocom p. 137, experimental setup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CIFAR-10 cloud-model accuracy: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네 조건을 함께 읽기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 II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값은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test accuracy(%)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모든 열이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α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조건화된다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1956600"/>
                <a:gridCol w="1956600"/>
                <a:gridCol w="1956600"/>
                <a:gridCol w="19566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225 α=3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225 α=1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400 α=3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400 α=1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HierFAVG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10.15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18.35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22.25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18.73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DemLearn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30.55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32.13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29.25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28.06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FedGKT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27.39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26.59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30.54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29.22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FedDKC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32.43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30.09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30.79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28.78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FedAgg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36.76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33.87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35.83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33.74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열에서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FedAgg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best-listed-baseline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대비 이득은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4.33·1.74·5.04·4.52 points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ieee-infocom p. 138, Table 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CIFAR-100 α=3: client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수별 비교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 III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α=3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설정에서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cloud-model test accuracy(%)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비교한다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696120"/>
                <a:gridCol w="2391480"/>
                <a:gridCol w="2391480"/>
                <a:gridCol w="23914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K=144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K=196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K=225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HierFAVG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9.11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9.42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5.03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DemLearn level 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15.75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14.94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14.81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DemLearn level 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14.99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14.59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14.55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DemLearn level 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14.52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13.97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13.89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FedAgg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17.07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17.33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16.50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FedAgg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Table-III best-listed-baseline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대비 이득은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1.32·2.39·1.69 points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ieee-infocom p. 138, Table III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통신 라운드 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시간이나 에너지로 읽지 않기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Tables IV–V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named target accuracy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까지의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communication-round count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2500200"/>
                <a:gridCol w="2065320"/>
                <a:gridCol w="2065320"/>
                <a:gridCol w="22827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dataset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낮은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높은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FedAgg rounds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CIFAR-10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225, α=3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25%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 / 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CIFAR-10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225, α=1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25%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/ 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CIFAR-10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400, α=3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25%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/ 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CIFAR-100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144, α=3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14%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 / 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CIFAR-100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225, α=3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14%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 / 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 round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해당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통신 전부터 충족됐다는 표기이며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0 ms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ieee-infocom p. 138, Tables IV–V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민감도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β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모델 이질성의 한정된 관찰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모두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CIFAR-10, K=225, α=1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이라는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 VI–VIII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조건을 유지한다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3369960"/>
                <a:gridCol w="2174040"/>
                <a:gridCol w="29350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검사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accuracy (%)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β ablation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 / 1 / 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33.14 / 35.33 / 34.66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β=1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이 표에서는 최고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β ablation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 / 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33.87 / 27.21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main β=10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 최적 보장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client model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20%: M1→M2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32.83 vs 33.87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heterogeneous vs homogeneous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cloud model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CNN / R10 / R18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23.84 / 31.11 / 33.87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설정의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cloud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ablation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최고값을 모든 데이터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모델에 대한 규칙으로 일반화할 수 없다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ieee-infocom p. 139, Tables VI–VIII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논문이 지지하는 주장과 지지하지 않는 주장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조건부 실험 결과와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formal statement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범위를 분리한다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402228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근거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넘어가면 안 되는 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raw data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ε·decoder bridge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formal privacy guarantee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정확도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CIFAR-10/100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표의 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throughput·energy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계층 변경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equivalence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허용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 partial-order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임의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migration accuracy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라운드 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accuracy counts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wall-clock latency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좋은 재현 질문은 ‘어떤 조건에서 어떤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metric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인가’를 먼저 묻는다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ieee-infocom pp. 134–139; Fig. 4, Thm. 1–2, Tables II–VIII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읽기 순서로 정리하기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상태 → 양방향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protocol →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재귀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round →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조건부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evidence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순서로 논문을 다시 읽는다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상태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X,y / ε+label / bridge / logits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분리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3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4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protocol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양방향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BSBODP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역할 교대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8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9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round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child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분기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recursion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BSBODP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3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4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evidence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Tables I–VIII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조건을 보존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8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9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핵심은 ‘무엇을 평균’이 아니라 ‘무엇을 어떤 방향으로 지도’했는가다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1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ieee-infocom pp. 134–139; Alg. 1–2, Tables I–VIII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2026-09-12T06:08:02Z</dcterms:created>
  <dc:creator>Research Seminars</dc:creator>
  <dc:description/>
  <dc:language>ko-KR</dc:language>
  <cp:lastModifiedBy>Research Seminars</cp:lastModifiedBy>
  <dcterms:modified xsi:type="dcterms:W3CDTF">2026-09-12T06:08:02Z</dcterms:modified>
  <cp:revision>1</cp:revision>
  <dc:subject>Agglomerative Federated Learning: Empowering Larger Model Training via End-Edge-Cloud Collaboration</dc:subject>
  <dc:title>이기종 모델을 잇는 계층형 연합학습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19</vt:r8>
  </property>
  <property fmtid="{D5CDD505-2E9C-101B-9397-08002B2CF9AE}" pid="3" name="PresentationFormat">
    <vt:lpwstr>On-screen Show (16:9)</vt:lpwstr>
  </property>
  <property fmtid="{D5CDD505-2E9C-101B-9397-08002B2CF9AE}" pid="4" name="Slides">
    <vt:r8>19</vt:r8>
  </property>
</Properties>
</file>
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AA9E3F10-BFA7-4321-BAF2-9198413A9C1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Double DQN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 Reinforcement Learning with Double Q-Learning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논문을 소개합니다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출발점은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높은 성능을 보였지만 행동 가치를 크게 과대평가할 수 있다는 관찰입니다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새 네트워크를 하나 더 추가하지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이미 사용하는 온라인 네트워크와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네트워크가 다음 행동의 선택과 평가를 나누어 맡도록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계산만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aaai-record | bibliographic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 proceedings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https://ojs.aaai.org/index.php/AAAI/article/view/10295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p. 1,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C54F2C4-0A26-421D-ABE3-FF5DACF065C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 Q-Network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약자입니다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값에는 함수 근사와 학습 과정에서 생긴 오차가 포함됩니다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오차를 평균내지 않고 그중 가장 큰 값을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선택된 값에는 양의 오차가 끼어 있을 가능성이 높습니다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부트스트래핑은 다음 상태의 추정값으로 현재 학습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계산하는 방식이며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지점을 직접 수정합니다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pp. 1-3, Background and Double Q-learning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5B892B1-7E36-43F6-ABD3-38FB6DC6D99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Q-learning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기본 기호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기호를 먼저 정의하겠습니다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에이전트는 현재 상태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Sₜ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행동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Aₜ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수행하고 보상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Rₜ₊₁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다음 상태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Sₜ₊₁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관측합니다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값은 지금 받는 보상만 뜻하지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행동을 한 뒤 해당 정책을 따를 때 앞으로 받을 할인 누적 보상의 기대값을 추정합니다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차이는 네트워크 전체 구조보다 학습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Yₜ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계산식에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p. 2, Eqs. 1-3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708CF4B-21E4-43EF-AF75-55E7C0F407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학습 구성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Experience 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뽑습니다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online θ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상태와 실제 행동의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Q(Sₜ, Aₜ)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예측하고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target θ_target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다음 상태의 행동 가치를 계산하여 학습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Yₜ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상태가 종료 상태이면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Yₜ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관측 보상뿐입니다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예측과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Yₜ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오차를 이용해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θ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갱신합니다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θ_target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과거 시점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snapshot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정해진 복사 시점에만 갱신하고 그 사이에는 고정합니다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복사는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수행하는 순차 단계가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주기적 복사 구조를 유지하되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행동 선택을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θ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다음 상태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p. 2, Deep Q Networks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98420EE-8121-426B-B423-8AE4B665A73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양의 오차를 선호하는 이유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논문의 실험값이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편향을 직접 계산하기 위한 교육용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행동의 참값을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두고 각 추정 오차가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확률을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1/2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설정합니다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예시에서는 두 오차가 독립이므로 네 조합의 확률이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1/4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행동의 추정값 자체는 평균이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이지만 네 경우 중 세 경우에서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선택하므로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기대값은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독립성은 이 예시의 계산을 위한 가정이며 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필수 가정은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pp. 2-4, Theorem 1 and Figs. 1-2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154BE83-5C09-4222-9E9B-EA1CBB6EAF0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과대평가의 전파 경로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과대평가가 학습에 영향을 주는 경로를 순서대로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행동별 오차가 다르면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가장 크게 추정된 행동을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부트스트래핑은 그 큰 값을 앞선 상태의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포함합니다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이런 과정이 반복되면 과대평가가 이전 상태로 전파될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모든 행동에 똑같은 상수가 더해지면 순위는 변하지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관심은 행동과 상태에 따라 달라지는 오차가 상대 선호를 바꾸는 경우입니다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pp. 2-4, Double Q-learning and Figs. 1-2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6DB0D6C-90F5-4B33-A4B0-34B2900D95B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DQN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역할 결합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풀어서 읽어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식은 다음 상태가 비종료 상태인 전이입니다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네트워크가 다음 상태의 모든 행동 값을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argmax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값이 가장 큰 행동을 반환하고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 행동의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값을 반환합니다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선택과 평가에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snapshot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쓰므로 우연히 큰 추정값이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상태가 종료 상태라면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항을 사용하지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관측 보상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p. 2, Eq.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9C3B9C8-53EA-4B40-B722-CF9ECC0A1A5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Double Q-learning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분리 원리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원래의 표형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Q-learning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먼저 이번에 갱신할 추정기를 무작위로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갱신하는 경우를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다음 행동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a*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그 같은 행동의 값을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평가와 관측 보상으로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만든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갱신합니다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갱신하는 경우에는 역할이 반대가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선택을 일으킨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오차가 평가값으로 그대로 재사용되지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분리 원리를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네트워크에 적용하며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추정기를 무작위로 번갈아 갱신하는 구조까지 그대로 복사한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pp. 2-3, Double Q-learning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C4398C9-EDDA-4DB5-B5BC-9823196ED77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Double DQN target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식에서 가장 중요한 부분은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argmax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안과 바깥의 파라미터가 다르다는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흐름은 다음 상태가 비종료 상태인 전이에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온라인 네트워크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argmax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가장 좋아 보이는 행동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a*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θ_target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자신이 좋아하는 행동을 다시 고르지 않고 바로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a*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값만 조회합니다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상태가 종료 상태이면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계산을 하지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관측 보상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복사와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구조는 그대로입니다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p. 4, Double DQN target equation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AAC0247-29B1-44BA-B8E8-733F52ED5C0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예시의 입력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이제 같은 입력으로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직접 계산하겠습니다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숫자는 논문 실험 결과가 아니라 알고리즘의 데이터 흐름을 보여 주는 교육용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온라인 네트워크는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5, right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2, right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할인율은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두 슬라이드에서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어느 값에 접근하는지 추적하겠습니다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pp. 2 and 4, target equations; numerical values are a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26D03E5-1661-4F2C-BE4F-205A4583762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DQN 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계산하겠습니다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네트워크의 벡터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큰 값을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선택되고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평가값으로 사용됩니다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네트워크는 선택과 평가를 모두 수행했습니다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p. 2, Eq. 3; numerical values are a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376FAAB-B44E-4A41-8521-98BFF698C4B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Double DQN 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먼저 온라인 벡터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네트워크가 선호하는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행동을 바꾸지 않는다는 점이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선택된 같은 행동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조회하므로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온라인 네트워크의 큰 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평가값으로 그대로 들어가지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p. 4, Double DQN target equation; numerical values are a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1F18C08-1011-43E8-A9C3-04C93E14DA3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올바른 해석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결과를 비교할 때 과도한 결론을 피해야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참값에 더 가깝다고 증명하지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실제 가치가 주어지지 않았기 때문입니다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계산이 보여 주는 사실은 온라인 네트워크의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선택에는 쓰이지만 평가에는 자동으로 재사용되지 않는다는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실험은 별도로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추정값을 비교해 과대평가 감소를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p. 4, Double DQN; numerical values are a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78248DC-4B0B-4352-934C-1ED6DE2A6C2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변경된 부분과 유지된 부분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무엇이 바뀌고 무엇이 그대로인지 정리하겠습니다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experience 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네트워크를 주기적으로 복사합니다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새로 독립 학습하는 세 번째 네트워크를 추가하지 않으며 파라미터 수도 늘리지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변경은 온라인 네트워크가 행동을 고르고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네트워크가 그 행동을 평가하도록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식을 바꾼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논문은 이 방법을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최소 수정으로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p. 4, Double DQN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2C0992D-5C32-42AC-9CA4-0310B626AF2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함수 근사만으로도 생기는 과대평가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논리를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참값은 상태에 따라 변하지만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상태 안에서는 열 개 행동의 참값이 모두 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표본으로 관측한 값은 정확해도 각 행동의 근사 함수가 표본 사이에서 서로 다른 오차를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그중 가장 높은 곡선을 선택하므로 해당 상태의 공통 참값보다 큰 결과가 나타납니다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과대평가는 환경의 보상이 확률적일 때만 생기는 현상이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pp. 3-4, Fig.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B2C57FA-F530-4A54-8F39-08329E53B93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Atari 2600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설계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조건을 확인하겠습니다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 2600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게임을 중심으로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 구조와 학습 설정은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맞추고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통제된 비교에서 알고리즘 차이를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계산으로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한편 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수치는 이 논문이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새로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재현한 값이라고 단정하면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1 caption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Mnih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점수를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Table 2 caption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Nair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점수를 기준으로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p. 4, Empirical results; pp. 5-6, Tables 1-2 captions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9, Experimental Details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arXiv:1509.06461v3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https://arxiv.org/abs/1509.06461v3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B50C206-6FE2-446C-A049-EBD701240A3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추정값과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과대평가를 주장하려면 네트워크의 숫자만 볼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평가 중 방문한 상태마다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greedy 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추정을 구해 평균하고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상태에서 최종 정책이 실제로 얻은 할인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평균해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비교를 독립적으로 다시 학습한 여섯 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추정값이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크게 남아 있으면 과대평가의 증거가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검사는 점수 집계와 다른 질문을 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p. 5, Fig. 3 and Value estimates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57C56F8-717C-45CF-B37B-E635624529F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해석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여섯 게임의 학습 곡선을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가치 추정이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크게 올라가는 경우가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Asterix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Wizard of Wor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과대평가 증가와 평가 점수 하락이 함께 나타납니다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표시된 사례에서 더 안정적입니다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논문도 과대평가가 항상 정책 품질을 해치는 것은 아니라고 설명하므로 이 결과를 모든 게임에 대한 보편 법칙으로 확대하면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p. 5, Fig. 3 and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528F16D-7A22-49F2-8EB3-9B27F9E4230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No-op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점수를 이해하려면 평가 조건과 정규화를 함께 봐야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에이전트는 시작 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no-op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수행하고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18,000 frame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ε-greedy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정책으로 행동합니다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게임마다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 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평균합니다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 expert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기준으로 정규화합니다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330.3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퍼센트라는 수치는 승률이나 성공 확률이 아니라 여러 게임에서 집계한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human-normalized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pp. 5-6, Quality of the learned policies and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490A781-636F-4B7C-A861-A5998F08D61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No-op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 결과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No-op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중앙값은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93.5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퍼센트이고 평균은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241.1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114.7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330.3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차이는 중앙값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퍼센트포인트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89.2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퍼센트포인트입니다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평균이 중앙값보다 훨씬 큰 것은 일부 큰 점수의 영향을 받을 수 있으므로 두 집계를 함께 봐야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개별 게임 표에는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DQN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점수가 더 낮은 경우도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pp. 5-6, Table 1 and caption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E9FA1E9-BC11-4DFE-9B30-DAA69B624F4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Human-start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Human-start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평가는 초기 상태를 더 다양하게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사람 전문가의 플레이 궤적에서 게임마다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시작 상태를 뽑습니다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에이전트는 그 상태에서 이어서 행동하며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108,000 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실행합니다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점수에는 표본 시작 이후의 보상만 포함됩니다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조건은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deterministic emulator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같은 초기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정책이 과도하게 맞는 문제를 줄이고 더 다양한 상태에서 정책을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p. 6, Robustness to human starts and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661457D-D029-4029-B202-7E31CFAE19B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Human-start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tuned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Human-start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중앙값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47.5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122.0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88.4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273.1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tuned 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116.7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475.2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퍼센트로 더 높습니다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tuned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복사 간격을 늘리고 학습과 평가의 탐색률을 조정하며 상위층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bias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tuned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 전체를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하나의 순수 효과로 해석하면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p. 6, Table 2 and tuned Double DQN description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9, Experimental Details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arXiv:1509.06461v3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https://arxiv.org/abs/1509.06461v3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AA67837-531B-4347-9570-CD93A8226F0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지지하는 주장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주장 범위를 분명히 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기반 과대평가가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 reinforcement 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나타나며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이를 줄이고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aggregate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개선한다는 근거를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네트워크는 온라인 네트워크를 주기적으로 복사한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snapshot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두 추정기가 완전히 독립이지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세부 게임에서는 항상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높은 것도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 하나로 모든 환경과 모든 불안정성에 대한 보편적 해결을 주장할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pp. 6-7,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B8D116B-8896-477F-8EFE-C630B9A5F93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내용을 한 흐름으로 정리하겠습니다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여러 오차 중 큰 값을 선택하기 때문에 과대평가를 만들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 하나가 행동을 선택하고 같은 추정값으로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온라인 네트워크가 행동을 선택하고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네트워크가 그 같은 행동을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Atari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과대평가 감소와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aggregate score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개선을 확인했습니다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snapshot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연관되어 있고 모든 게임에서 우세하거나 모든 불안정성을 해결한다고 보장하지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pp. 1, 4, and 7, Abstract, Double DQN,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7994B25-5B9F-4670-A11A-138E714BBE1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행동 정책과 학습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질문이 자주 생기는 구분을 부록에 남깁니다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에이전트가 환경에서 실제 행동을 고르는 시점에는 현재 상태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Sₜ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ε-greedy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정책을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DQN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argmax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뽑은 다음 상태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Sₜ₊₁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학습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계산하는 내부 단계입니다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과정 모두 온라인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값을 볼 수 있지만 목적과 상태가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복사는 또 다른 과정이며 일정 간격으로 온라인 파라미터를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snapshot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반영합니다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aaai-paper | p. 2, Deep Q Networks; p. 4, Double DQN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AAAI-16 conference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https://ojs.aaai.org/index.php/AAAI/article/download/10295/10154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B34D955-5D43-4123-A453-7CD83172A4F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Double DQN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Deep Reinforcement Learning with Double Q-Learning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Hado van Hasselt, Arthur Guez, David Silver (2016)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과대평가를 줄이는 선택과 평가의 분리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aaai-record bibliographic record; aaai-paper p. 1,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질문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가치 추정 오차가 있는 상황에서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max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연산은 무엇을 학습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선택하는가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Deep Q-Network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약자다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값은 행동 뒤에 기대하는 할인 누적 보상의 추정치다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추정값 중 최댓값을 고르면 우연히 크게 나온 오차가 선택되기 쉽다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 값을 다시 학습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쓰면 과대평가가 이전 상태로 전파될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논문은 행동 선택과 가치 평가를 나누어 이 결합을 약화한다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핵심은 네트워크 수보다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 선택과 평가를 누가 담당하는가에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pp. 1-3, Background and Double Q-learning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Q-learning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기본 기호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다음 상태의 가치를 이용해 현재 추정치를 갱신한다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847880"/>
                <a:gridCol w="4076640"/>
                <a:gridCol w="4946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주의할 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Sₜ, Aₜ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상태와 선택한 행동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정책이 실제로 수행한 행동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Rₜ₊₁, Sₜ₊₁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보상과 다음 상태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transition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Q(s, a)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뒤의 할인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기대값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즉시 보상이나 보장된 결과가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γ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미래 보상의 할인율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사이의 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학습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보상과 다음 상태 추정으로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논문의 변경점은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Yₜ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계산하는 방법이다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p. 2, Eqs. 1-3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학습 구성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Double DQN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복사 구조를 그대로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학습 표본을 뽑는다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예측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θ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Q(Sₜ, Aₜ)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Yₜ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보상과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θ_target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다음 상태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계산한다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 update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예측과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오차로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갱신한다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θ_target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주기적 복사본이며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복사 사이에는 고정한다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p. 2, Deep Q Networks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양의 오차를 선호하는 이유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예시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행동의 참값은 모두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이고 각 추정 오차는 독립적으로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-1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+1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445840"/>
                <a:gridCol w="2445840"/>
                <a:gridCol w="2445840"/>
                <a:gridCol w="3533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발생 확률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1/4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1/4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1/4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1/4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추정의 평균은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최댓값의 평균은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(1 + 1 + 1 - 1) / 4 = 0.5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pp. 2-4, Theorem 1 and Figs. 1-2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과대평가의 전파 경로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환경이 결정적이어도 함수 근사 오차와 부트스트래핑은 남는다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서로 다른 추정 오차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행동마다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오차의 크기와 방향이 다르다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max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상대적으로 크게 추정된 행동이 선택된다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큰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bootstrap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값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선택된 추정치가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들어간다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이전 상태 갱신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앞선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추정에 반영된다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정책 영향 가능성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상대 순위가 바뀌면 행동 선택도 달라질 수 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문제는 모든 행동에 같은 편향이 더해지는 경우가 아니라 상대 순위를 바꾸는 오차다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pp. 2-4, Double Q-learning and Figs. 1-2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 target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역할 결합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비종료 전이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Y_DQN = R + γ max_a Q(S_next, a; θ_target)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Q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벡터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Q(S_next,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행동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; θ_target)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계산한다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4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5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행동 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argmax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값이 가장 큰 행동을 반환한다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0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가치 평가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같은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Q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벡터의 최댓값을 반환한다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완성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 보상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γ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결합한다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상태가 종료 상태이면 위 계산 대신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Y_DQN = 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p. 2, Eq.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Double Q-learning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분리 원리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이번에 갱신할 추정기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무작위로 정해졌다고 하자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추정기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가장 좋아 보이는 행동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a*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0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선택한 행동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a*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행동의 정체성만 다음 단계로 전달한다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추정기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동일한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a*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가치를 별도로 평가한다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추정기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갱신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평가로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만들고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갱신한다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선택을 일으킨 양의 오차가 평가값으로 자동 재사용되지 않게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pp. 2-3, Double Q-learning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Double DQN target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비종료 전이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Y_Double = R + γ Q(S_next, a*; θ_target)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 Q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벡터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상태에서 행동별 값을 계산한다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argmax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Q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값이 가장 큰 행동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a*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반환한다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Q(S_next, a*; θ_target)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조회한다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완성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 + γ Q(S_next, a*; θ_target)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상태가 종료 상태이면 위 계산 대신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Y_Double = 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p. 4, Double DQN target equation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예시의 입력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가정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비종료 다음 상태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s′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left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right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행동이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02320"/>
                <a:gridCol w="1630440"/>
                <a:gridCol w="1630440"/>
                <a:gridCol w="4707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left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right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 목적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Q(s′, a; θ)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Double DQN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행동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Q(s′, a; θ_target)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max, Double DQN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선택 행동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 보상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즉시 보상 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할인율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γ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상태 평가에 곱함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방법은 같은 숫자를 보지만 선택과 평가에 사용하는 위치가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pp. 2 and 4, target equations; numerical values are a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 target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비종료 전이에서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네트워크가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선택하고 같은 값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평가한다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벡터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left 2, right 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0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argmax(2, 4)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right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반환한다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right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Y_DQN = 1 + 0.9 × 4 = 4.6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 target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4.6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p. 2, Eq. 3; numerical values are a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Double DQN target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비종료 전이에서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left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선택하고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left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평가한다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벡터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left 5, right 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argmax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left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2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조회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left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Y_Double = 1 + 0.9 × 2 = 2.8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1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2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Double DQN target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2.8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p. 4, Double DQN target equation; numerical values are a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올바른 해석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4.6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2.8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차이는 역할 분리의 결과이며 어느 값이 참값인지는 예시에서 주어지지 않았다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891600"/>
                <a:gridCol w="3489480"/>
                <a:gridCol w="3489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Double DQN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선택에 사용한 네트워크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θ_target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선택한 행동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left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가치 평가에 사용한 네트워크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θ_target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θ_target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예시의 초점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선택과 평가를 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snapshot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언제나 더 정확하다는 결론은 이 계산만으로 얻을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p. 4, Double DQN; numerical values are a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변경된 부분과 유지된 부분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Double DQN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작은 알고리즘 변경을 적용한다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02320"/>
                <a:gridCol w="3804840"/>
                <a:gridCol w="4163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Double DQN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Replay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그대로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network 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학습되는 네트워크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식에서 행동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network θ_target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선택된 행동의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θ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주기적으로 복사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구조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핵심 변경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θ_target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선택과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θ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선택하고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θ_target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장치보다 기존 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snapshot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역할 재배치가 핵심이다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p. 4, Double DQN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함수 근사만으로도 생기는 과대평가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Figure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환경의 확률적 보상 없이도 근사 오차가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max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편향을 만들 수 있음을 보인다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상태별 동일한 참값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상태에서 열 개 행동의 실제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값은 같다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9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정확한 표본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표본 상태에서 관측값 자체는 정확하다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3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4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행동의 근사 함수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 사이에서 서로 다른 오차가 생긴다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행동별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max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근사치 중 큰 오차를 선택한다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3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4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지속적 과대평가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 구간의 상당 부분에서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참값을 넘는다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8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9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결정적 환경도 함수 근사 오차를 제거하지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1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pp. 3-4, Fig.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Atari 2600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설계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주요 비교는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Double DQN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DQN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설정을 사용하고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계산만 다르게 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89360"/>
                <a:gridCol w="4620240"/>
                <a:gridCol w="4261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Atari 2600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주요 집계는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49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게임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게임마다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frame, GPU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보고한 학습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통제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 hyperparameter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밝힌 알고리즘 차이는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 점수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연구의 보고값을 표의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Mnih et al., Table 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Nair et al.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집계 수치의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출처와 새 알고리즘의 비교 조건을 함께 읽어야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p. 4, Empirical results; pp. 5-6, Tables 1-2 captions; arxiv-v3 p. 9, Experimental Details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추정값과 실제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비교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학습된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추정과 최종 정책이 실제로 얻은 할인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따로 측정한다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3484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측정값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학습된 가치 추정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중 방문한 상태의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 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값을 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얼마나 크게 예상하는가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정책 가치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방문 상태에서 실제 얻은 할인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정책이 실제로 어느 정도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얻는가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값의 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추정값에서 실제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과대평가가 관찰되는가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독립적으로 다시 학습한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하나의 우연인지 확인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높은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추정만으로 좋은 정책을 증명할 수 없으므로 실제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비교한다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p. 5, Fig. 3 and Value estimates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3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해석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과대평가 증가와 성능 저하가 함께 나타난 사례가 있지만 모든 게임의 보편 법칙은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4185360"/>
                <a:gridCol w="3859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논문에서 확인한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가치 추정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일부 게임에서 실제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크게 상승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편향이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deep RL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에서도 나타남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Asterix, Wizard of Wor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과대평가 증가와 평가 점수 하락이 함께 관찰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변화의 연관을 지지하는 사례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Double 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표시된 사례에서 추정과 성능이 더 안정적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과대평가 감소와 정책 품질 개선의 연관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게임별 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과대평가가 항상 정책을 해치는 것은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실패 원인을 하나로 설명하지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메커니즘 근거를 제공하지만 보편적 인과 법칙을 증명하지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p. 5, Fig. 3 and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No-op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초기 화면에서 시작 전에 조작 입력을 하지 않는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no-op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동작을 수행한다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89360"/>
                <a:gridCol w="4076640"/>
                <a:gridCol w="4804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시작 변형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회부터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no-op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초기 상태를 조금씩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길이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18,000 frame, emulator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episode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구간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ε-greedy, ε = 0.05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확률로 임의 행동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게임당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 episode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episode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변동을 집계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정규화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(agent - random) / (human - random)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random,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human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정규화 점수의 퍼센트 표기는 승률이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human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기준의 상대 위치다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pp. 5-6, Quality of the learned policies and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No-op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 결과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49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게임의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human-normalized score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집계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04760"/>
                <a:gridCol w="1815480"/>
                <a:gridCol w="1815480"/>
                <a:gridCol w="4435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Median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 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93.5%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241.1%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인용한 기존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점수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Double 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114.7%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330.3%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Double DQN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+21.2%p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+89.2%p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49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게임 집계 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중앙값과 평균이 모두 높지만 개별 게임마다 항상 우세하다는 뜻은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pp. 5-6, Table 1 and caption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Human-start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사람의 플레이 궤적에서 여러 시작 상태를 뽑아 단일 초기 상태 의존성을 줄인다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전문가 궤적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사람이 플레이한 상태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준비한다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9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0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100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시작점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게임마다 궤적에서 시작 상태를 표본화한다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4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5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에이전트 실행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시작 전 궤적을 포함해 최대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108,000 frame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9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0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보상 집계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표본 시작 이후에 얻은 보상만 계산한다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4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5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49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게임 집계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human-normalized median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mean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비교한다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9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0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서로 다른 시작 상태는 정책이 한 시작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에만 맞았는지 더 엄격하게 시험한다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2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p. 6, Robustness to human starts and Table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Human-start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tuned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변형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tuned Double DQN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식 외의 설정도 바꾸므로 별도 변형으로 읽어야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1815480"/>
                <a:gridCol w="1815480"/>
                <a:gridCol w="4522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Median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 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47.5%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122.0%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인용한 기존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점수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Double 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88.4%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273.1%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식 변경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Tuned Double 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116.7%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475.2%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복사 간격과 탐색률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상위층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bias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tuned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 전체를 선택과 평가의 분리 하나만의 효과로 돌릴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p. 6, Table 2 and tuned Double DQN description; arxiv-v3 p. 9, Experimental Details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논문이 지지하는 주장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Double DQN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만드는 과대평가를 줄였지만 모든 강화학습 문제를 해결한 것은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5435280"/>
                <a:gridCol w="5435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지지되는 설명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과도한 설명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Atari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실험에서 과대평가를 줄이고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aggregate score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개선했다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게임에서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높다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온라인 선택과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평가를 분리한다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완전히 독립인 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학습한다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표시된 사례에서 과대평가와 성능 저하가 함께 나타났다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불안정성의 원인이 과대평가다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조건에서 과대평가를 줄이는 근거를 제시한다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과대평가를 없애고 모든 환경에 일반화가 증명됐다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강점은 좁고 검증 가능한 변경과 그 메커니즘을 함께 제시한 데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pp. 6-7,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Double DQN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번의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계산에서 선택과 평가에 서로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network snapshot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문제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큰 추정 오차를 선호한다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6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7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DQN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θ_target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행동 선택과 가치 평가를 함께 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1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2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Double DQN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θ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선택하고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θ_target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같은 행동을 평가한다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6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7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 결과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Atari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과대평가 감소와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aggregate score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개선을 관찰했다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1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2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적용 범위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변경이지만 완전한 독립이나 보편적 우세를 보장하지 않는다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6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7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Y_DQN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 단계와 평가 단계로 풀어 쓰면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Double DQN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차이가 보인다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9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pp. 1, 4, and 7, Abstract, Double DQN,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부록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행동 정책과 학습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구분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환경에서 실제 행동을 고르는 과정과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계산하는 과정은 서로 다른 시점의 연산이다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1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261160"/>
                <a:gridCol w="2532960"/>
                <a:gridCol w="2902320"/>
                <a:gridCol w="3174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상태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 목적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Double DQN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 행동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상태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transition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수집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온라인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ε-greedy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정책으로 실제 행동을 정함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replay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다음 상태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Sₜ₊₁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gradient update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Yₜ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θ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a*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고르고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θ_target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일정한 학습 간격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snapshot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갱신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θ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값을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θ_target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복사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식의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선택과 실제 환경 행동 선택은 서로 다른 연산이다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aaai-paper p. 2, Deep Q Networks; p. 4, Double DQN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2026-09-12T03:15:44Z</dcterms:created>
  <dc:creator>Research Seminars</dc:creator>
  <dc:description/>
  <dc:language>ko-KR</dc:language>
  <cp:lastModifiedBy>Research Seminars</cp:lastModifiedBy>
  <dcterms:modified xsi:type="dcterms:W3CDTF">2026-09-12T03:15:44Z</dcterms:modified>
  <cp:revision>1</cp:revision>
  <dc:subject>Deep Reinforcement Learning with Double Q-Learning</dc:subject>
  <dc:title>Double DQN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25</vt:r8>
  </property>
  <property fmtid="{D5CDD505-2E9C-101B-9397-08002B2CF9AE}" pid="3" name="PresentationFormat">
    <vt:lpwstr>On-screen Show (16:9)</vt:lpwstr>
  </property>
  <property fmtid="{D5CDD505-2E9C-101B-9397-08002B2CF9AE}" pid="4" name="Slides">
    <vt:r8>25</vt:r8>
  </property>
</Properties>
</file>
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7A8C6943-7EBF-48EF-8B2C-113FD9152D3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AdaStop: Deep RL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공정하게 순차 비교하기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문제 정의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통계적 구성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이론 보장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실험과 한계를 차례로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공개 버전은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2306.10882v3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질문은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 점수만 보고 누가 좋은지 선언하는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 실행의 무작위성을 고려하면서 필요한 만큼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추가하고도 오류율을 통제할 수 있는가입니다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arXiv v3, title page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DC310BC-4399-4E38-BD75-C26826FE3EF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실행할 때마다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달라진다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구현과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고정된 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정의에 포함되지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훈련하고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PPO, SAC, DDPG, TRPO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단순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보기 어려운 사례를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1–4, §§1–2.2, Fig.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125F290-E511-4D5E-B19B-5FFF8B5C22F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고정하고 무엇을 반복하는가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비교의 단위를 명확히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정의로 얻은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H.2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MuJoCo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 evaluation episode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성능의 평균을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Atari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하나의 지표로 묶는 문제는 해결된 범위가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3–7, §§2.1–2.4; p. 36, App. H.2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00844F3-C690-4DCB-9F01-2528ADA1812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표본 검정은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먼저 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sample-size permutation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먼저 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모은 다음 한 번 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귀무가설이 참일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교환 가능하다는 성질로 임계값을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절차의 오류 보장은 같은 임계값을 여러 중간 시점에서 반복 사용하는 경우에 자동으로 이어지지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8–10, Table 1; §3.2.1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13E786F-6523-4A06-98A3-72D91EBA84C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 검정은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false positive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기회를 늘린다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문제는 데이터를 추가하는 행위 자체가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검정의 임계값을 여러 번 재사용하는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귀무가설이 참이어도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우연한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기회가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AdaStop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planned interim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고려해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만들므로 단순한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repeated peeking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4–5, Fig. 2; pp. 9–11, §3.2.2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AD7A3F1-BD78-47EA-B40C-DC128AFC80B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Group-sequential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시점을 함께 보정한다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예시를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개와 다음 누적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개에서는 계속하고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누적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개에서 경계를 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중요한 점은 중간 시점을 사후에 무한히 늘리는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정하고 그 계획에 맞는 경계를 계산한다는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4–5, Fig. 2; pp. 10–11, Alg.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A57EA85-5203-4297-972C-BA97B4025F2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AdaStop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설계를 이끈 다섯 요구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다봉형이거나 비정규적일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training 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비싸며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동시에 비교해야 한다는 요구를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새로 수집할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수와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N×K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최대 예산이지 항상 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2–8, §§1–2.5,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D0A3429-F998-4DE9-9483-6C497DD5AE5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검정의 두 출력은 ‘다름’과 ‘동일함’이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도달하면 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hypotheses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failing to reject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참이라는 뜻이 아니라고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덱에서는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remaining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동일성 판정이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기각하지 못한 결과로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Rejection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 오류는 주요 보장에 포함되지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6–7, §2.5; p. 14, Alg. 3; p. 23, App. 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741562D-952B-45C8-AD6E-4553C4C52C5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FWER, power, p-value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다른 질문에 답한다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hypotheses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가운데 적어도 하나를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false reject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확률입니다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alternative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참일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확률입니다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AdaStop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실험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sample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절차는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ordinary p-value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.05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비교하지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permutation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sequential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10–11, §3.2.3; pp. 23–24, App. 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D9CFE88-7874-4F00-A33F-4A97A4F7614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Permutation test: H₀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바꿔도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같다면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pooled scores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labels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law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달라지지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교환 가능성을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null reference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AdaStop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아이디어를 누적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 comparisons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확장합니다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Mean equality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가정한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9, §3.2.1; pp. 24–27, App.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323AE0-D8C3-4551-B501-251A729794A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permutation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 차이의 절댓값을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 statistic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comparison set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그 최대값을 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Boundary Bₖ(C)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permutation law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계산됩니다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표시한 기호는 원문의 복잡한 식을 읽기 위한 요약이며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exact boundary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Equations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정의됩니다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11–14, Eqs. (5)–(10)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A14F24C-D1DA-481B-8570-4472B52CB56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J=L(L−1)/2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all-pair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J=L(L−1)/2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hypotheses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독립 검정하면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family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오류가 누적될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AdaStop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active set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 statistic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보정하고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step-down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10–12, §§3.2.3–3.2.4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A18E051-7F2A-4A41-B5AE-D0706FB8BB2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Step-down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가장 극단적인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하나씩 제거한다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comparison set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넘지 않으면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remaining hypotheses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 단계에서 더 이상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넘으면 가장 극단적인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제거한 뒤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반복 구조가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 FWER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step-down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11–12, §3.2.4, Alg.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8B02D3F-CBFF-4629-B31B-752F08368D4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AdaStop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실행하기 전에 정하는 입력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agents, environment, comparison pairs, K, N, α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개씩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비면 전체 절차를 종료하며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그렇지 않으면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번까지 진행하므로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ceiling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N×K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결정되었다고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수집만 생략하는 규칙은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명시되어 있지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사용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차이는 별도의 실험 보고로 읽으며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생략 규칙으로 역추론하지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12–14, §4, Alg.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8AAC174-BC6E-4BEA-BDA8-8CF8600710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AdaStop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수집→보정→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step-down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수집하고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accumulated pair statistics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permutation boundaries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차례로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비면 종료하고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그렇지 않으면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k=K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도달하면 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기각하지 못한 채 종료됩니다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12–14, §4, Alg.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F6E31BE-62B9-4506-80A5-A396987A95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상태는 세 가지로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Rejected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제거됩니다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k&lt;K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모읍니다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못한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기각하지 못한 것으로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알고리즘의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단어를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equivalence 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바꾸어 읽어서는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14, Alg. 3; p. 23, App. B.1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FD8321-5B4C-44A8-ADD0-3FD71D1FB6E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열거하지 않아도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열거하는 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독립적으로 선택하고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identity permutation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실험에서는 보통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10⁴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작으면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거칠어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되는 사례도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나타납니다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13–14, §4; p. 17, Table 2 remark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4472E09-638E-4464-AF93-7C6593200D6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Theorem 1: distribution equality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 FWER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 testing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 FWER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참인 경우만이 아니라 일부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참인 경우에도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null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하나를 잘못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확률을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이하로 제한한다는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보장은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equality of distributions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대상으로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14–15, Theorem 1; pp. 24–28, App.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647AF06-0D6C-45D7-AB0A-89CC56A6329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Theorem 2: mean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finite-sample exact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무한히 커지면서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type-I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수렴한다고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equal 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permutation validity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주는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분포 모양이 다르고 평균이 같은 사례에서는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6–7, §2.4; pp. 14–15, Theorem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8519203-70D1-48B4-A8D9-3F4B932265F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가상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A, B, 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두 장은 강의용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invented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설명을 위해 정한 값이며 논문의 추천이나 실험 결과가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collected scores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permutation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계산되므로 가짜 숫자를 제시하지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crossing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symbolic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12–14, Alg. 3; teaching trace derived from procedure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C5F2E68-2394-4833-A4A6-E842981A17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 1: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넘지 못했다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 statistic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아래라고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상태는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같다고 판정한 것이 아니라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관측하겠다는 결정입니다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12–14, Alg. 3; teaching trace derived from procedure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03106CD-3DC4-4108-BCB5-67F17A1506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 2: 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기각한 뒤 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재검정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가장 극단적이고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했다고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AdaStop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제거합니다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C′={AB,BC}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않는다고 가정하면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반드시 멈춘다는 보장은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11–14, Algs. 2–3; teaching trace derived from procedure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42A4C8-2B0D-4FEB-B7DD-D598533892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Toy experiment: 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Gaussian-mixture score laws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N=5, K=5, α=.05, 10⁴ permutations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5,000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 반복하고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rejection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측정합니다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Δ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변화에 따른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distributions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rejection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15–16, §5.1,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2BDAF0A-F7DD-47E8-A5A5-3727684BFEF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Toy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 shape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모양이 달라도 대칭적으로 구성되어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rejection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대체로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Case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멀어지며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증가합니다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Case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rare high mode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맞추었지만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달라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Δ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증가합니다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 equality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검정한다는 점을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15–16, §5.1,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C4D72F3-9809-4E5D-9FA3-88133179AD2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SAC–TD3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중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12.08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사용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조합별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괄호 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number of scores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N=4,K=5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20, average effective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12.08,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.82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Colas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tests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scores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완전히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sequential decision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직접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비교는 아니며 실험 조건부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16–17, §5.2,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3F01DCF-2C3E-460E-A305-F456C936717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MuJoCo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agent·task·training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rlberry, SAC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Stable-Baselines3, DDPG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CleanRL, TRPO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MushroomRL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가져옵니다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library benchmark hyperparameters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H.2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interaction 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definition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family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전체의 보편적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일반화하면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17–18, §5.3; pp. 36–37, App. H.2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384B9F2-E3D4-46ED-A60F-6872B06AD4A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MuJoCo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사용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used-budget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scores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사용된 것을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HalfCheetah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관련된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comparisons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 scores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결정됩니다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쓴 경우가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동일성을 증명한 것이 아니라 설정한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넘지 못한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포함될 수 있다는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18, Fig. 5; p. 37, Fig.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10C5B9-A760-4317-A12B-DBD29DF8F5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Appendix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early accept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heuristic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rejection boundary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early-accept lower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Walker2d-v3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β=.01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실행했을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 2,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scores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멈추고 논문이 보고한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decisions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바뀌지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early accept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보장 개발을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32–33, App. F, Alg.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A3A50BE-EC31-41C2-81EC-3CBC25DA008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층으로 구성된다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L=2,K=1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permutation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다음으로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배분된 오류를 합쳐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weak FWER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step-down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monotonicity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확장합니다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asymptotic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24–32, Apps. C–E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B8E9999-4AA1-473C-AB14-4164A43943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AdaStop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해결하지 않은 문제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single-task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집중합니다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Atari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games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묶는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열린 문제로 논의합니다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Early accept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 guarantee, non-asymptotic mean result, explicit power guarantee, directional error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limitation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AdaStop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stopping procedure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주장도 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5–8, §§2.3–2.5; pp. 18–19, §6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0819E65-61FC-43CE-85EF-150A2651AD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 AdaStop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읽는 다섯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nonparametric permutation test, group-sequential boundary, max-statistic step-down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차이가 충분히 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전에 멈출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 FWER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non-rejection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보장은 더 제한적입니다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실무에서는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agent·task·score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N·K·α, permutation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사용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보고해야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12–19, §§4–6; Apps. B and 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AdaStop: adaptive statistical testing for sound comparisons of Deep RL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https://arxiv.org/abs/2306.10882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A84B6E0-7C9F-4B46-B944-517EC263655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AdaStop: Deep RL Agent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공정하게 순차 비교하기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AdaStop: adaptive statistical testing for sound comparisons of Deep RL agents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Timothée Mathieu, Riccardo Della Vecchia, Alena Shilova, Matheus Medeiros Centa, Hector Kohler, Odalric-Ambrym Maillard, Philippe Preux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한꺼번에 정하지 않고도 순차적으로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evidence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모으며 여러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비교하는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permutation test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arXiv v3, title page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실행할 때마다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달라진다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Deep RL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비교의 관측 단위는 한 번의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deterministic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결과가 아니라 독립적으로 훈련한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구현과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hyperparameter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변경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독립적인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run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episode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성능 측정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대표값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분포 비교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검정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번의 높은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 변동까지 포함한 분포가 비교 대상이다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1–4, §§1–2.2, Fig.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무엇을 고정하고 무엇을 반복하는가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agent·task·score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정의를 먼저 고정해야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추가가 같은 실험의 반복이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510912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논문에서의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hyperparameter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고정된 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environment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평가 문제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집계는 범위 밖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독립성 가정이 중요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평가한 대표 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MuJoCo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같은 정의로 생성한 독립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들을 순차적으로 사용한다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3–7, §§2.1–2.4; p. 36, App. H.2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표본 검정은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 size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먼저 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예를 들어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모은 뒤 한 번만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permutation test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수행한다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수집 전에 표본 수 고정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확보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통계량 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집단 차이를 요약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번 검정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임계값과 비교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기각 또는 기각하지 못함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검정의 오류 보장은 미리 정한 시점에서 한 번 판단하는 절차에 맞춰져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8–10, Table 1; §3.2.1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 검정은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false positive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기회를 늘린다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시점에서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fixed-test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기준을 쓰면 전체 실험의 오류율은 한 번의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보다 커질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batch 1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검정 기준으로 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계속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기각이 아니면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batch 2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기준으로 다시 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반복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false alarm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왜곡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type-I error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증가 가능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순차 검정은 ‘언제 볼 것인가’까지 포함해 경계를 설계해야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4–5, Fig. 2; pp. 9–11, §3.2.2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Group-sequential test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시점을 함께 보정한다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interim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개의 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더하고 누적 통계량을 해당 단계의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interim 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누적 통계량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지금까지의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stage boundary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단계를 고려해 보정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crossing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넘으면 차이를 기각 판단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continue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아니면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batch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이동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adaptive sample usage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사전에 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stage boundary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이루어진다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4–5, Fig. 2; pp. 10–11, Alg.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설계를 이끈 다섯 요구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Deep RL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형태와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비용을 동시에 고려해야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7609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nonparametric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Gaussian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단정하기 어렵다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sequential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차이가 분명하면 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전에도 멈추고 싶다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multiple testing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함께 비교한다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reproducible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N, K, α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같은 절차를 재현한다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bounded budget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N×K runs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permutation, sequential boundary, step-down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한 절차로 결합한다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2–8, §§1–2.5,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검정의 두 출력은 ‘다름’과 ‘동일함’이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귀무가설을 기각하지 못하는 것은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equivalence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증명한 것이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있는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없는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H₀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설정한 오류 통제 아래 차이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practical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기각하지 못함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같다는 증명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수집 없이 남은 비교 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충분한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있었다는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MLB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기각 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empirical mean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높은 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 오류 통제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운영상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accept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표현이 있어도 교육적으로는 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budget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 기각하지 못함’으로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6–7, §2.5; p. 14, Alg. 3; p. 23, App. 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FWER, power, p-value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질문에 답한다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오류 통제와 차이를 찾아내는 능력을 같은 숫자로 읽으면 안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892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AdaStop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type-I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참인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H₀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잘못 기각할 확률은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단일 오류의 기본 단위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참인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H₀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 하나라도 오기각할 확률은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핵심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거짓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H₀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기각할 확률은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실험으로 조건별 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p-value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결과가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H₀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얼마나 극단적인가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.05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FWER≤α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자동으로 높아지는 것은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10–11, §3.2.3; pp. 23–24, App. 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Permutation test: H₀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 label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바꿔도 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집합을 합친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섞어 관측 차이가 얼마나 극단적인지 평가한다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pool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합침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permute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 label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다시 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statistic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배정의 차이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reference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H₀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 분포 구성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compare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statistic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극단성 판단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교환 가능성은 ‘두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distribution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같다’는 귀무가설에서 나온다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9, §3.2.1; pp. 24–27, App. 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statistic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permutation boundary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비교한다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identity permutation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누적 차이가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permutation max distribution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상위 경계를 넘는지 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892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Tⱼ(id)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labels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 j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maxⱼ∈C Tⱼ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비교 집합에서 가장 큰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multiple-test statistic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Bₖ(C)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interim 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집합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permutation boundary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오기각 통제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T&gt;B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boundary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극단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boundary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고정 상수가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interim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남아 있는 비교 집합에 따라 계산된다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11–14, Eqs. (5)–(10)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J=L(L−1)/2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늘면 한 번이라도 잘못 기각할 기회도 늘어나므로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보정한다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 agents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all pairs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equality hypothesis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active set 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아직 결정되지 않은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 statistic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가장 극단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FWER control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family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오기각 제한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검정을 따로 반복하지 않고 현재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family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최대값을 사용한다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10–12, §§3.2.3–3.2.4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Step-down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가장 극단적인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하나씩 제거한다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기각할 때마다 남은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comparison 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맞춰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 boundary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다시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검정할 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포함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가장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boundary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 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B(C)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기각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crossing pair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제거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재계산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다시 검사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boundary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이하면 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interim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남은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 기각하지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11–12, §3.2.4, Alg.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실행하기 전에 정하는 입력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adaptive procedure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batch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크기와 최대 길이를 고정한다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67460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agents·task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비교할 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multi-task aggregation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comparison 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 pairs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관심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family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미리 정의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interim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interim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peeking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family-wise error level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당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N×K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ceiling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전체 절차가 일찍 종료되면 더 적게 사용한다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12–14, §4, Alg.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interim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수집→보정→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step-down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더한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permutation boundary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만들고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crossing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active 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제거한다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batch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 scores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permute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누적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labels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boundary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Bₖ(C)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step-down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crossing pair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기각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stop·continue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비거나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이동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adaptivity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임의 규칙 변경이 아니라 미리 정의된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loop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작동한다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12–14, §4, Alg.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상태는 세 가지로 읽는다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기각된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아직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구분해야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stopping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정확히 설명할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8920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발생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동작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reject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boundary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제거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MLB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하지 않았고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k&lt;K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다시 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기각하지 못함으로 보고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비거나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절차 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stopping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equality certificate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더 수집할지 말지 정하는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operational 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14, Alg. 3; p. 23, App. B.1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permutation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열거하지 않아도 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독립적으로 고른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permutation subset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identity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근사할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67460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 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지침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독립적으로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오류 통제 조건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identity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반드시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실험에서는 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작으면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저하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discreteness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제한됨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작을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permutation discreteness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때문에 검정이 매우 보수적일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13–14, §4; p. 17, Table 2 remark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1: distribution equality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strong FWER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참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거짓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섞여 있어도 참인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distribution-equality hypotheses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오기각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family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통제한다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8153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1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귀무가설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distributions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대립가설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distributions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적어도 하나의 참인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H₀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기각할 확률 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true·false hypotheses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어떤 구성에서도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strong control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permutation invariance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step-down monotonicity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finite-sample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보장은 평균이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distribution equality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대한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14–15, Theorem 1; pp. 24–28, App. 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2: mean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finite-sample exact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finite variance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커질 때 두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-sample mean test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type-I error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수렴한다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348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distribution equality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equality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귀무가설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P=Q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Eₚ[X]=Eᵩ[X]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표본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non-asymptotic FWER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asymptotic type-I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permutation invariance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variance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shape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reject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exact mean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순위로 해석할 때에는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distribution test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mean 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범위를 분리해야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6–7, §2.4; pp. 14–15, Theorem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가상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A, B, C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흐름은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이해하기 위한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invented trace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논문 실험 수치가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13100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가상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A, B, 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동시에 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comparison 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C₀={AB, AC, BC}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결정되지 않은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interim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maximum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 scores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boundary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permutation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숫자는 의도적으로 만들지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목적은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statistic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숫자가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변하는 순서를 보는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12–14, Alg. 3; teaching trace derived from procedure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가상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interim 1: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boundary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넘지 못했다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batch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만으로 차이를 선언하지 않고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active set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전체를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interim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넘긴다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scores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A, B, 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statistics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AB, AC, BC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누적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 pair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below boundary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 T≤B₁(C₀)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continue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C₁={AB, AC, BC}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기각하지 못했다는 것은 첫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evidence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부족하다는 뜻이지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equality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12–14, Alg. 3; teaching trace derived from procedure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가상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interim 2: AC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기각한 뒤 남은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재검정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가장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하나를 제거하고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interim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step-down boundary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다시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scores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누적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 crossing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T_AC&gt;B₂(C₁)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C′={AB, BC}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recompute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B₂(C′)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continue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나머지는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next interim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step-down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하나를 기각한 뒤 이전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boundary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그대로 재사용하지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11–14, Algs. 2–3; teaching trace derived from procedure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 experiment: mean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distribution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차이를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constructed cases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rejection frequency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반복 측정해 검정의 성격을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7609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batch·interims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N=5, K=5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level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α=.05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permutations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B=10⁴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comparison M=5,000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mixture separation Δ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distribution shape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결정에 미치는 영향을 보여 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15–16, §5.1,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mean,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distribution shape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AdaStop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finite-sample distribution test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asymptotic mean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해석이 다른 이유가 드러난다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2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467460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case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대칭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mixture,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rejection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대체로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.05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Δ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따라 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Δ&gt;.6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거의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rare high mode,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극단에서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rejection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 동일성 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equality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묻는 검정과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 차이 기각을 곧바로 평균 차이 기각으로 바꾸어 말하면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15–16, §5.1,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SAC–TD3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중 평균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12.08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사용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HalfCheetah score 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N=4,K=5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설정은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 .82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adaptive sample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절약을 함께 보였다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56588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AdaStop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접근과의 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SAC vs TD3, HalfCheetah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공개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검정 설정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α=.05, B=10⁴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AdaStop 1,000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N=4,K=5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12.08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adaptive effective count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.82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검정은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조건의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empirical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보편적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12.08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한 실험 조건의 평균이며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항상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개로 끝난다는 뜻이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16–17, §5.2,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MuJoCo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agent·task·training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네 구현을 다섯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environment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비교하며 모든 결론은 이 조건에 묶인다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8153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PPO, SAC, DDPG, TRPO;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RL libraries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Ant, HalfCheetah, Hopper, Humanoid, Walker2d v3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AdaStop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N=5,K=6, agent-task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 scores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Ant·Humanoid 2M,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나머지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1M interactions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 evaluation episodes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이름만이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library·hyperparameter·task budget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결과 조건의 일부다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17–18, §5.3; pp. 36–37, App. H.2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MuJoCo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사용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budget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명확한 차이는 일찍 결정되었고 구분하기 어려운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최대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budget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까지 남는 경향을 보였다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5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348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빠른 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HalfCheetah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SAC pairs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scores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separation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사례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agent-task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 scores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equality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증명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ranking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MLB arrows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empirical mean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agent-task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5–30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N×K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ceiling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조건부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 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five 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구현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일반화 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효율은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maximum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적게 쓴 사례와 끝까지 남은 사례를 함께 보고 판단해야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18, Fig. 5; p. 37, Fig. 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Appendix 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early accept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별도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heuristic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statistic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β-boundary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아래이면 비슷한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일찍 제거해 이후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줄인다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min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 pairs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 작은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lower boundary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β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아래인지 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early accept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해당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제거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절약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interims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생략 가능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한계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guarantee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work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Walker2d-v3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10-score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한 사례이며 일반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32–33, App. F, Alg.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proof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세 층으로 구성된다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interim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오류 배분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permutation invariance, step-down monotonicity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strong FWER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이어진다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simple case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L=2,K=1 permutation bound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sequential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interims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합산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weak FWER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H₀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참인 경우 통제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step-down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true subset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boundary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단조성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strong FWER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true·false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구성도 통제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조건은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permutation invariance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사전 정의한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sequential boundary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24–32, Apps. C–E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해결하지 않은 문제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오류 통제의 범위와 실험의 범위를 넘는 해석을 피해야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7392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multi-task comparison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game/task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집계는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open problem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early equivalence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early accept·equivalence test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finite sample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variance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asymptotic result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guarantee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condition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empirical evaluation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directional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MLB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type-III 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미통제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sequential rejection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제공하지만 모든 비교 질문을 풀지는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5–8, §§2.3–2.5; pp. 18–19, §6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AdaStop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읽는 다섯 질문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실험의 통계적 의미와 계산 절약을 동시에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7174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올바른 읽기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비교했나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독립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 score distributions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통제했나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true pairs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 하나라도 오기각할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찾았나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boundary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differences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얼마나 썼나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count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maximum N×K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동등 판정이 아니라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non-rejection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adaptive stopping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중에도 오류 해석을 지키는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12–19, §§4–6; Apps. B and F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2026-09-12T06:39:29Z</dcterms:created>
  <dc:creator>Research Seminars</dc:creator>
  <dc:description/>
  <dc:language>ko-KR</dc:language>
  <cp:lastModifiedBy>Research Seminars</cp:lastModifiedBy>
  <dcterms:modified xsi:type="dcterms:W3CDTF">2026-09-12T06:39:29Z</dcterms:modified>
  <cp:revision>1</cp:revision>
  <dc:subject>AdaStop: adaptive statistical testing for sound comparisons of Deep RL agents</dc:subject>
  <dc:title>AdaStop: Deep RL Agent를 공정하게 순차 비교하기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31</vt:r8>
  </property>
  <property fmtid="{D5CDD505-2E9C-101B-9397-08002B2CF9AE}" pid="3" name="PresentationFormat">
    <vt:lpwstr>On-screen Show (16:9)</vt:lpwstr>
  </property>
  <property fmtid="{D5CDD505-2E9C-101B-9397-08002B2CF9AE}" pid="4" name="Slides">
    <vt:r8>31</vt:r8>
  </property>
</Properties>
</file>
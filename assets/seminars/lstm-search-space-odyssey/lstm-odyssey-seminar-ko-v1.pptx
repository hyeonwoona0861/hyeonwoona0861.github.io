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LSTM: A Search Space Odyssey
발표 대본
이 논문은 새로운 LSTM cell을 제안하지 않습니다. 당시 널리 쓰인 vanilla LSTM을 기준으로 여덟 가지 구성요소를 한 번에 하나씩 바꾸고, 음성·필기·음악 세 과제에서 각각 hyperparameter를 다시 탐색한 통제 실험입니다. 발표에서는 먼저 1997년 원형과 논문이 평가한 vanilla cell을 구분하고, 한 번의 state update를 직접 계산한 다음, 변형 비교와 fANOVA가 실제로 말해 주는 범위를 살펴보겠습니다.
공개 출처
arxiv | version record
arXiv record for version 2
https://arxiv.org/abs/1503.04069
arxiv-pdf | p. 1, Abstract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연구 질문을 실험 규모로 바꾸기
발표 대본
논문의 실험 격자는 아홉 architecture와 세 dataset의 조합 27개입니다. 각 조합마다 200개의 hyperparameter trial을 독립적으로 뽑아 총 5,400회를 실행했습니다. 각 실험은 평균 24.3시간이 걸렸고, 단일 CPU 시간으로 합치면 15년에 조금 못 미칩니다. 이 규모는 한 설정에서 우연히 잘 나온 모델을 찾기보다 architecture 변화가 여러 tuning 조건에서 어떻게 작동하는지 비교하기 위한 것입니다.
공개 출처
arxiv-pdf | pp. 1 and 5, Abstract and Sec. IV-D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이 논문이 답하는 것과 답하지 않는 것
발표 대본
논문의 제목 때문에 무한한 LSTM 구조 공간을 탐색한 연구처럼 들릴 수 있지만 실제 범위는 명확합니다. Vanilla에서 한 항목만 바꾼 여덟 variant를 세 dataset에서 비교합니다. 각 조합을 따로 tuning해 architecture가 요구하는 설정 차이를 허용합니다. 따라서 결과는 강한 비교 증거지만, 이후의 optimizer나 다른 데이터 규모, 여러 부품을 동시에 바꾼 cell까지 포괄하는 보편적 우열 정리는 아닙니다.
공개 출처
arxiv-pdf | pp. 1 and 3-5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1997 원형에서 Odyssey 기준 cell까지
발표 대본
1997년 원형은 input gate와 output gate, 고정 self-loop를 가진 Constant Error Carousel을 사용했지만 forget gate와 peephole은 없었습니다. 또한 gate들 사이의 full gate recurrence가 있었고, cell gradient만 시간축으로 전달하며 다른 recurrent gradient는 잘랐습니다. 이후 forget gate, peephole, full BPTT가 더해져 논문이 vanilla라고 부르는 형태가 됐습니다. Odyssey는 이 later vanilla의 구성요소를 하나씩 바꾸어 평가합니다.
공개 출처
arxiv-pdf | pp. 1-3, Secs. II-III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1997 original과 평가 대상 vanilla
발표 대본
역사적 차이를 표로 고정하겠습니다. 1997 original에는 forget gate와 peephole이 없고, gate 사이 recurrent connection은 있었습니다. 학습도 today-style full BPTT가 아니었습니다. Odyssey의 vanilla는 forget gate와 peephole, full gradient training을 사용하지만 full gate recurrence는 기본적으로 없습니다. 그러므로 NFG 하나만 보고 original LSTM이라고 부르면 gate recurrence와 gradient 학습 차이를 놓칩니다.
공개 출처
arxiv-pdf | pp. 2-3, Secs. II-III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Vanilla cell의 여섯 계산 요소
발표 대본
Vanilla cell의 forward pass를 역할 중심으로 읽겠습니다. z는 현재 입력과 이전 block output으로 만든 새 후보입니다. Input gate i는 후보를 얼마나 cell에 쓸지, forget gate f는 이전 cell state를 얼마나 유지할지 정합니다. Cell state를 h로 squash한 뒤 output gate o가 외부 block output을 조절합니다. Gate activation은 sigmoid이고, 논문의 기본 block input과 output activation은 tanh입니다.
공개 출처
arxiv-pdf | p. 2, Sec. II-A and Fig. 1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Peephole은 cell state를 gate에 보여 준다
발표 대본
Peephole은 cell state에서 gate로 가는 weighted connection입니다. Input gate와 forget gate는 이전 state cₜ₋₁을 보고, output gate는 이번에 갱신된 cₜ을 봅니다. 논문은 precise timing을 학습할 때 cell이 gate를 제어하도록 이 연결이 도입됐다고 설명합니다. Peephole은 block output의 recurrent connection과 다른 경로이며, NP variant는 이 세 cell-to-gate 항만 제거합니다.
공개 출처
arxiv-pdf | pp. 2-3, Fig. 1 and Sec. III-B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Cell state는 새 content와 남긴 memory의 합
발표 대본
Vanilla의 핵심 state 식은 cₜ = zₜ×iₜ + cₜ₋₁×fₜ입니다. 첫 경로는 새 후보를 input gate로 걸러 쓰고, 둘째 경로는 이전 cell state를 forget gate로 조절해 남깁니다. 두 결과를 더한 뒤 output activation h를 적용하고 output gate o를 곱해 yₜ를 만듭니다. 이 도식은 논문 Figure 1을 복사한 것이 아니라 forward equation의 계산 의존성을 편집 가능한 객체로 풀어쓴 것입니다.
공개 출처
arxiv-pdf | p. 2, Sec. II-A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한 번의 scalar state update 계산
발표 대본
이 숫자는 논문의 실험 parameter가 아니라 cell 식을 이해하기 위한 독립 계산입니다. 이전 state는 0.50, 후보 z는 0.80, input gate는 0.25, forget gate는 0.90입니다. 새 content는 0.20이고 유지된 memory는 0.45여서 cₜ는 0.65가 됩니다. Output gate 0.60을 tanh(0.65)에 곱하면 약 0.343입니다. 어느 branch가 forgetting을 담당하는지 수치로 확인할 수 있습니다.
공개 출처
arxiv-pdf | p. 2, cell and block-output equations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Forget gate 값이 state 경로에 미치는 영향
발표 대본
Cell 식에서 cₜ₋₁에 직접 곱해지는 계수는 fₜ입니다. 다른 경로를 고정해 보면 fₜ가 1에 가까울수록 이전 state가 남고, 0에 가까울수록 reset됩니다. 이것이 gradient가 오래 유지될 수 있는 직접 경로이기도 합니다. 다만 전체 gradient는 gate의 recurrent dependency와 다른 경로도 가지므로 f 하나만으로 모든 장기 의존성을 설명하면 안 됩니다. NFG는 이 계수를 항상 1로 고정합니다.
공개 출처
arxiv-pdf | pp. 2-3, cell equation and Sec. III-A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여덟 variant는 한 번에 한 항목만 바꾼다
발표 대본
모든 variant는 vanilla에서 정확히 한 측면만 추가·제거·수정합니다. 이렇게 해야 성능 차이를 그 변화와 연결할 수 있습니다. 그러나 architecture가 바뀌면 좋은 learning rate나 hidden size도 달라질 수 있으므로 논문은 모든 variant에 동일한 hyperparameter를 강제하지 않습니다. 대신 variant와 dataset의 각 조합을 별도로 random search하고 validation set으로 선택한 뒤 test set에서 비교합니다.
공개 출처
arxiv-pdf | pp. 3-5, Sec. IV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Gate를 바꾸는 네 variant
발표 대본
NIG, NFG, NOG는 각각 gate 출력을 1로 고정해 해당 gate의 조절을 제거합니다. CIFG는 input gate와 forget gate를 결합해 fₜ를 1−iₜ로 정합니다. 그래서 새 content를 더 많이 쓸수록 이전 memory를 덜 남기는 관계가 생깁니다. CIFG는 forget 작동을 유지하며 parameter를 줄이는 later variant이고, forget gate가 없던 1997 original과 같지 않습니다.
공개 출처
arxiv-pdf | p. 5, Sec. IV-C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Activation과 연결을 바꾸는 네 variant
발표 대본
NIAF는 새 후보를 만드는 g를 identity로 바꾸고, NOAF는 cell output activation h를 identity로 바꿉니다. NP는 input, forget, output gate의 peephole 항을 제거합니다. FGR은 이전 time step의 세 gate에서 현재 세 gate로 가는 모든 연결을 더하므로 3×3, 즉 recurrent weight matrix 아홉 개가 추가됩니다. FGR은 original LSTM에 있던 특징 하나를 vanilla에 되돌리지만 original 전체를 재현하지는 않습니다.
공개 출처
arxiv-pdf | p. 5, Sec. IV-C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Variant 해석에서 피해야 할 세 혼동
발표 대본
Ablation 이름은 변경된 항목만 알려 줍니다. NFG가 f를 1로 만들더라도 peephole과 full BPTT 등은 vanilla 그대로입니다. CIFG는 forget gate 값을 input gate와 묶어 계산하므로 forgetting 기능이 남습니다. FGR도 original의 gate recurrence를 추가할 뿐 original의 truncated gradient 학습으로 돌아가지 않습니다. NP는 peephole 연결을 없애지만 gate 자체를 지우지 않습니다.
공개 출처
arxiv-pdf | pp. 3 and 5, Secs. III and IV-C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세 dataset은 서로 다른 sequence 문제다
발표 대본
세 과제는 sequence라는 공통점만 있고 출력과 metric이 다릅니다. TIMIT은 audio frame마다 phone을 분류하고 classification error percentage를 씁니다. IAM Online은 pen movement sequence를 문자열로 바꾸고 CTC 기반 character error rate를 씁니다. JSB Chorales는 piano-roll의 다음 step을 예측하고 negative log-likelihood를 보고합니다. 모두 낮을수록 좋지만 단위와 과제가 달라 절대 숫자를 서로 비교할 수 없습니다.
공개 출처
arxiv-pdf | pp. 3-4, Sec. IV-A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과제마다 network 방향과 loss도 다르다
발표 대본
TIMIT과 IAM은 입력을 앞뒤 방향으로 처리하는 bidirectional LSTM을 사용합니다. 두 방향 hidden layer는 하나의 softmax output에 연결됩니다. TIMIT은 cross-entropy, IAM은 alignment를 포함하는 CTC loss를 사용합니다. JSB는 단일 LSTM hidden layer와 sigmoid output으로 next-step prediction을 학습하며 결과를 negative log-likelihood로 보고합니다. 따라서 세 결과를 하나의 동일한 training setup으로 단순화하면 안 됩니다.
공개 출처
arxiv-pdf | p. 4, Sec. IV-B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공정 비교를 만드는 실험 pipeline
발표 대본
각 dataset은 train, validation, test로 나눕니다. Random trial의 network를 train split에서 학습하고 validation으로 early stopping과 좋은 설정을 선택합니다. Test set은 마지막 architecture 비교에 사용합니다. 중요한 점은 vanilla의 좋은 hyperparameter를 다른 variant에 그대로 쓰지 않았다는 것입니다. 각 variant가 자신의 좋은 설정을 찾을 기회를 받은 뒤 비교했기 때문에 구성요소 효과를 더 공정하게 볼 수 있습니다.
공개 출처
arxiv-pdf | pp. 3-5, Sec. IV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27개 random search는 서로 설정을 공유하지 않는다
발표 대본
표는 9행을 네 architecture group으로 묶어 실험 격자를 보여 줍니다. 실제 실행은 각 개별 architecture와 dataset 조합마다 200 trial입니다. 즉 gate removal 세 개를 하나의 search로 합친 것이 아닙니다. 이렇게 27개의 별도 search가 있고, 각 search에서 hyperparameter를 다시 표본화합니다. 동일한 budget과 동일한 범위를 적용하지만 최종 설정은 variant와 task마다 다를 수 있습니다.
공개 출처
arxiv-pdf | p. 5, Sec. IV-D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Random search가 표본화한 범위
발표 대본
Hidden block 수와 learning rate는 log-uniform으로 뽑아 여러 규모를 고르게 탐색합니다. Momentum은 1에서 log-uniform sample을 뺀 형태이고 input noise 표준편차는 0부터 1까지 uniform입니다. TIMIT은 momentum 방식과 gradient clipping 여부도 실험했습니다. 논문은 search range를 합리적으로 선택했다고 설명하지만, 범위를 훨씬 넓히거나 다른 optimizer를 쓰면 좋은 설정을 찾는 난이도와 비교 결과가 달라질 수 있습니다.
공개 출처
arxiv-pdf | p. 5, Sec. IV-D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Training protocol의 고정 조건
발표 대본
모든 LSTM은 full BPTT로 gradient를 계산하고 sequence마다 SGD update를 수행했습니다. 기본 optimizer는 Nesterov-style momentum이며 initial weight 표준편차는 0.1입니다. Training은 150 epoch 또는 validation이 15 epoch 넘게 개선되지 않으면 끝납니다. 논문은 variant마다 parameter 수를 같게 강제하지 않았습니다. 구조별로 parameter 활용이 달라 같은 수를 맞추면 오히려 비교가 편향될 수 있다고 판단했습니다.
공개 출처
arxiv-pdf | pp. 4-5, Secs. IV-B and IV-D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Figure 3 결과를 읽는 두 층
발표 대본
Figure 3 위쪽은 각 search의 200개 test 결과 전체를 보여 주므로 선택한 search range의 영향도 큽니다. 아래쪽은 validation 성능이 좋은 상위 10퍼센트, 즉 20 trial의 test 분포를 보여 주어 reasonable tuning effort에 가까운 비교를 시도합니다. Box는 quartile과 전체 범위, mean과 median을 표시합니다. 논문은 Welch t-test와 여덟 비교에 대한 Bonferroni adjustment로 vanilla와의 평균 차이를 판단합니다.
공개 출처
arxiv-pdf | pp. 5-6, Fig. 3 and Sec. V-A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주요 결론: 유일한 승자 variant는 없었다
발표 대본
논문의 broad conclusion은 평가한 여덟 variant 중 어느 것도 vanilla를 유의하게 개선하지 못했다는 것입니다. 반대로 forget gate를 제거한 NFG와 output activation을 제거한 NOAF는 세 dataset 모두에서 성능이 유의하게 나빠졌습니다. CIFG와 NP는 유의한 성능 저하 없이 계산과 parameter를 줄일 가능성을 보였습니다. 이는 CIFG나 NP가 보편적으로 더 좋다는 뜻이 아니라 이 평가에서 simpler alternatives로 남았다는 뜻입니다.
공개 출처
arxiv-pdf | pp. 1, 6 and 10, Abstract and Discussion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Variant 효과는 공통 결과와 task 차이로 나뉜다
발표 대본
NFG와 NOAF의 악화는 세 과제에 공통으로 나타났습니다. NIG, NOG, NIAF는 speech와 handwriting에서 유의한 성능 저하가 있었지만 music modeling에서는 유의한 영향이 없었습니다. CIFG와 NP는 어느 dataset에서도 평균 성능을 유의하게 바꾸지 않았습니다. FGR은 TIMIT과 IAM에서 유의한 변화가 없고 JSB에서 더 나빴습니다. 이 표의 동일은 성능 수치가 같다는 뜻이 아니라 유의한 평균 차이가 없다는 뜻입니다.
공개 출처
arxiv-pdf | pp. 6-7, Sec. V-A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CIFG와 NP가 실용적 후보로 남은 이유
발표 대본
CIFG와 NP는 architecture를 단순화하고 parameter 및 계산 비용을 줄입니다. 이 두 variant의 mean performance는 평가한 dataset에서 vanilla와 유의한 차이가 없었습니다. 따라서 자원 제약이 있으면 검토할 실용적 후보이지만, vanilla보다 성능이 유의하게 좋아졌다는 결과는 아닙니다. 논문도 이 구분을 유지하며 두 변형을 architecture 단순화 관점에서 매력적이라고 설명합니다.
공개 출처
arxiv-pdf | pp. 6 and 10, Sec. V-A and Conclusion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Best trial 숫자는 방향 확인용이다
발표 대본
논문은 독자가 결과 규모를 가늠하도록 validation이 선택한 단일 최고 trial을 제시합니다. TIMIT 29.6퍼센트는 CIFG, IAM 9.26퍼센트 CER은 NP입니다. JSB는 논문이 −8.38 log-likelihood로 표기하며, negative log-likelihood로 쓰면 8.38 NLL인 NIAF 결과입니다. 저자들은 이를 rough orientation이라고 명시하고 state-of-the-art가 목표가 아니라고 설명합니다. Figure 3의 top 10퍼센트 test 분포와 평균 비교가 architecture 결론의 주 근거입니다.
공개 출처
arxiv-pdf | p. 5, opening of Sec. V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fANOVA는 search 결과를 중요도 지도로 바꾼다
발표 대본
fANOVA는 실험을 더 실행하는 알고리즘이 아니라 이미 수행한 random search를 분석합니다. 먼저 hyperparameter에서 test performance를 예측하는 regression forest 100개를 학습하고 예측을 평균합니다. 다른 차원을 평균내면 특정 parameter의 marginal effect를 얻을 수 있습니다. 이어서 예측 성능의 variance를 개별 parameter와 interaction 성분으로 나눕니다. 그러므로 중요도는 이 search space 안에서 모델이 설명한 성능 변동 비율이지 보편적 인과 계수가 아닙니다.
공개 출처
arxiv-pdf | p. 7, Sec. V-B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Hyperparameter 중요도 결과
발표 대본
Figure 5에서 learning rate는 모든 dataset에서 test performance variance의 3분의 2보다 큰 비중을 설명합니다. Hidden layer size가 다음이고 input noise, momentum 순입니다. Momentum은 각 dataset에서 1퍼센트 미만이지만 TIMIT의 learning-rate interaction에는 2.5퍼센트가 나타납니다. Input noise는 TIMIT 0.2부터 0.5 부근에서 도움이 되지만 다른 dataset에서는 대체로 성능을 해쳤습니다. 이 순위는 논문의 search range와 training protocol에 조건부입니다.
공개 출처
arxiv-pdf | pp. 7-10, Figs. 4-6 and Conclusion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Parameter가 approximately independent라는 뜻
발표 대본
Figure 6 오른쪽은 개별 parameter 효과를 제거한 interaction residual입니다. 두 parameter가 완전히 독립이면 residual은 0이지만 실제 결과는 작으면서 뚜렷한 구조가 없었습니다. 가장 큰 측정 pair는 learning rate와 network size였지만 main learning-rate effect보다 작았습니다. 저자들은 실용적으로 learning rate를 작은 network에서 먼저 tuning할 수 있다고 제안합니다. 다만 IAM과 JSB의 좋은 learning-rate basin 상단이 탐색 범위 밖일 수 있다고 논문이 직접 경고합니다.
공개 출처
arxiv-pdf | pp. 7-10, Figs. 5-6 and footnote 10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논문에서 도출되는 조건부 tuning 순서
발표 대본
저자들은 learning rate의 좋은 basin이 넓기 때문에 높은 값에서 시작해 10으로 나누며 성능이 더 좋아지지 않을 때까지 coarse search할 수 있다고 설명합니다. Learning rate와 size interaction이 작아 작은 network에서 rate를 먼저 맞추고 큰 network로 옮길 수 있다고 제안합니다. 이후 size의 수익 감소와 training time을 보고, input noise는 dataset마다 효과가 달랐으므로 별도로 확인해야 합니다. 이 절차는 현대 optimizer 전체에 대한 규칙이 아닙니다.
공개 출처
arxiv-pdf | pp. 7 and 10, Sec. V-B and Conclusion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증거의 적용 범위
발표 대본
5,400회는 당시 큰 실험이지만 비교 범위는 여전히 제한됩니다. 한 번에 한 변화만 검사했으므로 여러 개선을 동시에 결합한 cell은 다루지 않습니다. 세 dataset은 sequence domain을 넓히지만 언어나 비전, 매우 큰 규모를 포함하지 않습니다. Training은 full BPTT와 online SGD 중심이며 modern optimizer와 regularization을 비교하지 않습니다. Search prior와 200-trial budget도 결과의 일부입니다. 따라서 실용적 근거로 사용하되 timeless ranking으로 읽지 않습니다.
공개 출처
arxiv-pdf | pp. 3-5 and 10, Evaluation Setup and Conclusion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Odyssey에서 가져갈 네 가지
발표 대본
마지막으로 네 축을 연결하겠습니다. Vanilla state는 새 content와 유지 memory의 합이고 forget gate가 이전 state 경로를 조절합니다. 이 vanilla는 1997 original과 다릅니다. 실험은 architecture마다 별도 tuning을 수행해 비교 공정성을 높였습니다. 결과는 forget gate와 output activation의 중요성을 강하게 지지하지만 어떤 variant도 전반적 개선을 보이지 않았습니다. Hyperparameter 분석은 learning rate를 우선하라는 실용 지침을 주되 범위 밖 보편 법칙은 아닙니다.
공개 출처
arxiv-pdf | pp. 1-10, synthesis of main results
Public arXiv v2 manuscript
https://arxiv.org/pdf/1503.04069v2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공개 출처
발표 대본
공개적으로 확인 가능한 세 출처입니다. ArXiv record는 version과 metadata를, arXiv v2 PDF는 12쪽 IEEE-layout 본문 전체를 제공합니다. DOI는 IEEE Transactions on Neural Networks and Learning Systems의 정식 출판 기록으로 연결됩니다. 이 자료의 page locator는 arXiv v2 PDF의 인쇄 page number를 따릅니다.
공개 출처
arxiv | version record
arXiv record for version 2
https://arxiv.org/abs/1503.04069
arxiv-pdf | pp. 1-12
Public arXiv v2 manuscript
https://arxiv.org/pdf/1503.04069v2
doi | article record
IEEE Transactions article DOI
https://doi.org/10.1109/TNNLS.2016.2582924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LSTM: A Search Space Odyssey</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LSTM: A Search Space Odyssey</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Klaus Greff, Rupesh K. Srivastava, Jan Koutník, Bas R. Steunebrink, Jürgen Schmidhuber (2017)</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익숙한 LSTM 구성요소를 하나씩 바꾸어 실제 필요성을 검증한 대규모 비교 연구</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version record; arxiv-pdf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연구 질문을 실험 규모로 바꾸기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익숙한 LSTM 부품 중 무엇이 필요한지 architecture와 task를 교차해 검사한다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717800"/>
                <a:gridCol w="55443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실험에서 뜻하는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Architecture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Vanilla 1개와 one-change variant 8개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TIMIT, IAM Online, JSB Chorales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trial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조합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Variant와 dataset마다 별도 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 searches, 5,400 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24.3 CPU-hour, 합계 약 15 CPU-year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논문의 증거 단위는 한 최고 기록이 아니라 27개의 독립 random search다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1 and 5, Abstract and Sec. IV-D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논문이 답하는 것과 답하지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Odyssey는 LSTM의 영구 순위를 정하지 않고 특정 ablation을 공정하게 비교한다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질문: vanilla의 구성요소 하나를 바꾸면 세 과제 성능이 어떻게 달라지는가</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통제: 각 variant와 dataset 조합에 hyperparameter search를 따로 수행한다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주요 결론: 평가 범위에서 어떤 variant도 vanilla를 유의하게 능가하지 못했다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비결론: 모든 dataset과 optimizer에서 vanilla가 최선이라는 증명은 아니다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 목표는 state-of-the-art 기록이 아니라 architecture 구성요소 비교다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여덟 변화와 세 과제, 정해진 탐색 범위에 조건부다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1 and 3-5</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1997 원형에서 Odyssey 기준 cell까지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오늘날의 vanilla LSTM은 1997 architecture에 여러 후속 개선을 더한 형태다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1997 original</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Input·output gate, fixed CEC, full gate recurrence</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Forget gate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Cell이 이전 state를 스스로 reset하도록 추가</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Peephole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Cell state가 gate timing을 직접 조절</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Full BPTT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recurrent 경로의 정확한 gradient 계산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Odyssey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Later vanilla를 기준으로 one-change ablation</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vanilla를 1997 original과 같은 cell로 부르면 forget gate의 역사를 뒤집게 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1-3, Secs. II-III</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1997 original과 평가 대상 vanilla</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architecture의 gate와 학습 경로가 다르므로 같은 이름 아래에서 구분해야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1997 original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Odyssey vanilla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forget,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 self-loop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CEC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Forget gate fₜ로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Peephole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Input·forget·output gate에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Gate recurrence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Gate끼리 recurrent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vanilla에는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Gradient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 외 recurrent 경로는 truncated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BPTT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NFG는 later vanilla의 fₜ를 1로 고정한 ablation이지 1997 cell 전체 복원이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2-3, Secs. II-III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Vanilla cell의 여섯 계산 요소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세 gate는 정보의 유입·유지·노출을 나누고 activation은 값의 범위를 조절한다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1739392"/>
                <a:gridCol w="64140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입력과 이전 출력을 새 후보 content로 변환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후보 중 cell에 쓸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Forget 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cell state를 유지할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 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활성화된 cell state를 외부에 보일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 기본값은 둘 다 tanh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Gate는 값을 만들기보다 후보·기억·출력 흐름에 곱해지는 조절 계수다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2, Sec. II-A and Fig.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Peephole은 cell state를 gate에 보여 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Input·forget gate는 이전 state를, output gate는 갱신된 state를 직접 참조한다</a:t>
            </a:r>
            <a:endParaRPr lang="en-US" sz="1900" dirty="0"/>
          </a:p>
        </p:txBody>
      </p:sp>
      <p:sp>
        <p:nvSpPr>
          <p:cNvPr id="4" name="mechanism-lane-input"/>
          <p:cNvSpPr txBox="1"/>
          <p:nvPr/>
        </p:nvSpPr>
        <p:spPr>
          <a:xfrm>
            <a:off x="660400" y="2209800"/>
            <a:ext cx="863600" cy="78105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Input gate</a:t>
            </a:r>
            <a:endParaRPr lang="en-US" sz="1250" dirty="0"/>
          </a:p>
        </p:txBody>
      </p:sp>
      <p:sp>
        <p:nvSpPr>
          <p:cNvPr id="5" name="mechanism-lane-forget"/>
          <p:cNvSpPr txBox="1"/>
          <p:nvPr/>
        </p:nvSpPr>
        <p:spPr>
          <a:xfrm>
            <a:off x="660400" y="2990850"/>
            <a:ext cx="863600" cy="78105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Forget gate</a:t>
            </a:r>
            <a:endParaRPr lang="en-US" sz="1250" dirty="0"/>
          </a:p>
        </p:txBody>
      </p:sp>
      <p:sp>
        <p:nvSpPr>
          <p:cNvPr id="6" name="mechanism-lane-cell"/>
          <p:cNvSpPr txBox="1"/>
          <p:nvPr/>
        </p:nvSpPr>
        <p:spPr>
          <a:xfrm>
            <a:off x="660400" y="3771900"/>
            <a:ext cx="863600" cy="78105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Cell state</a:t>
            </a:r>
            <a:endParaRPr lang="en-US" sz="1250" dirty="0"/>
          </a:p>
        </p:txBody>
      </p:sp>
      <p:sp>
        <p:nvSpPr>
          <p:cNvPr id="7" name="mechanism-lane-output"/>
          <p:cNvSpPr txBox="1"/>
          <p:nvPr/>
        </p:nvSpPr>
        <p:spPr>
          <a:xfrm>
            <a:off x="660400" y="4552950"/>
            <a:ext cx="863600" cy="78105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Output gate</a:t>
            </a:r>
            <a:endParaRPr lang="en-US" sz="1250" dirty="0"/>
          </a:p>
        </p:txBody>
      </p:sp>
      <p:sp>
        <p:nvSpPr>
          <p:cNvPr id="8" name="mechanism-edge-prev-input-segment-1"/>
          <p:cNvSpPr/>
          <p:nvPr/>
        </p:nvSpPr>
        <p:spPr>
          <a:xfrm>
            <a:off x="3810000" y="3959225"/>
            <a:ext cx="120650" cy="0"/>
          </a:xfrm>
          <a:prstGeom prst="line">
            <a:avLst/>
          </a:prstGeom>
          <a:noFill/>
          <a:ln w="12700">
            <a:solidFill>
              <a:srgbClr val="0D685C"/>
            </a:solidFill>
            <a:prstDash val="solid"/>
            <a:headEnd type="none"/>
            <a:tailEnd type="none"/>
          </a:ln>
        </p:spPr>
        <p:txBody>
          <a:bodyPr/>
          <a:lstStyle/>
          <a:p>
            <a:endParaRPr lang="ko-KR"/>
          </a:p>
        </p:txBody>
      </p:sp>
      <p:sp>
        <p:nvSpPr>
          <p:cNvPr id="9" name="mechanism-edge-prev-input-segment-2"/>
          <p:cNvSpPr/>
          <p:nvPr/>
        </p:nvSpPr>
        <p:spPr>
          <a:xfrm flipV="1">
            <a:off x="3930650" y="2600325"/>
            <a:ext cx="0" cy="1358900"/>
          </a:xfrm>
          <a:prstGeom prst="line">
            <a:avLst/>
          </a:prstGeom>
          <a:noFill/>
          <a:ln w="12700">
            <a:solidFill>
              <a:srgbClr val="0D685C"/>
            </a:solidFill>
            <a:prstDash val="solid"/>
            <a:headEnd type="none"/>
            <a:tailEnd type="none"/>
          </a:ln>
        </p:spPr>
        <p:txBody>
          <a:bodyPr/>
          <a:lstStyle/>
          <a:p>
            <a:endParaRPr lang="ko-KR"/>
          </a:p>
        </p:txBody>
      </p:sp>
      <p:sp>
        <p:nvSpPr>
          <p:cNvPr id="10" name="mechanism-edge-prev-input-segment-3"/>
          <p:cNvSpPr/>
          <p:nvPr/>
        </p:nvSpPr>
        <p:spPr>
          <a:xfrm>
            <a:off x="3930650" y="2600325"/>
            <a:ext cx="36195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prev-forget-segment-1"/>
          <p:cNvSpPr/>
          <p:nvPr/>
        </p:nvSpPr>
        <p:spPr>
          <a:xfrm>
            <a:off x="3810000" y="4162425"/>
            <a:ext cx="241300" cy="0"/>
          </a:xfrm>
          <a:prstGeom prst="line">
            <a:avLst/>
          </a:prstGeom>
          <a:noFill/>
          <a:ln w="12700">
            <a:solidFill>
              <a:srgbClr val="0D685C"/>
            </a:solidFill>
            <a:prstDash val="solid"/>
            <a:headEnd type="none"/>
            <a:tailEnd type="none"/>
          </a:ln>
        </p:spPr>
        <p:txBody>
          <a:bodyPr/>
          <a:lstStyle/>
          <a:p>
            <a:endParaRPr lang="ko-KR"/>
          </a:p>
        </p:txBody>
      </p:sp>
      <p:sp>
        <p:nvSpPr>
          <p:cNvPr id="12" name="mechanism-edge-prev-forget-segment-2"/>
          <p:cNvSpPr/>
          <p:nvPr/>
        </p:nvSpPr>
        <p:spPr>
          <a:xfrm flipV="1">
            <a:off x="4051300" y="3381375"/>
            <a:ext cx="0" cy="781050"/>
          </a:xfrm>
          <a:prstGeom prst="line">
            <a:avLst/>
          </a:prstGeom>
          <a:noFill/>
          <a:ln w="12700">
            <a:solidFill>
              <a:srgbClr val="0D685C"/>
            </a:solidFill>
            <a:prstDash val="solid"/>
            <a:headEnd type="none"/>
            <a:tailEnd type="none"/>
          </a:ln>
        </p:spPr>
        <p:txBody>
          <a:bodyPr/>
          <a:lstStyle/>
          <a:p>
            <a:endParaRPr lang="ko-KR"/>
          </a:p>
        </p:txBody>
      </p:sp>
      <p:sp>
        <p:nvSpPr>
          <p:cNvPr id="13" name="mechanism-edge-prev-forget-segment-3"/>
          <p:cNvSpPr/>
          <p:nvPr/>
        </p:nvSpPr>
        <p:spPr>
          <a:xfrm>
            <a:off x="4051300" y="3381375"/>
            <a:ext cx="2413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prev-new-segment-1"/>
          <p:cNvSpPr/>
          <p:nvPr/>
        </p:nvSpPr>
        <p:spPr>
          <a:xfrm>
            <a:off x="3810000" y="4365625"/>
            <a:ext cx="361950" cy="0"/>
          </a:xfrm>
          <a:prstGeom prst="line">
            <a:avLst/>
          </a:prstGeom>
          <a:noFill/>
          <a:ln w="12700">
            <a:solidFill>
              <a:srgbClr val="0D685C"/>
            </a:solidFill>
            <a:prstDash val="solid"/>
            <a:headEnd type="none"/>
            <a:tailEnd type="none"/>
          </a:ln>
        </p:spPr>
        <p:txBody>
          <a:bodyPr/>
          <a:lstStyle/>
          <a:p>
            <a:endParaRPr lang="ko-KR"/>
          </a:p>
        </p:txBody>
      </p:sp>
      <p:sp>
        <p:nvSpPr>
          <p:cNvPr id="15" name="mechanism-edge-prev-new-segment-2"/>
          <p:cNvSpPr/>
          <p:nvPr/>
        </p:nvSpPr>
        <p:spPr>
          <a:xfrm flipV="1">
            <a:off x="4171950" y="4162425"/>
            <a:ext cx="0" cy="203200"/>
          </a:xfrm>
          <a:prstGeom prst="line">
            <a:avLst/>
          </a:prstGeom>
          <a:noFill/>
          <a:ln w="12700">
            <a:solidFill>
              <a:srgbClr val="0D685C"/>
            </a:solidFill>
            <a:prstDash val="solid"/>
            <a:headEnd type="none"/>
            <a:tailEnd type="none"/>
          </a:ln>
        </p:spPr>
        <p:txBody>
          <a:bodyPr/>
          <a:lstStyle/>
          <a:p>
            <a:endParaRPr lang="ko-KR"/>
          </a:p>
        </p:txBody>
      </p:sp>
      <p:sp>
        <p:nvSpPr>
          <p:cNvPr id="16" name="mechanism-edge-prev-new-segment-3"/>
          <p:cNvSpPr/>
          <p:nvPr/>
        </p:nvSpPr>
        <p:spPr>
          <a:xfrm>
            <a:off x="4171950" y="4162425"/>
            <a:ext cx="2673350" cy="0"/>
          </a:xfrm>
          <a:prstGeom prst="line">
            <a:avLst/>
          </a:prstGeom>
          <a:noFill/>
          <a:ln w="12700">
            <a:solidFill>
              <a:srgbClr val="0D685C"/>
            </a:solidFill>
            <a:prstDash val="solid"/>
            <a:headEnd type="none"/>
            <a:tailEnd type="triangle"/>
          </a:ln>
        </p:spPr>
        <p:txBody>
          <a:bodyPr/>
          <a:lstStyle/>
          <a:p>
            <a:endParaRPr lang="ko-KR"/>
          </a:p>
        </p:txBody>
      </p:sp>
      <p:sp>
        <p:nvSpPr>
          <p:cNvPr id="17" name="mechanism-edge-new-output-segment-1"/>
          <p:cNvSpPr/>
          <p:nvPr/>
        </p:nvSpPr>
        <p:spPr>
          <a:xfrm>
            <a:off x="8915400" y="4162425"/>
            <a:ext cx="241300" cy="0"/>
          </a:xfrm>
          <a:prstGeom prst="line">
            <a:avLst/>
          </a:prstGeom>
          <a:noFill/>
          <a:ln w="12700">
            <a:solidFill>
              <a:srgbClr val="0D685C"/>
            </a:solidFill>
            <a:prstDash val="solid"/>
            <a:headEnd type="none"/>
            <a:tailEnd type="none"/>
          </a:ln>
        </p:spPr>
        <p:txBody>
          <a:bodyPr/>
          <a:lstStyle/>
          <a:p>
            <a:endParaRPr lang="ko-KR"/>
          </a:p>
        </p:txBody>
      </p:sp>
      <p:sp>
        <p:nvSpPr>
          <p:cNvPr id="18" name="mechanism-edge-new-output-segment-2"/>
          <p:cNvSpPr/>
          <p:nvPr/>
        </p:nvSpPr>
        <p:spPr>
          <a:xfrm>
            <a:off x="9156700" y="4162425"/>
            <a:ext cx="0" cy="781050"/>
          </a:xfrm>
          <a:prstGeom prst="line">
            <a:avLst/>
          </a:prstGeom>
          <a:noFill/>
          <a:ln w="12700">
            <a:solidFill>
              <a:srgbClr val="0D685C"/>
            </a:solidFill>
            <a:prstDash val="solid"/>
            <a:headEnd type="none"/>
            <a:tailEnd type="none"/>
          </a:ln>
        </p:spPr>
        <p:txBody>
          <a:bodyPr/>
          <a:lstStyle/>
          <a:p>
            <a:endParaRPr lang="ko-KR"/>
          </a:p>
        </p:txBody>
      </p:sp>
      <p:sp>
        <p:nvSpPr>
          <p:cNvPr id="19" name="mechanism-edge-new-output-segment-3"/>
          <p:cNvSpPr/>
          <p:nvPr/>
        </p:nvSpPr>
        <p:spPr>
          <a:xfrm>
            <a:off x="9156700" y="4943475"/>
            <a:ext cx="241300" cy="0"/>
          </a:xfrm>
          <a:prstGeom prst="line">
            <a:avLst/>
          </a:prstGeom>
          <a:noFill/>
          <a:ln w="12700">
            <a:solidFill>
              <a:srgbClr val="0D685C"/>
            </a:solidFill>
            <a:prstDash val="solid"/>
            <a:headEnd type="none"/>
            <a:tailEnd type="triangle"/>
          </a:ln>
        </p:spPr>
        <p:txBody>
          <a:bodyPr/>
          <a:lstStyle/>
          <a:p>
            <a:endParaRPr lang="ko-KR"/>
          </a:p>
        </p:txBody>
      </p:sp>
      <p:sp>
        <p:nvSpPr>
          <p:cNvPr id="20" name="mechanism-node-prev-cell"/>
          <p:cNvSpPr/>
          <p:nvPr/>
        </p:nvSpPr>
        <p:spPr>
          <a:xfrm>
            <a:off x="1739900" y="3832225"/>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cₜ₋₁</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이전 cell state</a:t>
            </a:r>
            <a:endParaRPr lang="en-US" sz="1150" dirty="0"/>
          </a:p>
        </p:txBody>
      </p:sp>
      <p:sp>
        <p:nvSpPr>
          <p:cNvPr id="21" name="mechanism-node-input-gate"/>
          <p:cNvSpPr/>
          <p:nvPr/>
        </p:nvSpPr>
        <p:spPr>
          <a:xfrm>
            <a:off x="4292600" y="2270125"/>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pᵢ·cₜ₋₁ 참조</a:t>
            </a:r>
            <a:endParaRPr lang="en-US" sz="1150" dirty="0"/>
          </a:p>
        </p:txBody>
      </p:sp>
      <p:sp>
        <p:nvSpPr>
          <p:cNvPr id="22" name="mechanism-node-forget-gate"/>
          <p:cNvSpPr/>
          <p:nvPr/>
        </p:nvSpPr>
        <p:spPr>
          <a:xfrm>
            <a:off x="4292600" y="3051175"/>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p_f·cₜ₋₁ 참조</a:t>
            </a:r>
            <a:endParaRPr lang="en-US" sz="1150" dirty="0"/>
          </a:p>
        </p:txBody>
      </p:sp>
      <p:sp>
        <p:nvSpPr>
          <p:cNvPr id="23" name="mechanism-node-new-cell"/>
          <p:cNvSpPr/>
          <p:nvPr/>
        </p:nvSpPr>
        <p:spPr>
          <a:xfrm>
            <a:off x="6845300" y="3832225"/>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두 state 경로 합산</a:t>
            </a:r>
            <a:endParaRPr lang="en-US" sz="1150" dirty="0"/>
          </a:p>
        </p:txBody>
      </p:sp>
      <p:sp>
        <p:nvSpPr>
          <p:cNvPr id="24" name="mechanism-node-output-gate"/>
          <p:cNvSpPr/>
          <p:nvPr/>
        </p:nvSpPr>
        <p:spPr>
          <a:xfrm>
            <a:off x="9398000" y="4613275"/>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p_o·cₜ 참조</a:t>
            </a:r>
            <a:endParaRPr lang="en-US" sz="1150" dirty="0"/>
          </a:p>
        </p:txBody>
      </p:sp>
      <p:sp>
        <p:nvSpPr>
          <p:cNvPr id="25" name="Shape 2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6" name="Text 2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Peephole은 recurrent output yₜ₋₁과 별도로 cell state를 gate 입력에 연결한다</a:t>
            </a:r>
            <a:endParaRPr lang="en-US" sz="1750" dirty="0"/>
          </a:p>
        </p:txBody>
      </p:sp>
      <p:sp>
        <p:nvSpPr>
          <p:cNvPr id="27" name="Shape 2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8" name="Text 2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2-3, Fig. 1 and Sec. III-B</a:t>
            </a:r>
            <a:endParaRPr lang="en-US" sz="1050" dirty="0"/>
          </a:p>
        </p:txBody>
      </p:sp>
      <p:sp>
        <p:nvSpPr>
          <p:cNvPr id="29" name="Text 2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Cell state는 새 content와 남긴 memory의 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곱셈 경로가 cₜ에서 합쳐지고 output gate가 외부 노출을 조절한다</a:t>
            </a:r>
            <a:endParaRPr lang="en-US" sz="1900" dirty="0"/>
          </a:p>
        </p:txBody>
      </p:sp>
      <p:sp>
        <p:nvSpPr>
          <p:cNvPr id="4" name="mechanism-lane-new"/>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New content</a:t>
            </a:r>
            <a:endParaRPr lang="en-US" sz="1250" dirty="0"/>
          </a:p>
        </p:txBody>
      </p:sp>
      <p:sp>
        <p:nvSpPr>
          <p:cNvPr id="5" name="mechanism-lane-retain"/>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Retained memory</a:t>
            </a:r>
            <a:endParaRPr lang="en-US" sz="1250" dirty="0"/>
          </a:p>
        </p:txBody>
      </p:sp>
      <p:sp>
        <p:nvSpPr>
          <p:cNvPr id="6" name="mechanism-lane-out"/>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Block output</a:t>
            </a:r>
            <a:endParaRPr lang="en-US" sz="1250" dirty="0"/>
          </a:p>
        </p:txBody>
      </p:sp>
      <p:sp>
        <p:nvSpPr>
          <p:cNvPr id="7" name="mechanism-edge-new-product-segment-1"/>
          <p:cNvSpPr/>
          <p:nvPr/>
        </p:nvSpPr>
        <p:spPr>
          <a:xfrm>
            <a:off x="3299460" y="27305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old-product-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new-sum-segment-1"/>
          <p:cNvSpPr/>
          <p:nvPr/>
        </p:nvSpPr>
        <p:spPr>
          <a:xfrm>
            <a:off x="5341620" y="2730500"/>
            <a:ext cx="160867" cy="0"/>
          </a:xfrm>
          <a:prstGeom prst="line">
            <a:avLst/>
          </a:prstGeom>
          <a:noFill/>
          <a:ln w="12700">
            <a:solidFill>
              <a:srgbClr val="0D685C"/>
            </a:solidFill>
            <a:prstDash val="solid"/>
            <a:headEnd type="none"/>
            <a:tailEnd type="none"/>
          </a:ln>
        </p:spPr>
        <p:txBody>
          <a:bodyPr/>
          <a:lstStyle/>
          <a:p>
            <a:endParaRPr lang="ko-KR"/>
          </a:p>
        </p:txBody>
      </p:sp>
      <p:sp>
        <p:nvSpPr>
          <p:cNvPr id="10" name="mechanism-edge-new-sum-segment-2"/>
          <p:cNvSpPr/>
          <p:nvPr/>
        </p:nvSpPr>
        <p:spPr>
          <a:xfrm>
            <a:off x="5502487" y="2730500"/>
            <a:ext cx="0" cy="838200"/>
          </a:xfrm>
          <a:prstGeom prst="line">
            <a:avLst/>
          </a:prstGeom>
          <a:noFill/>
          <a:ln w="12700">
            <a:solidFill>
              <a:srgbClr val="0D685C"/>
            </a:solidFill>
            <a:prstDash val="solid"/>
            <a:headEnd type="none"/>
            <a:tailEnd type="none"/>
          </a:ln>
        </p:spPr>
        <p:txBody>
          <a:bodyPr/>
          <a:lstStyle/>
          <a:p>
            <a:endParaRPr lang="ko-KR"/>
          </a:p>
        </p:txBody>
      </p:sp>
      <p:sp>
        <p:nvSpPr>
          <p:cNvPr id="11" name="mechanism-edge-new-sum-segment-3"/>
          <p:cNvSpPr/>
          <p:nvPr/>
        </p:nvSpPr>
        <p:spPr>
          <a:xfrm>
            <a:off x="5502487" y="3568700"/>
            <a:ext cx="321733"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old-sum-segment-1"/>
          <p:cNvSpPr/>
          <p:nvPr/>
        </p:nvSpPr>
        <p:spPr>
          <a:xfrm>
            <a:off x="5341620" y="3771900"/>
            <a:ext cx="321733" cy="0"/>
          </a:xfrm>
          <a:prstGeom prst="line">
            <a:avLst/>
          </a:prstGeom>
          <a:noFill/>
          <a:ln w="12700">
            <a:solidFill>
              <a:srgbClr val="0D685C"/>
            </a:solidFill>
            <a:prstDash val="solid"/>
            <a:headEnd type="none"/>
            <a:tailEnd type="none"/>
          </a:ln>
        </p:spPr>
        <p:txBody>
          <a:bodyPr/>
          <a:lstStyle/>
          <a:p>
            <a:endParaRPr lang="ko-KR"/>
          </a:p>
        </p:txBody>
      </p:sp>
      <p:sp>
        <p:nvSpPr>
          <p:cNvPr id="13" name="mechanism-edge-old-sum-segment-2"/>
          <p:cNvSpPr/>
          <p:nvPr/>
        </p:nvSpPr>
        <p:spPr>
          <a:xfrm>
            <a:off x="5663353" y="3771900"/>
            <a:ext cx="0" cy="203200"/>
          </a:xfrm>
          <a:prstGeom prst="line">
            <a:avLst/>
          </a:prstGeom>
          <a:noFill/>
          <a:ln w="12700">
            <a:solidFill>
              <a:srgbClr val="0D685C"/>
            </a:solidFill>
            <a:prstDash val="solid"/>
            <a:headEnd type="none"/>
            <a:tailEnd type="none"/>
          </a:ln>
        </p:spPr>
        <p:txBody>
          <a:bodyPr/>
          <a:lstStyle/>
          <a:p>
            <a:endParaRPr lang="ko-KR"/>
          </a:p>
        </p:txBody>
      </p:sp>
      <p:sp>
        <p:nvSpPr>
          <p:cNvPr id="14" name="mechanism-edge-old-sum-segment-3"/>
          <p:cNvSpPr/>
          <p:nvPr/>
        </p:nvSpPr>
        <p:spPr>
          <a:xfrm>
            <a:off x="5663353" y="3975100"/>
            <a:ext cx="160867"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cell-act-segment-1"/>
          <p:cNvSpPr/>
          <p:nvPr/>
        </p:nvSpPr>
        <p:spPr>
          <a:xfrm>
            <a:off x="7383780" y="3771900"/>
            <a:ext cx="241300" cy="0"/>
          </a:xfrm>
          <a:prstGeom prst="line">
            <a:avLst/>
          </a:prstGeom>
          <a:noFill/>
          <a:ln w="12700">
            <a:solidFill>
              <a:srgbClr val="0D685C"/>
            </a:solidFill>
            <a:prstDash val="solid"/>
            <a:headEnd type="none"/>
            <a:tailEnd type="none"/>
          </a:ln>
        </p:spPr>
        <p:txBody>
          <a:bodyPr/>
          <a:lstStyle/>
          <a:p>
            <a:endParaRPr lang="ko-KR"/>
          </a:p>
        </p:txBody>
      </p:sp>
      <p:sp>
        <p:nvSpPr>
          <p:cNvPr id="16" name="mechanism-edge-cell-act-segment-2"/>
          <p:cNvSpPr/>
          <p:nvPr/>
        </p:nvSpPr>
        <p:spPr>
          <a:xfrm>
            <a:off x="7625080" y="3771900"/>
            <a:ext cx="0" cy="1041400"/>
          </a:xfrm>
          <a:prstGeom prst="line">
            <a:avLst/>
          </a:prstGeom>
          <a:noFill/>
          <a:ln w="12700">
            <a:solidFill>
              <a:srgbClr val="0D685C"/>
            </a:solidFill>
            <a:prstDash val="solid"/>
            <a:headEnd type="none"/>
            <a:tailEnd type="none"/>
          </a:ln>
        </p:spPr>
        <p:txBody>
          <a:bodyPr/>
          <a:lstStyle/>
          <a:p>
            <a:endParaRPr lang="ko-KR"/>
          </a:p>
        </p:txBody>
      </p:sp>
      <p:sp>
        <p:nvSpPr>
          <p:cNvPr id="17" name="mechanism-edge-cell-act-segment-3"/>
          <p:cNvSpPr/>
          <p:nvPr/>
        </p:nvSpPr>
        <p:spPr>
          <a:xfrm>
            <a:off x="7625080" y="4813300"/>
            <a:ext cx="241300" cy="0"/>
          </a:xfrm>
          <a:prstGeom prst="line">
            <a:avLst/>
          </a:prstGeom>
          <a:noFill/>
          <a:ln w="12700">
            <a:solidFill>
              <a:srgbClr val="0D685C"/>
            </a:solidFill>
            <a:prstDash val="solid"/>
            <a:headEnd type="none"/>
            <a:tailEnd type="triangle"/>
          </a:ln>
        </p:spPr>
        <p:txBody>
          <a:bodyPr/>
          <a:lstStyle/>
          <a:p>
            <a:endParaRPr lang="ko-KR"/>
          </a:p>
        </p:txBody>
      </p:sp>
      <p:sp>
        <p:nvSpPr>
          <p:cNvPr id="18" name="mechanism-edge-act-output-segment-1"/>
          <p:cNvSpPr/>
          <p:nvPr/>
        </p:nvSpPr>
        <p:spPr>
          <a:xfrm>
            <a:off x="942594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19" name="mechanism-node-new-input"/>
          <p:cNvSpPr/>
          <p:nvPr/>
        </p:nvSpPr>
        <p:spPr>
          <a:xfrm>
            <a:off x="1739900" y="24003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zₜ, iₜ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후보와 input gate</a:t>
            </a:r>
            <a:endParaRPr lang="en-US" sz="1150" dirty="0"/>
          </a:p>
        </p:txBody>
      </p:sp>
      <p:sp>
        <p:nvSpPr>
          <p:cNvPr id="20" name="mechanism-node-new-mul"/>
          <p:cNvSpPr/>
          <p:nvPr/>
        </p:nvSpPr>
        <p:spPr>
          <a:xfrm>
            <a:off x="3782060" y="24003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zₜ × iₜ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새로 쓰는 content</a:t>
            </a:r>
            <a:endParaRPr lang="en-US" sz="1150" dirty="0"/>
          </a:p>
        </p:txBody>
      </p:sp>
      <p:sp>
        <p:nvSpPr>
          <p:cNvPr id="21" name="mechanism-node-old-input"/>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cₜ₋₁, fₜ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이전 state와 forget</a:t>
            </a:r>
            <a:endParaRPr lang="en-US" sz="1150" dirty="0"/>
          </a:p>
        </p:txBody>
      </p:sp>
      <p:sp>
        <p:nvSpPr>
          <p:cNvPr id="22" name="mechanism-node-old-mul"/>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cₜ₋₁ × fₜ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남겨 두는 memory</a:t>
            </a:r>
            <a:endParaRPr lang="en-US" sz="1150" dirty="0"/>
          </a:p>
        </p:txBody>
      </p:sp>
      <p:sp>
        <p:nvSpPr>
          <p:cNvPr id="23" name="mechanism-node-cell-sum"/>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두 contribution 합</a:t>
            </a:r>
            <a:endParaRPr lang="en-US" sz="1150" dirty="0"/>
          </a:p>
        </p:txBody>
      </p:sp>
      <p:sp>
        <p:nvSpPr>
          <p:cNvPr id="24" name="mechanism-node-out-act"/>
          <p:cNvSpPr/>
          <p:nvPr/>
        </p:nvSpPr>
        <p:spPr>
          <a:xfrm>
            <a:off x="7866380" y="44831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h(cₜ)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기본 activation tanh</a:t>
            </a:r>
            <a:endParaRPr lang="en-US" sz="1150" dirty="0"/>
          </a:p>
        </p:txBody>
      </p:sp>
      <p:sp>
        <p:nvSpPr>
          <p:cNvPr id="25" name="mechanism-node-block-out"/>
          <p:cNvSpPr/>
          <p:nvPr/>
        </p:nvSpPr>
        <p:spPr>
          <a:xfrm>
            <a:off x="9908540" y="44831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yₜ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h(cₜ) × oₜ</a:t>
            </a:r>
            <a:endParaRPr lang="en-US" sz="1150" dirty="0"/>
          </a:p>
        </p:txBody>
      </p:sp>
      <p:sp>
        <p:nvSpPr>
          <p:cNvPr id="26" name="Shape 2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7" name="Text 2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fₜ는 이전 memory 경로에 직접 곱해져 유지와 reset의 정도를 학습한다</a:t>
            </a:r>
            <a:endParaRPr lang="en-US" sz="1750" dirty="0"/>
          </a:p>
        </p:txBody>
      </p:sp>
      <p:sp>
        <p:nvSpPr>
          <p:cNvPr id="28" name="Shape 2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9" name="Text 2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2, Sec. II-A</a:t>
            </a:r>
            <a:endParaRPr lang="en-US" sz="1050" dirty="0"/>
          </a:p>
        </p:txBody>
      </p:sp>
      <p:sp>
        <p:nvSpPr>
          <p:cNvPr id="30" name="Text 2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번의 scalar state update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숫자로 새 content와 retained content를 분리해 계산한다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3043936"/>
                <a:gridCol w="1956816"/>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content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0.80 × 0.25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zₜ 후보 중 25% 기록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남긴 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0.50 × 0.90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state의 90%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 + 0.45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cₜ=0.65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경로를 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0.60 × tanh(0.65)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yₜ≈0.343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oₜ가 외부 노출을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예에서 새 정보 0.20보다 남긴 memory 0.45가 cₜ에 더 크게 기여한다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2, cell and block-output equations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Forget gate 값이 state 경로에 미치는 영향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다른 의존성을 잠시 고정하면 이전 state 경로의 local factor는 fₜ다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261360"/>
                <a:gridCol w="2500376"/>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cₜ에 남는 비율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1에 가까움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state 대부분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긴 기억 경로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항상 보존한다는 뜻은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0에 가까움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이전 state 대부분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Reset에 가까움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content 경로는 별도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NFG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fₜ=1로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학습한 forgetting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1997 architecture 전체와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CEC의 고정 self-loop와 달리 vanilla는 fₜ로 state 유지 정도를 입력마다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2-3, cell equation and Sec. III-A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여덟 variant는 한 번에 한 항목만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변화의 효과를 분리하려면 나머지 vanilla 구조를 기준선으로 유지해야 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Vanilla V</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세 gate, g와 h, peephole, 기본 recurrence</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One change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Gate 고정, activation identity, coupling 또는 연결 추가</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Separate tuning</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Variant와 dataset 조합마다 200 trial</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Validation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Hyperparameter와 early stopping 선택</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Test comparison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Vanilla와 평균 차이를 통계적으로 평가</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Ablation의 공정성은 같은 parameter가 아니라 각 variant를 따로 tuning하는 데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3-5, Sec. IV</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Gate를 바꾸는 네 variant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약어보다 식의 literal substitution을 보면 어떤 조절 능력이 사라지는지 알 수 있다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717800"/>
                <a:gridCol w="61965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Variant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Literal change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검사하는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NIG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iₜ=1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후보를 항상 전부 쓰면 어떤가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NFG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fₜ=1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학습한 forgetting을 없애면 어떤가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oₜ=1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 output을 항상 전부 노출하면 어떤가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fₜ=1−iₜ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쓰기와 잊기를 한 gate로 묶을 수 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CIFG는 forget gate를 없애는 NFG와 달리 input gate에서 fₜ를 결정한다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5, Sec. IV-C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Activation과 연결을 바꾸는 네 variant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변경은 gate 밖의 비선형성 또는 recurrent connection 하나의 역할을 분리한다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261360"/>
                <a:gridCol w="56530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Variant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Literal change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검사하는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NIAF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g(x)=x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 input tanh가 필요한가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h(x)=x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 output squash가 필요한가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pᵢ, p_f, p_o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Cell-to-gate peephole이 필요한가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FGR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Gate 간 recurrent 연결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Original의 full gate recurrence가 유용한가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FGR은 gate 세 개 사이에 recurrent matrix 9개를 추가해 parameter 수를 크게 늘린다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5, Sec. IV-C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Variant 해석에서 피해야 할 세 혼동</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식 하나를 바꾼 ablation을 역사적 architecture 전체와 동일시하면 결론이 달라진다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혼동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정확한 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중요한가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NFG = 1997 LSTM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NFG는 vanilla에서 fₜ만 1로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Peephole·BPTT·recurrence 차이가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CIFG = no forget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fₜ를 iₜ와 결합해 계속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Forget 기능은 제거되지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FGR = original 복원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Gate recurrence 하나만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나머지 vanilla 구성은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NP = gate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Cell-to-gate 항만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Input·forget·output gate는 그대로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variant 이름은 전체 cell 계보가 아니라 vanilla에서 바뀐 한 항목을 가리킨다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3 and 5, Secs. III and IV-C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세 dataset은 서로 다른 sequence 문제다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Metric의 단위가 다르므로 숫자를 가로로 직접 비교하지 않고 variant 내 변화로 읽는다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239768"/>
                <a:gridCol w="3152648"/>
                <a:gridCol w="13045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낮을수록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Audio frame의 phone 분류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Classification error %</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좋음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IAM Online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 stroke에서 문자 sequence 인식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Character error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좋음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JSB Chorales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Polyphonic music next-step 예측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Negative log-likelihood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좋음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TIMIT 30%와 IAM 10%는 같은 척도가 아니며 각 dataset 안에서 비교해야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3-4, Sec. IV-A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과제마다 network 방향과 loss도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cell variant라도 task-specific output과 training objective 안에서 평가된다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913632"/>
                <a:gridCol w="217424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LSTM hidden structure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Output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Training loss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양방향, forward와 backward layer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Softmax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Cross-entropy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IAM Online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양방향, forward와 backward layer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82-way softmax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CTC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JSB Chorales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LSTM hidden layer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Sigmoid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Cross-entropy / NLL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Variant 효과는 cell만이 아니라 각 task의 model 방향과 loss 조건 안에서 관측됐다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4, Sec. IV-B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공정 비교를 만드는 실험 pipeline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architecture와 dataset은 별도 탐색을 거쳐 validation 선택 후 test에서 비교된다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Variant × dataset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총 27개의 독립 search 문제</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200 random trials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Size, learning rate, momentum, noise를 표본화</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Train split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Full BPTT와 sequence-level SGD로 학습</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Validation split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Early stopping과 top trial 선택</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Test split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Vanilla 대비 분포와 유의성 비교</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Test set은 tuning에 쓰지 않고 validation이 선택한 설정을 최종 평가한다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3-5, Sec. IV</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27개 random search는 서로 설정을 공유하지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Architecture 9개와 dataset 3개의 각 cell이 독립적인 200-trial search다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2391664"/>
                <a:gridCol w="2391664"/>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Architecture group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TIMIT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IAM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JSB</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Vanilla 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trials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trials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trials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Gate removal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 removal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CIFG·NP·FGR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search budget을 주되 variant마다 다른 hyperparameter 조합을 찾도록 허용했다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5, Sec. IV-D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Random search가 표본화한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검색 분포까지 결과의 조건이므로 범위 밖 architecture 성능을 추론할 수 없다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391664"/>
                <a:gridCol w="2500376"/>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Hyperparameter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Sampling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Range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Hidden blocks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Log-uniform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Log-uniform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10⁻⁶-10⁻²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Update 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Momentum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1−log-uniform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기저 0.01-1.0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Update 누적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noise 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Gaussian regularization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TIMIT 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Boolean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Momentum·clipping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protocol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Architecture 결론은 200회 budget뿐 아니라 이 sampling 분포와 범위에 의존한다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5, Sec. IV-D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Training protocol의 고정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Architecture 외 차이를 줄이기 위해 initialization, optimizer, 종료 규칙을 맞춘다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00075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Gradient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BPTT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1997 truncated training과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Optimizer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Sequence별 SGD, Nesterov momentum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Modern optimizer 비교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Initialization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Normal, standard deviation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network에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150 epochs 또는 15 epochs 개선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Validation early stopping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Parameters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Variant끼리 수를 강제 동일화하지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Architecture 효율 차이를 허용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Parameter 수를 같게 맞추지 않은 것은 variant마다 parameter 활용 방식이 다르기 때문이다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4-5, Secs. IV-B and IV-D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3 결과를 읽는 두 층</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전체 200 trial과 validation-selected 상위 10%는 서로 다른 질문에 답한다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All 200</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전체 search space에서 test 성능 분포</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Top 10%</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Validation 기준 상위 20 trial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Test boxes</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Quartile, whisker, mean, median 표시</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Welch test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Variant 평균을 vanilla와 비교</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Bonferroni</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Variant 8개 검정의 다중 비교 보정</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best trial보다 tuning 분포와 보정된 평균 차이가 architecture 결론의 근거다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5-6, Fig. 3 and Sec. V-A</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주요 결론: 유일한 승자 variant는 없었다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평가한 여덟 변화 중 vanilla를 전반적으로 유의하게 개선한 variant는 없었다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NFG와 NOAF는 세 dataset 모두에서 성능을 유의하게 악화시켰다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CIFG와 NP는 평균 성능을 유의하게 낮추지 않으면서 구조를 단순화했다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FGR은 TIMIT·IAM에서 유의한 개선이 없고 JSB에서 더 나빴다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NIG·NOG·NIAF 효과는 task domain에 따라 달랐다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논문의 최종 강조는 forget gate와 output activation의 중요성이다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None of eight variants significantly improved vanilla under this evaluation</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1, 6 and 10, Abstract and Discussion</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Variant 효과는 공통 결과와 task 차이로 나뉜다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세 dataset 공통 악화와 특정 domain에서만 보인 악화를 분리해 읽는다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2174240"/>
                <a:gridCol w="1739392"/>
                <a:gridCol w="217424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TIMIT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IAM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JSB</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NFG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Forget gate 중요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Output squash 중요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NIG·NOG·NIAF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유의한 영향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Domain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CIFG·NP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유의 차이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단순화 후보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FGR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유의한 개선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parameter 불리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Forget gate와 output activation의 공통 악화가 가장 일관된 architecture 증거다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6-7, Sec. V-A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CIFG와 NP가 실용적 후보로 남은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유의한 개선은 아니지만 구조를 줄이면서 평가 성능을 유의하게 낮추지 않았다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935224"/>
                <a:gridCol w="3152648"/>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Variant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줄이는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평균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정확한 결론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 forget gate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dataset 유의 차이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Input과 forget을 coupling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peephole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dataset 유의 차이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Peephole 생략 가능성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Parameter와 computation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Vanilla보다 유의한 향상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단순화 trade-off 후보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Simpler without significant decline은 better than vanilla와 같은 문장이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6 and 10, Sec. V-A and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Best trial 숫자는 방향 확인용이다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Validation이 고른 단일 최고 trial은 논문의 주 비교나 state-of-the-art 주장이 아니다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261360"/>
                <a:gridCol w="173939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Best trial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Variant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29.6% classification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Published best 26.9%와 별도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IAM Online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9.26% CER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preprocessing 결과와 직접 비교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JSB Chorales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8.38 NLL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NIAF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Published 5.56보다 높은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용도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Rough orientation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trial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Architecture 평균 결론과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Best trial의 variant 이름을 전체 실험의 우승자로 바꾸면 논문의 통계 결론과 충돌한다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5, opening of Sec. V</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fANOVA는 search 결과를 중요도 지도로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Random trials로 성능 예측 모델을 만들고 variance를 parameter와 interaction에 배분한다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Random trials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Hyperparameter와 test performance 표본</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Regression forest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100개 tree의 prediction을 평균</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Marginalization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다른 parameter를 평균내 한 축의 효과 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Variance split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Individual과 interaction 기여로 분해</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Importance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Search space 안의 예측 성능 변동 비율</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fANOVA 중요도는 탐색 범위의 예측 성능 variance 비율이며 인과 효과가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 7, Sec. V-B</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Hyperparameter 중요도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Learning rate가 가장 큰 variance를 설명했고 network size가 그다음이었다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239768"/>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조건부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항상 variance의 2/3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먼저 맞출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Hidden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번째로 중요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크면 좋아지나 수익 감소와 시간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 noise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TIMIT에만 중간 범위 도움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IAM·JSB에서는 대체로 해로움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Momentum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dataset에서 1% 미만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SGD 설정에서 중요도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Interactions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5-20% variance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TIMIT에서 higher-order 영향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Momentum의 낮은 중요도는 논문의 online SGD와 learning-rate scaling 조건에 묶인다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7-10, Figs. 4-6 and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Parameter가 approximately independent라는 뜻</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Pair interaction residual이 작고 뚜렷한 구조가 없었다는 실용적 관찰이다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239768"/>
                <a:gridCol w="3696208"/>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가능한 행동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말하면 안 되는 결론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큰 pair는 learning rate×size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rate를 작은 network에서 먼저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설정에서 완전 독립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Interaction map에 뚜렷한 구조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Parameter를 대략 순차 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Interaction이 정확히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interaction 5-20%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Dataset별 residual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effect만 보면 충분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IAM·JSB optimum이 범위 밖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Search range를 재검토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 범위가 최적을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Approximately independent는 탐색 절약 지침이며 수학적 독립성 증명이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7-10, Figs. 5-6 and footnote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논문에서 도출되는 조건부 tuning 순서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Search budget을 줄이려면 가장 큰 main effect부터 coarse-to-fine으로 확인한다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Small network</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빠르게 여러 learning rate를 시험</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Coarse search</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높은 값부터 10배씩 낮춰 basin 확인</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Choose rate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성능이 좋고 training이 빠른 상단 선택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Increase size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Diminishing return과 시간 비용 확인</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Task-specific</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Noise와 interaction을 dataset별 재검증</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순서는 논문의 sampled range와 online SGD에서 얻은 heuristic이다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7 and 10, Sec. V-B and Conclusion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증거의 적용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대규모 실험이어도 architecture, task, optimizer, search range 밖으로 자동 일반화되지 않는다</a:t>
            </a:r>
            <a:endParaRPr lang="en-US" sz="1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Architecture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Vanilla의 isolated change 8개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변화를 결합한 cell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음성·온라인 필기·polyphonic music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domain과 sequence 길이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BPTT와 online SGD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Adam류 modern recipe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Search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조합 200 trials, 지정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넓은 budget과 다른 prior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시대·compute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128 AMD Opteron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현대 accelerator와 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Forget gate 중요성은 이 ablation의 경험적 결과이며 모든 sequence model의 정리는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3-5 and 10, Evaluation Setup and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Odyssey에서 가져갈 네 가지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Cell 계산, 역사, 실험 설계, 통계 해석을 함께 기억해야 결론이 정확하다</a:t>
            </a:r>
            <a:endParaRPr lang="en-US" sz="1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81534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cₜ는 zₜiₜ와 cₜ₋₁fₜ의 합이고 yₜ는 h(cₜ)oₜ다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History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1997 original에는 forget gate와 peephole이 없다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 searches, 5,400 runs로 one-change variant 8개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Vanilla 개선 없음; NFG·NOAF는 세 task 모두 악화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결론은 세 task와 sampled search space에 조건부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가치는 winner 선정보다 구성요소와 tuning 직관을 통제 실험으로 검증한 데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arxiv-pdf pp. 1-10, synthesis of main results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출처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슬라이드의 논문 위치 표시는 공개 arXiv v2의 IEEE-layout 12쪽 판본을 기준으로 한다</a:t>
            </a:r>
            <a:endParaRPr lang="en-US" sz="1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239768"/>
                <a:gridCol w="66314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용도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arXiv:1503.04069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Version history와 공개 abstract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v2 PDF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수식, variant, 실험, Figure 3-6의 page locator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IEEE DOI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정식 journal publication 식별자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 기술 주장과 수치는 공개 원문 page locator로 확인할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version record; arxiv-pdf pp. 1-12; doi article record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LSTM: A Search Space Odyssey</dc:title>
  <dc:subject>LSTM: A Search Space Odyssey</dc:subject>
  <dc:creator>Research Seminars</dc:creator>
  <cp:lastModifiedBy>Research Seminars</cp:lastModifiedBy>
  <cp:revision>1</cp:revision>
  <dcterms:created xsi:type="dcterms:W3CDTF">2026-09-12T04:32:52Z</dcterms:created>
  <dcterms:modified xsi:type="dcterms:W3CDTF">2026-09-12T04:32:52Z</dcterms:modified>
</cp:coreProperties>
</file>
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defRPr>
            </a:lvl1pPr>
          </a:lstStyle>
          <a:p>
            <a:pPr indent="0" algn="r">
              <a:buNone/>
            </a:pPr>
            <a:fld id="{5E4D20EA-F90A-4416-85A9-AB616FDCA533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Noto Sans CJK KR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Calibration Data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 PTQ·Pruning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미치는 영향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논문은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post-training quantization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pruning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data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단순한 준비물이 아니라 압축 알고리즘의 입력이라는 점을 실증적으로 살핍니다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발표의 중심 질문은 같은 모델과 같은 압축 방법을 써도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text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바뀌면 결과가 달라질 수 있는가입니다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activation-dependent compression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구조를 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실험 격자와 결과를 읽은 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논문이 지지하는 실무 교훈과 지지하지 않는 과잉 해석을 구분합니다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Abstract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arxiv-v2 | v2, 2024-08-12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arXiv v2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https://arxiv.org/abs/2311.09755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F05020F1-C618-4D28-9DE8-152E0CEB77E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먼저 범위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calibration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training data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아니다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구분이 발표 전체의 출발점입니다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calibration text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모델을 통과해 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layer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 activation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만듭니다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보고 양자화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level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이나 남길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weight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고르지만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논문은 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정답으로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gradient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계산해 원래 모델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weight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학습시키지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압축 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zero-shot accuracy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WikiText perplexity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재기 위해 별도로 둡니다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zero-shot evaluation data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쓰지 않아 평가 무결성을 지키려 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pp. 2-3, Sections 2.1 and 3.3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76D4101-DA23-4E75-8553-1757CDA4292F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Calibration text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압축 선택에 들어가는 경로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논문은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layer 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weight W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compressed weight Wc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activation X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만드는 출력 차이를 작게 하려는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layer-wise reconstruction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문제를 출발점으로 둡니다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식을 말로 읽으면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 X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Wc X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제곱 차이를 작게 만드는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고르는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X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text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오므로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text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표본이 달라지면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proxy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우선순위가 달라질 수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여기서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원래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weight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압축해 만든 표현이고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supervised fine-tuning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모든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weight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다시 학습한 결과가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proxy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작다고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downstream accuracy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latency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자동으로 최적이라는 뜻도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2, Section 2.1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81AFDA10-4EF1-4012-B1A1-2786258D217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교육용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toy: activation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표본이 후보 순위를 바꾼다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예는 논문 실험값이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weight W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두 성분으로 두고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압축 후보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비교합니다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xA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output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정확히 재현하고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큰 오차를 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xB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에서는 반대입니다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논문은 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아니라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2,048-token example 128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개에서 얻은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쓰고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selection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GPTQ, SpQR, SparseGPT, Wanda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절차를 따릅니다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보이는 것은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sample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proxy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들어가는 구조뿐이며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corpus feature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성능 차이의 원인이라는 증명은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2, layer-wise compression objective; illustrative arithmetic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ECE351D7-6C0C-4B13-A0DB-57A28178831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compressor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읽는 방식은 다르다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GPTQ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SpQR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weight quantization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방법이고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SparseGPT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Wanda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pruning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방법입니다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GPTQ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SparseGPT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inverse-Hessian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정보를 사용합니다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Wanda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inverse Hessian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피하고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weight magnitude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 activation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l2 norm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결합한 기준으로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prune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논문은 양자화와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pruning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sensitivity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다를 수 있음을 관찰했지만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표만으로 어느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본질적으로 우월하거나 어떤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mechanism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분산의 원인이라고 증명하지는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pp. 2-3, Sections 2.1 and 3.1; p. 12, Table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3C039961-3E84-49F1-8C58-4409D62CD86C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연구는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선택을 큰 실험 격자로 바꿨다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저자들의 목표는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data robustness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보는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다섯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각 열 개의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만들고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compression method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아홉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LLM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적용해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1,800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compressed model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만들었습니다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zero-shot 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WikiText perplexity,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거치므로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19,800 model-evaluation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결과가 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independent training seed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개수가 아니라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명시된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source·set·method·model·metric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조합의 개수입니다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3, Section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2AEBEE53-884C-4B8E-B000-C36C672057CA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7. 50 calibration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생성 규칙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128 example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2,048 tokens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하나의 총량은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262,144 tokens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Sampling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without replacement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에서는 열 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서로 겹치지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Hugging Face Datasets version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사용했으며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RefinedWeb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 shard, RedPajama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existing 1B-token extract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sampling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본문과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appendix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seed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값이나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목록을 나열하지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software/platform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차이 때문에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만으로는 부족할 수 있다며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data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release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권고합니다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4, Sections 3.5-3.6; p. 8, footnote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0EF7DD2-4771-47CC-8EBC-771718852EF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8. Source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비교는 단일 속성의 조작 실험이 아니다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 web text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curated pretraining dataset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함께 보기 위해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C4, CNN/DM, RedPajama, RefinedWeb, English Wikipedia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골랐습니다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dataset 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바꾸면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genre, filtering, deduplication, date, length, pretraining overlap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가능성 등 여러 속성이 동시에 바뀝니다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그러므로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RefinedWeb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어떤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row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좋았다는 관찰을 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원인’ 또는 ‘뉴스는 나쁘다’로 바꿀 수 없습니다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source effect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이 논문에서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feature-level causal isolation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아니라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dataset-level comparison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pp. 3-4, Section 3.3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0E99686-7026-45EB-8D46-345AAC0EC206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나머지 조건도 함께 고정해 읽어야 한다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family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LLaMA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base model, Vicuna instruction-tuned model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포함합니다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Pruning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GPU acceleration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목표로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2:4 semi-structured sparsity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사용해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50% weight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제거합니다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GPTQ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SpQR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4-bit weight setting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 compression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NVIDIA A100 SXM 80GB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LM Evaluation Harness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실행됩니다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실행 환경은 재현 조건에는 중요하지만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논문이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A100 inference throughput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serving latency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비교했다는 뜻은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pp. 3-4, Sections 3.1-3.5; p. 12, Table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08F175E8-80D0-4BE7-A44C-774A6624A81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5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평가는 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mean accuracy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하나’가 아니라 두 종류의 지표다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 zero-shot 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commonsense reasoning, binary·multiple-choice·Cloze·Winograd-style question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포함합니다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accuracy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mean zero-shot accuracy,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그리고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WikiText test perplexity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함께 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Appendix 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따르면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RTE evaluation split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277 examples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다른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보다 작습니다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그래서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RTE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score range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sensitivity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evaluation sampling variability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분리해 조심스럽게 읽어야 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논문 자체도 이 점을 명시합니다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pp. 3-4, Section 3.2; p. 12, Table 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09D159F-5866-4A03-9CDC-A1540729D627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11.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1: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C4 source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안에서도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sample range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보였다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Figure 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뽑은 열 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대한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accuracy distribution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LLaMA family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별로 보입니다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LLaMA-7B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SparseGPT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RTE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52.7%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61.7%, BoolQ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66.4%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73.0%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범위였습니다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이것은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나쁘다는 결론이 아니라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동일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 sample variation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관찰해야 한다는 증거입니다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RTE split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작다는 앞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slide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주의를 계속 유지해야 하며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두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range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모든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대표값으로 말하면 안 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4; Fig. 2, p.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659E37C7-8F6F-4626-85EC-BBCA70C72F81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2: sensitivity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method·model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따라 달랐다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Figure 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설명하는 본문에서 저자들은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OPT-6.7B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range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GPTQ 1.6%, SpQR 0.9%, SparseGPT 2.4%, Wanda 2.4%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제시합니다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전체적으로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quantization methods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pruning methods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보다 낮은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dispersion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보이고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SparseGPT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높다고 관찰합니다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그러나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pruning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destructive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해서 그럴 수 있다는 설명은 저자들의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speculation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실험은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distribution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상호작용을 완전히 분해하는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causal ablation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아니므로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‘pruning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본질적으로 불안정하다’라고 말할 근거는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6; Fig. 4, p. 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CF5AE8FA-5869-47B6-8E1C-E3034A68775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13.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3: ‘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corpus’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하나는 나오지 않았다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Table 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본문은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SparseGPT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RefinedWeb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잘 보이는 경향을 보고하지만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universal winner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라고 결론 내리지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Wanda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prune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LLaMA-7B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RedPajama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52.7%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높고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RefinedWeb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52.2%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낮은 반례가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Quantization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평균 차이가 작으며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SpQR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대체로 약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0.2%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라고 설명합니다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발표에서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RefinedWeb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권장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corpus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라고 단정하거나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Wikipedia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일반적으로 나쁜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data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라고 부르면 원전의 조건부 결과를 과장하게 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5; Table 1, p. 6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5D18DFF7-52EE-4575-86DF-B6169600BCE5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4: PPL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안정성이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안정성은 아니다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prior work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robustness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보는 관행을 인정하지만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그 결과가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downstream task variation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가릴 수 있다고 설명합니다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Table 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Vicuna-7B SparseGPT CNN/DM row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12.72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표준편차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0.18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BoolQ accuracy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평균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66.7%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표준편차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4.7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57.0%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71.6% range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한 예가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무효화하는 것은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압축을 실제로 사용할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맞는 지표를 같이 확인해야 한다는 점을 보입니다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7; Table 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F8D22C8-31E6-4E78-8728-1D76A3F61A2B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15. Calibration example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compression cost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Figure 3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LLaMA-7B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C4 calibration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압축하면서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512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까지 바꿉니다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GPTQ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128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개로 갈 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6.13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5.90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으로 개선되고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SpQR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거의 일정합니다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SparseGPT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작은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수에서 매우 높은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PPL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큰 표준편차를 보이지만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128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개선됩니다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Mean zero-shot accuracy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대부분 빠르게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plateau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SparseGPT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128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네 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0.4%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더 올랐습니다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더 많은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example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compression computational cost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늘린다고 함께 적습니다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pp. 6-7; Fig. 3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1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A77D64CB-F620-419C-BB3F-BD8ED2C5518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16.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분산 읽기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10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평균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표준편차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·range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Table 1, 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Appendix 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각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뽑은 열 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mean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standard deviation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보고합니다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Figure 2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Figure 4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range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sample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들에서 나온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best–worst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관찰 범위입니다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이것은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sampling variation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드러내는 중요한 정보지만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independent training run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confidence interval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dataset feature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causal effect estimate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해석하면 안 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원전은 별도의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significance test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feature-level controlled ablation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제시하지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pp. 4-8; Tables 1-2 and Figs. 2-4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1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D4C706C5-1BA4-4857-8C12-21910FD3378E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17.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저자들의 세 가지 권고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release · vary · inspect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논문의 권고는 세 가지입니다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첫째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calibration data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release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randomness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줄이고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reproducibility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높입니다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Footnote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code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seed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주더라도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software/platform version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차이 때문에 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보장되지 않을 수 있다고 지적합니다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둘째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개발 중 여러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downstream performance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보며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sensitivity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살핍니다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셋째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작으므로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 sample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inspect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anomalous example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찾을 수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이는 권고를 따르면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accuracy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반드시 상승한다는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theorem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아니라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실험과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diagnosis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품질을 높이는 행동입니다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Version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기록은 이 권고를 재현 가능한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artifact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관리로 옮긴 실무적 확장입니다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8, Section 5 and footnote 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2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4EE1C4A0-58DD-46F4-8D00-21B9660C9E4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18.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이식 가능한 연구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실무 습관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논문의 가장 전이 가능한 교훈은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single best corpus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선택이 아니라 실험 설계입니다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Calibration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source, set ID, tokenizer, code version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함께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artifact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기록하고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좋은 숫자가 나왔다는 이유만으로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method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결론내리지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PPL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실제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intended 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함께 보고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bit width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sparsity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같은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compressor configuration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도 표시합니다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슬라이드는 논문이 직접 검증한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artifact schema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제안하는 것이 아니라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 권고와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observed variation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reproducible practice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옮긴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pp. 4-8, Sections 4-5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B9A0B14A-230B-42C1-B545-1F8BAFA45E63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논문이 아직 답하지 않는 것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논문의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limitation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모든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model, evaluation task, calibration data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English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라는 점입니다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저자들은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compression method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일반적으로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language-agnostic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하다고 가정하지만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linguistic diversity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중요성을 인정하고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diverse language family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future work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 둡니다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또한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바꾼 비교는 여러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property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함께 바꾸므로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content feature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하나의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causal mechanism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보여 주지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발표의 좋은 마무리는 이 논문이 넓은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empirical grid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제공했다는 장점과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universal generalization·causal explanation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남았다는 한계를 같이 보여 주는 것입니다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p. 9, Limitations; pp. 5-8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F1BD2CC-BB8D-4A6E-9140-DC45C11EA7AD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20.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마무리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calibration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압축 과정의 숨은 입력이다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발표 대본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결론은 간단합니다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Calibration data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작은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input 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이지만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activation-dependent compression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에서는 직접적인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algorithm input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 논문은 다양한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set, compressor, model, 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교차해 결과가 달라질 수 있음을 보여 줍니다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동시에 특정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source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항상 최고라는 결론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data feature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원인이라는 결론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language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로의 일반화는 제공하지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따라서 실제 압축 연구에서는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calibration artifact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protocol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을 기록하고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여러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intended downstream task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sensitivity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함께 확인하는 것이 가장 근거 있는 행동입니다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공개 출처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acl2024 | pp. 1, 8-9, Abstract, Conclusion, Limitations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ACL 2024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https://aclanthology.org/2024.acl-long.544/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arxiv-v2 | v2 record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 the Impact of Calibration Data in Post-training Quantization and Pruning, arXiv v2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https://arxiv.org/abs/2311.09755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fld id="{74D3A3CF-4DB4-40F4-86F7-F222B5DECFA0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Noto Sans CJK KR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pleGothic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15640" cy="685764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1" name="Text 1"/>
          <p:cNvSpPr/>
          <p:nvPr/>
        </p:nvSpPr>
        <p:spPr>
          <a:xfrm>
            <a:off x="888840" y="888840"/>
            <a:ext cx="8762760" cy="134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Calibration Data</a:t>
            </a:r>
            <a:r>
              <a:rPr lang="ko-KR" sz="40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가 </a:t>
            </a:r>
            <a:r>
              <a:rPr lang="en-US" sz="40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LLM PTQ·Pruning</a:t>
            </a:r>
            <a:r>
              <a:rPr lang="ko-KR" sz="40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에 미치는 영향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888840" y="2413080"/>
            <a:ext cx="9651600" cy="133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On the Impact of Calibration Data in Post-training Quantization and Pruning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888840" y="4076640"/>
            <a:ext cx="965196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4" name="Text 4"/>
          <p:cNvSpPr/>
          <p:nvPr/>
        </p:nvSpPr>
        <p:spPr>
          <a:xfrm>
            <a:off x="888840" y="4368960"/>
            <a:ext cx="9651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Miles Williams and Nikolaos Aletras (2024)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888840" y="5245200"/>
            <a:ext cx="965160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작은 </a:t>
            </a:r>
            <a:r>
              <a:rPr lang="en-US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unlabeled text set</a:t>
            </a:r>
            <a:r>
              <a:rPr lang="ko-KR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이 압축 </a:t>
            </a:r>
            <a:r>
              <a:rPr lang="en-US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weight </a:t>
            </a:r>
            <a:r>
              <a:rPr lang="ko-KR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선택과 </a:t>
            </a:r>
            <a:r>
              <a:rPr lang="en-US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downstream </a:t>
            </a:r>
            <a:r>
              <a:rPr lang="ko-KR" sz="175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성능에 왜 영향을 줄 수 있는가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7" name="Text 7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Abstract; arxiv-v2 v2, 2024-08-12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먼저 범위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: calibration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은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training data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아니다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이 논문은 이미 학습된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model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다시 학습시키지 않는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post-training compression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다룬다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2174040"/>
                <a:gridCol w="4348440"/>
                <a:gridCol w="434844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구분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calibration data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evaluation data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용도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layer activation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을 만들어 압축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weight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선택에 사용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압축 뒤 성능을 측정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라벨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작은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unlabeled text set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zero-shot task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정답과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WikiText test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weight update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학습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gradient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로 모델을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update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하지 않음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weight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update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하지 않음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논문의 보호 장치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zero-shot evaluation data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로 쓰지 않음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calibration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분리해 측정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3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은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retraining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용 정답 데이터가 아니라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압축 결정을 위한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activation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표본이다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5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pp. 2-3, Sections 2.1 and 3.3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text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압축 선택에 들어가는 경로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원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model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의 학습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weight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는 고정한 채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, calibration activation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에 맞는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compressed weight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를 고른다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mechanism-lane-pipeline"/>
          <p:cNvSpPr/>
          <p:nvPr/>
        </p:nvSpPr>
        <p:spPr>
          <a:xfrm>
            <a:off x="660240" y="2209680"/>
            <a:ext cx="863280" cy="31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PT </a:t>
            </a:r>
            <a:r>
              <a:rPr lang="ko-KR" sz="12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압축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mechanism-edge-e1-segment-1"/>
          <p:cNvSpPr/>
          <p:nvPr/>
        </p:nvSpPr>
        <p:spPr>
          <a:xfrm>
            <a:off x="3299400" y="37717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1" name="mechanism-edge-e2-segment-1"/>
          <p:cNvSpPr/>
          <p:nvPr/>
        </p:nvSpPr>
        <p:spPr>
          <a:xfrm>
            <a:off x="5341320" y="3771720"/>
            <a:ext cx="48276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2" name="mechanism-edge-e3-segment-1"/>
          <p:cNvSpPr/>
          <p:nvPr/>
        </p:nvSpPr>
        <p:spPr>
          <a:xfrm>
            <a:off x="7383600" y="3771720"/>
            <a:ext cx="48276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3" name="mechanism-edge-e4-segment-1"/>
          <p:cNvSpPr/>
          <p:nvPr/>
        </p:nvSpPr>
        <p:spPr>
          <a:xfrm>
            <a:off x="9425880" y="37717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34" name="mechanism-node-texts"/>
          <p:cNvSpPr/>
          <p:nvPr/>
        </p:nvSpPr>
        <p:spPr>
          <a:xfrm>
            <a:off x="1739880" y="3454560"/>
            <a:ext cx="1559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ko-KR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표본 </a:t>
            </a: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text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mechanism-node-texts-queue-1"/>
          <p:cNvSpPr/>
          <p:nvPr/>
        </p:nvSpPr>
        <p:spPr>
          <a:xfrm>
            <a:off x="1739880" y="3708360"/>
            <a:ext cx="1559160" cy="190080"/>
          </a:xfrm>
          <a:prstGeom prst="rect">
            <a:avLst/>
          </a:prstGeom>
          <a:solidFill>
            <a:srgbClr val="FFFFFF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unlabeled text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mechanism-node-texts-queue-2"/>
          <p:cNvSpPr/>
          <p:nvPr/>
        </p:nvSpPr>
        <p:spPr>
          <a:xfrm>
            <a:off x="1739880" y="3898800"/>
            <a:ext cx="1559160" cy="190080"/>
          </a:xfrm>
          <a:prstGeom prst="rect">
            <a:avLst/>
          </a:prstGeom>
          <a:solidFill>
            <a:srgbClr val="FFFFFF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128 examples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mechanism-node-activations"/>
          <p:cNvSpPr/>
          <p:nvPr/>
        </p:nvSpPr>
        <p:spPr>
          <a:xfrm>
            <a:off x="3782160" y="3441600"/>
            <a:ext cx="155916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activation X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각 </a:t>
            </a: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layer input</a:t>
            </a:r>
            <a:r>
              <a:rPr lang="ko-KR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기록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mechanism-node-proxy"/>
          <p:cNvSpPr/>
          <p:nvPr/>
        </p:nvSpPr>
        <p:spPr>
          <a:xfrm>
            <a:off x="5824080" y="3441600"/>
            <a:ext cx="155916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layer proxy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W X</a:t>
            </a:r>
            <a:r>
              <a:rPr lang="ko-KR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Wc X </a:t>
            </a:r>
            <a:r>
              <a:rPr lang="ko-KR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차이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mechanism-node-choice"/>
          <p:cNvSpPr/>
          <p:nvPr/>
        </p:nvSpPr>
        <p:spPr>
          <a:xfrm>
            <a:off x="7866360" y="3441600"/>
            <a:ext cx="155916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압축 선택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quantize </a:t>
            </a:r>
            <a:r>
              <a:rPr lang="ko-KR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또는 </a:t>
            </a: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prune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mechanism-node-model"/>
          <p:cNvSpPr/>
          <p:nvPr/>
        </p:nvSpPr>
        <p:spPr>
          <a:xfrm>
            <a:off x="9908640" y="3441600"/>
            <a:ext cx="155916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압축 </a:t>
            </a: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model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weight Wc</a:t>
            </a:r>
            <a:r>
              <a:rPr lang="ko-KR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로 저장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4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42" name="Text 15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X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바뀌면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layer proxy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바뀌고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압축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weight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선택도 달라질 수 있다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6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44" name="Text 17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2, Section 2.1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8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교육용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toy: activation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표본이 후보 순위를 바꾼다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보고된 실험 수치가 아닌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, layer proxy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의 역할을 검산하는 작은 예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2174040"/>
                <a:gridCol w="1956600"/>
                <a:gridCol w="2391480"/>
                <a:gridCol w="2391480"/>
                <a:gridCol w="195660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activation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 </a:t>
                      </a: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output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후보 </a:t>
                      </a: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C1=(1,0)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후보 </a:t>
                      </a: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C2=(0,1)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proxy </a:t>
                      </a: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선택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xA=(2,0)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 xA=2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오차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0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오차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4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C1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xB=(0,2)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 xB=2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오차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4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오차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0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C2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50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같은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W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 후보라도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X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방향이 달라지면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proxy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후보 순위가 뒤집힌다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52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2, layer-wise compression objective; illustrative arithmetic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같은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도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compressor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읽는 방식은 다르다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5" name="Table 0"/>
          <p:cNvGraphicFramePr/>
          <p:nvPr/>
        </p:nvGraphicFramePr>
        <p:xfrm>
          <a:off x="660240" y="1676520"/>
          <a:ext cx="10870920" cy="3720600"/>
        </p:xfrm>
        <a:graphic>
          <a:graphicData uri="http://schemas.openxmlformats.org/drawingml/2006/table">
            <a:tbl>
              <a:tblPr/>
              <a:tblGrid>
                <a:gridCol w="1956600"/>
                <a:gridCol w="2174040"/>
                <a:gridCol w="4022280"/>
                <a:gridCol w="271764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방법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종류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activation/Hessian</a:t>
                      </a: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역할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논문 </a:t>
                      </a: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setting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GPTQ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quantization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inverse-Hessian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정보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4-bit weight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SpQR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quantization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Hessian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outlier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처리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4-bit weight, high-precision outlier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SparseGPT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pruning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inverse-Hessian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으로 순차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prune·update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2:4 sparsity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Wanda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pruning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weight magnitude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input activation norm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2:4 sparsity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Shape 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57" name="Text 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sensitivity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data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만이 아니라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compressor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와의 결합된 성질이다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59" name="Text 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pp. 2-3, Sections 2.1 and 3.1; p. 12, Table 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연구는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선택을 큰 실험 격자로 바꿨다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source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random set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바꾸고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, compressor·model·evaluation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교차했다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"/>
          <p:cNvSpPr/>
          <p:nvPr/>
        </p:nvSpPr>
        <p:spPr>
          <a:xfrm>
            <a:off x="660240" y="210816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3"/>
          <p:cNvSpPr/>
          <p:nvPr/>
        </p:nvSpPr>
        <p:spPr>
          <a:xfrm>
            <a:off x="1397160" y="210816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5 source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"/>
          <p:cNvSpPr/>
          <p:nvPr/>
        </p:nvSpPr>
        <p:spPr>
          <a:xfrm>
            <a:off x="4152960" y="210816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서로 다른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text source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5"/>
          <p:cNvSpPr/>
          <p:nvPr/>
        </p:nvSpPr>
        <p:spPr>
          <a:xfrm>
            <a:off x="1396800" y="261108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67" name="Shape 6"/>
          <p:cNvSpPr/>
          <p:nvPr/>
        </p:nvSpPr>
        <p:spPr>
          <a:xfrm>
            <a:off x="851040" y="262368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68" name="Text 7"/>
          <p:cNvSpPr/>
          <p:nvPr/>
        </p:nvSpPr>
        <p:spPr>
          <a:xfrm>
            <a:off x="660240" y="280152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8"/>
          <p:cNvSpPr/>
          <p:nvPr/>
        </p:nvSpPr>
        <p:spPr>
          <a:xfrm>
            <a:off x="1397160" y="280152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10 set</a:t>
            </a:r>
            <a:r>
              <a:rPr lang="ko-KR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씩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9"/>
          <p:cNvSpPr/>
          <p:nvPr/>
        </p:nvSpPr>
        <p:spPr>
          <a:xfrm>
            <a:off x="4152960" y="280152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총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50 calibration set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0"/>
          <p:cNvSpPr/>
          <p:nvPr/>
        </p:nvSpPr>
        <p:spPr>
          <a:xfrm>
            <a:off x="1396800" y="330444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72" name="Shape 11"/>
          <p:cNvSpPr/>
          <p:nvPr/>
        </p:nvSpPr>
        <p:spPr>
          <a:xfrm>
            <a:off x="851040" y="331740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73" name="Text 12"/>
          <p:cNvSpPr/>
          <p:nvPr/>
        </p:nvSpPr>
        <p:spPr>
          <a:xfrm>
            <a:off x="660240" y="349488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3"/>
          <p:cNvSpPr/>
          <p:nvPr/>
        </p:nvSpPr>
        <p:spPr>
          <a:xfrm>
            <a:off x="1397160" y="349488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4 × 9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4"/>
          <p:cNvSpPr/>
          <p:nvPr/>
        </p:nvSpPr>
        <p:spPr>
          <a:xfrm>
            <a:off x="4152960" y="349488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compressor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LLM 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교차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5"/>
          <p:cNvSpPr/>
          <p:nvPr/>
        </p:nvSpPr>
        <p:spPr>
          <a:xfrm>
            <a:off x="1396800" y="399780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77" name="Shape 16"/>
          <p:cNvSpPr/>
          <p:nvPr/>
        </p:nvSpPr>
        <p:spPr>
          <a:xfrm>
            <a:off x="851040" y="401076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78" name="Text 17"/>
          <p:cNvSpPr/>
          <p:nvPr/>
        </p:nvSpPr>
        <p:spPr>
          <a:xfrm>
            <a:off x="660240" y="418860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8"/>
          <p:cNvSpPr/>
          <p:nvPr/>
        </p:nvSpPr>
        <p:spPr>
          <a:xfrm>
            <a:off x="1397160" y="418860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1,800 model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9"/>
          <p:cNvSpPr/>
          <p:nvPr/>
        </p:nvSpPr>
        <p:spPr>
          <a:xfrm>
            <a:off x="4152960" y="418860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압축된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model 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수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0"/>
          <p:cNvSpPr/>
          <p:nvPr/>
        </p:nvSpPr>
        <p:spPr>
          <a:xfrm>
            <a:off x="1396800" y="469116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82" name="Shape 21"/>
          <p:cNvSpPr/>
          <p:nvPr/>
        </p:nvSpPr>
        <p:spPr>
          <a:xfrm>
            <a:off x="851040" y="470412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83" name="Text 22"/>
          <p:cNvSpPr/>
          <p:nvPr/>
        </p:nvSpPr>
        <p:spPr>
          <a:xfrm>
            <a:off x="660240" y="4881960"/>
            <a:ext cx="57132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3"/>
          <p:cNvSpPr/>
          <p:nvPr/>
        </p:nvSpPr>
        <p:spPr>
          <a:xfrm>
            <a:off x="1397160" y="4881960"/>
            <a:ext cx="260316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11 evaluation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4"/>
          <p:cNvSpPr/>
          <p:nvPr/>
        </p:nvSpPr>
        <p:spPr>
          <a:xfrm>
            <a:off x="4152960" y="4881960"/>
            <a:ext cx="7378200" cy="48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19,800 measurements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5"/>
          <p:cNvSpPr/>
          <p:nvPr/>
        </p:nvSpPr>
        <p:spPr>
          <a:xfrm>
            <a:off x="1396800" y="538452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87" name="Shape 26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88" name="Text 27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5 × 10 × 4 × 9 = 1,800 compressed models,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그리고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1,800 × 11 = 19,800 evaluations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28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90" name="Text 29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3, Section 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30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50 calibration set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생성 규칙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각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source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에서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128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example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중복 없이 뽑고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, source 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안에서는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10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set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이 서로 겹치지 않게 했다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mechanism-lane-sampling"/>
          <p:cNvSpPr/>
          <p:nvPr/>
        </p:nvSpPr>
        <p:spPr>
          <a:xfrm>
            <a:off x="660240" y="2209680"/>
            <a:ext cx="863280" cy="312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sampling protocol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mechanism-edge-e1-segment-1"/>
          <p:cNvSpPr/>
          <p:nvPr/>
        </p:nvSpPr>
        <p:spPr>
          <a:xfrm>
            <a:off x="3809880" y="37717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96" name="mechanism-edge-e2-segment-1"/>
          <p:cNvSpPr/>
          <p:nvPr/>
        </p:nvSpPr>
        <p:spPr>
          <a:xfrm>
            <a:off x="6362640" y="37717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97" name="mechanism-edge-e3-segment-1"/>
          <p:cNvSpPr/>
          <p:nvPr/>
        </p:nvSpPr>
        <p:spPr>
          <a:xfrm>
            <a:off x="8915400" y="3771720"/>
            <a:ext cx="482400" cy="360"/>
          </a:xfrm>
          <a:prstGeom prst="line">
            <a:avLst/>
          </a:prstGeom>
          <a:ln w="12700">
            <a:solidFill>
              <a:srgbClr val="0D68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98" name="mechanism-node-source"/>
          <p:cNvSpPr/>
          <p:nvPr/>
        </p:nvSpPr>
        <p:spPr>
          <a:xfrm>
            <a:off x="1739880" y="3441600"/>
            <a:ext cx="206964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한 </a:t>
            </a: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source dataset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C4 </a:t>
            </a:r>
            <a:r>
              <a:rPr lang="ko-KR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등 </a:t>
            </a: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5</a:t>
            </a:r>
            <a:r>
              <a:rPr lang="ko-KR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개 </a:t>
            </a: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source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mechanism-node-sample"/>
          <p:cNvSpPr/>
          <p:nvPr/>
        </p:nvSpPr>
        <p:spPr>
          <a:xfrm>
            <a:off x="4292640" y="3454560"/>
            <a:ext cx="2069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random sample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mechanism-node-sample-queue-1"/>
          <p:cNvSpPr/>
          <p:nvPr/>
        </p:nvSpPr>
        <p:spPr>
          <a:xfrm>
            <a:off x="4292640" y="3708360"/>
            <a:ext cx="2069640" cy="190080"/>
          </a:xfrm>
          <a:prstGeom prst="rect">
            <a:avLst/>
          </a:prstGeom>
          <a:solidFill>
            <a:srgbClr val="FFFFFF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without replacement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mechanism-node-sample-queue-2"/>
          <p:cNvSpPr/>
          <p:nvPr/>
        </p:nvSpPr>
        <p:spPr>
          <a:xfrm>
            <a:off x="4292640" y="3898800"/>
            <a:ext cx="2069640" cy="190080"/>
          </a:xfrm>
          <a:prstGeom prst="rect">
            <a:avLst/>
          </a:prstGeom>
          <a:solidFill>
            <a:srgbClr val="FFFFFF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128 examples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mechanism-node-tokens"/>
          <p:cNvSpPr/>
          <p:nvPr/>
        </p:nvSpPr>
        <p:spPr>
          <a:xfrm>
            <a:off x="6845400" y="3441600"/>
            <a:ext cx="2069640" cy="659880"/>
          </a:xfrm>
          <a:prstGeom prst="roundRect">
            <a:avLst>
              <a:gd name="adj" fmla="val 16667"/>
            </a:avLst>
          </a:prstGeom>
          <a:solidFill>
            <a:srgbClr val="E8F1EE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fixed size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example</a:t>
            </a:r>
            <a:r>
              <a:rPr lang="ko-KR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당 </a:t>
            </a:r>
            <a:r>
              <a:rPr lang="en-US" sz="11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2,048 tokens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mechanism-node-sets"/>
          <p:cNvSpPr/>
          <p:nvPr/>
        </p:nvSpPr>
        <p:spPr>
          <a:xfrm>
            <a:off x="9398160" y="3454560"/>
            <a:ext cx="20696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10 distinct sets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mechanism-node-sets-queue-1"/>
          <p:cNvSpPr/>
          <p:nvPr/>
        </p:nvSpPr>
        <p:spPr>
          <a:xfrm>
            <a:off x="9398160" y="3708360"/>
            <a:ext cx="2069640" cy="190080"/>
          </a:xfrm>
          <a:prstGeom prst="rect">
            <a:avLst/>
          </a:prstGeom>
          <a:solidFill>
            <a:srgbClr val="FFFFFF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non-overlap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mechanism-node-sets-queue-2"/>
          <p:cNvSpPr/>
          <p:nvPr/>
        </p:nvSpPr>
        <p:spPr>
          <a:xfrm>
            <a:off x="9398160" y="3898800"/>
            <a:ext cx="2069640" cy="190080"/>
          </a:xfrm>
          <a:prstGeom prst="rect">
            <a:avLst/>
          </a:prstGeom>
          <a:solidFill>
            <a:srgbClr val="FFFFFF"/>
          </a:solidFill>
          <a:ln w="0">
            <a:solidFill>
              <a:srgbClr val="0D685C"/>
            </a:solidFill>
          </a:ln>
        </p:spPr>
        <p:style>
          <a:lnRef idx="0"/>
          <a:fillRef idx="0"/>
          <a:effectRef idx="0"/>
          <a:fontRef idx="minor"/>
        </p:style>
        <p:txBody>
          <a:bodyPr lIns="12600" tIns="12600" rIns="12600" bIns="126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262,144 tokens/set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4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07" name="Text 15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128 × 2,048 tokens/set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고정하고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random-sampling variation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을 따로 관찰했다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16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09" name="Text 17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4, Sections 3.5-3.6; p. 8, footnote 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8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Source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비교는 단일 속성의 조작 실험이 아니다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2" name="Table 0"/>
          <p:cNvGraphicFramePr/>
          <p:nvPr/>
        </p:nvGraphicFramePr>
        <p:xfrm>
          <a:off x="660240" y="1676520"/>
          <a:ext cx="10870920" cy="3720600"/>
        </p:xfrm>
        <a:graphic>
          <a:graphicData uri="http://schemas.openxmlformats.org/drawingml/2006/table">
            <a:tbl>
              <a:tblPr/>
              <a:tblGrid>
                <a:gridCol w="2391480"/>
                <a:gridCol w="4131000"/>
                <a:gridCol w="434844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논문이 설명한 성격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해석 시 남는 묶인 요인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C4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filtered Common Crawl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clean English web text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web text, filtering, length, content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함께 변함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CNN/DM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news article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기반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long-form text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news genre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만의 효과를 분리하지 않음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RedPajama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LLaMA pretraining data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open reproduction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pretraining similarity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직접 조작하지 않음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RefinedWeb·Wikipedia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curated web / cleaned encyclopedic text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curation·domain·time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등 다수 속성이 함께 변함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3" name="Shape 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14" name="Text 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source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비교는 유용하지만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단일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data feature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causal effect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를 식별하지는 않는다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16" name="Text 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pp. 3-4, Section 3.3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나머지 조건도 함께 고정해 읽어야 한다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9" name="Table 0"/>
          <p:cNvGraphicFramePr/>
          <p:nvPr/>
        </p:nvGraphicFramePr>
        <p:xfrm>
          <a:off x="660240" y="1676520"/>
          <a:ext cx="10870920" cy="3720600"/>
        </p:xfrm>
        <a:graphic>
          <a:graphicData uri="http://schemas.openxmlformats.org/drawingml/2006/table">
            <a:tbl>
              <a:tblPr/>
              <a:tblGrid>
                <a:gridCol w="2174040"/>
                <a:gridCol w="5217840"/>
                <a:gridCol w="347868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축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실제 조건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숫자를 읽을 때의 경계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LLM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LLaMA·Vicuna: 7B/13B/33B; OPT: 6.7B/13B/30B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9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English LLM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결과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pruning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GPU acceleration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을 위한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2:4 semi-structured, 50% sparsity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unstructured pruning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일반 결과가 아님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quantization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GPTQ·SpQR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4-bit weight setting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다른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bit width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 그대로 적용 불가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실행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single NVIDIA A100 SXM 80GB, LM Evaluation Harness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throughput/production latency benchmark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아님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0" name="Shape 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21" name="Text 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‘calibration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효과’는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model family, compressor setting, task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와 함께 붙여야 의미가 있다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23" name="Text 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pp. 3-4, Sections 3.1-3.5; p. 12, Table 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평가는 ‘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mean accuracy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하나’가 아니라 두 종류의 지표다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26" name="Table 0"/>
          <p:cNvGraphicFramePr/>
          <p:nvPr/>
        </p:nvGraphicFramePr>
        <p:xfrm>
          <a:off x="660240" y="1676520"/>
          <a:ext cx="10870920" cy="3720600"/>
        </p:xfrm>
        <a:graphic>
          <a:graphicData uri="http://schemas.openxmlformats.org/drawingml/2006/table">
            <a:tbl>
              <a:tblPr/>
              <a:tblGrid>
                <a:gridCol w="2717640"/>
                <a:gridCol w="4457160"/>
                <a:gridCol w="369612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지표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무엇을 재나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읽는 데 필요한 주의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10 zero-shot task accuracy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ARC-e/c, BoolQ, HellaSwag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등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task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별 정확도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평균은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task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별 큰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range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가릴 수 있음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mean zero-shot accuracy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10 task accuracy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평균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같은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10 set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 대해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mean·standard deviation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WikiText perplexity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language-model prediction quality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downstream task robustness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대용물이 아님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RTE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277-example evaluation split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작은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task set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range estimate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덜 안정적일 수 있음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7" name="Shape 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PPL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과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task accuracy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다른 지표다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하나가 안정적이어도 다른 하나는 아닐 수 있다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pp. 3-4, Section 3.2; p. 12, Table 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결과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1: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같은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C4 source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안에서도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sample range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보였다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LLaMA-7B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를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SparseGPT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prune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하고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, C4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에서 뽑은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10 calibration set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비교한 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configuration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4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2391480"/>
                <a:gridCol w="2826360"/>
                <a:gridCol w="2826360"/>
                <a:gridCol w="282636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task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가장 낮은 </a:t>
                      </a: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accuracy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가장 높은 </a:t>
                      </a: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accuracy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range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RTE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52.7%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61.7%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9.0%p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BoolQ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66.4%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73.0%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6.6%p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5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같은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source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라도 결과가 같지는 않다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range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한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model·method·task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조건의 관찰이다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4; Fig. 2, p. 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결과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2: sensitivity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method·model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에 따라 달랐다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50 calibration set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에서 본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OPT-6.7B mean zero-shot accuracy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best–worst range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2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3043800"/>
                <a:gridCol w="2174040"/>
                <a:gridCol w="565272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compression method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range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논문이 허용하는 해석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GPTQ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1.6%p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model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4-bit setting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에서의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range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SpQR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0.9%p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model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4-bit setting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에서의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range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SparseGPT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2.4%p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model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2:4 setting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에서의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range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Wanda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2.4%p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model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2:4 setting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에서의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range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3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44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pruning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쪽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range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대체로 컸지만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universal ranking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이나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causal proof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아니다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46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6; Fig. 4, p. 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12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결과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3: ‘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최고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corpus’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하나는 나오지 않았다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9" name="Table 0"/>
          <p:cNvGraphicFramePr/>
          <p:nvPr/>
        </p:nvGraphicFramePr>
        <p:xfrm>
          <a:off x="660240" y="1676520"/>
          <a:ext cx="10870920" cy="3720600"/>
        </p:xfrm>
        <a:graphic>
          <a:graphicData uri="http://schemas.openxmlformats.org/drawingml/2006/table">
            <a:tbl>
              <a:tblPr/>
              <a:tblGrid>
                <a:gridCol w="2391480"/>
                <a:gridCol w="4892040"/>
                <a:gridCol w="358740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관찰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원전의 예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정확한 결론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49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일부 경향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SparseGPT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RefinedWeb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9 model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중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8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개에서 최고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mean accuracy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configuration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별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pattern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49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반례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LLaMA-7B + Wanda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는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RedPajama 52.7%, RefinedWeb 52.2%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 winner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고정되지 않음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07496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작은 차이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SpQR source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차이는 보통 약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0.2%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간 우열이 불명확한 경우도 있음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0" name="Shape 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51" name="Text 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핵심 질문은 ‘최고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corpus’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아니라 내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configuration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set sensitivity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53" name="Text 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5; Table 1, p. 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결과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4: PPL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안정성이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task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안정성은 아니다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Vicuna-7B·SparseGPT·CNN/DM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10 calibration set 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비교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57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2391480"/>
                <a:gridCol w="2717640"/>
                <a:gridCol w="2500200"/>
                <a:gridCol w="326124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metric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mean ± SD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관찰 범위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해석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WikiText PPL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12.72 ± 0.18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표준편차가 작음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LM metric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만 보면 안정적으로 보일 수 있음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409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BoolQ accuracy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66.7% ± 4.7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57.0%–71.6%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downstream task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에서는 큰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variation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8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59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PPL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만으로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robustness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를 판단하지 말고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intended task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도 함께 본다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61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7; Table 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example 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수와 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compression cost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LLaMA-7B·C4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에서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1–512 example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을 비교한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quantity sweep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65" name="Table 0"/>
          <p:cNvGraphicFramePr/>
          <p:nvPr/>
        </p:nvGraphicFramePr>
        <p:xfrm>
          <a:off x="660240" y="2082960"/>
          <a:ext cx="10870920" cy="3314520"/>
        </p:xfrm>
        <a:graphic>
          <a:graphicData uri="http://schemas.openxmlformats.org/drawingml/2006/table">
            <a:tbl>
              <a:tblPr/>
              <a:tblGrid>
                <a:gridCol w="2608920"/>
                <a:gridCol w="4565880"/>
                <a:gridCol w="369612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관찰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원전의 수치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과잉 해석 방지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GPTQ PPL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 example 6.13 ± 0.05 → 128 examples 5.90 ± 0.03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source·model·setting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변화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SparseGPT PPL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 example 55.26 ± 10.82 → 128 examples 11.12 ± 0.26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작은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에서 특히 불안정할 수 있음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SparseGPT task accuracy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128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4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배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example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mean zero-shot +0.4%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example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증가에는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compression cost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도 듦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0452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SpQR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PPL 5.74 ± 0.01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로 거의 일정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method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별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plateau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다름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6" name="Shape 2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67" name="Text 3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128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은 공통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protocol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일 뿐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universal optimum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은 아니다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 sample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수와 비용은 조건별로 달랐다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4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69" name="Text 5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pp. 6-7; Fig. 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6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15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분산 읽기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: 10 set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평균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·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표준편차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·range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2" name="Table 0"/>
          <p:cNvGraphicFramePr/>
          <p:nvPr/>
        </p:nvGraphicFramePr>
        <p:xfrm>
          <a:off x="660240" y="1676520"/>
          <a:ext cx="10870920" cy="3720600"/>
        </p:xfrm>
        <a:graphic>
          <a:graphicData uri="http://schemas.openxmlformats.org/drawingml/2006/table">
            <a:tbl>
              <a:tblPr/>
              <a:tblGrid>
                <a:gridCol w="2826360"/>
                <a:gridCol w="4674600"/>
                <a:gridCol w="336996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표현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논문에서 뜻하는 것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뜻하지 않는 것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mean ± standard deviation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같은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10 calibration set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 대한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summary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training randomness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만의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error bar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best–worst range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선택한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calibration set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 따른 관찰 범위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모집단의 신뢰구간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 comparison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5 source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set summary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비교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 feature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하나의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causal estimate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task difference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task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별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dispersion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다름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모든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task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같은 안정성을 가짐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3" name="Shape 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uncertainty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sample variation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이지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statistical superiority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나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causal proof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아니다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76" name="Text 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pp. 4-8; Tables 1-2 and Figs. 2-4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저자들의 세 가지 권고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: release · vary · inspect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1"/>
          <p:cNvSpPr/>
          <p:nvPr/>
        </p:nvSpPr>
        <p:spPr>
          <a:xfrm>
            <a:off x="660240" y="1333440"/>
            <a:ext cx="108709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성능 보장 규칙이 아니라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reproducibility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와 </a:t>
            </a:r>
            <a:r>
              <a:rPr lang="en-US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diagnosis</a:t>
            </a:r>
            <a:r>
              <a:rPr lang="ko-KR" sz="1900" b="0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를 위한 실무 권고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660240" y="2108160"/>
            <a:ext cx="5713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1397160" y="2108160"/>
            <a:ext cx="260316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Release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4"/>
          <p:cNvSpPr/>
          <p:nvPr/>
        </p:nvSpPr>
        <p:spPr>
          <a:xfrm>
            <a:off x="4152960" y="2108160"/>
            <a:ext cx="73782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data 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자체를 공유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5"/>
          <p:cNvSpPr/>
          <p:nvPr/>
        </p:nvSpPr>
        <p:spPr>
          <a:xfrm>
            <a:off x="1396800" y="278424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851040" y="279720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85" name="Text 7"/>
          <p:cNvSpPr/>
          <p:nvPr/>
        </p:nvSpPr>
        <p:spPr>
          <a:xfrm>
            <a:off x="660240" y="2975040"/>
            <a:ext cx="5713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1397160" y="2975040"/>
            <a:ext cx="260316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Version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9"/>
          <p:cNvSpPr/>
          <p:nvPr/>
        </p:nvSpPr>
        <p:spPr>
          <a:xfrm>
            <a:off x="4152960" y="2975040"/>
            <a:ext cx="73782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source·sampling artifact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를 기록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0"/>
          <p:cNvSpPr/>
          <p:nvPr/>
        </p:nvSpPr>
        <p:spPr>
          <a:xfrm>
            <a:off x="1396800" y="365112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851040" y="366408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90" name="Text 12"/>
          <p:cNvSpPr/>
          <p:nvPr/>
        </p:nvSpPr>
        <p:spPr>
          <a:xfrm>
            <a:off x="660240" y="3841920"/>
            <a:ext cx="5713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1397160" y="3841920"/>
            <a:ext cx="260316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Vary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4"/>
          <p:cNvSpPr/>
          <p:nvPr/>
        </p:nvSpPr>
        <p:spPr>
          <a:xfrm>
            <a:off x="4152960" y="3841920"/>
            <a:ext cx="73782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여러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set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에서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task 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성능 확인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5"/>
          <p:cNvSpPr/>
          <p:nvPr/>
        </p:nvSpPr>
        <p:spPr>
          <a:xfrm>
            <a:off x="1396800" y="451800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94" name="Shape 16"/>
          <p:cNvSpPr/>
          <p:nvPr/>
        </p:nvSpPr>
        <p:spPr>
          <a:xfrm>
            <a:off x="851040" y="4530600"/>
            <a:ext cx="190080" cy="15192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95" name="Text 17"/>
          <p:cNvSpPr/>
          <p:nvPr/>
        </p:nvSpPr>
        <p:spPr>
          <a:xfrm>
            <a:off x="660240" y="4708440"/>
            <a:ext cx="57132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8"/>
          <p:cNvSpPr/>
          <p:nvPr/>
        </p:nvSpPr>
        <p:spPr>
          <a:xfrm>
            <a:off x="1397160" y="4708440"/>
            <a:ext cx="260316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0D685C"/>
                </a:solidFill>
                <a:effectLst/>
                <a:uFillTx/>
                <a:latin typeface="AppleGothic"/>
                <a:ea typeface="AppleGothic"/>
              </a:rPr>
              <a:t>Inspect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9"/>
          <p:cNvSpPr/>
          <p:nvPr/>
        </p:nvSpPr>
        <p:spPr>
          <a:xfrm>
            <a:off x="4152960" y="4708440"/>
            <a:ext cx="7378200" cy="66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작은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set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anomalous example </a:t>
            </a:r>
            <a:r>
              <a:rPr lang="ko-KR" sz="165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점검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0"/>
          <p:cNvSpPr/>
          <p:nvPr/>
        </p:nvSpPr>
        <p:spPr>
          <a:xfrm>
            <a:off x="1396800" y="5384520"/>
            <a:ext cx="1013472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199" name="Shape 2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00" name="Text 2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seed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만 공유하지 말고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artifact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를 보존하며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하나의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set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으로 결론내리지 않는다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02" name="Text 2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8, Section 5 and footnote 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2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17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이식 가능한 연구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·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실무 습관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05" name="Table 0"/>
          <p:cNvGraphicFramePr/>
          <p:nvPr/>
        </p:nvGraphicFramePr>
        <p:xfrm>
          <a:off x="660240" y="1676520"/>
          <a:ext cx="10870920" cy="3720600"/>
        </p:xfrm>
        <a:graphic>
          <a:graphicData uri="http://schemas.openxmlformats.org/drawingml/2006/table">
            <a:tbl>
              <a:tblPr/>
              <a:tblGrid>
                <a:gridCol w="2608920"/>
                <a:gridCol w="4131000"/>
                <a:gridCol w="413100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습관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논문이 주는 근거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안전한 적용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artifact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관리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sample variation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결과를 바꿀 수 있음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source, set ID, tokenizer, software version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기록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multi-set stress test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source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당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10 non-overlap set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을 사용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목표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model·method·task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repeat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metric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분리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PPL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BoolQ variation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엇갈린 예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PPL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intended task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를 함께 측정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조건 표기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model·method·source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별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pattern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다름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bit width·sparsity·hardware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도 함께 표기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6" name="Shape 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data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metadata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아니라 압축 실험의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versioned input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pp. 4-8, Sections 4-5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18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논문이 아직 답하지 않는 것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2" name="Table 0"/>
          <p:cNvGraphicFramePr/>
          <p:nvPr/>
        </p:nvGraphicFramePr>
        <p:xfrm>
          <a:off x="660240" y="1676520"/>
          <a:ext cx="10870920" cy="3720600"/>
        </p:xfrm>
        <a:graphic>
          <a:graphicData uri="http://schemas.openxmlformats.org/drawingml/2006/table">
            <a:tbl>
              <a:tblPr/>
              <a:tblGrid>
                <a:gridCol w="5435280"/>
                <a:gridCol w="5435280"/>
              </a:tblGrid>
              <a:tr h="4950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원전이 지지하는 결론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600" b="1" u="none" strike="noStrike">
                          <a:solidFill>
                            <a:srgbClr val="0D685C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원전만으로는 말할 수 없는 결론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240">
                      <a:solidFill>
                        <a:srgbClr val="0D685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명시된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English model·data·task·method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조건에서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calibration choice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 따른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variation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모든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LLM·language·compressor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에 대한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universal law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dataset-level source comparison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뉴스성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·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길이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·curation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하나의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causal effect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PPL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과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downstream task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엇갈릴 수 있는 예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PPL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이 쓸모없거나 항상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misleading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함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6400"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release/vary/inspect 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권고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0440" tIns="54720" rIns="100440" bIns="54720" anchor="t">
                      <a:noAutofit/>
                    </a:bodyPr>
                    <a:p>
                      <a:pPr defTabSz="914400">
                        <a:lnSpc>
                          <a:spcPct val="120000"/>
                        </a:lnSpc>
                        <a:tabLst>
                          <a:tab pos="0" algn="l"/>
                        </a:tabLst>
                      </a:pP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권고를 따르면 </a:t>
                      </a:r>
                      <a:r>
                        <a:rPr lang="en-US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accuracy</a:t>
                      </a:r>
                      <a:r>
                        <a:rPr lang="ko-KR" sz="1550" b="0" u="none" strike="noStrike">
                          <a:solidFill>
                            <a:srgbClr val="173C37"/>
                          </a:solidFill>
                          <a:effectLst/>
                          <a:uFillTx/>
                          <a:latin typeface="AppleGothic"/>
                          <a:ea typeface="AppleGothic"/>
                        </a:rPr>
                        <a:t>가 반드시 상승함</a:t>
                      </a:r>
                      <a:endParaRPr lang="en-US" sz="15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100440" marR="100440" marT="54720" marB="54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480">
                      <a:solidFill>
                        <a:srgbClr val="C9D8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3" name="Shape 1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결론은 조건부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sensitivity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 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원인과 보편성은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controlled study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더 필요하다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3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p. 9, Limitations; pp. 5-8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5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19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ext 0"/>
          <p:cNvSpPr/>
          <p:nvPr/>
        </p:nvSpPr>
        <p:spPr>
          <a:xfrm>
            <a:off x="660240" y="469800"/>
            <a:ext cx="10870920" cy="85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마무리</a:t>
            </a:r>
            <a:r>
              <a:rPr lang="en-US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: calibration</a:t>
            </a:r>
            <a:r>
              <a:rPr lang="ko-KR" sz="310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은 압축 과정의 숨은 입력이다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838080" y="1739880"/>
            <a:ext cx="1069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4160" indent="-254160" defTabSz="914400">
              <a:lnSpc>
                <a:spcPct val="125000"/>
              </a:lnSpc>
              <a:buClr>
                <a:srgbClr val="173C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text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activation X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를 만들고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X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는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layer-wise quantization·pruning 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선택에 들어간다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"/>
          <p:cNvSpPr/>
          <p:nvPr/>
        </p:nvSpPr>
        <p:spPr>
          <a:xfrm>
            <a:off x="838080" y="2476440"/>
            <a:ext cx="1069344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838080" y="2514600"/>
            <a:ext cx="1069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4160" indent="-254160" defTabSz="914400">
              <a:lnSpc>
                <a:spcPct val="125000"/>
              </a:lnSpc>
              <a:buClr>
                <a:srgbClr val="173C37"/>
              </a:buClr>
              <a:buFont typeface="Symbol" charset="2"/>
              <a:buChar char=""/>
            </a:pP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같은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source 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안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random set, source, model, compressor, task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에 따라 결과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pattern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이 달랐다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Shape 4"/>
          <p:cNvSpPr/>
          <p:nvPr/>
        </p:nvSpPr>
        <p:spPr>
          <a:xfrm>
            <a:off x="838080" y="3251160"/>
            <a:ext cx="1069344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23" name="Text 5"/>
          <p:cNvSpPr/>
          <p:nvPr/>
        </p:nvSpPr>
        <p:spPr>
          <a:xfrm>
            <a:off x="838080" y="3289320"/>
            <a:ext cx="1069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4160" indent="-254160" defTabSz="914400">
              <a:lnSpc>
                <a:spcPct val="125000"/>
              </a:lnSpc>
              <a:buClr>
                <a:srgbClr val="173C37"/>
              </a:buClr>
              <a:buFont typeface="Symbol" charset="2"/>
              <a:buChar char=""/>
            </a:pP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PPL 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하나로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downstream robustness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를 대체하지 말고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, mean·range·task 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조건을 함께 읽어야 한다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6"/>
          <p:cNvSpPr/>
          <p:nvPr/>
        </p:nvSpPr>
        <p:spPr>
          <a:xfrm>
            <a:off x="838080" y="4025880"/>
            <a:ext cx="1069344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25" name="Text 7"/>
          <p:cNvSpPr/>
          <p:nvPr/>
        </p:nvSpPr>
        <p:spPr>
          <a:xfrm>
            <a:off x="838080" y="4064040"/>
            <a:ext cx="106930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marL="254160" indent="-254160" defTabSz="914400">
              <a:lnSpc>
                <a:spcPct val="125000"/>
              </a:lnSpc>
              <a:buClr>
                <a:srgbClr val="173C37"/>
              </a:buClr>
              <a:buFont typeface="Symbol" charset="2"/>
              <a:buChar char=""/>
            </a:pP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실무의 안전한 행동은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artifact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를 기록하고 여러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set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에서 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intended task</a:t>
            </a:r>
            <a:r>
              <a:rPr lang="ko-KR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를 확인하는 것이다</a:t>
            </a:r>
            <a:r>
              <a:rPr lang="en-US" sz="2000" b="0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8"/>
          <p:cNvSpPr/>
          <p:nvPr/>
        </p:nvSpPr>
        <p:spPr>
          <a:xfrm>
            <a:off x="660240" y="5562360"/>
            <a:ext cx="10871280" cy="360"/>
          </a:xfrm>
          <a:prstGeom prst="line">
            <a:avLst/>
          </a:prstGeom>
          <a:ln w="12700">
            <a:solidFill>
              <a:srgbClr val="0D68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27" name="Text 9"/>
          <p:cNvSpPr/>
          <p:nvPr/>
        </p:nvSpPr>
        <p:spPr>
          <a:xfrm>
            <a:off x="660240" y="5727600"/>
            <a:ext cx="10870920" cy="49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핵심은 ‘최고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corpus’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가 아니라 내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compression configuration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의 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calibration sensitivity</a:t>
            </a:r>
            <a:r>
              <a:rPr lang="ko-KR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다</a:t>
            </a:r>
            <a:r>
              <a:rPr lang="en-US" sz="1750" b="1" u="none" strike="noStrike">
                <a:solidFill>
                  <a:srgbClr val="173C37"/>
                </a:solidFill>
                <a:effectLst/>
                <a:uFillTx/>
                <a:latin typeface="AppleGothic"/>
                <a:ea typeface="AppleGothic"/>
              </a:rPr>
              <a:t>.</a:t>
            </a:r>
            <a:endParaRPr lang="en-US" sz="1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10"/>
          <p:cNvSpPr/>
          <p:nvPr/>
        </p:nvSpPr>
        <p:spPr>
          <a:xfrm>
            <a:off x="660240" y="6311880"/>
            <a:ext cx="10871280" cy="360"/>
          </a:xfrm>
          <a:prstGeom prst="line">
            <a:avLst/>
          </a:prstGeom>
          <a:ln w="12700">
            <a:solidFill>
              <a:srgbClr val="C9D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pPr/>
            <a:endParaRPr lang="en-US" sz="1800" b="0" u="none" strike="noStrike">
              <a:solidFill>
                <a:schemeClr val="dk1"/>
              </a:solidFill>
              <a:effectLst/>
              <a:uFillTx/>
              <a:latin typeface="AppleGothic"/>
            </a:endParaRPr>
          </a:p>
        </p:txBody>
      </p:sp>
      <p:sp>
        <p:nvSpPr>
          <p:cNvPr id="229" name="Text 11"/>
          <p:cNvSpPr/>
          <p:nvPr/>
        </p:nvSpPr>
        <p:spPr>
          <a:xfrm>
            <a:off x="660240" y="6413400"/>
            <a:ext cx="9981720" cy="27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25000"/>
              </a:lnSpc>
              <a:tabLst>
                <a:tab pos="0" algn="l"/>
              </a:tabLst>
            </a:pPr>
            <a:r>
              <a:rPr lang="ko-KR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근거 </a:t>
            </a:r>
            <a:r>
              <a:rPr lang="en-US" sz="1050" b="0" u="none" strike="noStrike">
                <a:solidFill>
                  <a:srgbClr val="5E6D69"/>
                </a:solidFill>
                <a:effectLst/>
                <a:uFillTx/>
                <a:latin typeface="AppleGothic"/>
                <a:ea typeface="AppleGothic"/>
              </a:rPr>
              <a:t>acl2024 pp. 1, 8-9, Abstract, Conclusion, Limitations; arxiv-v2 v2 record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2"/>
          <p:cNvSpPr/>
          <p:nvPr/>
        </p:nvSpPr>
        <p:spPr>
          <a:xfrm>
            <a:off x="11112480" y="6400800"/>
            <a:ext cx="431280" cy="25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D685C"/>
                </a:solidFill>
                <a:effectLst/>
                <a:uFillTx/>
                <a:latin typeface="Arial"/>
                <a:ea typeface="Arial"/>
              </a:rPr>
              <a:t>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2026-09-12T05:39:33Z</dcterms:created>
  <dc:creator>Research Seminars</dc:creator>
  <dc:description/>
  <dc:language>ko-KR</dc:language>
  <cp:lastModifiedBy>Research Seminars</cp:lastModifiedBy>
  <dcterms:modified xsi:type="dcterms:W3CDTF">2026-09-12T05:39:33Z</dcterms:modified>
  <cp:revision>1</cp:revision>
  <dc:subject>On the Impact of Calibration Data in Post-training Quantization and Pruning</dc:subject>
  <dc:title>Calibration Data가 LLM PTQ·Pruning에 미치는 영향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20</vt:r8>
  </property>
  <property fmtid="{D5CDD505-2E9C-101B-9397-08002B2CF9AE}" pid="3" name="PresentationFormat">
    <vt:lpwstr>On-screen Show (16:9)</vt:lpwstr>
  </property>
  <property fmtid="{D5CDD505-2E9C-101B-9397-08002B2CF9AE}" pid="4" name="Slides">
    <vt:r8>20</vt:r8>
  </property>
</Properties>
</file>
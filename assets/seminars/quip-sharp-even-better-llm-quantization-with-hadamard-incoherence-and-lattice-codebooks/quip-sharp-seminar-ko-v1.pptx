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QuIP#: Hadamard 변환과 lattice codebook을 이용한 LLM 양자화
발표 대본
QuIP#는 이미 학습된 LLM의 weight를 4 bits 이하로 압축하는 weight-only post-training quantization 방법입니다. 앞선 QuIP의 incoherence와 adaptive rounding을 출발점으로 삼되, Randomized Hadamard Transform, BlockLDLQ와 E8 기반 vector codebook, 선택적 fine-tuning을 추가합니다. 발표에서는 변환이 원래 linear layer 계산과 어떻게 대응되는지, 8개 weight가 하나의 16-bit index가 되는 방식, NoFT와 FT 결과의 차이, 그리고 theorem과 실험이 각각 무엇을 보장하는지 설명합니다.
공개 출처
quipsharp-paper | pp. 1–2, Abstract and Fig. 2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QuIP#의 범위와 두 결과 경로
발표 대본
논문은 QuIP#를 weight-only PTQ로 분류합니다. NoFT는 transform과 block quantization으로 끝납니다. FT는 quantized weight matrix를 고정한 채 sign vector, layer normalization, language-model head 같은 선택 parameter를 development data로 최적화합니다. 그러므로 모든 QuIP# 수치를 training-free라고 묶을 수 없습니다. Activation precision은 weight-code bit rate와 별도이며, Algorithm 1과 2는 activation precision을 일반적인 16-bit 경로로 명시하지 않습니다.
공개 출처
quipsharp-paper | pp. 1–3 and pp. 7–8, Algorithms 1 and 5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앞선 QuIP에서 이어받은 세 가지 기반
발표 대본
QuIP#는 처음부터 새로운 목적 함수를 만드는 방법이 아닙니다. QuIP의 layer-local reconstruction proxy, incoherence processing, LDLQ feedback을 배경으로 사용합니다. QuIP#의 변화는 coordinate transform을 RHT로 바꾸고, scalar rounding을 block vector quantization으로 확장하며, E8 기반 codebook과 optional fine-tuning을 결합한 데 있습니다. 두 논문의 기여를 섞지 않기 위해 QuIP의 RHT나 E8P라고 부르지 않습니다.
공개 출처
quipsharp-paper | pp. 2–4, Sections 2–3
QuIP# ICML 2024 paper and supplementary material
https://proceedings.mlr.press/v235/tseng24a.html
quip-paper | method overview
QuIP: 2-Bit Quantization of Large Language Models With Guarantees
https://openreview.net/forum?id=xrk9g5vcXR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QuIP#가 추가한 세 단계
발표 대본
전체 pipeline을 네 단계로 먼저 봅니다. RHT는 weight와 Hessian의 coordinate를 바꿉니다. BlockLDLQ는 g개 coordinate를 동시에 quantize하면서 먼저 정한 block의 error를 뒤 block에 feed forward합니다. E8P는 8차원 2-bit-per-scalar codebook이고 RVQ는 이를 3-bit와 4-bit로 확장합니다. 마지막 fine-tuning은 선택 사항이며 NoFT와 별도로 평가됩니다.
공개 출처
quipsharp-paper | pp. 1–2, contribution list and Fig. 2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한 layer의 quantization 목표
발표 대본
식 (1)과 (2)는 quantized linear layer의 출력이 원래 layer 출력과 얼마나 다른지를 calibration input에서 측정합니다. H는 입력 outer product의 평균으로 민감한 방향을 반영합니다. 이 proxy 덕분에 LLM 전체 task loss를 직접 최적화하지 않고도 layer별 quantization을 수행할 수 있습니다. 다만 layer proxy가 작다는 theorem은 여러 transformer block을 지난 최종 perplexity나 zero-shot accuracy의 보장과 다릅니다.
공개 출처
quipsharp-paper | pp. 2–3, eqs. 1–2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교육용 4차원 RHT 계산
발표 대본
이 계산은 논문의 LLM 결과가 아니라 RHT의 작동을 보여 주는 교육용 4차원 예시입니다. x에 random sign을 적용하면 (3, −1, 0, 0)이 됩니다. 표시한 Hadamard matrix를 곱하고 2로 나누면 (1, 2, 1, 2)가 됩니다. 제곱 norm은 변환 전 10, 변환 후에도 10입니다. 한 coordinate에 더 집중된 값을 여러 coordinate로 분산하지만 완전히 같은 크기로 만든다는 뜻은 아닙니다. 실제 QuIP#는 weight와 Hessian의 양쪽 coordinate에 맞는 scaled Hadamard transform을 사용합니다.
공개 출처
quipsharp-paper | pp. 3–5, Algorithm 3; values are a constructed example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RHT와 추론의 대응 관계
발표 대본
Algorithm 1의 NoFT 경로는 W와 H를 RHT basis로 옮긴 뒤 transformed W를 quantize하고 binary sign vector S_U, S_V를 함께 저장합니다. Algorithm 2의 순서는 Had(S_V 곱하기 x), decoded transformed-weight multiply, Had(S_U 곱하기 y)입니다. NoFT에서 quantization error가 없다면 이 orthogonal basis relation이 원래 linear map을 보존합니다. 그러나 Section 5의 fine-tuning은 S_U와 S_V를 real-valued vector로 최적화하므로, FT 뒤의 transform을 같은 의미의 strict orthogonal model-preserving RHT라고 부르면 안 됩니다.
공개 출처
quipsharp-paper | p. 2, Algorithms 1–2; pp. 3–5, Algorithm 3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Lemma 3.1의 보장 범위
발표 대본
Lemma 3.1은 H가 positive semidefinite이고 W가 주어졌을 때 random sign과 orthogonal scaled Hadamard를 적용하면 변환된 H와 W가 high probability로 incoherent해진다고 말합니다. Bound는 dimension과 failure probability delta를 포함합니다. 필요한 Hadamard factor를 구하기 어려운 차원에서는 논문이 RFFT fallback을 제시합니다. 이 lemma는 transform cost나 final language-model perplexity를 직접 보장하지 않습니다.
공개 출처
quipsharp-paper | pp. 3–5 and p. 15, Lemma 3.1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Table 1: RHT와 RFFT 비교
발표 대본
Table 1은 fine-tuning 없는 2-bit QuIP#에서 RHT와 RFFT만 비교합니다. 세 Llama 2 model 모두 RHT perplexity가 조금 낮습니다. 논문은 RFFT가 비슷한 theory와 runtime을 제공하고, 적절한 Hadamard factorization이나 빠른 implementation이 없을 때 사용할 수 있다고 설명합니다. 이 수치로 모든 model과 hardware에서 RHT가 더 빠르거나 더 정확하다고 일반화하지 않습니다.
공개 출처
quipsharp-paper | p. 5, Table 1 and Section 3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Scalar quantization과 vector quantization의 표현 단위
발표 대본
RHT-transformed weight는 논문의 설명에서 대략 ball-shaped Gaussian distribution을 이룹니다. Scalar quantization은 각 coordinate에 독립적인 level을 적용하므로 전체 codeword 배치는 hypercube 형태가 됩니다. Vector quantization은 g-dimensional vector를 한 codeword로 선택해 source distribution의 모양을 반영할 수 있습니다. 하지만 일반 codebook는 size가 2의 k 곱하기 g 제곱으로 늘어나므로 저장과 lookup 문제가 생깁니다.
공개 출처
quipsharp-paper | pp. 3 and 5–6, Sections 2.4 and 4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Vector quantization의 code rate
발표 대본
Generic vector quantization의 rate를 정리합니다. g-dimensional block을 k bits per scalar로 표현하면 한 block에 k 곱하기 g bits를 쓰고 conceptual codebook에는 2의 k 곱하기 g 제곱 개 codeword가 필요합니다. E8P에서는 g가 8, k가 2이므로 16-bit index가 8개 weight를 가리킵니다. 이 계산은 code index rate이며 sign vector나 scale, shared codebook 같은 overhead를 포함한 전체 model footprint와 다릅니다.
공개 출처
quipsharp-paper | p. 3, Section 2.4; pp. 5–6, Section 4.2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교육용 2차원 VQ 예시
발표 대본
이 수치는 독립적으로 계산한 교육용 toy입니다. Scalar codebook {0,1}을 두 축에 독립적으로 적용하면 0.49는 모두 0이 되고 squared error는 0.4802입니다. 임의로 만든 2D codebook에 (0.50, 0.50)이 있으면 그것을 골라 error가 0.0002가 됩니다. 두 codebook의 크기와 rate가 동등한 benchmark가 아니며 실제 E8P도 아닙니다. 목적은 여러 coordinate를 함께 고를 때 분포에 맞는 codeword를 둘 수 있음을 시각화하는 것입니다.
공개 출처
quipsharp-paper | pp. 3 and 5–6, VQ motivation; constructed example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BlockLDLQ의 앞방향 error feedback
발표 대본
BlockLDLQ는 scalar LDLQ의 adaptive feedback을 g-coordinate block으로 확장합니다. 첫 block을 vector quantizer로 codeword에 고정하면 original과 quantized block 사이 residual이 생깁니다. Hessian의 block LDL decomposition에서 얻은 feedback coefficient를 사용해 이 residual을 뒤 block의 아직 quantize하지 않은 값에 반영합니다. 그 다음 adjusted block을 quantize합니다. 피드백은 이전 block에서 이후 block으로만 진행하며 이미 고른 code를 다시 최적화하는 iterative refinement가 아닙니다.
공개 출처
quipsharp-paper | pp. 5–6, Section 4.1 and eq. 3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Theorem 4.1의 조건과 결론
발표 대본
Theorem 4.1의 기호를 화면에 정의했습니다. W는 m by n weight matrix이고 g는 n을 나누는 block size입니다. H는 mu-incoherent해야 하며 vector quantizer의 error covariance가 sigma squared identity 이하라는 조건이 필요합니다. 결론은 quantized W의 Hessian-weighted layer proxy에 대한 expectation bound입니다. 원문은 같은 조건에서 block을 독립적으로 quantize한 bound와 비교합니다. 이 식으로 final LLM perplexity나 zero-shot accuracy의 우위를 증명할 수는 없습니다.
공개 출처
quipsharp-paper | p. 5, Theorem 4.1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E8P의 실제 표현 단위
발표 대본
E8P는 E8 Padded의 약자이며 8-dimensional 2-bit vector codebook입니다. 8개 scalar에 16-bit index 하나를 쓰므로 index rate가 2 bits per scalar입니다. Conceptually 65,536 codeword를 갖지만 E8 lattice의 sign symmetry와 shift 구조를 이용해 256 곱하기 8 source table과 간단한 operation으로 decode합니다. 논문은 그 representation이 1 KiB라고 보고합니다. 이 1 KiB는 전체 quantized model size가 아니라 shared codebook representation입니다.
공개 출처
quipsharp-paper | pp. 5–7, Section 4.2; pp. 16–18, Appendix C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16-bit E8P index의 구조적 decode
발표 대본
16 bits의 분해를 정확히 읽겠습니다. 첫 8 bits는 source codebook S에서 pattern s를 고릅니다. 다음 7 bits는 sign flip을 지정하고, 여덟째 sign은 그 7개 flip과 선택된 s가 요구하는 parity를 함께 사용해 추론합니다. 마지막 1 bit는 D̂8−1/4 또는 D̂8+1/4 branch를 선택하며, 두 branch의 union이 E8+1/4입니다. 합계는 8+7+1인 16 bits이고 parity sign은 별도 저장 bit가 아닙니다. 이 구조가 65,536 곱하기 8 FP16 table을 직접 저장하는 방식과 다릅니다.
공개 출처
quipsharp-paper | pp. 6–7, Section 4.2; pp. 16–18, Appendix C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교육용 toy와 E8P를 구분하는 기준
발표 대본
앞의 2D toy는 vector quantization의 선택 단위만 보여 줍니다. Dimension도 2이고 codebook size와 rate를 scalar baseline에 맞추지 않았습니다. Generic VQ는 g-dimensional block과 2의 k g 제곱 codeword라는 일반 규칙입니다. Source-defined E8P는 8D lattice-derived structure, 16-bit group index, compact decode를 함께 가집니다. 따라서 toy의 0.0002 error를 E8P의 error나 LLM result로 인용하지 않습니다.
공개 출처
quipsharp-paper | pp. 3 and 5–7, Sections 2.4 and 4.2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Residual VQ로 3-bit와 4-bit를 구성한다
발표 대본
Section 4.3의 exact composition입니다. 3-bit path는 먼저 2-bit E8P codeword를 고르고, 남은 residual을 1-bit E8 codebook으로 quantize해 두 codeword를 더합니다. 4-bit path는 residual에 두 번째 2-bit E8P를 적용합니다. 따라서 4-bit는 2-bit operation 하나가 아니라 두 개의 sequential code stage입니다. 각 stage는 논문이 정한 별도 scale을 사용하며, 일반적인 모든 residual codebook이 같은 결과를 낸다는 주장은 아닙니다.
공개 출처
quipsharp-paper | p. 7, Section 4.3; p. 24, Appendix F.5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QuIP#-NoFT pipeline
발표 대본
Algorithm 1의 NoFT 경로를 입력부터 inference-ready output까지 연결했습니다. IP-RHT는 transformed W와 H, sign vector를 만듭니다. BlockLDLQ가 chosen codebook으로 W를 quantize합니다. Output에는 quantized code와 S_U, S_V가 남습니다. 이후 Algorithm 2가 activation에 matched transforms를 적용해 linear layer를 계산합니다. NoFT도 Hessian 생성을 위한 calibration data와 quantization compute가 필요하므로 data-free라고 부르지 않습니다.
공개 출처
quipsharp-paper | p. 2, Algorithms 1–2; pp. 3–7, Sections 3–4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20. Layer proxy 뒤에 fine-tuning을 두는 이유
발표 대본
Layer-local proxy는 quantization을 tractable하게 만들지만 transformer stack에서 error가 상호작용할 수 있습니다. Algorithm 5는 먼저 각 transformer block에서 activation MSE를 줄이고, 모든 linear layer를 quantize한 뒤 model logits를 원래 model logits에 맞추는 cross-entropy stage를 수행합니다. 이 과정은 final task label로 전체 model을 다시 학습하는 QAT와 같지 않지만, 분명한 optimization과 development data를 사용합니다.
공개 출처
quipsharp-paper | pp. 7–8, Section 5; pp. 21 and 24–25, Algorithm 5 and Appendix F.6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21. QuIP#-FT에서 고정되는 것과 학습되는 것
발표 대본
Algorithm 5에서 각 linear layer를 NoFT로 quantize한 뒤 weight matrix gradient를 disable하지만 S_U와 S_V는 학습할 수 있습니다. Blockwise stage에서는 unquantized layer와 selected parameter가 앞서 quantize한 layer의 activation error를 보상합니다. 전체 quantization 뒤 learnable set에는 layernorm, 모든 S_U와 S_V, language-model head가 남습니다. End-to-end stage는 original model logits를 target으로 cross-entropy를 줄입니다. Validation split과 early stopping도 사용합니다.
공개 출처
quipsharp-paper | p. 21, Algorithm 5; p. 24, Appendix F.6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22. Fine-tuning의 data와 compute 조건
발표 대본
Appendix F의 조건을 붙여 compute를 읽습니다. Llama 2 70B quantization은 NoFT가 10 GPU-hours 미만, FT가 약 100 GPU-hours로 보고됩니다. 두 값 모두 Hessian generation time을 제외합니다. Blockwise fine-tuning은 RedPajama 1T에서 256 development sequence와 128 validation sequence를 사용하고 Adam으로 5 epoch, 160 step을 수행합니다. 대부분의 experiment는 A100에서 실행했고 timing table은 별도 RTX 4090입니다.
공개 출처
quipsharp-paper | pp. 24–25, Appendices F.6–F.7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23. Table 4: Llama 2 70B의 2-bit ablation
발표 대본
Table 4의 Llama 2 70B, 2-bit row만 재구성했습니다. Full QuIP#-FT가 가장 낮은 PPL이고, NoFT, NoFT-noE8 순으로 높습니다. NoE8 variant는 E8 lattice codebook 대신 1-dimensional half-integer grid를 사용합니다. 이 ablation은 각 구성의 기여를 지지하지만 모든 implementation factor를 완전히 독립적으로 통제한 theorem은 아닙니다. 세 row 모두 context length 4096 조건입니다.
공개 출처
quipsharp-paper | p. 9, Table 4 and Section 6.4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24. Table 4: Llama 2 7B에서 더 큰 2-bit 격차
발표 대본
동일한 Table 4에서 Llama 2 7B의 2-bit row를 봅니다. FT, NoFT, NoFT-noE8 순으로 PPL 차이가 70B보다 크게 나타납니다. 이는 작은 model에서 quantization error가 더 큰 품질 저하로 이어질 수 있다는 실험적 패턴을 보여 줍니다. 그러나 Figure의 scaling trend를 모든 architecture와 dataset에 대한 법칙으로 바꾸지 않습니다.
공개 출처
quipsharp-paper | p. 9, Table 4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25. Table 2와 Table 4의 context 조건은 다르다
발표 대본
논문 자체가 Llama 2 perplexity 평가에 2048과 native 4096 두 protocol이 존재한다고 설명합니다. Table 2는 2048이고 Table 4는 4096입니다. 따라서 예를 들어 Table 2의 baseline과 Table 4의 QuIP# 숫자를 조건 없이 직접 비교하면 안 됩니다. Appendix F에서 Hessian은 Llama 1은 2048, Llama 2는 4096 native context의 6144 RedPajama sequence로 생성합니다.
공개 출처
quipsharp-paper | pp. 7–9, Tables 2 and 4; p. 24, Appendix F.2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26. Table 5: RTX 4090 proof-of-concept inference
발표 대본
Table 5는 NVIDIA RTX 4090과 FlashAttention library의 Llama implementation에서 측정한 proof-of-concept generation 결과입니다. 2-bit Llama 2 70B는 32.74 tokens per second와 56.84% peak memory-bandwidth utilization을 보입니다. RHT와 E8P가 fast decode를 고려해 설계됐다는 실증이지만, 다른 GPU, batch size, serving stack에서도 같은 throughput이나 utilization을 보장하지 않습니다. 4-bit 70B는 이 표에서 OOM입니다.
공개 출처
quipsharp-paper | pp. 8–9, Table 5 and Section 6.3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27. 2 bits per weight와 전체 배포 memory의 차이
발표 대본
Appendix F.1이 직접 계산하는 추가 overhead는 model 전체에 공유되는 E8P 1 KiB와 sign vectors입니다. Sign-vector overhead는 large Llama matrix에서 weight당 0.01 bit 미만이지만 0은 아닙니다. 표의 마지막 두 행은 paper accounting이 아니라 2-bit weight code와 전체 deployment footprint를 혼동하지 않기 위한 일반적인 배포 고려사항입니다. 이 논문은 scales, retained state, runtime activation, KV cache의 전체 memory를 Appendix F.1에서 정량화하지 않습니다.
공개 출처
quipsharp-paper | p. 24, Appendix F.1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28. Formal guarantee와 model evidence의 경계
발표 대본
논문의 근거는 서로 다른 층에 있습니다. Lemma는 transform의 incoherence를, theorem은 BlockLDLQ의 expected layer proxy를 다룹니다. Perplexity와 zero-shot accuracy는 model experiment이고 throughput은 특정 GPU system experiment입니다. 이 근거를 하나의 universal guarantee로 합치면 안 됩니다. 특히 3-bit scaling 결과는 paper-era model과 benchmark의 empirical observation이며 rate-equivalent theorem이 아닙니다.
공개 출처
quipsharp-paper | pp. 3–11, Lemma 3.1, Theorem 4.1, Tables 1–5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29. QuIP#의 전체 논리
발표 대본
QuIP#를 한 흐름으로 정리합니다. NoFT의 binary signs와 Hadamard는 quantization이 다루기 쉬운 basis를 만들고 inference activation에 matched transform을 적용합니다. Quantization error가 없다면 이 NoFT relation은 model-preserving입니다. FT에서는 S_U와 S_V가 real-valued optimized parameter가 되므로 같은 strict orthogonal identity로 해석하지 않습니다. BlockLDLQ는 vector block을 quantize하면서 이미 생긴 error를 뒤 block에 전달합니다. E8P는 16-bit index와 공유 1 KiB structure로 8D 2-bit code를 decode하고 RVQ가 3-bit와 4-bit를 구성합니다. 2-bit code rate는 일반 deployment memory 전체의 측정값이 아닙니다. Theory, PPL table, GPU throughput은 각각 다른 범위의 근거입니다.
공개 출처
quipsharp-paper | pp. 1–12, Sections 1–7
QuIP# ICML 2024 paper and supplementary material
https://proceedings.mlr.press/v235/tseng24a.html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5900" cy="6858000"/>
          </a:xfrm>
          <a:prstGeom prst="rect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3" name="Text 1"/>
          <p:cNvSpPr txBox="1"/>
          <p:nvPr/>
        </p:nvSpPr>
        <p:spPr>
          <a:xfrm>
            <a:off x="889000" y="889000"/>
            <a:ext cx="8763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QuIP#: Hadamard 변환과 lattice codebook을 이용한 LLM 양자화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89000" y="2413000"/>
            <a:ext cx="965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QuIP#: Even Better LLM Quantization with Hadamard Incoherence and Lattice Codebooks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89000" y="4076700"/>
            <a:ext cx="96520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89000" y="4368800"/>
            <a:ext cx="965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Albert Tseng, Jerry Chee, Qingyao Sun, Volodymyr Kuleshov, and Christopher De Sa (2024)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889000" y="5245100"/>
            <a:ext cx="965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Weight-only PTQ에서 좌표 변환, block feedback, 8차원 vector code를 결합하는 방법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1–2, Abstract and Fig. 2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QuIP#의 범위와 두 결과 경로</a:t>
            </a:r>
            <a:endParaRPr lang="en-US" sz="3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174240"/>
                <a:gridCol w="4022344"/>
                <a:gridCol w="2174240"/>
                <a:gridCol w="250037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구분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수행 단계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학습 여부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결과 해석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공통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Weight-only low-bit compression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원래 model 재학습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Activation precision은 weight-code rate와 별도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QuIP#-NoFT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RHT와 BlockLDLQ, E8P 또는 RVQ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Fine-tuning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순수 quantization 경로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QuIP#-FT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NoFT 뒤 선택 parameter 최적화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Development data로 학습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Training-free 결과가 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NoFT와 FT는 같은 이름 아래 있지만 계산 비용과 근거가 다른 변형이다.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1–3 and pp. 7–8, Algorithms 1 and 5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앞선 QuIP에서 이어받은 세 가지 기반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391664"/>
                <a:gridCol w="4565904"/>
                <a:gridCol w="391363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기반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QuIP의 역할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QuIP#에서의 위치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Layer proxy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한 linear layer의 출력 오차를 Hessian으로 가중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Block quantization의 최적화 대상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Incoherence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큰 coordinate와 민감 방향의 집중을 완화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RHT로 처리 방식을 교체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Adaptive feedback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이미 반올림한 오차를 뒤 coordinate에 반영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BlockLDLQ로 vector block에 확장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QuIP#는 QuIP의 문제 설정을 유지하면서 변환과 codebook, tuning 경로를 바꾼다.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2–4, Sections 2–3; quip-paper method overview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QuIP#가 추가한 세 단계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701800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97000" y="1701800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RHT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152900" y="1701800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Random sign과 Hadamard로 coordinate energy를 분산한다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97000" y="247967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50900" y="249237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660400" y="2670175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97000" y="2670175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BlockLDLQ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152900" y="2670175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여러 coordinate를 묶어 codeword를 고르고 오차를 전달한다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97000" y="344805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850900" y="346075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3" name="Text 11"/>
          <p:cNvSpPr txBox="1"/>
          <p:nvPr/>
        </p:nvSpPr>
        <p:spPr>
          <a:xfrm>
            <a:off x="660400" y="3638550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97000" y="3638550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E8P와 RVQ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152900" y="3638550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8차원 구조 codebook으로 2, 3, 4-bit code를 만든다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397000" y="441642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7" name="Shape 15"/>
          <p:cNvSpPr/>
          <p:nvPr/>
        </p:nvSpPr>
        <p:spPr>
          <a:xfrm>
            <a:off x="850900" y="442912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8" name="Text 16"/>
          <p:cNvSpPr txBox="1"/>
          <p:nvPr/>
        </p:nvSpPr>
        <p:spPr>
          <a:xfrm>
            <a:off x="660400" y="4606925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397000" y="4606925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Optional FT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152900" y="4606925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고정한 quantized weight 주변의 선택 parameter를 보정한다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2" name="Shape 20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Text 21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Hadamard 하나가 아니라 transform, vector rounding, 선택적 tuning의 결합이다.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5" name="Text 23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1–2, contribution list and Fig. 2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한 layer의 quantization 목표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500376"/>
                <a:gridCol w="4348480"/>
                <a:gridCol w="402234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기호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뜻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해석 경계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원래 linear-layer weight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전체 transformer가 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W_hat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Quantized weight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Code를 decode한 근사 weight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x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Calibration set에서 얻은 layer input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실제 모든 입력 분포가 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 = E[xx^T]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입력으로 만든 proxy Hessian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민감 방향의 가중치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loss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E[||(W_hat−W)x||²]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Final task accuracy가 아닌 layer proxy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BlockLDLQ theorem은 이 layer proxy를 다루며 최종 perplexity를 직접 보장하지 않는다.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2–3, eqs. 1–2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교육용 4차원 RHT 계산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실제 model transform이 아닌 norm 보존과 coordinate 분산 예시</a:t>
            </a:r>
            <a:endParaRPr lang="en-US" sz="1900" dirty="0"/>
          </a:p>
        </p:txBody>
      </p:sp>
      <p:sp>
        <p:nvSpPr>
          <p:cNvPr id="4" name="mechanism-lane-rht"/>
          <p:cNvSpPr txBox="1"/>
          <p:nvPr/>
        </p:nvSpPr>
        <p:spPr>
          <a:xfrm>
            <a:off x="660400" y="2209800"/>
            <a:ext cx="8636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교육용 계산</a:t>
            </a:r>
            <a:endParaRPr lang="en-US" sz="1250" dirty="0"/>
          </a:p>
        </p:txBody>
      </p:sp>
      <p:sp>
        <p:nvSpPr>
          <p:cNvPr id="5" name="mechanism-edge-r1-segment-1"/>
          <p:cNvSpPr/>
          <p:nvPr/>
        </p:nvSpPr>
        <p:spPr>
          <a:xfrm>
            <a:off x="329946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6" name="mechanism-edge-r2-segment-1"/>
          <p:cNvSpPr/>
          <p:nvPr/>
        </p:nvSpPr>
        <p:spPr>
          <a:xfrm>
            <a:off x="534162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mechanism-edge-r3-segment-1"/>
          <p:cNvSpPr/>
          <p:nvPr/>
        </p:nvSpPr>
        <p:spPr>
          <a:xfrm>
            <a:off x="738378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mechanism-edge-r4-segment-1"/>
          <p:cNvSpPr/>
          <p:nvPr/>
        </p:nvSpPr>
        <p:spPr>
          <a:xfrm>
            <a:off x="942594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9" name="mechanism-node-x"/>
          <p:cNvSpPr/>
          <p:nvPr/>
        </p:nvSpPr>
        <p:spPr>
          <a:xfrm>
            <a:off x="1739900" y="34417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입력 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(3, 1, 0, 0)</a:t>
            </a:r>
            <a:endParaRPr lang="en-US" sz="1150" dirty="0"/>
          </a:p>
        </p:txBody>
      </p:sp>
      <p:sp>
        <p:nvSpPr>
          <p:cNvPr id="10" name="mechanism-node-sign"/>
          <p:cNvSpPr/>
          <p:nvPr/>
        </p:nvSpPr>
        <p:spPr>
          <a:xfrm>
            <a:off x="3782060" y="34417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Random sign 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(+1, −1, +1, −1)</a:t>
            </a:r>
            <a:endParaRPr lang="en-US" sz="1150" dirty="0"/>
          </a:p>
        </p:txBody>
      </p:sp>
      <p:sp>
        <p:nvSpPr>
          <p:cNvPr id="11" name="mechanism-node-had"/>
          <p:cNvSpPr txBox="1"/>
          <p:nvPr/>
        </p:nvSpPr>
        <p:spPr>
          <a:xfrm>
            <a:off x="5824220" y="3244850"/>
            <a:ext cx="155956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H4 부호 행렬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24220" y="3473450"/>
          <a:ext cx="1559560" cy="825500"/>
        </p:xfrm>
        <a:graphic>
          <a:graphicData uri="http://schemas.openxmlformats.org/drawingml/2006/table">
            <a:tbl>
              <a:tblPr/>
              <a:tblGrid>
                <a:gridCol w="389890"/>
                <a:gridCol w="389890"/>
                <a:gridCol w="389890"/>
                <a:gridCol w="389890"/>
              </a:tblGrid>
              <a:tr h="165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c1</a:t>
                      </a:r>
                      <a:endParaRPr lang="en-US" sz="9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c2</a:t>
                      </a:r>
                      <a:endParaRPr lang="en-US" sz="9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c3</a:t>
                      </a:r>
                      <a:endParaRPr lang="en-US" sz="9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c4</a:t>
                      </a:r>
                      <a:endParaRPr lang="en-US" sz="9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−1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−1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−1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−1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−1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−1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mechanism-node-out"/>
          <p:cNvSpPr/>
          <p:nvPr/>
        </p:nvSpPr>
        <p:spPr>
          <a:xfrm>
            <a:off x="7866380" y="34417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H4 Sx ÷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(1, 2, 1, 2)</a:t>
            </a:r>
            <a:endParaRPr lang="en-US" sz="1150" dirty="0"/>
          </a:p>
        </p:txBody>
      </p:sp>
      <p:sp>
        <p:nvSpPr>
          <p:cNvPr id="14" name="mechanism-node-norm"/>
          <p:cNvSpPr/>
          <p:nvPr/>
        </p:nvSpPr>
        <p:spPr>
          <a:xfrm>
            <a:off x="9908540" y="34417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Norm 확인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9+1 = 1+4+1+4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6" name="Text 1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Orthogonal Hadamard transform은 norm을 보존하면서 energy를 여러 coordinate로 옮긴다.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Text 1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3–5, Algorithm 3; values are a constructed example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RHT와 추론의 대응 관계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NoFT의 binary sign 기준으로 quantization 때 바꾼 basis를 activation 경로에서도 맞춘다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Input activation x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원래 linear layer 입력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Right RHT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S_V의 random sign 뒤 Hadamard를 적용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Decoded multiply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변환된 quantized weight code와 곱함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Left RHT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S_U의 random sign과 Hadamard를 대응 적용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Output y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원래 W x를 근사하는 layer 출력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NoFT의 binary signs에서는 matched RHT가 model-preserving basis change다.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p. 2, Algorithms 1–2; pp. 3–5, Algorithm 3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Lemma 3.1의 보장 범위</a:t>
            </a:r>
            <a:endParaRPr lang="en-US" sz="3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174240"/>
                <a:gridCol w="4783328"/>
                <a:gridCol w="391363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항목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정확한 내용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포함되지 않는 결론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입력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PSD Hessian H와 weight W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특정 LLM accuracy 가정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변환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독립적인 ±1 sign과 orthogonal scaled Hadamard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항상 모든 값이 동일해짐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확률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실패 확률 delta에 대해 1−delta 이상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Deterministic guarantee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결론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변환된 H와 W의 incoherence bound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Perplexity 또는 throughput bound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차원 조건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필요한 Hadamard matrix가 존재하는 차원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임의 차원에서 자동 적용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RHT theorem은 coordinate 집중에 대한 확률적 보장이지 model 품질 theorem이 아니다.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3–5 and p. 15, Lemma 3.1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Table 1: RHT와 RFFT 비교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QuIP#-NoFT, 2-bit, WikiText2 perplexity, context 4096, 낮을수록 좋음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717800"/>
                <a:gridCol w="2717800"/>
                <a:gridCol w="2717800"/>
                <a:gridCol w="271780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변환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 2 7B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 2 13B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 2 70B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097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RHT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8.22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6.06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4.16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097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RFFT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8.30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6.08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4.17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표에서는 RHT가 낮고, RFFT는 조건에 따라 쓸 수 있는 fallback이다.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p. 5, Table 1 and Section 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Scalar quantization과 vector quantization의 표현 단위</a:t>
            </a:r>
            <a:endParaRPr lang="en-US" sz="3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609088"/>
                <a:gridCol w="3370072"/>
                <a:gridCol w="2935224"/>
                <a:gridCol w="195681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방식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Code 선택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표현 가능한 모양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비용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29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Scalar quantization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각 weight를 독립적으로 반올림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여러 축의 grid와 hypercube cell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작은 table과 단순 decode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129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Vector quantization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g개 weight에 codeword 하나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분포에 맞춘 joint codeword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Codebook가 dimension에 따라 커짐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RHT 뒤 ball-shaped 값에는 joint vector code가 더 잘 맞을 수 있다.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3 and 5–6, Sections 2.4 and 4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Vector quantization의 code rate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701800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97000" y="1701800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g-coordinate block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152900" y="1701800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서로 이웃한 g개 weight를 하나의 vector로 묶는다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97000" y="247967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50900" y="249237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660400" y="2670175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97000" y="2670175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k bits per scalar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152900" y="2670175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한 block index는 k 곱하기 g bits를 사용한다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97000" y="344805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850900" y="346075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3" name="Text 11"/>
          <p:cNvSpPr txBox="1"/>
          <p:nvPr/>
        </p:nvSpPr>
        <p:spPr>
          <a:xfrm>
            <a:off x="660400" y="3638550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97000" y="3638550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Codebook search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152900" y="3638550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2^(k g)개 후보 중 가까운 codeword를 고른다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397000" y="4416425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7" name="Shape 15"/>
          <p:cNvSpPr/>
          <p:nvPr/>
        </p:nvSpPr>
        <p:spPr>
          <a:xfrm>
            <a:off x="850900" y="4429125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8" name="Text 16"/>
          <p:cNvSpPr txBox="1"/>
          <p:nvPr/>
        </p:nvSpPr>
        <p:spPr>
          <a:xfrm>
            <a:off x="660400" y="4606925"/>
            <a:ext cx="571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397000" y="4606925"/>
            <a:ext cx="26035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Stored index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152900" y="4606925"/>
            <a:ext cx="7378700" cy="7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Weight 대신 선택한 codeword index를 저장한다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2" name="Shape 20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Text 21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 bits per weight라는 rate와 scalar 2-bit rounding은 같은 메커니즘이 아니다.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5" name="Text 23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p. 3, Section 2.4; pp. 5–6, Section 4.2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교육용 2차원 VQ 예시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E8P가 아닌 joint-code 선택 원리만 보이는 계산</a:t>
            </a:r>
            <a:endParaRPr lang="en-US" sz="1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717800"/>
                <a:gridCol w="2500376"/>
                <a:gridCol w="2500376"/>
                <a:gridCol w="315264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방식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입력 v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선택 code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Squared error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097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1-bit scalar grid {0,1}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(0.49, 0.49)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(0, 0)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0.49²+0.49² = 0.4802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097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Custom 2D VQ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(0.49, 0.49)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(0.50, 0.50)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0.01²+0.01² = 0.0002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예시는 joint codeword의 직관만 보이며 E8P 결과가 아니다.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3 and 5–6, VQ motivation; constructed example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BlockLDLQ의 앞방향 error feedback</a:t>
            </a:r>
            <a:endParaRPr lang="en-US" sz="3100" dirty="0"/>
          </a:p>
        </p:txBody>
      </p:sp>
      <p:sp>
        <p:nvSpPr>
          <p:cNvPr id="3" name="mechanism-lane-early"/>
          <p:cNvSpPr txBox="1"/>
          <p:nvPr/>
        </p:nvSpPr>
        <p:spPr>
          <a:xfrm>
            <a:off x="660400" y="1803400"/>
            <a:ext cx="8636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먼저 처리한 block</a:t>
            </a:r>
            <a:endParaRPr lang="en-US" sz="1250" dirty="0"/>
          </a:p>
        </p:txBody>
      </p:sp>
      <p:sp>
        <p:nvSpPr>
          <p:cNvPr id="4" name="mechanism-lane-later"/>
          <p:cNvSpPr txBox="1"/>
          <p:nvPr/>
        </p:nvSpPr>
        <p:spPr>
          <a:xfrm>
            <a:off x="660400" y="3568700"/>
            <a:ext cx="8636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뒤에 처리할 block</a:t>
            </a:r>
            <a:endParaRPr lang="en-US" sz="1250" dirty="0"/>
          </a:p>
        </p:txBody>
      </p:sp>
      <p:sp>
        <p:nvSpPr>
          <p:cNvPr id="5" name="mechanism-edge-b1q-segment-1"/>
          <p:cNvSpPr/>
          <p:nvPr/>
        </p:nvSpPr>
        <p:spPr>
          <a:xfrm>
            <a:off x="3299460" y="26860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6" name="mechanism-edge-qres-segment-1"/>
          <p:cNvSpPr/>
          <p:nvPr/>
        </p:nvSpPr>
        <p:spPr>
          <a:xfrm>
            <a:off x="5341620" y="26860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mechanism-edge-b2a-segment-1"/>
          <p:cNvSpPr/>
          <p:nvPr/>
        </p:nvSpPr>
        <p:spPr>
          <a:xfrm>
            <a:off x="3299460" y="4451350"/>
            <a:ext cx="321733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mechanism-edge-b2a-segment-2"/>
          <p:cNvSpPr/>
          <p:nvPr/>
        </p:nvSpPr>
        <p:spPr>
          <a:xfrm>
            <a:off x="3621193" y="4451350"/>
            <a:ext cx="0" cy="203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mechanism-edge-b2a-segment-3"/>
          <p:cNvSpPr/>
          <p:nvPr/>
        </p:nvSpPr>
        <p:spPr>
          <a:xfrm>
            <a:off x="3621193" y="4654550"/>
            <a:ext cx="4245187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0" name="mechanism-edge-resa-segment-1"/>
          <p:cNvSpPr/>
          <p:nvPr/>
        </p:nvSpPr>
        <p:spPr>
          <a:xfrm>
            <a:off x="7383780" y="2686050"/>
            <a:ext cx="2413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1" name="mechanism-edge-resa-segment-2"/>
          <p:cNvSpPr/>
          <p:nvPr/>
        </p:nvSpPr>
        <p:spPr>
          <a:xfrm>
            <a:off x="7625080" y="2686050"/>
            <a:ext cx="0" cy="15621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mechanism-edge-resa-segment-3"/>
          <p:cNvSpPr/>
          <p:nvPr/>
        </p:nvSpPr>
        <p:spPr>
          <a:xfrm>
            <a:off x="7625080" y="4248150"/>
            <a:ext cx="2413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3" name="mechanism-edge-aq-segment-1"/>
          <p:cNvSpPr/>
          <p:nvPr/>
        </p:nvSpPr>
        <p:spPr>
          <a:xfrm>
            <a:off x="9425940" y="44513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4" name="mechanism-node-b1"/>
          <p:cNvSpPr/>
          <p:nvPr/>
        </p:nvSpPr>
        <p:spPr>
          <a:xfrm>
            <a:off x="1739900" y="23558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Weight block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g개 coordinate</a:t>
            </a:r>
            <a:endParaRPr lang="en-US" sz="1150" dirty="0"/>
          </a:p>
        </p:txBody>
      </p:sp>
      <p:sp>
        <p:nvSpPr>
          <p:cNvPr id="15" name="mechanism-node-q1"/>
          <p:cNvSpPr/>
          <p:nvPr/>
        </p:nvSpPr>
        <p:spPr>
          <a:xfrm>
            <a:off x="3782060" y="23558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VQ code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첫 block을 고정</a:t>
            </a:r>
            <a:endParaRPr lang="en-US" sz="1150" dirty="0"/>
          </a:p>
        </p:txBody>
      </p:sp>
      <p:sp>
        <p:nvSpPr>
          <p:cNvPr id="16" name="mechanism-node-res"/>
          <p:cNvSpPr/>
          <p:nvPr/>
        </p:nvSpPr>
        <p:spPr>
          <a:xfrm>
            <a:off x="5824220" y="23558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Residual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원래 block과 code 차이</a:t>
            </a:r>
            <a:endParaRPr lang="en-US" sz="1150" dirty="0"/>
          </a:p>
        </p:txBody>
      </p:sp>
      <p:sp>
        <p:nvSpPr>
          <p:cNvPr id="17" name="mechanism-node-b2"/>
          <p:cNvSpPr/>
          <p:nvPr/>
        </p:nvSpPr>
        <p:spPr>
          <a:xfrm>
            <a:off x="1739900" y="41211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Weight block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아직 quantize하지 않음</a:t>
            </a:r>
            <a:endParaRPr lang="en-US" sz="1150" dirty="0"/>
          </a:p>
        </p:txBody>
      </p:sp>
      <p:sp>
        <p:nvSpPr>
          <p:cNvPr id="18" name="mechanism-node-adj"/>
          <p:cNvSpPr/>
          <p:nvPr/>
        </p:nvSpPr>
        <p:spPr>
          <a:xfrm>
            <a:off x="7866380" y="41211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Adjusted B2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Error feedback 반영</a:t>
            </a:r>
            <a:endParaRPr lang="en-US" sz="1150" dirty="0"/>
          </a:p>
        </p:txBody>
      </p:sp>
      <p:sp>
        <p:nvSpPr>
          <p:cNvPr id="19" name="mechanism-node-q2"/>
          <p:cNvSpPr/>
          <p:nvPr/>
        </p:nvSpPr>
        <p:spPr>
          <a:xfrm>
            <a:off x="9908540" y="41211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VQ code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조정된 block을 고정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1" name="Text 19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고정한 block의 error만 뒤 block의 rounding 입력에 전달한다.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Text 21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5–6, Section 4.1 and eq. 3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Theorem 4.1의 조건과 결론</a:t>
            </a:r>
            <a:endParaRPr lang="en-US" sz="3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174240"/>
                <a:gridCol w="5109464"/>
                <a:gridCol w="358749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구분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원문 조건 또는 결론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의미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Matrix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W는 m×n, block size g가 n을 나눔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g개 column씩 처리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Sensitivity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H가 mu-incoherent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민감 방향이 coordinate에 집중되지 않음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Quantizer noise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Error covariance가 sigma² I 이하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VQ error의 second moment 조건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Bound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Expected proxy ≤ g m mu² sigma² tr(H^(1/2))² ÷ 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Layer-local expected reconstruction bound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비교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Independent blocks는 g m sigma² tr(H)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Feedback bound와 비교하는 기준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Theorem은 expected layer proxy를 다루며 downstream accuracy를 보장하지 않는다.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p. 5, Theorem 4.1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E8P의 실제 표현 단위</a:t>
            </a:r>
            <a:endParaRPr lang="en-US" sz="3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826512"/>
                <a:gridCol w="2609088"/>
                <a:gridCol w="543560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항목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E8P 값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해석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Vector dimension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Weight 8개를 한 group으로 처리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Rate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 bits per scalar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한 group index는 16 bits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Conceptual entries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2^16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가능한 8D codeword 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Source lookup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2^8 × 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구조와 symmetry로 작은 table 사용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Representation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 KiB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FP16 2^16 × 8 table을 저장하지 않음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E8P는 8개 weight를 16-bit index로 묶는 vector code다.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5–7, Section 4.2; pp. 16–18, Appendix C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16-bit E8P index의 구조적 decode</a:t>
            </a:r>
            <a:endParaRPr lang="en-US" sz="3100" dirty="0"/>
          </a:p>
        </p:txBody>
      </p:sp>
      <p:sp>
        <p:nvSpPr>
          <p:cNvPr id="3" name="mechanism-lane-decode"/>
          <p:cNvSpPr txBox="1"/>
          <p:nvPr/>
        </p:nvSpPr>
        <p:spPr>
          <a:xfrm>
            <a:off x="660400" y="1803400"/>
            <a:ext cx="863600" cy="353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8개 weight group</a:t>
            </a:r>
            <a:endParaRPr lang="en-US" sz="1250" dirty="0"/>
          </a:p>
        </p:txBody>
      </p:sp>
      <p:sp>
        <p:nvSpPr>
          <p:cNvPr id="4" name="mechanism-edge-d1-segment-1"/>
          <p:cNvSpPr/>
          <p:nvPr/>
        </p:nvSpPr>
        <p:spPr>
          <a:xfrm>
            <a:off x="3299460" y="35687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5" name="mechanism-edge-d2-segment-1"/>
          <p:cNvSpPr/>
          <p:nvPr/>
        </p:nvSpPr>
        <p:spPr>
          <a:xfrm>
            <a:off x="5341620" y="35687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6" name="mechanism-edge-d3-segment-1"/>
          <p:cNvSpPr/>
          <p:nvPr/>
        </p:nvSpPr>
        <p:spPr>
          <a:xfrm>
            <a:off x="7383780" y="35687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mechanism-edge-d4-segment-1"/>
          <p:cNvSpPr/>
          <p:nvPr/>
        </p:nvSpPr>
        <p:spPr>
          <a:xfrm>
            <a:off x="9425940" y="35687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mechanism-node-idx"/>
          <p:cNvSpPr/>
          <p:nvPr/>
        </p:nvSpPr>
        <p:spPr>
          <a:xfrm>
            <a:off x="1739900" y="32385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16-bit index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8D codeword 하나를 지정</a:t>
            </a:r>
            <a:endParaRPr lang="en-US" sz="1150" dirty="0"/>
          </a:p>
        </p:txBody>
      </p:sp>
      <p:sp>
        <p:nvSpPr>
          <p:cNvPr id="9" name="mechanism-node-abs"/>
          <p:cNvSpPr/>
          <p:nvPr/>
        </p:nvSpPr>
        <p:spPr>
          <a:xfrm>
            <a:off x="3782060" y="32385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8-bit S lookup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S에서 pattern s를 선택</a:t>
            </a:r>
            <a:endParaRPr lang="en-US" sz="1150" dirty="0"/>
          </a:p>
        </p:txBody>
      </p:sp>
      <p:sp>
        <p:nvSpPr>
          <p:cNvPr id="10" name="mechanism-node-signs"/>
          <p:cNvSpPr/>
          <p:nvPr/>
        </p:nvSpPr>
        <p:spPr>
          <a:xfrm>
            <a:off x="5824220" y="32385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7 sign bits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s의 parity로 8번째 결정</a:t>
            </a:r>
            <a:endParaRPr lang="en-US" sz="1150" dirty="0"/>
          </a:p>
        </p:txBody>
      </p:sp>
      <p:sp>
        <p:nvSpPr>
          <p:cNvPr id="11" name="mechanism-node-shift"/>
          <p:cNvSpPr/>
          <p:nvPr/>
        </p:nvSpPr>
        <p:spPr>
          <a:xfrm>
            <a:off x="7866380" y="32385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 shift bit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D̂8−1/4 / D̂8+1/4</a:t>
            </a:r>
            <a:endParaRPr lang="en-US" sz="1150" dirty="0"/>
          </a:p>
        </p:txBody>
      </p:sp>
      <p:sp>
        <p:nvSpPr>
          <p:cNvPr id="12" name="mechanism-node-vec"/>
          <p:cNvSpPr/>
          <p:nvPr/>
        </p:nvSpPr>
        <p:spPr>
          <a:xfrm>
            <a:off x="9908540" y="32385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8D codeword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8개 weight로 복원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큰 8D codebook를 전부 저장하지 않고 pattern, sign symmetry, shift로 복원한다.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6" name="Text 1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6–7, Section 4.2; pp. 16–18, Appendix C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교육용 toy와 E8P를 구분하는 기준</a:t>
            </a:r>
            <a:endParaRPr lang="en-US" sz="3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174240"/>
                <a:gridCol w="1739392"/>
                <a:gridCol w="3696208"/>
                <a:gridCol w="326136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구분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Dimension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Code 구조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말할 수 있는 것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2D toy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세 점을 임의로 배치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Joint codeword의 직관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Generic VQ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2^(k g)개 codeword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Rate와 codebook-size 관계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E8P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E8 lattice symmetry와 padding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16-bit index, 1 KiB decode 구조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Toy error 차이를 E8P 성능이나 동일-rate benchmark로 해석하면 안 된다.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3 and 5–7, Sections 2.4 and 4.2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Residual VQ로 3-bit와 4-bit를 구성한다</a:t>
            </a:r>
            <a:endParaRPr lang="en-US" sz="3100" dirty="0"/>
          </a:p>
        </p:txBody>
      </p:sp>
      <p:sp>
        <p:nvSpPr>
          <p:cNvPr id="3" name="mechanism-lane-three"/>
          <p:cNvSpPr txBox="1"/>
          <p:nvPr/>
        </p:nvSpPr>
        <p:spPr>
          <a:xfrm>
            <a:off x="660400" y="1803400"/>
            <a:ext cx="8636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3-bit path</a:t>
            </a:r>
            <a:endParaRPr lang="en-US" sz="1250" dirty="0"/>
          </a:p>
        </p:txBody>
      </p:sp>
      <p:sp>
        <p:nvSpPr>
          <p:cNvPr id="4" name="mechanism-lane-four"/>
          <p:cNvSpPr txBox="1"/>
          <p:nvPr/>
        </p:nvSpPr>
        <p:spPr>
          <a:xfrm>
            <a:off x="660400" y="3568700"/>
            <a:ext cx="8636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4-bit path</a:t>
            </a:r>
            <a:endParaRPr lang="en-US" sz="1250" dirty="0"/>
          </a:p>
        </p:txBody>
      </p:sp>
      <p:sp>
        <p:nvSpPr>
          <p:cNvPr id="5" name="mechanism-edge-v31-segment-1"/>
          <p:cNvSpPr/>
          <p:nvPr/>
        </p:nvSpPr>
        <p:spPr>
          <a:xfrm>
            <a:off x="3299460" y="26860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6" name="mechanism-edge-v32-segment-1"/>
          <p:cNvSpPr/>
          <p:nvPr/>
        </p:nvSpPr>
        <p:spPr>
          <a:xfrm>
            <a:off x="5341620" y="26860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mechanism-edge-v33-segment-1"/>
          <p:cNvSpPr/>
          <p:nvPr/>
        </p:nvSpPr>
        <p:spPr>
          <a:xfrm>
            <a:off x="7383780" y="26860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mechanism-edge-v34-segment-1"/>
          <p:cNvSpPr/>
          <p:nvPr/>
        </p:nvSpPr>
        <p:spPr>
          <a:xfrm>
            <a:off x="9425940" y="26860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9" name="mechanism-edge-v41-segment-1"/>
          <p:cNvSpPr/>
          <p:nvPr/>
        </p:nvSpPr>
        <p:spPr>
          <a:xfrm>
            <a:off x="3299460" y="44513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0" name="mechanism-edge-v42-segment-1"/>
          <p:cNvSpPr/>
          <p:nvPr/>
        </p:nvSpPr>
        <p:spPr>
          <a:xfrm>
            <a:off x="5341620" y="44513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1" name="mechanism-edge-v43-segment-1"/>
          <p:cNvSpPr/>
          <p:nvPr/>
        </p:nvSpPr>
        <p:spPr>
          <a:xfrm>
            <a:off x="7383780" y="44513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2" name="mechanism-edge-v44-segment-1"/>
          <p:cNvSpPr/>
          <p:nvPr/>
        </p:nvSpPr>
        <p:spPr>
          <a:xfrm>
            <a:off x="9425940" y="44513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3" name="mechanism-node-x3"/>
          <p:cNvSpPr/>
          <p:nvPr/>
        </p:nvSpPr>
        <p:spPr>
          <a:xfrm>
            <a:off x="1739900" y="23558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8D block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원래 vector</a:t>
            </a:r>
            <a:endParaRPr lang="en-US" sz="1150" dirty="0"/>
          </a:p>
        </p:txBody>
      </p:sp>
      <p:sp>
        <p:nvSpPr>
          <p:cNvPr id="14" name="mechanism-node-e8p3"/>
          <p:cNvSpPr/>
          <p:nvPr/>
        </p:nvSpPr>
        <p:spPr>
          <a:xfrm>
            <a:off x="3782060" y="23558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2-bit E8P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첫 codeword</a:t>
            </a:r>
            <a:endParaRPr lang="en-US" sz="1150" dirty="0"/>
          </a:p>
        </p:txBody>
      </p:sp>
      <p:sp>
        <p:nvSpPr>
          <p:cNvPr id="15" name="mechanism-node-r3"/>
          <p:cNvSpPr/>
          <p:nvPr/>
        </p:nvSpPr>
        <p:spPr>
          <a:xfrm>
            <a:off x="5824220" y="23558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Residual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원래 값에서 첫 code를 뺌</a:t>
            </a:r>
            <a:endParaRPr lang="en-US" sz="1150" dirty="0"/>
          </a:p>
        </p:txBody>
      </p:sp>
      <p:sp>
        <p:nvSpPr>
          <p:cNvPr id="16" name="mechanism-node-e83"/>
          <p:cNvSpPr/>
          <p:nvPr/>
        </p:nvSpPr>
        <p:spPr>
          <a:xfrm>
            <a:off x="7866380" y="23558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1-bit E8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남은 residual을 근사</a:t>
            </a:r>
            <a:endParaRPr lang="en-US" sz="1150" dirty="0"/>
          </a:p>
        </p:txBody>
      </p:sp>
      <p:sp>
        <p:nvSpPr>
          <p:cNvPr id="17" name="mechanism-node-o3"/>
          <p:cNvSpPr/>
          <p:nvPr/>
        </p:nvSpPr>
        <p:spPr>
          <a:xfrm>
            <a:off x="9908540" y="23558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3-bit sum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codeword를 더함</a:t>
            </a:r>
            <a:endParaRPr lang="en-US" sz="1150" dirty="0"/>
          </a:p>
        </p:txBody>
      </p:sp>
      <p:sp>
        <p:nvSpPr>
          <p:cNvPr id="18" name="mechanism-node-x4"/>
          <p:cNvSpPr/>
          <p:nvPr/>
        </p:nvSpPr>
        <p:spPr>
          <a:xfrm>
            <a:off x="1739900" y="41211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8D block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원래 vector</a:t>
            </a:r>
            <a:endParaRPr lang="en-US" sz="1150" dirty="0"/>
          </a:p>
        </p:txBody>
      </p:sp>
      <p:sp>
        <p:nvSpPr>
          <p:cNvPr id="19" name="mechanism-node-e8p41"/>
          <p:cNvSpPr/>
          <p:nvPr/>
        </p:nvSpPr>
        <p:spPr>
          <a:xfrm>
            <a:off x="3782060" y="41211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2-bit E8P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첫 codeword</a:t>
            </a:r>
            <a:endParaRPr lang="en-US" sz="1150" dirty="0"/>
          </a:p>
        </p:txBody>
      </p:sp>
      <p:sp>
        <p:nvSpPr>
          <p:cNvPr id="20" name="mechanism-node-r4"/>
          <p:cNvSpPr/>
          <p:nvPr/>
        </p:nvSpPr>
        <p:spPr>
          <a:xfrm>
            <a:off x="5824220" y="41211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Residual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원래 값에서 첫 code를 뺌</a:t>
            </a:r>
            <a:endParaRPr lang="en-US" sz="1150" dirty="0"/>
          </a:p>
        </p:txBody>
      </p:sp>
      <p:sp>
        <p:nvSpPr>
          <p:cNvPr id="21" name="mechanism-node-e8p42"/>
          <p:cNvSpPr/>
          <p:nvPr/>
        </p:nvSpPr>
        <p:spPr>
          <a:xfrm>
            <a:off x="7866380" y="41211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2-bit E8P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남은 residual을 근사</a:t>
            </a:r>
            <a:endParaRPr lang="en-US" sz="1150" dirty="0"/>
          </a:p>
        </p:txBody>
      </p:sp>
      <p:sp>
        <p:nvSpPr>
          <p:cNvPr id="22" name="mechanism-node-o4"/>
          <p:cNvSpPr/>
          <p:nvPr/>
        </p:nvSpPr>
        <p:spPr>
          <a:xfrm>
            <a:off x="9908540" y="412115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4-bit sum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codeword를 더함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번째 stage는 첫 stage가 남긴 residual을 처리한다.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p. 7, Section 4.3; p. 24, Appendix F.5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QuIP#-NoFT pipeline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7018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97000" y="1701800"/>
            <a:ext cx="260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W와 Hessian 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152900" y="1701800"/>
            <a:ext cx="737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Pretrained linear layer와 calibration sensitivity를 입력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97000" y="22860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50900" y="229870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660400" y="24765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97000" y="2476500"/>
            <a:ext cx="260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IP-RHT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152900" y="2476500"/>
            <a:ext cx="737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W와 H를 변환하고 sign vector S_U, S_V를 보존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97000" y="30607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850900" y="307340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3" name="Text 11"/>
          <p:cNvSpPr txBox="1"/>
          <p:nvPr/>
        </p:nvSpPr>
        <p:spPr>
          <a:xfrm>
            <a:off x="660400" y="32512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97000" y="3251200"/>
            <a:ext cx="260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BlockLDLQ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152900" y="3251200"/>
            <a:ext cx="737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g-coordinate block을 feedback과 함께 quantize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397000" y="38354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7" name="Shape 15"/>
          <p:cNvSpPr/>
          <p:nvPr/>
        </p:nvSpPr>
        <p:spPr>
          <a:xfrm>
            <a:off x="850900" y="384810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8" name="Text 16"/>
          <p:cNvSpPr txBox="1"/>
          <p:nvPr/>
        </p:nvSpPr>
        <p:spPr>
          <a:xfrm>
            <a:off x="660400" y="40259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397000" y="4025900"/>
            <a:ext cx="260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E8P 또는 RVQ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152900" y="4025900"/>
            <a:ext cx="737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2, 3, 4-bit vector index로 weight를 표현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397000" y="46101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2" name="Shape 20"/>
          <p:cNvSpPr/>
          <p:nvPr/>
        </p:nvSpPr>
        <p:spPr>
          <a:xfrm>
            <a:off x="850900" y="462280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3" name="Text 21"/>
          <p:cNvSpPr txBox="1"/>
          <p:nvPr/>
        </p:nvSpPr>
        <p:spPr>
          <a:xfrm>
            <a:off x="660400" y="48006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397000" y="4800600"/>
            <a:ext cx="260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Compressed layer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4152900" y="4800600"/>
            <a:ext cx="737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Code와 matched transform으로 inference 수행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7" name="Shape 25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Text 26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NoFT는 calibration Hessian을 쓰지만 parameter tuning은 하지 않는다.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0" name="Text 28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p. 2, Algorithms 1–2; pp. 3–7, Sections 3–4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Layer proxy 뒤에 fine-tuning을 두는 이유</a:t>
            </a:r>
            <a:endParaRPr lang="en-US" sz="3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609088"/>
                <a:gridCol w="4348480"/>
                <a:gridCol w="391363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단계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최적화 대상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남는 문제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Layer quantization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한 linear layer의 Hessian-weighted output error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뒤 layer까지 누적되는 mismatch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Blockwise tuning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한 transformer block의 activation MSE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전체 model logit mismatch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End-to-end tuning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Original model logit과의 cross-entropy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Development-set 조건과 compute cost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FT는 layer 사이의 누적 mismatch를 data로 줄인다.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7–8, Section 5; pp. 21 and 24–25, Algorithm 5 and Appendix F.6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QuIP#-FT에서 고정되는 것과 학습되는 것</a:t>
            </a:r>
            <a:endParaRPr lang="en-US" sz="3100" dirty="0"/>
          </a:p>
        </p:txBody>
      </p:sp>
      <p:sp>
        <p:nvSpPr>
          <p:cNvPr id="3" name="mechanism-lane-fixed"/>
          <p:cNvSpPr txBox="1"/>
          <p:nvPr/>
        </p:nvSpPr>
        <p:spPr>
          <a:xfrm>
            <a:off x="660400" y="1803400"/>
            <a:ext cx="8636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고정 parameter</a:t>
            </a:r>
            <a:endParaRPr lang="en-US" sz="1250" dirty="0"/>
          </a:p>
        </p:txBody>
      </p:sp>
      <p:sp>
        <p:nvSpPr>
          <p:cNvPr id="4" name="mechanism-lane-train"/>
          <p:cNvSpPr txBox="1"/>
          <p:nvPr/>
        </p:nvSpPr>
        <p:spPr>
          <a:xfrm>
            <a:off x="660400" y="3568700"/>
            <a:ext cx="863600" cy="176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학습 parameter</a:t>
            </a:r>
            <a:endParaRPr lang="en-US" sz="1250" dirty="0"/>
          </a:p>
        </p:txBody>
      </p:sp>
      <p:sp>
        <p:nvSpPr>
          <p:cNvPr id="5" name="mechanism-edge-f1-segment-1"/>
          <p:cNvSpPr/>
          <p:nvPr/>
        </p:nvSpPr>
        <p:spPr>
          <a:xfrm>
            <a:off x="3810000" y="26860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6" name="mechanism-edge-f2-segment-1"/>
          <p:cNvSpPr/>
          <p:nvPr/>
        </p:nvSpPr>
        <p:spPr>
          <a:xfrm>
            <a:off x="3810000" y="44513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mechanism-edge-f3-segment-1"/>
          <p:cNvSpPr/>
          <p:nvPr/>
        </p:nvSpPr>
        <p:spPr>
          <a:xfrm>
            <a:off x="6362700" y="2686050"/>
            <a:ext cx="160867" cy="0"/>
          </a:xfrm>
          <a:prstGeom prst="line">
            <a:avLst/>
          </a:prstGeom>
          <a:noFill/>
          <a:ln w="12700">
            <a:solidFill>
              <a:srgbClr val="5E6D69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mechanism-edge-f3-segment-2"/>
          <p:cNvSpPr/>
          <p:nvPr/>
        </p:nvSpPr>
        <p:spPr>
          <a:xfrm>
            <a:off x="6523567" y="2686050"/>
            <a:ext cx="0" cy="1562100"/>
          </a:xfrm>
          <a:prstGeom prst="line">
            <a:avLst/>
          </a:prstGeom>
          <a:noFill/>
          <a:ln w="12700">
            <a:solidFill>
              <a:srgbClr val="5E6D69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mechanism-edge-f3-segment-3"/>
          <p:cNvSpPr/>
          <p:nvPr/>
        </p:nvSpPr>
        <p:spPr>
          <a:xfrm>
            <a:off x="6523567" y="4248150"/>
            <a:ext cx="321733" cy="0"/>
          </a:xfrm>
          <a:prstGeom prst="line">
            <a:avLst/>
          </a:prstGeom>
          <a:noFill/>
          <a:ln w="12700">
            <a:solidFill>
              <a:srgbClr val="5E6D69"/>
            </a:solidFill>
            <a:prstDash val="dash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0" name="mechanism-edge-f3-label"/>
          <p:cNvSpPr txBox="1"/>
          <p:nvPr/>
        </p:nvSpPr>
        <p:spPr>
          <a:xfrm>
            <a:off x="6070600" y="2127250"/>
            <a:ext cx="1066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고정 weight 출력</a:t>
            </a:r>
            <a:endParaRPr lang="en-US" sz="950" dirty="0"/>
          </a:p>
        </p:txBody>
      </p:sp>
      <p:sp>
        <p:nvSpPr>
          <p:cNvPr id="11" name="mechanism-edge-f4-segment-1"/>
          <p:cNvSpPr/>
          <p:nvPr/>
        </p:nvSpPr>
        <p:spPr>
          <a:xfrm>
            <a:off x="6362700" y="4451350"/>
            <a:ext cx="321733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mechanism-edge-f4-segment-2"/>
          <p:cNvSpPr/>
          <p:nvPr/>
        </p:nvSpPr>
        <p:spPr>
          <a:xfrm>
            <a:off x="6684433" y="4451350"/>
            <a:ext cx="0" cy="203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mechanism-edge-f4-segment-3"/>
          <p:cNvSpPr/>
          <p:nvPr/>
        </p:nvSpPr>
        <p:spPr>
          <a:xfrm>
            <a:off x="6684433" y="4654550"/>
            <a:ext cx="160867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4" name="mechanism-edge-f5-segment-1"/>
          <p:cNvSpPr/>
          <p:nvPr/>
        </p:nvSpPr>
        <p:spPr>
          <a:xfrm>
            <a:off x="8915400" y="445135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5" name="mechanism-node-codes"/>
          <p:cNvSpPr/>
          <p:nvPr/>
        </p:nvSpPr>
        <p:spPr>
          <a:xfrm>
            <a:off x="1739900" y="23558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Quantized W_hat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Code와 weight matrix gradient 고정</a:t>
            </a:r>
            <a:endParaRPr lang="en-US" sz="1150" dirty="0"/>
          </a:p>
        </p:txBody>
      </p:sp>
      <p:sp>
        <p:nvSpPr>
          <p:cNvPr id="16" name="mechanism-node-block"/>
          <p:cNvSpPr/>
          <p:nvPr/>
        </p:nvSpPr>
        <p:spPr>
          <a:xfrm>
            <a:off x="4292600" y="23558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Block output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Activation MSE 기준 제공</a:t>
            </a:r>
            <a:endParaRPr lang="en-US" sz="1150" dirty="0"/>
          </a:p>
        </p:txBody>
      </p:sp>
      <p:sp>
        <p:nvSpPr>
          <p:cNvPr id="17" name="mechanism-node-sign"/>
          <p:cNvSpPr/>
          <p:nvPr/>
        </p:nvSpPr>
        <p:spPr>
          <a:xfrm>
            <a:off x="1739900" y="41211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S_U와 S_V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Real-valued vector로 최적화</a:t>
            </a:r>
            <a:endParaRPr lang="en-US" sz="1150" dirty="0"/>
          </a:p>
        </p:txBody>
      </p:sp>
      <p:sp>
        <p:nvSpPr>
          <p:cNvPr id="18" name="mechanism-node-mse"/>
          <p:cNvSpPr/>
          <p:nvPr/>
        </p:nvSpPr>
        <p:spPr>
          <a:xfrm>
            <a:off x="4292600" y="41211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Blockwise MSE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각 transformer block 보정</a:t>
            </a:r>
            <a:endParaRPr lang="en-US" sz="1150" dirty="0"/>
          </a:p>
        </p:txBody>
      </p:sp>
      <p:sp>
        <p:nvSpPr>
          <p:cNvPr id="19" name="mechanism-node-selected"/>
          <p:cNvSpPr/>
          <p:nvPr/>
        </p:nvSpPr>
        <p:spPr>
          <a:xfrm>
            <a:off x="6845300" y="41211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선택 parameter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Sign, layernorm, LM head</a:t>
            </a:r>
            <a:endParaRPr lang="en-US" sz="1150" dirty="0"/>
          </a:p>
        </p:txBody>
      </p:sp>
      <p:sp>
        <p:nvSpPr>
          <p:cNvPr id="20" name="mechanism-node-ce"/>
          <p:cNvSpPr/>
          <p:nvPr/>
        </p:nvSpPr>
        <p:spPr>
          <a:xfrm>
            <a:off x="9398000" y="412115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End-to-end 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Original logits를 target으로 학습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2" name="Text 20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Quantized weight는 고정하고 selected parameter는 학습한다.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p. 21, Algorithm 5; p. 24, Appendix F.6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Fine-tuning의 data와 compute 조건</a:t>
            </a:r>
            <a:endParaRPr lang="en-US" sz="31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3261360"/>
                <a:gridCol w="3478784"/>
                <a:gridCol w="413105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항목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NoFT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FT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 2 70B quantization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 GPU-hours 미만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약 100 GPU-hours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Hessian generation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두 시간 모두 제외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두 시간 모두 제외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Blockwise data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해당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Train 256, validation 128 sequences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Blockwise optimization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해당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Adam, 5 epochs, 160 steps, batch 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Hardware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NVIDIA A100 실험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NVIDIA A100 실험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FT의 quality gain에는 NoFT보다 큰 data와 optimization cost가 따른다.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24–25, Appendices F.6–F.7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Table 4: Llama 2 70B의 2-bit ablation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Context 4096, perplexity는 낮을수록 좋음</a:t>
            </a:r>
            <a:endParaRPr lang="en-US" sz="1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609088"/>
                <a:gridCol w="2282952"/>
                <a:gridCol w="2174240"/>
                <a:gridCol w="380492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Variant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WikiText2 PPL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C4 PPL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포함된 구성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QuIP#-FT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3.91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5.71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RHT, E8P, fine-tuning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QuIP#-NoFT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4.16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6.01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RHT와 E8P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NoFT-noE8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4.58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6.51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RHT와 1D half-integer grid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고정 protocol 안에서는 E8 codebook과 FT가 각각 추가 개선과 함께 나타난다.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p. 9, Table 4 and Section 6.4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Table 4: Llama 2 7B에서 더 큰 2-bit 격차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Context 4096, perplexity는 낮을수록 좋음</a:t>
            </a:r>
            <a:endParaRPr lang="en-US" sz="1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609088"/>
                <a:gridCol w="2391664"/>
                <a:gridCol w="2174240"/>
                <a:gridCol w="369620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Variant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WikiText2 PPL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C4 PPL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70B와 같은 protocol인가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QuIP#-FT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6.19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8.16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같은 Table 4와 context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QuIP#-NoFT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8.22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11.0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같은 Table 4와 context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NoFT-noE8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11.2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14.5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같은 Table 4와 context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7B에서도 FT와 lattice codebook의 이점이 실험적으로 나타난다.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p. 9, Table 4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Table 2와 Table 4의 context 조건은 다르다</a:t>
            </a:r>
            <a:endParaRPr lang="en-US" sz="3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174240"/>
                <a:gridCol w="2174240"/>
                <a:gridCol w="3913632"/>
                <a:gridCol w="260908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표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Context length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주요 비교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안전한 사용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Table 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2048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AWQ, OmniQuant, QuIP# 포함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2048 protocol 안에서 비교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Table 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4096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FP16, QuIP, AQLM, QuIP#와 ablation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4096 protocol 안에서 비교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5267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Appendix Hessian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 2 native 4096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6144 RedPajama sequences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Calibration 조건으로 별도 기록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서로 다른 context의 PPL 숫자를 한 ranking처럼 직접 비교할 수 없다.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7–9, Tables 2 and 4; p. 24, Appendix F.2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Table 5: RTX 4090 proof-of-concept inference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FlashAttention Llama implementation, generation throughput와 peak memory bandwidth 이용률</a:t>
            </a:r>
            <a:endParaRPr lang="en-US" sz="1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3261360"/>
                <a:gridCol w="2174240"/>
                <a:gridCol w="2500376"/>
                <a:gridCol w="293522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Model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Bit rate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Tokens/s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Memory bandwidth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 2 7B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2-bit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170.50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29.60%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 2 13B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2-bit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104.83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33.80%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 1 30B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2-bit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51.60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38.39%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 2 70B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2-bit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32.74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56.84%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70B의 56.84% 수치는 named GPU와 implementation에서 얻은 시스템 결과다.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8–9, Table 5 and Section 6.3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 bits per weight와 전체 배포 memory의 차이</a:t>
            </a:r>
            <a:endParaRPr lang="en-US" sz="3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500376"/>
                <a:gridCol w="2391664"/>
                <a:gridCol w="3370072"/>
                <a:gridCol w="260908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구성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분류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값·근거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해석 경계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E8P indices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Paper accounting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16 bits per 8 weights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핵심 2-bit code rate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E8P source table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Paper accounting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Model 전체에 공유되는 1 KiB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작지만 0은 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Sign vectors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Paper accounting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큰 Llama matrix에서 0.01 bits/weight 미만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FT에서는 FP16 저장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Scales와 retained state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일반 deployment 고려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Appendix F.1 산정 대상 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Paper의 정량 claim이 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Runtime activation·cache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일반 deployment 고려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Appendix F.1 산정 대상 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Weight code rate와 별도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2-bit code rate와 전체 배포 memory는 같은 수치가 아니다.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p. 24, Appendix F.1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Formal guarantee와 model evidence의 경계</a:t>
            </a:r>
            <a:endParaRPr lang="en-US" sz="3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1676400"/>
          <a:ext cx="10871200" cy="3721100"/>
        </p:xfrm>
        <a:graphic>
          <a:graphicData uri="http://schemas.openxmlformats.org/drawingml/2006/table">
            <a:tbl>
              <a:tblPr/>
              <a:tblGrid>
                <a:gridCol w="2391664"/>
                <a:gridCol w="4565904"/>
                <a:gridCol w="391363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근거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성립하는 결론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성립하지 않는 결론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Lemma 3.1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RHT 뒤 incoherence의 high-probability bound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Final PPL 개선 보장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Theorem 4.1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조건부 expected layer proxy bound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전체 LLM accuracy 보장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Tables 1과 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지정 model·context의 PPL 비교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모든 dataset의 ranking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Table 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RTX 4090 implementation의 throughput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Hardware-independent speedup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516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Appendix F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특정 calibration과 tuning cost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모든 model의 최적 recipe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Text 2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Theory와 model·system experiment는 서로 다른 범위를 검증한다.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Text 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3–11, Lemma 3.1, Theorem 4.1, Tables 1–5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QuIP#의 전체 논리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7018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1397000" y="1701800"/>
            <a:ext cx="260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Coordinate 준비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4152900" y="1701800"/>
            <a:ext cx="737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NoFT는 binary sign과 Hadamard로 coordinate 집중을 완화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397000" y="22860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50900" y="229870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660400" y="24765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397000" y="2476500"/>
            <a:ext cx="260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Block quantization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152900" y="2476500"/>
            <a:ext cx="737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Vector code를 고르고 앞 block residual을 뒤 block에 반영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1397000" y="30607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850900" y="307340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3" name="Text 11"/>
          <p:cNvSpPr txBox="1"/>
          <p:nvPr/>
        </p:nvSpPr>
        <p:spPr>
          <a:xfrm>
            <a:off x="660400" y="32512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97000" y="3251200"/>
            <a:ext cx="260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Structured code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152900" y="3251200"/>
            <a:ext cx="737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E8P와 RVQ로 8D low-bit index를 compact하게 decode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397000" y="38354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7" name="Shape 15"/>
          <p:cNvSpPr/>
          <p:nvPr/>
        </p:nvSpPr>
        <p:spPr>
          <a:xfrm>
            <a:off x="850900" y="384810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8" name="Text 16"/>
          <p:cNvSpPr txBox="1"/>
          <p:nvPr/>
        </p:nvSpPr>
        <p:spPr>
          <a:xfrm>
            <a:off x="660400" y="40259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397000" y="4025900"/>
            <a:ext cx="260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선택적 FT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152900" y="4025900"/>
            <a:ext cx="737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NoFT를 유지하거나 selected parameter FT를 추가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397000" y="46101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2" name="Shape 20"/>
          <p:cNvSpPr/>
          <p:nvPr/>
        </p:nvSpPr>
        <p:spPr>
          <a:xfrm>
            <a:off x="850900" y="462280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3" name="Text 21"/>
          <p:cNvSpPr txBox="1"/>
          <p:nvPr/>
        </p:nvSpPr>
        <p:spPr>
          <a:xfrm>
            <a:off x="660400" y="4800600"/>
            <a:ext cx="571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1397000" y="4800600"/>
            <a:ext cx="2603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조건부 검증</a:t>
            </a:r>
            <a:endParaRPr lang="en-US" sz="1900" dirty="0"/>
          </a:p>
        </p:txBody>
      </p:sp>
      <p:sp>
        <p:nvSpPr>
          <p:cNvPr id="25" name="Text 23"/>
          <p:cNvSpPr txBox="1"/>
          <p:nvPr/>
        </p:nvSpPr>
        <p:spPr>
          <a:xfrm>
            <a:off x="4152900" y="4800600"/>
            <a:ext cx="7378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Matched context의 품질표와 named GPU의 inference로 평가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7" name="Shape 25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Text 26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QuIP#는 변환, feedback, code 구조를 함께 설계한다.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0" name="Text 28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quipsharp-paper pp. 1–12, Sections 1–7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QuIP#: Hadamard 변환과 lattice codebook을 이용한 LLM 양자화</dc:title>
  <dc:subject>QuIP#: Even Better LLM Quantization with Hadamard Incoherence and Lattice Codebooks</dc:subject>
  <dc:creator>Research Seminars</dc:creator>
  <cp:lastModifiedBy>Research Seminars</cp:lastModifiedBy>
  <cp:revision>1</cp:revision>
  <dcterms:created xsi:type="dcterms:W3CDTF">2026-09-12T05:13:14Z</dcterms:created>
  <dcterms:modified xsi:type="dcterms:W3CDTF">2026-09-12T05:13:14Z</dcterms:modified>
</cp:coreProperties>
</file>
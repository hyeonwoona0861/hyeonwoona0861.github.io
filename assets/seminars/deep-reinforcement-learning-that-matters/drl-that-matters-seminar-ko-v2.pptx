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639A24FD-D639-4C4D-902C-17B4F7FCDE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Deep Reinforcement Learning that Matters: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 가능한 비교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Henderson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등의 논문은 새 강화학습 알고리즘을 제안하는 논문이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알고리즘 이름과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사용했다고 해도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설정과 평가 방식이 다르면 성능 주장의 뜻이 달라질 수 있음을 실험으로 조사합니다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자료는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2019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 v3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원문을 기준으로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1, title, abstract; arXiv 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7F60FE3-54C5-4C3C-AA0B-7690125876C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역할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deep 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검증하는 실험 연구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policy-gradient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MuJoCo continuous-control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환경에 초점을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TRPO, DDPG, PPO, ACKTR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조사합니다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논문을 특정 알고리즘의 성능 논문이나 일반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통계 이론의 완결된 해법으로 발표하면 범위를 벗어납니다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1-2, abstract and Technical Background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A9ACBD6-768F-42F8-A3A5-7F5F8EA31EB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만으로는 비교 조건이 부족하다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도식은 원문의 문제의식을 교육적으로 재구성한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seed, environment property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intrinsic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hyperparameter, codebase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extrinsic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재현성에 영향을 준다고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화살표는 학습과 평가의 의존관계이며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물리적 시스템 흐름이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1-2, introduction and Experimental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71FC53-DB6C-4F05-ADB0-25BF0F55E78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variance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두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결론은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 property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intrinsic, 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extrinsic non-determinism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예로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분류는 원문 예시를 정리한 것이며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가능한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variance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원인을 완전 분류한다는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1, 7, introduction and Discussion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579BF49-1DD3-4A0C-8B80-FFDBC29DB35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주요 실험의 공통 프로토콜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코드베이스 비교를 제외하면 저자들은 대체로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OpenAI Baselines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서로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preset random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개로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실행했다고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그래프와 결과는 특별한 언급이 없으면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평균과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Tables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2M training samples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마지막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trajectories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average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2, 4, experiment setup; Tables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350D7C-C004-417F-AC20-419219DF171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성능의 일부다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세 가지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구조와 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조사합니다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Tables 1-2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효과가 알고리즘과 환경 전반에서 일관되지 않음을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예를 들어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clipping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조정을 필요로 할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실험은 독립 변수 하나의 보편적 인과 효과를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2-4, Fig. 2; Tables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56952A9-1D26-48D9-93F7-1032E86528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reward 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학습 신호의 크기를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 rescaling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r-hat equals r times sigma-hat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HalfCheetah-v1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 normalization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유무와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0.01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illustrated 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학습 실패를 관찰합니다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결과가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scaling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일관되지 않았다고도 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보편적 권고로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도식의 분기는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reward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network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생성한다는 인과관계가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독립적으로 지정하는 두 설정 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3, Fig. 3, reward-scale section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C515D61-BBD3-4966-BC80-55D4B4FB975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다른 평균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바꾸어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trial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수행한 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다섯 개씩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나누고 평균을 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TRPO HalfCheetah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실험은 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크게 달라질 수 있음을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t=-9.0916, p=0.0016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방법의 승패로 설명하면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Fig. 5 and Random Seeds and Trials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3D1748-0A79-432F-8E2B-01886D60C3D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구성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top run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선택이 평균을 어떻게 바꾸는가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교육용으로 새로 만든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다섯 값 중 상위 둘만 쓰면 평균은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높아집니다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p-value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추정하지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top-N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선택하거나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작은 경우가 잠재적으로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misleading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있다고 지적합니다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5, Random Seeds and Trials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C58FC67-A7B4-478E-AA6F-C68F5D791BF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benchmark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바꾸는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 bootstrap iterations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pivotal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 mean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퍼센트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bounds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HalfCheetah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높은 수치를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Hopper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survival bonus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trajectory length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생존이라는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만들 수 있고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Swimmer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flailing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130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optimum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만으로 원하는 행동을 달성했다고 판단하지 말라는 경고입니다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4-5, Table 3 and environment section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C99DAA1-1EBC-4709-A0A0-0E70B843E4D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비교 조건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TRPO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code, OpenAI Baselines, rllab TensorFlow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rllab Theano, rllabplusplus, Baselines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Figure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Tables 1-2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논문에 자주 드러나지 않는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성능에 큰 영향을 줄 수 있음을 보이는 근거입니다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detail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열거하고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함께 제공하며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publication code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결과와 맞아야 한다고 권고합니다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5-6, Fig. 6; Tables 1-2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A03991-7B8F-4017-8C75-92EF24DC8F4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보고하기 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평가 관점을 정해야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online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탐색과 활용을 포함한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learning process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볼 수 있다고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policy-optimization view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policy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trajectory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평가해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정해야 한다고 설명하며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논문은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offline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초점을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branch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동시에 시행하는 절차가 아니라 해석상 다른 평가 관점입니다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6, Online View vs. Policy Optimization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F1EE601-8D34-496E-91A4-D62DC015C38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탐색한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uncertainty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분석 절차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bootstrap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관측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replacement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허용해 여러 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resampling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얻는 방법으로 소개됩니다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power analysis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일률적으로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배로 올리는 예를 사용해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significant simulation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비율을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t-test, KS test, bootstrap percent difference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탐색하지만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corrected ML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assumption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적용되지 않을 수 있다고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6-7, bootstrap, power, significance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0D2D59B-EC77-42B1-9B05-043A2F57B7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source example: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작은 평균 차이의 해석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원문이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Walker2d-v1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ACKTR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DDPG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비교하며 든 예시를 그대로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ACKTR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약간 더 잘 수행하지만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겹치므로 해당 차이가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significant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 않다고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한 예시가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비교에서 사용할 유일한 검정을 정하는 것은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non-significant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두 방법이 동등하다는 증명이 아니라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표본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검정에서 차이를 뒷받침할 근거가 충분하지 않았다는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confidence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겹침 자체를 일반적인 차이 검정으로 사용해서도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7, significance example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FD6F3E5-9C5A-48E9-A5B1-E11A4347842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재현 가능한 비교의 기록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권고는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reported performance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working hyperparameter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codebase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맞는지 확인하는 것에서 시작합니다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multiple seed trials, appropriate significance analysis, all hyperparameters, implementation details, setup, evaluation method, implementation release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강조합니다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도식의 순서는 논문의 권고 항목을 기록 흐름으로 교육적으로 배열한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p. 7, Discussion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C16A1D9-978F-4071-8287-3D1B2202333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결과의 적용 범위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policy-gradient continuous-control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 초점을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random seed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 대해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trial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권고할 수 없다고 하며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RL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적합한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corrected significance test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조사하려면 추가 작업이 필요하다고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benchmark environment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real-world application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적용 분야를 함께 보여야 할 수 있다는 점도 결론에서 논의합니다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5-7, seed, significance,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0FD2CB0-42A1-4AA1-9B30-37E537BEC1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성능 주장은 조건과 불확실성을 포함해야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발표를 마무리하며 이 논문의 핵심을 다시 정리합니다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저자들이 강조하는 것은 하나의 최고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hyperparameter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환경으로 평가되었는지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결과가 얼마나 흔들리는지를 기록하는 일입니다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통해 새로운 방법의 향상이 실제 기여인지 더 엄밀하게 판단할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arxiv-v3 | pp. 1, 7, abstract and conclusion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arXiv:1709.06560v3 — Deep Reinforcement Learning that Matters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https://arxiv.org/abs/1709.06560v3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B7E0973-6193-4321-9E31-EE2F6E49260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Reinforcement Learning that Matters: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재현 가능한 비교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Deep Reinforcement Learning that Matters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Peter Henderson, Riashat Islam, Philip Bachman, Joelle Pineau, Doina Precup, David Meger (2018)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deep RL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성능 비교를 재현성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불확실성 관점에서 점검한 실험 연구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1, title, abstract; arXiv v3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역할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deep RL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검증하는 실험 연구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핵심 대상은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continuous-control policy-gradient baseline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비교와 보고 방식이다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56588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강의에서 지킬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질문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보고된 성능 향상이 의미 있는가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 algorithm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설명으로 확장하지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TRPO, DDPG, PPO, ACKTR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넷의 모든 성질을 일반화하지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MuJoCo continuous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field deployment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결과로 해석하지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기여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variance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절차 조사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보편적 통계 검정을 증명하지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산출물은 더 신뢰할 수 있는 비교를 위한 증거와 권고안이다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1-2, abstract and Technical Background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개의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learning curve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만으로는 비교 조건이 부족하다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알고리즘 이름 외의 선택이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최종 성능 주장을 함께 바꾼다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mechanism-lane-claim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result production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mechanism-edge-m-c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mechanism-edge-c-r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" name="mechanism-edge-r-e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mechanism-edge-e-o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mechanism-node-method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TRPO·DDPG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PPO·ACKTR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mechanism-node-conditions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conditions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network·scale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seed·code·env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mechanism-node-runs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multiple runs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curve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차이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mechanism-node-evaluation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evaluation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mean·CI·test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mechanism-node-claimout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claim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 아래의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주장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하나의 속성보다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명시된 실험 조건 아래의 관측값으로 읽어야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1-2, introduction and Experimental Analysis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variance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두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내부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randomness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외부 실험 선택을 함께 점검한다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5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7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알고리즘과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task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정함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intrinsic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seed·environment randomness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extrinsic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hyperparameter·codebase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observed return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곡선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순위가 달라질 수 있음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비교의 해석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분산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평가를 함께 보고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1, 7, introduction and Discussion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주요 실험의 공통 프로토콜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조건을 읽지 않으면 표와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숫자를 공정하게 비교할 수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2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46746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TRPO·DDPG·PPO·ACKTR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구현을 쓰는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policy-gradient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Hopper-v1·HalfCheetah-v1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불안정성과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MuJoCo 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반복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평가마다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preset seed 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 set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평균과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standard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architecture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2M samples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마지막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trajectories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average 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3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 숫자는 ‘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 seed,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특정 환경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구현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학습량’이라는 조건을 떼어낼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6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2, 4, experiment setup; Tables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network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구조와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성능의 일부다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policy/value MLP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구조와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하나씩 바꾸어 영향을 측정했다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282760"/>
                <a:gridCol w="4022280"/>
                <a:gridCol w="45658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바꾼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후보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결과를 읽는 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MLP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(64,64), (100,50,25), (400,300)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알고리즘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환경마다 효과가 다름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tanh, ReLU, Leaky ReLU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보편적 우위로 말할 수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policy/value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value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각각 변화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변수 사이 상호작용 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trials, 2M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1-2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return ± 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설정을 생략하면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method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configuration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분리하기 어렵다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2-4, Fig. 2; Tables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reward scale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학습 신호의 크기를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환경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곱한 값을 학습에 사용할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9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0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1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3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5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8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9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실험 조건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환경에서 설정을 비교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reward scale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r-hat = r × sigma-hat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layer norm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적용 또는 미적용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조건별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 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 조합마다 학습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관측된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조건별 성능을 대조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0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3, Fig. 3, reward-scale section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바꾼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다른 평균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만들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Figure 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동일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TRPO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설정을 두 개의 다섯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-seed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평균으로 나눈 실험이다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mechanism-lane-see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same setup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mechanism-edge-f-t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mechanism-edge-t-s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mechanism-edge-s-a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mechanism-edge-a-c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mechanism-node-fixed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고정 조건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TRPO·HC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설정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mechanism-node-ten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trials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다르게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학습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mechanism-node-spli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5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개씩 분할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mechanism-node-averag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group average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curve 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mechanism-node-compar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차이 관측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평균은 달라짐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mechanism-axis-line"/>
          <p:cNvSpPr/>
          <p:nvPr/>
        </p:nvSpPr>
        <p:spPr>
          <a:xfrm>
            <a:off x="1676160" y="5079960"/>
            <a:ext cx="9855360" cy="360"/>
          </a:xfrm>
          <a:prstGeom prst="line">
            <a:avLst/>
          </a:prstGeom>
          <a:ln w="12700">
            <a:solidFill>
              <a:srgbClr val="5E6D6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mechanism-axis-tick-1"/>
          <p:cNvSpPr/>
          <p:nvPr/>
        </p:nvSpPr>
        <p:spPr>
          <a:xfrm>
            <a:off x="216396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mechanism-axis-tick-2"/>
          <p:cNvSpPr/>
          <p:nvPr/>
        </p:nvSpPr>
        <p:spPr>
          <a:xfrm>
            <a:off x="42062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t+1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mechanism-axis-tick-3"/>
          <p:cNvSpPr/>
          <p:nvPr/>
        </p:nvSpPr>
        <p:spPr>
          <a:xfrm>
            <a:off x="62485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t+2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mechanism-axis-tick-4"/>
          <p:cNvSpPr/>
          <p:nvPr/>
        </p:nvSpPr>
        <p:spPr>
          <a:xfrm>
            <a:off x="829044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t+3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mechanism-axis-tick-5"/>
          <p:cNvSpPr/>
          <p:nvPr/>
        </p:nvSpPr>
        <p:spPr>
          <a:xfrm>
            <a:off x="10332720" y="5118120"/>
            <a:ext cx="711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rial"/>
                <a:ea typeface="Arial"/>
              </a:rPr>
              <a:t>later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8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19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경쟁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동일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configuration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 grouping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20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21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Fig. 5 and Random Seeds and Trials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22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구성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top run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선택이 평균을 어떻게 바꾸는가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숫자는 원문 데이터가 아닌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selective reporting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설명하기 위한 산술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696120"/>
                <a:gridCol w="239148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보고 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사용한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constructed returns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표시값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70, 80, 90, 100, 110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450 ÷ 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 runs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100, 110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210 ÷ 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105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선택만 변경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(105 - 90) ÷ 90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16.7%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평균 상승은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method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향상의 증거보다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보고 규칙 변화의 신호일 수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5, Random Seeds and Trials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 environment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바꾸는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순위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3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각 환경에서의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 mean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95% bound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따로 보고한다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2608920"/>
                <a:gridCol w="260892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환경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DDPG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TRPO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때의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HalfCheetah-v1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5037 (3664, 6574)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1254.5 (999, 1464)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표의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seed·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구현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평가 조건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Hopper-v1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1632 (607, 2370)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2965 (2854, 3076)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결과가 달라짐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Swimmer-v1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31 (21, 46)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214 (141, 287)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return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행동 품질을 완전히 뜻하지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환경에서의 우세를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benchmark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실제 응용의 우세로 확대할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4-5, Table 3 and environment section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다른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codebase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비교 조건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TRPO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여러 널리 쓰인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implementation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같은 설정으로 대조했다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label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TRPO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DDPG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implementation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original·Baselines·rllab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숨은 선택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optimizer·baseline·network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observed return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설정에서도 차이 발생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보고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구현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detail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name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매칭보다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implementation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공개를 요구한다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5-6, Fig. 6; Tables 1-2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보고하기 전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관점을 정해야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online-learning 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target-policy offline evaluation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학습한 </a:t>
            </a: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성능으로 볼지 결정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online view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탐색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활용 중 얻은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policy optimization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policy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평가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reporting metric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관점과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명시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해석 가능한 결과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측정 대상을 독자에게 전달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6, Online View vs. Policy Optimization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원문이 탐색한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분석 절차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여러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seed run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요약한 뒤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bootstrap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검정을 보조 근거로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run-level returns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평가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4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bootstrap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복원 추출 →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mean·95% bound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9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power check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1.25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 예시의 유의한 비율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5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tests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t·KS·percent difference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qualified report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4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5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원문은 이 도구들을 제안적 출발점으로 다루며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RL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 정답으로 확정하지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7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6-7, bootstrap, power, significance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example: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작은 평균 차이의 해석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Walker2d-v1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ACKTR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DDPG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 원문의 수치다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8048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수치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two-sample 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 = 1.03, p = 0.334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ACKTR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작은 우세는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significant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KS = 0.40, p = 0.697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분포 차이의 근거가 약함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 difference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44.47% (-80.62%, 111.72%)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95% interval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가로지름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평균이 조금 높다는 관측과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더 나은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method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결론은 다른 주장이다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7, significance example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 비교의 기록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독자가 같은 조건을 재구성하고 결과의 범위를 판단할 수 있어야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mechanism-lane-record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publication record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mechanism-edge-b-c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mechanism-edge-c-s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2" name="mechanism-edge-s-e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mechanism-edge-e-r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mechanism-node-baseline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 check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원 결과를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가능한가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mechanism-node-config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configuration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HP setting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implementation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mechanism-node-setup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setup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env·seed·trial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metric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mechanism-node-evidenc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uncertainty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mean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range·CI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mechanism-node-releas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 release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detail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재현성은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하나가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비교를 규정한 조건과 불확실성을 함께 남기는 일이다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2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p. 7, Discussion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결과의 적용 범위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권고안은 중요한 출발점이지만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주장하지 않은 보편 법칙으로 넓히면 안 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6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391480"/>
                <a:gridCol w="434844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근거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algorithm·task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policy-gradient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MuJoCo continuous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 family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실증 증명은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trial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평가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5 trials, seed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보편적으로 충분한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제시하지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통계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bootstrap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탐색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맞는 최선의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test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추가 연구 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현실 적용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benchmark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real-world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robustness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보장하지 않음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좋은 보고는 더 강한 결론을 꾸미는 일이 아니라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결론이 성립하는 조건을 남기는 일이다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5-7, seed, significance,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 주장은 조건과 불확실성을 포함해야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논문은 ‘어떤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이겼는가’보다 ‘그 비교를 믿을 근거가 충분한가’를 묻는다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2"/>
          <p:cNvSpPr/>
          <p:nvPr/>
        </p:nvSpPr>
        <p:spPr>
          <a:xfrm>
            <a:off x="838080" y="21718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seed·environment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intrinsic variance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hyperparameter·codebase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extrinsic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선택을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3"/>
          <p:cNvSpPr/>
          <p:nvPr/>
        </p:nvSpPr>
        <p:spPr>
          <a:xfrm>
            <a:off x="838080" y="3124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Text 4"/>
          <p:cNvSpPr/>
          <p:nvPr/>
        </p:nvSpPr>
        <p:spPr>
          <a:xfrm>
            <a:off x="838080" y="316224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환경별 결과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implementation,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평균 밖의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uncertainty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제시해야 비교의 뜻이 분명해진다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Shape 5"/>
          <p:cNvSpPr/>
          <p:nvPr/>
        </p:nvSpPr>
        <p:spPr>
          <a:xfrm>
            <a:off x="838080" y="4114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Text 6"/>
          <p:cNvSpPr/>
          <p:nvPr/>
        </p:nvSpPr>
        <p:spPr>
          <a:xfrm>
            <a:off x="838080" y="415296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bootstrap·power·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검정은 유용한 출발점이지만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맞는 보편 해법으로 단정하지 않는다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Shape 7"/>
          <p:cNvSpPr/>
          <p:nvPr/>
        </p:nvSpPr>
        <p:spPr>
          <a:xfrm>
            <a:off x="838080" y="51051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Text 8"/>
          <p:cNvSpPr/>
          <p:nvPr/>
        </p:nvSpPr>
        <p:spPr>
          <a:xfrm>
            <a:off x="838080" y="5143680"/>
            <a:ext cx="10693080" cy="90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재현 가능한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공개된 설정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코드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 절차가 누적 가능한 연구의 기반이 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9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2" name="Text 10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arxiv-v3 pp. 1, 7, abstract and conclusion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Text 11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2026-09-12T06:39:29Z</dcterms:created>
  <dc:creator>Research Seminars</dc:creator>
  <dc:description/>
  <dc:language>ko-KR</dc:language>
  <cp:lastModifiedBy>Research Seminars</cp:lastModifiedBy>
  <dcterms:modified xsi:type="dcterms:W3CDTF">2026-09-12T06:39:29Z</dcterms:modified>
  <cp:revision>1</cp:revision>
  <dc:subject>Deep Reinforcement Learning that Matters</dc:subject>
  <dc:title>Deep Reinforcement Learning that Matters: 재현 가능한 비교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17</vt:r8>
  </property>
  <property fmtid="{D5CDD505-2E9C-101B-9397-08002B2CF9AE}" pid="3" name="PresentationFormat">
    <vt:lpwstr>On-screen Show (16:9)</vt:lpwstr>
  </property>
  <property fmtid="{D5CDD505-2E9C-101B-9397-08002B2CF9AE}" pid="4" name="Slides">
    <vt:r8>17</vt:r8>
  </property>
</Properties>
</file>
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Federated DRL: 종속 task offloading의 연구 구상
발표 대본
이 자료는 Iman Rahmati의 두 쪽 Research Idea 문서를 설명합니다. 완성 알고리즘이나 실험 논문이 아닙니다. 첫 쪽은 문제와 연구 방법을 제안하고 둘째 쪽은 참고문헌입니다. 원문에는 발행 연도가 없으므로 참고문헌의 2024년을 이 제안의 발행 연도로 사용하지 않습니다. 제목의 Intradependente 표기는 원문 그대로입니다.
공개 출처
research-idea | pp. 1–2, title and document structure
Iman Rahmati, two-page Research Idea (undated)
https://imanrht.github.io/assets/FederatedDRL.pdf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제안한 것과 아직 검증하지 않은 것
발표 대본
문서는 Motivation에서 학습 가속, 공동 참여, 새 장치가 들어오는 상황의 지속 학습을 기대 장점으로 듭니다. Methodology는 구현과 시뮬레이션을 미래 계획으로 제시합니다. 따라서 이를 이미 검증된 성능 또는 privacy guarantee라고 소개하면 안 됩니다.
공개 출처
research-idea | p. 1, Motivation and Research Methodology
Iman Rahmati, two-page Research Idea (undated)
https://imanrht.github.io/assets/FederatedDRL.pdf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종속 task는 실행 순서와 데이터 전달을 함께 정한다
발표 대본
원문은 task 내부 종속성을 Task Call Graph로 표현하자고 제안합니다. 도식의 A→B는 그 필요성을 이해시키는 단순한 강의용 선후관계입니다. 모든 call graph가 DAG라고 주장하거나 이 예시의 timing model을 논문 정의라고 간주하지 않습니다. 구체적 node/edge feature, 실행 규칙, encoder는 원문에 없습니다.
공개 출처
research-idea | p. 1, Problem Statement
Iman Rahmati, two-page Research Idea (undated)
https://imanrht.github.io/assets/FederatedDRL.pdf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강의용 계산: 전송을 빠뜨리면 완료 시간을 작게 센다
발표 대본
원문에는 timing equation이나 수치 실험이 없습니다. 이 예에서는 queue, 병렬 overlap, 통신 시작·종료 overhead를 생략하고 A와 B의 실행 시간을 위치와 무관하게 고정했습니다. 이 가정 아래 A가 끝나고 전송을 마친 다음 B를 실행하므로 5 ms 또는 6 ms입니다. 실제 offloading 최적해나 제안 기법의 성능 향상을 계산한 것은 아닙니다.
공개 출처
research-idea | p. 1, Problem Statement; constructed teaching example
Iman Rahmati, two-page Research Idea (undated)
https://imanrht.github.io/assets/FederatedDRL.pdf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공동 학습: local data 대신 model update를 모은다
발표 대본
원문 Motivation의 주기적 local update 전송과 중앙 aggregation을 순서도로 표현했습니다. A와 B는 구분을 위한 예시 장치이며 고정된 두-device 시스템이 아닙니다. 오른쪽은 다음 round의 local 학습에서 각 장치가 global model을 반영한다는 순서 설명입니다. 실선은 model 정보 전달입니다. 원시 데이터가 중앙으로 이동한다는 화살표는 그리지 않았습니다. 이는 정보 흐름 설명이지 특정 aggregation equation이나 완성된 distributed algorithm이 아닙니다.
공개 출처
research-idea | p. 1, Motivation
Iman Rahmati, two-page Research Idea (undated)
https://imanrht.github.io/assets/FederatedDRL.pdf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Actor-Critic과 D3QN은 연구 후보로 제시된다
발표 대본
Research Methodology는 federated Actor-Critic 또는 federated D3QN을 후보로 제시합니다. 선택된 architecture, aggregation rule, loss, hyperparameter는 명시하지 않습니다. References의 Actor-Critic은 age-sensitive MEC, D3QN 계열 인용은 SDN-based IoT traffic monitoring입니다. 이 제안의 종속 task offloading에서 같은 성능이 입증되었다는 의미가 아닙니다.
공개 출처
research-idea | pp. 1–2, Problem Model, Methodology and references [3]–[4]
Iman Rahmati, two-page Research Idea (undated)
https://imanrht.github.io/assets/FederatedDRL.pdf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local data를 보내지 않는 것과 privacy 보장은 다르다
발표 대본
원문은 preserving data privacy 또는 without compromising user privacy라는 동기 표현을 사용하지만, secure aggregation·differential privacy·공격 평가와 같은 보호 절차를 명시하지 않습니다. 따라서 이 자료에서는 privacy가 검증된 알고리즘이 아니라 추가 검증이 필요한 기대 목표라고 설명합니다. 특정 공격 성공률을 주장하지 않습니다.
공개 출처
research-idea | p. 1, Motivation and Key Challenges
Iman Rahmati, two-page Research Idea (undated)
https://imanrht.github.io/assets/FederatedDRL.pdf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새 장치와 이질적인 환경을 어떻게 받아들일 것인가
발표 대본
원문은 새 mobile device가 참여하는 동안 continuous learning을 지원하자는 기대를 듭니다. 동시에 communication efficiency와 heterogeneity를 핵심 challenge로 적습니다. 여기서는 문서에 없는 personalization, asynchronous update, 특정 convergence theorem을 완성 구성요소로 추가하지 않습니다.
공개 출처
research-idea | p. 1, Motivation and Key Challenges
Iman Rahmati, two-page Research Idea (undated)
https://imanrht.github.io/assets/FederatedDRL.pdf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연구 제안을 검증할 때 분리해야 할 효과
발표 대본
이 평가는 원문에서 도출한 강의용 제안입니다. 원문은 Python 또는 적합한 platform으로 simulated MEC를 개발하고 다양한 network condition에서 평가할 계획만 제시합니다. 표의 지표와 비교 축은 완료된 실험이 아닙니다. 요약하면 이 Research Idea의 기여는 task dependency와 federated DRL을 연결한 문제 설정이며, 알고리즘·실험·privacy 검증은 후속 작업입니다.
공개 출처
research-idea | p. 1, Research Methodology; teaching evaluation design
Iman Rahmati, two-page Research Idea (undated)
https://imanrht.github.io/assets/FederatedDRL.pdf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Federated DRL: 종속 task offloading의 연구 구상</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Federated Deep Reinforcement Learning for Continuous Improving Intradependente Task Offloading in Mobile Edge Computing Network</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Iman Rahmati (연도 미상)</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Task Call Graph와 분산된 장치의 공동 학습을 연결하려는 연구 제안</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research-idea pp. 1–2, title and document structure</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제안한 것과 아직 검증하지 않은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성능 결과가 아니라 어떤 연구 문제를 구성하려는지 읽는 자료다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4348480"/>
                <a:gridCol w="44571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원문의 내용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문제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종속된 task의 offloading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독립 가정의 한계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Call Graph 도입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구체적 encoder는 미정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federated Actor-Critic 또는 D3QN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완성 구조를 확정하지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시뮬레이션을 개발할 계획</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실험 수치·성능 비교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학습 가속·privacy·지속 개선은 이 문서에서 측정된 성과가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research-idea p. 1, Motivation and Research Methodology</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종속 task는 실행 순서와 데이터 전달을 함께 정한다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뒤 task가 앞 task의 결과를 요구하면 두 offloading 결정을 따로 볼 수 없다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앞 task A</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먼저 결과를 계산</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A의 출력</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뒤 task가 사용할 데이터</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위치가 다르면</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결과 전달 비용 발생</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뒤 task B</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필요한 결과 이후 실행</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화살표는 강의용 선후관계 예시이며 원문이 정한 encoder나 scheduling 규칙이 아니다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research-idea p. 1, Problem Statement</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강의용 계산: 전송을 빠뜨리면 완료 시간을 작게 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A가 2 ms, B가 3 ms 걸리고 B는 A 뒤에 시작한다고 가정한다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5109464"/>
                <a:gridCol w="3152648"/>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완료 시간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위치·전달 비용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 + 0 + 3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 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다른 위치·전달 1 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 + 1 + 3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 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잘못된 독립·병렬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max(2,3)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 ms: 의존성 무시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숫자는 연구 결과가 아니라 dependency와 전송 비용의 역할을 보여 주는 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research-idea p. 1, Problem Statement; constructed teaching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공동 학습: local data 대신 model update를 모은다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여러 장치의 local 학습 결과를 중앙에서 결합하고 다음 local 학습에 반영한다</a:t>
            </a:r>
            <a:endParaRPr lang="en-US" sz="1900" dirty="0"/>
          </a:p>
        </p:txBody>
      </p:sp>
      <p:sp>
        <p:nvSpPr>
          <p:cNvPr id="4" name="mechanism-lane-a"/>
          <p:cNvSpPr txBox="1"/>
          <p:nvPr/>
        </p:nvSpPr>
        <p:spPr>
          <a:xfrm>
            <a:off x="660400" y="22098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장치 A</a:t>
            </a:r>
            <a:endParaRPr lang="en-US" sz="1250" dirty="0"/>
          </a:p>
        </p:txBody>
      </p:sp>
      <p:sp>
        <p:nvSpPr>
          <p:cNvPr id="5" name="mechanism-lane-server"/>
          <p:cNvSpPr txBox="1"/>
          <p:nvPr/>
        </p:nvSpPr>
        <p:spPr>
          <a:xfrm>
            <a:off x="660400" y="32512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서버</a:t>
            </a:r>
            <a:endParaRPr lang="en-US" sz="1250" dirty="0"/>
          </a:p>
        </p:txBody>
      </p:sp>
      <p:sp>
        <p:nvSpPr>
          <p:cNvPr id="6" name="mechanism-lane-b"/>
          <p:cNvSpPr txBox="1"/>
          <p:nvPr/>
        </p:nvSpPr>
        <p:spPr>
          <a:xfrm>
            <a:off x="660400" y="42926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장치 B</a:t>
            </a:r>
            <a:endParaRPr lang="en-US" sz="1250" dirty="0"/>
          </a:p>
        </p:txBody>
      </p:sp>
      <p:sp>
        <p:nvSpPr>
          <p:cNvPr id="7" name="mechanism-edge-a-update-segment-1"/>
          <p:cNvSpPr/>
          <p:nvPr/>
        </p:nvSpPr>
        <p:spPr>
          <a:xfrm>
            <a:off x="3299460" y="27305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b-update-segment-1"/>
          <p:cNvSpPr/>
          <p:nvPr/>
        </p:nvSpPr>
        <p:spPr>
          <a:xfrm>
            <a:off x="3299460" y="48133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edge-a-agg-segment-1"/>
          <p:cNvSpPr/>
          <p:nvPr/>
        </p:nvSpPr>
        <p:spPr>
          <a:xfrm>
            <a:off x="5341620" y="2730500"/>
            <a:ext cx="160867" cy="0"/>
          </a:xfrm>
          <a:prstGeom prst="line">
            <a:avLst/>
          </a:prstGeom>
          <a:noFill/>
          <a:ln w="12700">
            <a:solidFill>
              <a:srgbClr val="0D685C"/>
            </a:solidFill>
            <a:prstDash val="solid"/>
            <a:headEnd type="none"/>
            <a:tailEnd type="none"/>
          </a:ln>
        </p:spPr>
        <p:txBody>
          <a:bodyPr/>
          <a:lstStyle/>
          <a:p>
            <a:endParaRPr lang="ko-KR"/>
          </a:p>
        </p:txBody>
      </p:sp>
      <p:sp>
        <p:nvSpPr>
          <p:cNvPr id="10" name="mechanism-edge-a-agg-segment-2"/>
          <p:cNvSpPr/>
          <p:nvPr/>
        </p:nvSpPr>
        <p:spPr>
          <a:xfrm>
            <a:off x="5502487" y="2730500"/>
            <a:ext cx="0" cy="838200"/>
          </a:xfrm>
          <a:prstGeom prst="line">
            <a:avLst/>
          </a:prstGeom>
          <a:noFill/>
          <a:ln w="12700">
            <a:solidFill>
              <a:srgbClr val="0D685C"/>
            </a:solidFill>
            <a:prstDash val="solid"/>
            <a:headEnd type="none"/>
            <a:tailEnd type="none"/>
          </a:ln>
        </p:spPr>
        <p:txBody>
          <a:bodyPr/>
          <a:lstStyle/>
          <a:p>
            <a:endParaRPr lang="ko-KR"/>
          </a:p>
        </p:txBody>
      </p:sp>
      <p:sp>
        <p:nvSpPr>
          <p:cNvPr id="11" name="mechanism-edge-a-agg-segment-3"/>
          <p:cNvSpPr/>
          <p:nvPr/>
        </p:nvSpPr>
        <p:spPr>
          <a:xfrm>
            <a:off x="5502487" y="3568700"/>
            <a:ext cx="321733" cy="0"/>
          </a:xfrm>
          <a:prstGeom prst="line">
            <a:avLst/>
          </a:prstGeom>
          <a:noFill/>
          <a:ln w="12700">
            <a:solidFill>
              <a:srgbClr val="0D685C"/>
            </a:solidFill>
            <a:prstDash val="solid"/>
            <a:headEnd type="none"/>
            <a:tailEnd type="triangle"/>
          </a:ln>
        </p:spPr>
        <p:txBody>
          <a:bodyPr/>
          <a:lstStyle/>
          <a:p>
            <a:endParaRPr lang="ko-KR"/>
          </a:p>
        </p:txBody>
      </p:sp>
      <p:sp>
        <p:nvSpPr>
          <p:cNvPr id="12" name="mechanism-edge-b-agg-segment-1"/>
          <p:cNvSpPr/>
          <p:nvPr/>
        </p:nvSpPr>
        <p:spPr>
          <a:xfrm>
            <a:off x="5341620" y="4813300"/>
            <a:ext cx="321733" cy="0"/>
          </a:xfrm>
          <a:prstGeom prst="line">
            <a:avLst/>
          </a:prstGeom>
          <a:noFill/>
          <a:ln w="12700">
            <a:solidFill>
              <a:srgbClr val="0D685C"/>
            </a:solidFill>
            <a:prstDash val="solid"/>
            <a:headEnd type="none"/>
            <a:tailEnd type="none"/>
          </a:ln>
        </p:spPr>
        <p:txBody>
          <a:bodyPr/>
          <a:lstStyle/>
          <a:p>
            <a:endParaRPr lang="ko-KR"/>
          </a:p>
        </p:txBody>
      </p:sp>
      <p:sp>
        <p:nvSpPr>
          <p:cNvPr id="13" name="mechanism-edge-b-agg-segment-2"/>
          <p:cNvSpPr/>
          <p:nvPr/>
        </p:nvSpPr>
        <p:spPr>
          <a:xfrm flipV="1">
            <a:off x="5663353" y="3975100"/>
            <a:ext cx="0" cy="838200"/>
          </a:xfrm>
          <a:prstGeom prst="line">
            <a:avLst/>
          </a:prstGeom>
          <a:noFill/>
          <a:ln w="12700">
            <a:solidFill>
              <a:srgbClr val="0D685C"/>
            </a:solidFill>
            <a:prstDash val="solid"/>
            <a:headEnd type="none"/>
            <a:tailEnd type="none"/>
          </a:ln>
        </p:spPr>
        <p:txBody>
          <a:bodyPr/>
          <a:lstStyle/>
          <a:p>
            <a:endParaRPr lang="ko-KR"/>
          </a:p>
        </p:txBody>
      </p:sp>
      <p:sp>
        <p:nvSpPr>
          <p:cNvPr id="14" name="mechanism-edge-b-agg-segment-3"/>
          <p:cNvSpPr/>
          <p:nvPr/>
        </p:nvSpPr>
        <p:spPr>
          <a:xfrm>
            <a:off x="5663353" y="3975100"/>
            <a:ext cx="160867" cy="0"/>
          </a:xfrm>
          <a:prstGeom prst="line">
            <a:avLst/>
          </a:prstGeom>
          <a:noFill/>
          <a:ln w="12700">
            <a:solidFill>
              <a:srgbClr val="0D685C"/>
            </a:solidFill>
            <a:prstDash val="solid"/>
            <a:headEnd type="none"/>
            <a:tailEnd type="triangle"/>
          </a:ln>
        </p:spPr>
        <p:txBody>
          <a:bodyPr/>
          <a:lstStyle/>
          <a:p>
            <a:endParaRPr lang="ko-KR"/>
          </a:p>
        </p:txBody>
      </p:sp>
      <p:sp>
        <p:nvSpPr>
          <p:cNvPr id="15" name="mechanism-edge-agg-global-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16" name="mechanism-edge-global-next-segment-1"/>
          <p:cNvSpPr/>
          <p:nvPr/>
        </p:nvSpPr>
        <p:spPr>
          <a:xfrm>
            <a:off x="9425940" y="3568700"/>
            <a:ext cx="160867" cy="0"/>
          </a:xfrm>
          <a:prstGeom prst="line">
            <a:avLst/>
          </a:prstGeom>
          <a:noFill/>
          <a:ln w="12700">
            <a:solidFill>
              <a:srgbClr val="0D685C"/>
            </a:solidFill>
            <a:prstDash val="solid"/>
            <a:headEnd type="none"/>
            <a:tailEnd type="none"/>
          </a:ln>
        </p:spPr>
        <p:txBody>
          <a:bodyPr/>
          <a:lstStyle/>
          <a:p>
            <a:endParaRPr lang="ko-KR"/>
          </a:p>
        </p:txBody>
      </p:sp>
      <p:sp>
        <p:nvSpPr>
          <p:cNvPr id="17" name="mechanism-edge-global-next-segment-2"/>
          <p:cNvSpPr/>
          <p:nvPr/>
        </p:nvSpPr>
        <p:spPr>
          <a:xfrm flipV="1">
            <a:off x="9586807" y="2730500"/>
            <a:ext cx="0" cy="838200"/>
          </a:xfrm>
          <a:prstGeom prst="line">
            <a:avLst/>
          </a:prstGeom>
          <a:noFill/>
          <a:ln w="12700">
            <a:solidFill>
              <a:srgbClr val="0D685C"/>
            </a:solidFill>
            <a:prstDash val="solid"/>
            <a:headEnd type="none"/>
            <a:tailEnd type="none"/>
          </a:ln>
        </p:spPr>
        <p:txBody>
          <a:bodyPr/>
          <a:lstStyle/>
          <a:p>
            <a:endParaRPr lang="ko-KR"/>
          </a:p>
        </p:txBody>
      </p:sp>
      <p:sp>
        <p:nvSpPr>
          <p:cNvPr id="18" name="mechanism-edge-global-next-segment-3"/>
          <p:cNvSpPr/>
          <p:nvPr/>
        </p:nvSpPr>
        <p:spPr>
          <a:xfrm>
            <a:off x="9586807" y="2730500"/>
            <a:ext cx="321733" cy="0"/>
          </a:xfrm>
          <a:prstGeom prst="line">
            <a:avLst/>
          </a:prstGeom>
          <a:noFill/>
          <a:ln w="12700">
            <a:solidFill>
              <a:srgbClr val="0D685C"/>
            </a:solidFill>
            <a:prstDash val="solid"/>
            <a:headEnd type="none"/>
            <a:tailEnd type="triangle"/>
          </a:ln>
        </p:spPr>
        <p:txBody>
          <a:bodyPr/>
          <a:lstStyle/>
          <a:p>
            <a:endParaRPr lang="ko-KR"/>
          </a:p>
        </p:txBody>
      </p:sp>
      <p:sp>
        <p:nvSpPr>
          <p:cNvPr id="19" name="mechanism-edge-g-next-b-segment-1"/>
          <p:cNvSpPr/>
          <p:nvPr/>
        </p:nvSpPr>
        <p:spPr>
          <a:xfrm>
            <a:off x="9425940" y="3975100"/>
            <a:ext cx="321733" cy="0"/>
          </a:xfrm>
          <a:prstGeom prst="line">
            <a:avLst/>
          </a:prstGeom>
          <a:noFill/>
          <a:ln w="12700">
            <a:solidFill>
              <a:srgbClr val="0D685C"/>
            </a:solidFill>
            <a:prstDash val="solid"/>
            <a:headEnd type="none"/>
            <a:tailEnd type="none"/>
          </a:ln>
        </p:spPr>
        <p:txBody>
          <a:bodyPr/>
          <a:lstStyle/>
          <a:p>
            <a:endParaRPr lang="ko-KR"/>
          </a:p>
        </p:txBody>
      </p:sp>
      <p:sp>
        <p:nvSpPr>
          <p:cNvPr id="20" name="mechanism-edge-g-next-b-segment-2"/>
          <p:cNvSpPr/>
          <p:nvPr/>
        </p:nvSpPr>
        <p:spPr>
          <a:xfrm>
            <a:off x="9747673" y="3975100"/>
            <a:ext cx="0" cy="838200"/>
          </a:xfrm>
          <a:prstGeom prst="line">
            <a:avLst/>
          </a:prstGeom>
          <a:noFill/>
          <a:ln w="12700">
            <a:solidFill>
              <a:srgbClr val="0D685C"/>
            </a:solidFill>
            <a:prstDash val="solid"/>
            <a:headEnd type="none"/>
            <a:tailEnd type="none"/>
          </a:ln>
        </p:spPr>
        <p:txBody>
          <a:bodyPr/>
          <a:lstStyle/>
          <a:p>
            <a:endParaRPr lang="ko-KR"/>
          </a:p>
        </p:txBody>
      </p:sp>
      <p:sp>
        <p:nvSpPr>
          <p:cNvPr id="21" name="mechanism-edge-g-next-b-segment-3"/>
          <p:cNvSpPr/>
          <p:nvPr/>
        </p:nvSpPr>
        <p:spPr>
          <a:xfrm>
            <a:off x="9747673" y="4813300"/>
            <a:ext cx="160867" cy="0"/>
          </a:xfrm>
          <a:prstGeom prst="line">
            <a:avLst/>
          </a:prstGeom>
          <a:noFill/>
          <a:ln w="12700">
            <a:solidFill>
              <a:srgbClr val="0D685C"/>
            </a:solidFill>
            <a:prstDash val="solid"/>
            <a:headEnd type="none"/>
            <a:tailEnd type="triangle"/>
          </a:ln>
        </p:spPr>
        <p:txBody>
          <a:bodyPr/>
          <a:lstStyle/>
          <a:p>
            <a:endParaRPr lang="ko-KR"/>
          </a:p>
        </p:txBody>
      </p:sp>
      <p:sp>
        <p:nvSpPr>
          <p:cNvPr id="22" name="mechanism-node-a0"/>
          <p:cNvSpPr/>
          <p:nvPr/>
        </p:nvSpPr>
        <p:spPr>
          <a:xfrm>
            <a:off x="1739900" y="24003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local 관측</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A의 환경·경험</a:t>
            </a:r>
            <a:endParaRPr lang="en-US" sz="1150" dirty="0"/>
          </a:p>
        </p:txBody>
      </p:sp>
      <p:sp>
        <p:nvSpPr>
          <p:cNvPr id="23" name="mechanism-node-b0"/>
          <p:cNvSpPr/>
          <p:nvPr/>
        </p:nvSpPr>
        <p:spPr>
          <a:xfrm>
            <a:off x="1739900" y="44831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local 관측</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B의 환경·경험</a:t>
            </a:r>
            <a:endParaRPr lang="en-US" sz="1150" dirty="0"/>
          </a:p>
        </p:txBody>
      </p:sp>
      <p:sp>
        <p:nvSpPr>
          <p:cNvPr id="24" name="mechanism-node-a1"/>
          <p:cNvSpPr/>
          <p:nvPr/>
        </p:nvSpPr>
        <p:spPr>
          <a:xfrm>
            <a:off x="3782060" y="24003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local 학습</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model update</a:t>
            </a:r>
            <a:endParaRPr lang="en-US" sz="1150" dirty="0"/>
          </a:p>
        </p:txBody>
      </p:sp>
      <p:sp>
        <p:nvSpPr>
          <p:cNvPr id="25" name="mechanism-node-b1"/>
          <p:cNvSpPr/>
          <p:nvPr/>
        </p:nvSpPr>
        <p:spPr>
          <a:xfrm>
            <a:off x="3782060" y="44831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local 학습</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model update</a:t>
            </a:r>
            <a:endParaRPr lang="en-US" sz="1150" dirty="0"/>
          </a:p>
        </p:txBody>
      </p:sp>
      <p:sp>
        <p:nvSpPr>
          <p:cNvPr id="26" name="mechanism-node-agg"/>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집계</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업데이트 결합</a:t>
            </a:r>
            <a:endParaRPr lang="en-US" sz="1150" dirty="0"/>
          </a:p>
        </p:txBody>
      </p:sp>
      <p:sp>
        <p:nvSpPr>
          <p:cNvPr id="27" name="mechanism-node-global"/>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global model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학습 결과 공유</a:t>
            </a:r>
            <a:endParaRPr lang="en-US" sz="1150" dirty="0"/>
          </a:p>
        </p:txBody>
      </p:sp>
      <p:sp>
        <p:nvSpPr>
          <p:cNvPr id="28" name="mechanism-node-next"/>
          <p:cNvSpPr/>
          <p:nvPr/>
        </p:nvSpPr>
        <p:spPr>
          <a:xfrm>
            <a:off x="9908540" y="24003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다음 학습</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A가 model 반영</a:t>
            </a:r>
            <a:endParaRPr lang="en-US" sz="1150" dirty="0"/>
          </a:p>
        </p:txBody>
      </p:sp>
      <p:sp>
        <p:nvSpPr>
          <p:cNvPr id="29" name="mechanism-node-next-b"/>
          <p:cNvSpPr/>
          <p:nvPr/>
        </p:nvSpPr>
        <p:spPr>
          <a:xfrm>
            <a:off x="9908540" y="44831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다음 학습</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B가 model 반영</a:t>
            </a:r>
            <a:endParaRPr lang="en-US" sz="1150" dirty="0"/>
          </a:p>
        </p:txBody>
      </p:sp>
      <p:sp>
        <p:nvSpPr>
          <p:cNvPr id="30" name="Shape 28"/>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31" name="Text 29"/>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집계 공식·통신 주기·client 선택은 미정이며, 이 흐름을 FedAvg 구현으로 단정하지 않는다</a:t>
            </a:r>
            <a:endParaRPr lang="en-US" sz="1750" dirty="0"/>
          </a:p>
        </p:txBody>
      </p:sp>
      <p:sp>
        <p:nvSpPr>
          <p:cNvPr id="32" name="Shape 30"/>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3" name="Text 31"/>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research-idea p. 1, Motivation</a:t>
            </a:r>
            <a:endParaRPr lang="en-US" sz="1050" dirty="0"/>
          </a:p>
        </p:txBody>
      </p:sp>
      <p:sp>
        <p:nvSpPr>
          <p:cNvPr id="34" name="Text 32"/>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Actor-Critic과 D3QN은 연구 후보로 제시된다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서로 다른 후보를 한 개의 확정된 network 구조로 합치지 않는다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348480"/>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설계 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수준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추가로 정해야 할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MDP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관측으로 상호작용하며 공동 목표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state·action·reward·transition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Actor-Critic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후보 방법으로 언급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network와 policy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D3QN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또 다른 후보 방법으로 언급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 정의와 Q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Call Graph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종속성 표현을 제안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feature·encoder·제약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원문의 참고문헌이 구현한 방법을 이 제안이 이미 구현했다고 옮겨 적으면 안 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research-idea pp. 1–2, Problem Model, Methodology and references [3]–[4]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local data를 보내지 않는 것과 privacy 보장은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문서는 privacy를 기대하지만 공격 모델이나 보호 메커니즘을 정의하지 않는다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348480"/>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문서가 제안한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입증되지 않은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데이터 위치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장치가 local data로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어떤 정보도 유출되지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통신 내용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주기적 model update 전송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업데이트가 항상 안전함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privacy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설계의 기대 방향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정량적 보호 수준·위협 모델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효율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통신 효율을 핵심 과제로 명시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학습·통신 비용이 항상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데이터를 중앙에 모으지 않는 구조만으로 privacy와 통신 절감 성과를 확정할 수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research-idea p. 1, Motivation and Key Challenges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새 장치와 이질적인 환경을 어떻게 받아들일 것인가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지속 개선의 동기와 실제 lifelong learning 보장은 구별해야 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239768"/>
                <a:gridCol w="44571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문제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연구 제안의 방향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아직 없는 명세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장치 참여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경험으로 공동 model 개선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참여·이탈 protocol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장치 이질성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다양한 network 구성요소 수용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model·action 호환 방식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통신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장치·서버 교환 효율 개선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주기·선택·전송량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지속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참여 장치의 학습을 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망각·수렴·성능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continuous improving은 연구 목표이며, 망각 없는 continual learning의 증명은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research-idea p. 1, Motivation and Key Challenges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연구 제안을 검증할 때 분리해야 할 효과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다음은 발표자가 정리한 평가 설계이며 원문이 수행한 실험이 아니다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3913632"/>
                <a:gridCol w="45659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 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확인할 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왜 필요한가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dependency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완료 시간·전송량·실행 가능성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종속성 모델의 효과 분리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federation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학습과 공동 학습의 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협력 효과와 통신 비용 분리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장치·이질성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환경별 적응 성능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개선만으로 차이를 숨기지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privacy·자원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보호 범위·학습량·통신량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기대 장점의 근거 확보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먼저 정확한 문제·알고리즘·평가 조건을 채워야 성능 논문으로 확장할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research-idea p. 1, Research Methodology; teaching evaluation design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Federated DRL: 종속 task offloading의 연구 구상</dc:title>
  <dc:subject>Federated Deep Reinforcement Learning for Continuous Improving Intradependente Task Offloading in Mobile Edge Computing Network</dc:subject>
  <dc:creator>Research Seminars</dc:creator>
  <cp:lastModifiedBy>Research Seminars</cp:lastModifiedBy>
  <cp:revision>1</cp:revision>
  <dcterms:created xsi:type="dcterms:W3CDTF">2026-09-12T06:52:06Z</dcterms:created>
  <dcterms:modified xsi:type="dcterms:W3CDTF">2026-09-12T06:52:06Z</dcterms:modified>
</cp:coreProperties>
</file>
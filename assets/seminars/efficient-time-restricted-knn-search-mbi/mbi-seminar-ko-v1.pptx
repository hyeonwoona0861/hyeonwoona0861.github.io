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시간 제약 kNN 검색과 Multi-Level Block Indexing
발표 대본
이 논문은 고차원 벡터 검색에 시간 구간 또는 여러 수치 속성의 필터를 함께 적용하는 문제를 다룹니다. 핵심 제안은 같은 데이터를 여러 크기의 블록으로 중복 색인해, 질의 범위에 맞는 검색 단위를 고르는 Multi-Level Block Indexing, 즉 MBI입니다. ACM TKDD 2026년 2월 논문입니다.
공개 출처
tkdd-paper | title page; publication footer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벡터 유사도와 시간 조건을 동시에 만족해야 한다
발표 대본
일반 approximate kNN은 전체 데이터에서 질의 벡터와 가까운 항목을 찾습니다. T-kNN은 여기에 시간 창을 추가합니다. 먼저 시간으로 줄인 뒤 거리를 전부 계산할 수도 있고, 전체 근접 그래프를 탐색하면서 시간 조건을 검사할 수도 있습니다. 두 순서의 비용이 시간 창 크기에 따라 반대로 움직이는 것이 출발점입니다.
공개 출처
tkdd-paper | §1; §3.1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T-kNN 질의의 정확한 의미
발표 대본
논문은 D[t_s:t_e]를 t_s 이상이면서 t_e 미만인 timestamped vector의 집합으로 정의합니다. 즉 [t_s,t_e) 반개구간입니다. 이 경계는 블록 겹침 계산과 후보 필터링에서 그대로 유지해야 합니다. 덱의 모든 예제도 끝점을 제외합니다.
공개 출처
tkdd-paper | §3.1; Table 1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이 논문이 푸는 것은 approximate kNN이다
발표 대본
MBI 내부의 각 큰 블록은 NNDescent로 만든 graph-based kNN index를 사용하고, Algorithm 3의 SF로 근사 검색합니다. 시간 필터는 후보 자격을 결정하지만, 근접 이웃 탐색 자체는 approximate입니다. 실험에서 T-kNN은 recall@k 0.995, m-AkNN은 0.95를 주로 사용합니다.
공개 출처
tkdd-paper | §2.1; Algorithms 3, 5; §5.1.3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두 단순 전략은 반대 범위에서 강하다
발표 대본
BSBF와 AFBF는 필터를 먼저 적용한 뒤 qualifying set을 brute-force합니다. 반대로 SF는 전체 proximity graph를 따라가며 조건을 만족하는 정점만 결과에 넣습니다. 좁은 필터에서는 SF가 많은 탈락 후보를 방문하고, 넓은 필터에서는 brute-force가 많은 거리를 계산합니다. MBI는 여러 크기의 블록을 준비해 이 교차점을 다룹니다.
공개 출처
tkdd-paper | §3.2; Algorithms 1–3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BSBF: 시간으로 자른 뒤 전부 비교한다
발표 대본
Algorithm 1은 먼저 정렬된 데이터에서 D[t_s:t_e]를 binary search로 찾고, 그 안에서 brute-force kNN을 수행합니다. 논문이 제시한 비용은 O(log n + b d log k)입니다. b는 시간 창 안 벡터 수, d는 벡터 차원입니다. 시간 창이 짧을수록 b가 작아 유리합니다.
공개 출처
tkdd-paper | Algorithm 1; §3.2.1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SF: 근접 graph를 걷고 시간 조건으로 거른다
발표 대본
Algorithm 3의 SF는 proximity graph에서 질의 벡터와 가까운 정점을 우선 방문합니다. 방문한 정점이 시간 창에 있을 때만 결과 집합에 넣습니다. 넓은 창에서는 대부분의 방문이 유효하지만, 좁은 창에서는 많은 정점을 확인하고도 결과가 채워지지 않아 탐색이 늘어납니다.
공개 출처
tkdd-paper | Algorithm 3; §3.2.2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시간 창이 바뀌면 병목도 바뀐다
발표 대본
논문의 Figure 7은 시간 창 비율이 커질수록 BSBF의 속도가 내려가고 SF의 속도가 올라가는 교차 형태를 반복해서 보여 줍니다. MBI는 작은 블록에서는 BSBF를, graph index가 있는 블록에서는 SF를 사용합니다. 즉 두 방법의 강점을 블록 선택과 결합합니다.
공개 출처
tkdd-paper | §4.1; Fig. 7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MBI의 핵심: 같은 데이터를 여러 크기로 본다
발표 대본
Figure 1에서 leaf는 짧고 연속된 timestamp 구간을 담습니다. 두 leaf를 합친 부모는 더 넓은 구간을 담고, root는 전체 기간을 담습니다. 각 블록은 자체 graph-based kNN index를 가질 수 있습니다. 하나의 벡터가 leaf와 여러 ancestor에 나타나므로 공간 비용이 늘어납니다.
공개 출처
tkdd-paper | Fig. 1; §4.2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블록 B_i는 구간만이 아니라 검색 단위다
발표 대본
Table 1은 블록 B_i를 vector set D_i와 graph-based index G_i의 쌍으로 정의합니다. Algorithm 5는 non-full leaf에서는 graph가 비어 있을 수 있으므로 BSBF를 쓰고, 나머지 선택 블록에서는 SF를 사용합니다. B_i.te는 exclusive upper timestamp입니다.
공개 출처
tkdd-paper | Table 1; Algorithm 5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시간 블록은 포함 관계로 계층을 이룬다
발표 대본
이 구간 표는 논문의 Figure 1 구조를 단순화한 교육용 예시입니다. 실제 블록 경계는 leaf size S_L과 들어온 데이터의 timestamp 순서에 의해 정해집니다. 중요한 불변식은 각 블록이 연속된 시간 범위를 담당하고, 부모가 두 자식의 union을 담는다는 점입니다.
공개 출처
tkdd-paper | Fig. 1; §4.2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증분 삽입은 가장 최신 leaf에서 시작한다
발표 대본
MBI는 새 벡터가 기존 벡터보다 늦은 timestamp로 도착한다고 가정합니다. 따라서 첫 번째 non-full leaf가 곧 최신 leaf이며, 그곳에 append할 수 있습니다. 임의의 과거 timestamp를 삽입하면 이 단순한 경로와 연속 구간 구조가 깨질 수 있으므로 현재 알고리즘의 지원 범위가 아닙니다.
공개 출처
tkdd-paper | §4.2; Algorithm 4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leaf가 차면 아래에서 위로 index를 갱신한다
발표 대본
Algorithm 4는 leaf가 S_L에 도달하면 그 leaf의 kNN index를 만들고, postorder 번호 관계를 이용해 sibling의 vector set과 union한 뒤 parent의 kNN index를 구축합니다. 이 과정을 필요한 ancestor까지 반복합니다. Figure 3은 B4가 찬 뒤 B5와 B6가 구성되는 예를 보여 줍니다.
공개 출처
tkdd-paper | Fig. 3; Algorithm 4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서로 다른 블록 index는 병렬로 만들 수 있다
발표 대본
논문은 Figure 3의 v15 삽입 예에서 B4, B5, B6의 vector set을 독립적으로 식별하고 G4, G5, G6를 병렬 구축할 수 있다고 설명합니다. 이 도식은 그 병렬성을 요약한 것입니다. ancestor마다 vector set은 다르므로 각 graph index는 해당 집합에서 별도로 생성됩니다.
공개 출처
tkdd-paper | §4.2, Parallelization of MBI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virtual block은 불완전한 tree의 탐색 경로를 유지한다
발표 대본
Figure 2와 Figure 3의 점선 상자가 virtual block입니다. 논문은 이 블록의 time window를 음의 무한대부터 양의 무한대로 두어 overlap ratio가 threshold를 만족하지 않게 합니다. 그러므로 search block set에는 들어가지 않지만, child traversal을 가능하게 합니다.
공개 출처
tkdd-paper | Figs. 2–3; §4.3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질의는 block 선택, 내부 검색, 전역 병합으로 진행된다
발표 대본
Algorithm 5는 root에서 BlockSelection을 호출해 search block set S를 얻습니다. 각 블록에 대해 non-full leaf이면 BSBF, 그 밖에는 SF를 수행합니다. 결과 집합들을 union하고 질의 벡터에 가까운 k개만 남깁니다. 블록별 top-k를 그대로 이어 붙이는 것이 아니라 마지막에 전역 순위를 다시 계산합니다.
공개 출처
tkdd-paper | Algorithm 5; §4.3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overlap ratio는 block 중 실제 질의가 차지하는 비율이다
발표 대본
표의 수치는 설명을 위해 구성한 예입니다. 논문의 식은 max와 min으로 두 구간의 교집합 길이를 계산하고, 이를 현재 block의 길이로 나눕니다. query 길이로 나누는 비율이 아닙니다. 그래서 자식으로 내려가 block이 작아지면 동일한 query가 차지하는 비율이 커질 수 있습니다.
공개 출처
tkdd-paper | §4.3, overlap ratio equation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top-down block 선택의 세 경우
발표 대본
Algorithm 5의 BlockSelection은 겹침이 없으면 빈 집합을 반환합니다. leaf이거나 overlap ratio가 tau 기준을 충족하면 현재 block을 반환하고, 그렇지 않으면 두 child에 재귀 호출합니다. 본문은 exceeds와 less를 쓰고 증명 일부는 경계에서 이상을 사용하므로, 이 자료는 equality에 과도한 의미를 주지 않고 threshold criterion으로 설명합니다.
공개 출처
tkdd-paper | Algorithm 5 lines 11–20; §4.3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tau가 block 해상도를 조절한다
발표 대본
Figure 4에서 tau가 0이면 B30 하나, 0.5이면 B14와 B21, 1이면 다섯 개의 더 작은 block이 선택됩니다. 낮은 tau는 큰 블록을 골라 좁은 query에서 SF와 비슷한 낭비를 만들고, 높은 tau는 긴 query에서 많은 block 호출 비용을 만듭니다. 저자들은 사전 정보가 없을 때 약 0.5를 권합니다.
공개 출처
tkdd-paper | Fig. 4; §4.3; §5.4.2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구성 예제: q=[5,14), tau=.6에서 block 고르기
발표 대본
이 예제의 숫자와 구간은 논문 Figure 4를 복사한 것이 아니라 규칙을 직접 실행하도록 구성했습니다. root의 비율은 9/16으로 tau 0.6보다 작아 내려갑니다. 왼쪽에서는 [4,8)만 선택되고, 오른쪽 [8,16)은 6/8로 선택됩니다. 선택 block은 query 바깥의 일부 시간도 포함할 수 있으므로 내부 필터가 여전히 필요합니다.
공개 출처
tkdd-paper | Algorithm 5; §4.3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구성 예제: block 탐색 결과를 전역 병합한다
발표 대본
이 후보와 거리는 교육용으로 구성했습니다. X의 timestamp는 4.5라 시작 전이고, Y는 15라 종료 뒤이므로 각 block 내부의 BSBF 또는 SF가 결과에서 제외합니다. 유효한 block 결과 A, B, C, D를 union하고 거리로 정렬하면 C 0.25, A 0.30, D 0.40이 top-3입니다. B는 조건은 맞지만 네 번째라 탈락합니다.
공개 출처
tkdd-paper | Algorithm 5 lines 3–10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선택 뒤에는 block 상태에 따라 내부 검색이 달라진다
발표 대본
Algorithm 5는 non-full leaf에 대해서만 BSBFQuery를 호출합니다. full leaf와 internal block에는 구축된 graph index가 있으므로 SFQuery를 호출합니다. 모든 block의 결과를 합친 뒤 질의 벡터에 가장 가까운 k개를 남깁니다. 이 조건 분기는 구현 동작을 이해하는 데 중요합니다.
공개 출처
tkdd-paper | Algorithm 5 lines 4–9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tau &lt;= .5이면 처리 block은 최대 두 개다
발표 대본
Lemma 1의 핵심은 tau가 0.5 이하이면 query의 한쪽 조각이 현재 block 기준을 만족하지 못할 때 반대쪽 child와 겹치지 않게 된다는 점입니다. 그래서 한쪽 조각은 descendant 한 경로만 따라가고 정확히 하나의 block에서 처리됩니다. 좌우를 합쳐 최대 두 개입니다.
공개 출처
tkdd-paper | §4.5.3, Lemma 1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이론 비용은 index 선택과 graph 가정에 함께 의존한다
발표 대본
N_q는 논문의 |D[t_s:t_e]|, 즉 query 시간 창 안 벡터 수를 짧게 표기한 것입니다. 논문은 graph-based 1NN 검색이 O(log n)이라는 가정과 필터 통과 확률에 따른 기대 방문 수를 사용합니다. eligible count와 block size가 k보다 충분히 크다고 둡니다. 1.14 지수는 NNDescent의 경험적 분석에서 가져옵니다.
공개 출처
tkdd-paper | §4.5.1–4.5.3; Theorems 1–2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빠른 범위 적응의 대가는 level별 중복이다
발표 대본
각 level에서 vector 수의 합은 대략 |D|이고, level 수는 logarithmic입니다. graph index 크기가 block vector 수에 선형이라고 보면 전체가 O(|D| log |D|)입니다. 실제 Table 4에서도 MBI index가 input과 SF index보다 큽니다.
공개 출처
tkdd-paper | §4.5.1; Table 4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m-AkNN은 시간 하나를 m개 수치 속성으로 확장한다
발표 대본
m-AkNN query는 질의 벡터 w, 결과 수 k, m개 lower bound와 upper bound를 갖습니다. 모든 속성 조건을 동시에 만족하는 벡터 중 nearest k를 찾습니다. timestamp와 달리 attribute value는 insertion order와 독립이므로 bottom-up append 전략을 그대로 쓸 수 없고, 논문은 static data를 가정합니다.
공개 출처
tkdd-paper | §3.1; §4.4; Table 1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multi-attribute 공간은 밀도에 따라 나눈다
발표 대본
Algorithm 6은 root의 각 attribute range를 데이터의 minimum과 maximum으로 정의합니다. block이 S_L보다 크면 각 attribute의 midpoint로 나눠 2^m children을 만들고 vector를 재배치합니다. 모든 leaf가 S_L 이하가 될 때까지 재귀합니다. 고정 균일 grid보다 빈 block을 줄이려는 설계입니다.
공개 출처
tkdd-paper | Fig. 5; Algorithm 6; §4.4.1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여러 속성의 overlap은 축별 비율을 곱한다
발표 대본
수치는 overlap 공식을 읽기 위한 구성 예제입니다. 논문의 m-AkNN overlap ratio는 각 속성에서 query와 block의 교집합 길이를 block 길이로 나눈 뒤 모두 곱합니다. 독립확률을 추정하는 식이 아니라, multi-dimensional block coverage를 정의한 deterministic product입니다.
공개 출처
tkdd-paper | §4.4.2, overlap ratio equation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m-AkNN query는 같은 선택 틀에 다른 filter를 넣는다
발표 대본
Algorithm 7은 Algorithm 5와 거의 같은 구조지만, overlap ratio가 m개 속성의 product이고 non-full leaf에서 AFBF를 호출합니다. AFBF는 모든 속성 조건을 확인한 뒤 qualifying vector에 대해 brute-force kNN을 수행합니다. internal block에는 SF를 사용합니다.
공개 출처
tkdd-paper | Algorithm 7; Fig. 6; §4.4.2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실험 결과는 이 구현과 장비 조건에서 측정되었다
발표 대본
Section 5.1.1은 모든 실험이 Ryzen 7 3800XT, 128 GB DDR4, Ubuntu 20.04.1에서 수행되었다고 밝힙니다. Rust와 Cargo 1.66.1 release mode를 사용합니다. 각 block과 SF의 graph index는 NNDescent로 구축해 비교의 index family를 맞춥니다.
공개 출처
tkdd-paper | §5.1.1; §5.1.3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T-kNN은 규모와 차원이 다른 여섯 dataset에서 평가한다
발표 대본
Table 2의 T-kNN datasets를 요약했습니다. MovieLens와 COMS는 실제 시간 정보를 사용합니다. GloVe-100, SIFT1M, GIST1M, DEEP1B는 원래 timestamp가 없어서 item index를 virtual timestamp로 사용합니다. 마지막 행은 1B 전체가 아니라 9,990,000 train vectors입니다.
공개 출처
tkdd-paper | Table 2; §5.1.2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m-AkNN dataset에는 원문 내부 차원 표기 차이가 있다
발표 대본
Table 2는 CORD-19 dimension을 728로 인쇄하지만, 같은 페이지의 본문은 SPECTER를 사용한 768-dimensional vector라고 설명합니다. 이 자료는 원문 내부 불일치를 그대로 표시합니다. 50,000 papers를 sample하고 200 query를 제외해 train 49,800이 된 것으로 읽을 수 있습니다.
공개 출처
tkdd-paper | Table 2; §5.1.2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T-kNN 성능 비교의 operational definition
발표 대본
Figure 7 실험은 각 dataset에서 200개 query vector를 무작위로 뽑아 indexing에서 제외합니다. query time window의 start와 end를 조절해 전체 데이터의 1%부터 95%를 포함하게 합니다. recall@k는 0.995로 맞추고 k 10, 50, 100을 비교하며, 각 절차를 다섯 번 반복합니다.
공개 출처
tkdd-paper | §5.2; Fig. 7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MBI는 시간 창 길이에 걸쳐 교차점을 완화한다
발표 대본
Figure 7의 초록 BSBF는 window가 커지면서 내려가고, 파란 SF는 window가 작을 때 낮습니다. MBI는 각 dataset에 선택한 tau를 사용해 두 곡선의 교차 영역을 포함한 전체 범위에서 높은 QPS를 보입니다. 저자들이 말하는 hypothetical method는 질의마다 BSBF와 SF 중 더 빠른 쪽을 고르는 oracle성 비교선입니다.
공개 출처
tkdd-paper | Fig. 7; §5.2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recall-speed curve 전체를 봐야 한다
발표 대본
graph search parameter epsilon은 search range를 조절해 speed와 recall을 바꿉니다. 논문은 1에서 1.4까지 0.02 간격으로 탐색하고 Pareto frontier를 표시합니다. Figure 8은 COMS에서 서로 다른 window ratio에서도 MBI의 곡선이 어떻게 변하는지 보여 줍니다.
공개 출처
tkdd-paper | §5.1.3; Fig. 8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SIFT1M scaling은 관찰된 slope로 보고된다
발표 대본
Figure 9는 두 축을 log scale로 두고 data size 증가에 따른 indexing time과 index size를 측정합니다. MBI의 slope가 약 1.29이고, data가 두 배일 때 2의 1.29승인 약 2.45배의 indexing time으로 해석합니다. 병렬 block 구축은 이 실험에서 indexing time을 최대 5.08배 줄였습니다.
공개 출처
tkdd-paper | Fig. 9; §5.3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 실제 index 크기도 MBI의 공간 대가를 보여 준다
발표 대본
Table 4에서 괄호는 input data size 대비 index size 비율입니다. SIFT1M은 표 공간 때문에 생략했지만 MBI 2.09 GB, 4.28배이고 SF 0.80 GB, 1.53배입니다. 여섯 dataset 모두 MBI가 SF보다 큰 index를 사용합니다. 이 비용은 이론의 level별 중복과 일치합니다.
공개 출처
tkdd-paper | Table 4; §5.3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S_L과 tau는 서로 다른 비용을 조절한다
발표 대본
Figure 10은 leaf size S_L이 작을수록 좁은 window의 query가 유리하지만 indexing time과 index size가 늘어나는 경향을 보입니다. 저자들은 tree depth 5에서 10을 practical balance로 제안합니다. Figure 11은 tau가 0.5보다 클 때 증가할수록 block 수가 많아져 QPS가 내려가는 경향을 보여 줍니다.
공개 출처
tkdd-paper | Figs. 10–11; §5.4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m-AkNN 결과도 별도의 정확도와 반복 조건을 가진다
발표 대본
Figure 12의 COMS-GTS 실험은 m=2와 3, k=10,50,100을 비교합니다. SF의 recall이 상대적으로 낮아 T-kNN보다 낮은 recall@k 0.95를 사용했다고 논문이 설명합니다. 각 실험은 세 번 반복됩니다. Figure 13은 COMS-GTS와 CORD-19-small, CORD-19의 recall-QPS 곡선을 보여 줍니다.
공개 출처
tkdd-paper | Figs. 12–13; §5.5.1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m-AkNN에서도 MBI index는 SF보다 크다
발표 대본
Table 5의 수치를 그대로 옮겼습니다. COMS-GTS에서 m=3 MBI index가 m=2보다 작게 측정되므로, branching factor가 증가하면 항상 저장공간이 커진다고 단정할 수 없습니다. CORD-19에서는 input 대비 MBI index 배율이 약 1.34에서 1.38입니다.
공개 출처
tkdd-paper | Table 5; §5.5.2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MBI가 보장하거나 지원하지 않는 것
발표 대본
Limitations and Future Work는 T-kNN의 non-decreasing timestamp arrival, deletion과 arbitrary timestamp insertion의 부재, m-AkNN의 static setting을 명시합니다. sliding-window 방식으로 오래된 왼쪽 block을 제거하는 확장은 향후 연구로 제안합니다. T-kNN과 m-AkNN 모두 formal optimality analysis가 열려 있습니다.
공개 출처
tkdd-paper | §6, Limitations and Future Work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재현 시 함께 고정해야 할 항목
발표 대본
논문은 코드와 dataset을 GitHub에 공개한다고 밝힙니다. 재현에서는 Table 2의 dataset 구성, Table 3의 default parameters, Section 5.2와 5.5의 query sampling과 recall 목표를 함께 맞춰야 합니다. 특히 tau는 dataset마다 다르고 epsilon은 Pareto frontier를 만들기 위해 sweep합니다.
공개 출처
tkdd-paper | p. 3; Tables 2–3; §5.1–5.5
ACM TKDD paper, DOI 10.1145/3789265
https://doi.org/10.1145/3789265
mbi-code | repository README
MBI public code and datasets
https://github.com/kjsoo-1010/mbi2025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MBI를 한 문장씩 연결하면
발표 대본
이 논문의 설계 논리는 일관됩니다. 필터 폭에 따라 BSBF와 SF의 병목이 바뀌므로, 여러 해상도의 block을 미리 색인합니다. query 때 overlap ratio와 tau로 block을 고르고, block 상태에 맞는 기존 검색법을 실행한 뒤 후보를 합칩니다. 그 대가는 추가 index 공간과 update 제약입니다.
공개 출처
tkdd-paper | §4; §6
ACM TKDD paper, DOI 10.1145/3789265
https://doi.org/10.1145/3789265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시간 제약 kNN 검색과 Multi-Level Block Indexing</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Efficient Time-Restricted kNN Search in High-Dimensional Data Using Multi-Level Block Indexing, with Extensions to Multi-Attribute Filtering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Jisoo Kang · Changhun Han · Suji Kim · Ha-Myung Park (2026)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검색 범위가 좁아도 넓어도 대응하는 다중 해상도 인덱스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title page; publication footer</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벡터 유사도와 시간 조건을 동시에 만족해야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가까운 벡터를 찾되, 지정한 시간 구간 밖의 벡터는 결과가 될 수 없다.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질의 벡터 w</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유사도 기준점</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시간 창</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허용 후보 제한</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거리 계산</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후보 안에서 순위</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top-k</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가까운 k개</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필터와 근접 검색 중 어느 것을 먼저 하느냐가 시간 창 크기에 따라 유불리를 바꾼다.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§1; §3.1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T-kNN 질의의 정확한 의미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q=(w,k,t_s,t_e)는 벡터, 결과 수, 시작 시각, 종료 시각을 함께 지정한다.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 벡터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거리의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반환할 이웃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결과 개수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포함되는 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t_s &lt;= 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제외되는 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&lt; t_e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D[t_s:t_e]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허용된 벡터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반개구간 [t_s,t_e)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종료 시각 t_e에 정확히 놓인 벡터는 후보에 포함되지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§3.1;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푸는 것은 approximate kNN이다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빠른 검색을 위해 graph-based ANN을 사용하고, 정확도는 recall@k로 통제한다.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결과는 시간 또는 속성 조건을 만족해야 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거리 기준의 진짜 top-k와 완전히 같다는 보장은 없다.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실험은 목표 recall@k에서 queries per second를 비교한다.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speedup은 같은 recall 조건 안에서 읽어야 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필터 조건의 준수와 최근접 이웃의 정확성은 서로 다른 평가 축이다.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§2.1; Algorithms 3, 5; §5.1.3</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단순 전략은 반대 범위에서 강하다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필터를 먼저 할지, 근접 그래프를 먼저 탐색할지가 핵심 선택이다.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478784"/>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먼저 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강한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약한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구간 찾기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좁은 시간 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넓은 시간 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AFBF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속성 전수 필터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통과 후보가 적음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통과 후보가 많음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graph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넓은 필터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좁은 필터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MBI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블록 크기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범위에 맞춰 전환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저장공간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MBI는 하나의 고정 순서 대신, 질의 범위에 맞는 검색 해상도를 선택한다.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§3.2; Algorithms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BSBF: 시간으로 자른 뒤 전부 비교한다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정렬된 시간축</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timestamp 순서</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binary search</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[t_s,t_e) 경계</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brute-force</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구간 안 거리 계산</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top-k</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가까운 k개</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구간 안 벡터 수 b가 작으면 빠르지만, b가 전체 n에 가까워지면 거의 전수 검색이다.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1; §3.2.1</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SF: 근접 graph를 걷고 시간 조건으로 거른다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임의 시작점</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candidate set 생성</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가까운 정점</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graph 이웃 확장</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시간 검사</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[t_s,t_e)만 채택</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k개 확보</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근사 이웃 반환</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시간 창이 좁으면 방문한 가까운 정점 대부분이 탈락해 탐색 범위가 커질 수 있다.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3; §3.2.2</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시간 창이 바뀌면 병목도 바뀐다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데이터와 질의 벡터라도 필터 비율이 계산량의 위치를 바꾼다.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261360"/>
                <a:gridCol w="3370072"/>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시간 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BSBF의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SF의 낭비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유리한 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매우 좁음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소수만 거리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탈락 정점 다수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 계산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탈락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교차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매우 넓음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거의 전체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대부분 채택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질의마다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전략 불리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전략 불리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MBI 동기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MBI의 목적은 특정 baseline을 없애는 것이 아니라, 적절한 단위에서 사용하게 만드는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§4.1; Fig.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MBI의 핵심: 같은 데이터를 여러 크기로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시간 블록부터 전체 기간 블록까지, 각 수준에 검색 가능한 단위를 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leaf blocks</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짧은 연속 구간</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pair merge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인접 구간 합치기</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upper blocks</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더 넓은 구간</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query match</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맞는 크기 선택</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다중 해상도가 범위 적응성을 주지만, 벡터와 인덱스를 여러 수준에 중복 저장한다.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 1; §4.2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블록 B_i는 구간만이 아니라 검색 단위다</a:t>
            </a:r>
            <a:endParaRPr lang="en-US" sz="3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402234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timestamped vectors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블록의 데이터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graph-based kNN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블록의 근사 검색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B_i.ts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이른 timestamp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겹침 시작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B_i.te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exclusive upper timestamp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겹침 종료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S_L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leaf 최대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깊이·공간·build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블록 선택은 시간 범위를 고르고, 블록 내부 index는 고차원 근접 탐색을 맡는다.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Table 1; Algorithm 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시간 블록은 포함 관계로 계층을 이룬다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구조를 읽기 위한 예시이며, 모든 구간은 끝점을 제외한다.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21817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수준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블록 구간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포함 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level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 [8,16)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root를 둘로 분할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level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 [4,8)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왼쪽 parent의 children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level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[8,12), [12,16)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오른쪽 parent의 children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인접한 두 child의 데이터 합집합이 parent 데이터를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 1;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증분 삽입은 가장 최신 leaf에서 시작한다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새 벡터 도착</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최신 timestamp</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마지막 leaf</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빈 자리 확인</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vector append</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D_i에 추가</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leaf full?</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S_L 도달 검사</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경로는 새 timestamp가 기존 모든 timestamp보다 늦다는 가정에 의존한다.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§4.2; Algorithm 4</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leaf가 차면 아래에서 위로 index를 갱신한다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새 leaf의 graph를 만든 뒤, sibling과 합쳐 필요한 ancestor graph를 구축한다.</a:t>
            </a:r>
            <a:endParaRPr lang="en-US" sz="1900" dirty="0"/>
          </a:p>
        </p:txBody>
      </p:sp>
      <p:sp>
        <p:nvSpPr>
          <p:cNvPr id="4" name="mechanism-lane-build"/>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index build</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1-label"/>
          <p:cNvSpPr txBox="1"/>
          <p:nvPr/>
        </p:nvSpPr>
        <p:spPr>
          <a:xfrm>
            <a:off x="35179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full</a:t>
            </a:r>
            <a:endParaRPr lang="en-US" sz="950" dirty="0"/>
          </a:p>
        </p:txBody>
      </p:sp>
      <p:sp>
        <p:nvSpPr>
          <p:cNvPr id="7"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2-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vector set</a:t>
            </a:r>
            <a:endParaRPr lang="en-US" sz="950" dirty="0"/>
          </a:p>
        </p:txBody>
      </p:sp>
      <p:sp>
        <p:nvSpPr>
          <p:cNvPr id="9"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e3-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bottom-up</a:t>
            </a:r>
            <a:endParaRPr lang="en-US" sz="950" dirty="0"/>
          </a:p>
        </p:txBody>
      </p:sp>
      <p:sp>
        <p:nvSpPr>
          <p:cNvPr id="11" name="mechanism-node-full"/>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full leaf</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크기 S_L 도달</a:t>
            </a:r>
            <a:endParaRPr lang="en-US" sz="1150" dirty="0"/>
          </a:p>
        </p:txBody>
      </p:sp>
      <p:sp>
        <p:nvSpPr>
          <p:cNvPr id="12" name="mechanism-node-leafgraph"/>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leaf graph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BuildKNNIndex</a:t>
            </a:r>
            <a:endParaRPr lang="en-US" sz="1150" dirty="0"/>
          </a:p>
        </p:txBody>
      </p:sp>
      <p:sp>
        <p:nvSpPr>
          <p:cNvPr id="13" name="mechanism-node-union"/>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sibling union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두 vector set 합침</a:t>
            </a:r>
            <a:endParaRPr lang="en-US" sz="1150" dirty="0"/>
          </a:p>
        </p:txBody>
      </p:sp>
      <p:sp>
        <p:nvSpPr>
          <p:cNvPr id="14" name="mechanism-node-paren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parent graph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ancestor 반복 구축</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부모 graph는 child graph를 이어 붙이는 것이 아니라, 합친 vector set에서 새로 구축한다.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 3; Algorithm 4</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서로 다른 블록 index는 병렬로 만들 수 있다</a:t>
            </a:r>
            <a:endParaRPr lang="en-US" sz="3100" dirty="0"/>
          </a:p>
        </p:txBody>
      </p:sp>
      <p:sp>
        <p:nvSpPr>
          <p:cNvPr id="3" name="Shape 1"/>
          <p:cNvSpPr/>
          <p:nvPr/>
        </p:nvSpPr>
        <p:spPr>
          <a:xfrm>
            <a:off x="6096000" y="2324100"/>
            <a:ext cx="0" cy="1905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3302000" y="2514600"/>
            <a:ext cx="5588000" cy="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6" name="Shape 4"/>
          <p:cNvSpPr/>
          <p:nvPr/>
        </p:nvSpPr>
        <p:spPr>
          <a:xfrm>
            <a:off x="8890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3302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3302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8890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6731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546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2" name="Shape 10"/>
          <p:cNvSpPr/>
          <p:nvPr/>
        </p:nvSpPr>
        <p:spPr>
          <a:xfrm>
            <a:off x="673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096000" y="4800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4" name="Text 12"/>
          <p:cNvSpPr txBox="1"/>
          <p:nvPr/>
        </p:nvSpPr>
        <p:spPr>
          <a:xfrm>
            <a:off x="4191000" y="1727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full leaf event</a:t>
            </a:r>
            <a:endParaRPr lang="en-US" sz="1750" dirty="0"/>
          </a:p>
        </p:txBody>
      </p:sp>
      <p:sp>
        <p:nvSpPr>
          <p:cNvPr id="15" name="Text 13"/>
          <p:cNvSpPr txBox="1"/>
          <p:nvPr/>
        </p:nvSpPr>
        <p:spPr>
          <a:xfrm>
            <a:off x="4191000" y="2006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ancestor block 확인</a:t>
            </a:r>
            <a:endParaRPr lang="en-US" sz="1500" dirty="0"/>
          </a:p>
        </p:txBody>
      </p:sp>
      <p:sp>
        <p:nvSpPr>
          <p:cNvPr id="16" name="Text 14"/>
          <p:cNvSpPr txBox="1"/>
          <p:nvPr/>
        </p:nvSpPr>
        <p:spPr>
          <a:xfrm>
            <a:off x="1270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lower block</a:t>
            </a:r>
            <a:endParaRPr lang="en-US" sz="1750" dirty="0"/>
          </a:p>
        </p:txBody>
      </p:sp>
      <p:sp>
        <p:nvSpPr>
          <p:cNvPr id="17" name="Text 15"/>
          <p:cNvSpPr txBox="1"/>
          <p:nvPr/>
        </p:nvSpPr>
        <p:spPr>
          <a:xfrm>
            <a:off x="1270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G4 구축</a:t>
            </a:r>
            <a:endParaRPr lang="en-US" sz="1500" dirty="0"/>
          </a:p>
        </p:txBody>
      </p:sp>
      <p:sp>
        <p:nvSpPr>
          <p:cNvPr id="18" name="Text 16"/>
          <p:cNvSpPr txBox="1"/>
          <p:nvPr/>
        </p:nvSpPr>
        <p:spPr>
          <a:xfrm>
            <a:off x="6858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upper blocks</a:t>
            </a:r>
            <a:endParaRPr lang="en-US" sz="1750" dirty="0"/>
          </a:p>
        </p:txBody>
      </p:sp>
      <p:sp>
        <p:nvSpPr>
          <p:cNvPr id="19" name="Text 17"/>
          <p:cNvSpPr txBox="1"/>
          <p:nvPr/>
        </p:nvSpPr>
        <p:spPr>
          <a:xfrm>
            <a:off x="6858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G5·G6 구축</a:t>
            </a:r>
            <a:endParaRPr lang="en-US" sz="1500" dirty="0"/>
          </a:p>
        </p:txBody>
      </p:sp>
      <p:sp>
        <p:nvSpPr>
          <p:cNvPr id="20" name="Text 18"/>
          <p:cNvSpPr txBox="1"/>
          <p:nvPr/>
        </p:nvSpPr>
        <p:spPr>
          <a:xfrm>
            <a:off x="4191000" y="4191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index set</a:t>
            </a:r>
            <a:endParaRPr lang="en-US" sz="1750" dirty="0"/>
          </a:p>
        </p:txBody>
      </p:sp>
      <p:sp>
        <p:nvSpPr>
          <p:cNvPr id="21" name="Text 19"/>
          <p:cNvSpPr txBox="1"/>
          <p:nvPr/>
        </p:nvSpPr>
        <p:spPr>
          <a:xfrm>
            <a:off x="4191000" y="4470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완성 graph 등록</a:t>
            </a:r>
            <a:endParaRPr lang="en-US" sz="1500" dirty="0"/>
          </a:p>
        </p:txBody>
      </p:sp>
      <p:sp>
        <p:nvSpPr>
          <p:cNvPr id="22" name="Text 20"/>
          <p:cNvSpPr txBox="1"/>
          <p:nvPr/>
        </p:nvSpPr>
        <p:spPr>
          <a:xfrm>
            <a:off x="4191000" y="5232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query-ready MBI</a:t>
            </a:r>
            <a:endParaRPr lang="en-US" sz="1750" dirty="0"/>
          </a:p>
        </p:txBody>
      </p:sp>
      <p:sp>
        <p:nvSpPr>
          <p:cNvPr id="23" name="Text 21"/>
          <p:cNvSpPr txBox="1"/>
          <p:nvPr/>
        </p:nvSpPr>
        <p:spPr>
          <a:xfrm>
            <a:off x="4191000" y="5511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block 독립 검색</a:t>
            </a:r>
            <a:endParaRPr lang="en-US" sz="150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§4.2, Parallelization of MBI</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virtual block은 불완전한 tree의 탐색 경로를 유지한다</a:t>
            </a:r>
            <a:endParaRPr lang="en-US" sz="3100" dirty="0"/>
          </a:p>
        </p:txBody>
      </p:sp>
      <p:sp>
        <p:nvSpPr>
          <p:cNvPr id="3" name="Text 1"/>
          <p:cNvSpPr txBox="1"/>
          <p:nvPr/>
        </p:nvSpPr>
        <p:spPr>
          <a:xfrm>
            <a:off x="838200" y="17399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증분 삽입 중에는 완전 이진 tree가 아닐 수 있다.</a:t>
            </a:r>
            <a:endParaRPr lang="en-US" sz="2000" dirty="0"/>
          </a:p>
        </p:txBody>
      </p:sp>
      <p:sp>
        <p:nvSpPr>
          <p:cNvPr id="4" name="Shape 2"/>
          <p:cNvSpPr/>
          <p:nvPr/>
        </p:nvSpPr>
        <p:spPr>
          <a:xfrm>
            <a:off x="838200" y="24765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5146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virtual block은 시간 범위를 음의 무한대부터 양의 무한대로 둔다.</a:t>
            </a:r>
            <a:endParaRPr lang="en-US" sz="2000" dirty="0"/>
          </a:p>
        </p:txBody>
      </p:sp>
      <p:sp>
        <p:nvSpPr>
          <p:cNvPr id="6" name="Shape 4"/>
          <p:cNvSpPr/>
          <p:nvPr/>
        </p:nvSpPr>
        <p:spPr>
          <a:xfrm>
            <a:off x="838200" y="32512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2893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무한한 block 길이 때문에 threshold 선택 대상이 되지 않는다.</a:t>
            </a:r>
            <a:endParaRPr lang="en-US" sz="2000" dirty="0"/>
          </a:p>
        </p:txBody>
      </p:sp>
      <p:sp>
        <p:nvSpPr>
          <p:cNvPr id="8" name="Shape 6"/>
          <p:cNvSpPr/>
          <p:nvPr/>
        </p:nvSpPr>
        <p:spPr>
          <a:xfrm>
            <a:off x="838200" y="4025900"/>
            <a:ext cx="106934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838200" y="40640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대신 실제 descendant까지 top-down 탐색을 이어 준다.</a:t>
            </a:r>
            <a:endParaRPr lang="en-US" sz="2000" dirty="0"/>
          </a:p>
        </p:txBody>
      </p:sp>
      <p:sp>
        <p:nvSpPr>
          <p:cNvPr id="10" name="Shape 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1" name="Text 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virtual block은 데이터나 결과를 담는 검색 블록이 아니라 구조적 연결 장치다.</a:t>
            </a:r>
            <a:endParaRPr lang="en-US" sz="1750" dirty="0"/>
          </a:p>
        </p:txBody>
      </p:sp>
      <p:sp>
        <p:nvSpPr>
          <p:cNvPr id="12" name="Shape 1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3" name="Text 1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Figs. 2–3; §4.3</a:t>
            </a:r>
            <a:endParaRPr lang="en-US" sz="1050" dirty="0"/>
          </a:p>
        </p:txBody>
      </p:sp>
      <p:sp>
        <p:nvSpPr>
          <p:cNvPr id="14" name="Text 1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질의는 block 선택, 내부 검색, 전역 병합으로 진행된다</a:t>
            </a:r>
            <a:endParaRPr lang="en-US" sz="3100" dirty="0"/>
          </a:p>
        </p:txBody>
      </p:sp>
      <p:sp>
        <p:nvSpPr>
          <p:cNvPr id="3" name="mechanism-lane-query"/>
          <p:cNvSpPr txBox="1"/>
          <p:nvPr/>
        </p:nvSpPr>
        <p:spPr>
          <a:xfrm>
            <a:off x="660400" y="1803400"/>
            <a:ext cx="863600" cy="35306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query</a:t>
            </a:r>
            <a:endParaRPr lang="en-US" sz="1250" dirty="0"/>
          </a:p>
        </p:txBody>
      </p:sp>
      <p:sp>
        <p:nvSpPr>
          <p:cNvPr id="4" name="mechanism-edge-e1-segment-1"/>
          <p:cNvSpPr/>
          <p:nvPr/>
        </p:nvSpPr>
        <p:spPr>
          <a:xfrm>
            <a:off x="38100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5" name="mechanism-edge-e1-label"/>
          <p:cNvSpPr txBox="1"/>
          <p:nvPr/>
        </p:nvSpPr>
        <p:spPr>
          <a:xfrm>
            <a:off x="3517900" y="30099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time window</a:t>
            </a:r>
            <a:endParaRPr lang="en-US" sz="950" dirty="0"/>
          </a:p>
        </p:txBody>
      </p:sp>
      <p:sp>
        <p:nvSpPr>
          <p:cNvPr id="6" name="mechanism-edge-e2-segment-1"/>
          <p:cNvSpPr/>
          <p:nvPr/>
        </p:nvSpPr>
        <p:spPr>
          <a:xfrm>
            <a:off x="63627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2-label"/>
          <p:cNvSpPr txBox="1"/>
          <p:nvPr/>
        </p:nvSpPr>
        <p:spPr>
          <a:xfrm>
            <a:off x="6070600" y="30099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search blocks</a:t>
            </a:r>
            <a:endParaRPr lang="en-US" sz="950" dirty="0"/>
          </a:p>
        </p:txBody>
      </p:sp>
      <p:sp>
        <p:nvSpPr>
          <p:cNvPr id="8" name="mechanism-edge-e3-segment-1"/>
          <p:cNvSpPr/>
          <p:nvPr/>
        </p:nvSpPr>
        <p:spPr>
          <a:xfrm>
            <a:off x="89154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e3-label"/>
          <p:cNvSpPr txBox="1"/>
          <p:nvPr/>
        </p:nvSpPr>
        <p:spPr>
          <a:xfrm>
            <a:off x="8623300" y="30099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local candidates</a:t>
            </a:r>
            <a:endParaRPr lang="en-US" sz="950" dirty="0"/>
          </a:p>
        </p:txBody>
      </p:sp>
      <p:sp>
        <p:nvSpPr>
          <p:cNvPr id="10" name="mechanism-node-input"/>
          <p:cNvSpPr/>
          <p:nvPr/>
        </p:nvSpPr>
        <p:spPr>
          <a:xfrm>
            <a:off x="17399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 input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w,k,[t_s,t_e)</a:t>
            </a:r>
            <a:endParaRPr lang="en-US" sz="1150" dirty="0"/>
          </a:p>
        </p:txBody>
      </p:sp>
      <p:sp>
        <p:nvSpPr>
          <p:cNvPr id="11" name="mechanism-node-select"/>
          <p:cNvSpPr/>
          <p:nvPr/>
        </p:nvSpPr>
        <p:spPr>
          <a:xfrm>
            <a:off x="42926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BlockSelection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top-down 선택</a:t>
            </a:r>
            <a:endParaRPr lang="en-US" sz="1150" dirty="0"/>
          </a:p>
        </p:txBody>
      </p:sp>
      <p:sp>
        <p:nvSpPr>
          <p:cNvPr id="12" name="mechanism-node-search"/>
          <p:cNvSpPr/>
          <p:nvPr/>
        </p:nvSpPr>
        <p:spPr>
          <a:xfrm>
            <a:off x="68453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per-block search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BSBF 또는 SF</a:t>
            </a:r>
            <a:endParaRPr lang="en-US" sz="1150" dirty="0"/>
          </a:p>
        </p:txBody>
      </p:sp>
      <p:sp>
        <p:nvSpPr>
          <p:cNvPr id="13" name="mechanism-node-merge"/>
          <p:cNvSpPr/>
          <p:nvPr/>
        </p:nvSpPr>
        <p:spPr>
          <a:xfrm>
            <a:off x="93980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global top-k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후보 union 후 정렬</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선택된 block들은 시간상 겹치지 않으며, 최종 k개는 모든 block 후보를 함께 비교해 정한다.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5; §4.3</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overlap ratio는 block 중 실제 질의가 차지하는 비율이다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r_o = 겹치는 시간 길이 / block의 전체 시간 길이</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043936"/>
                <a:gridCol w="260908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block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query와 겹침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block 길이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r_o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[5,14): 길이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9/16=.5625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[5,8): 길이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3/8=.375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[5,8): 길이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[8,14): 길이 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6/8=.75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질의라도 작은 block에서는 overlap ratio가 커질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§4.3, overlap ratio equation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top-down block 선택의 세 경우</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370072"/>
                <a:gridCol w="2391664"/>
                <a:gridCol w="51094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동작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r_o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질의와 겹치지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작은 실제 block이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r_o가 threshold 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해상도가 충분함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internal, threshold 미충족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descend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맞는 child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tau는 검색 정확도의 임계값이 아니라 block 해상도를 고르는 임계값이다.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5 lines 11–20; §4.3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tau가 block 해상도를 조절한다</a:t>
            </a:r>
            <a:endParaRPr lang="en-US" sz="3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739392"/>
                <a:gridCol w="3152648"/>
                <a:gridCol w="293522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경향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장점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0에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root 쪽 큰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수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좁은 창에서 SF 낭비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 해상도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실험상 안정적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 tuning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1에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leaf 쪽 작은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불필요 후보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수와 overhead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tau를 높이면 항상 빨라지는 것이 아니라, 검색 block 수와 내부 낭비 사이의 균형이 바뀐다.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 4; §4.3; §5.4.2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예제: q=[5,14), tau=.6에서 block 고르기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규칙을 작은 균형 tree에 적용한 교육용 계산이다.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1956816"/>
                <a:gridCol w="239166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 block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r_o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.5625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child로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child로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검색 집합에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검색 집합에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최종 search block set은 {[4,8), [8,16)}이고 두 block은 시간상 겹치지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5; §4.3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예제: block 탐색 결과를 전역 병합한다</a:t>
            </a:r>
            <a:endParaRPr lang="en-US" sz="3100" dirty="0"/>
          </a:p>
        </p:txBody>
      </p:sp>
      <p:sp>
        <p:nvSpPr>
          <p:cNvPr id="3" name="Shape 1"/>
          <p:cNvSpPr/>
          <p:nvPr/>
        </p:nvSpPr>
        <p:spPr>
          <a:xfrm>
            <a:off x="3302000" y="2578100"/>
            <a:ext cx="0" cy="6096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8890000" y="2578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3187700"/>
            <a:ext cx="2159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6731000" y="3187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5461000" y="3187700"/>
            <a:ext cx="0" cy="5715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6731000" y="3187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096000" y="4356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0" name="Text 8"/>
          <p:cNvSpPr txBox="1"/>
          <p:nvPr/>
        </p:nvSpPr>
        <p:spPr>
          <a:xfrm>
            <a:off x="1270000" y="1981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block [4,8)</a:t>
            </a:r>
            <a:endParaRPr lang="en-US" sz="1750" dirty="0"/>
          </a:p>
        </p:txBody>
      </p:sp>
      <p:sp>
        <p:nvSpPr>
          <p:cNvPr id="11" name="Text 9"/>
          <p:cNvSpPr txBox="1"/>
          <p:nvPr/>
        </p:nvSpPr>
        <p:spPr>
          <a:xfrm>
            <a:off x="1270000" y="2260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 제외, A .30, B .45</a:t>
            </a:r>
            <a:endParaRPr lang="en-US" sz="1500" dirty="0"/>
          </a:p>
        </p:txBody>
      </p:sp>
      <p:sp>
        <p:nvSpPr>
          <p:cNvPr id="12" name="Text 10"/>
          <p:cNvSpPr txBox="1"/>
          <p:nvPr/>
        </p:nvSpPr>
        <p:spPr>
          <a:xfrm>
            <a:off x="6858000" y="1981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block [8,16)</a:t>
            </a:r>
            <a:endParaRPr lang="en-US" sz="1750" dirty="0"/>
          </a:p>
        </p:txBody>
      </p:sp>
      <p:sp>
        <p:nvSpPr>
          <p:cNvPr id="13" name="Text 11"/>
          <p:cNvSpPr txBox="1"/>
          <p:nvPr/>
        </p:nvSpPr>
        <p:spPr>
          <a:xfrm>
            <a:off x="6858000" y="2260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Y 제외, C .25, D .40</a:t>
            </a:r>
            <a:endParaRPr lang="en-US" sz="1500" dirty="0"/>
          </a:p>
        </p:txBody>
      </p:sp>
      <p:sp>
        <p:nvSpPr>
          <p:cNvPr id="14" name="Text 12"/>
          <p:cNvSpPr txBox="1"/>
          <p:nvPr/>
        </p:nvSpPr>
        <p:spPr>
          <a:xfrm>
            <a:off x="4191000" y="3759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eligible union</a:t>
            </a:r>
            <a:endParaRPr lang="en-US" sz="1750" dirty="0"/>
          </a:p>
        </p:txBody>
      </p:sp>
      <p:sp>
        <p:nvSpPr>
          <p:cNvPr id="15" name="Text 13"/>
          <p:cNvSpPr txBox="1"/>
          <p:nvPr/>
        </p:nvSpPr>
        <p:spPr>
          <a:xfrm>
            <a:off x="4191000" y="4038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 B, C, D</a:t>
            </a:r>
            <a:endParaRPr lang="en-US" sz="1500" dirty="0"/>
          </a:p>
        </p:txBody>
      </p:sp>
      <p:sp>
        <p:nvSpPr>
          <p:cNvPr id="16" name="Text 14"/>
          <p:cNvSpPr txBox="1"/>
          <p:nvPr/>
        </p:nvSpPr>
        <p:spPr>
          <a:xfrm>
            <a:off x="4191000" y="5092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global top-3</a:t>
            </a:r>
            <a:endParaRPr lang="en-US" sz="1750" dirty="0"/>
          </a:p>
        </p:txBody>
      </p:sp>
      <p:sp>
        <p:nvSpPr>
          <p:cNvPr id="17" name="Text 15"/>
          <p:cNvSpPr txBox="1"/>
          <p:nvPr/>
        </p:nvSpPr>
        <p:spPr>
          <a:xfrm>
            <a:off x="4191000" y="5372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 .25, A .30, D .40</a:t>
            </a:r>
            <a:endParaRPr lang="en-US" sz="150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5 lines 3–10</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선택 뒤에는 block 상태에 따라 내부 검색이 달라진다</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2391664"/>
                <a:gridCol w="271780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block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내부 index</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사용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non-full leaf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비어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조건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leaf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조건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internal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조건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각자 독립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병렬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union 후 global top-k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MBI는 block selection만 제안하는 것이 아니라, block 상태와 기존 검색법을 결합한다.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5 lines 4–9</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tau &lt;= .5이면 처리 block은 최대 두 개다</a:t>
            </a:r>
            <a:endParaRPr lang="en-US" sz="3100" dirty="0"/>
          </a:p>
        </p:txBody>
      </p:sp>
      <p:sp>
        <p:nvSpPr>
          <p:cNvPr id="3" name="Text 1"/>
          <p:cNvSpPr txBox="1"/>
          <p:nvPr/>
        </p:nvSpPr>
        <p:spPr>
          <a:xfrm>
            <a:off x="838200" y="17399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질의 창을 처음 둘로 나누는 parent를 기준으로 본다.</a:t>
            </a:r>
            <a:endParaRPr lang="en-US" sz="2000" dirty="0"/>
          </a:p>
        </p:txBody>
      </p:sp>
      <p:sp>
        <p:nvSpPr>
          <p:cNvPr id="4" name="Shape 2"/>
          <p:cNvSpPr/>
          <p:nvPr/>
        </p:nvSpPr>
        <p:spPr>
          <a:xfrm>
            <a:off x="838200" y="24765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5146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왼쪽 조각은 한 descendant 경로에서만 선택된다.</a:t>
            </a:r>
            <a:endParaRPr lang="en-US" sz="2000" dirty="0"/>
          </a:p>
        </p:txBody>
      </p:sp>
      <p:sp>
        <p:nvSpPr>
          <p:cNvPr id="6" name="Shape 4"/>
          <p:cNvSpPr/>
          <p:nvPr/>
        </p:nvSpPr>
        <p:spPr>
          <a:xfrm>
            <a:off x="838200" y="32512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2893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오른쪽 조각도 대칭적으로 한 경로에서만 선택된다.</a:t>
            </a:r>
            <a:endParaRPr lang="en-US" sz="2000" dirty="0"/>
          </a:p>
        </p:txBody>
      </p:sp>
      <p:sp>
        <p:nvSpPr>
          <p:cNvPr id="8" name="Shape 6"/>
          <p:cNvSpPr/>
          <p:nvPr/>
        </p:nvSpPr>
        <p:spPr>
          <a:xfrm>
            <a:off x="838200" y="4025900"/>
            <a:ext cx="106934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838200" y="40640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각 조각당 한 block, 전체 최대 두 block이다.</a:t>
            </a:r>
            <a:endParaRPr lang="en-US" sz="2000" dirty="0"/>
          </a:p>
        </p:txBody>
      </p:sp>
      <p:sp>
        <p:nvSpPr>
          <p:cNvPr id="10" name="Shape 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1" name="Text 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작은 tau 영역의 block 호출 수는 tree 깊이에 비례해 폭증하지 않는다.</a:t>
            </a:r>
            <a:endParaRPr lang="en-US" sz="1750" dirty="0"/>
          </a:p>
        </p:txBody>
      </p:sp>
      <p:sp>
        <p:nvSpPr>
          <p:cNvPr id="12" name="Shape 1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3" name="Text 1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§4.5.3, Lemma 1</a:t>
            </a:r>
            <a:endParaRPr lang="en-US" sz="1050" dirty="0"/>
          </a:p>
        </p:txBody>
      </p:sp>
      <p:sp>
        <p:nvSpPr>
          <p:cNvPr id="14" name="Text 1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이론 비용은 index 선택과 graph 가정에 함께 의존한다</a:t>
            </a:r>
            <a:endParaRPr lang="en-US" sz="3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O(|D| log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수준별 중복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 build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O(|D|^1.14)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NNDescent 경험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amortized append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O(|D|^0.14)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ordered arrival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 tau&lt;=.5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O(log(N_q/tau)+k/tau)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두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 tau&gt;.5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O(log²(N_q/tau)+(k/tau)log(N_q/tau))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level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N_q는 query 시간 창 안 벡터 수이며, 상한은 분석 가정에 조건부다.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§4.5.1–4.5.3; Theorems 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빠른 범위 적응의 대가는 level별 중복이다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leaf copy</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짧은 구간 vector</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parent copy</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child union 저장</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ancestor copies</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level 반복</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total space</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O(|D| log |D|)</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MBI는 한 벡터를 한 번만 저장하는 index가 아니며, 검색 속도와 공간을 교환한다.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§4.5.1; Table 4</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m-AkNN은 시간 하나를 m개 수치 속성으로 확장한다</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3913632"/>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T-kNN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m-AkNN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filter axes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timestamp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numeric attributes m개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 bounds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[t_s,t_e)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축 [lower_i,upper_i)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2^m-ary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non-full leaf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AFBF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updates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ordered append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static 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확장은 index 구성과 update 가능성을 함께 바꾼다.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§3.1; §4.4; Table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multi-attribute 공간은 밀도에 따라 나눈다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root range</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속성별 min·max</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midpoint split</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축을 둘로</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2^m children</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vector 재배치</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size &lt;= S_L</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leaf에서 종료</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m=2는 quadtree, m=3은 octree이며 데이터가 밀집한 영역이 더 깊게 나뉜다.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 5; Algorithm 6; §4.4.1</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여러 속성의 overlap은 축별 비율을 곱한다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수치는 공식을 읽기 위한 구성 예제이며, 축별 비율을 product로 결합한다.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935224"/>
                <a:gridCol w="293522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속성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block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query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겹침 비율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product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축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축에서 overlap이 0이면 product도 0이므로 해당 block 전체를 건너뛴다.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§4.4.2, overlap ratio equation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m-AkNN query는 같은 선택 틀에 다른 filter를 넣는다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 ranges</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속성별 반개구간</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product overlap</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top-down 선택</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AFBF 또는 SF</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block 내부 검색</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global top-k</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후보 병합</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시간축의 binary search를 쓸 수 없으므로 non-full leaf에서 AFBF를 사용한다.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Algorithm 7; Fig. 6; §4.4.2</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결과는 이 구현과 장비 조건에서 측정되었다</a:t>
            </a:r>
            <a:endParaRPr lang="en-US" sz="3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13105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AMD Ryzen 7 3800XT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8-core commodity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 GB DDR4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 장비의 용량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Ubuntu 20.04.1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환경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Rust/Cargo 1.66.1 release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최적화 build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NNDescent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MBI와 SF에 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보고된 QPS와 build time은 하드웨어·언어·index 구현에 조건부다.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§5.1.1; §5.1.3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T-kNN은 규모와 차원이 다른 여섯 dataset에서 평가한다</a:t>
            </a:r>
            <a:endParaRPr lang="en-US" sz="3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935224"/>
                <a:gridCol w="3043936"/>
                <a:gridCol w="195681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train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dim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distance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MovieLens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57,571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angular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291,180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angular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GloVe-100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1,183,514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angular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SIFT1M / GIST1M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1M / 1M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 / 960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Euclidean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DEEP1B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9,990,000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angular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DEEP1B라는 이름과 달리 실험 train set은 약 999만 벡터의 subset이다.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Table 2; §5.1.2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m-AkNN dataset에는 원문 내부 차원 표기 차이가 있다</a:t>
            </a:r>
            <a:endParaRPr lang="en-US" sz="3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2391664"/>
                <a:gridCol w="2391664"/>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train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Table 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본문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COMS-GTS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25,544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temperature·humidity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CORD-19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49,800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728-d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768-d SPECTER라고 서술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held-out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index에 미포함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CORD-19은 표의 728과 본문의 768이 충돌하므로 하나를 사실로 단정하지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Table 2; §5.1.2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T-kNN 성능 비교의 operational definition</a:t>
            </a:r>
            <a:endParaRPr lang="en-US" sz="3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3696208"/>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dataset별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index에서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window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D 대비 eligible fraction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accuracy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recall@k=.995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정확도 수준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10, 50, 100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기본값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repeats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과정 5회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QPS 반복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10.88×는 recall, window ratio, k, tuning을 고정한 실험점에서의 최대값이다.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§5.2; Fig. 7</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MBI는 시간 창 길이에 걸쳐 교차점을 완화한다</a:t>
            </a:r>
            <a:endParaRPr lang="en-US" sz="3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370072"/>
                <a:gridCol w="3587496"/>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BSBF 하락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window가 넓을수록 QPS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eligible count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SF 하락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window가 좁을수록 QPS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filter reject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MBI 안정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여섯 dataset 전 범위 우세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tuned tau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10.88×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faster-of-BSBF/SF보다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hypothetical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최대 speedup은 모든 질의의 평균이나 보장값이 아니라 Figure 7에서 관찰된 조건부 최대다.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 7; §5.2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recall-speed curve 전체를 봐야 한다</a:t>
            </a:r>
            <a:endParaRPr lang="en-US" sz="3100" dirty="0"/>
          </a:p>
        </p:txBody>
      </p:sp>
      <p:sp>
        <p:nvSpPr>
          <p:cNvPr id="3" name="Text 1"/>
          <p:cNvSpPr txBox="1"/>
          <p:nvPr/>
        </p:nvSpPr>
        <p:spPr>
          <a:xfrm>
            <a:off x="838200" y="17399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epsilon을 1.0부터 1.4까지 0.02 간격으로 바꾼다.</a:t>
            </a:r>
            <a:endParaRPr lang="en-US" sz="2000" dirty="0"/>
          </a:p>
        </p:txBody>
      </p:sp>
      <p:sp>
        <p:nvSpPr>
          <p:cNvPr id="4" name="Shape 2"/>
          <p:cNvSpPr/>
          <p:nvPr/>
        </p:nvSpPr>
        <p:spPr>
          <a:xfrm>
            <a:off x="838200" y="24765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5146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방법의 recall과 QPS trade-off를 곡선으로 만든다.</a:t>
            </a:r>
            <a:endParaRPr lang="en-US" sz="2000" dirty="0"/>
          </a:p>
        </p:txBody>
      </p:sp>
      <p:sp>
        <p:nvSpPr>
          <p:cNvPr id="6" name="Shape 4"/>
          <p:cNvSpPr/>
          <p:nvPr/>
        </p:nvSpPr>
        <p:spPr>
          <a:xfrm>
            <a:off x="838200" y="32512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2893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Figure 8은 COMS의 10%, 30%, 80% window를 비교한다.</a:t>
            </a:r>
            <a:endParaRPr lang="en-US" sz="2000" dirty="0"/>
          </a:p>
        </p:txBody>
      </p:sp>
      <p:sp>
        <p:nvSpPr>
          <p:cNvPr id="8" name="Shape 6"/>
          <p:cNvSpPr/>
          <p:nvPr/>
        </p:nvSpPr>
        <p:spPr>
          <a:xfrm>
            <a:off x="838200" y="4025900"/>
            <a:ext cx="106934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838200" y="40640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recall=.995의 한 점뿐 아니라 frontier 형태도 확인한다.</a:t>
            </a:r>
            <a:endParaRPr lang="en-US" sz="2000" dirty="0"/>
          </a:p>
        </p:txBody>
      </p:sp>
      <p:sp>
        <p:nvSpPr>
          <p:cNvPr id="10" name="Shape 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1" name="Text 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정확도를 낮춰 얻은 속도를 동일 정확도의 개선으로 읽으면 안 된다.</a:t>
            </a:r>
            <a:endParaRPr lang="en-US" sz="1750" dirty="0"/>
          </a:p>
        </p:txBody>
      </p:sp>
      <p:sp>
        <p:nvSpPr>
          <p:cNvPr id="12" name="Shape 1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3" name="Text 1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§5.1.3; Fig. 8</a:t>
            </a:r>
            <a:endParaRPr lang="en-US" sz="1050" dirty="0"/>
          </a:p>
        </p:txBody>
      </p:sp>
      <p:sp>
        <p:nvSpPr>
          <p:cNvPr id="14" name="Text 1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SIFT1M scaling은 관찰된 slope로 보고된다</a:t>
            </a:r>
            <a:endParaRPr lang="en-US" sz="3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2391664"/>
                <a:gridCol w="239166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측정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MBI</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indexing slope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log-log fitted trend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index-size slope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MBI 중복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 약 2.45×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2^1.29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parallel build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5.08×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독립성 활용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수치는 SIFT1M subset의 관찰값이며 보편적 계수가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 9; §5.3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실제 index 크기도 MBI의 공간 대가를 보여 준다</a:t>
            </a:r>
            <a:endParaRPr lang="en-US" sz="3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935224"/>
                <a:gridCol w="2391664"/>
                <a:gridCol w="2826512"/>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input GB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MBI</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MovieLens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(6.08×)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 (1.90×)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.91 (6.35×)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 (1.74×)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GloVe-100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3.95 (8.72×)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1.21 (2.49×)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GIST1M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7.73 (2.15×)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4.64 (1.21×)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DEEP1B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18.24 (5.00×)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6.10 (1.56×)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속도 개선과 함께 index 용량 예산도 실제 배치를 제한할 수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Table 4; §5.3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S_L과 tau는 서로 다른 비용을 조절한다</a:t>
            </a:r>
            <a:endParaRPr lang="en-US" sz="3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2935224"/>
                <a:gridCol w="293522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parameter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작게 두면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크게 두면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S_L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tree 깊고 index 많음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leaf scan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depth 5–10 균형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block, 적은 호출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block, 많은 호출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.5가 대체로 양호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epsilon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좁은 graph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넓은 graph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recall-QPS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tau는 block 선택, epsilon은 graph 탐색 범위를 조절한다.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Figs. 10–11; §5.4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m-AkNN 결과도 별도의 정확도와 반복 조건을 가진다</a:t>
            </a:r>
            <a:endParaRPr lang="en-US" sz="3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3696208"/>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dataset별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index에서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filter ratios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30%, 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qualifying vector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accuracy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recall@k=.95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T-kNN의 .995와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repeats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T-kNN의 5회와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1.99×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hypothetical baseline 대비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1.99×와 10.88×는 서로 다른 문제·recall·반복 조건에서 나온 최대값이다.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Figs. 12–13; §5.5.1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m-AkNN에서도 MBI index는 SF보다 크다</a:t>
            </a:r>
            <a:endParaRPr lang="en-US" sz="3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152648"/>
                <a:gridCol w="2282952"/>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input GB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MBI</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COMS-GTS, m=2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 (5.66×)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 (2.29×)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COMS-GTS, m=3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 (4.59×)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 (2.30×)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CORD-19-small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2.11 (1.34×)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1.65 (1.05×)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CORD-19-large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4.23 (1.38×)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3.21 (1.05×)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index 배율은 속성 수뿐 아니라 분포와 tree 모양에도 좌우된다.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Table 5; §5.5.2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MBI가 보장하거나 지원하지 않는 것</a:t>
            </a:r>
            <a:endParaRPr lang="en-US" sz="3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3587496"/>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neighbor accuracy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approximate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top-k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T-kNN updates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시간순 append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삽입·삭제 미지원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m-AkNN updates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static dataset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삽입·삭제 미지원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O(|D| log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level별 중복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optimality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open problem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형식적 최적성 미증명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MBI는 범위 적응형 설계지만 모든 동적 update를 지원하지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§6, Limitations and Future Work</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재현 시 함께 고정해야 할 항목</a:t>
            </a:r>
            <a:endParaRPr lang="en-US" sz="3100" dirty="0"/>
          </a:p>
        </p:txBody>
      </p:sp>
      <p:sp>
        <p:nvSpPr>
          <p:cNvPr id="3" name="Text 1"/>
          <p:cNvSpPr txBox="1"/>
          <p:nvPr/>
        </p:nvSpPr>
        <p:spPr>
          <a:xfrm>
            <a:off x="838200" y="17399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dataset split과 query 제외 절차</a:t>
            </a:r>
            <a:endParaRPr lang="en-US" sz="2000" dirty="0"/>
          </a:p>
        </p:txBody>
      </p:sp>
      <p:sp>
        <p:nvSpPr>
          <p:cNvPr id="4" name="Shape 2"/>
          <p:cNvSpPr/>
          <p:nvPr/>
        </p:nvSpPr>
        <p:spPr>
          <a:xfrm>
            <a:off x="838200" y="22225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2606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distance metric과 vector dimension</a:t>
            </a:r>
            <a:endParaRPr lang="en-US" sz="2000" dirty="0"/>
          </a:p>
        </p:txBody>
      </p:sp>
      <p:sp>
        <p:nvSpPr>
          <p:cNvPr id="6" name="Shape 4"/>
          <p:cNvSpPr/>
          <p:nvPr/>
        </p:nvSpPr>
        <p:spPr>
          <a:xfrm>
            <a:off x="838200" y="27432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27813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recall@k 목표와 k 값</a:t>
            </a:r>
            <a:endParaRPr lang="en-US" sz="2000" dirty="0"/>
          </a:p>
        </p:txBody>
      </p:sp>
      <p:sp>
        <p:nvSpPr>
          <p:cNvPr id="8" name="Shape 6"/>
          <p:cNvSpPr/>
          <p:nvPr/>
        </p:nvSpPr>
        <p:spPr>
          <a:xfrm>
            <a:off x="838200" y="3263900"/>
            <a:ext cx="106934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838200" y="33020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NNDescent 및 graph search parameter</a:t>
            </a:r>
            <a:endParaRPr lang="en-US" sz="2000" dirty="0"/>
          </a:p>
        </p:txBody>
      </p:sp>
      <p:sp>
        <p:nvSpPr>
          <p:cNvPr id="10" name="Shape 8"/>
          <p:cNvSpPr/>
          <p:nvPr/>
        </p:nvSpPr>
        <p:spPr>
          <a:xfrm>
            <a:off x="838200" y="3784600"/>
            <a:ext cx="106934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838200" y="3822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tau와 S_L의 dataset별 설정</a:t>
            </a:r>
            <a:endParaRPr lang="en-US" sz="2000" dirty="0"/>
          </a:p>
        </p:txBody>
      </p:sp>
      <p:sp>
        <p:nvSpPr>
          <p:cNvPr id="12" name="Shape 10"/>
          <p:cNvSpPr/>
          <p:nvPr/>
        </p:nvSpPr>
        <p:spPr>
          <a:xfrm>
            <a:off x="838200" y="4305300"/>
            <a:ext cx="10693400" cy="0"/>
          </a:xfrm>
          <a:prstGeom prst="line">
            <a:avLst/>
          </a:prstGeom>
          <a:noFill/>
          <a:ln w="12700">
            <a:solidFill>
              <a:srgbClr val="C9D8D4"/>
            </a:solidFill>
            <a:prstDash val="solid"/>
            <a:headEnd type="none"/>
            <a:tailEnd type="none"/>
          </a:ln>
        </p:spPr>
        <p:txBody>
          <a:bodyPr/>
          <a:lstStyle/>
          <a:p>
            <a:endParaRPr lang="ko-KR"/>
          </a:p>
        </p:txBody>
      </p:sp>
      <p:sp>
        <p:nvSpPr>
          <p:cNvPr id="13" name="Text 11"/>
          <p:cNvSpPr txBox="1"/>
          <p:nvPr/>
        </p:nvSpPr>
        <p:spPr>
          <a:xfrm>
            <a:off x="838200" y="4343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CPU·memory·compiler release 조건</a:t>
            </a:r>
            <a:endParaRPr lang="en-US" sz="200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공개 코드는 출발점이지만, 논문 표의 parameter와 평가 조건을 함께 맞춰야 한다.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p. 3; Tables 2–3; §5.1–5.5; mbi-code repository README</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MBI를 한 문장씩 연결하면</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문제</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filter 폭이 매번 변함</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구조</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크기 block index</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결정</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overlap과 tau로 선택</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실행</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block 검색 후 top-k</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대가</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중복 공간과 제한된 update</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MBI의 본질은 질의 범위에 맞는 검색 단위를 고르는 계층적 조정이다.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tkdd-paper §4; §6</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시간 제약 kNN 검색과 Multi-Level Block Indexing</dc:title>
  <dc:subject>Efficient Time-Restricted kNN Search in High-Dimensional Data Using Multi-Level Block Indexing, with Extensions to Multi-Attribute Filtering</dc:subject>
  <dc:creator>Research Seminars</dc:creator>
  <cp:lastModifiedBy>Research Seminars</cp:lastModifiedBy>
  <cp:revision>1</cp:revision>
  <dcterms:created xsi:type="dcterms:W3CDTF">2026-09-12T07:26:46Z</dcterms:created>
  <dcterms:modified xsi:type="dcterms:W3CDTF">2026-09-12T07:26:46Z</dcterms:modified>
</cp:coreProperties>
</file>
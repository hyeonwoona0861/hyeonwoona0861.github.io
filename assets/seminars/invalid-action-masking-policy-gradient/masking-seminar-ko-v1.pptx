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Invalid Action Masking
발표 대본
이 발표는 A Closer Look at Invalid Action Masking in Policy Gradient Algorithms 논문을 소개합니다. 환경 규칙이 이미 실행 불가능한 행동을 알려 준다면 그 정보를 policy gradient의 어느 지점에 넣어야 하는지가 핵심 질문입니다. 논문은 logit을 softmax 전에 바꾸고, 같은 masked policy에서 행동을 뽑고 log-probability를 계산해야 한다고 설명합니다. 이 방법은 invalid action에 벌점을 주는 방식과도 다릅니다.
공개 출처
flairs-paper | paper record
FLAIRS 2022 paper record
https://doi.org/10.32473/flairs.v35i.130584
arxiv-v3 | p. 1, Abstract and Introduction
arXiv:2006.14171v3
https://arxiv.org/abs/2006.14171v3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Invalid action의 정의
발표 대본
Invalid action은 단순히 보상이 낮은 행동이 아닙니다. 예를 들어 현재 존재하지 않는 unit을 고르거나 이미 다른 행동을 수행 중인 unit에 새 명령을 내리는 경우처럼, 환경 규칙이 실행할 수 없는 행동입니다. 반면 실행 가능한 나쁜 행동은 실제 결과와 reward를 관찰해 학습할 수 있습니다. 유효 집합 A_valid(s)는 상태에 따라 달라지므로 mask도 매 상태의 규칙 정보에서 만들어져야 합니다.
공개 출처
arxiv-v3 | p. 1, Introduction; pp. 3-4, Evaluation Environment
arXiv:2006.14171v3
https://arxiv.org/abs/2006.14171v3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고정된 행동 목록의 탐색 낭비
발표 대본
Categorical policy는 고정된 행동 index 목록에 logit을 냅니다. 그러나 상태마다 실제로 실행 가능한 subset은 달라집니다. Mask가 없으면 softmax가 invalid index에도 확률을 주므로 탐색 draw를 이미 불가능하다고 아는 선택에 소비할 수 있습니다. 논문의 동기는 이 규칙 정보를 행동을 뽑은 뒤 벌점으로 알려 주기보다, 표본화 전에 policy support에 반영하는 것입니다. 대규모 게임은 동기이지만 실험 근거는 뒤에서 소개할 µRTS 조건입니다.
공개 출처
arxiv-v3 | p. 1, Introduction and Fig. 1
arXiv:2006.14171v3
https://arxiv.org/abs/2006.14171v3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µRTS 자원 수집 환경
발표 대본
논문의 testbed는 µRTS 자원 수집입니다. 관측은 map의 각 위치에 27개 binary feature plane을 둡니다. 행동은 Source Unit, Action Type, 네 개의 방향 관련 parameter, Produce Type, Attack Target Unit으로 이루어진 8차원 벡터입니다. Worker가 자원을 수집하면 1점, base로 반환하면 다시 1점을 받고 최대 episode 길이는 200 time step입니다. 이 구성에서 Source Unit과 Attack Target의 범위가 map 면적 hw와 함께 커집니다.
공개 출처
arxiv-v3 | pp. 3-4, Table 1 and Evaluation Environment
arXiv:2006.14171v3
https://arxiv.org/abs/2006.14171v3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Map 크기와 valid source 확률
발표 대본
논문은 보통 Source Unit으로 선택할 수 있는 대상이 base와 worker 두 개라고 설명합니다. 4 곱하기 4 map에는 위치 index가 16개이므로 균등 선택에서 valid source 확률은 0.125입니다. 24 곱하기 24 map에는 576개 index가 있어 확률은 약 0.0034로 낮아집니다. 이는 source component 하나만 본 계산이며 전체 행동이 valid할 확률을 직접 뜻하지 않습니다. 실험은 이 크기 변화를 masking의 scaling 조건으로 사용합니다.
공개 출처
arxiv-v3 | p. 4, Action Space paragraph
arXiv:2006.14171v3
https://arxiv.org/abs/2006.14171v3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Policy gradient의 기본 경로
발표 대본
Mask를 넣기 전 policy gradient 경로를 확인하겠습니다. Network는 상태 s에서 각 행동의 raw logit l을 냅니다. Softmax가 이를 policy pi의 확률로 바꾸고 그 분포에서 행동 a_t를 표본화합니다. 업데이트에는 같은 policy의 log-probability gradient와 return 또는 advantage 계수 G_t를 사용합니다. 핵심은 trajectory를 만든 분포와 score를 계산한 분포가 일치한다는 점입니다. 다음 슬라이드에서는 softmax 앞에 validity를 적용합니다.
공개 출처
arxiv-v3 | p. 2, Background and Eq. (1)
arXiv:2006.14171v3
https://arxiv.org/abs/2006.14171v3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Validity와 logit의 결합
발표 대본
Masking의 병렬 입력을 구분하겠습니다. 환경 규칙은 현재 상태에서 가능한 행동 index를 알려 주고, policy network는 같은 상태에서 raw logits를 계산합니다. Valid 좌표는 원래 logit l_i를 유지하고 invalid 좌표는 매우 작은 상수 M으로 바꿉니다. 그 뒤 softmax한 분포가 masked behavior policy pi'입니다. 이 validity 경로는 논문의 증명에서 학습된 neural head가 아니라 상태와 규칙에서 주어진 정보입니다. 유한한 M을 쓰면 invalid 확률은 수치적으로 매우 작지만 논리적으로 정확한 0이라고 단정할 수 없습니다.
공개 출처
arxiv-v3 | p. 2, Eqs. (2)-(4)
arXiv:2006.14171v3
https://arxiv.org/abs/2006.14171v3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Masked softmax 수치 계산
발표 대본
이 수치는 논문의 실험 결과가 아니라 masking 연산을 재계산하기 위한 교육용 예시입니다. Raw logits는 0, 1, 2, 3이고 a0와 a2만 valid하다고 하겠습니다. 정확한 0을 보여 주기 위해 여기서는 매우 작은 유한 M의 극한인 -∞를 씁니다. Valid normalizer는 exp 0과 exp 2의 합인 약 8.389입니다. 그래서 pi'는 0.1192, 0, 0.8808, 0이 됩니다. 논문의 유한 M 표기에서는 invalid 확률이 아주 작지만 정확히 0은 아닙니다.
공개 출처
arxiv-v3 | p. 2, Eqs. (2)-(4); values are a constructed example
arXiv:2006.14171v3
https://arxiv.org/abs/2006.14171v3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Masked policy의 score gradient
발표 대본
이제 a2를 표본화하고 G_t를 1로 둡니다. -∞ 극한에서는 score gradient가 one-hot a2에서 pi'를 뺀 값이므로 -0.1192, 0, 0.1192, 0입니다. 중요한 finite M 정정이 있습니다. 유한 M이면 invalid 확률은 아주 작게 남지만, invalid raw logit은 상수 M으로 대체됩니다. 이 치환의 raw-logit Jacobian이 정확히 0이므로 a1과 a3의 원래 logit에 대한 gradient도 정확히 0입니다. 이를 단순히 작은 gradient라고 설명하면 틀립니다.
공개 출처
arxiv-v3 | pp. 2-3, Eqs. (4)-(6); values are a constructed example
arXiv:2006.14171v3
https://arxiv.org/abs/2006.14171v3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Proposition 1의 결론
발표 대본
Proposition 1은 조건이 붙은 주장입니다. 각 상태에서 valid 좌표는 원래 logit을 그대로 통과시키고 invalid 좌표는 parameter와 무관한 상수로 바꿉니다. 이 mapping과 softmax로 만든 pi'는 parameter에 대해 미분 가능합니다. 행동 표본과 log-probability를 모두 같은 pi'에서 계산하면 policy-gradient theorem을 pi'에 적용할 수 있습니다. 따라서 원래 unmasked policy가 변하지 않았다는 정리가 아니라 constrained behavior policy에 대한 정당화입니다.
공개 출처
arxiv-v3 | p. 3, Proposition 1 and proof
arXiv:2006.14171v3
https://arxiv.org/abs/2006.14171v3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Proposition 1의 적용 조건
발표 대본
증명의 경계를 분명히 하겠습니다. Validity는 현재 상태와 규칙에서 정해지고 update 동안 identity-or-constant mapping으로 취급됩니다. Learned model이 mask를 예측하거나 parameter 변화에 따라 불연속적으로 pruning한다면 이 증명만으로는 gradient 정당성을 말할 수 없습니다. Feasibility oracle이 틀리는 경우도 별도 문제입니다. 또한 mask를 제거한 deployment policy는 학습 trajectory를 만든 pi'와 다른 policy이므로 Proposition 1이 그 성능을 보장하지 않습니다.
공개 출처
arxiv-v3 | p. 3, Proposition 1 and proof
arXiv:2006.14171v3
https://arxiv.org/abs/2006.14171v3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Mask와 invalid-action penalty
발표 대본
Mask와 penalty는 개입 시점이 다릅니다. Mask는 행동을 뽑기 전에 invalid logit을 치환하고 valid support 안에서 다시 정규화합니다. Penalty는 원래 분포에서 invalid 행동이 표본화된 뒤 reward에 r_invalid를 더합니다. 따라서 penalty는 탐색 draw를 소비하고 reward scale에 맞는 값을 조정해야 합니다. 실행 가능한 나쁜 행동의 결과를 배우고 싶다면 penalty가 맞을 수 있지만, 현재 feasibility가 이미 알려진 상황에서는 masking과 같은 기능이 아닙니다.
공개 출처
arxiv-v3 | p. 4, Strategies to Handle Invalid Actions
arXiv:2006.14171v3
https://arxiv.org/abs/2006.14171v3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Naive masking의 gradient 불일치
발표 대본
같은 교육용 logit 예시로 naive masking을 비교합니다. Trajectory는 masked pi'에서 a2를 뽑았지만 score gradient는 raw logits 전체의 unmasked softmax pi로 계산합니다. 그러면 gradient는 -0.0321, -0.0871, 0.7631, -0.6439가 됩니다. 현재 invalid였던 a1과 a3에도 update가 전달됩니다. 이 계산은 하나의 분포에서 sample하고 다른 분포의 log-probability를 미분하므로 Proposition 1의 masked policy-gradient estimator와 다릅니다.
공개 출처
arxiv-v3 | p. 4, Naive invalid action masking; values are a constructed example
arXiv:2006.14171v3
https://arxiv.org/abs/2006.14171v3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Naive estimator의 두 분포
발표 대본
Naive 방법의 구조를 분리해 보겠습니다. 행동 표본과 trajectory는 masked pi'가 만들지만 PPO loss의 score는 unmasked pi에서 가져옵니다. 두 경로가 update에서 합쳐지지만 같은 behavior policy의 likelihood-ratio estimator가 아닙니다. 논문 실험에서 naive masking은 일부 return이 높게 보이지만 target policy와 current policy 사이 KL이 다른 실험보다 매우 높고 solve time도 map 크기에 더 민감합니다. 성능 한 숫자만으로 estimator의 정당성을 대신할 수 없습니다.
공개 출처
arxiv-v3 | pp. 4-6, Naive masking, Table 2 and Fig. 3 text
arXiv:2006.14171v3
https://arxiv.org/abs/2006.14171v3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네 가지 실험 전략
발표 대본
논문은 네 전략을 비교합니다. Penalty는 unmasked policy를 사용하고 invalid reward만 추가합니다. Mask-consistent 방법은 sampling과 loss score 모두 masked pi'를 사용합니다. Naive 방법은 sampling만 masked입니다. Masking removed는 masked policy로 학습한 뒤 평가에서 mask를 제거합니다. 중요한 제한은 실험이 Source Unit과 Attack Target Unit 두 component만 mask했다는 점입니다. 따라서 mask-consistent라는 이름이 전체 8-component action의 완전한 feasibility를 뜻하지 않습니다.
공개 출처
arxiv-v3 | p. 4, Strategies to Handle Invalid Actions
arXiv:2006.14171v3
https://arxiv.org/abs/2006.14171v3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실험 지표와 집계 조건
발표 대본
숫자를 읽기 위한 측정 계약입니다. r_episode는 마지막 10 episode의 평균 return입니다. t_first는 첫 positive reward를 얻기까지 사용한 500,000 training step의 비율입니다. t_solve는 10-episode moving average return이 40을 넘기까지의 비율입니다. Table 2는 네 random seed 평균입니다. Figure curve는 가독성을 위해 weight 0.9로 exponentially smoothing했고 한 표준편차 범위를 표시하므로 정확한 비교에는 Table 2 수치를 우선 사용해야 합니다.
공개 출처
arxiv-v3 | pp. 4-5, Fig. 2 caption, Evaluation Metrics and Table 2
arXiv:2006.14171v3
https://arxiv.org/abs/2006.14171v3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Mask-consistent 결과
발표 대본
Table 2의 mask-consistent 행을 map별로 정리했습니다. 네 map 모두 마지막 10 episode 평균 return 40을 기록합니다. t_first는 0.05에서 0.08퍼센트 사이로 작습니다. t_solve는 8.67, 11.13, 11.47, 18.38퍼센트로 map마다 다르며 문자 그대로 일정하지 않습니다. 이 결과는 네 seed 평균이고 PPO 500,000 step의 µRTS 자원 수집 조건입니다. 모든 constrained RL task에서 같은 scaling을 보장한다는 뜻은 아닙니다.
공개 출처
arxiv-v3 | p. 5, Table 2, four-seed mean
arXiv:2006.14171v3
https://arxiv.org/abs/2006.14171v3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Penalty 탐색의 scaling 한계
발표 대본
r_invalid를 -0.01로 둔 penalty는 4 곱하기 4에서 r_episode 40을 달성하지만 10 곱하기 10과 24 곱하기 24에서는 0.50입니다. Table 2에서 10 곱하기 10의 t_first는 1.57퍼센트이고 mask-consistent는 0.05퍼센트입니다. 다만 다음 페이지 본문은 같은 -0.01 설정에 3.43퍼센트를 서술해 Table 2와 서로 다릅니다. 3.43퍼센트는 Table 2에서는 -1.00 행에 있습니다. 따라서 화면은 Table 2 값을 기준으로 비교합니다. 더 강한 -1 penalty는 보고된 map에서 exploration을 억제해 실패했습니다. 이 결과는 penalty 전체를 반증하는 것이 아니라 이 task와 penalty scale에서의 어려움입니다.
공개 출처
arxiv-v3 | pp. 5-6, Table 2 and penalty discussion
arXiv:2006.14171v3
https://arxiv.org/abs/2006.14171v3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Naive update와 mask 제거 결과
발표 대본
Naive masking은 일부 return이 높지만 24 곱하기 24에서 t_solve가 49.14퍼센트로 늘어납니다. Mask-consistent의 같은 값은 18.38퍼센트입니다. 논문은 naive PPO의 target-current KL도 매우 높다고 보고합니다. 다른 실험인 masking removed에서는 4, 10, 16, 24 map의 r_episode가 33.53, 25.93, 17.32, 17.37입니다. 같은 map 순서에서 a_null은 63.57, 128.76, 165.12, 150.06입니다. 모든 크기에서 invalid source 선택이 다시 나타났지만 24 곱하기 24가 16 곱하기 16보다 작아 단조 증가라고 말할 수 없습니다. 따라서 mask 없이 배포해도 안전하다는 근거가 아닙니다.
공개 출처
arxiv-v3 | pp. 5-6, Table 2 and result discussion
arXiv:2006.14171v3
https://arxiv.org/abs/2006.14171v3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실험의 partial mask
발표 대본
실험에서 제공한 mask는 feature-complete하지 않습니다. Source Unit과 Attack Target Unit만 valid index로 제한합니다. Action Type과 네 방향 parameter, Produce Type에는 같은 수준의 완전한 mask를 제공하지 않습니다. 그래서 현재 action type과 맞지 않는 parameter를 뽑아 invalid action이 남을 수 있습니다. Table 2에서 masking이 좋았다는 결과를 모든 8-component 조합이 항상 실행 가능했다고 설명하면 안 됩니다.
공개 출처
arxiv-v3 | p. 4, Invalid action masking strategy
arXiv:2006.14171v3
https://arxiv.org/abs/2006.14171v3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Action factorization과 masking의 역할
발표 대본
Appendix는 full joint action count를 9216 곱하기 hw의 제곱으로 적습니다. hw를 map 면적으로 보면 이 수는 면적의 제곱으로 증가합니다. 정사각형 map의 한 변 n을 기준으로는 n의 4제곱입니다. 구현은 component별 head로 factorize해 총 2hw 더하기 36개의 logits를 냅니다. Factorization은 출력 크기를 관리하고 masking은 state에서 invalid한 component index를 제외합니다. 두 기법은 함께 쓰이지만 같은 원리도 아니고 Proposition 1의 증명도 아닙니다.
공개 출처
arxiv-v3 | p. 8, Appendix, Multi Discrete Action Generation
arXiv:2006.14171v3
https://arxiv.org/abs/2006.14171v3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다른 환경에 적용할 조건
발표 대본
다른 환경으로 옮길 때 확인할 조건입니다. Validity를 누가 계산하며 잘못된 valid action을 제거하지 않는지 먼저 봐야 합니다. Mask는 현재 상태와 동기화되어야 합니다. 행동 sampling과 policy loss의 log-probability는 같은 masked pi'를 사용해야 합니다. 평가에서도 mask를 제공하는지 명시해야 합니다. Multi-discrete action에서는 한 component의 선택이 다른 parameter validity를 바꿀 수 있으므로 component 사이 constraint를 별도로 처리해야 합니다.
공개 출처
arxiv-v3 | pp. 2-6, Eqs. (2)-(6), Proposition 1 and experiments
arXiv:2006.14171v3
https://arxiv.org/abs/2006.14171v3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Invalid action masking의 핵심
발표 대본
전체 내용을 정리하겠습니다. Invalid action masking은 실행 불가능한 좌표의 logit을 상수 M으로 바꾸고 valid subset에서 policy pi'를 정의합니다. Sampling과 log-probability를 같은 pi'에서 계산할 때 update는 pi'의 policy gradient가 됩니다. Penalty는 invalid 선택 이후 reward를 바꾸는 다른 방법입니다. 논문은 µRTS와 PPO, 두 component의 partial mask, 네 seed와 네 map 크기에서 scaling 이점을 보였습니다. 이 범위를 넘어 임의의 learned mask나 mask 없는 deployment까지 자동으로 보장하지는 않습니다.
공개 출처
arxiv-v3 | pp. 1-8, Eqs. (2)-(6), Proposition 1 and Table 2
arXiv:2006.14171v3
https://arxiv.org/abs/2006.14171v3
flairs-paper | paper conclusion
FLAIRS 2022 paper record
https://doi.org/10.32473/flairs.v35i.130584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5900" cy="6858000"/>
          </a:xfrm>
          <a:prstGeom prst="rect">
            <a:avLst/>
          </a:prstGeom>
          <a:solidFill>
            <a:srgbClr val="0D685C"/>
          </a:solidFill>
          <a:ln w="12700">
            <a:solidFill>
              <a:srgbClr val="0D685C">
                <a:alpha val="0"/>
              </a:srgbClr>
            </a:solidFill>
            <a:prstDash val="solid"/>
          </a:ln>
        </p:spPr>
        <p:txBody>
          <a:bodyPr/>
          <a:lstStyle/>
          <a:p>
            <a:endParaRPr lang="ko-KR"/>
          </a:p>
        </p:txBody>
      </p:sp>
      <p:sp>
        <p:nvSpPr>
          <p:cNvPr id="3" name="Text 1"/>
          <p:cNvSpPr txBox="1"/>
          <p:nvPr/>
        </p:nvSpPr>
        <p:spPr>
          <a:xfrm>
            <a:off x="889000" y="889000"/>
            <a:ext cx="8763000" cy="1346200"/>
          </a:xfrm>
          <a:prstGeom prst="rect">
            <a:avLst/>
          </a:prstGeom>
          <a:noFill/>
          <a:ln/>
        </p:spPr>
        <p:txBody>
          <a:bodyPr wrap="square" lIns="0" tIns="0" rIns="0" bIns="0" rtlCol="0" anchor="t"/>
          <a:lstStyle/>
          <a:p>
            <a:pPr algn="l" indent="0" marL="0">
              <a:lnSpc>
                <a:spcPct val="115000"/>
              </a:lnSpc>
              <a:buNone/>
            </a:pPr>
            <a:r>
              <a:rPr lang="en-US" sz="4000" b="1" dirty="0">
                <a:solidFill>
                  <a:srgbClr val="0D685C"/>
                </a:solidFill>
                <a:latin typeface="AppleGothic" pitchFamily="34" charset="0"/>
                <a:ea typeface="AppleGothic" pitchFamily="34" charset="-122"/>
                <a:cs typeface="AppleGothic" pitchFamily="34" charset="-120"/>
              </a:rPr>
              <a:t>Invalid Action Masking</a:t>
            </a:r>
            <a:endParaRPr lang="en-US" sz="4000" dirty="0"/>
          </a:p>
        </p:txBody>
      </p:sp>
      <p:sp>
        <p:nvSpPr>
          <p:cNvPr id="4" name="Text 2"/>
          <p:cNvSpPr txBox="1"/>
          <p:nvPr/>
        </p:nvSpPr>
        <p:spPr>
          <a:xfrm>
            <a:off x="889000" y="2413000"/>
            <a:ext cx="9652000" cy="1333500"/>
          </a:xfrm>
          <a:prstGeom prst="rect">
            <a:avLst/>
          </a:prstGeom>
          <a:noFill/>
          <a:ln/>
        </p:spPr>
        <p:txBody>
          <a:bodyPr wrap="square" lIns="0" tIns="0" rIns="0" bIns="0" rtlCol="0" anchor="t"/>
          <a:lstStyle/>
          <a:p>
            <a:pPr algn="l" indent="0" marL="0">
              <a:lnSpc>
                <a:spcPct val="125000"/>
              </a:lnSpc>
              <a:buNone/>
            </a:pPr>
            <a:r>
              <a:rPr lang="en-US" sz="2200" dirty="0">
                <a:solidFill>
                  <a:srgbClr val="173C37"/>
                </a:solidFill>
                <a:latin typeface="AppleGothic" pitchFamily="34" charset="0"/>
                <a:ea typeface="AppleGothic" pitchFamily="34" charset="-122"/>
                <a:cs typeface="AppleGothic" pitchFamily="34" charset="-120"/>
              </a:rPr>
              <a:t>A Closer Look at Invalid Action Masking in Policy Gradient Algorithms</a:t>
            </a:r>
            <a:endParaRPr lang="en-US" sz="2200" dirty="0"/>
          </a:p>
        </p:txBody>
      </p:sp>
      <p:sp>
        <p:nvSpPr>
          <p:cNvPr id="5" name="Shape 3"/>
          <p:cNvSpPr/>
          <p:nvPr/>
        </p:nvSpPr>
        <p:spPr>
          <a:xfrm>
            <a:off x="889000" y="4076700"/>
            <a:ext cx="96520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89000" y="4368800"/>
            <a:ext cx="9652000" cy="685800"/>
          </a:xfrm>
          <a:prstGeom prst="rect">
            <a:avLst/>
          </a:prstGeom>
          <a:noFill/>
          <a:ln/>
        </p:spPr>
        <p:txBody>
          <a:bodyPr wrap="square" lIns="0" tIns="0" rIns="0" bIns="0" rtlCol="0" anchor="t"/>
          <a:lstStyle/>
          <a:p>
            <a:pPr algn="l" indent="0" marL="0">
              <a:lnSpc>
                <a:spcPct val="125000"/>
              </a:lnSpc>
              <a:buNone/>
            </a:pPr>
            <a:r>
              <a:rPr lang="en-US" sz="1750" dirty="0">
                <a:solidFill>
                  <a:srgbClr val="5E6D69"/>
                </a:solidFill>
                <a:latin typeface="AppleGothic" pitchFamily="34" charset="0"/>
                <a:ea typeface="AppleGothic" pitchFamily="34" charset="-122"/>
                <a:cs typeface="AppleGothic" pitchFamily="34" charset="-120"/>
              </a:rPr>
              <a:t>Shengyi Huang, Santiago Ontañón (2022)</a:t>
            </a:r>
            <a:endParaRPr lang="en-US" sz="1750" dirty="0"/>
          </a:p>
        </p:txBody>
      </p:sp>
      <p:sp>
        <p:nvSpPr>
          <p:cNvPr id="7" name="Text 5"/>
          <p:cNvSpPr txBox="1"/>
          <p:nvPr/>
        </p:nvSpPr>
        <p:spPr>
          <a:xfrm>
            <a:off x="889000" y="5245100"/>
            <a:ext cx="9652000" cy="571500"/>
          </a:xfrm>
          <a:prstGeom prst="rect">
            <a:avLst/>
          </a:prstGeom>
          <a:noFill/>
          <a:ln/>
        </p:spPr>
        <p:txBody>
          <a:bodyPr wrap="square" lIns="0" tIns="0" rIns="0" bIns="0" rtlCol="0" anchor="t"/>
          <a:lstStyle/>
          <a:p>
            <a:pPr algn="l" indent="0" marL="0">
              <a:lnSpc>
                <a:spcPct val="125000"/>
              </a:lnSpc>
              <a:buNone/>
            </a:pPr>
            <a:r>
              <a:rPr lang="en-US" sz="1750" dirty="0">
                <a:solidFill>
                  <a:srgbClr val="0D685C"/>
                </a:solidFill>
                <a:latin typeface="AppleGothic" pitchFamily="34" charset="0"/>
                <a:ea typeface="AppleGothic" pitchFamily="34" charset="-122"/>
                <a:cs typeface="AppleGothic" pitchFamily="34" charset="-120"/>
              </a:rPr>
              <a:t>현재 상태에서 실행할 수 없는 행동을 policy 분포 안에서 제외하는 방법</a:t>
            </a:r>
            <a:endParaRPr lang="en-US" sz="1750" dirty="0"/>
          </a:p>
        </p:txBody>
      </p:sp>
      <p:sp>
        <p:nvSpPr>
          <p:cNvPr id="8" name="Shape 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9" name="Text 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flairs-paper paper record; arxiv-v3 p. 1, Abstract and Introduction</a:t>
            </a:r>
            <a:endParaRPr lang="en-US" sz="1050" dirty="0"/>
          </a:p>
        </p:txBody>
      </p:sp>
      <p:sp>
        <p:nvSpPr>
          <p:cNvPr id="10" name="Text 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Invalid action의 정의</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실행할 수 없는 행동과 실행 가능하지만 보상이 낮은 행동은 학습 신호가 다르다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2500376"/>
                <a:gridCol w="2609088"/>
                <a:gridCol w="304393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행동 종류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환경에서 실행</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결과 관측</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처리</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현재 상태에서 invalid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불가능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정상 결과가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규칙이 알려 주면 mask 가능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Valid하지만 좋지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가능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낮은 reward를 관측</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Policy가 결과를 학습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상태 의존성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index도 상태에 따라 달라짐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A_valid(s)가 변함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매 상태에서 validity 갱신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Mask는 싫은 행동이 아니라 현재 규칙상 불가능한 행동의 support를 제거한다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arxiv-v3 p. 1, Introduction; pp. 3-4, Evaluation Environment</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고정된 행동 목록의 탐색 낭비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Policy head는 전체 행동 index를 출력하지만 한 상태에서 가능한 subset은 작을 수 있다</a:t>
            </a:r>
            <a:endParaRPr lang="en-US" sz="1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609088"/>
                <a:gridCol w="4131056"/>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구성</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전체 policy</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현재 상태</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행동 index</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항상 같은 전체 목록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일부 index만 실행 가능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Softmax support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Mask가 없으면 모든 index에 확률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Invalid index도 표본화될 수 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탐색 비용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불가능한 선택에도 draw를 사용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Reward를 얻는 valid sequence가 늦어짐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규칙 정보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Policy가 추론하기 전에도 환경이 보유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표본화 전에 적용 가능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알려진 feasibility를 sampling 전에 반영하면 invalid draw에 쓰는 탐색을 줄일 수 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arxiv-v3 p. 1, Introduction and Fig. 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µRTS 자원 수집 환경</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관측은 27개 feature plane이고 행동은 여덟 component로 구성된다</a:t>
            </a:r>
            <a:endParaRPr lang="en-US" sz="1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937000"/>
        </p:xfrm>
        <a:graphic>
          <a:graphicData uri="http://schemas.openxmlformats.org/drawingml/2006/table">
            <a:tbl>
              <a:tblPr/>
              <a:tblGrid>
                <a:gridCol w="3696208"/>
                <a:gridCol w="2391664"/>
                <a:gridCol w="478332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Action component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범위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역할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Source Unit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0부터 hw-1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명령을 받을 unit 위치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Action Type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6종</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noop, 이동, 수집, 반환, 생산, 공격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방향 parameter 4종</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4방향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이동, 수집, 반환, 생산 방향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Produce Type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7종</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생산할 unit이나 building 종류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Attack Target Unit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0부터 hw-1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공격 대상 위치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6" name="Text 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arxiv-v3 pp. 3-4, Table 1 and Evaluation Environment</a:t>
            </a:r>
            <a:endParaRPr lang="en-US" sz="1050" dirty="0"/>
          </a:p>
        </p:txBody>
      </p:sp>
      <p:sp>
        <p:nvSpPr>
          <p:cNvPr id="7" name="Text 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Map 크기와 valid source 확률</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보통 선택 가능한 source가 base와 worker 두 개라면 균등 선택의 성공 확률이 급격히 낮아진다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065528"/>
                <a:gridCol w="2500376"/>
                <a:gridCol w="2500376"/>
                <a:gridCol w="380492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Map</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Source index 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Valid source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균등 선택 확률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 × 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 / 16 = 0.125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24 × 24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576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 / 576 ≈ 0.0034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크기 변화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36배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약 36분의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의미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Invalid 후보가 증가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규칙상 가능한 unit은 적음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첫 reward 탐색이 어려워질 수 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같은 두 unit을 찾더라도 24 × 24에서는 random source 선택의 99% 이상이 invalid다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arxiv-v3 p. 4, Action Space paragraph</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Policy gradient의 기본 경로</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Mask가 없으면 network logit의 softmax가 sampling과 log-probability를 함께 정의한다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상태 s</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Policy network에 현재 상태를 입력한다</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Raw logits l</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행동 index마다 실수 점수를 출력한다</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Softmax pi</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Logit을 categorical 확률로 정규화한다</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행동 표본</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pi에서 a_t를 뽑아 환경에 전달한다</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Score update</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log pi(a_t|s_t)의 gradient에 G_t를 곱한다</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G_t는 표본 행동 이후의 return 또는 advantage 계수이며 policy의 방향과 크기를 조절한다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arxiv-v3 p. 2, Background and Eq. (1)</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Validity와 logit의 결합</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환경 규칙과 neural logits는 병렬 입력이며 invalid 좌표를 상수 M으로 바꾼다</a:t>
            </a:r>
            <a:endParaRPr lang="en-US" sz="1900" dirty="0"/>
          </a:p>
        </p:txBody>
      </p:sp>
      <p:sp>
        <p:nvSpPr>
          <p:cNvPr id="4" name="Shape 2"/>
          <p:cNvSpPr/>
          <p:nvPr/>
        </p:nvSpPr>
        <p:spPr>
          <a:xfrm>
            <a:off x="6096000" y="2705100"/>
            <a:ext cx="0" cy="19050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3302000" y="2895600"/>
            <a:ext cx="5588000" cy="0"/>
          </a:xfrm>
          <a:prstGeom prst="line">
            <a:avLst/>
          </a:prstGeom>
          <a:noFill/>
          <a:ln w="12700">
            <a:solidFill>
              <a:srgbClr val="0D685C"/>
            </a:solidFill>
            <a:prstDash val="solid"/>
            <a:headEnd type="none"/>
            <a:tailEnd type="none"/>
          </a:ln>
        </p:spPr>
        <p:txBody>
          <a:bodyPr/>
          <a:lstStyle/>
          <a:p>
            <a:endParaRPr lang="ko-KR"/>
          </a:p>
        </p:txBody>
      </p:sp>
      <p:sp>
        <p:nvSpPr>
          <p:cNvPr id="6" name="Shape 4"/>
          <p:cNvSpPr/>
          <p:nvPr/>
        </p:nvSpPr>
        <p:spPr>
          <a:xfrm>
            <a:off x="3302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7" name="Shape 5"/>
          <p:cNvSpPr/>
          <p:nvPr/>
        </p:nvSpPr>
        <p:spPr>
          <a:xfrm>
            <a:off x="8890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8" name="Shape 6"/>
          <p:cNvSpPr/>
          <p:nvPr/>
        </p:nvSpPr>
        <p:spPr>
          <a:xfrm>
            <a:off x="3302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9" name="Shape 7"/>
          <p:cNvSpPr/>
          <p:nvPr/>
        </p:nvSpPr>
        <p:spPr>
          <a:xfrm>
            <a:off x="3302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0" name="Shape 8"/>
          <p:cNvSpPr/>
          <p:nvPr/>
        </p:nvSpPr>
        <p:spPr>
          <a:xfrm>
            <a:off x="8890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11" name="Shape 9"/>
          <p:cNvSpPr/>
          <p:nvPr/>
        </p:nvSpPr>
        <p:spPr>
          <a:xfrm>
            <a:off x="6731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2" name="Shape 10"/>
          <p:cNvSpPr/>
          <p:nvPr/>
        </p:nvSpPr>
        <p:spPr>
          <a:xfrm>
            <a:off x="546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3" name="Shape 11"/>
          <p:cNvSpPr/>
          <p:nvPr/>
        </p:nvSpPr>
        <p:spPr>
          <a:xfrm>
            <a:off x="673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4" name="Shape 12"/>
          <p:cNvSpPr/>
          <p:nvPr/>
        </p:nvSpPr>
        <p:spPr>
          <a:xfrm>
            <a:off x="6096000" y="5181600"/>
            <a:ext cx="0" cy="330200"/>
          </a:xfrm>
          <a:prstGeom prst="line">
            <a:avLst/>
          </a:prstGeom>
          <a:noFill/>
          <a:ln w="12700">
            <a:solidFill>
              <a:srgbClr val="0D685C"/>
            </a:solidFill>
            <a:prstDash val="solid"/>
            <a:headEnd type="none"/>
            <a:tailEnd type="triangle"/>
          </a:ln>
        </p:spPr>
        <p:txBody>
          <a:bodyPr/>
          <a:lstStyle/>
          <a:p>
            <a:endParaRPr lang="ko-KR"/>
          </a:p>
        </p:txBody>
      </p:sp>
      <p:sp>
        <p:nvSpPr>
          <p:cNvPr id="15" name="Text 13"/>
          <p:cNvSpPr txBox="1"/>
          <p:nvPr/>
        </p:nvSpPr>
        <p:spPr>
          <a:xfrm>
            <a:off x="4191000" y="2108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상태 s</a:t>
            </a:r>
            <a:endParaRPr lang="en-US" sz="1750" dirty="0"/>
          </a:p>
        </p:txBody>
      </p:sp>
      <p:sp>
        <p:nvSpPr>
          <p:cNvPr id="16" name="Text 14"/>
          <p:cNvSpPr txBox="1"/>
          <p:nvPr/>
        </p:nvSpPr>
        <p:spPr>
          <a:xfrm>
            <a:off x="4191000" y="2387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같은 현재 상태를 입력</a:t>
            </a:r>
            <a:endParaRPr lang="en-US" sz="1500" dirty="0"/>
          </a:p>
        </p:txBody>
      </p:sp>
      <p:sp>
        <p:nvSpPr>
          <p:cNvPr id="17" name="Text 15"/>
          <p:cNvSpPr txBox="1"/>
          <p:nvPr/>
        </p:nvSpPr>
        <p:spPr>
          <a:xfrm>
            <a:off x="1270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환경 규칙</a:t>
            </a:r>
            <a:endParaRPr lang="en-US" sz="1750" dirty="0"/>
          </a:p>
        </p:txBody>
      </p:sp>
      <p:sp>
        <p:nvSpPr>
          <p:cNvPr id="18" name="Text 16"/>
          <p:cNvSpPr txBox="1"/>
          <p:nvPr/>
        </p:nvSpPr>
        <p:spPr>
          <a:xfrm>
            <a:off x="1270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Valid action mask를 제공</a:t>
            </a:r>
            <a:endParaRPr lang="en-US" sz="1500" dirty="0"/>
          </a:p>
        </p:txBody>
      </p:sp>
      <p:sp>
        <p:nvSpPr>
          <p:cNvPr id="19" name="Text 17"/>
          <p:cNvSpPr txBox="1"/>
          <p:nvPr/>
        </p:nvSpPr>
        <p:spPr>
          <a:xfrm>
            <a:off x="6858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Policy network</a:t>
            </a:r>
            <a:endParaRPr lang="en-US" sz="1750" dirty="0"/>
          </a:p>
        </p:txBody>
      </p:sp>
      <p:sp>
        <p:nvSpPr>
          <p:cNvPr id="20" name="Text 18"/>
          <p:cNvSpPr txBox="1"/>
          <p:nvPr/>
        </p:nvSpPr>
        <p:spPr>
          <a:xfrm>
            <a:off x="6858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행동별 raw logit을 출력</a:t>
            </a:r>
            <a:endParaRPr lang="en-US" sz="1500" dirty="0"/>
          </a:p>
        </p:txBody>
      </p:sp>
      <p:sp>
        <p:nvSpPr>
          <p:cNvPr id="21" name="Text 19"/>
          <p:cNvSpPr txBox="1"/>
          <p:nvPr/>
        </p:nvSpPr>
        <p:spPr>
          <a:xfrm>
            <a:off x="4191000" y="45720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좌표 치환</a:t>
            </a:r>
            <a:endParaRPr lang="en-US" sz="1750" dirty="0"/>
          </a:p>
        </p:txBody>
      </p:sp>
      <p:sp>
        <p:nvSpPr>
          <p:cNvPr id="22" name="Text 20"/>
          <p:cNvSpPr txBox="1"/>
          <p:nvPr/>
        </p:nvSpPr>
        <p:spPr>
          <a:xfrm>
            <a:off x="4191000" y="48514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Valid는 l_i, invalid는 M</a:t>
            </a:r>
            <a:endParaRPr lang="en-US" sz="1500" dirty="0"/>
          </a:p>
        </p:txBody>
      </p:sp>
      <p:sp>
        <p:nvSpPr>
          <p:cNvPr id="23" name="Text 21"/>
          <p:cNvSpPr txBox="1"/>
          <p:nvPr/>
        </p:nvSpPr>
        <p:spPr>
          <a:xfrm>
            <a:off x="4191000" y="56134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Masked policy</a:t>
            </a:r>
            <a:endParaRPr lang="en-US" sz="1750" dirty="0"/>
          </a:p>
        </p:txBody>
      </p:sp>
      <p:sp>
        <p:nvSpPr>
          <p:cNvPr id="24" name="Text 22"/>
          <p:cNvSpPr txBox="1"/>
          <p:nvPr/>
        </p:nvSpPr>
        <p:spPr>
          <a:xfrm>
            <a:off x="4191000" y="58928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pi' = softmax(masked logits)</a:t>
            </a:r>
            <a:endParaRPr lang="en-US" sz="150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arxiv-v3 p. 2, Eqs. (2)-(4)</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Masked softmax 수치 계산</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교육용 계산에서는 -∞ 극한을 사용해 두 invalid 행동의 확률을 정확한 0으로 표시한다</a:t>
            </a:r>
            <a:endParaRPr lang="en-US" sz="1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937000"/>
        </p:xfrm>
        <a:graphic>
          <a:graphicData uri="http://schemas.openxmlformats.org/drawingml/2006/table">
            <a:tbl>
              <a:tblPr/>
              <a:tblGrid>
                <a:gridCol w="3043936"/>
                <a:gridCol w="1956816"/>
                <a:gridCol w="1956816"/>
                <a:gridCol w="1956816"/>
                <a:gridCol w="195681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a0</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a1</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a2</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a3</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Raw logit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현재 valid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yes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no</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yes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no</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Masked logit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exp 값</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7.389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Masked pi'</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0.1192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0.8808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6" name="Text 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arxiv-v3 p. 2, Eqs. (2)-(4); values are a constructed example</a:t>
            </a:r>
            <a:endParaRPr lang="en-US" sz="1050" dirty="0"/>
          </a:p>
        </p:txBody>
      </p:sp>
      <p:sp>
        <p:nvSpPr>
          <p:cNvPr id="7" name="Text 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Masked policy의 score gradient</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a2를 뽑았을 때 finite M에서도 invalid raw-logit 좌표의 gradient는 정확히 0이다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937000"/>
        </p:xfrm>
        <a:graphic>
          <a:graphicData uri="http://schemas.openxmlformats.org/drawingml/2006/table">
            <a:tbl>
              <a:tblPr/>
              <a:tblGrid>
                <a:gridCol w="3043936"/>
                <a:gridCol w="1956816"/>
                <a:gridCol w="1956816"/>
                <a:gridCol w="1956816"/>
                <a:gridCol w="195681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a0</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a1</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a2</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a3</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Masked pi'</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0.1192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0.8808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one-hot(a2)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 극한 gradient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-0.1192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0.1192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Finite M gradient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-pi'_0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1-pi'_2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Raw-logit Jacobian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identity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identity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6" name="Text 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arxiv-v3 pp. 2-3, Eqs. (4)-(6); values are a constructed example</a:t>
            </a:r>
            <a:endParaRPr lang="en-US" sz="1050" dirty="0"/>
          </a:p>
        </p:txBody>
      </p:sp>
      <p:sp>
        <p:nvSpPr>
          <p:cNvPr id="7" name="Text 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Proposition 1의 결론</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상태별 identity-or-constant mask를 사용하면 update는 masked policy pi'의 policy gradient다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상태별 valid 집합</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현재 규칙이 각 행동의 validity를 정한다</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좌표별 mapping</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Valid logit은 identity, invalid logit은 상수 M</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미분 가능한 pi'</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Masked logits에 softmax를 적용한다</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같은 pi' 사용</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Sampling과 log-probability를 모두 pi'에서 계산</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Policy gradient</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Update는 behavior policy pi'의 목적함수 gradient</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정당화 대상은 unmasked pi가 아니라 실제 trajectory를 만드는 masked policy pi'다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arxiv-v3 p. 3, Proposition 1 and proof</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Proposition 1의 적용 조건</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논문의 증명은 특정 state-dependent mask를 다루며 임의의 pruning 방법을 포괄하지 않는다</a:t>
            </a:r>
            <a:endParaRPr lang="en-US" sz="1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937000"/>
        </p:xfrm>
        <a:graphic>
          <a:graphicData uri="http://schemas.openxmlformats.org/drawingml/2006/table">
            <a:tbl>
              <a:tblPr/>
              <a:tblGrid>
                <a:gridCol w="2717800"/>
                <a:gridCol w="3913632"/>
                <a:gridCol w="423976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조건 또는 범위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논문이 다룸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추가 검증이 필요한 경우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Validity 출처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현재 상태와 환경 규칙</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Parameter에 의존하는 learned mask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좌표 mapping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Identity 또는 상수 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불연속 pruning이나 다른 변환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Policy 구성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미분 가능한 logits와 softmax</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다른 action interface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정확성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주어진 mask를 그대로 사용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오류가 있는 feasibility oracle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배포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Mask가 있는 pi'의 update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학습 뒤 mask를 제거한 policy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6" name="Text 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arxiv-v3 p. 3, Proposition 1 and proof</a:t>
            </a:r>
            <a:endParaRPr lang="en-US" sz="1050" dirty="0"/>
          </a:p>
        </p:txBody>
      </p:sp>
      <p:sp>
        <p:nvSpPr>
          <p:cNvPr id="7" name="Text 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Mask와 invalid-action penalty</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Mask는 sampling 전에 분포를 바꾸고 penalty는 invalid 선택 이후 return을 바꾼다</a:t>
            </a:r>
            <a:endParaRPr lang="en-US" sz="1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937000"/>
        </p:xfrm>
        <a:graphic>
          <a:graphicData uri="http://schemas.openxmlformats.org/drawingml/2006/table">
            <a:tbl>
              <a:tblPr/>
              <a:tblGrid>
                <a:gridCol w="2500376"/>
                <a:gridCol w="4185412"/>
                <a:gridCol w="418541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시점</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Mask-consistent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Penalty</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상태 입력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규칙에서 valid subset 확인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원래 policy를 그대로 사용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Sampling 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Invalid logit을 M으로 치환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Invalid 행동도 확률을 가짐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행동 선택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pi'에서 feasible 행동 표본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pi에서 invalid 행동을 뽑을 수 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환경 결과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선택을 실행하고 정상 reward 관측</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Invalid 선택에 r_invalid를 추가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조정 항목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Validity 규칙의 정확성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Penalty 크기와 reward scale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6" name="Text 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arxiv-v3 p. 4, Strategies to Handle Invalid Actions</a:t>
            </a:r>
            <a:endParaRPr lang="en-US" sz="1050" dirty="0"/>
          </a:p>
        </p:txBody>
      </p:sp>
      <p:sp>
        <p:nvSpPr>
          <p:cNvPr id="7" name="Text 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Naive masking의 gradient 불일치</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행동은 pi'에서 뽑고 score는 unmasked pi로 계산하면 invalid logit에도 update가 생긴다</a:t>
            </a:r>
            <a:endParaRPr lang="en-US" sz="1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937000"/>
        </p:xfrm>
        <a:graphic>
          <a:graphicData uri="http://schemas.openxmlformats.org/drawingml/2006/table">
            <a:tbl>
              <a:tblPr/>
              <a:tblGrid>
                <a:gridCol w="3043936"/>
                <a:gridCol w="1956816"/>
                <a:gridCol w="1956816"/>
                <a:gridCol w="1956816"/>
                <a:gridCol w="195681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a0</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a1</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a2</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a3</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Sampling pi'</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0.1192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0.8808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Unmasked pi</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0.0321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0.0871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0.2369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0.6439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a2 naive gradient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-0.0321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-0.0871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0.7631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-0.6439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Mask-consistent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-0.1192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0.1192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Invalid 좌표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valid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nonzero update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valid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nonzero update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6" name="Text 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arxiv-v3 p. 4, Naive invalid action masking; values are a constructed example</a:t>
            </a:r>
            <a:endParaRPr lang="en-US" sz="1050" dirty="0"/>
          </a:p>
        </p:txBody>
      </p:sp>
      <p:sp>
        <p:nvSpPr>
          <p:cNvPr id="7" name="Text 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Naive estimator의 두 분포</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Sampling support와 loss의 score distribution이 달라 높은 return만으로 정당성을 확인할 수 없다</a:t>
            </a:r>
            <a:endParaRPr lang="en-US" sz="1900" dirty="0"/>
          </a:p>
        </p:txBody>
      </p:sp>
      <p:sp>
        <p:nvSpPr>
          <p:cNvPr id="4" name="Shape 2"/>
          <p:cNvSpPr/>
          <p:nvPr/>
        </p:nvSpPr>
        <p:spPr>
          <a:xfrm>
            <a:off x="6096000" y="2705100"/>
            <a:ext cx="0" cy="19050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3302000" y="2895600"/>
            <a:ext cx="5588000" cy="0"/>
          </a:xfrm>
          <a:prstGeom prst="line">
            <a:avLst/>
          </a:prstGeom>
          <a:noFill/>
          <a:ln w="12700">
            <a:solidFill>
              <a:srgbClr val="0D685C"/>
            </a:solidFill>
            <a:prstDash val="solid"/>
            <a:headEnd type="none"/>
            <a:tailEnd type="none"/>
          </a:ln>
        </p:spPr>
        <p:txBody>
          <a:bodyPr/>
          <a:lstStyle/>
          <a:p>
            <a:endParaRPr lang="ko-KR"/>
          </a:p>
        </p:txBody>
      </p:sp>
      <p:sp>
        <p:nvSpPr>
          <p:cNvPr id="6" name="Shape 4"/>
          <p:cNvSpPr/>
          <p:nvPr/>
        </p:nvSpPr>
        <p:spPr>
          <a:xfrm>
            <a:off x="3302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7" name="Shape 5"/>
          <p:cNvSpPr/>
          <p:nvPr/>
        </p:nvSpPr>
        <p:spPr>
          <a:xfrm>
            <a:off x="8890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8" name="Shape 6"/>
          <p:cNvSpPr/>
          <p:nvPr/>
        </p:nvSpPr>
        <p:spPr>
          <a:xfrm>
            <a:off x="3302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9" name="Shape 7"/>
          <p:cNvSpPr/>
          <p:nvPr/>
        </p:nvSpPr>
        <p:spPr>
          <a:xfrm>
            <a:off x="3302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0" name="Shape 8"/>
          <p:cNvSpPr/>
          <p:nvPr/>
        </p:nvSpPr>
        <p:spPr>
          <a:xfrm>
            <a:off x="8890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11" name="Shape 9"/>
          <p:cNvSpPr/>
          <p:nvPr/>
        </p:nvSpPr>
        <p:spPr>
          <a:xfrm>
            <a:off x="6731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2" name="Shape 10"/>
          <p:cNvSpPr/>
          <p:nvPr/>
        </p:nvSpPr>
        <p:spPr>
          <a:xfrm>
            <a:off x="546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3" name="Shape 11"/>
          <p:cNvSpPr/>
          <p:nvPr/>
        </p:nvSpPr>
        <p:spPr>
          <a:xfrm>
            <a:off x="673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4" name="Shape 12"/>
          <p:cNvSpPr/>
          <p:nvPr/>
        </p:nvSpPr>
        <p:spPr>
          <a:xfrm>
            <a:off x="6096000" y="5181600"/>
            <a:ext cx="0" cy="330200"/>
          </a:xfrm>
          <a:prstGeom prst="line">
            <a:avLst/>
          </a:prstGeom>
          <a:noFill/>
          <a:ln w="12700">
            <a:solidFill>
              <a:srgbClr val="0D685C"/>
            </a:solidFill>
            <a:prstDash val="solid"/>
            <a:headEnd type="none"/>
            <a:tailEnd type="triangle"/>
          </a:ln>
        </p:spPr>
        <p:txBody>
          <a:bodyPr/>
          <a:lstStyle/>
          <a:p>
            <a:endParaRPr lang="ko-KR"/>
          </a:p>
        </p:txBody>
      </p:sp>
      <p:sp>
        <p:nvSpPr>
          <p:cNvPr id="15" name="Text 13"/>
          <p:cNvSpPr txBox="1"/>
          <p:nvPr/>
        </p:nvSpPr>
        <p:spPr>
          <a:xfrm>
            <a:off x="4191000" y="2108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같은 transition</a:t>
            </a:r>
            <a:endParaRPr lang="en-US" sz="1750" dirty="0"/>
          </a:p>
        </p:txBody>
      </p:sp>
      <p:sp>
        <p:nvSpPr>
          <p:cNvPr id="16" name="Text 14"/>
          <p:cNvSpPr txBox="1"/>
          <p:nvPr/>
        </p:nvSpPr>
        <p:spPr>
          <a:xfrm>
            <a:off x="4191000" y="2387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상태 s와 validity 정보</a:t>
            </a:r>
            <a:endParaRPr lang="en-US" sz="1500" dirty="0"/>
          </a:p>
        </p:txBody>
      </p:sp>
      <p:sp>
        <p:nvSpPr>
          <p:cNvPr id="17" name="Text 15"/>
          <p:cNvSpPr txBox="1"/>
          <p:nvPr/>
        </p:nvSpPr>
        <p:spPr>
          <a:xfrm>
            <a:off x="1270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Sampling</a:t>
            </a:r>
            <a:endParaRPr lang="en-US" sz="1750" dirty="0"/>
          </a:p>
        </p:txBody>
      </p:sp>
      <p:sp>
        <p:nvSpPr>
          <p:cNvPr id="18" name="Text 16"/>
          <p:cNvSpPr txBox="1"/>
          <p:nvPr/>
        </p:nvSpPr>
        <p:spPr>
          <a:xfrm>
            <a:off x="1270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Masked pi'에서 행동을 선택</a:t>
            </a:r>
            <a:endParaRPr lang="en-US" sz="1500" dirty="0"/>
          </a:p>
        </p:txBody>
      </p:sp>
      <p:sp>
        <p:nvSpPr>
          <p:cNvPr id="19" name="Text 17"/>
          <p:cNvSpPr txBox="1"/>
          <p:nvPr/>
        </p:nvSpPr>
        <p:spPr>
          <a:xfrm>
            <a:off x="6858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Loss score</a:t>
            </a:r>
            <a:endParaRPr lang="en-US" sz="1750" dirty="0"/>
          </a:p>
        </p:txBody>
      </p:sp>
      <p:sp>
        <p:nvSpPr>
          <p:cNvPr id="20" name="Text 18"/>
          <p:cNvSpPr txBox="1"/>
          <p:nvPr/>
        </p:nvSpPr>
        <p:spPr>
          <a:xfrm>
            <a:off x="6858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Unmasked log pi를 미분</a:t>
            </a:r>
            <a:endParaRPr lang="en-US" sz="1500" dirty="0"/>
          </a:p>
        </p:txBody>
      </p:sp>
      <p:sp>
        <p:nvSpPr>
          <p:cNvPr id="21" name="Text 19"/>
          <p:cNvSpPr txBox="1"/>
          <p:nvPr/>
        </p:nvSpPr>
        <p:spPr>
          <a:xfrm>
            <a:off x="4191000" y="45720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PPO update</a:t>
            </a:r>
            <a:endParaRPr lang="en-US" sz="1750" dirty="0"/>
          </a:p>
        </p:txBody>
      </p:sp>
      <p:sp>
        <p:nvSpPr>
          <p:cNvPr id="22" name="Text 20"/>
          <p:cNvSpPr txBox="1"/>
          <p:nvPr/>
        </p:nvSpPr>
        <p:spPr>
          <a:xfrm>
            <a:off x="4191000" y="48514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서로 다른 정책 정보를 결합</a:t>
            </a:r>
            <a:endParaRPr lang="en-US" sz="1500" dirty="0"/>
          </a:p>
        </p:txBody>
      </p:sp>
      <p:sp>
        <p:nvSpPr>
          <p:cNvPr id="23" name="Text 21"/>
          <p:cNvSpPr txBox="1"/>
          <p:nvPr/>
        </p:nvSpPr>
        <p:spPr>
          <a:xfrm>
            <a:off x="4191000" y="56134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Mismatch</a:t>
            </a:r>
            <a:endParaRPr lang="en-US" sz="1750" dirty="0"/>
          </a:p>
        </p:txBody>
      </p:sp>
      <p:sp>
        <p:nvSpPr>
          <p:cNvPr id="24" name="Text 22"/>
          <p:cNvSpPr txBox="1"/>
          <p:nvPr/>
        </p:nvSpPr>
        <p:spPr>
          <a:xfrm>
            <a:off x="4191000" y="58928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Prop. 1의 estimator가 아님</a:t>
            </a:r>
            <a:endParaRPr lang="en-US" sz="150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arxiv-v3 pp. 4-6, Naive masking, Table 2 and Fig. 3 text</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네 가지 실험 전략</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Sampling distribution, loss distribution, evaluation mask를 구분하면 방법 차이가 드러난다</a:t>
            </a:r>
            <a:endParaRPr lang="en-US" sz="1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937000"/>
        </p:xfrm>
        <a:graphic>
          <a:graphicData uri="http://schemas.openxmlformats.org/drawingml/2006/table">
            <a:tbl>
              <a:tblPr/>
              <a:tblGrid>
                <a:gridCol w="3043936"/>
                <a:gridCol w="2717800"/>
                <a:gridCol w="2717800"/>
                <a:gridCol w="239166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전략</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Sampling</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Loss score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평가 mask</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Invalid penalty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Unmasked pi</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Unmasked pi</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Mask-consistent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Masked pi'</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Masked pi'</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사용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Naive masking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Masked pi'</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Unmasked pi</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사용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Masking removed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학습은 masked pi'</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학습은 masked pi'</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제거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실제 mask 범위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Source와 Attack Target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두 component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전략에 따라 다름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6" name="Text 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arxiv-v3 p. 4, Strategies to Handle Invalid Actions</a:t>
            </a:r>
            <a:endParaRPr lang="en-US" sz="1050" dirty="0"/>
          </a:p>
        </p:txBody>
      </p:sp>
      <p:sp>
        <p:nvSpPr>
          <p:cNvPr id="7" name="Text 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실험 지표와 집계 조건</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Table 2는 네 seed의 평균이고 모든 시간 지표는 500,000 training step의 비율이다</a:t>
            </a:r>
            <a:endParaRPr lang="en-US" sz="1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937000"/>
        </p:xfrm>
        <a:graphic>
          <a:graphicData uri="http://schemas.openxmlformats.org/drawingml/2006/table">
            <a:tbl>
              <a:tblPr/>
              <a:tblGrid>
                <a:gridCol w="2391664"/>
                <a:gridCol w="5653024"/>
                <a:gridCol w="282651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지표</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정의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방향</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r_episode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마지막 10 episode의 평균 return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높을수록 좋음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t_first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첫 positive reward까지의 training-step 비율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낮을수록 좋음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t_solve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10-episode moving average가 40 초과까지의 비율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낮을수록 좋음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Table 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 random seed 평균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환경별 수치 비교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Figure curve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Weight 0.9로 smoothing, 1 표준편차 음영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Raw table 값과 구분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6" name="Text 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arxiv-v3 pp. 4-5, Fig. 2 caption, Evaluation Metrics and Table 2</a:t>
            </a:r>
            <a:endParaRPr lang="en-US" sz="1050" dirty="0"/>
          </a:p>
        </p:txBody>
      </p:sp>
      <p:sp>
        <p:nvSpPr>
          <p:cNvPr id="7" name="Text 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Mask-consistent 결과</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µRTS 자원 수집에서 네 map 모두 r_episode 40을 기록했지만 solve time은 같지 않다</a:t>
            </a:r>
            <a:endParaRPr lang="en-US" sz="1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609088"/>
                <a:gridCol w="2065528"/>
                <a:gridCol w="2065528"/>
                <a:gridCol w="2065528"/>
                <a:gridCol w="206552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Metric</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4 × 4</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10 × 10</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16 × 16</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24 × 24</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r_episode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40.00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40.00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40.00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40.00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t_solve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8.67%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11.13%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11.47%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18.38%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t_first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Masking은 네 map에서 작동했지만 보편적 scaling 정리는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arxiv-v3 p. 5, Table 2, four-seed mean</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Penalty 탐색의 scaling 한계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r_invalid = -0.01은 작은 map에서 작동했지만 큰 map에서는 첫 reward 탐색이 어려워졌다</a:t>
            </a:r>
            <a:endParaRPr lang="en-US" sz="19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500376"/>
                <a:gridCol w="1739392"/>
                <a:gridCol w="1739392"/>
                <a:gridCol w="1739392"/>
                <a:gridCol w="315264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4 × 4</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10 × 10</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24 × 24</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Penalty r_episode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40.00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0.50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0.50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-0.01 penalty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Penalty t_first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1.57%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Table 2의 -0.01 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Mask t_first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10 × 10 비교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Penalty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학습 실패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학습 실패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학습 실패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강한 벌점이 exploration을 억제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이 실험은 penalty가 보편적으로 실패함이 아니라 reward scale 조정과 탐색 비용을 보여 준다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arxiv-v3 pp. 5-6, Table 2 and penalty discussion</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Naive update와 mask 제거 결과</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Distribution mismatch와 deployment mismatch는 서로 다른 실패 경계를 보여 준다</a:t>
            </a:r>
            <a:endParaRPr lang="en-US" sz="1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2717800"/>
                <a:gridCol w="3043936"/>
                <a:gridCol w="239166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Metric</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Map별 결과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읽는 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Naive masking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24 × 24 t_solve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49.14%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Mask-consistent 18.38%보다 늦음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Naive masking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PPO KL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다른 실험보다 매우 높음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Update 안정성 경고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Mask 제거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r_episode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33.53 / 25.93 / 17.32 / 17.37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 10, 16, 24 map 순서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Mask 제거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a_null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63.57 / 128.76 / 165.12 / 150.06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map에서 invalid source 선택 재발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높은 return 일부가 gradient 정당성이나 mask 없는 배포의 안전성을 증명하지 않는다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arxiv-v3 pp. 5-6, Table 2 and result discussion</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실험의 partial mask</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여덟 component 중 Source Unit과 Attack Target Unit만 mask하므로 전체 행동 validity는 보장되지 않는다</a:t>
            </a:r>
            <a:endParaRPr lang="en-US" sz="1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696208"/>
                <a:gridCol w="2174240"/>
                <a:gridCol w="500075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Component 집합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Mask 제공</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남는 invalid 원인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Source Unit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yes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선택 가능한 unit만 남김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Attack Target Unit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yes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공격 가능한 target index를 제한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Action Type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no</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현재 unit이 수행할 수 없는 type 가능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방향 parameter 4종</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no</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선택 type과 맞지 않는 방향 가능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Produce Type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no</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생산 조건과 맞지 않는 종류 가능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Table 2의 masking 결과는 feature-complete constraint가 아니라 두 component mask의 결과다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arxiv-v3 p. 4, Invalid action masking strategy</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Action factorization과 masking의 역할</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Factorization은 출력 수를 줄이고 masking은 선택된 component의 feasibility를 제한한다</a:t>
            </a:r>
            <a:endParaRPr lang="en-US" sz="19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937000"/>
        </p:xfrm>
        <a:graphic>
          <a:graphicData uri="http://schemas.openxmlformats.org/drawingml/2006/table">
            <a:tbl>
              <a:tblPr/>
              <a:tblGrid>
                <a:gridCol w="2609088"/>
                <a:gridCol w="2609088"/>
                <a:gridCol w="2500376"/>
                <a:gridCol w="315264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구성</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Logit 또는 조합 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성장</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기능</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Full joint categorical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9216(hw)^2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Map 면적 hw의 제곱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조합을 한 분포로 표현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Square map n × 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9216n^4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한 변 n의 4제곱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면적 기준 exponential이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Factorized heads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2hw + 36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Map 면적에 선형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component의 logits를 따로 출력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Partial masking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Source와 Target subset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State validity에 따라 변함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알려진 invalid index를 제외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관계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함께 사용할 수 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서로 다른 병목을 다룸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Factorization 자체가 Prop. 1의 증명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6" name="Text 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arxiv-v3 p. 8, Appendix, Multi Discrete Action Generation</a:t>
            </a:r>
            <a:endParaRPr lang="en-US" sz="1050" dirty="0"/>
          </a:p>
        </p:txBody>
      </p:sp>
      <p:sp>
        <p:nvSpPr>
          <p:cNvPr id="7" name="Text 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다른 환경에 적용할 조건</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Masking을 옮길 때 validity의 출처와 sampling-loss 일치를 먼저 확인한다</a:t>
            </a:r>
            <a:endParaRPr lang="en-US" sz="19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937000"/>
        </p:xfrm>
        <a:graphic>
          <a:graphicData uri="http://schemas.openxmlformats.org/drawingml/2006/table">
            <a:tbl>
              <a:tblPr/>
              <a:tblGrid>
                <a:gridCol w="3043936"/>
                <a:gridCol w="4348480"/>
                <a:gridCol w="347878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확인 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필요한 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어긋날 때의 위험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Validity 공급자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환경 규칙 또는 검증된 constraint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틀린 valid action을 제거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상태 동기화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현재 상태의 최신 mask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지난 상태의 validity를 사용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Sampling과 loss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둘 다 같은 masked pi'</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Naive distribution mismatch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평가 interface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학습과 같은 mask 제공 여부 명시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배포 policy가 달라짐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Component coupling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조건부 parameter validity 처리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Partial mask 뒤 invalid 조합 잔존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6" name="Text 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arxiv-v3 pp. 2-6, Eqs. (2)-(6), Proposition 1 and experiments</a:t>
            </a:r>
            <a:endParaRPr lang="en-US" sz="1050" dirty="0"/>
          </a:p>
        </p:txBody>
      </p:sp>
      <p:sp>
        <p:nvSpPr>
          <p:cNvPr id="7" name="Text 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Invalid action masking의 핵심</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Support 제한, gradient 정합성, 실험 범위를 함께 봐야 논문의 결론을 정확히 사용할 수 있다</a:t>
            </a:r>
            <a:endParaRPr lang="en-US" sz="19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4892040"/>
                <a:gridCol w="380492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구분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정확한 결론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경계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Policy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Invalid logit을 치환한 pi'가 behavior policy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Finite M의 invalid 확률은 아주 작지만 0은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Gradient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Sampling과 log-probability를 pi'로 맞추면 pi'의 policy gradient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Raw invalid-logit gradient는 치환 Jacobian 때문에 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Penalty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Invalid sampling 뒤 reward를 바꾸는 별도 방법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Mask와 같은 objective나 탐색 경로가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Evidence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µRTS PPO의 partial mask에서 scaling 이점을 관찰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constraint와 deployment를 보장하지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같은 masked pi'가 sampling과 loss를 정의해야 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arxiv-v3 pp. 1-8, Eqs. (2)-(6), Proposition 1 and Table 2; flairs-paper paper conclusion</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23</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ple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ple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Invalid Action Masking</dc:title>
  <dc:subject>A Closer Look at Invalid Action Masking in Policy Gradient Algorithms</dc:subject>
  <dc:creator>Research Seminars</dc:creator>
  <cp:lastModifiedBy>Research Seminars</cp:lastModifiedBy>
  <cp:revision>1</cp:revision>
  <dcterms:created xsi:type="dcterms:W3CDTF">2026-09-12T03:38:39Z</dcterms:created>
  <dcterms:modified xsi:type="dcterms:W3CDTF">2026-09-12T03:38:39Z</dcterms:modified>
</cp:coreProperties>
</file>
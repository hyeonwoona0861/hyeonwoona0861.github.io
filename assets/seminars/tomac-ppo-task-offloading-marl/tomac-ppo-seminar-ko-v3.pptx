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TOMAC-PPO: 작업 단위로 학습하는 MEC 오프로딩
발표 대본
이 자료는 Jiang 등 네 저자의 Future Internet 2024 논문을 소개합니다. 논문의 중심 질문은 이동하는 사용자가 만든 작업을 어디에서 처리하고, 대역폭과 CPU 및 queue 우선순위를 어떻게 함께 정할 것인가입니다. 제안 방식은 subnet마다 대표 edge node를 agent로 두고, 각 작업이 생성된 순간부터 완료될 때까지를 하나의 강화학습 transition으로 봅니다. TOMAC-PPO의 원문 풀이는 Task-Oriented Multi-Agent Collaborative–Proximal Policy Optimization입니다. MEC는 Mobile Edge Computing, 이동 단말 가까이의 서버에서 계산하는 구조입니다.
공개 출처
paper | title, abstract, publication record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용어: 계산 위치와 학습 단위를 먼저 구분한다
발표 대본
MEC는 실행 위치를 나타내는 시스템 개념이고 MDP는 결정을 표현하는 틀입니다. MARL의 agent는 이 논문에서 subnet의 대표 노드입니다. Actor는 행동을 선택하고 critic은 상태 가치를 추정합니다. TOMAC은 Task-Oriented Multi-Agent Collaborative, PPO는 Proximal Policy Optimization입니다. TOMDP는 Task-Oriented MDP입니다. 이름만으로 모든 엣지가 독립적인 agent라는 뜻은 아닙니다.
공개 출처
paper | pp. 2, 9–13, 19, §4 and abbreviations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오프로딩과 자원 배분은 하나의 결정 문제다
발표 대본
논문은 offloading target뿐 아니라 CPU weight, bandwidth weight, queue priority, queue threshold를 한 action으로 묶습니다. 같은 edge를 선택해도 해당 task에 배정된 CPU와 bandwidth가 작으면 deadline을 넘을 수 있습니다. 반대로 local 실행은 전송 지연이 없지만 단말 계산 에너지가 발생합니다. 따라서 결과를 task별 cost로 통합합니다. 폐기는 명시적 결정과 혼잡·실패 등으로 일어날 수 있습니다. 이를 작업 요구조건의 완전한 준수로 해석하지 않습니다.
공개 출처
paper | pp. 1–2, Introduction; pp. 7–8, Eq. 13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논문의 기여와 검증 범위
발표 대본
논문은 network model, protocol, scheduling rules, TOMDP, TOMAC-PPO를 한 시스템으로 제안합니다. 하지만 실험은 저자가 만든 Python simulator에서 수행했고 현장 배포나 이론 보장은 없습니다. 따라서 이후 수치를 읽을 때는 알고리즘의 가능성을 보여 주는 조건부 결과로 해석합니다.
공개 출처
paper | pp. 1–2, contributions; p. 18, limitations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경로 예: 이웃 엣지를 거쳐 클라우드로
발표 대본
Figure 1은 user, edge, cloud의 세 계층을 둡니다. 각 edge node는 wireless base station과 edge server로 구성됩니다. User는 가까운 edge로 task를 보내고, edge layer의 routing table을 이용해 다른 edge나 cloud로 전달할 수 있습니다. 이 그림은 가능한 다중 홉 전달 경로 하나를 단순화한 것입니다. 모든 작업이 반드시 인접 엣지를 거쳐 클라우드에 가는 것은 아니며, 가까운 엣지에서 실행하거나 그 엣지에서 코어망으로 직접 전달하는 경로도 가능합니다.
공개 출처
paper | pp. 3–4, Fig. 1, §3.1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작업은 단말 실행·엣지 실행·전달 경로로 갈라진다
발표 대본
원문 p4 Fig2와 본문은 단말 캐시에서 단말 계산 큐 또는 단말 전송 큐로 분기한 뒤, 엣지에서 계산 큐 또는 유선 전송 큐로 다시 분기합니다. 유선 전달 이전에 엣지 CPU 계산을 요구하지 않습니다. 세 행은 경로 구분이며 장치 소유권은 각 노드의 이름으로 표시했습니다. 반환에는 엣지의 무선 전송 큐가 쓰이고 사용자의 이동에 따른 반환 노드 선택은 뒤 슬라이드에서 설명합니다. 혼잡에 따른 폐기 경로는 다음 대기열 제어 설명에서 별도로 다룹니다.
공개 출처
paper | pp. 3–5, Fig. 2, §3.2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네 task type은 비용에서 강조하는 항이 다르다
발표 대본
논문은 네 task type을 security와 delay 요구에 따라 나눕니다. High-priority에서는 energy term을 제외하고, critical에서는 delay와 energy를 모두 제외해 drop만 비용으로 남깁니다. Low-priority에서는 delay term을 제외하고, routine은 지연과 에너지 및 drop을 모두 봅니다. 표의 '포함'은 drop indicator가 모든 type의 Eq. 11에 남는다는 뜻입니다. 원문은 critical task가 폐기되면 안 된다는 요구를 적지만 실제 실험의 TOMAC-PPO critical drop은5.50%입니다. 이 행은 요구/비용 설계이지 무폐기 보장이 아닙니다.
공개 출처
paper | pp. 5, 7, §3.3 and Eq. 11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Action의 weight는 실제 자원 share로 정규화된다
발표 대본
Eq. 2와 Eq. 3은 CPU와 bandwidth weight를 전체 weight 합으로 나누어 실제 share를 만듭니다. 따라서 같은 action weight라도 경쟁 task 수와 다른 weight가 달라지면 할당량이 달라집니다. Queue priority도 weight가 클수록 높은 순서를 받습니다. Threshold 사이에서는 새 task를 확률적으로 drop하지만 확률식의 상세는 논문이 제시하지 않습니다. Σff는 같은 엣지에서 계산 중인 작업들의 가중치 합, Σbf는 같은 기지국 사용자의 가중치 합입니다. 합이0일 때의 규칙은 원문에 없습니다. Table1의14코어와 이 비례 모델을 곧바로 실제 멀티코어 스케줄러로 동일시하지 않습니다.
공개 출처
paper | pp. 4–6, Eqs. 2–3 and queue rules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가중치 예시: 값 자체보다 경쟁자와의 비율이 중요하다
발표 대본
원문 Eq2–3을 이용한 가상 산술입니다. CPU 총 처리량6은 일관된 처리량 단위로 둔 추상적인 예이며 Table1의2.4GHz·14코어를 측정한 값이 아닙니다. 정규화 분모는 자원 경쟁자들의 가중치 합입니다. 가중치가 음이 아닌데 모두0인 경우의 정의는 원문에 없습니다. 큐 우선순위는 별개 qf가 정합니다.
공개 출처
paper | pp. 5–6, Eqs. 2–3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큐 제어: 우선순위와 새 작업의 수용 여부는 다르다
발표 대본
p5는 평균 큐 길이가 thmin 미만일 때 수용하고, 두 임계값 사이에서 확률적으로 폐기하며, 큐 길이가 thmax에 도달하면 폐기한다고 씁니다. Table1은 RED dropped task probability pdrop=1/50을 제시하지만 중간 구간의 정확한 확률 함수와 thmin 경계의 등호 처리는 상세하지 않습니다. 여기의4와8은 구성 예입니다. p4의 큰 qf 우선 삽입은 진입 판단·CPU 몫·대역폭 배분과 다른 역할입니다.
공개 출처
paper | pp. 4–5, queue rules; p. 15, Table 1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실행 경로마다 지연·단말 에너지 항이 다르다
발표 대본
논문의 delay model은 계산량 λρ를 배정 CPU f로 나눈 compute delay와 통신 구간별 delay를 합합니다. User energy는 local computation일 때 CPU frequency의 제곱에 비례하고, uplink일 때 transmission power와 transmission time의 곱입니다. Cloud 경로에는 core network forwarding delay도 추가됩니다.
공개 출처
paper | pp. 6–7, Eqs. 5–10, §3.5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작업 비용: 지연·에너지·폐기를 합한다
발표 대본
Delay term은 total delay를 deadline으로 나누고 energy term은 task의 data와 density 및 scaling factor로 정규화합니다. Drop은 완료하면 0, discard이면 1입니다. 논문은 mu1을 energy term이 0과 1 사이가 되게 하는 scaling factor라고만 설명합니다. 따라서 다른 연구의 cost 수치와 직접 비교할 수 없습니다.
공개 출처
paper | p. 7, Eqs. 11–12, §3.6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공동 최적화가 선택하는 변수와 지켜야 할 조건
발표 대본
Optimization variables는 offloading decision D, CPU weight ff, queue priority qf, bandwidth weight bf입니다. Constraints C1과 C2는 one-hot offloading result를 요구합니다. C6과 C7은 queue 및 cache capacity, C8은 deadline, C9는 base-station coverage를 제한합니다. 논문은 initial action을 점검하는 decision constraint module을 두지만 모든 constraint를 항상 만족한다는 formal proof는 없습니다. Eq13의 최적화 변수 목록에는 임계값이 따로 없지만 Eq15의 학습 action에는 thmin/thmax가 포함됩니다. 그림의 이론적 제약과 실제 정책의 제약 준수는 구분합니다.
공개 출처
paper | pp. 7–8, Eq. 13 and C1–C9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요구조건·감점·실제 충족은 같은 뜻이 아니다
발표 대본
이 구분은 원문 결과를 정확히 읽기 위한 설명입니다. decision constraint module은 초기 결정에 binary penalty를 부여한다고만 기술되며 어떤 mask나 repair로 모든 제약을 강제하는지는 미제시입니다. 따라서 finite reward penalty를 hard guarantee와 동일시하지 않습니다. Critical drop5.50%는50users, pen=pfiber=.1%의 Fig13입니다. 알고리즘이 실험에서 개선했다는 것과 폐기0 요구를 만족했다는 것은 다릅니다.
공개 출처
paper | pp. 5, 7, 11, 17, Eq13/16 and Fig13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주기 동기화가 local observation을 보완한다
발표 대본
User는 위치를 edge에 보고하고 edge는 인접 edge와 status를 교환합니다. Cloud도 edge와 connectivity를 확인합니다. Figure 3은 synchronization cycle을 넘는 timeout이 발생하면 disconnected로 판정하는 규칙을 보여 줍니다. 논문은 이때 retransmission을 하지 않는다고 적습니다. 따라서 state는 완전한 실시간 global state가 아니라 지연될 수 있는 synchronized view입니다. 표의 각 행은 통신 대상 또는 공통 미수신 규칙을 구분한 것이며, 위에서 아래로 실행해야 하는 직렬 단계가 아닙니다.
공개 출처
paper | p. 8, Fig. 3, §4.1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이동 사용자 scheduling의 앞부분
발표 대본
Figure 4의 첫 세 단계입니다. User는 task 전체가 아니라 summary information을 가장 가까운 연결 edge인 decision node에 먼저 보냅니다. Decision node는 network condition을 함께 보고 action을 반환합니다. 이후 user가 local compute를 시작하거나 task data를 decision node로 전송합니다.
공개 출처
paper | pp. 8–9, Fig. 4, §4.2, steps 1–3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이동 사용자 scheduling의 반환 경로
발표 대본
User가 task 처리 중 다른 cell로 이동할 수 있으므로 decision node가 계속 반환 지점이 되지는 않습니다. 실행 target은 계산이 끝난 뒤 현재 user와 가장 가까운 return node를 찾고, shortest path로 결과를 보냅니다. Return node가 마지막 wireless hop을 맡습니다. 논문은 shortest path의 계산 알고리즘이나 handover latency를 자세히 평가하지 않습니다.
공개 출처
paper | p. 9, Fig. 4, §4.2, steps 4–6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Subnet마다 commentator node 하나가 agent가 된다
발표 대본
Network topology가 바뀔 때 hop distance로 subnet을 나누고 각 subnet에서 degree가 가장 큰 node를 commentator node로 고릅니다. 이 node가 subnet의 유일한 agent입니다. Ordinary nodes는 관측을 보내고 받은 action을 실행합니다. Commentator는 subnet 안의 node별 policy network와 하나의 value network를 유지합니다. 그림은 이 지역 중앙집중과 subnet 간 multi-agent 구조를 함께 보여 줍니다. 가치망도 대표 노드 내부에 있습니다. 표시된 위치 차이는 기능 분리이며 일반 노드나 환경에 가치망을 배치한다는 뜻이 아닙니다. 이 그림의 행은 처리 흐름과 가치 평가의 기능 구분입니다. 정책망들과 가치망은 모두 대표 노드에 있으며, 일반 노드의 관측·실행과 환경 처리 결과가 위쪽 흐름에 함께 표시됩니다.
공개 출처
paper | p. 9, Fig. 5, §4.3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분산 실행과 지역 중앙집중의 경계
발표 대본
논문은 centralized training and decentralized execution이라는 용어를 쓰지 않습니다. Commentator별로 policy와 value network를 두고 여러 agent가 병렬로 trajectory를 수집하고 갱신합니다. Subnet 내부 ordinary nodes는 직접 policy를 실행하지 않습니다. Cloud server도 전체 policy를 학습하는 central trainer로 기술되지 않습니다.
공개 출처
paper | p. 9, §4.3; p. 13, Algorithm 1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고정 global slot 대신 task마다 다른 step을 둔다
발표 대본
Figure 6에서 task step은 task가 생성될 때 시작하고 처리 완료 때 끝납니다. Task마다 실행 시간이 다르므로 step 길이도 다릅니다. 여러 task는 동시에 처리되어 step이 겹칠 수 있습니다. 논문은 이 구조가 delayed reward를 다룬다고 설명하지만, 모든 delayed-credit 문제를 이론적으로 해결했다고 증명하지는 않습니다.
공개 출처
paper | p. 10, Fig. 6, §4.4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Task step은 서로 겹치고 완료 순서도 바뀔 수 있다
발표 대본
이 그림은 Figure 6의 구조를 단순화한 교육용 예입니다. A와 B가 서로 다른 시점에 생성되고, B의 처리 시간이 짧아 먼저 완료됩니다. 각 task는 자기 completion state와 reward를 갖습니다. 그림의 상대적 길이는 원리 설명용이며 논문 실험의 실제 latency sample이 아닙니다. 가로 위치는 사건의 상대 순서만 나타내며 등간격 시간 측정값이 아닙니다. Task 생성과 정책의 관측/action 사이에도 지연이 있습니다. 겹친 transition들을 Eq19의 단일 T-step trajectory로 정렬하는 세부 규칙은 논문에 없습니다.
공개 출처
paper | p. 10, Fig. 6, §4.4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TOMDP state는 task와 연결 가능한 network를 함께 본다
발표 대본
Eq. 14는 task size와 deadline, task type, user coordinate record, user와 edge의 queue occupancy, connectivity vector, queue thresholds를 나열합니다. 논문 문장은 j/n 항을 strategy learning objective와 연결하지만 설명이 모호하고 전체 encoding dimension도 제시하지 않습니다. 따라서 표는 원문에 명시된 정보 범주만 보여 줍니다. 특히 큐들은 합으로 압축됩니다. 같은 합이라도 계산 큐와 전송 큐의 구성은 다를 수 있습니다. s(x)의 관측 시점과 sc(x)의 완료 시점도 다릅니다.
공개 출처
paper | p. 10, Eq. 14, §4.4 Status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TOMDP action은 위치와 네 종류의 control을 묶는다
발표 대본
Eq. 15는 offloading decision vector D, CPU weight ff, queue priority qf, bandwidth weight bf, 두 queue threshold를 action에 포함합니다. Action output이 바로 GHz나 MHz는 아닙니다. Weight는 Eq. 2와 Eq. 3에서 같은 resource를 쓰는 task 또는 user의 weight 합으로 정규화됩니다. 원문 p5는 D의1..n을 엣지로 정의하면서 n+1도 edge server라고 적습니다. 시스템의 클라우드 선택을 의도한 표기로 읽을 수 있지만 이는 문맥 추론이며 정확한 인덱스 사양으로 단정하지 않습니다. D는 이산 선택, 나머지는 가중치·임계값입니다. 하나의 Softmax로 이를 어떻게 부호화/샘플링하는지는 상세히 제시되지 않습니다.
공개 출처
paper | pp. 10–11, Eq. 15, §4.4 Action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Reward는 현재 task cost를 user 평균과 비교한다
발표 대본
Eq. 16의 reward는 1에서 current task cost를 user의 generated-task average cost로 나눈 값을 빼고 1/2를 더한 뒤 penalty를 뺍니다. 슬라이드에서는 현재 작업 비용을 Z, 이 사용자 평균을 Zavg로 줄여 썼습니다. PEN은 decision constraint module이 initial action에 부여하는 binary penalty입니다. 논문은 running average의 초기화와 constraint module의 수정 규칙을 자세히 설명하지 않습니다.
공개 출처
paper | p. 11, Eq. 16, §4.4 Rewards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구성 예시: 한 task의 cost와 reward 계산
발표 대본
이 값은 교육용으로 새로 만든 예입니다. Task input은 2 Mbit, density는 0.3 Gcycles/Mbit이므로 계산량은 0.6 Gcycles입니다. 배정 CPU 1.2 GHz에서 0.50초입니다. Uplink는 effective rate 10 Mbit/s와 무시 가능한 propagation으로 0.20초입니다. Total delay 0.70초, normalized energy term 0.10, no drop인 routine task는 Z=0.80입니다. User average cost 1.00과 PEN 0을 넣으면 R=0.70입니다. 이 부분 예시는 큐 대기, 결과 반환, 동기화, 전파 지연을0으로 두고 나머지 에너지 항도 이미 정규화된0.10으로 가정합니다. 실제 논문 실험값이나 모든 오프로딩 경로의 전체 지연식이 아닙니다.
공개 출처
paper | pp. 6–7, Eqs. 5, 11; p. 11, Eq. 16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한 task가 하나의 learning transition이 되는 순서
발표 대본
원문에서 task-oriented step은 작업 생성 시점에 시작합니다. 이후 summary가 도착하면 상태를 관측하고 action을 선택하며, 처리 완료 시 reward와 완료 상태를 관측합니다. 이 슬라이드는 생성 이후 관측에서 시작하는 결정·학습 흐름입니다. 다른 task도 동시에 처리됩니다. 원문은 폐기된 task의 종료 처리, overlapping transitions의 trajectory 순서, 아직 미완료인 작업을 포함한 평균비용의 온라인 계산을 상세히 정의하지 않습니다. 이를 자동 해결된 credit assignment라고 말하지 않습니다.
공개 출처
paper | pp. 10–11, Fig. 6 and Eqs. 14–16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같은 state가 policy와 value의 두 network로 들어간다
발표 대본
Figures 7과 8은 policy와 value network가 모두 state를 Transformer와 세 FC layer에 통과시키는 구조를 보여 줍니다. Policy는 마지막에 Softmax를 써 action probability를 출력합니다. Value network는 현재 state value 하나를 출력합니다. Target value network는 같은 구조를 쓰고 parameter만 천천히 갱신합니다. FC는 Fully Connected, 완전연결층입니다. Softmax 출력과 이산·연속 제어 벡터의 연결은 미제시이며, target value network의 갱신은 있지만 Eq19의 return/advantage에서 그 출력이 어디 쓰이는지 명시되지 않습니다.
공개 출처
paper | pp. 11–12, Figs. 7–8, §4.5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Transformer: 구조의 위치와 미제시 세부
발표 대본
논문은 Transformer가 일정한 memory를 주고 local observation 문제를 완화한다고 설명합니다. 하지만 attention head 수, layer 수, positional encoding, sequence length, state history 구성, hidden dimension을 공개하지 않습니다. 또한 Transformer를 제거한 ablation이 없습니다. 따라서 architecture의 위치는 설명할 수 있지만 성능 향상의 원인을 Transformer로 분리할 수는 없습니다.
공개 출처
paper | pp. 11–12, §4.5, Figs. 7–8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PPO는 확률을 강제 고정하지 않고 학습 목적식을 자른다
발표 대본
Eq. 17은 current parameter의 action probability와 old parameter의 probability 비율을 계산합니다. Zeta 0.2이면 ratio를 0.8과 1.2 사이로 자른 surrogate와 raw surrogate 중 더 작은 쪽을 사용합니다. Figure 9는 positive와 negative advantage에서 objective 모양이 달라지는 모습을 보여 줍니다. Entropy term은 exploration을 장려합니다. 실제 ratio와 파라미터를 이 구간으로 투영하지 않습니다. 양의 advantage에서 ratio가 너무 커져도 이 목적식 항에 추가 보상이 없고, 음의 advantage에서 ratio가 너무 작아져도 추가 보상이 없습니다. 다른 표본과 공유 파라미터·엔트로피 때문에 실제 확률은 계속 변할 수 있습니다. 원문 Eq17은 min의 두 번째 인자 안에만 +cH를 인쇄합니다. 일반적으로 읽는 min(...) + cH와 동일하지 않습니다. 이 슬라이드와 계산 예는 엔트로피를 제외한 공통 clipping 항을 설명하며 원문의 confidence-domain 보장 서술을 증명된 사실로 옮기지 않습니다.
공개 출처
paper | pp. 12–13, Eqs. 17–18 and Fig. 9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구성 예시: return, advantage, clipped surrogate
발표 대본
이 예시는 Eq. 17과 Eq. 19의 산술을 설명하기 위해 새로 만든 값입니다. Rewards는 0.4, 0.2, 1.0이고 gamma는 0.95입니다. Return은 1.4925, value estimate 1.10을 빼면 advantage 0.3925입니다. Old probability 0.40에서 new probability 0.56으로 바뀌면 ratio는 1.40입니다. Zeta 0.20에서 clipped ratio 1.20을 쓰므로 positive surrogate는 0.4710입니다. Entropy term은 예시에서만 생략했습니다.
공개 출처
paper | pp. 12–13, Eqs. 17–19 and Fig. 9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음의 advantage에서는 반대쪽 구간이 평평해진다
발표 대본
양의 advantage의 예와 달리 음수를 곱한 뒤 작은 값을 택해야 합니다. min(ratio,clip)×Adv로 먼저 묶으면 음의 부호 때문에 틀립니다. ratio.6의 경우 min(−.6,−.8)=−.8입니다. ratio1.4이면 min(−1.4,−1.2)=−1.4이므로 나쁜 행동의 확률을 늘리는 것을 계속 불리하게 만듭니다. 실제 policy 확률을 강제로0.8이상에 고정한다는 의미가 아닙니다.
공개 출처
paper | pp. 12–13, Eq17 and Fig9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Algorithm 1의 training loop
발표 대본
Algorithm 1은 각 policy, value, target value network를 무작위 초기화합니다. Episode마다 모든 agent j가 병렬로 current policy trajectory를 수집하고 Eq. 19로 approximate advantage를 계산합니다. Policy는 Eq. 20, value와 target value는 Eqs. 22와 23으로 갱신합니다. 논문은 agent 간 parameter sharing이나 central critic update를 명시하지 않습니다. 본문 n은 엣지 노드 수이나 Algorithm1은 agent j=1..n으로 씁니다. subnet당 agent라는 정의와 수 기호 대응은 명확하지 않습니다. target 가치망을 soft update하지만 Eq19는 현재 v(s;ω)만 명시하고 target 출력을 소비하는 항은 제시하지 않습니다. 현재 표기 그대로 작동 가능한 구현이라고 주장하지 않습니다.
공개 출처
paper | p. 13, Algorithm 1 and Eqs. 19–23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 원문 수식의 재현 경계: 부호·엔트로피·target
발표 대본
Eq21은 L=−Σ(u−v)², Eq22는 이 L에 gradient descent입니다. 고정 return u=1, scalar v=0, 학습률 .1의 단순 예에서는 dL/dv=2이므로 v가−.2로 가며 제곱오차가1에서1.44로 커집니다. 이는 p11의 상태가치 맞추기 목적과 일치하지 않습니다. 실제 실험 코드의 오류를 증명하는 것은 아닙니다. Eq17은 +cH가 min의 두 번째 항 내부에 인쇄되어 통상적인 min 밖 entropy와 구별됩니다. Eq23 target soft update는 명확하지만 그 출력을 쓰는 연산은 제시되지 않습니다. 복잡도 주장은 두 loop만 세며 trajectory 길이·Transformer·동기화 비용을 포함한 wall-clock 분석이 아닙니다.
공개 출처
paper | pp. 11–14, Eqs. 17, 19–23, Algorithm 1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구현을 재현하려면 추가로 필요한 연결 규칙
발표 대본
원문의 다양한 요소는 설명할 수 있지만 실행 가능한 사양은 덜 완성되어 있습니다. D의 n+1을 edge라고 적은 문장과 클라우드 후보의 문맥도 구별해야 합니다. Eq19의 연속 reward sequence에 overlapping task 완료를 어떻게 배치하는지, 아직 처리 중인 작업의 Z를 어떻게 평균에 포함하는지, 초기 평균이0일 때 어떤 처리를 하는지 제시되지 않습니다. 이는 저자가 실제 코드를 잘못 구현했다는 증거가 아니라 공개 설명으로 재현 가능한 범위의 한계입니다.
공개 출처
paper | pp. 5, 10–13, 15; Eq15–19, Table1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비교 baseline은 학습 구조와 실행 위치가 다르다
발표 대본
논문은 네 baseline을 설명합니다. TOMAC-A2C는 같은 task-oriented multi-agent system에 A2C를 적용합니다. TO-A3C는 여러 independent single-agent environment를 병렬 학습하며 multi-agent system을 사용하지 않습니다. Figures 11부터 13의 legend는 이를 A3C로 줄여 적습니다. CCP는 cloud 우선, LC는 local-only입니다. 구성요소별 엄밀한 ablation이 없으므로 차이 전부를 PPO 단독 인과효과로 분리하지 않습니다.
공개 출처
paper | p. 14, §5, baseline definitions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 실험 결과가 성립한 simulation 조건
발표 대본
Table 1은 edge node 10개, 20 MHz bandwidth, 100 m service radius, edge CPU 2.4 GHz, cloud CPU 10 GHz, edge당 14 cores를 둡니다. Task type 확률은 0.2, 0.2, 0.2, 0.4입니다. Training은 1000 epochs, gamma 0.95, learning rates 3×10^-4입니다. 논문은 real dataset에서 user 좌표와 최대 CPU frequency를 썼다고 하지만 dataset 이름과 split은 공개하지 않습니다. Table1의 task input 표기는 N(5100) Mbit로 모호합니다. 평균/분산/쉼표를 임의로 복원하지 않습니다. pfiber는 p6에서 매분의 고장 확률로 정의되며, repair는 Table1 U(10,60)s입니다. failure sweep의 확률을 실제 고장율이나 일정 비율의 상시 고장 노드로 바꾸어 읽지 않습니다.
공개 출처
paper | pp. 14–15, Table 1, §§5.1–5.2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 Figure 10: PPO는 더 높은 reward에 이르지만 더 흔들린다
발표 대본
Figure 10은 user 50명, edge와 fiber failure probability 0.1% 조건입니다. 논문은 TOMAC-PPO가 TOMAC-A2C보다 final convergence value를 약 23.9% 높였다고 적습니다. 동시에 TOMAC-PPO의 vibration amplitude가 더 크며 entropy term에 의한 exploration 가능성을 제시합니다. Seed 반복이나 uncertainty band가 없어 통계적 우위를 말할 수 없습니다.
공개 출처
paper | pp. 14–15, Fig. 10, §5.2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 Figure 11: user 수가 늘어도 TOMAC-PPO cost가 가장 낮다
발표 대본
Figure 11은 p_en과 p_fiber를 0.1%로 두고 user 수를 바꿉니다. TOMAC-PPO curve는 모든 plotted load에서 가장 낮습니다. 50 users에서 논문은 네 baseline 대비 average cost 감소를 19.4%에서 66.6%로 보고합니다. 이 범위는 하나의 universal speedup이 아니라 baseline별 상대 감소입니다.
공개 출처
paper | pp. 15–16, Fig. 11, §5.3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 장애 확률이 극단적이면 학습 방식의 이점이 줄어든다
발표 대본
Figure 12는 user 50명에서 edge server와 line failure probability를 함께 변화시킨 것으로 설명됩니다. 70% 미만에서 TOMAC-PPO와 TOMAC-A2C가 낮은 cost를 보입니다. 70%를 넘으면 cost가 급격히 상승해 LC에 가까워집니다. 100%에서는 edge layer가 disconnected되어 non-LC 방법도 local calculation을 시도하며 signaling cost 때문에 LC 2.24보다 약간 높은 약 2.3을 보입니다. CCP가 낮은 장애 확률 구간에서 비용이 줄어드는 이유는 저자의 해석입니다. 장애가 성능을 일반적으로 개선한다는 결론이 아닙니다.
공개 출처
paper | p. 16, Fig. 12, §5.3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Figure 13: task type마다 비교 metric이 다르다
발표 대본
Figure 13의 막대 위 숫자를 그대로 옮겼습니다. Routine task cost, high-priority delay, critical drop rate에서는 TOMAC-PPO가 가장 낮습니다. Low-priority energy에서는 local-only LC가 3.54×10^-6 J로 가장 낮고 TOMAC-PPO는 0.25 J입니다. 논문도 이 예외를 인정하며 TOMAC 방식은 energy와 drop의 균형을 함께 본다고 설명합니다. A3C는 본문의 TO-A3C입니다.
공개 출처
paper | p. 17, Fig. 13, §§5.3–5.4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 결과를 일반화하기 전에 남는 한계
발표 대본
저자들은 network scale이 커질 때 multi-agent scalability, synchronization overhead, information lag가 문제가 된다고 적습니다. 또한 Python simulator가 단순하며 기존 DRL framework와 dynamic TOMDP step의 compatibility가 future work라고 합니다. 여기에 paper가 공개하지 않은 dataset identity, seed count, uncertainty, code, Transformer ablation과 Eq. 21 표기 문제도 재현성과 해석의 경계입니다.
공개 출처
paper | pp. 18–19, §§5.4–6, data availability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 TOMAC-PPO를 한 흐름으로 다시 읽기
발표 대본
전체 논리를 연결하면 먼저 synchronization으로 지역 network view를 만들고 subnet commentator가 agent가 됩니다. Task가 생성되면 joint action을 선택하고, 실제 task가 완료될 때 cost와 reward를 받습니다. 여러 task step은 겹칩니다. Transformer-fronted Actor–Critic과 PPO가 이 transition을 학습합니다. Simulation은 조건부 이점을 보이지만 scale, reproducibility, deployment와 formal guarantee는 남은 과제입니다.
공개 출처
paper | abstract; pp. 8–18, §§4–6
A Task Offloading and Resource Allocation Strategy Based on Multi-Agent Reinforcement Learning in Mobile Edge Computing
https://doi.org/10.3390/fi16090333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TOMAC-PPO: 작업 단위로 학습하는 MEC 오프로딩</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A Task Offloading and Resource Allocation Strategy Based on Multi-Agent Reinforcement Learning in Mobile Edge Computing</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Guiwen Jiang, Rongxi Huang, Zhiming Bao, Gaocai Wang (2024)</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동기화, 이동성 대응, 작업 지향 MDP와 PPO를 하나의 제어 구조로 연결한다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title, abstract, publication record</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용어: 계산 위치와 학습 단위를 먼저 구분한다</a:t>
            </a:r>
            <a:endParaRPr lang="en-US" sz="3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956816"/>
                <a:gridCol w="4674616"/>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용어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풀어 쓰기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 발표에서의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Mobile Edge Computing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 근처 서버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MDP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Markov Decision Process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상태·행동·보상의 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MARL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Multi-Agent Reinforcement Learning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대표 노드의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Actor / Critic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정책망 / 가치망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선택 / 가치 추정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TOMAC-PPO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Task-Oriented Multi-Agent Collaborative–PPO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단위 공동 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PPO는 Proximal Policy Optimization; 정책을 갱신하는 방법이다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 9–13, 19, §4 and abbreviations</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오프로딩과 자원 배분은 하나의 결정 문제다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실행 위치만 정해도 CPU, 통신, queue의 경쟁은 남는다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작업 생성</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크기·기한·종류가 다름</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실행 위치</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단말·엣지·클라우드·폐기</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자원 배분</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CPU·대역폭·대기 순서</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결과 평가</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지연·에너지·폐기 비용</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실행 위치와 자원 비율을 따로 최적화하면 실제 queue와 통신 경쟁을 놓칠 수 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 Introduction; pp. 7–8, Eq. 13</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논문의 기여와 검증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방법은 여러 구성 요소를 결합하지만 검증은 Python simulation에 한정된다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5000752"/>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제안한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검증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system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계층·대기열·장애 모델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deployment가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coordination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주기 동기화·이동 후 결과 반환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통신 overhead 측정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decision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subnet별 Actor–Critic 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global optimality 증명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작업별로 겹치는 MDP step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credit assignment 보장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Transformer + PPO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Transformer ablation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제안 구조와 시뮬레이션 결과를 실제 배포 성능 보장과 구분한다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 contributions; p. 18, limitations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경로 예: 이웃 엣지를 거쳐 클라우드로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가능한 전달 경로 하나다. 가까운 엣지에서 끝나거나 코어망으로 바로 전달할 수도 있다</a:t>
            </a:r>
            <a:endParaRPr lang="en-US" sz="1900" dirty="0"/>
          </a:p>
        </p:txBody>
      </p:sp>
      <p:sp>
        <p:nvSpPr>
          <p:cNvPr id="4" name="mechanism-lane-user"/>
          <p:cNvSpPr txBox="1"/>
          <p:nvPr/>
        </p:nvSpPr>
        <p:spPr>
          <a:xfrm>
            <a:off x="660400" y="22098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사용자 계층</a:t>
            </a:r>
            <a:endParaRPr lang="en-US" sz="1250" dirty="0"/>
          </a:p>
        </p:txBody>
      </p:sp>
      <p:sp>
        <p:nvSpPr>
          <p:cNvPr id="5" name="mechanism-lane-edge"/>
          <p:cNvSpPr txBox="1"/>
          <p:nvPr/>
        </p:nvSpPr>
        <p:spPr>
          <a:xfrm>
            <a:off x="660400" y="32512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edge 계층</a:t>
            </a:r>
            <a:endParaRPr lang="en-US" sz="1250" dirty="0"/>
          </a:p>
        </p:txBody>
      </p:sp>
      <p:sp>
        <p:nvSpPr>
          <p:cNvPr id="6" name="mechanism-lane-cloud"/>
          <p:cNvSpPr txBox="1"/>
          <p:nvPr/>
        </p:nvSpPr>
        <p:spPr>
          <a:xfrm>
            <a:off x="660400" y="42926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cloud 계층</a:t>
            </a:r>
            <a:endParaRPr lang="en-US" sz="1250" dirty="0"/>
          </a:p>
        </p:txBody>
      </p:sp>
      <p:sp>
        <p:nvSpPr>
          <p:cNvPr id="7" name="mechanism-edge-c1-segment-1"/>
          <p:cNvSpPr/>
          <p:nvPr/>
        </p:nvSpPr>
        <p:spPr>
          <a:xfrm>
            <a:off x="3810000" y="2730500"/>
            <a:ext cx="241300" cy="0"/>
          </a:xfrm>
          <a:prstGeom prst="line">
            <a:avLst/>
          </a:prstGeom>
          <a:noFill/>
          <a:ln w="12700">
            <a:solidFill>
              <a:srgbClr val="0D685C"/>
            </a:solidFill>
            <a:prstDash val="solid"/>
            <a:headEnd type="none"/>
            <a:tailEnd type="none"/>
          </a:ln>
        </p:spPr>
        <p:txBody>
          <a:bodyPr/>
          <a:lstStyle/>
          <a:p>
            <a:endParaRPr lang="ko-KR"/>
          </a:p>
        </p:txBody>
      </p:sp>
      <p:sp>
        <p:nvSpPr>
          <p:cNvPr id="8" name="mechanism-edge-c1-segment-2"/>
          <p:cNvSpPr/>
          <p:nvPr/>
        </p:nvSpPr>
        <p:spPr>
          <a:xfrm>
            <a:off x="4051300" y="2730500"/>
            <a:ext cx="0" cy="1041400"/>
          </a:xfrm>
          <a:prstGeom prst="line">
            <a:avLst/>
          </a:prstGeom>
          <a:noFill/>
          <a:ln w="12700">
            <a:solidFill>
              <a:srgbClr val="0D685C"/>
            </a:solidFill>
            <a:prstDash val="solid"/>
            <a:headEnd type="none"/>
            <a:tailEnd type="none"/>
          </a:ln>
        </p:spPr>
        <p:txBody>
          <a:bodyPr/>
          <a:lstStyle/>
          <a:p>
            <a:endParaRPr lang="ko-KR"/>
          </a:p>
        </p:txBody>
      </p:sp>
      <p:sp>
        <p:nvSpPr>
          <p:cNvPr id="9" name="mechanism-edge-c1-segment-3"/>
          <p:cNvSpPr/>
          <p:nvPr/>
        </p:nvSpPr>
        <p:spPr>
          <a:xfrm>
            <a:off x="4051300" y="3771900"/>
            <a:ext cx="241300"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c2-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c3-segment-1"/>
          <p:cNvSpPr/>
          <p:nvPr/>
        </p:nvSpPr>
        <p:spPr>
          <a:xfrm>
            <a:off x="8915400" y="3771900"/>
            <a:ext cx="241300" cy="0"/>
          </a:xfrm>
          <a:prstGeom prst="line">
            <a:avLst/>
          </a:prstGeom>
          <a:noFill/>
          <a:ln w="12700">
            <a:solidFill>
              <a:srgbClr val="0D685C"/>
            </a:solidFill>
            <a:prstDash val="solid"/>
            <a:headEnd type="none"/>
            <a:tailEnd type="none"/>
          </a:ln>
        </p:spPr>
        <p:txBody>
          <a:bodyPr/>
          <a:lstStyle/>
          <a:p>
            <a:endParaRPr lang="ko-KR"/>
          </a:p>
        </p:txBody>
      </p:sp>
      <p:sp>
        <p:nvSpPr>
          <p:cNvPr id="12" name="mechanism-edge-c3-segment-2"/>
          <p:cNvSpPr/>
          <p:nvPr/>
        </p:nvSpPr>
        <p:spPr>
          <a:xfrm>
            <a:off x="9156700" y="3771900"/>
            <a:ext cx="0" cy="1041400"/>
          </a:xfrm>
          <a:prstGeom prst="line">
            <a:avLst/>
          </a:prstGeom>
          <a:noFill/>
          <a:ln w="12700">
            <a:solidFill>
              <a:srgbClr val="0D685C"/>
            </a:solidFill>
            <a:prstDash val="solid"/>
            <a:headEnd type="none"/>
            <a:tailEnd type="none"/>
          </a:ln>
        </p:spPr>
        <p:txBody>
          <a:bodyPr/>
          <a:lstStyle/>
          <a:p>
            <a:endParaRPr lang="ko-KR"/>
          </a:p>
        </p:txBody>
      </p:sp>
      <p:sp>
        <p:nvSpPr>
          <p:cNvPr id="13" name="mechanism-edge-c3-segment-3"/>
          <p:cNvSpPr/>
          <p:nvPr/>
        </p:nvSpPr>
        <p:spPr>
          <a:xfrm>
            <a:off x="9156700" y="4813300"/>
            <a:ext cx="241300" cy="0"/>
          </a:xfrm>
          <a:prstGeom prst="line">
            <a:avLst/>
          </a:prstGeom>
          <a:noFill/>
          <a:ln w="12700">
            <a:solidFill>
              <a:srgbClr val="0D685C"/>
            </a:solidFill>
            <a:prstDash val="solid"/>
            <a:headEnd type="none"/>
            <a:tailEnd type="triangle"/>
          </a:ln>
        </p:spPr>
        <p:txBody>
          <a:bodyPr/>
          <a:lstStyle/>
          <a:p>
            <a:endParaRPr lang="ko-KR"/>
          </a:p>
        </p:txBody>
      </p:sp>
      <p:sp>
        <p:nvSpPr>
          <p:cNvPr id="14" name="mechanism-node-task"/>
          <p:cNvSpPr txBox="1"/>
          <p:nvPr/>
        </p:nvSpPr>
        <p:spPr>
          <a:xfrm>
            <a:off x="1739900" y="231775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Mobile task</a:t>
            </a:r>
            <a:endParaRPr lang="en-US" sz="1150" dirty="0"/>
          </a:p>
        </p:txBody>
      </p:sp>
      <p:sp>
        <p:nvSpPr>
          <p:cNvPr id="15" name="mechanism-node-task-queue-1"/>
          <p:cNvSpPr/>
          <p:nvPr/>
        </p:nvSpPr>
        <p:spPr>
          <a:xfrm>
            <a:off x="1739900" y="25717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data</a:t>
            </a:r>
            <a:endParaRPr lang="en-US" sz="950" dirty="0"/>
          </a:p>
        </p:txBody>
      </p:sp>
      <p:sp>
        <p:nvSpPr>
          <p:cNvPr id="16" name="mechanism-node-task-queue-2"/>
          <p:cNvSpPr/>
          <p:nvPr/>
        </p:nvSpPr>
        <p:spPr>
          <a:xfrm>
            <a:off x="1739900" y="27622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deadline</a:t>
            </a:r>
            <a:endParaRPr lang="en-US" sz="950" dirty="0"/>
          </a:p>
        </p:txBody>
      </p:sp>
      <p:sp>
        <p:nvSpPr>
          <p:cNvPr id="17" name="mechanism-node-task-queue-3"/>
          <p:cNvSpPr/>
          <p:nvPr/>
        </p:nvSpPr>
        <p:spPr>
          <a:xfrm>
            <a:off x="1739900" y="29527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type</a:t>
            </a:r>
            <a:endParaRPr lang="en-US" sz="950" dirty="0"/>
          </a:p>
        </p:txBody>
      </p:sp>
      <p:sp>
        <p:nvSpPr>
          <p:cNvPr id="18" name="mechanism-node-edge1"/>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가까운 edge node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base station과 server</a:t>
            </a:r>
            <a:endParaRPr lang="en-US" sz="1150" dirty="0"/>
          </a:p>
        </p:txBody>
      </p:sp>
      <p:sp>
        <p:nvSpPr>
          <p:cNvPr id="19" name="mechanism-node-edge2"/>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인접 edge node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routing table로 연결</a:t>
            </a:r>
            <a:endParaRPr lang="en-US" sz="1150" dirty="0"/>
          </a:p>
        </p:txBody>
      </p:sp>
      <p:sp>
        <p:nvSpPr>
          <p:cNvPr id="20" name="mechanism-node-cloud1"/>
          <p:cNvSpPr/>
          <p:nvPr/>
        </p:nvSpPr>
        <p:spPr>
          <a:xfrm>
            <a:off x="9398000" y="44831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Cloud server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core network 경유</a:t>
            </a:r>
            <a:endParaRPr lang="en-US" sz="1150" dirty="0"/>
          </a:p>
        </p:txBody>
      </p:sp>
      <p:sp>
        <p:nvSpPr>
          <p:cNvPr id="21" name="Shape 1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2" name="Text 2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offload target은 한 edge에 한정되지 않으며 이웃 edge와 cloud도 후보가 된다</a:t>
            </a:r>
            <a:endParaRPr lang="en-US" sz="1750" dirty="0"/>
          </a:p>
        </p:txBody>
      </p:sp>
      <p:sp>
        <p:nvSpPr>
          <p:cNvPr id="23" name="Shape 2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4" name="Text 2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3–4, Fig. 1, §3.1</a:t>
            </a:r>
            <a:endParaRPr lang="en-US" sz="1050" dirty="0"/>
          </a:p>
        </p:txBody>
      </p:sp>
      <p:sp>
        <p:nvSpPr>
          <p:cNvPr id="25" name="Text 2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작업은 단말 실행·엣지 실행·전달 경로로 갈라진다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엣지에 도착한 작업을 실행할지 다른 서버로 전달할지 구분한다</a:t>
            </a:r>
            <a:endParaRPr lang="en-US" sz="1900" dirty="0"/>
          </a:p>
        </p:txBody>
      </p:sp>
      <p:sp>
        <p:nvSpPr>
          <p:cNvPr id="4" name="mechanism-lane-local"/>
          <p:cNvSpPr txBox="1"/>
          <p:nvPr/>
        </p:nvSpPr>
        <p:spPr>
          <a:xfrm>
            <a:off x="660400" y="22098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단말 실행</a:t>
            </a:r>
            <a:endParaRPr lang="en-US" sz="1250" dirty="0"/>
          </a:p>
        </p:txBody>
      </p:sp>
      <p:sp>
        <p:nvSpPr>
          <p:cNvPr id="5" name="mechanism-lane-edge"/>
          <p:cNvSpPr txBox="1"/>
          <p:nvPr/>
        </p:nvSpPr>
        <p:spPr>
          <a:xfrm>
            <a:off x="660400" y="32512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엣지 실행</a:t>
            </a:r>
            <a:endParaRPr lang="en-US" sz="1250" dirty="0"/>
          </a:p>
        </p:txBody>
      </p:sp>
      <p:sp>
        <p:nvSpPr>
          <p:cNvPr id="6" name="mechanism-lane-forward"/>
          <p:cNvSpPr txBox="1"/>
          <p:nvPr/>
        </p:nvSpPr>
        <p:spPr>
          <a:xfrm>
            <a:off x="660400" y="4292600"/>
            <a:ext cx="863600" cy="10414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다른 서버로 전달</a:t>
            </a:r>
            <a:endParaRPr lang="en-US" sz="1250" dirty="0"/>
          </a:p>
        </p:txBody>
      </p:sp>
      <p:sp>
        <p:nvSpPr>
          <p:cNvPr id="7" name="mechanism-edge-q0-segment-1"/>
          <p:cNvSpPr/>
          <p:nvPr/>
        </p:nvSpPr>
        <p:spPr>
          <a:xfrm>
            <a:off x="3299460" y="2635250"/>
            <a:ext cx="321733" cy="0"/>
          </a:xfrm>
          <a:prstGeom prst="line">
            <a:avLst/>
          </a:prstGeom>
          <a:noFill/>
          <a:ln w="12700">
            <a:solidFill>
              <a:srgbClr val="0D685C"/>
            </a:solidFill>
            <a:prstDash val="solid"/>
            <a:headEnd type="none"/>
            <a:tailEnd type="none"/>
          </a:ln>
        </p:spPr>
        <p:txBody>
          <a:bodyPr/>
          <a:lstStyle/>
          <a:p>
            <a:endParaRPr lang="ko-KR"/>
          </a:p>
        </p:txBody>
      </p:sp>
      <p:sp>
        <p:nvSpPr>
          <p:cNvPr id="8" name="mechanism-edge-q0-segment-2"/>
          <p:cNvSpPr/>
          <p:nvPr/>
        </p:nvSpPr>
        <p:spPr>
          <a:xfrm>
            <a:off x="3621193" y="2635250"/>
            <a:ext cx="0" cy="95250"/>
          </a:xfrm>
          <a:prstGeom prst="line">
            <a:avLst/>
          </a:prstGeom>
          <a:noFill/>
          <a:ln w="12700">
            <a:solidFill>
              <a:srgbClr val="0D685C"/>
            </a:solidFill>
            <a:prstDash val="solid"/>
            <a:headEnd type="none"/>
            <a:tailEnd type="none"/>
          </a:ln>
        </p:spPr>
        <p:txBody>
          <a:bodyPr/>
          <a:lstStyle/>
          <a:p>
            <a:endParaRPr lang="ko-KR"/>
          </a:p>
        </p:txBody>
      </p:sp>
      <p:sp>
        <p:nvSpPr>
          <p:cNvPr id="9" name="mechanism-edge-q0-segment-3"/>
          <p:cNvSpPr/>
          <p:nvPr/>
        </p:nvSpPr>
        <p:spPr>
          <a:xfrm>
            <a:off x="3621193" y="2730500"/>
            <a:ext cx="160867"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q1-segment-1"/>
          <p:cNvSpPr/>
          <p:nvPr/>
        </p:nvSpPr>
        <p:spPr>
          <a:xfrm>
            <a:off x="5341620" y="2730500"/>
            <a:ext cx="4566920"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q2-segment-1"/>
          <p:cNvSpPr/>
          <p:nvPr/>
        </p:nvSpPr>
        <p:spPr>
          <a:xfrm>
            <a:off x="3299460" y="2825750"/>
            <a:ext cx="160867" cy="0"/>
          </a:xfrm>
          <a:prstGeom prst="line">
            <a:avLst/>
          </a:prstGeom>
          <a:noFill/>
          <a:ln w="12700">
            <a:solidFill>
              <a:srgbClr val="0D685C"/>
            </a:solidFill>
            <a:prstDash val="solid"/>
            <a:headEnd type="none"/>
            <a:tailEnd type="none"/>
          </a:ln>
        </p:spPr>
        <p:txBody>
          <a:bodyPr/>
          <a:lstStyle/>
          <a:p>
            <a:endParaRPr lang="ko-KR"/>
          </a:p>
        </p:txBody>
      </p:sp>
      <p:sp>
        <p:nvSpPr>
          <p:cNvPr id="12" name="mechanism-edge-q2-segment-2"/>
          <p:cNvSpPr/>
          <p:nvPr/>
        </p:nvSpPr>
        <p:spPr>
          <a:xfrm>
            <a:off x="3460327" y="2825750"/>
            <a:ext cx="0" cy="946150"/>
          </a:xfrm>
          <a:prstGeom prst="line">
            <a:avLst/>
          </a:prstGeom>
          <a:noFill/>
          <a:ln w="12700">
            <a:solidFill>
              <a:srgbClr val="0D685C"/>
            </a:solidFill>
            <a:prstDash val="solid"/>
            <a:headEnd type="none"/>
            <a:tailEnd type="none"/>
          </a:ln>
        </p:spPr>
        <p:txBody>
          <a:bodyPr/>
          <a:lstStyle/>
          <a:p>
            <a:endParaRPr lang="ko-KR"/>
          </a:p>
        </p:txBody>
      </p:sp>
      <p:sp>
        <p:nvSpPr>
          <p:cNvPr id="13" name="mechanism-edge-q2-segment-3"/>
          <p:cNvSpPr/>
          <p:nvPr/>
        </p:nvSpPr>
        <p:spPr>
          <a:xfrm>
            <a:off x="3460327" y="3771900"/>
            <a:ext cx="321733" cy="0"/>
          </a:xfrm>
          <a:prstGeom prst="line">
            <a:avLst/>
          </a:prstGeom>
          <a:noFill/>
          <a:ln w="12700">
            <a:solidFill>
              <a:srgbClr val="0D685C"/>
            </a:solidFill>
            <a:prstDash val="solid"/>
            <a:headEnd type="none"/>
            <a:tailEnd type="triangle"/>
          </a:ln>
        </p:spPr>
        <p:txBody>
          <a:bodyPr/>
          <a:lstStyle/>
          <a:p>
            <a:endParaRPr lang="ko-KR"/>
          </a:p>
        </p:txBody>
      </p:sp>
      <p:sp>
        <p:nvSpPr>
          <p:cNvPr id="14" name="mechanism-edge-q3-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15" name="mechanism-edge-q4-segment-1"/>
          <p:cNvSpPr/>
          <p:nvPr/>
        </p:nvSpPr>
        <p:spPr>
          <a:xfrm>
            <a:off x="7383780" y="3568700"/>
            <a:ext cx="321733" cy="0"/>
          </a:xfrm>
          <a:prstGeom prst="line">
            <a:avLst/>
          </a:prstGeom>
          <a:noFill/>
          <a:ln w="12700">
            <a:solidFill>
              <a:srgbClr val="0D685C"/>
            </a:solidFill>
            <a:prstDash val="solid"/>
            <a:headEnd type="none"/>
            <a:tailEnd type="none"/>
          </a:ln>
        </p:spPr>
        <p:txBody>
          <a:bodyPr/>
          <a:lstStyle/>
          <a:p>
            <a:endParaRPr lang="ko-KR"/>
          </a:p>
        </p:txBody>
      </p:sp>
      <p:sp>
        <p:nvSpPr>
          <p:cNvPr id="16" name="mechanism-edge-q4-segment-2"/>
          <p:cNvSpPr/>
          <p:nvPr/>
        </p:nvSpPr>
        <p:spPr>
          <a:xfrm>
            <a:off x="7705513" y="3568700"/>
            <a:ext cx="0" cy="203200"/>
          </a:xfrm>
          <a:prstGeom prst="line">
            <a:avLst/>
          </a:prstGeom>
          <a:noFill/>
          <a:ln w="12700">
            <a:solidFill>
              <a:srgbClr val="0D685C"/>
            </a:solidFill>
            <a:prstDash val="solid"/>
            <a:headEnd type="none"/>
            <a:tailEnd type="none"/>
          </a:ln>
        </p:spPr>
        <p:txBody>
          <a:bodyPr/>
          <a:lstStyle/>
          <a:p>
            <a:endParaRPr lang="ko-KR"/>
          </a:p>
        </p:txBody>
      </p:sp>
      <p:sp>
        <p:nvSpPr>
          <p:cNvPr id="17" name="mechanism-edge-q4-segment-3"/>
          <p:cNvSpPr/>
          <p:nvPr/>
        </p:nvSpPr>
        <p:spPr>
          <a:xfrm>
            <a:off x="7705513" y="3771900"/>
            <a:ext cx="160867" cy="0"/>
          </a:xfrm>
          <a:prstGeom prst="line">
            <a:avLst/>
          </a:prstGeom>
          <a:noFill/>
          <a:ln w="12700">
            <a:solidFill>
              <a:srgbClr val="0D685C"/>
            </a:solidFill>
            <a:prstDash val="solid"/>
            <a:headEnd type="none"/>
            <a:tailEnd type="triangle"/>
          </a:ln>
        </p:spPr>
        <p:txBody>
          <a:bodyPr/>
          <a:lstStyle/>
          <a:p>
            <a:endParaRPr lang="ko-KR"/>
          </a:p>
        </p:txBody>
      </p:sp>
      <p:sp>
        <p:nvSpPr>
          <p:cNvPr id="18" name="mechanism-edge-q5-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19" name="mechanism-edge-q6-segment-1"/>
          <p:cNvSpPr/>
          <p:nvPr/>
        </p:nvSpPr>
        <p:spPr>
          <a:xfrm>
            <a:off x="7383780" y="3975100"/>
            <a:ext cx="160867" cy="0"/>
          </a:xfrm>
          <a:prstGeom prst="line">
            <a:avLst/>
          </a:prstGeom>
          <a:noFill/>
          <a:ln w="12700">
            <a:solidFill>
              <a:srgbClr val="0D685C"/>
            </a:solidFill>
            <a:prstDash val="solid"/>
            <a:headEnd type="none"/>
            <a:tailEnd type="none"/>
          </a:ln>
        </p:spPr>
        <p:txBody>
          <a:bodyPr/>
          <a:lstStyle/>
          <a:p>
            <a:endParaRPr lang="ko-KR"/>
          </a:p>
        </p:txBody>
      </p:sp>
      <p:sp>
        <p:nvSpPr>
          <p:cNvPr id="20" name="mechanism-edge-q6-segment-2"/>
          <p:cNvSpPr/>
          <p:nvPr/>
        </p:nvSpPr>
        <p:spPr>
          <a:xfrm>
            <a:off x="7544647" y="3975100"/>
            <a:ext cx="0" cy="838200"/>
          </a:xfrm>
          <a:prstGeom prst="line">
            <a:avLst/>
          </a:prstGeom>
          <a:noFill/>
          <a:ln w="12700">
            <a:solidFill>
              <a:srgbClr val="0D685C"/>
            </a:solidFill>
            <a:prstDash val="solid"/>
            <a:headEnd type="none"/>
            <a:tailEnd type="none"/>
          </a:ln>
        </p:spPr>
        <p:txBody>
          <a:bodyPr/>
          <a:lstStyle/>
          <a:p>
            <a:endParaRPr lang="ko-KR"/>
          </a:p>
        </p:txBody>
      </p:sp>
      <p:sp>
        <p:nvSpPr>
          <p:cNvPr id="21" name="mechanism-edge-q6-segment-3"/>
          <p:cNvSpPr/>
          <p:nvPr/>
        </p:nvSpPr>
        <p:spPr>
          <a:xfrm>
            <a:off x="7544647" y="4813300"/>
            <a:ext cx="321733" cy="0"/>
          </a:xfrm>
          <a:prstGeom prst="line">
            <a:avLst/>
          </a:prstGeom>
          <a:noFill/>
          <a:ln w="12700">
            <a:solidFill>
              <a:srgbClr val="0D685C"/>
            </a:solidFill>
            <a:prstDash val="solid"/>
            <a:headEnd type="none"/>
            <a:tailEnd type="triangle"/>
          </a:ln>
        </p:spPr>
        <p:txBody>
          <a:bodyPr/>
          <a:lstStyle/>
          <a:p>
            <a:endParaRPr lang="ko-KR"/>
          </a:p>
        </p:txBody>
      </p:sp>
      <p:sp>
        <p:nvSpPr>
          <p:cNvPr id="22" name="mechanism-edge-q7-segment-1"/>
          <p:cNvSpPr/>
          <p:nvPr/>
        </p:nvSpPr>
        <p:spPr>
          <a:xfrm>
            <a:off x="9425940" y="4813300"/>
            <a:ext cx="482600" cy="0"/>
          </a:xfrm>
          <a:prstGeom prst="line">
            <a:avLst/>
          </a:prstGeom>
          <a:noFill/>
          <a:ln w="12700">
            <a:solidFill>
              <a:srgbClr val="0D685C"/>
            </a:solidFill>
            <a:prstDash val="solid"/>
            <a:headEnd type="none"/>
            <a:tailEnd type="triangle"/>
          </a:ln>
        </p:spPr>
        <p:txBody>
          <a:bodyPr/>
          <a:lstStyle/>
          <a:p>
            <a:endParaRPr lang="ko-KR"/>
          </a:p>
        </p:txBody>
      </p:sp>
      <p:sp>
        <p:nvSpPr>
          <p:cNvPr id="23" name="mechanism-node-cache"/>
          <p:cNvSpPr txBox="1"/>
          <p:nvPr/>
        </p:nvSpPr>
        <p:spPr>
          <a:xfrm>
            <a:off x="1739900" y="250825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단말 캐시</a:t>
            </a:r>
            <a:endParaRPr lang="en-US" sz="1150" dirty="0"/>
          </a:p>
        </p:txBody>
      </p:sp>
      <p:sp>
        <p:nvSpPr>
          <p:cNvPr id="24" name="mechanism-node-cache-queue-1"/>
          <p:cNvSpPr/>
          <p:nvPr/>
        </p:nvSpPr>
        <p:spPr>
          <a:xfrm>
            <a:off x="1739900" y="27622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결정 대기</a:t>
            </a:r>
            <a:endParaRPr lang="en-US" sz="950" dirty="0"/>
          </a:p>
        </p:txBody>
      </p:sp>
      <p:sp>
        <p:nvSpPr>
          <p:cNvPr id="25" name="mechanism-node-localq"/>
          <p:cNvSpPr txBox="1"/>
          <p:nvPr/>
        </p:nvSpPr>
        <p:spPr>
          <a:xfrm>
            <a:off x="3782060" y="250825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단말 계산 큐</a:t>
            </a:r>
            <a:endParaRPr lang="en-US" sz="1150" dirty="0"/>
          </a:p>
        </p:txBody>
      </p:sp>
      <p:sp>
        <p:nvSpPr>
          <p:cNvPr id="26" name="mechanism-node-localq-queue-1"/>
          <p:cNvSpPr/>
          <p:nvPr/>
        </p:nvSpPr>
        <p:spPr>
          <a:xfrm>
            <a:off x="3782060" y="27622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실행 대기</a:t>
            </a:r>
            <a:endParaRPr lang="en-US" sz="950" dirty="0"/>
          </a:p>
        </p:txBody>
      </p:sp>
      <p:sp>
        <p:nvSpPr>
          <p:cNvPr id="27" name="mechanism-node-localdone"/>
          <p:cNvSpPr/>
          <p:nvPr/>
        </p:nvSpPr>
        <p:spPr>
          <a:xfrm>
            <a:off x="9908540" y="24003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단말 결과</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단말 CPU 실행</a:t>
            </a:r>
            <a:endParaRPr lang="en-US" sz="1150" dirty="0"/>
          </a:p>
        </p:txBody>
      </p:sp>
      <p:sp>
        <p:nvSpPr>
          <p:cNvPr id="28" name="mechanism-node-txq"/>
          <p:cNvSpPr txBox="1"/>
          <p:nvPr/>
        </p:nvSpPr>
        <p:spPr>
          <a:xfrm>
            <a:off x="3782060" y="354965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단말 전송 큐</a:t>
            </a:r>
            <a:endParaRPr lang="en-US" sz="1150" dirty="0"/>
          </a:p>
        </p:txBody>
      </p:sp>
      <p:sp>
        <p:nvSpPr>
          <p:cNvPr id="29" name="mechanism-node-txq-queue-1"/>
          <p:cNvSpPr/>
          <p:nvPr/>
        </p:nvSpPr>
        <p:spPr>
          <a:xfrm>
            <a:off x="3782060" y="38036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업로드 대기</a:t>
            </a:r>
            <a:endParaRPr lang="en-US" sz="950" dirty="0"/>
          </a:p>
        </p:txBody>
      </p:sp>
      <p:sp>
        <p:nvSpPr>
          <p:cNvPr id="30" name="mechanism-node-received"/>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엣지 도착</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선택된 경로로 분기</a:t>
            </a:r>
            <a:endParaRPr lang="en-US" sz="1150" dirty="0"/>
          </a:p>
        </p:txBody>
      </p:sp>
      <p:sp>
        <p:nvSpPr>
          <p:cNvPr id="31" name="mechanism-node-edgeq"/>
          <p:cNvSpPr txBox="1"/>
          <p:nvPr/>
        </p:nvSpPr>
        <p:spPr>
          <a:xfrm>
            <a:off x="7866380" y="354965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엣지 계산 큐</a:t>
            </a:r>
            <a:endParaRPr lang="en-US" sz="1150" dirty="0"/>
          </a:p>
        </p:txBody>
      </p:sp>
      <p:sp>
        <p:nvSpPr>
          <p:cNvPr id="32" name="mechanism-node-edgeq-queue-1"/>
          <p:cNvSpPr/>
          <p:nvPr/>
        </p:nvSpPr>
        <p:spPr>
          <a:xfrm>
            <a:off x="7866380" y="38036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CPU 실행 대기</a:t>
            </a:r>
            <a:endParaRPr lang="en-US" sz="950" dirty="0"/>
          </a:p>
        </p:txBody>
      </p:sp>
      <p:sp>
        <p:nvSpPr>
          <p:cNvPr id="33" name="mechanism-node-ret"/>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엣지 결과</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이후 사용자로 반환</a:t>
            </a:r>
            <a:endParaRPr lang="en-US" sz="1150" dirty="0"/>
          </a:p>
        </p:txBody>
      </p:sp>
      <p:sp>
        <p:nvSpPr>
          <p:cNvPr id="34" name="mechanism-node-wired"/>
          <p:cNvSpPr txBox="1"/>
          <p:nvPr/>
        </p:nvSpPr>
        <p:spPr>
          <a:xfrm>
            <a:off x="7866380" y="459105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유선 전송 큐</a:t>
            </a:r>
            <a:endParaRPr lang="en-US" sz="1150" dirty="0"/>
          </a:p>
        </p:txBody>
      </p:sp>
      <p:sp>
        <p:nvSpPr>
          <p:cNvPr id="35" name="mechanism-node-wired-queue-1"/>
          <p:cNvSpPr/>
          <p:nvPr/>
        </p:nvSpPr>
        <p:spPr>
          <a:xfrm>
            <a:off x="7866380" y="48450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다른 서버행</a:t>
            </a:r>
            <a:endParaRPr lang="en-US" sz="950" dirty="0"/>
          </a:p>
        </p:txBody>
      </p:sp>
      <p:sp>
        <p:nvSpPr>
          <p:cNvPr id="36" name="mechanism-node-remote"/>
          <p:cNvSpPr/>
          <p:nvPr/>
        </p:nvSpPr>
        <p:spPr>
          <a:xfrm>
            <a:off x="9908540" y="44831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목적 서버 실행</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이후 결과 반환</a:t>
            </a:r>
            <a:endParaRPr lang="en-US" sz="1150" dirty="0"/>
          </a:p>
        </p:txBody>
      </p:sp>
      <p:sp>
        <p:nvSpPr>
          <p:cNvPr id="37" name="Shape 3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38" name="Text 3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다른 서버로 보낼 작업은 엣지 계산 큐를 먼저 거치지 않는다</a:t>
            </a:r>
            <a:endParaRPr lang="en-US" sz="1750" dirty="0"/>
          </a:p>
        </p:txBody>
      </p:sp>
      <p:sp>
        <p:nvSpPr>
          <p:cNvPr id="39" name="Shape 3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40" name="Text 3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3–5, Fig. 2, §3.2</a:t>
            </a:r>
            <a:endParaRPr lang="en-US" sz="1050" dirty="0"/>
          </a:p>
        </p:txBody>
      </p:sp>
      <p:sp>
        <p:nvSpPr>
          <p:cNvPr id="41" name="Text 3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네 task type은 비용에서 강조하는 항이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policy가 모든 task에 같은 지연·에너지 trade-off를 적용하지 않는다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3370072"/>
                <a:gridCol w="1739392"/>
                <a:gridCol w="1848104"/>
                <a:gridCol w="18481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type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phi1 지연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phi2 에너지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drop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high-priority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짧은 지연과 완료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critical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폐기 억제 요구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low-priority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에너지 절감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routine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 비용을 종합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task type은 label에 그치지 않고 Eq. 11의 비용 가중치를 바꾼다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 7, §3.3 and Eq. 11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Action의 weight는 실제 자원 share로 정규화된다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agent가 직접 GHz나 MHz를 출력하지 않고 같은 server의 weight 합으로 나눈다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2174240"/>
                <a:gridCol w="3913632"/>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자원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action weight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실제 배분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함께 경쟁하는 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엣지 CPU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ff / Σff × f_edge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엣지의 실행 작업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무선 대역폭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bf / Σbf × 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기지국의 사용자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큐 우선순위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값이 앞선다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큐의 작업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큐 임계값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thmin, thmax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수용·확률 폐기·폐기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작업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개별 weight의 효과는 다른 사용자와 task가 낸 weight에 따라 달라진다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4–6, Eqs. 2–3 and queue rules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가중치 예시: 값 자체보다 경쟁자와의 비율이 중요하다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설명용 가정: CPU 총 처리량6, 대역폭20; 두 경쟁자의 가중치를 정규화한다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2174240"/>
                <a:gridCol w="3152648"/>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상황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가중치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정규화</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배분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A / 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 .3/.5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 / 3.6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B만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 .8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 .8/1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 / 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대역폭 U / 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 / .75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.25/1, .75/1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 15 MHz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A의 관점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자기 .2는 그대로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B가 커지면 A 비율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계산은 더 느려짐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A의 action이 그대로여도 B의 행동과 새 작업 도착이 A의 자원 몫을 바꾼다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5–6, Eqs. 2–3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큐 제어: 우선순위와 새 작업의 수용 여부는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가상 임계값 thmin=4, thmax=8로 원문의 세 구간을 읽는다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2500376"/>
                <a:gridCol w="2717800"/>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관측 또는 행동</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예</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낮은 혼잡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큐 길이3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작업 수용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진입 허용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중간 혼잡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큐 길이6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확률적으로 폐기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혼잡 완화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상한 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큐 길이8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작업 폐기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용량 보호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수용된 작업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qf=.8 vs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.8을 앞에 배치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 대기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큰 qf가 폐기 면제나 CPU 배분량을 직접 의미하지는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4–5, queue rules; p. 15, Table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실행 경로마다 지연·단말 에너지 항이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전송, 전파, 계산, core forwarding을 경로에 맞게 더한다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67461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 = λρ/f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입력량×계산 밀도/처리량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단말↔엣지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 = λ/C + d/Vspace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무선 전송과 전파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엣지↔엣지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 = λ/Cfiber + d/Vfiber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인접 엣지 사이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엣지↔클라우드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 = 전송 + 전파 + core 지연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코어망 전달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 에너지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κλρf_user² 또는 P_user×T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 계산 또는 업로드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offload는 local CPU를 아끼지만 통신 지연과 전송 에너지를 새로 만든다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6–7, Eqs. 5–10, §3.5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작업 비용: 지연·에너지·폐기를 합한다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Eq. 11의 각 항은 크기가 다른 측정값을 비교 가능한 형태로 묶는다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3696208"/>
                <a:gridCol w="3152648"/>
                <a:gridCol w="228295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phi1 × Ttotal/deadline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Ttotal &gt; deadline이면 지각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type에 따라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phi2 × Etotal/(mu1 λρ)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0–1로 정규화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mu1 값은 미제시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drop ∈ {0,1}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discard이면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type에 남음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total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Z(x) = delay + energy + drop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작을수록 유리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장기 합을 최소화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비용의 절대 크기보다 같은 normalization과 task type 아래의 비교가 중요하다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7, Eqs. 11–12, §3.6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공동 최적화가 선택하는 변수와 지켜야 할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긴 시간의 task cost 합을 줄이는 constrained problem을 세운다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892040"/>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대표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offloading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local·edge·cloud·drop 중 하나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task에 정확히 한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resource ff, bf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weight와 bandwidth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weight는 0부터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대기 순서 qf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우선순위 가중치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단말·엣지 용량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deadline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total delay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Ttotal은 deadline 이하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user와 edge 거리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base-station radius 이하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learned action의 목적은 Eq. 13 전체의 장기 비용을 낮추는 것이다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7–8, Eq. 13 and C1–C9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요구조건·감점·실제 충족은 같은 뜻이 아니다</a:t>
            </a:r>
            <a:endParaRPr lang="en-US" sz="3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500376"/>
                <a:gridCol w="3913632"/>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층위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읽어야 할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문제의 요구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기한·용량·범위 제약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Eq13의 최적화 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학습의 감점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PEN∈{0,1}을 보상에서 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유한한 비용 신호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Critical 요구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폐기하면 안 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유형의 설계 요구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실험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Critical drop = 5.50%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무폐기를 달성한 것은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제약 위반에 감점을 주었다는 사실만으로 모든 행동의 제약 준수를 증명할 수 없다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 7, 11, 17, Eq13/16 and Fig13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주기 동기화가 local observation을 보완한다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단말·엣지·클라우드의 주기 보고와 미수신 timeout 규칙을 묶어 본다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348480"/>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통신 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주기적으로 공유하는 정보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 → 엣지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단말의 현재 위치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이동 상태 갱신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엣지 ↔ 인접 엣지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상태·연결 정보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경로 정보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클라우드 ↔ 엣지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연결 상태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연결 확인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미수신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동기화 주기를 넘는 timeout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연결 끊김 판정·재전송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policy state의 network view는 실시간 전역 관측이 아니라 주기적으로 동기화된 정보다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8, Fig. 3, §4.1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이동 사용자 scheduling의 앞부분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task summary로 먼저 결정하고 실제 data는 결정 뒤에 보낸다</a:t>
            </a:r>
            <a:endParaRPr lang="en-US" sz="1900" dirty="0"/>
          </a:p>
        </p:txBody>
      </p:sp>
      <p:sp>
        <p:nvSpPr>
          <p:cNvPr id="4" name="Text 2"/>
          <p:cNvSpPr txBox="1"/>
          <p:nvPr/>
        </p:nvSpPr>
        <p:spPr>
          <a:xfrm>
            <a:off x="660400" y="2108200"/>
            <a:ext cx="571500" cy="952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952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1. summary 보고</a:t>
            </a:r>
            <a:endParaRPr lang="en-US" sz="1900" dirty="0"/>
          </a:p>
        </p:txBody>
      </p:sp>
      <p:sp>
        <p:nvSpPr>
          <p:cNvPr id="6" name="Text 4"/>
          <p:cNvSpPr txBox="1"/>
          <p:nvPr/>
        </p:nvSpPr>
        <p:spPr>
          <a:xfrm>
            <a:off x="4152900" y="2108200"/>
            <a:ext cx="7378700" cy="952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user가 가까운 decision node에 task 정보를 전송</a:t>
            </a:r>
            <a:endParaRPr lang="en-US" sz="1650" dirty="0"/>
          </a:p>
        </p:txBody>
      </p:sp>
      <p:sp>
        <p:nvSpPr>
          <p:cNvPr id="7" name="Shape 5"/>
          <p:cNvSpPr/>
          <p:nvPr/>
        </p:nvSpPr>
        <p:spPr>
          <a:xfrm>
            <a:off x="1397000" y="307340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3086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3263900"/>
            <a:ext cx="571500" cy="952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3263900"/>
            <a:ext cx="2603500" cy="952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2. decision 반환</a:t>
            </a:r>
            <a:endParaRPr lang="en-US" sz="1900" dirty="0"/>
          </a:p>
        </p:txBody>
      </p:sp>
      <p:sp>
        <p:nvSpPr>
          <p:cNvPr id="11" name="Text 9"/>
          <p:cNvSpPr txBox="1"/>
          <p:nvPr/>
        </p:nvSpPr>
        <p:spPr>
          <a:xfrm>
            <a:off x="4152900" y="3263900"/>
            <a:ext cx="7378700" cy="952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node가 network 상태를 보고 offload 결과 계산</a:t>
            </a:r>
            <a:endParaRPr lang="en-US" sz="1650" dirty="0"/>
          </a:p>
        </p:txBody>
      </p:sp>
      <p:sp>
        <p:nvSpPr>
          <p:cNvPr id="12" name="Shape 10"/>
          <p:cNvSpPr/>
          <p:nvPr/>
        </p:nvSpPr>
        <p:spPr>
          <a:xfrm>
            <a:off x="1397000" y="422910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4241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4419600"/>
            <a:ext cx="571500" cy="952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4419600"/>
            <a:ext cx="2603500" cy="952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3. 실행 시작</a:t>
            </a:r>
            <a:endParaRPr lang="en-US" sz="1900" dirty="0"/>
          </a:p>
        </p:txBody>
      </p:sp>
      <p:sp>
        <p:nvSpPr>
          <p:cNvPr id="16" name="Text 14"/>
          <p:cNvSpPr txBox="1"/>
          <p:nvPr/>
        </p:nvSpPr>
        <p:spPr>
          <a:xfrm>
            <a:off x="4152900" y="4419600"/>
            <a:ext cx="7378700" cy="952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user가 local 계산 또는 task data 전송</a:t>
            </a:r>
            <a:endParaRPr lang="en-US" sz="1650" dirty="0"/>
          </a:p>
        </p:txBody>
      </p:sp>
      <p:sp>
        <p:nvSpPr>
          <p:cNvPr id="17" name="Shape 1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9" name="Text 1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초기 signaling과 실제 task-data 전송은 서로 다른 단계다</a:t>
            </a:r>
            <a:endParaRPr lang="en-US" sz="1750" dirty="0"/>
          </a:p>
        </p:txBody>
      </p:sp>
      <p:sp>
        <p:nvSpPr>
          <p:cNvPr id="20" name="Shape 1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1" name="Text 1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8–9, Fig. 4, §4.2, steps 1–3</a:t>
            </a:r>
            <a:endParaRPr lang="en-US" sz="1050" dirty="0"/>
          </a:p>
        </p:txBody>
      </p:sp>
      <p:sp>
        <p:nvSpPr>
          <p:cNvPr id="22" name="Text 2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이동 사용자 scheduling의 반환 경로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실행 중 user가 cell을 바꾸면 결과는 현재 위치에 가까운 node로 돌아온다</a:t>
            </a:r>
            <a:endParaRPr lang="en-US" sz="1900" dirty="0"/>
          </a:p>
        </p:txBody>
      </p:sp>
      <p:sp>
        <p:nvSpPr>
          <p:cNvPr id="4" name="Text 2"/>
          <p:cNvSpPr txBox="1"/>
          <p:nvPr/>
        </p:nvSpPr>
        <p:spPr>
          <a:xfrm>
            <a:off x="660400" y="2108200"/>
            <a:ext cx="571500" cy="952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952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4. target 전달</a:t>
            </a:r>
            <a:endParaRPr lang="en-US" sz="1900" dirty="0"/>
          </a:p>
        </p:txBody>
      </p:sp>
      <p:sp>
        <p:nvSpPr>
          <p:cNvPr id="6" name="Text 4"/>
          <p:cNvSpPr txBox="1"/>
          <p:nvPr/>
        </p:nvSpPr>
        <p:spPr>
          <a:xfrm>
            <a:off x="4152900" y="2108200"/>
            <a:ext cx="7378700" cy="952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decision node가 선택된 실행 node로 task 전송</a:t>
            </a:r>
            <a:endParaRPr lang="en-US" sz="1650" dirty="0"/>
          </a:p>
        </p:txBody>
      </p:sp>
      <p:sp>
        <p:nvSpPr>
          <p:cNvPr id="7" name="Shape 5"/>
          <p:cNvSpPr/>
          <p:nvPr/>
        </p:nvSpPr>
        <p:spPr>
          <a:xfrm>
            <a:off x="1397000" y="307340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3086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3263900"/>
            <a:ext cx="571500" cy="952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3263900"/>
            <a:ext cx="2603500" cy="952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5. return 선택</a:t>
            </a:r>
            <a:endParaRPr lang="en-US" sz="1900" dirty="0"/>
          </a:p>
        </p:txBody>
      </p:sp>
      <p:sp>
        <p:nvSpPr>
          <p:cNvPr id="11" name="Text 9"/>
          <p:cNvSpPr txBox="1"/>
          <p:nvPr/>
        </p:nvSpPr>
        <p:spPr>
          <a:xfrm>
            <a:off x="4152900" y="3263900"/>
            <a:ext cx="7378700" cy="952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실행 node가 현재 user에 가까운 node를 찾음</a:t>
            </a:r>
            <a:endParaRPr lang="en-US" sz="1650" dirty="0"/>
          </a:p>
        </p:txBody>
      </p:sp>
      <p:sp>
        <p:nvSpPr>
          <p:cNvPr id="12" name="Shape 10"/>
          <p:cNvSpPr/>
          <p:nvPr/>
        </p:nvSpPr>
        <p:spPr>
          <a:xfrm>
            <a:off x="1397000" y="422910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4241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4419600"/>
            <a:ext cx="571500" cy="952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4419600"/>
            <a:ext cx="2603500" cy="952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6. 결과 전달</a:t>
            </a:r>
            <a:endParaRPr lang="en-US" sz="1900" dirty="0"/>
          </a:p>
        </p:txBody>
      </p:sp>
      <p:sp>
        <p:nvSpPr>
          <p:cNvPr id="16" name="Text 14"/>
          <p:cNvSpPr txBox="1"/>
          <p:nvPr/>
        </p:nvSpPr>
        <p:spPr>
          <a:xfrm>
            <a:off x="4152900" y="4419600"/>
            <a:ext cx="7378700" cy="952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shortest path 뒤 return node가 user에게 전송</a:t>
            </a:r>
            <a:endParaRPr lang="en-US" sz="1650" dirty="0"/>
          </a:p>
        </p:txBody>
      </p:sp>
      <p:sp>
        <p:nvSpPr>
          <p:cNvPr id="17" name="Shape 1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9" name="Text 1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결정을 내린 node, 실행 node, 결과를 돌려주는 node가 서로 다를 수 있다</a:t>
            </a:r>
            <a:endParaRPr lang="en-US" sz="1750" dirty="0"/>
          </a:p>
        </p:txBody>
      </p:sp>
      <p:sp>
        <p:nvSpPr>
          <p:cNvPr id="20" name="Shape 1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1" name="Text 1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9, Fig. 4, §4.2, steps 4–6</a:t>
            </a:r>
            <a:endParaRPr lang="en-US" sz="1050" dirty="0"/>
          </a:p>
        </p:txBody>
      </p:sp>
      <p:sp>
        <p:nvSpPr>
          <p:cNvPr id="22" name="Text 2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Subnet마다 commentator node 하나가 agent가 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ordinary node의 관측과 실행을 subnet 대표 edge가 모아 결정한다</a:t>
            </a:r>
            <a:endParaRPr lang="en-US" sz="1900" dirty="0"/>
          </a:p>
        </p:txBody>
      </p:sp>
      <p:sp>
        <p:nvSpPr>
          <p:cNvPr id="4" name="mechanism-lane-flow"/>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정책·작업 처리</a:t>
            </a:r>
            <a:endParaRPr lang="en-US" sz="1250" dirty="0"/>
          </a:p>
        </p:txBody>
      </p:sp>
      <p:sp>
        <p:nvSpPr>
          <p:cNvPr id="5" name="mechanism-lane-value"/>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대표 노드 학습</a:t>
            </a:r>
            <a:endParaRPr lang="en-US" sz="1250" dirty="0"/>
          </a:p>
        </p:txBody>
      </p:sp>
      <p:sp>
        <p:nvSpPr>
          <p:cNvPr id="6" name="mechanism-edge-m1-segment-1"/>
          <p:cNvSpPr/>
          <p:nvPr/>
        </p:nvSpPr>
        <p:spPr>
          <a:xfrm>
            <a:off x="3299460" y="2895600"/>
            <a:ext cx="321733" cy="0"/>
          </a:xfrm>
          <a:prstGeom prst="line">
            <a:avLst/>
          </a:prstGeom>
          <a:noFill/>
          <a:ln w="12700">
            <a:solidFill>
              <a:srgbClr val="0D685C"/>
            </a:solidFill>
            <a:prstDash val="solid"/>
            <a:headEnd type="none"/>
            <a:tailEnd type="none"/>
          </a:ln>
        </p:spPr>
        <p:txBody>
          <a:bodyPr/>
          <a:lstStyle/>
          <a:p>
            <a:endParaRPr lang="ko-KR"/>
          </a:p>
        </p:txBody>
      </p:sp>
      <p:sp>
        <p:nvSpPr>
          <p:cNvPr id="7" name="mechanism-edge-m1-segment-2"/>
          <p:cNvSpPr/>
          <p:nvPr/>
        </p:nvSpPr>
        <p:spPr>
          <a:xfrm>
            <a:off x="3621193" y="2895600"/>
            <a:ext cx="0" cy="95250"/>
          </a:xfrm>
          <a:prstGeom prst="line">
            <a:avLst/>
          </a:prstGeom>
          <a:noFill/>
          <a:ln w="12700">
            <a:solidFill>
              <a:srgbClr val="0D685C"/>
            </a:solidFill>
            <a:prstDash val="solid"/>
            <a:headEnd type="none"/>
            <a:tailEnd type="none"/>
          </a:ln>
        </p:spPr>
        <p:txBody>
          <a:bodyPr/>
          <a:lstStyle/>
          <a:p>
            <a:endParaRPr lang="ko-KR"/>
          </a:p>
        </p:txBody>
      </p:sp>
      <p:sp>
        <p:nvSpPr>
          <p:cNvPr id="8" name="mechanism-edge-m1-segment-3"/>
          <p:cNvSpPr/>
          <p:nvPr/>
        </p:nvSpPr>
        <p:spPr>
          <a:xfrm>
            <a:off x="3621193" y="2990850"/>
            <a:ext cx="160867"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m2-segment-1"/>
          <p:cNvSpPr/>
          <p:nvPr/>
        </p:nvSpPr>
        <p:spPr>
          <a:xfrm>
            <a:off x="3299460" y="3086100"/>
            <a:ext cx="160867" cy="0"/>
          </a:xfrm>
          <a:prstGeom prst="line">
            <a:avLst/>
          </a:prstGeom>
          <a:noFill/>
          <a:ln w="12700">
            <a:solidFill>
              <a:srgbClr val="0D685C"/>
            </a:solidFill>
            <a:prstDash val="solid"/>
            <a:headEnd type="none"/>
            <a:tailEnd type="none"/>
          </a:ln>
        </p:spPr>
        <p:txBody>
          <a:bodyPr/>
          <a:lstStyle/>
          <a:p>
            <a:endParaRPr lang="ko-KR"/>
          </a:p>
        </p:txBody>
      </p:sp>
      <p:sp>
        <p:nvSpPr>
          <p:cNvPr id="10" name="mechanism-edge-m2-segment-2"/>
          <p:cNvSpPr/>
          <p:nvPr/>
        </p:nvSpPr>
        <p:spPr>
          <a:xfrm>
            <a:off x="3460327" y="3086100"/>
            <a:ext cx="0" cy="1466850"/>
          </a:xfrm>
          <a:prstGeom prst="line">
            <a:avLst/>
          </a:prstGeom>
          <a:noFill/>
          <a:ln w="12700">
            <a:solidFill>
              <a:srgbClr val="0D685C"/>
            </a:solidFill>
            <a:prstDash val="solid"/>
            <a:headEnd type="none"/>
            <a:tailEnd type="none"/>
          </a:ln>
        </p:spPr>
        <p:txBody>
          <a:bodyPr/>
          <a:lstStyle/>
          <a:p>
            <a:endParaRPr lang="ko-KR"/>
          </a:p>
        </p:txBody>
      </p:sp>
      <p:sp>
        <p:nvSpPr>
          <p:cNvPr id="11" name="mechanism-edge-m2-segment-3"/>
          <p:cNvSpPr/>
          <p:nvPr/>
        </p:nvSpPr>
        <p:spPr>
          <a:xfrm>
            <a:off x="3460327" y="4552950"/>
            <a:ext cx="321733" cy="0"/>
          </a:xfrm>
          <a:prstGeom prst="line">
            <a:avLst/>
          </a:prstGeom>
          <a:noFill/>
          <a:ln w="12700">
            <a:solidFill>
              <a:srgbClr val="0D685C"/>
            </a:solidFill>
            <a:prstDash val="solid"/>
            <a:headEnd type="none"/>
            <a:tailEnd type="triangle"/>
          </a:ln>
        </p:spPr>
        <p:txBody>
          <a:bodyPr/>
          <a:lstStyle/>
          <a:p>
            <a:endParaRPr lang="ko-KR"/>
          </a:p>
        </p:txBody>
      </p:sp>
      <p:sp>
        <p:nvSpPr>
          <p:cNvPr id="12" name="mechanism-edge-m3-segment-1"/>
          <p:cNvSpPr/>
          <p:nvPr/>
        </p:nvSpPr>
        <p:spPr>
          <a:xfrm>
            <a:off x="534162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13" name="mechanism-edge-m4-segment-1"/>
          <p:cNvSpPr/>
          <p:nvPr/>
        </p:nvSpPr>
        <p:spPr>
          <a:xfrm>
            <a:off x="738378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14" name="mechanism-edge-m5-segment-1"/>
          <p:cNvSpPr/>
          <p:nvPr/>
        </p:nvSpPr>
        <p:spPr>
          <a:xfrm>
            <a:off x="5341620" y="4552950"/>
            <a:ext cx="321733" cy="0"/>
          </a:xfrm>
          <a:prstGeom prst="line">
            <a:avLst/>
          </a:prstGeom>
          <a:noFill/>
          <a:ln w="12700">
            <a:solidFill>
              <a:srgbClr val="0D685C"/>
            </a:solidFill>
            <a:prstDash val="solid"/>
            <a:headEnd type="none"/>
            <a:tailEnd type="none"/>
          </a:ln>
        </p:spPr>
        <p:txBody>
          <a:bodyPr/>
          <a:lstStyle/>
          <a:p>
            <a:endParaRPr lang="ko-KR"/>
          </a:p>
        </p:txBody>
      </p:sp>
      <p:sp>
        <p:nvSpPr>
          <p:cNvPr id="15" name="mechanism-edge-m5-segment-2"/>
          <p:cNvSpPr/>
          <p:nvPr/>
        </p:nvSpPr>
        <p:spPr>
          <a:xfrm>
            <a:off x="5663353" y="4552950"/>
            <a:ext cx="0" cy="203200"/>
          </a:xfrm>
          <a:prstGeom prst="line">
            <a:avLst/>
          </a:prstGeom>
          <a:noFill/>
          <a:ln w="12700">
            <a:solidFill>
              <a:srgbClr val="0D685C"/>
            </a:solidFill>
            <a:prstDash val="solid"/>
            <a:headEnd type="none"/>
            <a:tailEnd type="none"/>
          </a:ln>
        </p:spPr>
        <p:txBody>
          <a:bodyPr/>
          <a:lstStyle/>
          <a:p>
            <a:endParaRPr lang="ko-KR"/>
          </a:p>
        </p:txBody>
      </p:sp>
      <p:sp>
        <p:nvSpPr>
          <p:cNvPr id="16" name="mechanism-edge-m5-segment-3"/>
          <p:cNvSpPr/>
          <p:nvPr/>
        </p:nvSpPr>
        <p:spPr>
          <a:xfrm>
            <a:off x="5663353" y="4756150"/>
            <a:ext cx="4245187" cy="0"/>
          </a:xfrm>
          <a:prstGeom prst="line">
            <a:avLst/>
          </a:prstGeom>
          <a:noFill/>
          <a:ln w="12700">
            <a:solidFill>
              <a:srgbClr val="0D685C"/>
            </a:solidFill>
            <a:prstDash val="solid"/>
            <a:headEnd type="none"/>
            <a:tailEnd type="triangle"/>
          </a:ln>
        </p:spPr>
        <p:txBody>
          <a:bodyPr/>
          <a:lstStyle/>
          <a:p>
            <a:endParaRPr lang="ko-KR"/>
          </a:p>
        </p:txBody>
      </p:sp>
      <p:sp>
        <p:nvSpPr>
          <p:cNvPr id="17" name="mechanism-edge-m6-segment-1"/>
          <p:cNvSpPr/>
          <p:nvPr/>
        </p:nvSpPr>
        <p:spPr>
          <a:xfrm>
            <a:off x="9425940" y="2990850"/>
            <a:ext cx="241300" cy="0"/>
          </a:xfrm>
          <a:prstGeom prst="line">
            <a:avLst/>
          </a:prstGeom>
          <a:noFill/>
          <a:ln w="12700">
            <a:solidFill>
              <a:srgbClr val="0D685C"/>
            </a:solidFill>
            <a:prstDash val="solid"/>
            <a:headEnd type="none"/>
            <a:tailEnd type="none"/>
          </a:ln>
        </p:spPr>
        <p:txBody>
          <a:bodyPr/>
          <a:lstStyle/>
          <a:p>
            <a:endParaRPr lang="ko-KR"/>
          </a:p>
        </p:txBody>
      </p:sp>
      <p:sp>
        <p:nvSpPr>
          <p:cNvPr id="18" name="mechanism-edge-m6-segment-2"/>
          <p:cNvSpPr/>
          <p:nvPr/>
        </p:nvSpPr>
        <p:spPr>
          <a:xfrm>
            <a:off x="9667240" y="2990850"/>
            <a:ext cx="0" cy="1358900"/>
          </a:xfrm>
          <a:prstGeom prst="line">
            <a:avLst/>
          </a:prstGeom>
          <a:noFill/>
          <a:ln w="12700">
            <a:solidFill>
              <a:srgbClr val="0D685C"/>
            </a:solidFill>
            <a:prstDash val="solid"/>
            <a:headEnd type="none"/>
            <a:tailEnd type="none"/>
          </a:ln>
        </p:spPr>
        <p:txBody>
          <a:bodyPr/>
          <a:lstStyle/>
          <a:p>
            <a:endParaRPr lang="ko-KR"/>
          </a:p>
        </p:txBody>
      </p:sp>
      <p:sp>
        <p:nvSpPr>
          <p:cNvPr id="19" name="mechanism-edge-m6-segment-3"/>
          <p:cNvSpPr/>
          <p:nvPr/>
        </p:nvSpPr>
        <p:spPr>
          <a:xfrm>
            <a:off x="9667240" y="4349750"/>
            <a:ext cx="241300" cy="0"/>
          </a:xfrm>
          <a:prstGeom prst="line">
            <a:avLst/>
          </a:prstGeom>
          <a:noFill/>
          <a:ln w="12700">
            <a:solidFill>
              <a:srgbClr val="0D685C"/>
            </a:solidFill>
            <a:prstDash val="solid"/>
            <a:headEnd type="none"/>
            <a:tailEnd type="triangle"/>
          </a:ln>
        </p:spPr>
        <p:txBody>
          <a:bodyPr/>
          <a:lstStyle/>
          <a:p>
            <a:endParaRPr lang="ko-KR"/>
          </a:p>
        </p:txBody>
      </p:sp>
      <p:sp>
        <p:nvSpPr>
          <p:cNvPr id="20" name="mechanism-node-obs"/>
          <p:cNvSpPr txBox="1"/>
          <p:nvPr/>
        </p:nvSpPr>
        <p:spPr>
          <a:xfrm>
            <a:off x="1739900" y="276860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일반 노드 관측</a:t>
            </a:r>
            <a:endParaRPr lang="en-US" sz="1150" dirty="0"/>
          </a:p>
        </p:txBody>
      </p:sp>
      <p:sp>
        <p:nvSpPr>
          <p:cNvPr id="21" name="mechanism-node-obs-queue-1"/>
          <p:cNvSpPr/>
          <p:nvPr/>
        </p:nvSpPr>
        <p:spPr>
          <a:xfrm>
            <a:off x="1739900" y="30226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큐·연결·위치</a:t>
            </a:r>
            <a:endParaRPr lang="en-US" sz="950" dirty="0"/>
          </a:p>
        </p:txBody>
      </p:sp>
      <p:sp>
        <p:nvSpPr>
          <p:cNvPr id="22" name="mechanism-node-policies"/>
          <p:cNvSpPr/>
          <p:nvPr/>
        </p:nvSpPr>
        <p:spPr>
          <a:xfrm>
            <a:off x="378206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노드별 정책들</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실행할 action 선택</a:t>
            </a:r>
            <a:endParaRPr lang="en-US" sz="1150" dirty="0"/>
          </a:p>
        </p:txBody>
      </p:sp>
      <p:sp>
        <p:nvSpPr>
          <p:cNvPr id="23" name="mechanism-node-critic"/>
          <p:cNvSpPr/>
          <p:nvPr/>
        </p:nvSpPr>
        <p:spPr>
          <a:xfrm>
            <a:off x="378206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가치망</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가치 추정</a:t>
            </a:r>
            <a:endParaRPr lang="en-US" sz="1150" dirty="0"/>
          </a:p>
        </p:txBody>
      </p:sp>
      <p:sp>
        <p:nvSpPr>
          <p:cNvPr id="24" name="mechanism-node-actions"/>
          <p:cNvSpPr txBox="1"/>
          <p:nvPr/>
        </p:nvSpPr>
        <p:spPr>
          <a:xfrm>
            <a:off x="5824220" y="276860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전달된 action</a:t>
            </a:r>
            <a:endParaRPr lang="en-US" sz="1150" dirty="0"/>
          </a:p>
        </p:txBody>
      </p:sp>
      <p:sp>
        <p:nvSpPr>
          <p:cNvPr id="25" name="mechanism-node-actions-queue-1"/>
          <p:cNvSpPr/>
          <p:nvPr/>
        </p:nvSpPr>
        <p:spPr>
          <a:xfrm>
            <a:off x="5824220" y="30226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위치·자원·큐</a:t>
            </a:r>
            <a:endParaRPr lang="en-US" sz="950" dirty="0"/>
          </a:p>
        </p:txBody>
      </p:sp>
      <p:sp>
        <p:nvSpPr>
          <p:cNvPr id="26" name="mechanism-node-finish"/>
          <p:cNvSpPr/>
          <p:nvPr/>
        </p:nvSpPr>
        <p:spPr>
          <a:xfrm>
            <a:off x="786638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작업 처리 종료</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보상·완료 관측</a:t>
            </a:r>
            <a:endParaRPr lang="en-US" sz="1150" dirty="0"/>
          </a:p>
        </p:txBody>
      </p:sp>
      <p:sp>
        <p:nvSpPr>
          <p:cNvPr id="27" name="mechanism-node-update"/>
          <p:cNvSpPr/>
          <p:nvPr/>
        </p:nvSpPr>
        <p:spPr>
          <a:xfrm>
            <a:off x="990854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학습 갱신</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파라미터 갱신</a:t>
            </a:r>
            <a:endParaRPr lang="en-US" sz="1150" dirty="0"/>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전체 network가 한 agent인 구조도, 모든 edge가 독립 agent인 구조도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9, Fig. 5, §4.3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분산 실행과 지역 중앙집중의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지역별 대표 노드의 결정 구조이며 전역 중앙 학습기나 파라미터 평균을 가정하지 않는다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34848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원문이 말하는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원문이 말하지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agent 단위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subnet의 commentator node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엣지마다 독립 agent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ordinary node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관측 제출 후 action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자기 policy로 결정하지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critic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commentator 내부 value network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전역 critic은 미제시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병렬성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Algorithm 1의 agent loop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파라미터 평균은 미제시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cloud 역할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 후보와 connectivity 확인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정책 학습기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TOMAC-PPO의 분산성은 subnet 간 결정 분리에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9, §4.3; p. 13, Algorithm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고정 global slot 대신 task마다 다른 step을 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처리 시간이 다른 task를 같은 clock tick에 맞추지 않는다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131056"/>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고정 시간 slot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TOMDP task step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system이 같은 경계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task 생성 시점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정해진 slot 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task 완료 시점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길이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처리 시간에 따라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동시성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global tick으로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task step이 겹침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slot 단위로 설계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완료 뒤 feedback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TOMDP의 핵심은 task lifecycle과 transition의 경계를 맞추는 것이다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10, Fig. 6, §4.4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Task step은 서로 겹치고 완료 순서도 바뀔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설명용 사건 순서: A 생성 → B 생성 → B 완료 → A 완료; 축은 실제 시간 단위가 아니다</a:t>
            </a:r>
            <a:endParaRPr lang="en-US" sz="1900" dirty="0"/>
          </a:p>
        </p:txBody>
      </p:sp>
      <p:sp>
        <p:nvSpPr>
          <p:cNvPr id="4" name="mechanism-lane-a"/>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Task A</a:t>
            </a:r>
            <a:endParaRPr lang="en-US" sz="1250" dirty="0"/>
          </a:p>
        </p:txBody>
      </p:sp>
      <p:sp>
        <p:nvSpPr>
          <p:cNvPr id="5" name="mechanism-lane-b"/>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Task B</a:t>
            </a:r>
            <a:endParaRPr lang="en-US" sz="1250" dirty="0"/>
          </a:p>
        </p:txBody>
      </p:sp>
      <p:sp>
        <p:nvSpPr>
          <p:cNvPr id="6" name="mechanism-edge-p1-segment-1"/>
          <p:cNvSpPr/>
          <p:nvPr/>
        </p:nvSpPr>
        <p:spPr>
          <a:xfrm>
            <a:off x="329946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p2-segment-1"/>
          <p:cNvSpPr/>
          <p:nvPr/>
        </p:nvSpPr>
        <p:spPr>
          <a:xfrm>
            <a:off x="5341620" y="2990850"/>
            <a:ext cx="456692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p3-segment-1"/>
          <p:cNvSpPr/>
          <p:nvPr/>
        </p:nvSpPr>
        <p:spPr>
          <a:xfrm>
            <a:off x="534162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p4-segment-1"/>
          <p:cNvSpPr/>
          <p:nvPr/>
        </p:nvSpPr>
        <p:spPr>
          <a:xfrm>
            <a:off x="738378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0" name="mechanism-node-agen"/>
          <p:cNvSpPr/>
          <p:nvPr/>
        </p:nvSpPr>
        <p:spPr>
          <a:xfrm>
            <a:off x="173990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 생성</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step A 시작</a:t>
            </a:r>
            <a:endParaRPr lang="en-US" sz="1150" dirty="0"/>
          </a:p>
        </p:txBody>
      </p:sp>
      <p:sp>
        <p:nvSpPr>
          <p:cNvPr id="11" name="mechanism-node-aact"/>
          <p:cNvSpPr/>
          <p:nvPr/>
        </p:nvSpPr>
        <p:spPr>
          <a:xfrm>
            <a:off x="378206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 action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긴 처리</a:t>
            </a:r>
            <a:endParaRPr lang="en-US" sz="1150" dirty="0"/>
          </a:p>
        </p:txBody>
      </p:sp>
      <p:sp>
        <p:nvSpPr>
          <p:cNvPr id="12" name="mechanism-node-adone"/>
          <p:cNvSpPr/>
          <p:nvPr/>
        </p:nvSpPr>
        <p:spPr>
          <a:xfrm>
            <a:off x="990854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 완료</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reward A</a:t>
            </a:r>
            <a:endParaRPr lang="en-US" sz="1150" dirty="0"/>
          </a:p>
        </p:txBody>
      </p:sp>
      <p:sp>
        <p:nvSpPr>
          <p:cNvPr id="13" name="mechanism-node-bgen"/>
          <p:cNvSpPr/>
          <p:nvPr/>
        </p:nvSpPr>
        <p:spPr>
          <a:xfrm>
            <a:off x="378206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 생성</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step B 시작</a:t>
            </a:r>
            <a:endParaRPr lang="en-US" sz="1150" dirty="0"/>
          </a:p>
        </p:txBody>
      </p:sp>
      <p:sp>
        <p:nvSpPr>
          <p:cNvPr id="14" name="mechanism-node-bact"/>
          <p:cNvSpPr/>
          <p:nvPr/>
        </p:nvSpPr>
        <p:spPr>
          <a:xfrm>
            <a:off x="582422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 action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짧은 처리</a:t>
            </a:r>
            <a:endParaRPr lang="en-US" sz="1150" dirty="0"/>
          </a:p>
        </p:txBody>
      </p:sp>
      <p:sp>
        <p:nvSpPr>
          <p:cNvPr id="15" name="mechanism-node-bdone"/>
          <p:cNvSpPr/>
          <p:nvPr/>
        </p:nvSpPr>
        <p:spPr>
          <a:xfrm>
            <a:off x="786638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 완료</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reward B</a:t>
            </a:r>
            <a:endParaRPr lang="en-US" sz="1150" dirty="0"/>
          </a:p>
        </p:txBody>
      </p:sp>
      <p:sp>
        <p:nvSpPr>
          <p:cNvPr id="16" name="Shape 14"/>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7" name="Text 15"/>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각 작업의 생성·관측·완료 시점을 서로 구분한다</a:t>
            </a:r>
            <a:endParaRPr lang="en-US" sz="1750" dirty="0"/>
          </a:p>
        </p:txBody>
      </p:sp>
      <p:sp>
        <p:nvSpPr>
          <p:cNvPr id="18" name="Shape 1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9" name="Text 1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10, Fig. 6, §4.4</a:t>
            </a:r>
            <a:endParaRPr lang="en-US" sz="1050" dirty="0"/>
          </a:p>
        </p:txBody>
      </p:sp>
      <p:sp>
        <p:nvSpPr>
          <p:cNvPr id="20" name="Text 1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TOMDP state는 task와 연결 가능한 network를 함께 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Eq. 14는 tensor shape보다 정보 범주를 읽는 것이 안전하다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674616"/>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state 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정규화 λ, deadline, task type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처리량과 중요도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coordinate records H_i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edge가 저장한 위치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queue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단말의 세 큐 합 / R_ud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단말의 혼잡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queue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엣지 두 큐 합 / R_en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edge의 혼잡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network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Link_j, thmin, thmax, j/n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연결과 queue control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한 agent의 state는 local observation과 동기화로 얻은 연결 node 정보의 결합이다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10, Eq. 14, §4.4 Status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TOMDP action은 위치와 네 종류의 control을 묶는다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Eq. 15의 한 action이 실행 경로와 자원 경쟁을 동시에 바꾼다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80492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action 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system에 미치는 영향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local·edge·cloud·drop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 경로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allocation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compute delay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 priority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대기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bandwidth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uplink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thmin, thmax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 thresholds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accept와 drop 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행동은 실행 위치뿐 아니라 CPU·대역폭·큐 제어를 함께 포함한다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10–11, Eq. 15, §4.4 Action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Reward는 현재 task cost를 user 평균과 비교한다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Zavg는 사용자 평균 작업 비용이다. Z/Zavg가 작을수록 보상이 커지고 PEN=1이면 1을 뺀다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282952"/>
                <a:gridCol w="3913632"/>
                <a:gridCol w="46746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상수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+ 1/2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reward의 기준점을 1.5로 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상대 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Z / Zavg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task가 평균보다 비싼지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constraint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PEN(x) ∈ {0,1}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initial decision 위반을 감점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 = 1.5 − Z/Zavg − PEN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완료 뒤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reward는 절대 latency가 아니라 task type이 반영된 정규화 cost를 사용한다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11, Eq. 16, §4.4 Rewards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구성 예시: 한 task의 cost와 reward 계산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가상 예: 대기·전파·결과 반환 지연은0으로 두고 단말 에너지 정규화 항은0.10으로 정한다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696208"/>
                <a:gridCol w="3043936"/>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Mbit × 0.3 Gcyc/Mbit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 Gcyc / 1.2 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uplink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rate=10 Mbit/s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0.20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routine 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deadline=1 s, energy term=0.10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0.70/1 + 0.10 + 0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Z=0.80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average cost=1.00, PEN=0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1.5 − 0.80/1.00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R=0.70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task도 배정 CPU와 uplink rate가 바뀌면 cost와 reward가 함께 바뀐다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6–7, Eqs. 5, 11; p. 11, Eq. 16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task가 하나의 learning transition이 되는 순서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action과 reward 사이의 실제 처리 시간을 task step 안에 포함한다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관측 시점</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요약·네트워크 상태 관측</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정책 결정</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실행 위치·가중치 선택</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동시 처리</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다른 작업과 자원 공유</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처리 종료</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해당 작업의 결과 확정</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학습 자료</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보상·완료 상태 연결</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reward delay를 없애는 것이 아니라 어느 task action에 연결할지 명시한다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10–11, Fig. 6 and Eqs. 14–16</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같은 state가 policy와 value의 두 network로 들어간다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policy는 action probability를, value network는 state value 하나를 출력한다</a:t>
            </a:r>
            <a:endParaRPr lang="en-US" sz="1900" dirty="0"/>
          </a:p>
        </p:txBody>
      </p:sp>
      <p:sp>
        <p:nvSpPr>
          <p:cNvPr id="4" name="mechanism-lane-actor"/>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policy</a:t>
            </a:r>
            <a:endParaRPr lang="en-US" sz="1250" dirty="0"/>
          </a:p>
        </p:txBody>
      </p:sp>
      <p:sp>
        <p:nvSpPr>
          <p:cNvPr id="5" name="mechanism-lane-critic"/>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value</a:t>
            </a:r>
            <a:endParaRPr lang="en-US" sz="1250" dirty="0"/>
          </a:p>
        </p:txBody>
      </p:sp>
      <p:sp>
        <p:nvSpPr>
          <p:cNvPr id="6" name="mechanism-edge-n1-segment-1"/>
          <p:cNvSpPr/>
          <p:nvPr/>
        </p:nvSpPr>
        <p:spPr>
          <a:xfrm>
            <a:off x="4660900" y="2705100"/>
            <a:ext cx="321733" cy="0"/>
          </a:xfrm>
          <a:prstGeom prst="line">
            <a:avLst/>
          </a:prstGeom>
          <a:noFill/>
          <a:ln w="12700">
            <a:solidFill>
              <a:srgbClr val="0D685C"/>
            </a:solidFill>
            <a:prstDash val="solid"/>
            <a:headEnd type="none"/>
            <a:tailEnd type="none"/>
          </a:ln>
        </p:spPr>
        <p:txBody>
          <a:bodyPr/>
          <a:lstStyle/>
          <a:p>
            <a:endParaRPr lang="ko-KR"/>
          </a:p>
        </p:txBody>
      </p:sp>
      <p:sp>
        <p:nvSpPr>
          <p:cNvPr id="7" name="mechanism-edge-n1-segment-2"/>
          <p:cNvSpPr/>
          <p:nvPr/>
        </p:nvSpPr>
        <p:spPr>
          <a:xfrm>
            <a:off x="4982633" y="2705100"/>
            <a:ext cx="0" cy="285750"/>
          </a:xfrm>
          <a:prstGeom prst="line">
            <a:avLst/>
          </a:prstGeom>
          <a:noFill/>
          <a:ln w="12700">
            <a:solidFill>
              <a:srgbClr val="0D685C"/>
            </a:solidFill>
            <a:prstDash val="solid"/>
            <a:headEnd type="none"/>
            <a:tailEnd type="none"/>
          </a:ln>
        </p:spPr>
        <p:txBody>
          <a:bodyPr/>
          <a:lstStyle/>
          <a:p>
            <a:endParaRPr lang="ko-KR"/>
          </a:p>
        </p:txBody>
      </p:sp>
      <p:sp>
        <p:nvSpPr>
          <p:cNvPr id="8" name="mechanism-edge-n1-segment-3"/>
          <p:cNvSpPr/>
          <p:nvPr/>
        </p:nvSpPr>
        <p:spPr>
          <a:xfrm>
            <a:off x="4982633" y="2990850"/>
            <a:ext cx="160867"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n2-segment-1"/>
          <p:cNvSpPr/>
          <p:nvPr/>
        </p:nvSpPr>
        <p:spPr>
          <a:xfrm>
            <a:off x="4660900" y="3276600"/>
            <a:ext cx="160867" cy="0"/>
          </a:xfrm>
          <a:prstGeom prst="line">
            <a:avLst/>
          </a:prstGeom>
          <a:noFill/>
          <a:ln w="12700">
            <a:solidFill>
              <a:srgbClr val="0D685C"/>
            </a:solidFill>
            <a:prstDash val="solid"/>
            <a:headEnd type="none"/>
            <a:tailEnd type="none"/>
          </a:ln>
        </p:spPr>
        <p:txBody>
          <a:bodyPr/>
          <a:lstStyle/>
          <a:p>
            <a:endParaRPr lang="ko-KR"/>
          </a:p>
        </p:txBody>
      </p:sp>
      <p:sp>
        <p:nvSpPr>
          <p:cNvPr id="10" name="mechanism-edge-n2-segment-2"/>
          <p:cNvSpPr/>
          <p:nvPr/>
        </p:nvSpPr>
        <p:spPr>
          <a:xfrm>
            <a:off x="4821767" y="3276600"/>
            <a:ext cx="0" cy="1276350"/>
          </a:xfrm>
          <a:prstGeom prst="line">
            <a:avLst/>
          </a:prstGeom>
          <a:noFill/>
          <a:ln w="12700">
            <a:solidFill>
              <a:srgbClr val="0D685C"/>
            </a:solidFill>
            <a:prstDash val="solid"/>
            <a:headEnd type="none"/>
            <a:tailEnd type="none"/>
          </a:ln>
        </p:spPr>
        <p:txBody>
          <a:bodyPr/>
          <a:lstStyle/>
          <a:p>
            <a:endParaRPr lang="ko-KR"/>
          </a:p>
        </p:txBody>
      </p:sp>
      <p:sp>
        <p:nvSpPr>
          <p:cNvPr id="11" name="mechanism-edge-n2-segment-3"/>
          <p:cNvSpPr/>
          <p:nvPr/>
        </p:nvSpPr>
        <p:spPr>
          <a:xfrm>
            <a:off x="4821767" y="4552950"/>
            <a:ext cx="321733" cy="0"/>
          </a:xfrm>
          <a:prstGeom prst="line">
            <a:avLst/>
          </a:prstGeom>
          <a:noFill/>
          <a:ln w="12700">
            <a:solidFill>
              <a:srgbClr val="0D685C"/>
            </a:solidFill>
            <a:prstDash val="solid"/>
            <a:headEnd type="none"/>
            <a:tailEnd type="triangle"/>
          </a:ln>
        </p:spPr>
        <p:txBody>
          <a:bodyPr/>
          <a:lstStyle/>
          <a:p>
            <a:endParaRPr lang="ko-KR"/>
          </a:p>
        </p:txBody>
      </p:sp>
      <p:sp>
        <p:nvSpPr>
          <p:cNvPr id="12" name="mechanism-edge-n3-segment-1"/>
          <p:cNvSpPr/>
          <p:nvPr/>
        </p:nvSpPr>
        <p:spPr>
          <a:xfrm>
            <a:off x="80645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13" name="mechanism-edge-n4-segment-1"/>
          <p:cNvSpPr/>
          <p:nvPr/>
        </p:nvSpPr>
        <p:spPr>
          <a:xfrm>
            <a:off x="80645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4" name="mechanism-node-statein"/>
          <p:cNvSpPr txBox="1"/>
          <p:nvPr/>
        </p:nvSpPr>
        <p:spPr>
          <a:xfrm>
            <a:off x="1739900" y="2578100"/>
            <a:ext cx="29210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State s(x)</a:t>
            </a:r>
            <a:endParaRPr lang="en-US" sz="1150" dirty="0"/>
          </a:p>
        </p:txBody>
      </p:sp>
      <p:sp>
        <p:nvSpPr>
          <p:cNvPr id="15" name="mechanism-node-statein-queue-1"/>
          <p:cNvSpPr/>
          <p:nvPr/>
        </p:nvSpPr>
        <p:spPr>
          <a:xfrm>
            <a:off x="1739900" y="283210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task</a:t>
            </a:r>
            <a:endParaRPr lang="en-US" sz="950" dirty="0"/>
          </a:p>
        </p:txBody>
      </p:sp>
      <p:sp>
        <p:nvSpPr>
          <p:cNvPr id="16" name="mechanism-node-statein-queue-2"/>
          <p:cNvSpPr/>
          <p:nvPr/>
        </p:nvSpPr>
        <p:spPr>
          <a:xfrm>
            <a:off x="1739900" y="302260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queues</a:t>
            </a:r>
            <a:endParaRPr lang="en-US" sz="950" dirty="0"/>
          </a:p>
        </p:txBody>
      </p:sp>
      <p:sp>
        <p:nvSpPr>
          <p:cNvPr id="17" name="mechanism-node-statein-queue-3"/>
          <p:cNvSpPr/>
          <p:nvPr/>
        </p:nvSpPr>
        <p:spPr>
          <a:xfrm>
            <a:off x="1739900" y="321310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links</a:t>
            </a:r>
            <a:endParaRPr lang="en-US" sz="950" dirty="0"/>
          </a:p>
        </p:txBody>
      </p:sp>
      <p:sp>
        <p:nvSpPr>
          <p:cNvPr id="18" name="mechanism-node-actortr"/>
          <p:cNvSpPr/>
          <p:nvPr/>
        </p:nvSpPr>
        <p:spPr>
          <a:xfrm>
            <a:off x="5143500" y="266065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Transformer + 3 FC</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policy feature 계산</a:t>
            </a:r>
            <a:endParaRPr lang="en-US" sz="1150" dirty="0"/>
          </a:p>
        </p:txBody>
      </p:sp>
      <p:sp>
        <p:nvSpPr>
          <p:cNvPr id="19" name="mechanism-node-critictr"/>
          <p:cNvSpPr/>
          <p:nvPr/>
        </p:nvSpPr>
        <p:spPr>
          <a:xfrm>
            <a:off x="5143500" y="422275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Transformer + 3 FC</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value feature 계산</a:t>
            </a:r>
            <a:endParaRPr lang="en-US" sz="1150" dirty="0"/>
          </a:p>
        </p:txBody>
      </p:sp>
      <p:sp>
        <p:nvSpPr>
          <p:cNvPr id="20" name="mechanism-node-prob"/>
          <p:cNvSpPr txBox="1"/>
          <p:nvPr/>
        </p:nvSpPr>
        <p:spPr>
          <a:xfrm>
            <a:off x="8547100" y="2768600"/>
            <a:ext cx="29210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Softmax output</a:t>
            </a:r>
            <a:endParaRPr lang="en-US" sz="1150" dirty="0"/>
          </a:p>
        </p:txBody>
      </p:sp>
      <p:sp>
        <p:nvSpPr>
          <p:cNvPr id="21" name="mechanism-node-prob-queue-1"/>
          <p:cNvSpPr/>
          <p:nvPr/>
        </p:nvSpPr>
        <p:spPr>
          <a:xfrm>
            <a:off x="8547100" y="302260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행동 확률</a:t>
            </a:r>
            <a:endParaRPr lang="en-US" sz="950" dirty="0"/>
          </a:p>
        </p:txBody>
      </p:sp>
      <p:sp>
        <p:nvSpPr>
          <p:cNvPr id="22" name="mechanism-node-value"/>
          <p:cNvSpPr/>
          <p:nvPr/>
        </p:nvSpPr>
        <p:spPr>
          <a:xfrm>
            <a:off x="8547100" y="422275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Scalar value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v(s;ω)</a:t>
            </a:r>
            <a:endParaRPr lang="en-US" sz="1150" dirty="0"/>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policy와 value는 출력 목적이 다르며 target value network는 value 구조를 복제한다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11–12, Figs. 7–8, §4.5</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Transformer: 구조의 위치와 미제시 세부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논문이 명시한 구조와 구현에 필요한 미제시 항목을 분리한다</a:t>
            </a:r>
            <a:endParaRPr lang="en-US" sz="1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4131056"/>
                <a:gridCol w="46746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명시됨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미제시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 memory와 prediction을 지원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prediction target과 평가 지표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 뒤, FC layers 앞</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encoder·decoder 세부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attention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Transformer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head·layer·hidden 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sequence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 s가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history 길이와 token 구성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효과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TOMAC-PPO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Transformer 제거 ablation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Transformer의 독립 효과나 장기 예측 정확도는 이 실험으로 확인할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11–12, §4.5, Figs. 7–8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PPO는 확률을 강제 고정하지 않고 학습 목적식을 자른다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엔트로피를 잠시 제외하면 J = min(ratio×Adv, clip(ratio,0.8,1.2)×Adv)</a:t>
            </a:r>
            <a:endParaRPr lang="en-US" sz="1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5000752"/>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ratio_t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π_new(a_t|s_t) / π_old(a_t|s_t)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probability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zeta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clip 반경, Table 1은 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목적식 안의 clip 구간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Adv_t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Qπ(s_t,a_t) − Vπ(s_t)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action이 기대보다 좋은 정도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clip term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clip(ratio, 1−zeta, 1+zeta) × Adv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surrogate 증가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entropy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cH(s_t;θ), c=0.01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exploration을 장려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실제 ratio가 구간 밖으로 갈 수 있다; clip은 확률 변화의 강제 상한이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12–13, Eqs. 17–18 and Fig. 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구성 예시: return, advantage, clipped surrogate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entropy를 제외한 산술 예시이며 논문의 training log가 아니다</a:t>
            </a:r>
            <a:endParaRPr lang="en-US" sz="1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696208"/>
                <a:gridCol w="2174240"/>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discount return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 + .95×.2 + .95²×1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u=1.4925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 reward를 합침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advantage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 − v = 1.4925 − 1.10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Adv'=0.3925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positive 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policy ratio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0.56 / 0.40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ratio=1.40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probability 40%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clip(1.40, 0.8, 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목적식의 clip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surrogate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min(1.40,1.20)×0.3925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0.4710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raw 0.5495보다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positive advantage라도 ratio가 clip 범위를 넘으면 objective가 더 커지지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12–13, Eqs. 17–19 and Fig. 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음의 advantage에서는 반대쪽 구간이 평평해진다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구성 예: Adv=−1, clip 구간[0.8,1.2], 엔트로피 제외; 큰 J가 유리하다</a:t>
            </a:r>
            <a:endParaRPr lang="en-US" sz="1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3043936"/>
                <a:gridCol w="2935224"/>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ratio</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raw = ratio×Adv</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clipped×Adv</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J = 두 값의 min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나쁜 행동의 확률을 더 낮춰도 ratio&lt;0.8이면 이 항에서 추가 이득이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12–13, Eq17 and Fig9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Algorithm 1의 training loop</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subnet agent가 trajectory를 모으고 policy와 value를 갱신한다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초기화</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정책·가치·target 가치망</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Episode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학습 회차 반복</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Agent별 수집</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정책으로 T-step 수집</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정책 갱신</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Adv 계산 후 목적식 상승</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가치망 갱신</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가치·target 가중치 갱신</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Algorithm 1에는 global parameter server나 agent 간 gradient averaging이 없다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13, Algorithm 1 and Eqs. 19–23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원문 수식의 재현 경계: 부호·엔트로피·target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 표기의 모호함과 빠진 계산 비용을 그대로 경계로 남긴다</a:t>
            </a:r>
            <a:endParaRPr lang="en-US" sz="1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239768"/>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교육적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value loss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 = −Σ(u−v)²</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최소화하면 오차가 커질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entropy 위치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min의 두 번째 항에 +cH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 밖 +cH와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갱신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ωhat ← σω+(1−σ)ωhat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출력 사용처는 미제시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복잡도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 emax)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trajectory·망 연산 비용 생략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병렬성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agent들을 병렬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 시간이 n배라는 뜻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Eq. 21의 부호는 임의로 고치지 말고 구현 전 원저자 확인이 필요하다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11–14, Eqs. 17, 19–23, Algorithm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구현을 재현하려면 추가로 필요한 연결 규칙</a:t>
            </a:r>
            <a:endParaRPr lang="en-US" sz="3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500376"/>
                <a:gridCol w="4131056"/>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명시된 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빠진 연결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출력→행동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Softmax / 이산 D·연속 가중치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인코딩·샘플링·제약 수정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동시 작업→trajectory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겹친 step / T-step return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순서·다음 상태 연결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보상 분모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생성 작업의 사용자 평균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미완료·초기·0평균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입력 생성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Table1: N(5100) Mbit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분포의 정확한 매개변수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논문에 없는 연결 규칙을 임의로 채우면 원문 재현이 아니라 별도 구현이 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 10–13, 15; Eq15–19, Table1</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비교 baseline은 학습 구조와 실행 위치가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Figure legend의 A3C는 본문에서 정의한 TO-A3C baseline을 가리킨다</a:t>
            </a:r>
            <a:endParaRPr lang="en-US" sz="1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152648"/>
                <a:gridCol w="2935224"/>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결정 구조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특징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TOMAC-A2C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task-oriented multi-agent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A2C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가까운 학습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TO-A3C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독립 single-agent 환경 병렬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multi-agent system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parallel RL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CCP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cloud 우선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가능하면 상위 계층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 heuristic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information report 생략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 실행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TOMAC-A2C가 가장 가까운 학습 baseline이고 CCP와 LC는 위치 heuristic이다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14, §5, baseline definitions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 결과가 성립한 simulation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현장 network가 아니라 저자가 구성한 Python environment의 결과다</a:t>
            </a:r>
            <a:endParaRPr lang="en-US" sz="19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5109464"/>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네트워크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엣지10개·반경100m·20MHz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시뮬레이션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엣지2.4GHz·14코어 / cloud10GHz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실물 성능 측정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비율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high=.2, critical=.2, low=.2, routine=.4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생성 확률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1000회·γ=.95·학습률3×10⁻⁴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반복 seed 수 미제시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갱신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clip=.2·entropy=.01·target=.01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세부 구조 미제시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수치 비교는 같은 simulator와 task mix 안에서만 직접 해석할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14–15, Table 1, §§5.1–5.2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10: PPO는 더 높은 reward에 이르지만 더 흔들린다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50 users와 failure probability 0.1%에서 TOMAC-A2C와 비교한다</a:t>
            </a:r>
            <a:endParaRPr lang="en-US" sz="1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717800"/>
                <a:gridCol w="3370072"/>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TOMAC-A2C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TOMAC-PPO</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moving average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episode와 함께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episode와 함께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training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final 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낮은 plateau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23.9% 높다고 보고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본문의 조건부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fluctuation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상대적으로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entropy exploration 가설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evidence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plotted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plotted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seed와 error bar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더 높은 plotted reward와 더 안정적인 학습은 같은 주장이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14–15, Fig. 10, §5.2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11: user 수가 늘어도 TOMAC-PPO cost가 가장 낮다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failure probability를 0.1%로 고정하고 users 5명부터 50명까지 바꾼다</a:t>
            </a:r>
            <a:endParaRPr lang="en-US" sz="1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717800"/>
                <a:gridCol w="3478784"/>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50 users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network 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5–50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TOMAC-PPO가 최저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topology 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comparison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다섯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baseline보다 19.4%–66.6%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원문 보고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nearest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TOMAC-A2C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gap은 상대적으로 작음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PPO 외 구성 공유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evidence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average task 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 curve values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분산과 CI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19.4%–66.6%는 50-user simulator에서 baseline별로 달라지는 감소 범위다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15–16, Fig. 11, §5.3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장애 확률이 극단적이면 학습 방식의 이점이 줄어든다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50 users에서 edge·line failure probability를 10%부터 100%까지 바꾼다</a:t>
            </a:r>
            <a:endParaRPr lang="en-US" sz="19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935224"/>
                <a:gridCol w="3152648"/>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failure 구간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TOMAC 계열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다른 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낮은 average 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CCP·A3C·LC는 더 높은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path 사용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70% 부근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cost가 급격히 상승</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curve 간 gap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available edge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LC 2.24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layer disconnected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CCP &lt;50%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일시적으로 cost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엣지 실행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evidence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plotted averages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plotted averages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반복·CI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모든 edge가 끊기면 offloading policy가 선택할 수 있는 유효 경로도 사라진다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16, Fig. 12, §5.3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13: task type마다 비교 metric이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50 users와 failure probability 0.1%에서 다섯 방법의 값을 읽는다</a:t>
            </a:r>
            <a:endParaRPr lang="en-US" sz="19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2174240"/>
                <a:gridCol w="2174240"/>
                <a:gridCol w="2174240"/>
                <a:gridCol w="18481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routine cost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high delay(s)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low energy(J)</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critical drop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2.23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26.97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3.54e−6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36.08%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CCP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31.98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62.64%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A3C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24.33%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TOMAC-A2C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13.47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TOMAC-PPO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10.86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TOMAC-PPO는 세 metric에서 최저지만 low-priority energy는 LC가 가장 낮다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17, Fig. 13, §§5.3–5.4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결과를 일반화하기 전에 남는 한계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논문이 밝힌 한계와 실험 보고에서 확인되지 않은 항목을 함께 구분한다</a:t>
            </a:r>
            <a:endParaRPr lang="en-US" sz="19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239768"/>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확인된 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결론에 미치는 영향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Python 기반 단순 MEC 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현장 latency와 failure를 보장하지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scale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agent 수 증가와 정보 lag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 network scalability 미확인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reproducibility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dataset identity·seed·code 미제시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variance와 재현성 평가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architecture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Transformer 세부와 ablation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성능 원인을 분리할 수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 21 부호 모호, formal theorem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구현과 optimality 보장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TOMAC-PPO는 promising simulation design이지 검증 완료된 production controller가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18–19, §§5.4–6, data availability</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TOMAC-PPO를 한 흐름으로 다시 읽기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network coordination과 task lifecycle을 먼저 정의한 뒤 PPO가 joint action을 학습한다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상태 공유</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위치·연결을 주기 보고</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지역 대표</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subnet별로 대신 결정</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작업 단위</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생성·관측·완료 구분</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공동 행동</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위치·자원·큐 제어</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학습</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종료 보상으로 갱신</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논문의 핵심은 PPO 하나보다 task, network, time의 경계를 함께 설계한 데 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abstract; pp. 8–18, §§4–6</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42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TOMAC-PPO: 작업 단위로 학습하는 MEC 오프로딩</dc:title>
  <dc:subject>A Task Offloading and Resource Allocation Strategy Based on Multi-Agent Reinforcement Learning in Mobile Edge Computing</dc:subject>
  <dc:creator>Research Seminars</dc:creator>
  <cp:lastModifiedBy>Research Seminars</cp:lastModifiedBy>
  <cp:revision>1</cp:revision>
  <dcterms:created xsi:type="dcterms:W3CDTF">2026-09-12T09:02:28Z</dcterms:created>
  <dcterms:modified xsi:type="dcterms:W3CDTF">2026-09-12T09:02:28Z</dcterms:modified>
</cp:coreProperties>
</file>
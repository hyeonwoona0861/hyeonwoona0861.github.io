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35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41.xml" ContentType="application/vnd.openxmlformats-officedocument.presentationml.slide+xml"/>
  <Override PartName="/ppt/slides/slide34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6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1680C51-476F-4AD0-B469-F078AF5D324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TOMAC-PPO: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단위로 학습하는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Jiang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네 저자의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Internet 2024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중심 질문은 이동하는 사용자가 만든 작업을 어디에서 처리하고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대역폭과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우선순위를 어떻게 함께 정할 것인가입니다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 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작업이 생성된 순간부터 완료될 때까지를 하나의 강화학습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원문 풀이는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Task-Oriented Multi-Agent Collaborative–Proximal Policy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Edge Computing,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 단말 가까이의 서버에서 계산하는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title, abstract,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712125-1EE8-4D91-B014-81E92686D4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위치와 학습 단위를 먼저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실행 위치를 나타내는 시스템 개념이고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결정을 표현하는 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대표 노드입니다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행동을 선택하고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상태 가치를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TOMAC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Task-Oriented Multi-Agent Collaborative, 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Proximal Policy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Task-Oriented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이름만으로 모든 엣지가 독립적인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2, 9–13, 19, §4 and abbreviations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94C90C-5CB4-47F9-BC01-9F3324F61A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오프로딩과 자원 배분은 하나의 결정 문제다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뿐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weight, bandwidth weight, queue priority, queue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선택해도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실행은 전송 지연이 없지만 단말 계산 에너지가 발생합니다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통합합니다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폐기는 명시적 결정과 혼잡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실패 등으로 일어날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작업 요구조건의 완전한 준수로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Introduction; pp. 7–8, Eq. 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8627E7-2126-4A76-9360-D46C1ECDB9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기여와 검증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model, protocol, scheduling rules, TOMDP, 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시스템으로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실험은 저자가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수행했고 현장 배포나 이론 보장은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이후 수치를 읽을 때는 알고리즘의 가능성을 보여 주는 조건부 결과로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contributions; p. 18, limitations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C8AD62-72DB-4477-BD4D-A429B91E54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이웃 엣지를 거쳐 클라우드로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user, edge,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계층을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base station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routing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가능한 다중 홉 전달 경로 하나를 단순화한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작업이 반드시 인접 엣지를 거쳐 클라우드에 가는 것은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가까운 엣지에서 실행하거나 그 엣지에서 코어망으로 직접 전달하는 경로도 가능합니다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3–4, Fig. 1,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0AF54E-C569-46CB-A2CB-ACCA8B7A28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작업은 단말 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엣지 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전달 경로로 갈라진다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p4 Fig2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본문은 단말 캐시에서 단말 계산 큐 또는 단말 전송 큐로 분기한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엣지에서 계산 큐 또는 유선 전송 큐로 다시 분기합니다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유선 전달 이전에 엣지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계산을 요구하지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행은 경로 구분이며 장치 소유권은 각 노드의 이름으로 표시했습니다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반환에는 엣지의 무선 전송 큐가 쓰이고 사용자의 이동에 따른 반환 노드 선택은 뒤 슬라이드에서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혼잡에 따른 폐기 경로는 다음 대기열 제어 설명에서 별도로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3–5, Fig. 2, §3.2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2EB50E-5586-4FFA-BC28-F8C61FE669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비용에서 강조하는 항이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security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요구에 따라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High-priority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제외하고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critical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제외해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비용으로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Low-priority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제외하고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routine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지연과 에너지 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포함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 indicator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남는다는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폐기되면 안 된다는 요구를 적지만 실제 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 critical 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5.50%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행은 요구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설계이지 무폐기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5, 7, §3.3 and Eq.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EABD1B-85C8-4210-AA3C-E8CB3BF243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 자원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정규화된다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합으로 나누어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라도 경쟁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달라지면 할당량이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Queue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클수록 높은 순서를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사이에서는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확률적으로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확률식의 상세는 논문이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Σff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엣지에서 계산 중인 작업들의 가중치 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Σbf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기지국 사용자의 가중치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때의 규칙은 원문에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코어와 이 비례 모델을 곧바로 실제 멀티코어 스케줄러로 동일시하지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4–6, Eqs. 2–3 and queue rules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FA0B9BA-E045-4AAF-B7B2-E39CEF8188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가중치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 자체보다 경쟁자와의 비율이 중요하다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Eq2–3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이용한 가상 산술입니다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총 처리량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일관된 처리량 단위로 둔 추상적인 예이며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2.4GHz·14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코어를 측정한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 분모는 자원 경쟁자들의 가중치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가중치가 음이 아닌데 모두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경우의 정의는 원문에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 우선순위는 별개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Eqs.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9B83E7C-A5DE-4840-861E-F752C73385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 제어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우선순위와 새 작업의 수용 여부는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평균 큐 길이가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thmin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미만일 때 수용하고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임계값 사이에서 확률적으로 폐기하며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 길이가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도달하면 폐기한다고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 dropped task probability pdrop=1/50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제시하지만 중간 구간의 정확한 확률 함수와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thmin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경계의 등호 처리는 상세하지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구성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 삽입은 진입 판단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몫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대역폭 배분과 다른 역할입니다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4–5, queue rules; p. 15,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ACDAFA-8B32-40F1-B8F2-3F3FB493F7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경로마다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 에너지 항이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계산량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λρ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통신 구간별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제곱에 비례하고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 network forwarding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추가됩니다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Eqs. 5–10, §3.5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F28A72-B6B1-46CD-8E12-B7BD18A960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비용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폐기를 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정규화합니다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완료하면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discard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사이가 되게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라고만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다른 연구의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수치와 직접 비교할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Eqs. 11–12, §3.6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5FED74-BE9E-4FDB-B956-5A24DFFCC5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공동 최적화가 선택하는 변수와 지켜야 할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Optimization variables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 D, CPU weight ff, queue priority qf, bandwidth weight bf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Constraints 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one-hot offloading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capacity, C8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deadline, C9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base-station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점검하는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constraint module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두지만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항상 만족한다는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최적화 변수 목록에는 임계값이 따로 없지만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thmin/thmax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이론적 제약과 실제 정책의 제약 준수는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7–8, Eq. 13 and C1–C9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CB3C06-FA21-4B01-9622-79CE86ED56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요구조건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충족은 같은 뜻이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구분은 원문 결과를 정확히 읽기 위한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decision constraint module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초기 결정에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부여한다고만 기술되며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모든 제약을 강제하는지는 미제시입니다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reward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동일시하지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Critical drop5.50%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50users, pen=pfiber=.1%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알고리즘이 실험에서 개선했다는 것과 폐기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요구를 만족했다는 것은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5, 7, 11, 17, Eq13/16 and Fig13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1812566-F34D-4ADB-8793-1427F5B6F0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주기 동기화가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위치를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보고하고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인접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교환합니다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synchronization 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발생하면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disconnected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판정하는 규칙을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하지 않는다고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완전한 실시간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지연될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synchronized 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각 행은 통신 대상 또는 공통 미수신 규칙을 구분한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위에서 아래로 실행해야 하는 직렬 단계가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Fig. 3,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7F4C5D-EF10-472D-93D4-6C82C6D54A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앞부분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첫 세 단계입니다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summary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가장 가까운 연결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먼저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Decision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시작하거나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8–9, Fig. 4, §4.2, steps 1–3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7CEE87-F7F0-4797-A908-59AC517AF5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반환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 중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이동할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계속 반환 지점이 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계산이 끝난 뒤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shortest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결과를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Return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hop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맡습니다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shortest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알고리즘이나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handover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자세히 평가하지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Fig. 4, §4.2, steps 4–6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42580E-DE4C-4011-91FB-ED6FA2FE22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commentator node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바뀔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hop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나누고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commentator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유일한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Ordinary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관측을 보내고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Commentator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그림은 이 지역 중앙집중과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함께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가치망도 대표 노드 내부에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표시된 위치 차이는 기능 분리이며 일반 노드나 환경에 가치망을 배치한다는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행은 처리 흐름과 가치 평가의 기능 구분입니다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정책망들과 가치망은 모두 대표 노드에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노드의 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실행과 환경 처리 결과가 위쪽 흐름에 함께 표시됩니다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Fig. 5,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82066A-BB45-45F0-B5DE-F45FFEC99C2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실행과 지역 중앙집중의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 training and decentralized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용어를 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Commentator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병렬로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수집하고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Subnet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Cloud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 trainer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기술되지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§4.3; p. 13,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A84625-E6CF-4396-AF89-6E30A7C542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생성될 때 시작하고 처리 완료 때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실행 시간이 다르므로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길이도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동시에 처리되어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겹칠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구조가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delayed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다룬다고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delayed-credit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이론적으로 해결했다고 증명하지는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10, Fig. 6, §4.4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ECB6B2-2105-4A3D-978D-34AFF51E74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Task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겹치고 완료 순서도 바뀔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구조를 단순화한 교육용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다른 시점에 생성되고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처리 시간이 짧아 먼저 완료됩니다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자기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상대적 길이는 원리 설명용이며 논문 실험의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가로 위치는 사건의 상대 순서만 나타내며 등간격 시간 측정값이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생성과 정책의 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사이에도 지연이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겹친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T-step 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정렬하는 세부 규칙은 논문에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10, Fig. 6, §4.4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15603F-C511-4CF5-A144-EA01CCB042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TOMDP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연결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deadline, task type, user coordinate record,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occupancy, connectivity vector, queue thresholds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문장은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j/n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strategy learning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연결하지만 설명이 모호하고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encoding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표는 원문에 명시된 정보 범주만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큐들은 합으로 압축됩니다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합이라도 계산 큐와 전송 큐의 구성은 다를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s(x)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관측 시점과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sc(x)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완료 시점도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10, Eq. 14, §4.4 Status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866E5A-EB51-48AD-BF9A-8A8A6DE6DB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TOMDP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위치와 네 종류의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묶는다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 vector D, CPU weight ff, queue priority qf, bandwidth weight bf,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바로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합으로 정규화됩니다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1..n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엣지로 정의하면서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시스템의 클라우드 선택을 의도한 표기로 읽을 수 있지만 이는 문맥 추론이며 정확한 인덱스 사양으로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이산 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나머지는 가중치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임계값입니다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이를 어떻게 부호화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샘플링하는지는 상세히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10–11, Eq. 15, §4.4 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793290-E92D-43C5-BEC3-283F08DD41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평균과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task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generated-task average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값을 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슬라이드에서는 현재 작업 비용을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사용자 평균을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Zavg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줄여 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constraint module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부여하는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running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초기화와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 module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수정 규칙을 자세히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11, Eq. 16, §4.4 Rewards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7886D7-566D-4A66-B1A6-184FEB86A3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교육용으로 새로 만든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Mbit, density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 Gcycles/Mbit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계산량은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 Gcycles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1.2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rate 10 Mbit/s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무시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Total delay 0.70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normalized energy term 0.10, no 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routine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Z=0.80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 average cost 1.00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R=0.70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부분 예시는 큐 대기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반환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동기화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전파 지연을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두고 나머지 에너지 항도 이미 정규화된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논문 실험값이나 모든 오프로딩 경로의 전체 지연식이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Eqs. 5, 11; p. 11, Eq. 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0498E2-2117-43D2-BF4D-8D3C4A92E0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되는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task-oriented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작업 생성 시점에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summary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도착하면 상태를 관측하고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 완료 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완료 상태를 관측합니다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생성 이후 관측에서 시작하는 결정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흐름입니다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동시에 처리됩니다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폐기된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종료 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overlapping transitions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아직 미완료인 작업을 포함한 평균비용의 온라인 계산을 상세히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자동 해결된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credit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10–11, Fig. 6 and Eqs. 14–16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B4A440-55AB-4675-8EE8-ECA5E7747D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FC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통과시키는 구조를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마지막에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value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구조를 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천천히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완전연결층입니다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출력과 이산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제어 벡터의 연결은 미제시이며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target 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갱신은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return/advantage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그 출력이 어디 쓰이는지 명시되지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11–12, Figs. 7–8, §4.5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A82288-CC4E-4FF2-9760-A4067ADA1E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Transformer: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구조의 위치와 미제시 세부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observation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완화한다고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positional encoding, sequence length, state history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hidden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공개하지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위치는 설명할 수 있지만 성능 향상의 원인을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분리할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11–12, §4.5, Figs. 7–8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AB7856C-1EA3-48DF-B02F-9C2367A7CF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확률을 강제 고정하지 않고 학습 목적식을 자른다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old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Zeta 0.2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사이로 자른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surrogate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더 작은 쪽을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모양이 달라지는 모습을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Entropy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장려합니다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파라미터를 이 구간으로 투영하지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너무 커져도 이 목적식 항에 추가 보상이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너무 작아져도 추가 보상이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표본과 공유 파라미터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엔트로피 때문에 실제 확률은 계속 변할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번째 인자 안에만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인쇄합니다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일반적으로 읽는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min(...) + 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동일하지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슬라이드와 계산 예는 엔트로피를 제외한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설명하며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confidence-domain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 서술을 증명된 사실로 옮기지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12–13, Eqs. 17–18 and Fig.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92436A-94A1-4213-86D0-E2C54DE306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return, advantage, clipped surrogate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산술을 설명하기 위해 새로 만든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0.4, 0.2, 1.0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1.4925, value estimate 1.10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0.3925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Old probability 0.40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probability 0.56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바뀌면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Zeta 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clipped ratio 1.20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0.4710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Entropy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예시에서만 생략했습니다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12–13, Eqs. 17–19 and Fig.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B63BDC-B731-4D1F-93FB-BE82B09718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반대쪽 구간이 평평해진다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예와 달리 음수를 곱한 뒤 작은 값을 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min(ratio,clip)×Adv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먼저 묶으면 음의 부호 때문에 틀립니다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ratio.6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min(−.6,−.8)=−.8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ratio1.4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min(−1.4,−1.2)=−1.4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나쁜 행동의 확률을 늘리는 것을 계속 불리하게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확률을 강제로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이상에 고정한다는 의미가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12–13, Eq17 and Fig9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20A136F-27A8-4B8B-A339-5CF3A08FB0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policy, value, target 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무작위 초기화합니다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병렬로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policy 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수집하고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20,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sharing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 critic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엣지 노드 수이나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j=1..n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subnet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정의와 수 기호 대응은 명확하지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가치망을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v(s;ω)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명시하고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출력을 소비하는 항은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표기 그대로 작동 가능한 구현이라고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13, Algorithm 1 and Eqs. 19–23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40C5C87-2054-4F2E-B71B-2368ADE042E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수식의 재현 경계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엔트로피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·target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L=−Σ(u−v)², Eq22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u=1, scalar v=0,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단순 예에서는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dL/dv=2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가며 제곱오차가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상태가치 맞추기 목적과 일치하지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실험 코드의 오류를 증명하는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번째 항 내부에 인쇄되어 통상적인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구별됩니다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Eq23 target soft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명확하지만 그 출력을 쓰는 연산은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복잡도 주장은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세며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·Transformer·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동기화 비용을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wall-clock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11–14, Eqs. 17, 19–23,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051F4D-FF4B-4A02-95BC-35121EE1F3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구현을 재현하려면 추가로 필요한 연결 규칙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다양한 요소는 설명할 수 있지만 실행 가능한 사양은 덜 완성되어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적은 문장과 클라우드 후보의 문맥도 구별해야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overlapping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완료를 어떻게 배치하는지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아직 처리 중인 작업의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어떻게 평균에 포함하는지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 평균이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어떤 처리를 하는지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저자가 실제 코드를 잘못 구현했다는 증거가 아니라 공개 설명으로 재현 가능한 범위의 한계입니다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5, 10–13, 15; Eq15–19, Table1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1C3228-94B8-4B67-AA25-4564138E5D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학습 구조와 실행 위치가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TOMAC-A2C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task-oriented multi-agent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TO-A3C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single-agent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병렬 학습하며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multi-agent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Figures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A3C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줄여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구성요소별 엄밀한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없으므로 차이 전부를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단독 인과효과로 분리하지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14, §5, baseline definitions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E4D2AF-58B3-4C58-A1F2-3869445BBF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결과가 성립한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20 MHz bandwidth, 100 m service radius, edge CPU 2.4 GHz, cloud CPU 10 GHz,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 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type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0.2, 0.2, 0.2, 0.4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 epochs, gamma 0.95, learning rates 3×10^-4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좌표와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썼다고 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input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N(5100) Mbit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쉼표를 임의로 복원하지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pfiber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매분의 고장 확률로 정의되며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Table1 U(10,60)s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failure 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확률을 실제 고장율이나 일정 비율의 상시 고장 노드로 바꾸어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14–15, Table 1, §§5.1–5.2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5FB2BC8-1512-4A31-9627-A515CC3593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37. Figure 10: 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이르지만 더 흔들린다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fiber failure probability 0.1%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convergence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23.9%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높였다고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vibration amplitude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크며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entropy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가능성을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uncertainty band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없어 통계적 우위를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14–15, Fig. 10, §5.2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E987055-5E4F-4B7A-8611-EA1F01B9CD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38. Figure 11: user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늘어도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낮다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p_fiber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TOMAC-PPO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plotted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50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논문은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19.4%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66.6%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범위는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상대 감소입니다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15–16, Fig. 11,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23A0AD-B689-410D-8B49-CF612494AF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장애 확률이 극단적이면 학습 방식의 이점이 줄어든다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 failure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변화시킨 것으로 설명됩니다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미만에서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TOMAC-A2C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급격히 상승해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disconnected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non-LC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calculation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시도하며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signaling cost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LC 2.24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약간 높은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낮은 장애 확률 구간에서 비용이 줄어드는 이유는 저자의 해석입니다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장애가 성능을 일반적으로 개선한다는 결론이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16, Fig. 12,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C10F14-B5FD-4357-A4C1-E0C681479C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40. Figure 13: task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막대 위 숫자를 그대로 옮겼습니다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Routine task cost, high-priority delay, critical drop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Low-priority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local-only LC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3.54×10^-6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가장 낮고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0.25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논문도 이 예외를 인정하며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TOMAC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균형을 함께 본다고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A3C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본문의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TO-A3C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17, Fig. 13, §§5.3–5.4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8888B0-4129-4ADB-884F-C0EC88BD35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일반화하기 전에 남는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커질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multi-agent scalability, synchronization overhead, information lag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문제가 된다고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단순하며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framework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TOMDP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compatibility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공개하지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identity, seed count, uncertainty, code, Transformer 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 문제도 재현성과 해석의 경계입니다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18–19, §§5.4–6, data availability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5DB047D-A46B-43B8-8AAE-BB47D03D390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42. TOMAC-PPO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흐름으로 다시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논리를 연결하면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지역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subnet commentator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생성되면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완료될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겹칩니다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Transformer-fronted Actor–Critic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조건부 이점을 보이지만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scale, reproducibility,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남은 과제입니다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abstract; pp. 8–18, §§4–6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Task Offloading and Resource Allocation Strategy Based on Multi-Agent Reinforcement Learning in Mobile Edge Computing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https://doi.org/10.3390/fi16090333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5D58EF1-654B-45BC-A36F-4B9BFC26E9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TOMAC-PPO: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단위로 학습하는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Task Offloading and Resource Allocation Strategy Based on Multi-Agent Reinforcement Learning in Mobile Edge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Guiwen Jiang, Rongxi Huang, Zhiming Bao, Gaocai Wang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동기화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이동성 대응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지향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하나의 제어 구조로 연결한다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title, abstract, publication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위치와 학습 단위를 먼저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46746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풀어 쓰기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발표에서의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 Edge Computing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근처 서버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Markov Decision Process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보상의 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 Reinforcement 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대표 노드의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/ Critic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가치망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가치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Task-Oriented Multi-Agent Collaborative–PPO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단위 공동 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Proximal Policy Optimization;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정책을 갱신하는 방법이다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2, 9–13, 19, §4 and abbreviations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오프로딩과 자원 배분은 하나의 결정 문제다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위치만 정해도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경쟁은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생성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종류가 다름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위치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엣지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클라우드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폐기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배분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대역폭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대기 순서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폐기 비용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위치와 자원 비율을 따로 최적화하면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통신 경쟁을 놓칠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Introduction; pp. 7–8, Eq. 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기여와 검증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방법은 여러 구성 요소를 결합하지만 검증은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Python 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00040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제안한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장애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 동기화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 후 결과 반환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subnet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Actor–Critic 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optimality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증명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작업별로 겹치는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 step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credit assignment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+ 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ablation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 구조와 시뮬레이션 결과를 실제 배포 성능 보장과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contributions; p. 18, limitations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 엣지를 거쳐 클라우드로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가능한 전달 경로 하나다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가까운 엣지에서 끝나거나 코어망으로 바로 전달할 수도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lane-user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계층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edge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lane-cloud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cloud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edge-c1-segment-1"/>
          <p:cNvSpPr/>
          <p:nvPr/>
        </p:nvSpPr>
        <p:spPr>
          <a:xfrm>
            <a:off x="3809880" y="273024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mechanism-edge-c1-segment-2"/>
          <p:cNvSpPr/>
          <p:nvPr/>
        </p:nvSpPr>
        <p:spPr>
          <a:xfrm>
            <a:off x="4051080" y="2730240"/>
            <a:ext cx="360" cy="1041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edge-c1-segment-3"/>
          <p:cNvSpPr/>
          <p:nvPr/>
        </p:nvSpPr>
        <p:spPr>
          <a:xfrm>
            <a:off x="4051080" y="37717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mechanism-edge-c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mechanism-edge-c3-segment-1"/>
          <p:cNvSpPr/>
          <p:nvPr/>
        </p:nvSpPr>
        <p:spPr>
          <a:xfrm>
            <a:off x="8915400" y="37717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mechanism-edge-c3-segment-2"/>
          <p:cNvSpPr/>
          <p:nvPr/>
        </p:nvSpPr>
        <p:spPr>
          <a:xfrm>
            <a:off x="9156600" y="3771720"/>
            <a:ext cx="360" cy="1041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mechanism-edge-c3-segment-3"/>
          <p:cNvSpPr/>
          <p:nvPr/>
        </p:nvSpPr>
        <p:spPr>
          <a:xfrm>
            <a:off x="9156600" y="481320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mechanism-node-task"/>
          <p:cNvSpPr/>
          <p:nvPr/>
        </p:nvSpPr>
        <p:spPr>
          <a:xfrm>
            <a:off x="1739880" y="231768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Mobile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task-queue-1"/>
          <p:cNvSpPr/>
          <p:nvPr/>
        </p:nvSpPr>
        <p:spPr>
          <a:xfrm>
            <a:off x="1739880" y="25718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task-queue-2"/>
          <p:cNvSpPr/>
          <p:nvPr/>
        </p:nvSpPr>
        <p:spPr>
          <a:xfrm>
            <a:off x="1739880" y="27622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node-task-queue-3"/>
          <p:cNvSpPr/>
          <p:nvPr/>
        </p:nvSpPr>
        <p:spPr>
          <a:xfrm>
            <a:off x="1739880" y="29527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node-edge1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가까운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node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station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node-edge2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인접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node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routing table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연결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mechanism-node-cloud1"/>
          <p:cNvSpPr/>
          <p:nvPr/>
        </p:nvSpPr>
        <p:spPr>
          <a:xfrm>
            <a:off x="939816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Cloud server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core network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한정되지 않으며 이웃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후보가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3–4, Fig. 1,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작업은 단말 실행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엣지 실행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전달 경로로 갈라진다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엣지에 도착한 작업을 실행할지 다른 서버로 전달할지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lane-local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실행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lane-edge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실행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mechanism-lane-forward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다른 서버로 전달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mechanism-edge-q0-segment-1"/>
          <p:cNvSpPr/>
          <p:nvPr/>
        </p:nvSpPr>
        <p:spPr>
          <a:xfrm>
            <a:off x="3299400" y="263520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mechanism-edge-q0-segment-2"/>
          <p:cNvSpPr/>
          <p:nvPr/>
        </p:nvSpPr>
        <p:spPr>
          <a:xfrm>
            <a:off x="3620880" y="2635200"/>
            <a:ext cx="360" cy="95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mechanism-edge-q0-segment-3"/>
          <p:cNvSpPr/>
          <p:nvPr/>
        </p:nvSpPr>
        <p:spPr>
          <a:xfrm>
            <a:off x="3620880" y="27302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mechanism-edge-q1-segment-1"/>
          <p:cNvSpPr/>
          <p:nvPr/>
        </p:nvSpPr>
        <p:spPr>
          <a:xfrm>
            <a:off x="5341320" y="2730240"/>
            <a:ext cx="45669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mechanism-edge-q2-segment-1"/>
          <p:cNvSpPr/>
          <p:nvPr/>
        </p:nvSpPr>
        <p:spPr>
          <a:xfrm>
            <a:off x="3299400" y="28256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mechanism-edge-q2-segment-2"/>
          <p:cNvSpPr/>
          <p:nvPr/>
        </p:nvSpPr>
        <p:spPr>
          <a:xfrm>
            <a:off x="3460320" y="2825640"/>
            <a:ext cx="360" cy="9460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mechanism-edge-q2-segment-3"/>
          <p:cNvSpPr/>
          <p:nvPr/>
        </p:nvSpPr>
        <p:spPr>
          <a:xfrm>
            <a:off x="3460320" y="37717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mechanism-edge-q3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mechanism-edge-q4-segment-1"/>
          <p:cNvSpPr/>
          <p:nvPr/>
        </p:nvSpPr>
        <p:spPr>
          <a:xfrm>
            <a:off x="7383600" y="35686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mechanism-edge-q4-segment-2"/>
          <p:cNvSpPr/>
          <p:nvPr/>
        </p:nvSpPr>
        <p:spPr>
          <a:xfrm>
            <a:off x="7705440" y="35686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mechanism-edge-q4-segment-3"/>
          <p:cNvSpPr/>
          <p:nvPr/>
        </p:nvSpPr>
        <p:spPr>
          <a:xfrm>
            <a:off x="7705440" y="37717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mechanism-edge-q5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mechanism-edge-q6-segment-1"/>
          <p:cNvSpPr/>
          <p:nvPr/>
        </p:nvSpPr>
        <p:spPr>
          <a:xfrm>
            <a:off x="7383600" y="3974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mechanism-edge-q6-segment-2"/>
          <p:cNvSpPr/>
          <p:nvPr/>
        </p:nvSpPr>
        <p:spPr>
          <a:xfrm>
            <a:off x="754452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mechanism-edge-q6-segment-3"/>
          <p:cNvSpPr/>
          <p:nvPr/>
        </p:nvSpPr>
        <p:spPr>
          <a:xfrm>
            <a:off x="7544520" y="48132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mechanism-edge-q7-segment-1"/>
          <p:cNvSpPr/>
          <p:nvPr/>
        </p:nvSpPr>
        <p:spPr>
          <a:xfrm>
            <a:off x="942588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mechanism-node-cache"/>
          <p:cNvSpPr/>
          <p:nvPr/>
        </p:nvSpPr>
        <p:spPr>
          <a:xfrm>
            <a:off x="1739880" y="250812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캐시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echanism-node-cache-queue-1"/>
          <p:cNvSpPr/>
          <p:nvPr/>
        </p:nvSpPr>
        <p:spPr>
          <a:xfrm>
            <a:off x="1739880" y="276228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 대기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echanism-node-localq"/>
          <p:cNvSpPr/>
          <p:nvPr/>
        </p:nvSpPr>
        <p:spPr>
          <a:xfrm>
            <a:off x="3782160" y="250812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계산 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echanism-node-localq-queue-1"/>
          <p:cNvSpPr/>
          <p:nvPr/>
        </p:nvSpPr>
        <p:spPr>
          <a:xfrm>
            <a:off x="3782160" y="276228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대기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echanism-node-localdone"/>
          <p:cNvSpPr/>
          <p:nvPr/>
        </p:nvSpPr>
        <p:spPr>
          <a:xfrm>
            <a:off x="9908640" y="24004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결과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mechanism-node-txq"/>
          <p:cNvSpPr/>
          <p:nvPr/>
        </p:nvSpPr>
        <p:spPr>
          <a:xfrm>
            <a:off x="3782160" y="35496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전송 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mechanism-node-txq-queue-1"/>
          <p:cNvSpPr/>
          <p:nvPr/>
        </p:nvSpPr>
        <p:spPr>
          <a:xfrm>
            <a:off x="378216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업로드 대기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mechanism-node-received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도착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경로로 분기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mechanism-node-edgeq"/>
          <p:cNvSpPr/>
          <p:nvPr/>
        </p:nvSpPr>
        <p:spPr>
          <a:xfrm>
            <a:off x="7866360" y="35496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계산 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node-edgeq-queue-1"/>
          <p:cNvSpPr/>
          <p:nvPr/>
        </p:nvSpPr>
        <p:spPr>
          <a:xfrm>
            <a:off x="786636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대기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echanism-node-re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 결과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 사용자로 반환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mechanism-node-wired"/>
          <p:cNvSpPr/>
          <p:nvPr/>
        </p:nvSpPr>
        <p:spPr>
          <a:xfrm>
            <a:off x="7866360" y="459108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유선 전송 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mechanism-node-wired-queue-1"/>
          <p:cNvSpPr/>
          <p:nvPr/>
        </p:nvSpPr>
        <p:spPr>
          <a:xfrm>
            <a:off x="7866360" y="484488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서버행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mechanism-node-remote"/>
          <p:cNvSpPr/>
          <p:nvPr/>
        </p:nvSpPr>
        <p:spPr>
          <a:xfrm>
            <a:off x="9908640" y="4483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 서버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 결과 반환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3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서버로 보낼 작업은 엣지 계산 큐를 먼저 거치지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3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3–5, Fig. 2, §3.2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비용에서 강조하는 항이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같은 지연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적용하지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369960"/>
                <a:gridCol w="1739160"/>
                <a:gridCol w="1847880"/>
                <a:gridCol w="1847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phi1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phi2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high-priority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지연과 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폐기 억제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low-priority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절감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비용을 종합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type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그치지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비용 가중치를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5, 7, §3.3 and Eq.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실제 자원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정규화된다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직접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GHz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MHz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출력하지 않고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합으로 나눈다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174040"/>
                <a:gridCol w="391356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weight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배분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경쟁하는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 / Σff × f_edge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엣지의 실행 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대역폭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bf / Σbf ×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기지국의 사용자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 우선순위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값이 앞선다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큐의 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 임계값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thmin, thmax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 폐기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폐기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효과는 다른 사용자와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4–6, Eqs. 2–3 and queue rules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자체보다 경쟁자와의 비율이 중요하다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가정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CPU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총 처리량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대역폭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경쟁자의 가중치를 정규화한다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2174040"/>
                <a:gridCol w="31525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A /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 / 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.2/.5, .3/.5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 / 3.6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 / 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.2/1, .8/1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 / 4.8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대역폭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 / 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.25 / 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.25/1, .75/1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/ 15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관점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그대로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커지면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계산은 더 느려짐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그대로여도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행동과 새 작업 도착이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자원 몫을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Eqs.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 제어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우선순위와 새 작업의 수용 여부는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임계값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thmin=4, thmax=8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원문의 세 구간을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2500200"/>
                <a:gridCol w="27176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또는 행동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혼잡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큐 길이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작업 수용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진입 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혼잡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큐 길이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확률적으로 폐기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혼잡 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상한 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 길이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작업 폐기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용량 보호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수용된 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qf=.8 vs 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앞에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대기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폐기 면제나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배분량을 직접 의미하지는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4–5, queue rules; p. 15,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경로마다 지연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에너지 항이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core forwarding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경로에 맞게 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= λρ/f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밀도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단말↔엣지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= λ/C + d/Vspace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전송과 전파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엣지↔엣지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= λ/Cfiber + d/Vfiber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인접 엣지 사이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엣지↔클라우드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=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코어망 전달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κλρf_user²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P_user×T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계산 또는 업로드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아끼지만 통신 지연과 전송 에너지를 새로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Eqs. 5–10, §3.5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비용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폐기를 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11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각 항은 크기가 다른 측정값을 비교 가능한 형태로 묶는다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696120"/>
                <a:gridCol w="315252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phi1 × Ttotal/deadline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Ttotal &gt; deadline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지각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phi2 × Etotal/(mu1 λρ)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0–1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값은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∈ {0,1}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Z(x) = delay + energy + drop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작을수록 유리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합을 최소화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비용의 절대 크기보다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type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비교가 중요하다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Eqs. 11–12, §3.6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공동 최적화가 선택하는 변수와 지켜야 할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긴 시간의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cost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합을 줄이는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constrained problem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세운다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local·edge·cloud·drop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정확히 한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ff, 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 순서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우선순위 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용량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total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Ttotal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base-station radius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13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장기 비용을 낮추는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7–8, Eq. 13 and C1–C9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요구조건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감점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충족은 같은 뜻이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391356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읽어야 할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문제의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Eq13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최적화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학습의 감점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PEN∈{0,1}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보상에서 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유한한 비용 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폐기하면 안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유형의 설계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Critical drop = 5.50%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무폐기를 달성한 것은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 위반에 감점을 주었다는 사실만으로 모든 행동의 제약 준수를 증명할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5, 7, 11, 17, Eq13/16 and Fig13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주기 동기화가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observation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클라우드의 주기 보고와 미수신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timeout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규칙을 묶어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주기적으로 공유하는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→ 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단말의 현재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 상태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↔ 인접 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 정보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클라우드 ↔ 엣지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미수신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동기화 주기를 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끊김 판정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재전송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view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실시간 전역 관측이 아니라 주기적으로 동기화된 정보다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Fig. 3,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이동 사용자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앞부분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summary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먼저 결정하고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결정 뒤에 보낸다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"/>
          <p:cNvSpPr/>
          <p:nvPr/>
        </p:nvSpPr>
        <p:spPr>
          <a:xfrm>
            <a:off x="660240" y="21081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3"/>
          <p:cNvSpPr/>
          <p:nvPr/>
        </p:nvSpPr>
        <p:spPr>
          <a:xfrm>
            <a:off x="1397160" y="21081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1. summary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4"/>
          <p:cNvSpPr/>
          <p:nvPr/>
        </p:nvSpPr>
        <p:spPr>
          <a:xfrm>
            <a:off x="4152960" y="21081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 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정보를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5"/>
          <p:cNvSpPr/>
          <p:nvPr/>
        </p:nvSpPr>
        <p:spPr>
          <a:xfrm>
            <a:off x="1396800" y="3073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6"/>
          <p:cNvSpPr/>
          <p:nvPr/>
        </p:nvSpPr>
        <p:spPr>
          <a:xfrm>
            <a:off x="851040" y="3086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7"/>
          <p:cNvSpPr/>
          <p:nvPr/>
        </p:nvSpPr>
        <p:spPr>
          <a:xfrm>
            <a:off x="660240" y="32637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8"/>
          <p:cNvSpPr/>
          <p:nvPr/>
        </p:nvSpPr>
        <p:spPr>
          <a:xfrm>
            <a:off x="1397160" y="32637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2. decision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9"/>
          <p:cNvSpPr/>
          <p:nvPr/>
        </p:nvSpPr>
        <p:spPr>
          <a:xfrm>
            <a:off x="4152960" y="32637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상태를 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0"/>
          <p:cNvSpPr/>
          <p:nvPr/>
        </p:nvSpPr>
        <p:spPr>
          <a:xfrm>
            <a:off x="1396800" y="42289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Shape 11"/>
          <p:cNvSpPr/>
          <p:nvPr/>
        </p:nvSpPr>
        <p:spPr>
          <a:xfrm>
            <a:off x="851040" y="42418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12"/>
          <p:cNvSpPr/>
          <p:nvPr/>
        </p:nvSpPr>
        <p:spPr>
          <a:xfrm>
            <a:off x="660240" y="441972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3"/>
          <p:cNvSpPr/>
          <p:nvPr/>
        </p:nvSpPr>
        <p:spPr>
          <a:xfrm>
            <a:off x="1397160" y="441972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3.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시작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4"/>
          <p:cNvSpPr/>
          <p:nvPr/>
        </p:nvSpPr>
        <p:spPr>
          <a:xfrm>
            <a:off x="4152960" y="441972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data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signaling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task-data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전송은 서로 다른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8–9, Fig. 4, §4.2, steps 1–3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이동 사용자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반환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바꾸면 결과는 현재 위치에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돌아온다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660240" y="21081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1397160" y="21081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4. 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4152960" y="21081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 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선택된 실행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1396800" y="3073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6"/>
          <p:cNvSpPr/>
          <p:nvPr/>
        </p:nvSpPr>
        <p:spPr>
          <a:xfrm>
            <a:off x="851040" y="3086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660240" y="326376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1397160" y="326376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5. return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4152960" y="326376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찾음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0"/>
          <p:cNvSpPr/>
          <p:nvPr/>
        </p:nvSpPr>
        <p:spPr>
          <a:xfrm>
            <a:off x="1396800" y="42289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851040" y="42418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60240" y="4419720"/>
            <a:ext cx="571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1397160" y="4419720"/>
            <a:ext cx="26031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6.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전달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4152960" y="4419720"/>
            <a:ext cx="737820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shortest path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에게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결정을 내린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돌려주는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서로 다를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Fig. 4, §4.2, steps 4–6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Subnet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commentator node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ordinary node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관측과 실행을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subnet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모아 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mechanism-lane-flow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처리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mechanism-lane-valu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 노드 학습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mechanism-edge-m1-segment-1"/>
          <p:cNvSpPr/>
          <p:nvPr/>
        </p:nvSpPr>
        <p:spPr>
          <a:xfrm>
            <a:off x="3299400" y="289548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mechanism-edge-m1-segment-2"/>
          <p:cNvSpPr/>
          <p:nvPr/>
        </p:nvSpPr>
        <p:spPr>
          <a:xfrm>
            <a:off x="3620880" y="2895480"/>
            <a:ext cx="360" cy="95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mechanism-edge-m1-segment-3"/>
          <p:cNvSpPr/>
          <p:nvPr/>
        </p:nvSpPr>
        <p:spPr>
          <a:xfrm>
            <a:off x="362088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mechanism-edge-m2-segment-1"/>
          <p:cNvSpPr/>
          <p:nvPr/>
        </p:nvSpPr>
        <p:spPr>
          <a:xfrm>
            <a:off x="3299400" y="3085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mechanism-edge-m2-segment-2"/>
          <p:cNvSpPr/>
          <p:nvPr/>
        </p:nvSpPr>
        <p:spPr>
          <a:xfrm>
            <a:off x="3460320" y="3085920"/>
            <a:ext cx="360" cy="1467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mechanism-edge-m2-segment-3"/>
          <p:cNvSpPr/>
          <p:nvPr/>
        </p:nvSpPr>
        <p:spPr>
          <a:xfrm>
            <a:off x="3460320" y="45529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mechanism-edge-m3-segment-1"/>
          <p:cNvSpPr/>
          <p:nvPr/>
        </p:nvSpPr>
        <p:spPr>
          <a:xfrm>
            <a:off x="534132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mechanism-edge-m4-segment-1"/>
          <p:cNvSpPr/>
          <p:nvPr/>
        </p:nvSpPr>
        <p:spPr>
          <a:xfrm>
            <a:off x="738360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mechanism-edge-m5-segment-1"/>
          <p:cNvSpPr/>
          <p:nvPr/>
        </p:nvSpPr>
        <p:spPr>
          <a:xfrm>
            <a:off x="5341320" y="45529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mechanism-edge-m5-segment-2"/>
          <p:cNvSpPr/>
          <p:nvPr/>
        </p:nvSpPr>
        <p:spPr>
          <a:xfrm>
            <a:off x="5663160" y="455292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mechanism-edge-m5-segment-3"/>
          <p:cNvSpPr/>
          <p:nvPr/>
        </p:nvSpPr>
        <p:spPr>
          <a:xfrm>
            <a:off x="5663160" y="4755960"/>
            <a:ext cx="42451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mechanism-edge-m6-segment-1"/>
          <p:cNvSpPr/>
          <p:nvPr/>
        </p:nvSpPr>
        <p:spPr>
          <a:xfrm>
            <a:off x="9425880" y="29905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mechanism-edge-m6-segment-2"/>
          <p:cNvSpPr/>
          <p:nvPr/>
        </p:nvSpPr>
        <p:spPr>
          <a:xfrm>
            <a:off x="9667080" y="29905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mechanism-edge-m6-segment-3"/>
          <p:cNvSpPr/>
          <p:nvPr/>
        </p:nvSpPr>
        <p:spPr>
          <a:xfrm>
            <a:off x="9667080" y="43495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mechanism-node-obs"/>
          <p:cNvSpPr/>
          <p:nvPr/>
        </p:nvSpPr>
        <p:spPr>
          <a:xfrm>
            <a:off x="1739880" y="27687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노드 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mechanism-node-obs-queue-1"/>
          <p:cNvSpPr/>
          <p:nvPr/>
        </p:nvSpPr>
        <p:spPr>
          <a:xfrm>
            <a:off x="1739880" y="30225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mechanism-node-policies"/>
          <p:cNvSpPr/>
          <p:nvPr/>
        </p:nvSpPr>
        <p:spPr>
          <a:xfrm>
            <a:off x="37821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노드별 정책들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mechanism-node-critic"/>
          <p:cNvSpPr/>
          <p:nvPr/>
        </p:nvSpPr>
        <p:spPr>
          <a:xfrm>
            <a:off x="37821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가치망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가치 추정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mechanism-node-actions"/>
          <p:cNvSpPr/>
          <p:nvPr/>
        </p:nvSpPr>
        <p:spPr>
          <a:xfrm>
            <a:off x="5824080" y="27687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전달된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mechanism-node-actions-queue-1"/>
          <p:cNvSpPr/>
          <p:nvPr/>
        </p:nvSpPr>
        <p:spPr>
          <a:xfrm>
            <a:off x="5824080" y="30225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mechanism-node-finish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처리 종료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mechanism-node-update"/>
          <p:cNvSpPr/>
          <p:nvPr/>
        </p:nvSpPr>
        <p:spPr>
          <a:xfrm>
            <a:off x="990864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갱신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파라미터 갱신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 구조도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독립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 구조도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Fig. 5,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 실행과 지역 중앙집중의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지역별 대표 노드의 결정 구조이며 전역 중앙 학습기나 파라미터 평균을 가정하지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말하는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subnet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commentator node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엣지마다 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node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제출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결정하지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loop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파라미터 평균은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후보와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connectivity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정책 학습기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TOMAC-PPO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분산성은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subnet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 결정 분리에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§4.3; p. 13,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시간이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clock tick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맞추지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시간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TOMDP task step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같은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정해진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시간에 따라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tick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step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겹침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단위로 설계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feedback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lifecycle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경계를 맞추는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10, Fig. 6, §4.4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step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겹치고 완료 순서도 바뀔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사건 순서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 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 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 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축은 실제 시간 단위가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mechanism-lane-a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mechanism-lane-b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mechanism-edge-p1-segment-1"/>
          <p:cNvSpPr/>
          <p:nvPr/>
        </p:nvSpPr>
        <p:spPr>
          <a:xfrm>
            <a:off x="3299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mechanism-edge-p2-segment-1"/>
          <p:cNvSpPr/>
          <p:nvPr/>
        </p:nvSpPr>
        <p:spPr>
          <a:xfrm>
            <a:off x="5341320" y="2990520"/>
            <a:ext cx="45669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mechanism-edge-p3-segment-1"/>
          <p:cNvSpPr/>
          <p:nvPr/>
        </p:nvSpPr>
        <p:spPr>
          <a:xfrm>
            <a:off x="534132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mechanism-edge-p4-segment-1"/>
          <p:cNvSpPr/>
          <p:nvPr/>
        </p:nvSpPr>
        <p:spPr>
          <a:xfrm>
            <a:off x="738360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mechanism-node-agen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 A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mechanism-node-aact"/>
          <p:cNvSpPr/>
          <p:nvPr/>
        </p:nvSpPr>
        <p:spPr>
          <a:xfrm>
            <a:off x="37821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mechanism-node-adone"/>
          <p:cNvSpPr/>
          <p:nvPr/>
        </p:nvSpPr>
        <p:spPr>
          <a:xfrm>
            <a:off x="990864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mechanism-node-bgen"/>
          <p:cNvSpPr/>
          <p:nvPr/>
        </p:nvSpPr>
        <p:spPr>
          <a:xfrm>
            <a:off x="37821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 B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mechanism-node-bact"/>
          <p:cNvSpPr/>
          <p:nvPr/>
        </p:nvSpPr>
        <p:spPr>
          <a:xfrm>
            <a:off x="58240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mechanism-node-bdone"/>
          <p:cNvSpPr/>
          <p:nvPr/>
        </p:nvSpPr>
        <p:spPr>
          <a:xfrm>
            <a:off x="78663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작업의 생성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시점을 서로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10, Fig. 6, §4.4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TOMDP 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연결 가능한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14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tensor shape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정보 범주를 읽는 것이 안전하다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6746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λ, deadline, task type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처리량과 중요도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coordinate records H_i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저장한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단말의 세 큐 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R_ud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단말의 혼잡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두 큐 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R_en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혼잡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Link_j, thmin, thmax, j/n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observation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동기화로 얻은 연결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정보의 결합이다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10, Eq. 14, §4.4 Status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TOMDP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위치와 네 종류의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묶는다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15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실행 경로와 자원 경쟁을 동시에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미치는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local·edge·cloud·drop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allocation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compute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priority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thmin, thmax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thresholds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행동은 실행 위치뿐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대역폭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 제어를 함께 포함한다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10–11, Eq. 15, §4.4 Action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현재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평균과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Zavg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사용자 평균 작업 비용이다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Z/Zavg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작을수록 보상이 커지고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391356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상수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+ 1/2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기준점을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 / Zavg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평균보다 비싼지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PEN(x) ∈ {0,1}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initial decision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위반을 감점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= 1.5 − Z/Zavg − PEN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뒤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절대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type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반영된 정규화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11, Eq. 16, §4.4 Rewards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예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반환 지연은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두고 단말 에너지 정규화 항은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0.10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696120"/>
                <a:gridCol w="30438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Mbit × 0.3 Gcyc/Mbit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 Gcyc / 1.2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rate=10 Mbit/s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2/10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routine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deadline=1 s, energy term=0.10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0.70/1 + 0.10 + 0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Z=0.80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cost=1.00, PEN=0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1.5 − 0.80/1.00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R=0.70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배정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바뀌면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함께 바뀐다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Eqs. 5, 11; p. 11, Eq. 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하나의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transition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되는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사이의 실제 처리 시간을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step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 포함한다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 시점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요약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네트워크 상태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위치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동시 처리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작업과 자원 공유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종료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해당 작업의 결과 확정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자료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상태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delay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없애는 것이 아니라 어느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연결할지 명시한다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10–11, Fig. 6 and Eqs. 14–16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들어간다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probability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value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value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하나를 출력한다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mechanism-lane-actor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mechanism-lane-critic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mechanism-edge-n1-segment-1"/>
          <p:cNvSpPr/>
          <p:nvPr/>
        </p:nvSpPr>
        <p:spPr>
          <a:xfrm>
            <a:off x="4660560" y="270504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mechanism-edge-n1-segment-2"/>
          <p:cNvSpPr/>
          <p:nvPr/>
        </p:nvSpPr>
        <p:spPr>
          <a:xfrm>
            <a:off x="4982400" y="2705040"/>
            <a:ext cx="360" cy="285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mechanism-edge-n1-segment-3"/>
          <p:cNvSpPr/>
          <p:nvPr/>
        </p:nvSpPr>
        <p:spPr>
          <a:xfrm>
            <a:off x="498240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mechanism-edge-n2-segment-1"/>
          <p:cNvSpPr/>
          <p:nvPr/>
        </p:nvSpPr>
        <p:spPr>
          <a:xfrm>
            <a:off x="4660560" y="32763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mechanism-edge-n2-segment-2"/>
          <p:cNvSpPr/>
          <p:nvPr/>
        </p:nvSpPr>
        <p:spPr>
          <a:xfrm>
            <a:off x="4821480" y="3276360"/>
            <a:ext cx="360" cy="12765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mechanism-edge-n2-segment-3"/>
          <p:cNvSpPr/>
          <p:nvPr/>
        </p:nvSpPr>
        <p:spPr>
          <a:xfrm>
            <a:off x="4821480" y="45529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mechanism-edge-n3-segment-1"/>
          <p:cNvSpPr/>
          <p:nvPr/>
        </p:nvSpPr>
        <p:spPr>
          <a:xfrm>
            <a:off x="806436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mechanism-edge-n4-segment-1"/>
          <p:cNvSpPr/>
          <p:nvPr/>
        </p:nvSpPr>
        <p:spPr>
          <a:xfrm>
            <a:off x="806436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mechanism-node-statein"/>
          <p:cNvSpPr/>
          <p:nvPr/>
        </p:nvSpPr>
        <p:spPr>
          <a:xfrm>
            <a:off x="1739880" y="257796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s(x)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mechanism-node-statein-queue-1"/>
          <p:cNvSpPr/>
          <p:nvPr/>
        </p:nvSpPr>
        <p:spPr>
          <a:xfrm>
            <a:off x="1739880" y="283212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mechanism-node-statein-queue-2"/>
          <p:cNvSpPr/>
          <p:nvPr/>
        </p:nvSpPr>
        <p:spPr>
          <a:xfrm>
            <a:off x="1739880" y="30225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mechanism-node-statein-queue-3"/>
          <p:cNvSpPr/>
          <p:nvPr/>
        </p:nvSpPr>
        <p:spPr>
          <a:xfrm>
            <a:off x="1739880" y="321300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mechanism-node-actortr"/>
          <p:cNvSpPr/>
          <p:nvPr/>
        </p:nvSpPr>
        <p:spPr>
          <a:xfrm>
            <a:off x="5143680" y="266076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Transformer + 3 FC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feature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mechanism-node-critictr"/>
          <p:cNvSpPr/>
          <p:nvPr/>
        </p:nvSpPr>
        <p:spPr>
          <a:xfrm>
            <a:off x="5143680" y="42228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Transformer + 3 FC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feature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mechanism-node-prob"/>
          <p:cNvSpPr/>
          <p:nvPr/>
        </p:nvSpPr>
        <p:spPr>
          <a:xfrm>
            <a:off x="8547120" y="2768760"/>
            <a:ext cx="2920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mechanism-node-prob-queue-1"/>
          <p:cNvSpPr/>
          <p:nvPr/>
        </p:nvSpPr>
        <p:spPr>
          <a:xfrm>
            <a:off x="8547120" y="3022560"/>
            <a:ext cx="292068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 확률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mechanism-node-value"/>
          <p:cNvSpPr/>
          <p:nvPr/>
        </p:nvSpPr>
        <p:spPr>
          <a:xfrm>
            <a:off x="8547120" y="42228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Scalar value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v(s;ω)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출력 목적이 다르며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value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구조를 복제한다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11–12, Figs. 7–8, §4.5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구조의 위치와 미제시 세부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논문이 명시한 구조와 구현에 필요한 미제시 항목을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13100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미제시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memory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지원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prediction 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평가 지표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FC layers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encoder·decoder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head·layer·hidden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TOMAC-PPO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독립 효과나 장기 예측 정확도는 이 실험으로 확인할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11–12, §4.5, Figs. 7–8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확률을 강제 고정하지 않고 학습 목적식을 자른다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엔트로피를 잠시 제외하면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 = min(ratio×Adv, clip(ratio,0.8,1.2)×Adv)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00040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ratio_t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π_new(a_t|s_t) / π_old(a_t|s_t)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probability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Table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목적식 안의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Adv_t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Qπ(s_t,a_t) − Vπ(s_t)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기대보다 좋은 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 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clip(ratio, 1−zeta, 1+zeta) × Adv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surrogate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entropy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cH(s_t;θ), c=0.01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장려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구간 밖으로 갈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clip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확률 변화의 강제 상한이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12–13, Eqs. 17–18 and Fig.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return, advantage, clipped surrogate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entropy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제외한 산술 예시이며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log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696120"/>
                <a:gridCol w="21740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 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 + .95×.2 + .95²×1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u=1.4925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합침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advantage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 − v = 1.4925 − 1.10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Adv'=0.3925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positive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0.56 / 0.40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ratio=1.40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probability 40%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clip(1.40, 0.8, 1.2)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목적식의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surrogate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min(1.40,1.20)×0.3925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0.4710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0.5495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positive advantage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범위를 넘으면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커지지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12–13, Eqs. 17–19 and Fig.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음의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반대쪽 구간이 평평해진다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 예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Adv=−1, clip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[0.8,1.2],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엔트로피 제외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유리하다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043800"/>
                <a:gridCol w="29350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ratio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= ratio×Adv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clipped×Adv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 =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값의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나쁜 행동의 확률을 더 낮춰도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ratio&lt;0.8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이 항에서 추가 이득이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12–13, Eq17 and Fig9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subnet 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모으고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가치망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회차 반복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정책으로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T-step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후 목적식 상승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가치망 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parameter server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averaging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13, Algorithm 1 and Eqs. 19–23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수식의 재현 경계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부호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엔트로피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·target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표기의 모호함과 빠진 계산 비용을 그대로 경계로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2397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교육적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 = −Σ(u−v)²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최소화하면 오차가 커질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entropy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두 번째 항에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ωhat ← σω+(1−σ)ωhat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사용처는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 emax)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망 연산 비용 생략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들을 병렬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시간이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배라는 뜻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부호는 임의로 고치지 말고 구현 전 원저자 확인이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11–14, Eqs. 17, 19–23,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구현을 재현하려면 추가로 필요한 연결 규칙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1310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명시된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빠진 연결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출력→행동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 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인코딩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샘플링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 수정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작업→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겹친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 / T-step 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상태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분모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 작업의 사용자 평균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미완료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Table1: N(5100) Mbit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분포의 정확한 매개변수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논문에 없는 연결 규칙을 임의로 채우면 원문 재현이 아니라 별도 구현이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5, 10–13, 15; Eq15–19, Table1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학습 구조와 실행 위치가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legend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A3C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본문에서 정의한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TO-A3C 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가리킨다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152520"/>
                <a:gridCol w="29350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TOMAC-A2C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task-oriented multi-agent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A2C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가까운 학습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TO-A3C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병렬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 system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 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가능하면 상위 계층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information report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실행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TOMAC-A2C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가까운 학습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위치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14, §5, baseline definitions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결과가 성립한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저자가 구성한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Python environment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10912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네트워크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100m·20MHz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2.4GHz·14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cloud10GHz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실물 성능 측정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high=.2, critical=.2, low=.2, routine=.4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생성 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·γ=.95·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3×10⁻⁴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clip=.2·entropy=.01·target=.01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세부 구조 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비교는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mix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안에서만 직접 해석할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14–15, Table 1, §§5.1–5.2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10: PPO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더 높은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이르지만 더 흔들린다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 users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failure probability 0.1%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TOMAC-A2C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33699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TOMAC-A2C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TOMAC-PPO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moving 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함께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함께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plateau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23.9%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높다고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본문의 조건부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fluctuation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entropy exploration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plotted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plotted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bar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plotted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더 안정적인 학습은 같은 주장이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14–15, Fig. 10, §5.2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11: user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늘어도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TOMAC-PPO 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낮다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failure probability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0.1%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고정하고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users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명부터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명까지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347868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users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5–50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TOMAC-PPO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최저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다섯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19.4%–66.6%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보고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TOMAC-A2C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상대적으로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 구성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task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curve values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19.4%–66.6%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50-user 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달라지는 감소 범위다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15–16, Fig. 11,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장애 확률이 극단적이면 학습 방식의 이점이 줄어든다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 users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edge·line failure probability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935080"/>
                <a:gridCol w="31525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failure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10%–60%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CCP·A3C·LC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더 높은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급격히 상승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available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 2.24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layer disconnected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CCP &lt;50%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일시적으로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실행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plotted averages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plotted averages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끊기면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선택할 수 있는 유효 경로도 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16, Fig. 12,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13: task 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비교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 users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failure probability 0.1%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다섯 방법의 값을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174040"/>
                <a:gridCol w="2174040"/>
                <a:gridCol w="2174040"/>
                <a:gridCol w="1847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routine cost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 delay(s)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 energy(J)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critical drop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26.97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3.54e−6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36.08%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31.98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62.64%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A3C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24.33%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TOMAC-A2C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9.30%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TOMAC-PPO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10.86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5.50%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TOMAC-PPO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최저지만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low-priority energy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낮다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17, Fig. 13, §§5.3–5.4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일반화하기 전에 남는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논문이 밝힌 한계와 실험 보고에서 확인되지 않은 항목을 함께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2397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결론에 미치는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Python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단순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증가와 정보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 network scalability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reproducibility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identity·seed·code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재현성 평가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세부와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원인을 분리할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부호 모호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formal theorem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TOMAC-PPO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promising simulation design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검증 완료된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production controller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18–19, §§5.4–6, data availability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TOMAC-PPO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흐름으로 다시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coordination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lifecycle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먼저 정의한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joint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공유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연결을 주기 보고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지역 대표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subnet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대신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단위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구분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행동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 제어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 보상으로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task, network,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경계를 함께 설계한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abstract; pp. 8–18, §§4–6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42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2026-09-12T09:02:28Z</dcterms:created>
  <dc:creator>Research Seminars</dc:creator>
  <dc:description/>
  <dc:language>ko-KR</dc:language>
  <cp:lastModifiedBy>Research Seminars</cp:lastModifiedBy>
  <dcterms:modified xsi:type="dcterms:W3CDTF">2026-09-12T09:02:28Z</dcterms:modified>
  <cp:revision>1</cp:revision>
  <dc:subject>A Task Offloading and Resource Allocation Strategy Based on Multi-Agent Reinforcement Learning in Mobile Edge Computing</dc:subject>
  <dc:title>TOMAC-PPO: 작업 단위로 학습하는 MEC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42</vt:r8>
  </property>
  <property fmtid="{D5CDD505-2E9C-101B-9397-08002B2CF9AE}" pid="3" name="PresentationFormat">
    <vt:lpwstr>On-screen Show (16:9)</vt:lpwstr>
  </property>
  <property fmtid="{D5CDD505-2E9C-101B-9397-08002B2CF9AE}" pid="4" name="Slides">
    <vt:r8>42</vt:r8>
  </property>
</Properties>
</file>
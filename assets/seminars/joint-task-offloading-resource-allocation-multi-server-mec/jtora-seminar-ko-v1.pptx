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6.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21.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8.xml" ContentType="application/vnd.openxmlformats-officedocument.presentationml.slide+xml"/>
  <Override PartName="/ppt/slides/slide14.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5.xml" ContentType="application/vnd.openxmlformats-officedocument.presentationml.slide+xml"/>
  <Override PartName="/ppt/slides/slide24.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21.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9.xml" ContentType="application/vnd.openxmlformats-officedocument.presentationml.notesSlide+xml"/>
  <Override PartName="/ppt/notesSlides/notesSlide19.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5.xml" ContentType="application/vnd.openxmlformats-officedocument.presentationml.notesSlide+xml"/>
  <Override PartName="/ppt/notesSlides/notesSlide24.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US" sz="1800" b="0" u="none" strike="noStrike">
                <a:solidFill>
                  <a:schemeClr val="dk1"/>
                </a:solidFill>
                <a:effectLst/>
                <a:uFillTx/>
                <a:latin typeface="AppleGothic"/>
              </a:rPr>
              <a:t>Click to move the slide</a:t>
            </a:r>
            <a:endParaRPr lang="en-US" sz="1800" b="0" u="none" strike="noStrike">
              <a:solidFill>
                <a:schemeClr val="dk1"/>
              </a:solidFill>
              <a:effectLst/>
              <a:uFillTx/>
              <a:latin typeface="AppleGothic"/>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Noto Sans CJK KR"/>
              </a:rPr>
              <a:t> </a:t>
            </a:r>
            <a:endParaRPr lang="en-US" sz="1400" b="0" u="none" strike="noStrike">
              <a:solidFill>
                <a:srgbClr val="000000"/>
              </a:solidFill>
              <a:effectLst/>
              <a:uFillTx/>
              <a:latin typeface="Noto Sans CJK KR"/>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Noto Sans CJK KR"/>
              </a:defRPr>
            </a:lvl1pPr>
          </a:lstStyle>
          <a:p>
            <a:pPr indent="0" algn="r">
              <a:buNone/>
            </a:pPr>
            <a:r>
              <a:rPr lang="en-US" sz="1400" b="0" u="none" strike="noStrike">
                <a:solidFill>
                  <a:srgbClr val="000000"/>
                </a:solidFill>
                <a:effectLst/>
                <a:uFillTx/>
                <a:latin typeface="Noto Sans CJK KR"/>
              </a:rPr>
              <a:t> </a:t>
            </a:r>
            <a:endParaRPr lang="en-US" sz="1400" b="0" u="none" strike="noStrike">
              <a:solidFill>
                <a:srgbClr val="000000"/>
              </a:solidFill>
              <a:effectLst/>
              <a:uFillTx/>
              <a:latin typeface="Noto Sans CJK KR"/>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Noto Sans CJK KR"/>
              </a:defRPr>
            </a:lvl1pPr>
          </a:lstStyle>
          <a:p>
            <a:pPr indent="0" algn="l">
              <a:buNone/>
            </a:pPr>
            <a:r>
              <a:rPr lang="en-US" sz="1400" b="0" u="none" strike="noStrike">
                <a:solidFill>
                  <a:srgbClr val="000000"/>
                </a:solidFill>
                <a:effectLst/>
                <a:uFillTx/>
                <a:latin typeface="Noto Sans CJK KR"/>
              </a:rPr>
              <a:t> </a:t>
            </a:r>
            <a:endParaRPr lang="en-US" sz="1400" b="0" u="none" strike="noStrike">
              <a:solidFill>
                <a:srgbClr val="000000"/>
              </a:solidFill>
              <a:effectLst/>
              <a:uFillTx/>
              <a:latin typeface="Noto Sans CJK KR"/>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Noto Sans CJK KR"/>
              </a:defRPr>
            </a:lvl1pPr>
          </a:lstStyle>
          <a:p>
            <a:pPr indent="0" algn="r">
              <a:buNone/>
            </a:pPr>
            <a:fld id="{99744E29-BA47-4F68-9473-6EBFEEFA1D6A}" type="slidenum">
              <a:rPr lang="en-US" sz="1400" b="0" u="none" strike="noStrike">
                <a:solidFill>
                  <a:srgbClr val="000000"/>
                </a:solidFill>
                <a:effectLst/>
                <a:uFillTx/>
                <a:latin typeface="Noto Sans CJK KR"/>
              </a:rPr>
              <a:t>1</a:t>
            </a:fld>
            <a:endParaRPr lang="en-US" sz="1400" b="0" u="none" strike="noStrike">
              <a:solidFill>
                <a:srgbClr val="000000"/>
              </a:solidFill>
              <a:effectLst/>
              <a:uFillTx/>
              <a:latin typeface="Noto Sans CJK KR"/>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6" name="PlaceHolder 1"/>
          <p:cNvSpPr>
            <a:spLocks noGrp="1"/>
          </p:cNvSpPr>
          <p:nvPr>
            <p:ph type="sldImg"/>
          </p:nvPr>
        </p:nvSpPr>
        <p:spPr>
          <a:xfrm>
            <a:off x="0" y="0"/>
            <a:ext cx="0" cy="0"/>
          </a:xfrm>
          <a:prstGeom prst="rect">
            <a:avLst/>
          </a:prstGeom>
          <a:ln w="0">
            <a:noFill/>
          </a:ln>
        </p:spPr>
      </p:sp>
      <p:sp>
        <p:nvSpPr>
          <p:cNvPr id="46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 </a:t>
            </a:r>
            <a:r>
              <a:rPr lang="ko-KR" sz="2000" b="0" u="none" strike="noStrike">
                <a:solidFill>
                  <a:srgbClr val="000000"/>
                </a:solidFill>
                <a:effectLst/>
                <a:uFillTx/>
                <a:latin typeface="Arial"/>
              </a:rPr>
              <a:t>다중 서버 </a:t>
            </a:r>
            <a:r>
              <a:rPr lang="en-US" sz="2000" b="0" u="none" strike="noStrike">
                <a:solidFill>
                  <a:srgbClr val="000000"/>
                </a:solidFill>
                <a:effectLst/>
                <a:uFillTx/>
                <a:latin typeface="Arial"/>
              </a:rPr>
              <a:t>MEC</a:t>
            </a:r>
            <a:r>
              <a:rPr lang="ko-KR" sz="2000" b="0" u="none" strike="noStrike">
                <a:solidFill>
                  <a:srgbClr val="000000"/>
                </a:solidFill>
                <a:effectLst/>
                <a:uFillTx/>
                <a:latin typeface="Arial"/>
              </a:rPr>
              <a:t>에서 무엇을 함께 최적화할까</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자료는 </a:t>
            </a:r>
            <a:r>
              <a:rPr lang="en-US" sz="2000" b="0" u="none" strike="noStrike">
                <a:solidFill>
                  <a:srgbClr val="000000"/>
                </a:solidFill>
                <a:effectLst/>
                <a:uFillTx/>
                <a:latin typeface="Arial"/>
              </a:rPr>
              <a:t>Tran</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Pompili</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arXiv:1705.00704v1</a:t>
            </a:r>
            <a:r>
              <a:rPr lang="ko-KR" sz="2000" b="0" u="none" strike="noStrike">
                <a:solidFill>
                  <a:srgbClr val="000000"/>
                </a:solidFill>
                <a:effectLst/>
                <a:uFillTx/>
                <a:latin typeface="Arial"/>
              </a:rPr>
              <a:t>을 기준으로 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논문은 다중 셀에서 각 </a:t>
            </a:r>
            <a:r>
              <a:rPr lang="en-US" sz="2000" b="0" u="none" strike="noStrike">
                <a:solidFill>
                  <a:srgbClr val="000000"/>
                </a:solidFill>
                <a:effectLst/>
                <a:uFillTx/>
                <a:latin typeface="Arial"/>
              </a:rPr>
              <a:t>BS</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MEC </a:t>
            </a:r>
            <a:r>
              <a:rPr lang="ko-KR" sz="2000" b="0" u="none" strike="noStrike">
                <a:solidFill>
                  <a:srgbClr val="000000"/>
                </a:solidFill>
                <a:effectLst/>
                <a:uFillTx/>
                <a:latin typeface="Arial"/>
              </a:rPr>
              <a:t>서버를 갖는 모델을 사용하며</a:t>
            </a:r>
            <a:r>
              <a:rPr lang="en-US" sz="2000" b="0" u="none" strike="noStrike">
                <a:solidFill>
                  <a:srgbClr val="000000"/>
                </a:solidFill>
                <a:effectLst/>
                <a:uFillTx/>
                <a:latin typeface="Arial"/>
              </a:rPr>
              <a:t>, task offloading decision, uplink transmit power, server computing resource allocation</a:t>
            </a:r>
            <a:r>
              <a:rPr lang="ko-KR" sz="2000" b="0" u="none" strike="noStrike">
                <a:solidFill>
                  <a:srgbClr val="000000"/>
                </a:solidFill>
                <a:effectLst/>
                <a:uFillTx/>
                <a:latin typeface="Arial"/>
              </a:rPr>
              <a:t>을 함께 최적화합니다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title page; abstract; v1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68"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7709FC9-9613-4E76-94F4-996E50395392}"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sldImg"/>
          </p:nvPr>
        </p:nvSpPr>
        <p:spPr>
          <a:xfrm>
            <a:off x="0" y="0"/>
            <a:ext cx="0" cy="0"/>
          </a:xfrm>
          <a:prstGeom prst="rect">
            <a:avLst/>
          </a:prstGeom>
          <a:ln w="0">
            <a:noFill/>
          </a:ln>
        </p:spPr>
      </p:sp>
      <p:sp>
        <p:nvSpPr>
          <p:cNvPr id="4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 </a:t>
            </a:r>
            <a:r>
              <a:rPr lang="ko-KR" sz="2000" b="0" u="none" strike="noStrike">
                <a:solidFill>
                  <a:srgbClr val="000000"/>
                </a:solidFill>
                <a:effectLst/>
                <a:uFillTx/>
                <a:latin typeface="Arial"/>
              </a:rPr>
              <a:t>논문이 푸는 범위와 풀지 않는 범위</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Section III</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task</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atomic</a:t>
            </a:r>
            <a:r>
              <a:rPr lang="ko-KR" sz="2000" b="0" u="none" strike="noStrike">
                <a:solidFill>
                  <a:srgbClr val="000000"/>
                </a:solidFill>
                <a:effectLst/>
                <a:uFillTx/>
                <a:latin typeface="Arial"/>
              </a:rPr>
              <a:t>이라 </a:t>
            </a:r>
            <a:r>
              <a:rPr lang="en-US" sz="2000" b="0" u="none" strike="noStrike">
                <a:solidFill>
                  <a:srgbClr val="000000"/>
                </a:solidFill>
                <a:effectLst/>
                <a:uFillTx/>
                <a:latin typeface="Arial"/>
              </a:rPr>
              <a:t>subtask</a:t>
            </a:r>
            <a:r>
              <a:rPr lang="ko-KR" sz="2000" b="0" u="none" strike="noStrike">
                <a:solidFill>
                  <a:srgbClr val="000000"/>
                </a:solidFill>
                <a:effectLst/>
                <a:uFillTx/>
                <a:latin typeface="Arial"/>
              </a:rPr>
              <a:t>로 나눌 수 없다고 가정합니다</a:t>
            </a:r>
            <a:r>
              <a:rPr lang="en-US" sz="2000" b="0" u="none" strike="noStrike">
                <a:solidFill>
                  <a:srgbClr val="000000"/>
                </a:solidFill>
                <a:effectLst/>
                <a:uFillTx/>
                <a:latin typeface="Arial"/>
              </a:rPr>
              <a:t>. Section V</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convex and quasi-convex optimization</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local-search heuristic</a:t>
            </a:r>
            <a:r>
              <a:rPr lang="ko-KR" sz="2000" b="0" u="none" strike="noStrike">
                <a:solidFill>
                  <a:srgbClr val="000000"/>
                </a:solidFill>
                <a:effectLst/>
                <a:uFillTx/>
                <a:latin typeface="Arial"/>
              </a:rPr>
              <a:t>을 사용합니다</a:t>
            </a:r>
            <a:r>
              <a:rPr lang="en-US" sz="2000" b="0" u="none" strike="noStrike">
                <a:solidFill>
                  <a:srgbClr val="000000"/>
                </a:solidFill>
                <a:effectLst/>
                <a:uFillTx/>
                <a:latin typeface="Arial"/>
              </a:rPr>
              <a:t>. actor, critic, replay memory, online queue dynamics</a:t>
            </a:r>
            <a:r>
              <a:rPr lang="ko-KR" sz="2000" b="0" u="none" strike="noStrike">
                <a:solidFill>
                  <a:srgbClr val="000000"/>
                </a:solidFill>
                <a:effectLst/>
                <a:uFillTx/>
                <a:latin typeface="Arial"/>
              </a:rPr>
              <a:t>는 원문에 없습니다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6-11; §§III-IV</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71"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639E0F7-6030-47E2-A74E-4E354FEA60A3}"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2" name="PlaceHolder 1"/>
          <p:cNvSpPr>
            <a:spLocks noGrp="1"/>
          </p:cNvSpPr>
          <p:nvPr>
            <p:ph type="sldImg"/>
          </p:nvPr>
        </p:nvSpPr>
        <p:spPr>
          <a:xfrm>
            <a:off x="0" y="0"/>
            <a:ext cx="0" cy="0"/>
          </a:xfrm>
          <a:prstGeom prst="rect">
            <a:avLst/>
          </a:prstGeom>
          <a:ln w="0">
            <a:noFill/>
          </a:ln>
        </p:spPr>
      </p:sp>
      <p:sp>
        <p:nvSpPr>
          <p:cNvPr id="4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3. </a:t>
            </a:r>
            <a:r>
              <a:rPr lang="ko-KR" sz="2000" b="0" u="none" strike="noStrike">
                <a:solidFill>
                  <a:srgbClr val="000000"/>
                </a:solidFill>
                <a:effectLst/>
                <a:uFillTx/>
                <a:latin typeface="Arial"/>
              </a:rPr>
              <a:t>여러 </a:t>
            </a:r>
            <a:r>
              <a:rPr lang="en-US" sz="2000" b="0" u="none" strike="noStrike">
                <a:solidFill>
                  <a:srgbClr val="000000"/>
                </a:solidFill>
                <a:effectLst/>
                <a:uFillTx/>
                <a:latin typeface="Arial"/>
              </a:rPr>
              <a:t>BS</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MEC server</a:t>
            </a:r>
            <a:r>
              <a:rPr lang="ko-KR" sz="2000" b="0" u="none" strike="noStrike">
                <a:solidFill>
                  <a:srgbClr val="000000"/>
                </a:solidFill>
                <a:effectLst/>
                <a:uFillTx/>
                <a:latin typeface="Arial"/>
              </a:rPr>
              <a:t>가 선택지와 간섭을 함께 만든다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Fig. 1</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mobile users, MEC server</a:t>
            </a:r>
            <a:r>
              <a:rPr lang="ko-KR" sz="2000" b="0" u="none" strike="noStrike">
                <a:solidFill>
                  <a:srgbClr val="000000"/>
                </a:solidFill>
                <a:effectLst/>
                <a:uFillTx/>
                <a:latin typeface="Arial"/>
              </a:rPr>
              <a:t>가 있는 </a:t>
            </a:r>
            <a:r>
              <a:rPr lang="en-US" sz="2000" b="0" u="none" strike="noStrike">
                <a:solidFill>
                  <a:srgbClr val="000000"/>
                </a:solidFill>
                <a:effectLst/>
                <a:uFillTx/>
                <a:latin typeface="Arial"/>
              </a:rPr>
              <a:t>BS, potential association link</a:t>
            </a:r>
            <a:r>
              <a:rPr lang="ko-KR" sz="2000" b="0" u="none" strike="noStrike">
                <a:solidFill>
                  <a:srgbClr val="000000"/>
                </a:solidFill>
                <a:effectLst/>
                <a:uFillTx/>
                <a:latin typeface="Arial"/>
              </a:rPr>
              <a:t>를 보여 줍니다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편집 가능한 그림은 선택된 </a:t>
            </a:r>
            <a:r>
              <a:rPr lang="en-US" sz="2000" b="0" u="none" strike="noStrike">
                <a:solidFill>
                  <a:srgbClr val="000000"/>
                </a:solidFill>
                <a:effectLst/>
                <a:uFillTx/>
                <a:latin typeface="Arial"/>
              </a:rPr>
              <a:t>link</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potential link</a:t>
            </a:r>
            <a:r>
              <a:rPr lang="ko-KR" sz="2000" b="0" u="none" strike="noStrike">
                <a:solidFill>
                  <a:srgbClr val="000000"/>
                </a:solidFill>
                <a:effectLst/>
                <a:uFillTx/>
                <a:latin typeface="Arial"/>
              </a:rPr>
              <a:t>를 분리합니다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논문은 </a:t>
            </a:r>
            <a:r>
              <a:rPr lang="en-US" sz="2000" b="0" u="none" strike="noStrike">
                <a:solidFill>
                  <a:srgbClr val="000000"/>
                </a:solidFill>
                <a:effectLst/>
                <a:uFillTx/>
                <a:latin typeface="Arial"/>
              </a:rPr>
              <a:t>index s</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server, BS, MEC server</a:t>
            </a:r>
            <a:r>
              <a:rPr lang="ko-KR" sz="2000" b="0" u="none" strike="noStrike">
                <a:solidFill>
                  <a:srgbClr val="000000"/>
                </a:solidFill>
                <a:effectLst/>
                <a:uFillTx/>
                <a:latin typeface="Arial"/>
              </a:rPr>
              <a:t>를 서로 바꾸어 부릅니다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 6; Fig. 1; §III</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74"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42F5339E-2C2B-4B03-8389-0851634D7138}"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sldImg"/>
          </p:nvPr>
        </p:nvSpPr>
        <p:spPr>
          <a:xfrm>
            <a:off x="0" y="0"/>
            <a:ext cx="0" cy="0"/>
          </a:xfrm>
          <a:prstGeom prst="rect">
            <a:avLst/>
          </a:prstGeom>
          <a:ln w="0">
            <a:noFill/>
          </a:ln>
        </p:spPr>
      </p:sp>
      <p:sp>
        <p:nvSpPr>
          <p:cNvPr id="4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4. local</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offload</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time·energy accounting</a:t>
            </a:r>
            <a:r>
              <a:rPr lang="ko-KR" sz="2000" b="0" u="none" strike="noStrike">
                <a:solidFill>
                  <a:srgbClr val="000000"/>
                </a:solidFill>
                <a:effectLst/>
                <a:uFillTx/>
                <a:latin typeface="Arial"/>
              </a:rPr>
              <a:t>이 다르다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원문의 </a:t>
            </a:r>
            <a:r>
              <a:rPr lang="en-US" sz="2000" b="0" u="none" strike="noStrike">
                <a:solidFill>
                  <a:srgbClr val="000000"/>
                </a:solidFill>
                <a:effectLst/>
                <a:uFillTx/>
                <a:latin typeface="Arial"/>
              </a:rPr>
              <a:t>local time·energy</a:t>
            </a:r>
            <a:r>
              <a:rPr lang="ko-KR" sz="2000" b="0" u="none" strike="noStrike">
                <a:solidFill>
                  <a:srgbClr val="000000"/>
                </a:solidFill>
                <a:effectLst/>
                <a:uFillTx/>
                <a:latin typeface="Arial"/>
              </a:rPr>
              <a:t>는 식 </a:t>
            </a:r>
            <a:r>
              <a:rPr lang="en-US" sz="2000" b="0" u="none" strike="noStrike">
                <a:solidFill>
                  <a:srgbClr val="000000"/>
                </a:solidFill>
                <a:effectLst/>
                <a:uFillTx/>
                <a:latin typeface="Arial"/>
              </a:rPr>
              <a:t>(1)</a:t>
            </a:r>
            <a:r>
              <a:rPr lang="ko-KR" sz="2000" b="0" u="none" strike="noStrike">
                <a:solidFill>
                  <a:srgbClr val="000000"/>
                </a:solidFill>
                <a:effectLst/>
                <a:uFillTx/>
                <a:latin typeface="Arial"/>
              </a:rPr>
              <a:t>과 그 직전 정의에 있습니다</a:t>
            </a:r>
            <a:r>
              <a:rPr lang="en-US" sz="2000" b="0" u="none" strike="noStrike">
                <a:solidFill>
                  <a:srgbClr val="000000"/>
                </a:solidFill>
                <a:effectLst/>
                <a:uFillTx/>
                <a:latin typeface="Arial"/>
              </a:rPr>
              <a:t>. Offloaded delay</a:t>
            </a:r>
            <a:r>
              <a:rPr lang="ko-KR" sz="2000" b="0" u="none" strike="noStrike">
                <a:solidFill>
                  <a:srgbClr val="000000"/>
                </a:solidFill>
                <a:effectLst/>
                <a:uFillTx/>
                <a:latin typeface="Arial"/>
              </a:rPr>
              <a:t>는 식 </a:t>
            </a:r>
            <a:r>
              <a:rPr lang="en-US" sz="2000" b="0" u="none" strike="noStrike">
                <a:solidFill>
                  <a:srgbClr val="000000"/>
                </a:solidFill>
                <a:effectLst/>
                <a:uFillTx/>
                <a:latin typeface="Arial"/>
              </a:rPr>
              <a:t>(5), (7), (8), transmit energy</a:t>
            </a:r>
            <a:r>
              <a:rPr lang="ko-KR" sz="2000" b="0" u="none" strike="noStrike">
                <a:solidFill>
                  <a:srgbClr val="000000"/>
                </a:solidFill>
                <a:effectLst/>
                <a:uFillTx/>
                <a:latin typeface="Arial"/>
              </a:rPr>
              <a:t>는 식 </a:t>
            </a:r>
            <a:r>
              <a:rPr lang="en-US" sz="2000" b="0" u="none" strike="noStrike">
                <a:solidFill>
                  <a:srgbClr val="000000"/>
                </a:solidFill>
                <a:effectLst/>
                <a:uFillTx/>
                <a:latin typeface="Arial"/>
              </a:rPr>
              <a:t>(9)</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원문은 </a:t>
            </a:r>
            <a:r>
              <a:rPr lang="en-US" sz="2000" b="0" u="none" strike="noStrike">
                <a:solidFill>
                  <a:srgbClr val="000000"/>
                </a:solidFill>
                <a:effectLst/>
                <a:uFillTx/>
                <a:latin typeface="Arial"/>
              </a:rPr>
              <a:t>output</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input</a:t>
            </a:r>
            <a:r>
              <a:rPr lang="ko-KR" sz="2000" b="0" u="none" strike="noStrike">
                <a:solidFill>
                  <a:srgbClr val="000000"/>
                </a:solidFill>
                <a:effectLst/>
                <a:uFillTx/>
                <a:latin typeface="Arial"/>
              </a:rPr>
              <a:t>보다 훨씬 작고 </a:t>
            </a:r>
            <a:r>
              <a:rPr lang="en-US" sz="2000" b="0" u="none" strike="noStrike">
                <a:solidFill>
                  <a:srgbClr val="000000"/>
                </a:solidFill>
                <a:effectLst/>
                <a:uFillTx/>
                <a:latin typeface="Arial"/>
              </a:rPr>
              <a:t>downlink</a:t>
            </a:r>
            <a:r>
              <a:rPr lang="ko-KR" sz="2000" b="0" u="none" strike="noStrike">
                <a:solidFill>
                  <a:srgbClr val="000000"/>
                </a:solidFill>
                <a:effectLst/>
                <a:uFillTx/>
                <a:latin typeface="Arial"/>
              </a:rPr>
              <a:t>가 빠르다고 가정하여 </a:t>
            </a:r>
            <a:r>
              <a:rPr lang="en-US" sz="2000" b="0" u="none" strike="noStrike">
                <a:solidFill>
                  <a:srgbClr val="000000"/>
                </a:solidFill>
                <a:effectLst/>
                <a:uFillTx/>
                <a:latin typeface="Arial"/>
              </a:rPr>
              <a:t>output delay</a:t>
            </a:r>
            <a:r>
              <a:rPr lang="ko-KR" sz="2000" b="0" u="none" strike="noStrike">
                <a:solidFill>
                  <a:srgbClr val="000000"/>
                </a:solidFill>
                <a:effectLst/>
                <a:uFillTx/>
                <a:latin typeface="Arial"/>
              </a:rPr>
              <a:t>를 생략합니다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같은 </a:t>
            </a:r>
            <a:r>
              <a:rPr lang="en-US" sz="2000" b="0" u="none" strike="noStrike">
                <a:solidFill>
                  <a:srgbClr val="000000"/>
                </a:solidFill>
                <a:effectLst/>
                <a:uFillTx/>
                <a:latin typeface="Arial"/>
              </a:rPr>
              <a:t>BS</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users</a:t>
            </a:r>
            <a:r>
              <a:rPr lang="ko-KR" sz="2000" b="0" u="none" strike="noStrike">
                <a:solidFill>
                  <a:srgbClr val="000000"/>
                </a:solidFill>
                <a:effectLst/>
                <a:uFillTx/>
                <a:latin typeface="Arial"/>
              </a:rPr>
              <a:t>는 서로 다른 </a:t>
            </a:r>
            <a:r>
              <a:rPr lang="en-US" sz="2000" b="0" u="none" strike="noStrike">
                <a:solidFill>
                  <a:srgbClr val="000000"/>
                </a:solidFill>
                <a:effectLst/>
                <a:uFillTx/>
                <a:latin typeface="Arial"/>
              </a:rPr>
              <a:t>OFDMA sub-band</a:t>
            </a:r>
            <a:r>
              <a:rPr lang="ko-KR" sz="2000" b="0" u="none" strike="noStrike">
                <a:solidFill>
                  <a:srgbClr val="000000"/>
                </a:solidFill>
                <a:effectLst/>
                <a:uFillTx/>
                <a:latin typeface="Arial"/>
              </a:rPr>
              <a:t>를 쓰고</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다른 </a:t>
            </a:r>
            <a:r>
              <a:rPr lang="en-US" sz="2000" b="0" u="none" strike="noStrike">
                <a:solidFill>
                  <a:srgbClr val="000000"/>
                </a:solidFill>
                <a:effectLst/>
                <a:uFillTx/>
                <a:latin typeface="Arial"/>
              </a:rPr>
              <a:t>BS</a:t>
            </a:r>
            <a:r>
              <a:rPr lang="ko-KR" sz="2000" b="0" u="none" strike="noStrike">
                <a:solidFill>
                  <a:srgbClr val="000000"/>
                </a:solidFill>
                <a:effectLst/>
                <a:uFillTx/>
                <a:latin typeface="Arial"/>
              </a:rPr>
              <a:t>의 같은</a:t>
            </a:r>
            <a:r>
              <a:rPr lang="en-US" sz="2000" b="0" u="none" strike="noStrike">
                <a:solidFill>
                  <a:srgbClr val="000000"/>
                </a:solidFill>
                <a:effectLst/>
                <a:uFillTx/>
                <a:latin typeface="Arial"/>
              </a:rPr>
              <a:t>-sub-band users</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inter-cell interference</a:t>
            </a:r>
            <a:r>
              <a:rPr lang="ko-KR" sz="2000" b="0" u="none" strike="noStrike">
                <a:solidFill>
                  <a:srgbClr val="000000"/>
                </a:solidFill>
                <a:effectLst/>
                <a:uFillTx/>
                <a:latin typeface="Arial"/>
              </a:rPr>
              <a:t>를 만듭니다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6-9; Eqs. 1, 3-9</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77"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CB7BF80-D786-42AA-95BD-19779433DC2E}"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ldImg"/>
          </p:nvPr>
        </p:nvSpPr>
        <p:spPr>
          <a:xfrm>
            <a:off x="0" y="0"/>
            <a:ext cx="0" cy="0"/>
          </a:xfrm>
          <a:prstGeom prst="rect">
            <a:avLst/>
          </a:prstGeom>
          <a:ln w="0">
            <a:noFill/>
          </a:ln>
        </p:spPr>
      </p:sp>
      <p:sp>
        <p:nvSpPr>
          <p:cNvPr id="4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5. </a:t>
            </a:r>
            <a:r>
              <a:rPr lang="ko-KR" sz="2000" b="0" u="none" strike="noStrike">
                <a:solidFill>
                  <a:srgbClr val="000000"/>
                </a:solidFill>
                <a:effectLst/>
                <a:uFillTx/>
                <a:latin typeface="Arial"/>
              </a:rPr>
              <a:t>오프로딩 변수는 세 가지 선택을 동시에 담는다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이진 선택변수의 제약을 읽는 순서입니다</a:t>
            </a:r>
            <a:r>
              <a:rPr lang="en-US" sz="2000" b="0" u="none" strike="noStrike">
                <a:solidFill>
                  <a:srgbClr val="000000"/>
                </a:solidFill>
                <a:effectLst/>
                <a:uFillTx/>
                <a:latin typeface="Arial"/>
              </a:rPr>
              <a:t>. Equation (2) requires sum over s and j of x^j_us to be at most one for each user. Equation (12d) requires sum over users of x^j_us to be at most one at server s and sub-band j. A user without a selected entry executes locally. U_s is the user set selected for server 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7, 10; Eqs. 2, 12b-12d</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80"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D4DE0CE-3D79-4A9F-8EE2-3F304A0A0C2D}"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1" name="PlaceHolder 1"/>
          <p:cNvSpPr>
            <a:spLocks noGrp="1"/>
          </p:cNvSpPr>
          <p:nvPr>
            <p:ph type="sldImg"/>
          </p:nvPr>
        </p:nvSpPr>
        <p:spPr>
          <a:xfrm>
            <a:off x="0" y="0"/>
            <a:ext cx="0" cy="0"/>
          </a:xfrm>
          <a:prstGeom prst="rect">
            <a:avLst/>
          </a:prstGeom>
          <a:ln w="0">
            <a:noFill/>
          </a:ln>
        </p:spPr>
      </p:sp>
      <p:sp>
        <p:nvSpPr>
          <p:cNvPr id="4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6. utility</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local </a:t>
            </a:r>
            <a:r>
              <a:rPr lang="ko-KR" sz="2000" b="0" u="none" strike="noStrike">
                <a:solidFill>
                  <a:srgbClr val="000000"/>
                </a:solidFill>
                <a:effectLst/>
                <a:uFillTx/>
                <a:latin typeface="Arial"/>
              </a:rPr>
              <a:t>대비 </a:t>
            </a:r>
            <a:r>
              <a:rPr lang="en-US" sz="2000" b="0" u="none" strike="noStrike">
                <a:solidFill>
                  <a:srgbClr val="000000"/>
                </a:solidFill>
                <a:effectLst/>
                <a:uFillTx/>
                <a:latin typeface="Arial"/>
              </a:rPr>
              <a:t>time·energy </a:t>
            </a:r>
            <a:r>
              <a:rPr lang="ko-KR" sz="2000" b="0" u="none" strike="noStrike">
                <a:solidFill>
                  <a:srgbClr val="000000"/>
                </a:solidFill>
                <a:effectLst/>
                <a:uFillTx/>
                <a:latin typeface="Arial"/>
              </a:rPr>
              <a:t>개선의 가중합이다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utility</a:t>
            </a:r>
            <a:r>
              <a:rPr lang="ko-KR" sz="2000" b="0" u="none" strike="noStrike">
                <a:solidFill>
                  <a:srgbClr val="000000"/>
                </a:solidFill>
                <a:effectLst/>
                <a:uFillTx/>
                <a:latin typeface="Arial"/>
              </a:rPr>
              <a:t>의 기준점이 </a:t>
            </a:r>
            <a:r>
              <a:rPr lang="en-US" sz="2000" b="0" u="none" strike="noStrike">
                <a:solidFill>
                  <a:srgbClr val="000000"/>
                </a:solidFill>
                <a:effectLst/>
                <a:uFillTx/>
                <a:latin typeface="Arial"/>
              </a:rPr>
              <a:t>local execution</a:t>
            </a:r>
            <a:r>
              <a:rPr lang="ko-KR" sz="2000" b="0" u="none" strike="noStrike">
                <a:solidFill>
                  <a:srgbClr val="000000"/>
                </a:solidFill>
                <a:effectLst/>
                <a:uFillTx/>
                <a:latin typeface="Arial"/>
              </a:rPr>
              <a:t>임을 강조합니다</a:t>
            </a:r>
            <a:r>
              <a:rPr lang="en-US" sz="2000" b="0" u="none" strike="noStrike">
                <a:solidFill>
                  <a:srgbClr val="000000"/>
                </a:solidFill>
                <a:effectLst/>
                <a:uFillTx/>
                <a:latin typeface="Arial"/>
              </a:rPr>
              <a:t>. Equation (10) defines J_u as weighted relative reductions in time and energy versus local execution, multiplied by the offloading indicator. Equation (11) sums lambda_u J_u. The text gives payment/revenue preference as one interpretation of lambda_u. If J_u is nonpositive, the paper says that user should not offload.</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9-10; Eqs. 10-11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83"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9D5A8332-94B9-40AF-80FC-8F784FBC97D0}"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PlaceHolder 1"/>
          <p:cNvSpPr>
            <a:spLocks noGrp="1"/>
          </p:cNvSpPr>
          <p:nvPr>
            <p:ph type="sldImg"/>
          </p:nvPr>
        </p:nvSpPr>
        <p:spPr>
          <a:xfrm>
            <a:off x="0" y="0"/>
            <a:ext cx="0" cy="0"/>
          </a:xfrm>
          <a:prstGeom prst="rect">
            <a:avLst/>
          </a:prstGeom>
          <a:ln w="0">
            <a:noFill/>
          </a:ln>
        </p:spPr>
      </p:sp>
      <p:sp>
        <p:nvSpPr>
          <p:cNvPr id="4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7. JTORA: scheduling</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allocation</a:t>
            </a:r>
            <a:r>
              <a:rPr lang="ko-KR" sz="2000" b="0" u="none" strike="noStrike">
                <a:solidFill>
                  <a:srgbClr val="000000"/>
                </a:solidFill>
                <a:effectLst/>
                <a:uFillTx/>
                <a:latin typeface="Arial"/>
              </a:rPr>
              <a:t>이 섞인 </a:t>
            </a:r>
            <a:r>
              <a:rPr lang="en-US" sz="2000" b="0" u="none" strike="noStrike">
                <a:solidFill>
                  <a:srgbClr val="000000"/>
                </a:solidFill>
                <a:effectLst/>
                <a:uFillTx/>
                <a:latin typeface="Arial"/>
              </a:rPr>
              <a:t>MINLP</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JTORA</a:t>
            </a:r>
            <a:r>
              <a:rPr lang="ko-KR" sz="2000" b="0" u="none" strike="noStrike">
                <a:solidFill>
                  <a:srgbClr val="000000"/>
                </a:solidFill>
                <a:effectLst/>
                <a:uFillTx/>
                <a:latin typeface="Arial"/>
              </a:rPr>
              <a:t>의 변수와 제약을 한 화면에 묶습니다</a:t>
            </a:r>
            <a:r>
              <a:rPr lang="en-US" sz="2000" b="0" u="none" strike="noStrike">
                <a:solidFill>
                  <a:srgbClr val="000000"/>
                </a:solidFill>
                <a:effectLst/>
                <a:uFillTx/>
                <a:latin typeface="Arial"/>
              </a:rPr>
              <a:t>. Equations (12a)-(12g) are the JTORA formulation. The authors state that it is NP-hard and that exhaustive optimization is impractical as variables grow with users, servers, and sub-bands. The subsequent method is designed as a low-complexity suboptimal approach, not an exact general solver.</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10-11; Eqs. 12a-12g</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86"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BC3B753-6B0A-4BEF-A3FC-23EA91551E10}"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sldImg"/>
          </p:nvPr>
        </p:nvSpPr>
        <p:spPr>
          <a:xfrm>
            <a:off x="0" y="0"/>
            <a:ext cx="0" cy="0"/>
          </a:xfrm>
          <a:prstGeom prst="rect">
            <a:avLst/>
          </a:prstGeom>
          <a:ln w="0">
            <a:noFill/>
          </a:ln>
        </p:spPr>
      </p:sp>
      <p:sp>
        <p:nvSpPr>
          <p:cNvPr id="4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8. </a:t>
            </a:r>
            <a:r>
              <a:rPr lang="ko-KR" sz="2000" b="0" u="none" strike="noStrike">
                <a:solidFill>
                  <a:srgbClr val="000000"/>
                </a:solidFill>
                <a:effectLst/>
                <a:uFillTx/>
                <a:latin typeface="Arial"/>
              </a:rPr>
              <a:t>고정된 </a:t>
            </a:r>
            <a:r>
              <a:rPr lang="en-US" sz="2000" b="0" u="none" strike="noStrike">
                <a:solidFill>
                  <a:srgbClr val="000000"/>
                </a:solidFill>
                <a:effectLst/>
                <a:uFillTx/>
                <a:latin typeface="Arial"/>
              </a:rPr>
              <a:t>X</a:t>
            </a:r>
            <a:r>
              <a:rPr lang="ko-KR" sz="2000" b="0" u="none" strike="noStrike">
                <a:solidFill>
                  <a:srgbClr val="000000"/>
                </a:solidFill>
                <a:effectLst/>
                <a:uFillTx/>
                <a:latin typeface="Arial"/>
              </a:rPr>
              <a:t>에서 연속 자원을 풀고</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그 값을 </a:t>
            </a:r>
            <a:r>
              <a:rPr lang="en-US" sz="2000" b="0" u="none" strike="noStrike">
                <a:solidFill>
                  <a:srgbClr val="000000"/>
                </a:solidFill>
                <a:effectLst/>
                <a:uFillTx/>
                <a:latin typeface="Arial"/>
              </a:rPr>
              <a:t>X</a:t>
            </a:r>
            <a:r>
              <a:rPr lang="ko-KR" sz="2000" b="0" u="none" strike="noStrike">
                <a:solidFill>
                  <a:srgbClr val="000000"/>
                </a:solidFill>
                <a:effectLst/>
                <a:uFillTx/>
                <a:latin typeface="Arial"/>
              </a:rPr>
              <a:t>의 점수로 쓴다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원문이 쓰는 </a:t>
            </a:r>
            <a:r>
              <a:rPr lang="en-US" sz="2000" b="0" u="none" strike="noStrike">
                <a:solidFill>
                  <a:srgbClr val="000000"/>
                </a:solidFill>
                <a:effectLst/>
                <a:uFillTx/>
                <a:latin typeface="Arial"/>
              </a:rPr>
              <a:t>outer/inner </a:t>
            </a:r>
            <a:r>
              <a:rPr lang="ko-KR" sz="2000" b="0" u="none" strike="noStrike">
                <a:solidFill>
                  <a:srgbClr val="000000"/>
                </a:solidFill>
                <a:effectLst/>
                <a:uFillTx/>
                <a:latin typeface="Arial"/>
              </a:rPr>
              <a:t>분해를 설명합니다</a:t>
            </a:r>
            <a:r>
              <a:rPr lang="en-US" sz="2000" b="0" u="none" strike="noStrike">
                <a:solidFill>
                  <a:srgbClr val="000000"/>
                </a:solidFill>
                <a:effectLst/>
                <a:uFillTx/>
                <a:latin typeface="Arial"/>
              </a:rPr>
              <a:t>. Equations (13)-(15) express max_X max_{P,F} J(X,P,F), then define J*(X) as the RA optimum for fixed X. The TO problem chooses X under the binary association/sub-band constraints. RA feasibility constraints are separated from X constraints, which permits the nesting used here.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10-12; Eqs. 13-15</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89"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F2907B69-5080-41CA-A8FF-F01E5724E76B}"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PlaceHolder 1"/>
          <p:cNvSpPr>
            <a:spLocks noGrp="1"/>
          </p:cNvSpPr>
          <p:nvPr>
            <p:ph type="sldImg"/>
          </p:nvPr>
        </p:nvSpPr>
        <p:spPr>
          <a:xfrm>
            <a:off x="0" y="0"/>
            <a:ext cx="0" cy="0"/>
          </a:xfrm>
          <a:prstGeom prst="rect">
            <a:avLst/>
          </a:prstGeom>
          <a:ln w="0">
            <a:noFill/>
          </a:ln>
        </p:spPr>
      </p:sp>
      <p:sp>
        <p:nvSpPr>
          <p:cNvPr id="4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9. RA</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uplink power</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server CPU</a:t>
            </a:r>
            <a:r>
              <a:rPr lang="ko-KR" sz="2000" b="0" u="none" strike="noStrike">
                <a:solidFill>
                  <a:srgbClr val="000000"/>
                </a:solidFill>
                <a:effectLst/>
                <a:uFillTx/>
                <a:latin typeface="Arial"/>
              </a:rPr>
              <a:t>의 두 문제로 다시 나뉜다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고정된 </a:t>
            </a:r>
            <a:r>
              <a:rPr lang="en-US" sz="2000" b="0" u="none" strike="noStrike">
                <a:solidFill>
                  <a:srgbClr val="000000"/>
                </a:solidFill>
                <a:effectLst/>
                <a:uFillTx/>
                <a:latin typeface="Arial"/>
              </a:rPr>
              <a:t>X </a:t>
            </a:r>
            <a:r>
              <a:rPr lang="ko-KR" sz="2000" b="0" u="none" strike="noStrike">
                <a:solidFill>
                  <a:srgbClr val="000000"/>
                </a:solidFill>
                <a:effectLst/>
                <a:uFillTx/>
                <a:latin typeface="Arial"/>
              </a:rPr>
              <a:t>안에서만 </a:t>
            </a:r>
            <a:r>
              <a:rPr lang="en-US" sz="2000" b="0" u="none" strike="noStrike">
                <a:solidFill>
                  <a:srgbClr val="000000"/>
                </a:solidFill>
                <a:effectLst/>
                <a:uFillTx/>
                <a:latin typeface="Arial"/>
              </a:rPr>
              <a:t>RA</a:t>
            </a:r>
            <a:r>
              <a:rPr lang="ko-KR" sz="2000" b="0" u="none" strike="noStrike">
                <a:solidFill>
                  <a:srgbClr val="000000"/>
                </a:solidFill>
                <a:effectLst/>
                <a:uFillTx/>
                <a:latin typeface="Arial"/>
              </a:rPr>
              <a:t>가 분리됨을 설명합니다</a:t>
            </a:r>
            <a:r>
              <a:rPr lang="en-US" sz="2000" b="0" u="none" strike="noStrike">
                <a:solidFill>
                  <a:srgbClr val="000000"/>
                </a:solidFill>
                <a:effectLst/>
                <a:uFillTx/>
                <a:latin typeface="Arial"/>
              </a:rPr>
              <a:t>. For fixed X, Eq. (16) turns utility maximization into minimizing V(X,P,F). Equation (19) is the sum of a power/rate term and a CPU-share term, which supports the independent UPA and CRA subproblems. This separation does not make the original full JTORA globally convex because X remains combinatorial.</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12-13; Eqs. 16-20</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92"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A0D5A1D-2FC6-4512-A1FB-6B3B7679B30F}"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sldImg"/>
          </p:nvPr>
        </p:nvSpPr>
        <p:spPr>
          <a:xfrm>
            <a:off x="0" y="0"/>
            <a:ext cx="0" cy="0"/>
          </a:xfrm>
          <a:prstGeom prst="rect">
            <a:avLst/>
          </a:prstGeom>
          <a:ln w="0">
            <a:noFill/>
          </a:ln>
        </p:spPr>
      </p:sp>
      <p:sp>
        <p:nvSpPr>
          <p:cNvPr id="4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10. UPA</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inter-cell interference</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upper-bound</a:t>
            </a:r>
            <a:r>
              <a:rPr lang="ko-KR" sz="2000" b="0" u="none" strike="noStrike">
                <a:solidFill>
                  <a:srgbClr val="000000"/>
                </a:solidFill>
                <a:effectLst/>
                <a:uFillTx/>
                <a:latin typeface="Arial"/>
              </a:rPr>
              <a:t>로 근사한다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UPA</a:t>
            </a:r>
            <a:r>
              <a:rPr lang="ko-KR" sz="2000" b="0" u="none" strike="noStrike">
                <a:solidFill>
                  <a:srgbClr val="000000"/>
                </a:solidFill>
                <a:effectLst/>
                <a:uFillTx/>
                <a:latin typeface="Arial"/>
              </a:rPr>
              <a:t>의 근사 경계와 조건을 구분합니다</a:t>
            </a:r>
            <a:r>
              <a:rPr lang="en-US" sz="2000" b="0" u="none" strike="noStrike">
                <a:solidFill>
                  <a:srgbClr val="000000"/>
                </a:solidFill>
                <a:effectLst/>
                <a:uFillTx/>
                <a:latin typeface="Arial"/>
              </a:rPr>
              <a:t>. Equation (21) defines the achievable upper bound for interference using power budgets P_k. Equation (22) substitutes it into an approximate SINR, and Eq. (23) separates the power choices. Lemma 1 states that Gamma_s(p_u) is strictly quasi-convex on the feasible power interval. The paper argues the approximation is reasonable when the offloading decision itself keeps the estimated interference small.</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13-14; Eqs. 20-23; Lemma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95"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68EA04C-9D0D-48D7-AC33-F41B9982E3F1}"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PlaceHolder 1"/>
          <p:cNvSpPr>
            <a:spLocks noGrp="1"/>
          </p:cNvSpPr>
          <p:nvPr>
            <p:ph type="sldImg"/>
          </p:nvPr>
        </p:nvSpPr>
        <p:spPr>
          <a:xfrm>
            <a:off x="0" y="0"/>
            <a:ext cx="0" cy="0"/>
          </a:xfrm>
          <a:prstGeom prst="rect">
            <a:avLst/>
          </a:prstGeom>
          <a:ln w="0">
            <a:noFill/>
          </a:ln>
        </p:spPr>
      </p:sp>
      <p:sp>
        <p:nvSpPr>
          <p:cNvPr id="4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11. Algorithm 1: Omega </a:t>
            </a:r>
            <a:r>
              <a:rPr lang="ko-KR" sz="2000" b="0" u="none" strike="noStrike">
                <a:solidFill>
                  <a:srgbClr val="000000"/>
                </a:solidFill>
                <a:effectLst/>
                <a:uFillTx/>
                <a:latin typeface="Arial"/>
              </a:rPr>
              <a:t>부호로 </a:t>
            </a:r>
            <a:r>
              <a:rPr lang="en-US" sz="2000" b="0" u="none" strike="noStrike">
                <a:solidFill>
                  <a:srgbClr val="000000"/>
                </a:solidFill>
                <a:effectLst/>
                <a:uFillTx/>
                <a:latin typeface="Arial"/>
              </a:rPr>
              <a:t>power </a:t>
            </a:r>
            <a:r>
              <a:rPr lang="ko-KR" sz="2000" b="0" u="none" strike="noStrike">
                <a:solidFill>
                  <a:srgbClr val="000000"/>
                </a:solidFill>
                <a:effectLst/>
                <a:uFillTx/>
                <a:latin typeface="Arial"/>
              </a:rPr>
              <a:t>이분 탐색</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Algorithm 1</a:t>
            </a:r>
            <a:r>
              <a:rPr lang="ko-KR" sz="2000" b="0" u="none" strike="noStrike">
                <a:solidFill>
                  <a:srgbClr val="000000"/>
                </a:solidFill>
                <a:effectLst/>
                <a:uFillTx/>
                <a:latin typeface="Arial"/>
              </a:rPr>
              <a:t>의 경계판정과 </a:t>
            </a:r>
            <a:r>
              <a:rPr lang="en-US" sz="2000" b="0" u="none" strike="noStrike">
                <a:solidFill>
                  <a:srgbClr val="000000"/>
                </a:solidFill>
                <a:effectLst/>
                <a:uFillTx/>
                <a:latin typeface="Arial"/>
              </a:rPr>
              <a:t>bisection </a:t>
            </a:r>
            <a:r>
              <a:rPr lang="ko-KR" sz="2000" b="0" u="none" strike="noStrike">
                <a:solidFill>
                  <a:srgbClr val="000000"/>
                </a:solidFill>
                <a:effectLst/>
                <a:uFillTx/>
                <a:latin typeface="Arial"/>
              </a:rPr>
              <a:t>방향을 읽습니다</a:t>
            </a:r>
            <a:r>
              <a:rPr lang="en-US" sz="2000" b="0" u="none" strike="noStrike">
                <a:solidFill>
                  <a:srgbClr val="000000"/>
                </a:solidFill>
                <a:effectLst/>
                <a:uFillTx/>
                <a:latin typeface="Arial"/>
              </a:rPr>
              <a:t>. After deriving that Omega_s(p_u) is monotonically increasing and negative at zero, the paper gives Algorithm 1. If Omega_s(P_u) is no greater than zero, the optimum is the upper boundary. Otherwise bisection updates the lower end when Omega at midpoint is no greater than zero, and the upper end otherwise. The stated iteration count is ceiling log2(P_u/epsilon) when a root must be found.</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14-15; Eq. 24; Algorithm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498"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6CEF9AD-F5D6-406A-9E56-7BAC12C4D668}"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ldImg"/>
          </p:nvPr>
        </p:nvSpPr>
        <p:spPr>
          <a:xfrm>
            <a:off x="0" y="0"/>
            <a:ext cx="0" cy="0"/>
          </a:xfrm>
          <a:prstGeom prst="rect">
            <a:avLst/>
          </a:prstGeom>
          <a:ln w="0">
            <a:noFill/>
          </a:ln>
        </p:spPr>
      </p:sp>
      <p:sp>
        <p:nvSpPr>
          <p:cNvPr id="5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12. CRA</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server CPU</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sqrt(eta_u)</a:t>
            </a:r>
            <a:r>
              <a:rPr lang="ko-KR" sz="2000" b="0" u="none" strike="noStrike">
                <a:solidFill>
                  <a:srgbClr val="000000"/>
                </a:solidFill>
                <a:effectLst/>
                <a:uFillTx/>
                <a:latin typeface="Arial"/>
              </a:rPr>
              <a:t>에 비례해 나눈다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CPU share</a:t>
            </a:r>
            <a:r>
              <a:rPr lang="ko-KR" sz="2000" b="0" u="none" strike="noStrike">
                <a:solidFill>
                  <a:srgbClr val="000000"/>
                </a:solidFill>
                <a:effectLst/>
                <a:uFillTx/>
                <a:latin typeface="Arial"/>
              </a:rPr>
              <a:t>의 닫힌형 해가 고정 </a:t>
            </a:r>
            <a:r>
              <a:rPr lang="en-US" sz="2000" b="0" u="none" strike="noStrike">
                <a:solidFill>
                  <a:srgbClr val="000000"/>
                </a:solidFill>
                <a:effectLst/>
                <a:uFillTx/>
                <a:latin typeface="Arial"/>
              </a:rPr>
              <a:t>X</a:t>
            </a:r>
            <a:r>
              <a:rPr lang="ko-KR" sz="2000" b="0" u="none" strike="noStrike">
                <a:solidFill>
                  <a:srgbClr val="000000"/>
                </a:solidFill>
                <a:effectLst/>
                <a:uFillTx/>
                <a:latin typeface="Arial"/>
              </a:rPr>
              <a:t>에 조건부임을 설명합니다</a:t>
            </a:r>
            <a:r>
              <a:rPr lang="en-US" sz="2000" b="0" u="none" strike="noStrike">
                <a:solidFill>
                  <a:srgbClr val="000000"/>
                </a:solidFill>
                <a:effectLst/>
                <a:uFillTx/>
                <a:latin typeface="Arial"/>
              </a:rPr>
              <a:t>. Equation (25) defines the CRA problem. Equations (26a)-(26b) show its positive-definite Hessian. Equation (27) gives f_us*=f_s sqrt(eta_u) divided by the sum of sqrt(eta_u) over users in U_s. Equation (28) gives the resulting objective. The solution is conditional on the fixed offloading set X.</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15-16; Eqs. 25-28</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0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BE4B638-E865-4C5C-8FFB-146001B6447A}"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type="sldImg"/>
          </p:nvPr>
        </p:nvSpPr>
        <p:spPr>
          <a:xfrm>
            <a:off x="0" y="0"/>
            <a:ext cx="0" cy="0"/>
          </a:xfrm>
          <a:prstGeom prst="rect">
            <a:avLst/>
          </a:prstGeom>
          <a:ln w="0">
            <a:noFill/>
          </a:ln>
        </p:spPr>
      </p:sp>
      <p:sp>
        <p:nvSpPr>
          <p:cNvPr id="5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13. outer TO</a:t>
            </a:r>
            <a:r>
              <a:rPr lang="ko-KR" sz="2000" b="0" u="none" strike="noStrike">
                <a:solidFill>
                  <a:srgbClr val="000000"/>
                </a:solidFill>
                <a:effectLst/>
                <a:uFillTx/>
                <a:latin typeface="Arial"/>
              </a:rPr>
              <a:t>는 두 </a:t>
            </a:r>
            <a:r>
              <a:rPr lang="en-US" sz="2000" b="0" u="none" strike="noStrike">
                <a:solidFill>
                  <a:srgbClr val="000000"/>
                </a:solidFill>
                <a:effectLst/>
                <a:uFillTx/>
                <a:latin typeface="Arial"/>
              </a:rPr>
              <a:t>matroid </a:t>
            </a:r>
            <a:r>
              <a:rPr lang="ko-KR" sz="2000" b="0" u="none" strike="noStrike">
                <a:solidFill>
                  <a:srgbClr val="000000"/>
                </a:solidFill>
                <a:effectLst/>
                <a:uFillTx/>
                <a:latin typeface="Arial"/>
              </a:rPr>
              <a:t>제약 아래 </a:t>
            </a:r>
            <a:r>
              <a:rPr lang="en-US" sz="2000" b="0" u="none" strike="noStrike">
                <a:solidFill>
                  <a:srgbClr val="000000"/>
                </a:solidFill>
                <a:effectLst/>
                <a:uFillTx/>
                <a:latin typeface="Arial"/>
              </a:rPr>
              <a:t>set value</a:t>
            </a:r>
            <a:r>
              <a:rPr lang="ko-KR" sz="2000" b="0" u="none" strike="noStrike">
                <a:solidFill>
                  <a:srgbClr val="000000"/>
                </a:solidFill>
                <a:effectLst/>
                <a:uFillTx/>
                <a:latin typeface="Arial"/>
              </a:rPr>
              <a:t>를 최대화한다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TO</a:t>
            </a:r>
            <a:r>
              <a:rPr lang="ko-KR" sz="2000" b="0" u="none" strike="noStrike">
                <a:solidFill>
                  <a:srgbClr val="000000"/>
                </a:solidFill>
                <a:effectLst/>
                <a:uFillTx/>
                <a:latin typeface="Arial"/>
              </a:rPr>
              <a:t>가 두 </a:t>
            </a:r>
            <a:r>
              <a:rPr lang="en-US" sz="2000" b="0" u="none" strike="noStrike">
                <a:solidFill>
                  <a:srgbClr val="000000"/>
                </a:solidFill>
                <a:effectLst/>
                <a:uFillTx/>
                <a:latin typeface="Arial"/>
              </a:rPr>
              <a:t>matroid </a:t>
            </a:r>
            <a:r>
              <a:rPr lang="ko-KR" sz="2000" b="0" u="none" strike="noStrike">
                <a:solidFill>
                  <a:srgbClr val="000000"/>
                </a:solidFill>
                <a:effectLst/>
                <a:uFillTx/>
                <a:latin typeface="Arial"/>
              </a:rPr>
              <a:t>제약을 갖는다는 원문 표현을 따릅니다</a:t>
            </a:r>
            <a:r>
              <a:rPr lang="en-US" sz="2000" b="0" u="none" strike="noStrike">
                <a:solidFill>
                  <a:srgbClr val="000000"/>
                </a:solidFill>
                <a:effectLst/>
                <a:uFillTx/>
                <a:latin typeface="Arial"/>
              </a:rPr>
              <a:t>. Equation (30) is the TO problem after substituting the resource-allocation values. The paper says the two constraints define two matroids over ground set G. It notes that exhaustive search requires 2^n decisions with n=S times U times N, and is not practical.</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16-17; Eq. 30</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04"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05746C4-6DDD-44FE-9C0F-D05A51BF36FB}"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5" name="PlaceHolder 1"/>
          <p:cNvSpPr>
            <a:spLocks noGrp="1"/>
          </p:cNvSpPr>
          <p:nvPr>
            <p:ph type="sldImg"/>
          </p:nvPr>
        </p:nvSpPr>
        <p:spPr>
          <a:xfrm>
            <a:off x="0" y="0"/>
            <a:ext cx="0" cy="0"/>
          </a:xfrm>
          <a:prstGeom prst="rect">
            <a:avLst/>
          </a:prstGeom>
          <a:ln w="0">
            <a:noFill/>
          </a:ln>
        </p:spPr>
      </p:sp>
      <p:sp>
        <p:nvSpPr>
          <p:cNvPr id="5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14. Routine 1: </a:t>
            </a:r>
            <a:r>
              <a:rPr lang="ko-KR" sz="2000" b="0" u="none" strike="noStrike">
                <a:solidFill>
                  <a:srgbClr val="000000"/>
                </a:solidFill>
                <a:effectLst/>
                <a:uFillTx/>
                <a:latin typeface="Arial"/>
              </a:rPr>
              <a:t>새 </a:t>
            </a:r>
            <a:r>
              <a:rPr lang="en-US" sz="2000" b="0" u="none" strike="noStrike">
                <a:solidFill>
                  <a:srgbClr val="000000"/>
                </a:solidFill>
                <a:effectLst/>
                <a:uFillTx/>
                <a:latin typeface="Arial"/>
              </a:rPr>
              <a:t>entry</a:t>
            </a:r>
            <a:r>
              <a:rPr lang="ko-KR" sz="2000" b="0" u="none" strike="noStrike">
                <a:solidFill>
                  <a:srgbClr val="000000"/>
                </a:solidFill>
                <a:effectLst/>
                <a:uFillTx/>
                <a:latin typeface="Arial"/>
              </a:rPr>
              <a:t>의 충돌을 지운다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Routine 1</a:t>
            </a:r>
            <a:r>
              <a:rPr lang="ko-KR" sz="2000" b="0" u="none" strike="noStrike">
                <a:solidFill>
                  <a:srgbClr val="000000"/>
                </a:solidFill>
                <a:effectLst/>
                <a:uFillTx/>
                <a:latin typeface="Arial"/>
              </a:rPr>
              <a:t>의 충돌 제거 순서를 보입니다</a:t>
            </a:r>
            <a:r>
              <a:rPr lang="en-US" sz="2000" b="0" u="none" strike="noStrike">
                <a:solidFill>
                  <a:srgbClr val="000000"/>
                </a:solidFill>
                <a:effectLst/>
                <a:uFillTx/>
                <a:latin typeface="Arial"/>
              </a:rPr>
              <a:t>. Routine 1 removes x^i_uw for every server w and sub-band i, then removes x^j_vs for every user v, and finally adds x^j_us. Thus an exchange can drop up to two elements under the two matroid constraints. The separate remove operation simply deletes one existing entry.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 17; Routine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07"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F0A1D020-887C-4938-92F8-0EC2F504324A}"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sldImg"/>
          </p:nvPr>
        </p:nvSpPr>
        <p:spPr>
          <a:xfrm>
            <a:off x="0" y="0"/>
            <a:ext cx="0" cy="0"/>
          </a:xfrm>
          <a:prstGeom prst="rect">
            <a:avLst/>
          </a:prstGeom>
          <a:ln w="0">
            <a:noFill/>
          </a:ln>
        </p:spPr>
      </p:sp>
      <p:sp>
        <p:nvSpPr>
          <p:cNvPr id="50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15. Algorithm 2: </a:t>
            </a:r>
            <a:r>
              <a:rPr lang="ko-KR" sz="2000" b="0" u="none" strike="noStrike">
                <a:solidFill>
                  <a:srgbClr val="000000"/>
                </a:solidFill>
                <a:effectLst/>
                <a:uFillTx/>
                <a:latin typeface="Arial"/>
              </a:rPr>
              <a:t>개선될 때만 </a:t>
            </a:r>
            <a:r>
              <a:rPr lang="en-US" sz="2000" b="0" u="none" strike="noStrike">
                <a:solidFill>
                  <a:srgbClr val="000000"/>
                </a:solidFill>
                <a:effectLst/>
                <a:uFillTx/>
                <a:latin typeface="Arial"/>
              </a:rPr>
              <a:t>remove·exchange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Algorithm 2</a:t>
            </a:r>
            <a:r>
              <a:rPr lang="ko-KR" sz="2000" b="0" u="none" strike="noStrike">
                <a:solidFill>
                  <a:srgbClr val="000000"/>
                </a:solidFill>
                <a:effectLst/>
                <a:uFillTx/>
                <a:latin typeface="Arial"/>
              </a:rPr>
              <a:t>의 수용조건과 보장 한계를 분리합니다</a:t>
            </a:r>
            <a:r>
              <a:rPr lang="en-US" sz="2000" b="0" u="none" strike="noStrike">
                <a:solidFill>
                  <a:srgbClr val="000000"/>
                </a:solidFill>
                <a:effectLst/>
                <a:uFillTx/>
                <a:latin typeface="Arial"/>
              </a:rPr>
              <a:t>. Algorithm 2 uses the threshold (1+epsilon/n^2)J*(X) for both remove and exchange. Remark 1 gives O((1/epsilon)n^3 log n) running time when 1/epsilon is at most polynomial in n. Remark 2 calls the output X* a local optimal solution and explicitly says the degree of suboptimality is non-trivial to characterize.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17-18; Algorithm 2; Remarks 1-2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10"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977CC24-65D7-4E65-B250-173572DEF342}"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1" name="PlaceHolder 1"/>
          <p:cNvSpPr>
            <a:spLocks noGrp="1"/>
          </p:cNvSpPr>
          <p:nvPr>
            <p:ph type="sldImg"/>
          </p:nvPr>
        </p:nvSpPr>
        <p:spPr>
          <a:xfrm>
            <a:off x="0" y="0"/>
            <a:ext cx="0" cy="0"/>
          </a:xfrm>
          <a:prstGeom prst="rect">
            <a:avLst/>
          </a:prstGeom>
          <a:ln w="0">
            <a:noFill/>
          </a:ln>
        </p:spPr>
      </p:sp>
      <p:sp>
        <p:nvSpPr>
          <p:cNvPr id="51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16. </a:t>
            </a:r>
            <a:r>
              <a:rPr lang="ko-KR" sz="2000" b="0" u="none" strike="noStrike">
                <a:solidFill>
                  <a:srgbClr val="000000"/>
                </a:solidFill>
                <a:effectLst/>
                <a:uFillTx/>
                <a:latin typeface="Arial"/>
              </a:rPr>
              <a:t>교육용 가상 </a:t>
            </a:r>
            <a:r>
              <a:rPr lang="en-US" sz="2000" b="0" u="none" strike="noStrike">
                <a:solidFill>
                  <a:srgbClr val="000000"/>
                </a:solidFill>
                <a:effectLst/>
                <a:uFillTx/>
                <a:latin typeface="Arial"/>
              </a:rPr>
              <a:t>trace: </a:t>
            </a:r>
            <a:r>
              <a:rPr lang="ko-KR" sz="2000" b="0" u="none" strike="noStrike">
                <a:solidFill>
                  <a:srgbClr val="000000"/>
                </a:solidFill>
                <a:effectLst/>
                <a:uFillTx/>
                <a:latin typeface="Arial"/>
              </a:rPr>
              <a:t>한 </a:t>
            </a:r>
            <a:r>
              <a:rPr lang="en-US" sz="2000" b="0" u="none" strike="noStrike">
                <a:solidFill>
                  <a:srgbClr val="000000"/>
                </a:solidFill>
                <a:effectLst/>
                <a:uFillTx/>
                <a:latin typeface="Arial"/>
              </a:rPr>
              <a:t>sub-band</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exchange</a:t>
            </a:r>
            <a:r>
              <a:rPr lang="ko-KR" sz="2000" b="0" u="none" strike="noStrike">
                <a:solidFill>
                  <a:srgbClr val="000000"/>
                </a:solidFill>
                <a:effectLst/>
                <a:uFillTx/>
                <a:latin typeface="Arial"/>
              </a:rPr>
              <a:t>를 판정한다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이것은 논문 실험이나 계산된 </a:t>
            </a:r>
            <a:r>
              <a:rPr lang="en-US" sz="2000" b="0" u="none" strike="noStrike">
                <a:solidFill>
                  <a:srgbClr val="000000"/>
                </a:solidFill>
                <a:effectLst/>
                <a:uFillTx/>
                <a:latin typeface="Arial"/>
              </a:rPr>
              <a:t>J*</a:t>
            </a:r>
            <a:r>
              <a:rPr lang="ko-KR" sz="2000" b="0" u="none" strike="noStrike">
                <a:solidFill>
                  <a:srgbClr val="000000"/>
                </a:solidFill>
                <a:effectLst/>
                <a:uFillTx/>
                <a:latin typeface="Arial"/>
              </a:rPr>
              <a:t>가 아니라 재계산용으로 만든 예시입니다</a:t>
            </a:r>
            <a:r>
              <a:rPr lang="en-US" sz="2000" b="0" u="none" strike="noStrike">
                <a:solidFill>
                  <a:srgbClr val="000000"/>
                </a:solidFill>
                <a:effectLst/>
                <a:uFillTx/>
                <a:latin typeface="Arial"/>
              </a:rPr>
              <a:t>. With one server and one sub-band, adding B conflicts with A on the same server-sub-band. For n=2 and epsilon=.1, the stated improvement factor is 1.025. The assumed .83 exchange value exceeds .7175, so Algorithm 2 would take that exchange branch.</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17-18; Routine 1; Algorithm 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13"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4126A8C-9942-415D-9761-3E276AEC41AE}"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PlaceHolder 1"/>
          <p:cNvSpPr>
            <a:spLocks noGrp="1"/>
          </p:cNvSpPr>
          <p:nvPr>
            <p:ph type="sldImg"/>
          </p:nvPr>
        </p:nvSpPr>
        <p:spPr>
          <a:xfrm>
            <a:off x="0" y="0"/>
            <a:ext cx="0" cy="0"/>
          </a:xfrm>
          <a:prstGeom prst="rect">
            <a:avLst/>
          </a:prstGeom>
          <a:ln w="0">
            <a:noFill/>
          </a:ln>
        </p:spPr>
      </p:sp>
      <p:sp>
        <p:nvSpPr>
          <p:cNvPr id="51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17. local search</a:t>
            </a:r>
            <a:r>
              <a:rPr lang="ko-KR" sz="2000" b="0" u="none" strike="noStrike">
                <a:solidFill>
                  <a:srgbClr val="000000"/>
                </a:solidFill>
                <a:effectLst/>
                <a:uFillTx/>
                <a:latin typeface="Arial"/>
              </a:rPr>
              <a:t>는 각 </a:t>
            </a:r>
            <a:r>
              <a:rPr lang="en-US" sz="2000" b="0" u="none" strike="noStrike">
                <a:solidFill>
                  <a:srgbClr val="000000"/>
                </a:solidFill>
                <a:effectLst/>
                <a:uFillTx/>
                <a:latin typeface="Arial"/>
              </a:rPr>
              <a:t>candidate X</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RA value</a:t>
            </a:r>
            <a:r>
              <a:rPr lang="ko-KR" sz="2000" b="0" u="none" strike="noStrike">
                <a:solidFill>
                  <a:srgbClr val="000000"/>
                </a:solidFill>
                <a:effectLst/>
                <a:uFillTx/>
                <a:latin typeface="Arial"/>
              </a:rPr>
              <a:t>를 비교한다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Algorithm 2</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remove</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exchange </a:t>
            </a:r>
            <a:r>
              <a:rPr lang="ko-KR" sz="2000" b="0" u="none" strike="noStrike">
                <a:solidFill>
                  <a:srgbClr val="000000"/>
                </a:solidFill>
                <a:effectLst/>
                <a:uFillTx/>
                <a:latin typeface="Arial"/>
              </a:rPr>
              <a:t>수용검사는 </a:t>
            </a:r>
            <a:r>
              <a:rPr lang="en-US" sz="2000" b="0" u="none" strike="noStrike">
                <a:solidFill>
                  <a:srgbClr val="000000"/>
                </a:solidFill>
                <a:effectLst/>
                <a:uFillTx/>
                <a:latin typeface="Arial"/>
              </a:rPr>
              <a:t>J*(remove(...)) </a:t>
            </a:r>
            <a:r>
              <a:rPr lang="ko-KR" sz="2000" b="0" u="none" strike="noStrike">
                <a:solidFill>
                  <a:srgbClr val="000000"/>
                </a:solidFill>
                <a:effectLst/>
                <a:uFillTx/>
                <a:latin typeface="Arial"/>
              </a:rPr>
              <a:t>및 </a:t>
            </a:r>
            <a:r>
              <a:rPr lang="en-US" sz="2000" b="0" u="none" strike="noStrike">
                <a:solidFill>
                  <a:srgbClr val="000000"/>
                </a:solidFill>
                <a:effectLst/>
                <a:uFillTx/>
                <a:latin typeface="Arial"/>
              </a:rPr>
              <a:t>J*(exchange(...))</a:t>
            </a:r>
            <a:r>
              <a:rPr lang="ko-KR" sz="2000" b="0" u="none" strike="noStrike">
                <a:solidFill>
                  <a:srgbClr val="000000"/>
                </a:solidFill>
                <a:effectLst/>
                <a:uFillTx/>
                <a:latin typeface="Arial"/>
              </a:rPr>
              <a:t>를 비교하므로</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각 </a:t>
            </a:r>
            <a:r>
              <a:rPr lang="en-US" sz="2000" b="0" u="none" strike="noStrike">
                <a:solidFill>
                  <a:srgbClr val="000000"/>
                </a:solidFill>
                <a:effectLst/>
                <a:uFillTx/>
                <a:latin typeface="Arial"/>
              </a:rPr>
              <a:t>candidate X</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fixed-X RA</a:t>
            </a:r>
            <a:r>
              <a:rPr lang="ko-KR" sz="2000" b="0" u="none" strike="noStrike">
                <a:solidFill>
                  <a:srgbClr val="000000"/>
                </a:solidFill>
                <a:effectLst/>
                <a:uFillTx/>
                <a:latin typeface="Arial"/>
              </a:rPr>
              <a:t>가 먼저 필요합니다</a:t>
            </a:r>
            <a:r>
              <a:rPr lang="en-US" sz="2000" b="0" u="none" strike="noStrike">
                <a:solidFill>
                  <a:srgbClr val="000000"/>
                </a:solidFill>
                <a:effectLst/>
                <a:uFillTx/>
                <a:latin typeface="Arial"/>
              </a:rPr>
              <a:t>. Remark 2</a:t>
            </a:r>
            <a:r>
              <a:rPr lang="ko-KR" sz="2000" b="0" u="none" strike="noStrike">
                <a:solidFill>
                  <a:srgbClr val="000000"/>
                </a:solidFill>
                <a:effectLst/>
                <a:uFillTx/>
                <a:latin typeface="Arial"/>
              </a:rPr>
              <a:t>는 종료 뒤 </a:t>
            </a:r>
            <a:r>
              <a:rPr lang="en-US" sz="2000" b="0" u="none" strike="noStrike">
                <a:solidFill>
                  <a:srgbClr val="000000"/>
                </a:solidFill>
                <a:effectLst/>
                <a:uFillTx/>
                <a:latin typeface="Arial"/>
              </a:rPr>
              <a:t>final X*</a:t>
            </a:r>
            <a:r>
              <a:rPr lang="ko-KR" sz="2000" b="0" u="none" strike="noStrike">
                <a:solidFill>
                  <a:srgbClr val="000000"/>
                </a:solidFill>
                <a:effectLst/>
                <a:uFillTx/>
                <a:latin typeface="Arial"/>
              </a:rPr>
              <a:t>에 대응하는 </a:t>
            </a:r>
            <a:r>
              <a:rPr lang="en-US" sz="2000" b="0" u="none" strike="noStrike">
                <a:solidFill>
                  <a:srgbClr val="000000"/>
                </a:solidFill>
                <a:effectLst/>
                <a:uFillTx/>
                <a:latin typeface="Arial"/>
              </a:rPr>
              <a:t>P*, F*</a:t>
            </a:r>
            <a:r>
              <a:rPr lang="ko-KR" sz="2000" b="0" u="none" strike="noStrike">
                <a:solidFill>
                  <a:srgbClr val="000000"/>
                </a:solidFill>
                <a:effectLst/>
                <a:uFillTx/>
                <a:latin typeface="Arial"/>
              </a:rPr>
              <a:t>를 붙인다고 설명합니다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이는 </a:t>
            </a:r>
            <a:r>
              <a:rPr lang="en-US" sz="2000" b="0" u="none" strike="noStrike">
                <a:solidFill>
                  <a:srgbClr val="000000"/>
                </a:solidFill>
                <a:effectLst/>
                <a:uFillTx/>
                <a:latin typeface="Arial"/>
              </a:rPr>
              <a:t>online control loop</a:t>
            </a:r>
            <a:r>
              <a:rPr lang="ko-KR" sz="2000" b="0" u="none" strike="noStrike">
                <a:solidFill>
                  <a:srgbClr val="000000"/>
                </a:solidFill>
                <a:effectLst/>
                <a:uFillTx/>
                <a:latin typeface="Arial"/>
              </a:rPr>
              <a:t>가 아니라 </a:t>
            </a:r>
            <a:r>
              <a:rPr lang="en-US" sz="2000" b="0" u="none" strike="noStrike">
                <a:solidFill>
                  <a:srgbClr val="000000"/>
                </a:solidFill>
                <a:effectLst/>
                <a:uFillTx/>
                <a:latin typeface="Arial"/>
              </a:rPr>
              <a:t>nested optimization </a:t>
            </a:r>
            <a:r>
              <a:rPr lang="ko-KR" sz="2000" b="0" u="none" strike="noStrike">
                <a:solidFill>
                  <a:srgbClr val="000000"/>
                </a:solidFill>
                <a:effectLst/>
                <a:uFillTx/>
                <a:latin typeface="Arial"/>
              </a:rPr>
              <a:t>관계입니다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10-18; Eqs. 13-19, 29-30; Alg. 2; Remark 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16"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A8E4C29-706D-4C8F-A815-517E73465793}"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7" name="PlaceHolder 1"/>
          <p:cNvSpPr>
            <a:spLocks noGrp="1"/>
          </p:cNvSpPr>
          <p:nvPr>
            <p:ph type="sldImg"/>
          </p:nvPr>
        </p:nvSpPr>
        <p:spPr>
          <a:xfrm>
            <a:off x="0" y="0"/>
            <a:ext cx="0" cy="0"/>
          </a:xfrm>
          <a:prstGeom prst="rect">
            <a:avLst/>
          </a:prstGeom>
          <a:ln w="0">
            <a:noFill/>
          </a:ln>
        </p:spPr>
      </p:sp>
      <p:sp>
        <p:nvSpPr>
          <p:cNvPr id="51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18. </a:t>
            </a:r>
            <a:r>
              <a:rPr lang="ko-KR" sz="2000" b="0" u="none" strike="noStrike">
                <a:solidFill>
                  <a:srgbClr val="000000"/>
                </a:solidFill>
                <a:effectLst/>
                <a:uFillTx/>
                <a:latin typeface="Arial"/>
              </a:rPr>
              <a:t>비교 방법의 </a:t>
            </a:r>
            <a:r>
              <a:rPr lang="en-US" sz="2000" b="0" u="none" strike="noStrike">
                <a:solidFill>
                  <a:srgbClr val="000000"/>
                </a:solidFill>
                <a:effectLst/>
                <a:uFillTx/>
                <a:latin typeface="Arial"/>
              </a:rPr>
              <a:t>scheduling·coordination </a:t>
            </a:r>
            <a:r>
              <a:rPr lang="ko-KR" sz="2000" b="0" u="none" strike="noStrike">
                <a:solidFill>
                  <a:srgbClr val="000000"/>
                </a:solidFill>
                <a:effectLst/>
                <a:uFillTx/>
                <a:latin typeface="Arial"/>
              </a:rPr>
              <a:t>범위</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Section VI</a:t>
            </a:r>
            <a:r>
              <a:rPr lang="ko-KR" sz="2000" b="0" u="none" strike="noStrike">
                <a:solidFill>
                  <a:srgbClr val="000000"/>
                </a:solidFill>
                <a:effectLst/>
                <a:uFillTx/>
                <a:latin typeface="Arial"/>
              </a:rPr>
              <a:t>의 네 비교군을 구별합니다</a:t>
            </a:r>
            <a:r>
              <a:rPr lang="en-US" sz="2000" b="0" u="none" strike="noStrike">
                <a:solidFill>
                  <a:srgbClr val="000000"/>
                </a:solidFill>
                <a:effectLst/>
                <a:uFillTx/>
                <a:latin typeface="Arial"/>
              </a:rPr>
              <a:t>. Exhaustive is only used for a small network because its scheduling search is expensive. GOJRA applies the Section V resource allocation after greedy admission. IOJRA uses a random home-BS sub-band and independent decision. DORA independently decides for users within each BS cell.</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 19; §VI; baseline definitions</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19"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E498C09-99E6-49F5-A089-4F05F3F5BFD6}"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0" name="PlaceHolder 1"/>
          <p:cNvSpPr>
            <a:spLocks noGrp="1"/>
          </p:cNvSpPr>
          <p:nvPr>
            <p:ph type="sldImg"/>
          </p:nvPr>
        </p:nvSpPr>
        <p:spPr>
          <a:xfrm>
            <a:off x="0" y="0"/>
            <a:ext cx="0" cy="0"/>
          </a:xfrm>
          <a:prstGeom prst="rect">
            <a:avLst/>
          </a:prstGeom>
          <a:ln w="0">
            <a:noFill/>
          </a:ln>
        </p:spPr>
      </p:sp>
      <p:sp>
        <p:nvSpPr>
          <p:cNvPr id="52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19. </a:t>
            </a:r>
            <a:r>
              <a:rPr lang="ko-KR" sz="2000" b="0" u="none" strike="noStrike">
                <a:solidFill>
                  <a:srgbClr val="000000"/>
                </a:solidFill>
                <a:effectLst/>
                <a:uFillTx/>
                <a:latin typeface="Arial"/>
              </a:rPr>
              <a:t>기본 </a:t>
            </a:r>
            <a:r>
              <a:rPr lang="en-US" sz="2000" b="0" u="none" strike="noStrike">
                <a:solidFill>
                  <a:srgbClr val="000000"/>
                </a:solidFill>
                <a:effectLst/>
                <a:uFillTx/>
                <a:latin typeface="Arial"/>
              </a:rPr>
              <a:t>simulation </a:t>
            </a:r>
            <a:r>
              <a:rPr lang="ko-KR" sz="2000" b="0" u="none" strike="noStrike">
                <a:solidFill>
                  <a:srgbClr val="000000"/>
                </a:solidFill>
                <a:effectLst/>
                <a:uFillTx/>
                <a:latin typeface="Arial"/>
              </a:rPr>
              <a:t>조건이 </a:t>
            </a:r>
            <a:r>
              <a:rPr lang="en-US" sz="2000" b="0" u="none" strike="noStrike">
                <a:solidFill>
                  <a:srgbClr val="000000"/>
                </a:solidFill>
                <a:effectLst/>
                <a:uFillTx/>
                <a:latin typeface="Arial"/>
              </a:rPr>
              <a:t>result</a:t>
            </a:r>
            <a:r>
              <a:rPr lang="ko-KR" sz="2000" b="0" u="none" strike="noStrike">
                <a:solidFill>
                  <a:srgbClr val="000000"/>
                </a:solidFill>
                <a:effectLst/>
                <a:uFillTx/>
                <a:latin typeface="Arial"/>
              </a:rPr>
              <a:t>의 해석 범위를 정한다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Section VI</a:t>
            </a:r>
            <a:r>
              <a:rPr lang="ko-KR" sz="2000" b="0" u="none" strike="noStrike">
                <a:solidFill>
                  <a:srgbClr val="000000"/>
                </a:solidFill>
                <a:effectLst/>
                <a:uFillTx/>
                <a:latin typeface="Arial"/>
              </a:rPr>
              <a:t>의 기본 </a:t>
            </a:r>
            <a:r>
              <a:rPr lang="en-US" sz="2000" b="0" u="none" strike="noStrike">
                <a:solidFill>
                  <a:srgbClr val="000000"/>
                </a:solidFill>
                <a:effectLst/>
                <a:uFillTx/>
                <a:latin typeface="Arial"/>
              </a:rPr>
              <a:t>simulation condition</a:t>
            </a:r>
            <a:r>
              <a:rPr lang="ko-KR" sz="2000" b="0" u="none" strike="noStrike">
                <a:solidFill>
                  <a:srgbClr val="000000"/>
                </a:solidFill>
                <a:effectLst/>
                <a:uFillTx/>
                <a:latin typeface="Arial"/>
              </a:rPr>
              <a:t>만 나열합니다</a:t>
            </a:r>
            <a:r>
              <a:rPr lang="en-US" sz="2000" b="0" u="none" strike="noStrike">
                <a:solidFill>
                  <a:srgbClr val="000000"/>
                </a:solidFill>
                <a:effectLst/>
                <a:uFillTx/>
                <a:latin typeface="Arial"/>
              </a:rPr>
              <a:t>. Section VI supplies these defaults unless otherwise stated. Users are uniformly randomly placed, and sub-bands N equal users per cell. The channel path-loss model is 140.7+36.7 log10(d in km). The paper sets kappa=5×10^-27. This slide lists conditions rather than treating them as a real deployment specification.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18-19; §VI settings</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22"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F45B95D-12DF-42FB-BD00-3890CE26EE61}"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3" name="PlaceHolder 1"/>
          <p:cNvSpPr>
            <a:spLocks noGrp="1"/>
          </p:cNvSpPr>
          <p:nvPr>
            <p:ph type="sldImg"/>
          </p:nvPr>
        </p:nvSpPr>
        <p:spPr>
          <a:xfrm>
            <a:off x="0" y="0"/>
            <a:ext cx="0" cy="0"/>
          </a:xfrm>
          <a:prstGeom prst="rect">
            <a:avLst/>
          </a:prstGeom>
          <a:ln w="0">
            <a:noFill/>
          </a:ln>
        </p:spPr>
      </p:sp>
      <p:sp>
        <p:nvSpPr>
          <p:cNvPr id="52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20. small network: hJTORA</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Exhaustive</a:t>
            </a:r>
            <a:r>
              <a:rPr lang="ko-KR" sz="2000" b="0" u="none" strike="noStrike">
                <a:solidFill>
                  <a:srgbClr val="000000"/>
                </a:solidFill>
                <a:effectLst/>
                <a:uFillTx/>
                <a:latin typeface="Arial"/>
              </a:rPr>
              <a:t>에 가깝고 빠르다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작은 </a:t>
            </a:r>
            <a:r>
              <a:rPr lang="en-US" sz="2000" b="0" u="none" strike="noStrike">
                <a:solidFill>
                  <a:srgbClr val="000000"/>
                </a:solidFill>
                <a:effectLst/>
                <a:uFillTx/>
                <a:latin typeface="Arial"/>
              </a:rPr>
              <a:t>network</a:t>
            </a:r>
            <a:r>
              <a:rPr lang="ko-KR" sz="2000" b="0" u="none" strike="noStrike">
                <a:solidFill>
                  <a:srgbClr val="000000"/>
                </a:solidFill>
                <a:effectLst/>
                <a:uFillTx/>
                <a:latin typeface="Arial"/>
              </a:rPr>
              <a:t>에서만 </a:t>
            </a:r>
            <a:r>
              <a:rPr lang="en-US" sz="2000" b="0" u="none" strike="noStrike">
                <a:solidFill>
                  <a:srgbClr val="000000"/>
                </a:solidFill>
                <a:effectLst/>
                <a:uFillTx/>
                <a:latin typeface="Arial"/>
              </a:rPr>
              <a:t>Exhaustive</a:t>
            </a:r>
            <a:r>
              <a:rPr lang="ko-KR" sz="2000" b="0" u="none" strike="noStrike">
                <a:solidFill>
                  <a:srgbClr val="000000"/>
                </a:solidFill>
                <a:effectLst/>
                <a:uFillTx/>
                <a:latin typeface="Arial"/>
              </a:rPr>
              <a:t>를 비교한 </a:t>
            </a:r>
            <a:r>
              <a:rPr lang="en-US" sz="2000" b="0" u="none" strike="noStrike">
                <a:solidFill>
                  <a:srgbClr val="000000"/>
                </a:solidFill>
                <a:effectLst/>
                <a:uFillTx/>
                <a:latin typeface="Arial"/>
              </a:rPr>
              <a:t>Fig. 2</a:t>
            </a:r>
            <a:r>
              <a:rPr lang="ko-KR" sz="2000" b="0" u="none" strike="noStrike">
                <a:solidFill>
                  <a:srgbClr val="000000"/>
                </a:solidFill>
                <a:effectLst/>
                <a:uFillTx/>
                <a:latin typeface="Arial"/>
              </a:rPr>
              <a:t>를 읽습니다</a:t>
            </a:r>
            <a:r>
              <a:rPr lang="en-US" sz="2000" b="0" u="none" strike="noStrike">
                <a:solidFill>
                  <a:srgbClr val="000000"/>
                </a:solidFill>
                <a:effectLst/>
                <a:uFillTx/>
                <a:latin typeface="Arial"/>
              </a:rPr>
              <a:t>. Fig. 2 compares U=6 uniformly placed users served by S=4 cells with N=2 sub-bands each, across 500 shadowing realizations. </a:t>
            </a:r>
            <a:r>
              <a:rPr lang="ko-KR" sz="2000" b="0" u="none" strike="noStrike">
                <a:solidFill>
                  <a:srgbClr val="000000"/>
                </a:solidFill>
                <a:effectLst/>
                <a:uFillTx/>
                <a:latin typeface="Arial"/>
              </a:rPr>
              <a:t>본문은 </a:t>
            </a:r>
            <a:r>
              <a:rPr lang="en-US" sz="2000" b="0" u="none" strike="noStrike">
                <a:solidFill>
                  <a:srgbClr val="000000"/>
                </a:solidFill>
                <a:effectLst/>
                <a:uFillTx/>
                <a:latin typeface="Arial"/>
              </a:rPr>
              <a:t>c_u=1000, 2000 Megacycles</a:t>
            </a:r>
            <a:r>
              <a:rPr lang="ko-KR" sz="2000" b="0" u="none" strike="noStrike">
                <a:solidFill>
                  <a:srgbClr val="000000"/>
                </a:solidFill>
                <a:effectLst/>
                <a:uFillTx/>
                <a:latin typeface="Arial"/>
              </a:rPr>
              <a:t>라고 쓰지만 같은 </a:t>
            </a:r>
            <a:r>
              <a:rPr lang="en-US" sz="2000" b="0" u="none" strike="noStrike">
                <a:solidFill>
                  <a:srgbClr val="000000"/>
                </a:solidFill>
                <a:effectLst/>
                <a:uFillTx/>
                <a:latin typeface="Arial"/>
              </a:rPr>
              <a:t>Fig. 2 panel label</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1, 2 Megacycles</a:t>
            </a:r>
            <a:r>
              <a:rPr lang="ko-KR" sz="2000" b="0" u="none" strike="noStrike">
                <a:solidFill>
                  <a:srgbClr val="000000"/>
                </a:solidFill>
                <a:effectLst/>
                <a:uFillTx/>
                <a:latin typeface="Arial"/>
              </a:rPr>
              <a:t>라고 표기하는 내부 불일치가 있습니다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아래 </a:t>
            </a:r>
            <a:r>
              <a:rPr lang="en-US" sz="2000" b="0" u="none" strike="noStrike">
                <a:solidFill>
                  <a:srgbClr val="000000"/>
                </a:solidFill>
                <a:effectLst/>
                <a:uFillTx/>
                <a:latin typeface="Arial"/>
              </a:rPr>
              <a:t>utility·gain·runtime</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p. 20 prose</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Table I</a:t>
            </a:r>
            <a:r>
              <a:rPr lang="ko-KR" sz="2000" b="0" u="none" strike="noStrike">
                <a:solidFill>
                  <a:srgbClr val="000000"/>
                </a:solidFill>
                <a:effectLst/>
                <a:uFillTx/>
                <a:latin typeface="Arial"/>
              </a:rPr>
              <a:t>의 별도 보고값이며 이 불일치를 임의로 해결하지 않습니다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19-20; Table I; Fig. 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25"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7DC6E52-1AEC-4B11-8258-D2847F1E5F82}"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sldImg"/>
          </p:nvPr>
        </p:nvSpPr>
        <p:spPr>
          <a:xfrm>
            <a:off x="0" y="0"/>
            <a:ext cx="0" cy="0"/>
          </a:xfrm>
          <a:prstGeom prst="rect">
            <a:avLst/>
          </a:prstGeom>
          <a:ln w="0">
            <a:noFill/>
          </a:ln>
        </p:spPr>
      </p:sp>
      <p:sp>
        <p:nvSpPr>
          <p:cNvPr id="52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21. load·task profile</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offloading gain</a:t>
            </a:r>
            <a:r>
              <a:rPr lang="ko-KR" sz="2000" b="0" u="none" strike="noStrike">
                <a:solidFill>
                  <a:srgbClr val="000000"/>
                </a:solidFill>
                <a:effectLst/>
                <a:uFillTx/>
                <a:latin typeface="Arial"/>
              </a:rPr>
              <a:t>을 바꾼다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Fig. 3</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Fig. 4</a:t>
            </a:r>
            <a:r>
              <a:rPr lang="ko-KR" sz="2000" b="0" u="none" strike="noStrike">
                <a:solidFill>
                  <a:srgbClr val="000000"/>
                </a:solidFill>
                <a:effectLst/>
                <a:uFillTx/>
                <a:latin typeface="Arial"/>
              </a:rPr>
              <a:t>의 서로 다른 </a:t>
            </a:r>
            <a:r>
              <a:rPr lang="en-US" sz="2000" b="0" u="none" strike="noStrike">
                <a:solidFill>
                  <a:srgbClr val="000000"/>
                </a:solidFill>
                <a:effectLst/>
                <a:uFillTx/>
                <a:latin typeface="Arial"/>
              </a:rPr>
              <a:t>sweep</a:t>
            </a:r>
            <a:r>
              <a:rPr lang="ko-KR" sz="2000" b="0" u="none" strike="noStrike">
                <a:solidFill>
                  <a:srgbClr val="000000"/>
                </a:solidFill>
                <a:effectLst/>
                <a:uFillTx/>
                <a:latin typeface="Arial"/>
              </a:rPr>
              <a:t>을 섞지 않습니다</a:t>
            </a:r>
            <a:r>
              <a:rPr lang="en-US" sz="2000" b="0" u="none" strike="noStrike">
                <a:solidFill>
                  <a:srgbClr val="000000"/>
                </a:solidFill>
                <a:effectLst/>
                <a:uFillTx/>
                <a:latin typeface="Arial"/>
              </a:rPr>
              <a:t>. For Fig. 3, N equals users per cell, so per-user bandwidth declines as user count grows. Fig. 4 evaluates different workloads and input sizes at U=28. The paper reports hJTORA as best among compared schemes under these settings; the deck avoids assigning unreported point values from the plotted curves.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20-22; Figs. 3-4</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28"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06C0456-D1A5-499D-B275-58883F4A7397}"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PlaceHolder 1"/>
          <p:cNvSpPr>
            <a:spLocks noGrp="1"/>
          </p:cNvSpPr>
          <p:nvPr>
            <p:ph type="sldImg"/>
          </p:nvPr>
        </p:nvSpPr>
        <p:spPr>
          <a:xfrm>
            <a:off x="0" y="0"/>
            <a:ext cx="0" cy="0"/>
          </a:xfrm>
          <a:prstGeom prst="rect">
            <a:avLst/>
          </a:prstGeom>
          <a:ln w="0">
            <a:noFill/>
          </a:ln>
        </p:spPr>
      </p:sp>
      <p:sp>
        <p:nvSpPr>
          <p:cNvPr id="53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22. time preference↑ → energy cost↑ (experiment)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a:t>
            </a:r>
            <a:r>
              <a:rPr lang="en-US" sz="2000" b="0" u="none" strike="noStrike">
                <a:solidFill>
                  <a:srgbClr val="000000"/>
                </a:solidFill>
                <a:effectLst/>
                <a:uFillTx/>
                <a:latin typeface="Arial"/>
              </a:rPr>
              <a:t>user preference weight</a:t>
            </a:r>
            <a:r>
              <a:rPr lang="ko-KR" sz="2000" b="0" u="none" strike="noStrike">
                <a:solidFill>
                  <a:srgbClr val="000000"/>
                </a:solidFill>
                <a:effectLst/>
                <a:uFillTx/>
                <a:latin typeface="Arial"/>
              </a:rPr>
              <a:t>를 바꾼 </a:t>
            </a:r>
            <a:r>
              <a:rPr lang="en-US" sz="2000" b="0" u="none" strike="noStrike">
                <a:solidFill>
                  <a:srgbClr val="000000"/>
                </a:solidFill>
                <a:effectLst/>
                <a:uFillTx/>
                <a:latin typeface="Arial"/>
              </a:rPr>
              <a:t>Fig. 5</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trade-off</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Figure 5 reports average time and energy consumption of all users under hJTORA. It varies beta_ut from 0.1 to 0.9 and sets beta_ue to one minus beta_ut. The paper also observes higher time and energy consumption at U=21 than U=14 because more users compete for limited resources.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22-23; Fig. 5</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31"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EEBA336-B20F-4CA8-AB95-2BABEFF0184E}"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sldImg"/>
          </p:nvPr>
        </p:nvSpPr>
        <p:spPr>
          <a:xfrm>
            <a:off x="0" y="0"/>
            <a:ext cx="0" cy="0"/>
          </a:xfrm>
          <a:prstGeom prst="rect">
            <a:avLst/>
          </a:prstGeom>
          <a:ln w="0">
            <a:noFill/>
          </a:ln>
        </p:spPr>
      </p:sp>
      <p:sp>
        <p:nvSpPr>
          <p:cNvPr id="53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23. </a:t>
            </a:r>
            <a:r>
              <a:rPr lang="ko-KR" sz="2000" b="0" u="none" strike="noStrike">
                <a:solidFill>
                  <a:srgbClr val="000000"/>
                </a:solidFill>
                <a:effectLst/>
                <a:uFillTx/>
                <a:latin typeface="Arial"/>
              </a:rPr>
              <a:t>근사</a:t>
            </a:r>
            <a:r>
              <a:rPr lang="en-US" sz="2000" b="0" u="none" strike="noStrike">
                <a:solidFill>
                  <a:srgbClr val="000000"/>
                </a:solidFill>
                <a:effectLst/>
                <a:uFillTx/>
                <a:latin typeface="Arial"/>
              </a:rPr>
              <a:t>: 25 dBm </a:t>
            </a:r>
            <a:r>
              <a:rPr lang="ko-KR" sz="2000" b="0" u="none" strike="noStrike">
                <a:solidFill>
                  <a:srgbClr val="000000"/>
                </a:solidFill>
                <a:effectLst/>
                <a:uFillTx/>
                <a:latin typeface="Arial"/>
              </a:rPr>
              <a:t>아래 </a:t>
            </a:r>
            <a:r>
              <a:rPr lang="en-US" sz="2000" b="0" u="none" strike="noStrike">
                <a:solidFill>
                  <a:srgbClr val="000000"/>
                </a:solidFill>
                <a:effectLst/>
                <a:uFillTx/>
                <a:latin typeface="Arial"/>
              </a:rPr>
              <a:t>exact curve</a:t>
            </a:r>
            <a:r>
              <a:rPr lang="ko-KR" sz="2000" b="0" u="none" strike="noStrike">
                <a:solidFill>
                  <a:srgbClr val="000000"/>
                </a:solidFill>
                <a:effectLst/>
                <a:uFillTx/>
                <a:latin typeface="Arial"/>
              </a:rPr>
              <a:t>와 거의 일치</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근사의 경험적 비교이지 일반 오차정리가 아닙니다</a:t>
            </a:r>
            <a:r>
              <a:rPr lang="en-US" sz="2000" b="0" u="none" strike="noStrike">
                <a:solidFill>
                  <a:srgbClr val="000000"/>
                </a:solidFill>
                <a:effectLst/>
                <a:uFillTx/>
                <a:latin typeface="Arial"/>
              </a:rPr>
              <a:t>. Section VI-E compares system utility calculated with approximate versus exact inter-cell interference while P_u varies 0 to 35 dBm. The authors say the curves are almost identical below 25 dBm and separate at higher power, then reference 23 dBm maximum UE power in 3GPP TS36.101 section 6.2.3. This is not a mathematical error bound for all systems.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23-24; Fig. 6; Eq. 21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34" name="PlaceHolder 3"/>
          <p:cNvSpPr>
            <a:spLocks noGrp="1"/>
          </p:cNvSpPr>
          <p:nvPr>
            <p:ph type="sldNum" idx="2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795F0AB-E5B7-44B4-B965-7DE460B96A51}"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5" name="PlaceHolder 1"/>
          <p:cNvSpPr>
            <a:spLocks noGrp="1"/>
          </p:cNvSpPr>
          <p:nvPr>
            <p:ph type="sldImg"/>
          </p:nvPr>
        </p:nvSpPr>
        <p:spPr>
          <a:xfrm>
            <a:off x="0" y="0"/>
            <a:ext cx="0" cy="0"/>
          </a:xfrm>
          <a:prstGeom prst="rect">
            <a:avLst/>
          </a:prstGeom>
          <a:ln w="0">
            <a:noFill/>
          </a:ln>
        </p:spPr>
      </p:sp>
      <p:sp>
        <p:nvSpPr>
          <p:cNvPr id="53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24. </a:t>
            </a:r>
            <a:r>
              <a:rPr lang="ko-KR" sz="2000" b="0" u="none" strike="noStrike">
                <a:solidFill>
                  <a:srgbClr val="000000"/>
                </a:solidFill>
                <a:effectLst/>
                <a:uFillTx/>
                <a:latin typeface="Arial"/>
              </a:rPr>
              <a:t>결과를 넘어 일반화하면 안 되는 모델 경계</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이 슬라이드는 모델 가정</a:t>
            </a:r>
            <a:r>
              <a:rPr lang="en-US" sz="2000" b="0" u="none" strike="noStrike">
                <a:solidFill>
                  <a:srgbClr val="000000"/>
                </a:solidFill>
                <a:effectLst/>
                <a:uFillTx/>
                <a:latin typeface="Arial"/>
              </a:rPr>
              <a:t>·</a:t>
            </a:r>
            <a:r>
              <a:rPr lang="ko-KR" sz="2000" b="0" u="none" strike="noStrike">
                <a:solidFill>
                  <a:srgbClr val="000000"/>
                </a:solidFill>
                <a:effectLst/>
                <a:uFillTx/>
                <a:latin typeface="Arial"/>
              </a:rPr>
              <a:t>근사 경계</a:t>
            </a:r>
            <a:r>
              <a:rPr lang="en-US" sz="2000" b="0" u="none" strike="noStrike">
                <a:solidFill>
                  <a:srgbClr val="000000"/>
                </a:solidFill>
                <a:effectLst/>
                <a:uFillTx/>
                <a:latin typeface="Arial"/>
              </a:rPr>
              <a:t>·</a:t>
            </a:r>
            <a:r>
              <a:rPr lang="ko-KR" sz="2000" b="0" u="none" strike="noStrike">
                <a:solidFill>
                  <a:srgbClr val="000000"/>
                </a:solidFill>
                <a:effectLst/>
                <a:uFillTx/>
                <a:latin typeface="Arial"/>
              </a:rPr>
              <a:t>실험 조건을 구분해 회수합니다</a:t>
            </a:r>
            <a:r>
              <a:rPr lang="en-US" sz="2000" b="0" u="none" strike="noStrike">
                <a:solidFill>
                  <a:srgbClr val="000000"/>
                </a:solidFill>
                <a:effectLst/>
                <a:uFillTx/>
                <a:latin typeface="Arial"/>
              </a:rPr>
              <a:t>. The system-model limits appear in Section III, including atomic tasks, single antennas, omitted output delay, and fast-fading averaging. The approximation boundary is in Section V-A. Remarks 1-2 provide the local-search complexity and solution status, while Section VI identifies the simulation conditions. These distinctions prevent a source-grounded seminar from adding unsupported deployment or theorem claims.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6-8, 13, 18-20; §§III,V-VI</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37" name="PlaceHolder 3"/>
          <p:cNvSpPr>
            <a:spLocks noGrp="1"/>
          </p:cNvSpPr>
          <p:nvPr>
            <p:ph type="sldNum" idx="2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04E717E-AC70-4651-9099-DE8A1512E878}"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type="sldImg"/>
          </p:nvPr>
        </p:nvSpPr>
        <p:spPr>
          <a:xfrm>
            <a:off x="0" y="0"/>
            <a:ext cx="0" cy="0"/>
          </a:xfrm>
          <a:prstGeom prst="rect">
            <a:avLst/>
          </a:prstGeom>
          <a:ln w="0">
            <a:noFill/>
          </a:ln>
        </p:spPr>
      </p:sp>
      <p:sp>
        <p:nvSpPr>
          <p:cNvPr id="53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25. JTORA</a:t>
            </a:r>
            <a:r>
              <a:rPr lang="ko-KR" sz="2000" b="0" u="none" strike="noStrike">
                <a:solidFill>
                  <a:srgbClr val="000000"/>
                </a:solidFill>
                <a:effectLst/>
                <a:uFillTx/>
                <a:latin typeface="Arial"/>
              </a:rPr>
              <a:t>를 한 줄로 연결하면</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마무리는 논문의 실제 계산 순서만 다시 연결합니다</a:t>
            </a:r>
            <a:r>
              <a:rPr lang="en-US" sz="2000" b="0" u="none" strike="noStrike">
                <a:solidFill>
                  <a:srgbClr val="000000"/>
                </a:solidFill>
                <a:effectLst/>
                <a:uFillTx/>
                <a:latin typeface="Arial"/>
              </a:rPr>
              <a:t>. The closing flow summarizes the paper's actual order: define JTORA, solve RA conditional on X, use J*(X) for TO local search, and finally attach P* and F* to X*. The numerical claims are conditioned on the Section VI simulation rather than a deployment guarantee.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arxiv-v1 | pp. 10-24; §§IV-VII</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Joint Task Offloading and Resource Allocation for Multi-Server Mobile-Edge Computing Networks, arXiv:1705.00704v1</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https://arxiv.org/abs/1705.00704v1</a:t>
            </a:r>
            <a:endParaRPr lang="en-US" sz="2000" b="0" u="none" strike="noStrike">
              <a:solidFill>
                <a:srgbClr val="000000"/>
              </a:solidFill>
              <a:effectLst/>
              <a:uFillTx/>
              <a:latin typeface="Arial"/>
            </a:endParaRPr>
          </a:p>
        </p:txBody>
      </p:sp>
      <p:sp>
        <p:nvSpPr>
          <p:cNvPr id="540" name="PlaceHolder 3"/>
          <p:cNvSpPr>
            <a:spLocks noGrp="1"/>
          </p:cNvSpPr>
          <p:nvPr>
            <p:ph type="sldNum" idx="2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E908CAA-B95C-4A53-8989-D939CD716DA2}"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pleGothic"/>
              </a:defRPr>
            </a:lvl1pPr>
          </a:lstStyle>
          <a:p>
            <a:pPr indent="0" algn="l">
              <a:buNone/>
            </a:pPr>
            <a:r>
              <a:rPr lang="en-US" sz="1800" b="0" u="none" strike="noStrike">
                <a:solidFill>
                  <a:schemeClr val="dk1"/>
                </a:solidFill>
                <a:effectLst/>
                <a:uFillTx/>
                <a:latin typeface="AppleGothic"/>
              </a:rPr>
              <a:t>Click to edit the title text format</a:t>
            </a:r>
            <a:endParaRPr lang="en-US" sz="1800" b="0" u="none" strike="noStrike">
              <a:solidFill>
                <a:schemeClr val="dk1"/>
              </a:solidFill>
              <a:effectLst/>
              <a:uFillTx/>
              <a:latin typeface="AppleGothic"/>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pleGothic"/>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pleGothic"/>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pleGothic"/>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pleGothic"/>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pleGothic"/>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pleGothic"/>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pleGothic"/>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pleGothic"/>
              </a:rPr>
              <a:t>Click to edit the outline text format</a:t>
            </a:r>
            <a:endParaRPr lang="en-US" sz="3200" b="0" u="none" strike="noStrike">
              <a:solidFill>
                <a:schemeClr val="dk1"/>
              </a:solidFill>
              <a:effectLst/>
              <a:uFillTx/>
              <a:latin typeface="AppleGothic"/>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pleGothic"/>
              </a:rPr>
              <a:t>Second Outline Level</a:t>
            </a:r>
            <a:endParaRPr lang="en-US" sz="2400" b="0" u="none" strike="noStrike">
              <a:solidFill>
                <a:schemeClr val="dk1"/>
              </a:solidFill>
              <a:effectLst/>
              <a:uFillTx/>
              <a:latin typeface="AppleGothic"/>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pleGothic"/>
              </a:rPr>
              <a:t>Third Outline Level</a:t>
            </a:r>
            <a:endParaRPr lang="en-US" sz="2000" b="0" u="none" strike="noStrike">
              <a:solidFill>
                <a:schemeClr val="dk1"/>
              </a:solidFill>
              <a:effectLst/>
              <a:uFillTx/>
              <a:latin typeface="AppleGothic"/>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pleGothic"/>
              </a:rPr>
              <a:t>Fourth Outline Level</a:t>
            </a:r>
            <a:endParaRPr lang="en-US" sz="2000" b="0" u="none" strike="noStrike">
              <a:solidFill>
                <a:schemeClr val="dk1"/>
              </a:solidFill>
              <a:effectLst/>
              <a:uFillTx/>
              <a:latin typeface="AppleGothic"/>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pleGothic"/>
              </a:rPr>
              <a:t>Fifth Outline Level</a:t>
            </a:r>
            <a:endParaRPr lang="en-US" sz="2000" b="0" u="none" strike="noStrike">
              <a:solidFill>
                <a:schemeClr val="dk1"/>
              </a:solidFill>
              <a:effectLst/>
              <a:uFillTx/>
              <a:latin typeface="AppleGothic"/>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pleGothic"/>
              </a:rPr>
              <a:t>Sixth Outline Level</a:t>
            </a:r>
            <a:endParaRPr lang="en-US" sz="2000" b="0" u="none" strike="noStrike">
              <a:solidFill>
                <a:schemeClr val="dk1"/>
              </a:solidFill>
              <a:effectLst/>
              <a:uFillTx/>
              <a:latin typeface="AppleGothic"/>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pleGothic"/>
              </a:rPr>
              <a:t>Seventh Outline Level</a:t>
            </a:r>
            <a:endParaRPr lang="en-US" sz="2000" b="0" u="none" strike="noStrike">
              <a:solidFill>
                <a:schemeClr val="dk1"/>
              </a:solidFill>
              <a:effectLst/>
              <a:uFillTx/>
              <a:latin typeface="AppleGothic"/>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Shape 0"/>
          <p:cNvSpPr/>
          <p:nvPr/>
        </p:nvSpPr>
        <p:spPr>
          <a:xfrm>
            <a:off x="0" y="0"/>
            <a:ext cx="215640" cy="6857640"/>
          </a:xfrm>
          <a:prstGeom prst="rect">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1" name="Text 1"/>
          <p:cNvSpPr/>
          <p:nvPr/>
        </p:nvSpPr>
        <p:spPr>
          <a:xfrm>
            <a:off x="888840" y="888840"/>
            <a:ext cx="8762760" cy="13456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ko-KR" sz="4000" b="1" u="none" strike="noStrike">
                <a:solidFill>
                  <a:srgbClr val="0D685C"/>
                </a:solidFill>
                <a:effectLst/>
                <a:uFillTx/>
                <a:latin typeface="AppleGothic"/>
                <a:ea typeface="AppleGothic"/>
              </a:rPr>
              <a:t>다중 서버 </a:t>
            </a:r>
            <a:r>
              <a:rPr lang="en-US" sz="4000" b="1" u="none" strike="noStrike">
                <a:solidFill>
                  <a:srgbClr val="0D685C"/>
                </a:solidFill>
                <a:effectLst/>
                <a:uFillTx/>
                <a:latin typeface="AppleGothic"/>
                <a:ea typeface="AppleGothic"/>
              </a:rPr>
              <a:t>MEC</a:t>
            </a:r>
            <a:r>
              <a:rPr lang="ko-KR" sz="4000" b="1" u="none" strike="noStrike">
                <a:solidFill>
                  <a:srgbClr val="0D685C"/>
                </a:solidFill>
                <a:effectLst/>
                <a:uFillTx/>
                <a:latin typeface="AppleGothic"/>
                <a:ea typeface="AppleGothic"/>
              </a:rPr>
              <a:t>에서 무엇을 함께 최적화할까</a:t>
            </a:r>
            <a:endParaRPr lang="en-US" sz="4000" b="0" u="none" strike="noStrike">
              <a:solidFill>
                <a:srgbClr val="000000"/>
              </a:solidFill>
              <a:effectLst/>
              <a:uFillTx/>
              <a:latin typeface="Arial"/>
            </a:endParaRPr>
          </a:p>
        </p:txBody>
      </p:sp>
      <p:sp>
        <p:nvSpPr>
          <p:cNvPr id="12" name="Text 2"/>
          <p:cNvSpPr/>
          <p:nvPr/>
        </p:nvSpPr>
        <p:spPr>
          <a:xfrm>
            <a:off x="888840" y="2413080"/>
            <a:ext cx="9651600" cy="13330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2200" b="0" u="none" strike="noStrike">
                <a:solidFill>
                  <a:srgbClr val="173C37"/>
                </a:solidFill>
                <a:effectLst/>
                <a:uFillTx/>
                <a:latin typeface="AppleGothic"/>
                <a:ea typeface="AppleGothic"/>
              </a:rPr>
              <a:t>Joint Task Offloading and Resource Allocation for Multi-Server Mobile-Edge Computing Networks</a:t>
            </a:r>
            <a:endParaRPr lang="en-US" sz="2200" b="0" u="none" strike="noStrike">
              <a:solidFill>
                <a:srgbClr val="000000"/>
              </a:solidFill>
              <a:effectLst/>
              <a:uFillTx/>
              <a:latin typeface="Arial"/>
            </a:endParaRPr>
          </a:p>
        </p:txBody>
      </p:sp>
      <p:sp>
        <p:nvSpPr>
          <p:cNvPr id="13" name="Shape 3"/>
          <p:cNvSpPr/>
          <p:nvPr/>
        </p:nvSpPr>
        <p:spPr>
          <a:xfrm>
            <a:off x="888840" y="4076640"/>
            <a:ext cx="965196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 name="Text 4"/>
          <p:cNvSpPr/>
          <p:nvPr/>
        </p:nvSpPr>
        <p:spPr>
          <a:xfrm>
            <a:off x="888840" y="4368960"/>
            <a:ext cx="9651600" cy="68544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0" u="none" strike="noStrike">
                <a:solidFill>
                  <a:srgbClr val="5E6D69"/>
                </a:solidFill>
                <a:effectLst/>
                <a:uFillTx/>
                <a:latin typeface="AppleGothic"/>
                <a:ea typeface="AppleGothic"/>
              </a:rPr>
              <a:t>Tuyen X. Tran, Dario Pompili (2017)</a:t>
            </a:r>
            <a:endParaRPr lang="en-US" sz="1750" b="0" u="none" strike="noStrike">
              <a:solidFill>
                <a:srgbClr val="000000"/>
              </a:solidFill>
              <a:effectLst/>
              <a:uFillTx/>
              <a:latin typeface="Arial"/>
            </a:endParaRPr>
          </a:p>
        </p:txBody>
      </p:sp>
      <p:sp>
        <p:nvSpPr>
          <p:cNvPr id="15" name="Text 5"/>
          <p:cNvSpPr/>
          <p:nvPr/>
        </p:nvSpPr>
        <p:spPr>
          <a:xfrm>
            <a:off x="888840" y="5245200"/>
            <a:ext cx="9651600" cy="57132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0" u="none" strike="noStrike">
                <a:solidFill>
                  <a:srgbClr val="0D685C"/>
                </a:solidFill>
                <a:effectLst/>
                <a:uFillTx/>
                <a:latin typeface="AppleGothic"/>
                <a:ea typeface="AppleGothic"/>
              </a:rPr>
              <a:t>JTORA: </a:t>
            </a:r>
            <a:r>
              <a:rPr lang="ko-KR" sz="1750" b="0" u="none" strike="noStrike">
                <a:solidFill>
                  <a:srgbClr val="0D685C"/>
                </a:solidFill>
                <a:effectLst/>
                <a:uFillTx/>
                <a:latin typeface="AppleGothic"/>
                <a:ea typeface="AppleGothic"/>
              </a:rPr>
              <a:t>오프로딩 위치</a:t>
            </a:r>
            <a:r>
              <a:rPr lang="en-US" sz="1750" b="0" u="none" strike="noStrike">
                <a:solidFill>
                  <a:srgbClr val="0D685C"/>
                </a:solidFill>
                <a:effectLst/>
                <a:uFillTx/>
                <a:latin typeface="AppleGothic"/>
                <a:ea typeface="AppleGothic"/>
              </a:rPr>
              <a:t>·</a:t>
            </a:r>
            <a:r>
              <a:rPr lang="ko-KR" sz="1750" b="0" u="none" strike="noStrike">
                <a:solidFill>
                  <a:srgbClr val="0D685C"/>
                </a:solidFill>
                <a:effectLst/>
                <a:uFillTx/>
                <a:latin typeface="AppleGothic"/>
                <a:ea typeface="AppleGothic"/>
              </a:rPr>
              <a:t>상향링크 전력</a:t>
            </a:r>
            <a:r>
              <a:rPr lang="en-US" sz="1750" b="0" u="none" strike="noStrike">
                <a:solidFill>
                  <a:srgbClr val="0D685C"/>
                </a:solidFill>
                <a:effectLst/>
                <a:uFillTx/>
                <a:latin typeface="AppleGothic"/>
                <a:ea typeface="AppleGothic"/>
              </a:rPr>
              <a:t>·</a:t>
            </a:r>
            <a:r>
              <a:rPr lang="ko-KR" sz="1750" b="0" u="none" strike="noStrike">
                <a:solidFill>
                  <a:srgbClr val="0D685C"/>
                </a:solidFill>
                <a:effectLst/>
                <a:uFillTx/>
                <a:latin typeface="AppleGothic"/>
                <a:ea typeface="AppleGothic"/>
              </a:rPr>
              <a:t>서버 </a:t>
            </a:r>
            <a:r>
              <a:rPr lang="en-US" sz="1750" b="0" u="none" strike="noStrike">
                <a:solidFill>
                  <a:srgbClr val="0D685C"/>
                </a:solidFill>
                <a:effectLst/>
                <a:uFillTx/>
                <a:latin typeface="AppleGothic"/>
                <a:ea typeface="AppleGothic"/>
              </a:rPr>
              <a:t>CPU</a:t>
            </a:r>
            <a:r>
              <a:rPr lang="ko-KR" sz="1750" b="0" u="none" strike="noStrike">
                <a:solidFill>
                  <a:srgbClr val="0D685C"/>
                </a:solidFill>
                <a:effectLst/>
                <a:uFillTx/>
                <a:latin typeface="AppleGothic"/>
                <a:ea typeface="AppleGothic"/>
              </a:rPr>
              <a:t>를 하나의 문제로 묶는 방법</a:t>
            </a:r>
            <a:endParaRPr lang="en-US" sz="1750" b="0" u="none" strike="noStrike">
              <a:solidFill>
                <a:srgbClr val="000000"/>
              </a:solidFill>
              <a:effectLst/>
              <a:uFillTx/>
              <a:latin typeface="Arial"/>
            </a:endParaRPr>
          </a:p>
        </p:txBody>
      </p:sp>
      <p:sp>
        <p:nvSpPr>
          <p:cNvPr id="16" name="Shape 6"/>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7" name="Text 7"/>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title page; abstract; v1</a:t>
            </a:r>
            <a:endParaRPr lang="en-US" sz="1050" b="0" u="none" strike="noStrike">
              <a:solidFill>
                <a:srgbClr val="000000"/>
              </a:solidFill>
              <a:effectLst/>
              <a:uFillTx/>
              <a:latin typeface="Arial"/>
            </a:endParaRPr>
          </a:p>
        </p:txBody>
      </p:sp>
      <p:sp>
        <p:nvSpPr>
          <p:cNvPr id="18" name="Text 8"/>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논문이 푸는 범위와 풀지 않는 범위</a:t>
            </a:r>
            <a:endParaRPr lang="en-US" sz="3100" b="0" u="none" strike="noStrike">
              <a:solidFill>
                <a:srgbClr val="000000"/>
              </a:solidFill>
              <a:effectLst/>
              <a:uFillTx/>
              <a:latin typeface="Arial"/>
            </a:endParaRPr>
          </a:p>
        </p:txBody>
      </p:sp>
      <p:sp>
        <p:nvSpPr>
          <p:cNvPr id="2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한 사용자의 한 </a:t>
            </a:r>
            <a:r>
              <a:rPr lang="en-US" sz="1900" b="0" u="none" strike="noStrike">
                <a:solidFill>
                  <a:srgbClr val="0D685C"/>
                </a:solidFill>
                <a:effectLst/>
                <a:uFillTx/>
                <a:latin typeface="AppleGothic"/>
                <a:ea typeface="AppleGothic"/>
              </a:rPr>
              <a:t>atomic task</a:t>
            </a:r>
            <a:r>
              <a:rPr lang="ko-KR" sz="1900" b="0" u="none" strike="noStrike">
                <a:solidFill>
                  <a:srgbClr val="0D685C"/>
                </a:solidFill>
                <a:effectLst/>
                <a:uFillTx/>
                <a:latin typeface="AppleGothic"/>
                <a:ea typeface="AppleGothic"/>
              </a:rPr>
              <a:t>를 </a:t>
            </a:r>
            <a:r>
              <a:rPr lang="en-US" sz="1900" b="0" u="none" strike="noStrike">
                <a:solidFill>
                  <a:srgbClr val="0D685C"/>
                </a:solidFill>
                <a:effectLst/>
                <a:uFillTx/>
                <a:latin typeface="AppleGothic"/>
                <a:ea typeface="AppleGothic"/>
              </a:rPr>
              <a:t>local </a:t>
            </a:r>
            <a:r>
              <a:rPr lang="ko-KR" sz="1900" b="0" u="none" strike="noStrike">
                <a:solidFill>
                  <a:srgbClr val="0D685C"/>
                </a:solidFill>
                <a:effectLst/>
                <a:uFillTx/>
                <a:latin typeface="AppleGothic"/>
                <a:ea typeface="AppleGothic"/>
              </a:rPr>
              <a:t>또는 한 서버</a:t>
            </a:r>
            <a:r>
              <a:rPr lang="en-US" sz="1900" b="0" u="none" strike="noStrike">
                <a:solidFill>
                  <a:srgbClr val="0D685C"/>
                </a:solidFill>
                <a:effectLst/>
                <a:uFillTx/>
                <a:latin typeface="AppleGothic"/>
                <a:ea typeface="AppleGothic"/>
              </a:rPr>
              <a:t>·</a:t>
            </a:r>
            <a:r>
              <a:rPr lang="ko-KR" sz="1900" b="0" u="none" strike="noStrike">
                <a:solidFill>
                  <a:srgbClr val="0D685C"/>
                </a:solidFill>
                <a:effectLst/>
                <a:uFillTx/>
                <a:latin typeface="AppleGothic"/>
                <a:ea typeface="AppleGothic"/>
              </a:rPr>
              <a:t>한 </a:t>
            </a:r>
            <a:r>
              <a:rPr lang="en-US" sz="1900" b="0" u="none" strike="noStrike">
                <a:solidFill>
                  <a:srgbClr val="0D685C"/>
                </a:solidFill>
                <a:effectLst/>
                <a:uFillTx/>
                <a:latin typeface="AppleGothic"/>
                <a:ea typeface="AppleGothic"/>
              </a:rPr>
              <a:t>sub-band</a:t>
            </a:r>
            <a:r>
              <a:rPr lang="ko-KR" sz="1900" b="0" u="none" strike="noStrike">
                <a:solidFill>
                  <a:srgbClr val="0D685C"/>
                </a:solidFill>
                <a:effectLst/>
                <a:uFillTx/>
                <a:latin typeface="AppleGothic"/>
                <a:ea typeface="AppleGothic"/>
              </a:rPr>
              <a:t>에 배치한다</a:t>
            </a:r>
            <a:endParaRPr lang="en-US" sz="1900" b="0" u="none" strike="noStrike">
              <a:solidFill>
                <a:srgbClr val="000000"/>
              </a:solidFill>
              <a:effectLst/>
              <a:uFillTx/>
              <a:latin typeface="Arial"/>
            </a:endParaRPr>
          </a:p>
        </p:txBody>
      </p:sp>
      <p:sp>
        <p:nvSpPr>
          <p:cNvPr id="21" name="Text 2"/>
          <p:cNvSpPr/>
          <p:nvPr/>
        </p:nvSpPr>
        <p:spPr>
          <a:xfrm>
            <a:off x="838080" y="21718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각 </a:t>
            </a:r>
            <a:r>
              <a:rPr lang="en-US" sz="2000" b="0" u="none" strike="noStrike">
                <a:solidFill>
                  <a:srgbClr val="173C37"/>
                </a:solidFill>
                <a:effectLst/>
                <a:uFillTx/>
                <a:latin typeface="AppleGothic"/>
                <a:ea typeface="AppleGothic"/>
              </a:rPr>
              <a:t>BS</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MEC server</a:t>
            </a:r>
            <a:r>
              <a:rPr lang="ko-KR" sz="2000" b="0" u="none" strike="noStrike">
                <a:solidFill>
                  <a:srgbClr val="173C37"/>
                </a:solidFill>
                <a:effectLst/>
                <a:uFillTx/>
                <a:latin typeface="AppleGothic"/>
                <a:ea typeface="AppleGothic"/>
              </a:rPr>
              <a:t>를 하나씩 가지며</a:t>
            </a:r>
            <a:r>
              <a:rPr lang="en-US" sz="2000" b="0" u="none" strike="noStrike">
                <a:solidFill>
                  <a:srgbClr val="173C37"/>
                </a:solidFill>
                <a:effectLst/>
                <a:uFillTx/>
                <a:latin typeface="AppleGothic"/>
                <a:ea typeface="AppleGothic"/>
              </a:rPr>
              <a:t>, </a:t>
            </a:r>
            <a:r>
              <a:rPr lang="ko-KR" sz="2000" b="0" u="none" strike="noStrike">
                <a:solidFill>
                  <a:srgbClr val="173C37"/>
                </a:solidFill>
                <a:effectLst/>
                <a:uFillTx/>
                <a:latin typeface="AppleGothic"/>
                <a:ea typeface="AppleGothic"/>
              </a:rPr>
              <a:t>사용자는 가까운 </a:t>
            </a:r>
            <a:r>
              <a:rPr lang="en-US" sz="2000" b="0" u="none" strike="noStrike">
                <a:solidFill>
                  <a:srgbClr val="173C37"/>
                </a:solidFill>
                <a:effectLst/>
                <a:uFillTx/>
                <a:latin typeface="AppleGothic"/>
                <a:ea typeface="AppleGothic"/>
              </a:rPr>
              <a:t>BS </a:t>
            </a:r>
            <a:r>
              <a:rPr lang="ko-KR" sz="2000" b="0" u="none" strike="noStrike">
                <a:solidFill>
                  <a:srgbClr val="173C37"/>
                </a:solidFill>
                <a:effectLst/>
                <a:uFillTx/>
                <a:latin typeface="AppleGothic"/>
                <a:ea typeface="AppleGothic"/>
              </a:rPr>
              <a:t>중 하나로 </a:t>
            </a:r>
            <a:r>
              <a:rPr lang="en-US" sz="2000" b="0" u="none" strike="noStrike">
                <a:solidFill>
                  <a:srgbClr val="173C37"/>
                </a:solidFill>
                <a:effectLst/>
                <a:uFillTx/>
                <a:latin typeface="AppleGothic"/>
                <a:ea typeface="AppleGothic"/>
              </a:rPr>
              <a:t>task input</a:t>
            </a:r>
            <a:r>
              <a:rPr lang="ko-KR" sz="2000" b="0" u="none" strike="noStrike">
                <a:solidFill>
                  <a:srgbClr val="173C37"/>
                </a:solidFill>
                <a:effectLst/>
                <a:uFillTx/>
                <a:latin typeface="AppleGothic"/>
                <a:ea typeface="AppleGothic"/>
              </a:rPr>
              <a:t>을 보낸다</a:t>
            </a:r>
            <a:endParaRPr lang="en-US" sz="2000" b="0" u="none" strike="noStrike">
              <a:solidFill>
                <a:srgbClr val="000000"/>
              </a:solidFill>
              <a:effectLst/>
              <a:uFillTx/>
              <a:latin typeface="Arial"/>
            </a:endParaRPr>
          </a:p>
        </p:txBody>
      </p:sp>
      <p:sp>
        <p:nvSpPr>
          <p:cNvPr id="22" name="Shape 3"/>
          <p:cNvSpPr/>
          <p:nvPr/>
        </p:nvSpPr>
        <p:spPr>
          <a:xfrm>
            <a:off x="838080" y="290808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3" name="Text 4"/>
          <p:cNvSpPr/>
          <p:nvPr/>
        </p:nvSpPr>
        <p:spPr>
          <a:xfrm>
            <a:off x="838080" y="294624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결정은 </a:t>
            </a:r>
            <a:r>
              <a:rPr lang="en-US" sz="2000" b="0" u="none" strike="noStrike">
                <a:solidFill>
                  <a:srgbClr val="173C37"/>
                </a:solidFill>
                <a:effectLst/>
                <a:uFillTx/>
                <a:latin typeface="AppleGothic"/>
                <a:ea typeface="AppleGothic"/>
              </a:rPr>
              <a:t>local/offload </a:t>
            </a:r>
            <a:r>
              <a:rPr lang="ko-KR" sz="2000" b="0" u="none" strike="noStrike">
                <a:solidFill>
                  <a:srgbClr val="173C37"/>
                </a:solidFill>
                <a:effectLst/>
                <a:uFillTx/>
                <a:latin typeface="AppleGothic"/>
                <a:ea typeface="AppleGothic"/>
              </a:rPr>
              <a:t>하나가 아니라 </a:t>
            </a:r>
            <a:r>
              <a:rPr lang="en-US" sz="2000" b="0" u="none" strike="noStrike">
                <a:solidFill>
                  <a:srgbClr val="173C37"/>
                </a:solidFill>
                <a:effectLst/>
                <a:uFillTx/>
                <a:latin typeface="AppleGothic"/>
                <a:ea typeface="AppleGothic"/>
              </a:rPr>
              <a:t>user·server·sub-band </a:t>
            </a:r>
            <a:r>
              <a:rPr lang="ko-KR" sz="2000" b="0" u="none" strike="noStrike">
                <a:solidFill>
                  <a:srgbClr val="173C37"/>
                </a:solidFill>
                <a:effectLst/>
                <a:uFillTx/>
                <a:latin typeface="AppleGothic"/>
                <a:ea typeface="AppleGothic"/>
              </a:rPr>
              <a:t>조합이다</a:t>
            </a:r>
            <a:endParaRPr lang="en-US" sz="2000" b="0" u="none" strike="noStrike">
              <a:solidFill>
                <a:srgbClr val="000000"/>
              </a:solidFill>
              <a:effectLst/>
              <a:uFillTx/>
              <a:latin typeface="Arial"/>
            </a:endParaRPr>
          </a:p>
        </p:txBody>
      </p:sp>
      <p:sp>
        <p:nvSpPr>
          <p:cNvPr id="24" name="Shape 5"/>
          <p:cNvSpPr/>
          <p:nvPr/>
        </p:nvSpPr>
        <p:spPr>
          <a:xfrm>
            <a:off x="838080" y="368280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 name="Text 6"/>
          <p:cNvSpPr/>
          <p:nvPr/>
        </p:nvSpPr>
        <p:spPr>
          <a:xfrm>
            <a:off x="838080" y="372096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고정된 배치에서는 </a:t>
            </a:r>
            <a:r>
              <a:rPr lang="en-US" sz="2000" b="0" u="none" strike="noStrike">
                <a:solidFill>
                  <a:srgbClr val="173C37"/>
                </a:solidFill>
                <a:effectLst/>
                <a:uFillTx/>
                <a:latin typeface="AppleGothic"/>
                <a:ea typeface="AppleGothic"/>
              </a:rPr>
              <a:t>uplink power</a:t>
            </a:r>
            <a:r>
              <a:rPr lang="ko-KR" sz="2000" b="0" u="none" strike="noStrike">
                <a:solidFill>
                  <a:srgbClr val="173C37"/>
                </a:solidFill>
                <a:effectLst/>
                <a:uFillTx/>
                <a:latin typeface="AppleGothic"/>
                <a:ea typeface="AppleGothic"/>
              </a:rPr>
              <a:t>와 </a:t>
            </a:r>
            <a:r>
              <a:rPr lang="en-US" sz="2000" b="0" u="none" strike="noStrike">
                <a:solidFill>
                  <a:srgbClr val="173C37"/>
                </a:solidFill>
                <a:effectLst/>
                <a:uFillTx/>
                <a:latin typeface="AppleGothic"/>
                <a:ea typeface="AppleGothic"/>
              </a:rPr>
              <a:t>server CPU share</a:t>
            </a:r>
            <a:r>
              <a:rPr lang="ko-KR" sz="2000" b="0" u="none" strike="noStrike">
                <a:solidFill>
                  <a:srgbClr val="173C37"/>
                </a:solidFill>
                <a:effectLst/>
                <a:uFillTx/>
                <a:latin typeface="AppleGothic"/>
                <a:ea typeface="AppleGothic"/>
              </a:rPr>
              <a:t>를 연속적으로 최적화한다</a:t>
            </a:r>
            <a:endParaRPr lang="en-US" sz="2000" b="0" u="none" strike="noStrike">
              <a:solidFill>
                <a:srgbClr val="000000"/>
              </a:solidFill>
              <a:effectLst/>
              <a:uFillTx/>
              <a:latin typeface="Arial"/>
            </a:endParaRPr>
          </a:p>
        </p:txBody>
      </p:sp>
      <p:sp>
        <p:nvSpPr>
          <p:cNvPr id="26" name="Shape 7"/>
          <p:cNvSpPr/>
          <p:nvPr/>
        </p:nvSpPr>
        <p:spPr>
          <a:xfrm>
            <a:off x="838080" y="445752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 name="Text 8"/>
          <p:cNvSpPr/>
          <p:nvPr/>
        </p:nvSpPr>
        <p:spPr>
          <a:xfrm>
            <a:off x="838080" y="44956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partial task partitioning, neural policy, online queue control</a:t>
            </a:r>
            <a:r>
              <a:rPr lang="ko-KR" sz="2000" b="0" u="none" strike="noStrike">
                <a:solidFill>
                  <a:srgbClr val="173C37"/>
                </a:solidFill>
                <a:effectLst/>
                <a:uFillTx/>
                <a:latin typeface="AppleGothic"/>
                <a:ea typeface="AppleGothic"/>
              </a:rPr>
              <a:t>은 이 논문의 모델이 아니다</a:t>
            </a:r>
            <a:endParaRPr lang="en-US" sz="2000" b="0" u="none" strike="noStrike">
              <a:solidFill>
                <a:srgbClr val="000000"/>
              </a:solidFill>
              <a:effectLst/>
              <a:uFillTx/>
              <a:latin typeface="Arial"/>
            </a:endParaRPr>
          </a:p>
        </p:txBody>
      </p:sp>
      <p:sp>
        <p:nvSpPr>
          <p:cNvPr id="28" name="Shape 9"/>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9" name="Text 10"/>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이 논문은 다중 서버 배치와 연속 자원 할당을 결합한 </a:t>
            </a:r>
            <a:r>
              <a:rPr lang="en-US" sz="1750" b="1" u="none" strike="noStrike">
                <a:solidFill>
                  <a:srgbClr val="173C37"/>
                </a:solidFill>
                <a:effectLst/>
                <a:uFillTx/>
                <a:latin typeface="AppleGothic"/>
                <a:ea typeface="AppleGothic"/>
              </a:rPr>
              <a:t>offline optimization</a:t>
            </a:r>
            <a:r>
              <a:rPr lang="ko-KR" sz="1750" b="1" u="none" strike="noStrike">
                <a:solidFill>
                  <a:srgbClr val="173C37"/>
                </a:solidFill>
                <a:effectLst/>
                <a:uFillTx/>
                <a:latin typeface="AppleGothic"/>
                <a:ea typeface="AppleGothic"/>
              </a:rPr>
              <a:t>이다</a:t>
            </a:r>
            <a:endParaRPr lang="en-US" sz="1750" b="0" u="none" strike="noStrike">
              <a:solidFill>
                <a:srgbClr val="000000"/>
              </a:solidFill>
              <a:effectLst/>
              <a:uFillTx/>
              <a:latin typeface="Arial"/>
            </a:endParaRPr>
          </a:p>
        </p:txBody>
      </p:sp>
      <p:sp>
        <p:nvSpPr>
          <p:cNvPr id="30" name="Shape 11"/>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1" name="Text 12"/>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6-11; §§III-IV</a:t>
            </a:r>
            <a:endParaRPr lang="en-US" sz="1050" b="0" u="none" strike="noStrike">
              <a:solidFill>
                <a:srgbClr val="000000"/>
              </a:solidFill>
              <a:effectLst/>
              <a:uFillTx/>
              <a:latin typeface="Arial"/>
            </a:endParaRPr>
          </a:p>
        </p:txBody>
      </p:sp>
      <p:sp>
        <p:nvSpPr>
          <p:cNvPr id="32" name="Text 13"/>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여러 </a:t>
            </a:r>
            <a:r>
              <a:rPr lang="en-US" sz="3100" b="1" u="none" strike="noStrike">
                <a:solidFill>
                  <a:srgbClr val="173C37"/>
                </a:solidFill>
                <a:effectLst/>
                <a:uFillTx/>
                <a:latin typeface="AppleGothic"/>
                <a:ea typeface="AppleGothic"/>
              </a:rPr>
              <a:t>BS</a:t>
            </a:r>
            <a:r>
              <a:rPr lang="ko-KR" sz="3100" b="1" u="none" strike="noStrike">
                <a:solidFill>
                  <a:srgbClr val="173C37"/>
                </a:solidFill>
                <a:effectLst/>
                <a:uFillTx/>
                <a:latin typeface="AppleGothic"/>
                <a:ea typeface="AppleGothic"/>
              </a:rPr>
              <a:t>의 </a:t>
            </a:r>
            <a:r>
              <a:rPr lang="en-US" sz="3100" b="1" u="none" strike="noStrike">
                <a:solidFill>
                  <a:srgbClr val="173C37"/>
                </a:solidFill>
                <a:effectLst/>
                <a:uFillTx/>
                <a:latin typeface="AppleGothic"/>
                <a:ea typeface="AppleGothic"/>
              </a:rPr>
              <a:t>MEC server</a:t>
            </a:r>
            <a:r>
              <a:rPr lang="ko-KR" sz="3100" b="1" u="none" strike="noStrike">
                <a:solidFill>
                  <a:srgbClr val="173C37"/>
                </a:solidFill>
                <a:effectLst/>
                <a:uFillTx/>
                <a:latin typeface="AppleGothic"/>
                <a:ea typeface="AppleGothic"/>
              </a:rPr>
              <a:t>가 선택지와 간섭을 함께 만든다</a:t>
            </a:r>
            <a:endParaRPr lang="en-US" sz="3100" b="0" u="none" strike="noStrike">
              <a:solidFill>
                <a:srgbClr val="000000"/>
              </a:solidFill>
              <a:effectLst/>
              <a:uFillTx/>
              <a:latin typeface="Arial"/>
            </a:endParaRPr>
          </a:p>
        </p:txBody>
      </p:sp>
      <p:sp>
        <p:nvSpPr>
          <p:cNvPr id="34"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user</a:t>
            </a:r>
            <a:r>
              <a:rPr lang="ko-KR" sz="1900" b="0" u="none" strike="noStrike">
                <a:solidFill>
                  <a:srgbClr val="0D685C"/>
                </a:solidFill>
                <a:effectLst/>
                <a:uFillTx/>
                <a:latin typeface="AppleGothic"/>
                <a:ea typeface="AppleGothic"/>
              </a:rPr>
              <a:t>는 한 </a:t>
            </a:r>
            <a:r>
              <a:rPr lang="en-US" sz="1900" b="0" u="none" strike="noStrike">
                <a:solidFill>
                  <a:srgbClr val="0D685C"/>
                </a:solidFill>
                <a:effectLst/>
                <a:uFillTx/>
                <a:latin typeface="AppleGothic"/>
                <a:ea typeface="AppleGothic"/>
              </a:rPr>
              <a:t>server</a:t>
            </a:r>
            <a:r>
              <a:rPr lang="ko-KR" sz="1900" b="0" u="none" strike="noStrike">
                <a:solidFill>
                  <a:srgbClr val="0D685C"/>
                </a:solidFill>
                <a:effectLst/>
                <a:uFillTx/>
                <a:latin typeface="AppleGothic"/>
                <a:ea typeface="AppleGothic"/>
              </a:rPr>
              <a:t>에 </a:t>
            </a:r>
            <a:r>
              <a:rPr lang="en-US" sz="1900" b="0" u="none" strike="noStrike">
                <a:solidFill>
                  <a:srgbClr val="0D685C"/>
                </a:solidFill>
                <a:effectLst/>
                <a:uFillTx/>
                <a:latin typeface="AppleGothic"/>
                <a:ea typeface="AppleGothic"/>
              </a:rPr>
              <a:t>task input</a:t>
            </a:r>
            <a:r>
              <a:rPr lang="ko-KR" sz="1900" b="0" u="none" strike="noStrike">
                <a:solidFill>
                  <a:srgbClr val="0D685C"/>
                </a:solidFill>
                <a:effectLst/>
                <a:uFillTx/>
                <a:latin typeface="AppleGothic"/>
                <a:ea typeface="AppleGothic"/>
              </a:rPr>
              <a:t>을 올리지만</a:t>
            </a:r>
            <a:r>
              <a:rPr lang="en-US" sz="1900" b="0" u="none" strike="noStrike">
                <a:solidFill>
                  <a:srgbClr val="0D685C"/>
                </a:solidFill>
                <a:effectLst/>
                <a:uFillTx/>
                <a:latin typeface="AppleGothic"/>
                <a:ea typeface="AppleGothic"/>
              </a:rPr>
              <a:t>, </a:t>
            </a:r>
            <a:r>
              <a:rPr lang="ko-KR" sz="1900" b="0" u="none" strike="noStrike">
                <a:solidFill>
                  <a:srgbClr val="0D685C"/>
                </a:solidFill>
                <a:effectLst/>
                <a:uFillTx/>
                <a:latin typeface="AppleGothic"/>
                <a:ea typeface="AppleGothic"/>
              </a:rPr>
              <a:t>같은 </a:t>
            </a:r>
            <a:r>
              <a:rPr lang="en-US" sz="1900" b="0" u="none" strike="noStrike">
                <a:solidFill>
                  <a:srgbClr val="0D685C"/>
                </a:solidFill>
                <a:effectLst/>
                <a:uFillTx/>
                <a:latin typeface="AppleGothic"/>
                <a:ea typeface="AppleGothic"/>
              </a:rPr>
              <a:t>sub-band</a:t>
            </a:r>
            <a:r>
              <a:rPr lang="ko-KR" sz="1900" b="0" u="none" strike="noStrike">
                <a:solidFill>
                  <a:srgbClr val="0D685C"/>
                </a:solidFill>
                <a:effectLst/>
                <a:uFillTx/>
                <a:latin typeface="AppleGothic"/>
                <a:ea typeface="AppleGothic"/>
              </a:rPr>
              <a:t>의 다른 </a:t>
            </a:r>
            <a:r>
              <a:rPr lang="en-US" sz="1900" b="0" u="none" strike="noStrike">
                <a:solidFill>
                  <a:srgbClr val="0D685C"/>
                </a:solidFill>
                <a:effectLst/>
                <a:uFillTx/>
                <a:latin typeface="AppleGothic"/>
                <a:ea typeface="AppleGothic"/>
              </a:rPr>
              <a:t>cell </a:t>
            </a:r>
            <a:r>
              <a:rPr lang="ko-KR" sz="1900" b="0" u="none" strike="noStrike">
                <a:solidFill>
                  <a:srgbClr val="0D685C"/>
                </a:solidFill>
                <a:effectLst/>
                <a:uFillTx/>
                <a:latin typeface="AppleGothic"/>
                <a:ea typeface="AppleGothic"/>
              </a:rPr>
              <a:t>전송은 간섭을 만든다</a:t>
            </a:r>
            <a:endParaRPr lang="en-US" sz="1900" b="0" u="none" strike="noStrike">
              <a:solidFill>
                <a:srgbClr val="000000"/>
              </a:solidFill>
              <a:effectLst/>
              <a:uFillTx/>
              <a:latin typeface="Arial"/>
            </a:endParaRPr>
          </a:p>
        </p:txBody>
      </p:sp>
      <p:sp>
        <p:nvSpPr>
          <p:cNvPr id="35" name="mechanism-lane-selected"/>
          <p:cNvSpPr/>
          <p:nvPr/>
        </p:nvSpPr>
        <p:spPr>
          <a:xfrm>
            <a:off x="660240" y="2209680"/>
            <a:ext cx="863280" cy="189180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selected path</a:t>
            </a:r>
            <a:endParaRPr lang="en-US" sz="1250" b="0" u="none" strike="noStrike">
              <a:solidFill>
                <a:srgbClr val="000000"/>
              </a:solidFill>
              <a:effectLst/>
              <a:uFillTx/>
              <a:latin typeface="Arial"/>
            </a:endParaRPr>
          </a:p>
        </p:txBody>
      </p:sp>
      <p:sp>
        <p:nvSpPr>
          <p:cNvPr id="36" name="mechanism-lane-potential"/>
          <p:cNvSpPr/>
          <p:nvPr/>
        </p:nvSpPr>
        <p:spPr>
          <a:xfrm>
            <a:off x="660240" y="4102200"/>
            <a:ext cx="863280" cy="189180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potential association</a:t>
            </a:r>
            <a:endParaRPr lang="en-US" sz="1250" b="0" u="none" strike="noStrike">
              <a:solidFill>
                <a:srgbClr val="000000"/>
              </a:solidFill>
              <a:effectLst/>
              <a:uFillTx/>
              <a:latin typeface="Arial"/>
            </a:endParaRPr>
          </a:p>
        </p:txBody>
      </p:sp>
      <p:sp>
        <p:nvSpPr>
          <p:cNvPr id="37" name="mechanism-edge-t1-segment-1"/>
          <p:cNvSpPr/>
          <p:nvPr/>
        </p:nvSpPr>
        <p:spPr>
          <a:xfrm>
            <a:off x="3809880" y="2965320"/>
            <a:ext cx="32184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8" name="mechanism-edge-t1-segment-2"/>
          <p:cNvSpPr/>
          <p:nvPr/>
        </p:nvSpPr>
        <p:spPr>
          <a:xfrm>
            <a:off x="4131720" y="2965320"/>
            <a:ext cx="360" cy="1904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9" name="mechanism-edge-t1-segment-3"/>
          <p:cNvSpPr/>
          <p:nvPr/>
        </p:nvSpPr>
        <p:spPr>
          <a:xfrm>
            <a:off x="4131720" y="3155760"/>
            <a:ext cx="16056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0" name="mechanism-edge-t1-label"/>
          <p:cNvSpPr/>
          <p:nvPr/>
        </p:nvSpPr>
        <p:spPr>
          <a:xfrm>
            <a:off x="3517920" y="2597040"/>
            <a:ext cx="1066320" cy="1900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950" b="1" u="none" strike="noStrike">
                <a:solidFill>
                  <a:srgbClr val="173C37"/>
                </a:solidFill>
                <a:effectLst/>
                <a:uFillTx/>
                <a:latin typeface="AppleGothic"/>
                <a:ea typeface="AppleGothic"/>
              </a:rPr>
              <a:t>offload x^j_us=1</a:t>
            </a:r>
            <a:endParaRPr lang="en-US" sz="950" b="0" u="none" strike="noStrike">
              <a:solidFill>
                <a:srgbClr val="000000"/>
              </a:solidFill>
              <a:effectLst/>
              <a:uFillTx/>
              <a:latin typeface="Arial"/>
            </a:endParaRPr>
          </a:p>
        </p:txBody>
      </p:sp>
      <p:sp>
        <p:nvSpPr>
          <p:cNvPr id="41" name="mechanism-edge-t2-segment-1"/>
          <p:cNvSpPr/>
          <p:nvPr/>
        </p:nvSpPr>
        <p:spPr>
          <a:xfrm>
            <a:off x="3809880" y="3346200"/>
            <a:ext cx="160920" cy="360"/>
          </a:xfrm>
          <a:prstGeom prst="line">
            <a:avLst/>
          </a:prstGeom>
          <a:ln w="12700">
            <a:solidFill>
              <a:srgbClr val="5E6D69"/>
            </a:solidFill>
            <a:prstDash val="dash"/>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2" name="mechanism-edge-t2-segment-2"/>
          <p:cNvSpPr/>
          <p:nvPr/>
        </p:nvSpPr>
        <p:spPr>
          <a:xfrm>
            <a:off x="3970800" y="3346200"/>
            <a:ext cx="360" cy="1701720"/>
          </a:xfrm>
          <a:prstGeom prst="line">
            <a:avLst/>
          </a:prstGeom>
          <a:ln w="12700">
            <a:solidFill>
              <a:srgbClr val="5E6D69"/>
            </a:solidFill>
            <a:prstDash val="dash"/>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43" name="mechanism-edge-t2-segment-3"/>
          <p:cNvSpPr/>
          <p:nvPr/>
        </p:nvSpPr>
        <p:spPr>
          <a:xfrm>
            <a:off x="3970800" y="5047920"/>
            <a:ext cx="321480" cy="360"/>
          </a:xfrm>
          <a:prstGeom prst="line">
            <a:avLst/>
          </a:prstGeom>
          <a:ln w="12700">
            <a:solidFill>
              <a:srgbClr val="5E6D69"/>
            </a:solidFill>
            <a:prstDash val="dash"/>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4" name="mechanism-edge-t2-label"/>
          <p:cNvSpPr/>
          <p:nvPr/>
        </p:nvSpPr>
        <p:spPr>
          <a:xfrm>
            <a:off x="3517920" y="5416560"/>
            <a:ext cx="1066320" cy="1900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950" b="1" u="none" strike="noStrike">
                <a:solidFill>
                  <a:srgbClr val="173C37"/>
                </a:solidFill>
                <a:effectLst/>
                <a:uFillTx/>
                <a:latin typeface="AppleGothic"/>
                <a:ea typeface="AppleGothic"/>
              </a:rPr>
              <a:t>potential</a:t>
            </a:r>
            <a:endParaRPr lang="en-US" sz="950" b="0" u="none" strike="noStrike">
              <a:solidFill>
                <a:srgbClr val="000000"/>
              </a:solidFill>
              <a:effectLst/>
              <a:uFillTx/>
              <a:latin typeface="Arial"/>
            </a:endParaRPr>
          </a:p>
        </p:txBody>
      </p:sp>
      <p:sp>
        <p:nvSpPr>
          <p:cNvPr id="45" name="mechanism-edge-t3-segment-1"/>
          <p:cNvSpPr/>
          <p:nvPr/>
        </p:nvSpPr>
        <p:spPr>
          <a:xfrm>
            <a:off x="6362640" y="3155760"/>
            <a:ext cx="303516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6" name="mechanism-edge-t3-label"/>
          <p:cNvSpPr/>
          <p:nvPr/>
        </p:nvSpPr>
        <p:spPr>
          <a:xfrm>
            <a:off x="7346880" y="2927520"/>
            <a:ext cx="1066320" cy="1900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950" b="1" u="none" strike="noStrike">
                <a:solidFill>
                  <a:srgbClr val="173C37"/>
                </a:solidFill>
                <a:effectLst/>
                <a:uFillTx/>
                <a:latin typeface="AppleGothic"/>
                <a:ea typeface="AppleGothic"/>
              </a:rPr>
              <a:t>CPU share</a:t>
            </a:r>
            <a:endParaRPr lang="en-US" sz="950" b="0" u="none" strike="noStrike">
              <a:solidFill>
                <a:srgbClr val="000000"/>
              </a:solidFill>
              <a:effectLst/>
              <a:uFillTx/>
              <a:latin typeface="Arial"/>
            </a:endParaRPr>
          </a:p>
        </p:txBody>
      </p:sp>
      <p:sp>
        <p:nvSpPr>
          <p:cNvPr id="47" name="mechanism-node-task"/>
          <p:cNvSpPr/>
          <p:nvPr/>
        </p:nvSpPr>
        <p:spPr>
          <a:xfrm>
            <a:off x="1739880" y="283860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user task</a:t>
            </a:r>
            <a:endParaRPr lang="en-US" sz="1150" b="0" u="none" strike="noStrike">
              <a:solidFill>
                <a:srgbClr val="000000"/>
              </a:solidFill>
              <a:effectLst/>
              <a:uFillTx/>
              <a:latin typeface="Arial"/>
            </a:endParaRPr>
          </a:p>
        </p:txBody>
      </p:sp>
      <p:sp>
        <p:nvSpPr>
          <p:cNvPr id="48" name="mechanism-node-task-queue-1"/>
          <p:cNvSpPr/>
          <p:nvPr/>
        </p:nvSpPr>
        <p:spPr>
          <a:xfrm>
            <a:off x="1739880" y="309240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input d_u</a:t>
            </a:r>
            <a:endParaRPr lang="en-US" sz="950" b="0" u="none" strike="noStrike">
              <a:solidFill>
                <a:srgbClr val="000000"/>
              </a:solidFill>
              <a:effectLst/>
              <a:uFillTx/>
              <a:latin typeface="Arial"/>
            </a:endParaRPr>
          </a:p>
        </p:txBody>
      </p:sp>
      <p:sp>
        <p:nvSpPr>
          <p:cNvPr id="49" name="mechanism-node-task-queue-2"/>
          <p:cNvSpPr/>
          <p:nvPr/>
        </p:nvSpPr>
        <p:spPr>
          <a:xfrm>
            <a:off x="1739880" y="328284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workload c_u</a:t>
            </a:r>
            <a:endParaRPr lang="en-US" sz="950" b="0" u="none" strike="noStrike">
              <a:solidFill>
                <a:srgbClr val="000000"/>
              </a:solidFill>
              <a:effectLst/>
              <a:uFillTx/>
              <a:latin typeface="Arial"/>
            </a:endParaRPr>
          </a:p>
        </p:txBody>
      </p:sp>
      <p:sp>
        <p:nvSpPr>
          <p:cNvPr id="50" name="mechanism-node-home"/>
          <p:cNvSpPr/>
          <p:nvPr/>
        </p:nvSpPr>
        <p:spPr>
          <a:xfrm>
            <a:off x="4292640" y="282564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BS 1 + MEC</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selected uplink</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sub-band j</a:t>
            </a:r>
            <a:endParaRPr lang="en-US" sz="1150" b="0" u="none" strike="noStrike">
              <a:solidFill>
                <a:srgbClr val="000000"/>
              </a:solidFill>
              <a:effectLst/>
              <a:uFillTx/>
              <a:latin typeface="Arial"/>
            </a:endParaRPr>
          </a:p>
        </p:txBody>
      </p:sp>
      <p:sp>
        <p:nvSpPr>
          <p:cNvPr id="51" name="mechanism-node-other"/>
          <p:cNvSpPr/>
          <p:nvPr/>
        </p:nvSpPr>
        <p:spPr>
          <a:xfrm>
            <a:off x="4292640" y="471816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nearby BS + MEC</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possible server</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association</a:t>
            </a:r>
            <a:endParaRPr lang="en-US" sz="1150" b="0" u="none" strike="noStrike">
              <a:solidFill>
                <a:srgbClr val="000000"/>
              </a:solidFill>
              <a:effectLst/>
              <a:uFillTx/>
              <a:latin typeface="Arial"/>
            </a:endParaRPr>
          </a:p>
        </p:txBody>
      </p:sp>
      <p:sp>
        <p:nvSpPr>
          <p:cNvPr id="52" name="mechanism-node-compute"/>
          <p:cNvSpPr/>
          <p:nvPr/>
        </p:nvSpPr>
        <p:spPr>
          <a:xfrm>
            <a:off x="9398160" y="282564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server execution</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shared CPU rate</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f_us</a:t>
            </a:r>
            <a:endParaRPr lang="en-US" sz="1150" b="0" u="none" strike="noStrike">
              <a:solidFill>
                <a:srgbClr val="000000"/>
              </a:solidFill>
              <a:effectLst/>
              <a:uFillTx/>
              <a:latin typeface="Arial"/>
            </a:endParaRPr>
          </a:p>
        </p:txBody>
      </p:sp>
      <p:sp>
        <p:nvSpPr>
          <p:cNvPr id="53" name="Shape 20"/>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54" name="Text 21"/>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 6; Fig. 1; §III</a:t>
            </a:r>
            <a:endParaRPr lang="en-US" sz="1050" b="0" u="none" strike="noStrike">
              <a:solidFill>
                <a:srgbClr val="000000"/>
              </a:solidFill>
              <a:effectLst/>
              <a:uFillTx/>
              <a:latin typeface="Arial"/>
            </a:endParaRPr>
          </a:p>
        </p:txBody>
      </p:sp>
      <p:sp>
        <p:nvSpPr>
          <p:cNvPr id="55" name="Text 22"/>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03</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local</a:t>
            </a:r>
            <a:r>
              <a:rPr lang="ko-KR" sz="3100" b="1" u="none" strike="noStrike">
                <a:solidFill>
                  <a:srgbClr val="173C37"/>
                </a:solidFill>
                <a:effectLst/>
                <a:uFillTx/>
                <a:latin typeface="AppleGothic"/>
                <a:ea typeface="AppleGothic"/>
              </a:rPr>
              <a:t>과 </a:t>
            </a:r>
            <a:r>
              <a:rPr lang="en-US" sz="3100" b="1" u="none" strike="noStrike">
                <a:solidFill>
                  <a:srgbClr val="173C37"/>
                </a:solidFill>
                <a:effectLst/>
                <a:uFillTx/>
                <a:latin typeface="AppleGothic"/>
                <a:ea typeface="AppleGothic"/>
              </a:rPr>
              <a:t>offload</a:t>
            </a:r>
            <a:r>
              <a:rPr lang="ko-KR" sz="3100" b="1" u="none" strike="noStrike">
                <a:solidFill>
                  <a:srgbClr val="173C37"/>
                </a:solidFill>
                <a:effectLst/>
                <a:uFillTx/>
                <a:latin typeface="AppleGothic"/>
                <a:ea typeface="AppleGothic"/>
              </a:rPr>
              <a:t>는 </a:t>
            </a:r>
            <a:r>
              <a:rPr lang="en-US" sz="3100" b="1" u="none" strike="noStrike">
                <a:solidFill>
                  <a:srgbClr val="173C37"/>
                </a:solidFill>
                <a:effectLst/>
                <a:uFillTx/>
                <a:latin typeface="AppleGothic"/>
                <a:ea typeface="AppleGothic"/>
              </a:rPr>
              <a:t>time·energy accounting</a:t>
            </a:r>
            <a:r>
              <a:rPr lang="ko-KR" sz="3100" b="1" u="none" strike="noStrike">
                <a:solidFill>
                  <a:srgbClr val="173C37"/>
                </a:solidFill>
                <a:effectLst/>
                <a:uFillTx/>
                <a:latin typeface="AppleGothic"/>
                <a:ea typeface="AppleGothic"/>
              </a:rPr>
              <a:t>이 다르다</a:t>
            </a:r>
            <a:endParaRPr lang="en-US" sz="3100" b="0" u="none" strike="noStrike">
              <a:solidFill>
                <a:srgbClr val="000000"/>
              </a:solidFill>
              <a:effectLst/>
              <a:uFillTx/>
              <a:latin typeface="Arial"/>
            </a:endParaRPr>
          </a:p>
        </p:txBody>
      </p:sp>
      <p:sp>
        <p:nvSpPr>
          <p:cNvPr id="5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offload</a:t>
            </a:r>
            <a:r>
              <a:rPr lang="ko-KR" sz="1900" b="0" u="none" strike="noStrike">
                <a:solidFill>
                  <a:srgbClr val="0D685C"/>
                </a:solidFill>
                <a:effectLst/>
                <a:uFillTx/>
                <a:latin typeface="AppleGothic"/>
                <a:ea typeface="AppleGothic"/>
              </a:rPr>
              <a:t>가 유리하려면 </a:t>
            </a:r>
            <a:r>
              <a:rPr lang="en-US" sz="1900" b="0" u="none" strike="noStrike">
                <a:solidFill>
                  <a:srgbClr val="0D685C"/>
                </a:solidFill>
                <a:effectLst/>
                <a:uFillTx/>
                <a:latin typeface="AppleGothic"/>
                <a:ea typeface="AppleGothic"/>
              </a:rPr>
              <a:t>uplink overhead</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server contention</a:t>
            </a:r>
            <a:r>
              <a:rPr lang="ko-KR" sz="1900" b="0" u="none" strike="noStrike">
                <a:solidFill>
                  <a:srgbClr val="0D685C"/>
                </a:solidFill>
                <a:effectLst/>
                <a:uFillTx/>
                <a:latin typeface="AppleGothic"/>
                <a:ea typeface="AppleGothic"/>
              </a:rPr>
              <a:t>까지 </a:t>
            </a:r>
            <a:r>
              <a:rPr lang="en-US" sz="1900" b="0" u="none" strike="noStrike">
                <a:solidFill>
                  <a:srgbClr val="0D685C"/>
                </a:solidFill>
                <a:effectLst/>
                <a:uFillTx/>
                <a:latin typeface="AppleGothic"/>
                <a:ea typeface="AppleGothic"/>
              </a:rPr>
              <a:t>local </a:t>
            </a:r>
            <a:r>
              <a:rPr lang="ko-KR" sz="1900" b="0" u="none" strike="noStrike">
                <a:solidFill>
                  <a:srgbClr val="0D685C"/>
                </a:solidFill>
                <a:effectLst/>
                <a:uFillTx/>
                <a:latin typeface="AppleGothic"/>
                <a:ea typeface="AppleGothic"/>
              </a:rPr>
              <a:t>비용보다 작아야 한다</a:t>
            </a:r>
            <a:endParaRPr lang="en-US" sz="1900" b="0" u="none" strike="noStrike">
              <a:solidFill>
                <a:srgbClr val="000000"/>
              </a:solidFill>
              <a:effectLst/>
              <a:uFillTx/>
              <a:latin typeface="Arial"/>
            </a:endParaRPr>
          </a:p>
        </p:txBody>
      </p:sp>
      <p:graphicFrame>
        <p:nvGraphicFramePr>
          <p:cNvPr id="58" name="Table 0"/>
          <p:cNvGraphicFramePr/>
          <p:nvPr/>
        </p:nvGraphicFramePr>
        <p:xfrm>
          <a:off x="660240" y="2082960"/>
          <a:ext cx="10870920" cy="3314520"/>
        </p:xfrm>
        <a:graphic>
          <a:graphicData uri="http://schemas.openxmlformats.org/drawingml/2006/table">
            <a:tbl>
              <a:tblPr/>
              <a:tblGrid>
                <a:gridCol w="2065320"/>
                <a:gridCol w="3043800"/>
                <a:gridCol w="3043800"/>
                <a:gridCol w="271764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경로</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completion time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device energy</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원문 가정</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c_u / f_lu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kappa (f_lu)^2 c_u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task</a:t>
                      </a:r>
                      <a:r>
                        <a:rPr lang="ko-KR" sz="1550" b="0" u="none" strike="noStrike">
                          <a:solidFill>
                            <a:srgbClr val="173C37"/>
                          </a:solidFill>
                          <a:effectLst/>
                          <a:uFillTx/>
                          <a:latin typeface="AppleGothic"/>
                          <a:ea typeface="AppleGothic"/>
                        </a:rPr>
                        <a:t>는 </a:t>
                      </a:r>
                      <a:r>
                        <a:rPr lang="en-US" sz="1550" b="0" u="none" strike="noStrike">
                          <a:solidFill>
                            <a:srgbClr val="173C37"/>
                          </a:solidFill>
                          <a:effectLst/>
                          <a:uFillTx/>
                          <a:latin typeface="AppleGothic"/>
                          <a:ea typeface="AppleGothic"/>
                        </a:rPr>
                        <a:t>device CPU</a:t>
                      </a:r>
                      <a:r>
                        <a:rPr lang="ko-KR" sz="1550" b="0" u="none" strike="noStrike">
                          <a:solidFill>
                            <a:srgbClr val="173C37"/>
                          </a:solidFill>
                          <a:effectLst/>
                          <a:uFillTx/>
                          <a:latin typeface="AppleGothic"/>
                          <a:ea typeface="AppleGothic"/>
                        </a:rPr>
                        <a:t>에서 실행</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offload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upload + server execution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p_u × upload time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output downlink delay </a:t>
                      </a:r>
                      <a:r>
                        <a:rPr lang="ko-KR" sz="1550" b="0" u="none" strike="noStrike">
                          <a:solidFill>
                            <a:srgbClr val="173C37"/>
                          </a:solidFill>
                          <a:effectLst/>
                          <a:uFillTx/>
                          <a:latin typeface="AppleGothic"/>
                          <a:ea typeface="AppleGothic"/>
                        </a:rPr>
                        <a:t>생략</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server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c_u / f_us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device energy</a:t>
                      </a:r>
                      <a:r>
                        <a:rPr lang="ko-KR" sz="1550" b="0" u="none" strike="noStrike">
                          <a:solidFill>
                            <a:srgbClr val="173C37"/>
                          </a:solidFill>
                          <a:effectLst/>
                          <a:uFillTx/>
                          <a:latin typeface="AppleGothic"/>
                          <a:ea typeface="AppleGothic"/>
                        </a:rPr>
                        <a:t>가 아님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각 </a:t>
                      </a:r>
                      <a:r>
                        <a:rPr lang="en-US" sz="1550" b="0" u="none" strike="noStrike">
                          <a:solidFill>
                            <a:srgbClr val="173C37"/>
                          </a:solidFill>
                          <a:effectLst/>
                          <a:uFillTx/>
                          <a:latin typeface="AppleGothic"/>
                          <a:ea typeface="AppleGothic"/>
                        </a:rPr>
                        <a:t>server CPU</a:t>
                      </a:r>
                      <a:r>
                        <a:rPr lang="ko-KR" sz="1550" b="0" u="none" strike="noStrike">
                          <a:solidFill>
                            <a:srgbClr val="173C37"/>
                          </a:solidFill>
                          <a:effectLst/>
                          <a:uFillTx/>
                          <a:latin typeface="AppleGothic"/>
                          <a:ea typeface="AppleGothic"/>
                        </a:rPr>
                        <a:t>를 </a:t>
                      </a:r>
                      <a:r>
                        <a:rPr lang="en-US" sz="1550" b="0" u="none" strike="noStrike">
                          <a:solidFill>
                            <a:srgbClr val="173C37"/>
                          </a:solidFill>
                          <a:effectLst/>
                          <a:uFillTx/>
                          <a:latin typeface="AppleGothic"/>
                          <a:ea typeface="AppleGothic"/>
                        </a:rPr>
                        <a:t>users</a:t>
                      </a:r>
                      <a:r>
                        <a:rPr lang="ko-KR" sz="1550" b="0" u="none" strike="noStrike">
                          <a:solidFill>
                            <a:srgbClr val="173C37"/>
                          </a:solidFill>
                          <a:effectLst/>
                          <a:uFillTx/>
                          <a:latin typeface="AppleGothic"/>
                          <a:ea typeface="AppleGothic"/>
                        </a:rPr>
                        <a:t>가 공유</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radio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d_u / R_us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same-cell OFDMA</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other cells</a:t>
                      </a:r>
                      <a:r>
                        <a:rPr lang="ko-KR" sz="1550" b="0" u="none" strike="noStrike">
                          <a:solidFill>
                            <a:srgbClr val="173C37"/>
                          </a:solidFill>
                          <a:effectLst/>
                          <a:uFillTx/>
                          <a:latin typeface="AppleGothic"/>
                          <a:ea typeface="AppleGothic"/>
                        </a:rPr>
                        <a:t>는 </a:t>
                      </a:r>
                      <a:r>
                        <a:rPr lang="en-US" sz="1550" b="0" u="none" strike="noStrike">
                          <a:solidFill>
                            <a:srgbClr val="173C37"/>
                          </a:solidFill>
                          <a:effectLst/>
                          <a:uFillTx/>
                          <a:latin typeface="AppleGothic"/>
                          <a:ea typeface="AppleGothic"/>
                        </a:rPr>
                        <a:t>interference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59"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60"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서버가 있어도 업로드 지연</a:t>
            </a:r>
            <a:r>
              <a:rPr lang="en-US" sz="1750" b="1" u="none" strike="noStrike">
                <a:solidFill>
                  <a:srgbClr val="173C37"/>
                </a:solidFill>
                <a:effectLst/>
                <a:uFillTx/>
                <a:latin typeface="AppleGothic"/>
                <a:ea typeface="AppleGothic"/>
              </a:rPr>
              <a:t>·</a:t>
            </a:r>
            <a:r>
              <a:rPr lang="ko-KR" sz="1750" b="1" u="none" strike="noStrike">
                <a:solidFill>
                  <a:srgbClr val="173C37"/>
                </a:solidFill>
                <a:effectLst/>
                <a:uFillTx/>
                <a:latin typeface="AppleGothic"/>
                <a:ea typeface="AppleGothic"/>
              </a:rPr>
              <a:t>에너지와 </a:t>
            </a:r>
            <a:r>
              <a:rPr lang="en-US" sz="1750" b="1" u="none" strike="noStrike">
                <a:solidFill>
                  <a:srgbClr val="173C37"/>
                </a:solidFill>
                <a:effectLst/>
                <a:uFillTx/>
                <a:latin typeface="AppleGothic"/>
                <a:ea typeface="AppleGothic"/>
              </a:rPr>
              <a:t>CPU </a:t>
            </a:r>
            <a:r>
              <a:rPr lang="ko-KR" sz="1750" b="1" u="none" strike="noStrike">
                <a:solidFill>
                  <a:srgbClr val="173C37"/>
                </a:solidFill>
                <a:effectLst/>
                <a:uFillTx/>
                <a:latin typeface="AppleGothic"/>
                <a:ea typeface="AppleGothic"/>
              </a:rPr>
              <a:t>경합 때문에 모든 </a:t>
            </a:r>
            <a:r>
              <a:rPr lang="en-US" sz="1750" b="1" u="none" strike="noStrike">
                <a:solidFill>
                  <a:srgbClr val="173C37"/>
                </a:solidFill>
                <a:effectLst/>
                <a:uFillTx/>
                <a:latin typeface="AppleGothic"/>
                <a:ea typeface="AppleGothic"/>
              </a:rPr>
              <a:t>task</a:t>
            </a:r>
            <a:r>
              <a:rPr lang="ko-KR" sz="1750" b="1" u="none" strike="noStrike">
                <a:solidFill>
                  <a:srgbClr val="173C37"/>
                </a:solidFill>
                <a:effectLst/>
                <a:uFillTx/>
                <a:latin typeface="AppleGothic"/>
                <a:ea typeface="AppleGothic"/>
              </a:rPr>
              <a:t>를 </a:t>
            </a:r>
            <a:r>
              <a:rPr lang="en-US" sz="1750" b="1" u="none" strike="noStrike">
                <a:solidFill>
                  <a:srgbClr val="173C37"/>
                </a:solidFill>
                <a:effectLst/>
                <a:uFillTx/>
                <a:latin typeface="AppleGothic"/>
                <a:ea typeface="AppleGothic"/>
              </a:rPr>
              <a:t>offload</a:t>
            </a:r>
            <a:r>
              <a:rPr lang="ko-KR" sz="1750" b="1" u="none" strike="noStrike">
                <a:solidFill>
                  <a:srgbClr val="173C37"/>
                </a:solidFill>
                <a:effectLst/>
                <a:uFillTx/>
                <a:latin typeface="AppleGothic"/>
                <a:ea typeface="AppleGothic"/>
              </a:rPr>
              <a:t>하지 않는다</a:t>
            </a:r>
            <a:endParaRPr lang="en-US" sz="1750" b="0" u="none" strike="noStrike">
              <a:solidFill>
                <a:srgbClr val="000000"/>
              </a:solidFill>
              <a:effectLst/>
              <a:uFillTx/>
              <a:latin typeface="Arial"/>
            </a:endParaRPr>
          </a:p>
        </p:txBody>
      </p:sp>
      <p:sp>
        <p:nvSpPr>
          <p:cNvPr id="61"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62"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6-9; Eqs. 1, 3-9</a:t>
            </a:r>
            <a:endParaRPr lang="en-US" sz="1050" b="0" u="none" strike="noStrike">
              <a:solidFill>
                <a:srgbClr val="000000"/>
              </a:solidFill>
              <a:effectLst/>
              <a:uFillTx/>
              <a:latin typeface="Arial"/>
            </a:endParaRPr>
          </a:p>
        </p:txBody>
      </p:sp>
      <p:sp>
        <p:nvSpPr>
          <p:cNvPr id="63"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오프로딩 변수는 세 가지 선택을 동시에 담는다</a:t>
            </a:r>
            <a:endParaRPr lang="en-US" sz="3100" b="0" u="none" strike="noStrike">
              <a:solidFill>
                <a:srgbClr val="000000"/>
              </a:solidFill>
              <a:effectLst/>
              <a:uFillTx/>
              <a:latin typeface="Arial"/>
            </a:endParaRPr>
          </a:p>
        </p:txBody>
      </p:sp>
      <p:sp>
        <p:nvSpPr>
          <p:cNvPr id="65"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x^j_us=1</a:t>
            </a:r>
            <a:r>
              <a:rPr lang="ko-KR" sz="1900" b="0" u="none" strike="noStrike">
                <a:solidFill>
                  <a:srgbClr val="0D685C"/>
                </a:solidFill>
                <a:effectLst/>
                <a:uFillTx/>
                <a:latin typeface="AppleGothic"/>
                <a:ea typeface="AppleGothic"/>
              </a:rPr>
              <a:t>은 </a:t>
            </a:r>
            <a:r>
              <a:rPr lang="en-US" sz="1900" b="0" u="none" strike="noStrike">
                <a:solidFill>
                  <a:srgbClr val="0D685C"/>
                </a:solidFill>
                <a:effectLst/>
                <a:uFillTx/>
                <a:latin typeface="AppleGothic"/>
                <a:ea typeface="AppleGothic"/>
              </a:rPr>
              <a:t>user u</a:t>
            </a:r>
            <a:r>
              <a:rPr lang="ko-KR" sz="1900" b="0" u="none" strike="noStrike">
                <a:solidFill>
                  <a:srgbClr val="0D685C"/>
                </a:solidFill>
                <a:effectLst/>
                <a:uFillTx/>
                <a:latin typeface="AppleGothic"/>
                <a:ea typeface="AppleGothic"/>
              </a:rPr>
              <a:t>가 </a:t>
            </a:r>
            <a:r>
              <a:rPr lang="en-US" sz="1900" b="0" u="none" strike="noStrike">
                <a:solidFill>
                  <a:srgbClr val="0D685C"/>
                </a:solidFill>
                <a:effectLst/>
                <a:uFillTx/>
                <a:latin typeface="AppleGothic"/>
                <a:ea typeface="AppleGothic"/>
              </a:rPr>
              <a:t>server s</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sub-band j</a:t>
            </a:r>
            <a:r>
              <a:rPr lang="ko-KR" sz="1900" b="0" u="none" strike="noStrike">
                <a:solidFill>
                  <a:srgbClr val="0D685C"/>
                </a:solidFill>
                <a:effectLst/>
                <a:uFillTx/>
                <a:latin typeface="AppleGothic"/>
                <a:ea typeface="AppleGothic"/>
              </a:rPr>
              <a:t>를 쓰는 하나의 </a:t>
            </a:r>
            <a:r>
              <a:rPr lang="en-US" sz="1900" b="0" u="none" strike="noStrike">
                <a:solidFill>
                  <a:srgbClr val="0D685C"/>
                </a:solidFill>
                <a:effectLst/>
                <a:uFillTx/>
                <a:latin typeface="AppleGothic"/>
                <a:ea typeface="AppleGothic"/>
              </a:rPr>
              <a:t>entry</a:t>
            </a:r>
            <a:r>
              <a:rPr lang="ko-KR" sz="1900" b="0" u="none" strike="noStrike">
                <a:solidFill>
                  <a:srgbClr val="0D685C"/>
                </a:solidFill>
                <a:effectLst/>
                <a:uFillTx/>
                <a:latin typeface="AppleGothic"/>
                <a:ea typeface="AppleGothic"/>
              </a:rPr>
              <a:t>다</a:t>
            </a:r>
            <a:endParaRPr lang="en-US" sz="1900" b="0" u="none" strike="noStrike">
              <a:solidFill>
                <a:srgbClr val="000000"/>
              </a:solidFill>
              <a:effectLst/>
              <a:uFillTx/>
              <a:latin typeface="Arial"/>
            </a:endParaRPr>
          </a:p>
        </p:txBody>
      </p:sp>
      <p:sp>
        <p:nvSpPr>
          <p:cNvPr id="66" name="Shape 2"/>
          <p:cNvSpPr/>
          <p:nvPr/>
        </p:nvSpPr>
        <p:spPr>
          <a:xfrm>
            <a:off x="6095880" y="2705040"/>
            <a:ext cx="360" cy="1904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67" name="Shape 3"/>
          <p:cNvSpPr/>
          <p:nvPr/>
        </p:nvSpPr>
        <p:spPr>
          <a:xfrm>
            <a:off x="3301920" y="2895480"/>
            <a:ext cx="5587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68" name="Shape 4"/>
          <p:cNvSpPr/>
          <p:nvPr/>
        </p:nvSpPr>
        <p:spPr>
          <a:xfrm>
            <a:off x="3301920" y="2895480"/>
            <a:ext cx="360" cy="35568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69" name="Shape 5"/>
          <p:cNvSpPr/>
          <p:nvPr/>
        </p:nvSpPr>
        <p:spPr>
          <a:xfrm>
            <a:off x="8889840" y="2895480"/>
            <a:ext cx="360" cy="35568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0" name="Shape 6"/>
          <p:cNvSpPr/>
          <p:nvPr/>
        </p:nvSpPr>
        <p:spPr>
          <a:xfrm>
            <a:off x="3301920" y="3962160"/>
            <a:ext cx="360" cy="25416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1" name="Shape 7"/>
          <p:cNvSpPr/>
          <p:nvPr/>
        </p:nvSpPr>
        <p:spPr>
          <a:xfrm>
            <a:off x="3301920" y="421632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72" name="Shape 8"/>
          <p:cNvSpPr/>
          <p:nvPr/>
        </p:nvSpPr>
        <p:spPr>
          <a:xfrm>
            <a:off x="8889840" y="3962160"/>
            <a:ext cx="360" cy="25416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3" name="Shape 9"/>
          <p:cNvSpPr/>
          <p:nvPr/>
        </p:nvSpPr>
        <p:spPr>
          <a:xfrm>
            <a:off x="6730920" y="421632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74" name="Shape 10"/>
          <p:cNvSpPr/>
          <p:nvPr/>
        </p:nvSpPr>
        <p:spPr>
          <a:xfrm>
            <a:off x="5460840" y="4216320"/>
            <a:ext cx="360" cy="25380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5" name="Shape 11"/>
          <p:cNvSpPr/>
          <p:nvPr/>
        </p:nvSpPr>
        <p:spPr>
          <a:xfrm>
            <a:off x="6730920" y="4216320"/>
            <a:ext cx="360" cy="25380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6" name="Shape 12"/>
          <p:cNvSpPr/>
          <p:nvPr/>
        </p:nvSpPr>
        <p:spPr>
          <a:xfrm>
            <a:off x="6095880" y="5181480"/>
            <a:ext cx="360" cy="33012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7" name="Text 13"/>
          <p:cNvSpPr/>
          <p:nvPr/>
        </p:nvSpPr>
        <p:spPr>
          <a:xfrm>
            <a:off x="4191120" y="210816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candidate entry</a:t>
            </a:r>
            <a:endParaRPr lang="en-US" sz="1750" b="0" u="none" strike="noStrike">
              <a:solidFill>
                <a:srgbClr val="000000"/>
              </a:solidFill>
              <a:effectLst/>
              <a:uFillTx/>
              <a:latin typeface="Arial"/>
            </a:endParaRPr>
          </a:p>
        </p:txBody>
      </p:sp>
      <p:sp>
        <p:nvSpPr>
          <p:cNvPr id="78" name="Text 14"/>
          <p:cNvSpPr/>
          <p:nvPr/>
        </p:nvSpPr>
        <p:spPr>
          <a:xfrm>
            <a:off x="4191120" y="238752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x^j_us ∈ {0,1}</a:t>
            </a:r>
            <a:endParaRPr lang="en-US" sz="1500" b="0" u="none" strike="noStrike">
              <a:solidFill>
                <a:srgbClr val="000000"/>
              </a:solidFill>
              <a:effectLst/>
              <a:uFillTx/>
              <a:latin typeface="Arial"/>
            </a:endParaRPr>
          </a:p>
        </p:txBody>
      </p:sp>
      <p:sp>
        <p:nvSpPr>
          <p:cNvPr id="79" name="Text 15"/>
          <p:cNvSpPr/>
          <p:nvPr/>
        </p:nvSpPr>
        <p:spPr>
          <a:xfrm>
            <a:off x="1270080" y="335268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user constraint</a:t>
            </a:r>
            <a:endParaRPr lang="en-US" sz="1750" b="0" u="none" strike="noStrike">
              <a:solidFill>
                <a:srgbClr val="000000"/>
              </a:solidFill>
              <a:effectLst/>
              <a:uFillTx/>
              <a:latin typeface="Arial"/>
            </a:endParaRPr>
          </a:p>
        </p:txBody>
      </p:sp>
      <p:sp>
        <p:nvSpPr>
          <p:cNvPr id="80" name="Text 16"/>
          <p:cNvSpPr/>
          <p:nvPr/>
        </p:nvSpPr>
        <p:spPr>
          <a:xfrm>
            <a:off x="1270080" y="363204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ko-KR" sz="1500" b="0" u="none" strike="noStrike">
                <a:solidFill>
                  <a:srgbClr val="173C37"/>
                </a:solidFill>
                <a:effectLst/>
                <a:uFillTx/>
                <a:latin typeface="AppleGothic"/>
                <a:ea typeface="AppleGothic"/>
              </a:rPr>
              <a:t>한 </a:t>
            </a:r>
            <a:r>
              <a:rPr lang="en-US" sz="1500" b="0" u="none" strike="noStrike">
                <a:solidFill>
                  <a:srgbClr val="173C37"/>
                </a:solidFill>
                <a:effectLst/>
                <a:uFillTx/>
                <a:latin typeface="AppleGothic"/>
                <a:ea typeface="AppleGothic"/>
              </a:rPr>
              <a:t>task</a:t>
            </a:r>
            <a:r>
              <a:rPr lang="ko-KR" sz="1500" b="0" u="none" strike="noStrike">
                <a:solidFill>
                  <a:srgbClr val="173C37"/>
                </a:solidFill>
                <a:effectLst/>
                <a:uFillTx/>
                <a:latin typeface="AppleGothic"/>
                <a:ea typeface="AppleGothic"/>
              </a:rPr>
              <a:t>는 최대 한 </a:t>
            </a:r>
            <a:r>
              <a:rPr lang="en-US" sz="1500" b="0" u="none" strike="noStrike">
                <a:solidFill>
                  <a:srgbClr val="173C37"/>
                </a:solidFill>
                <a:effectLst/>
                <a:uFillTx/>
                <a:latin typeface="AppleGothic"/>
                <a:ea typeface="AppleGothic"/>
              </a:rPr>
              <a:t>entry</a:t>
            </a:r>
            <a:endParaRPr lang="en-US" sz="1500" b="0" u="none" strike="noStrike">
              <a:solidFill>
                <a:srgbClr val="000000"/>
              </a:solidFill>
              <a:effectLst/>
              <a:uFillTx/>
              <a:latin typeface="Arial"/>
            </a:endParaRPr>
          </a:p>
        </p:txBody>
      </p:sp>
      <p:sp>
        <p:nvSpPr>
          <p:cNvPr id="81" name="Text 17"/>
          <p:cNvSpPr/>
          <p:nvPr/>
        </p:nvSpPr>
        <p:spPr>
          <a:xfrm>
            <a:off x="6858000" y="335268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BS-sub-band constraint</a:t>
            </a:r>
            <a:endParaRPr lang="en-US" sz="1750" b="0" u="none" strike="noStrike">
              <a:solidFill>
                <a:srgbClr val="000000"/>
              </a:solidFill>
              <a:effectLst/>
              <a:uFillTx/>
              <a:latin typeface="Arial"/>
            </a:endParaRPr>
          </a:p>
        </p:txBody>
      </p:sp>
      <p:sp>
        <p:nvSpPr>
          <p:cNvPr id="82" name="Text 18"/>
          <p:cNvSpPr/>
          <p:nvPr/>
        </p:nvSpPr>
        <p:spPr>
          <a:xfrm>
            <a:off x="6858000" y="363204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ko-KR" sz="1500" b="0" u="none" strike="noStrike">
                <a:solidFill>
                  <a:srgbClr val="173C37"/>
                </a:solidFill>
                <a:effectLst/>
                <a:uFillTx/>
                <a:latin typeface="AppleGothic"/>
                <a:ea typeface="AppleGothic"/>
              </a:rPr>
              <a:t>한 </a:t>
            </a:r>
            <a:r>
              <a:rPr lang="en-US" sz="1500" b="0" u="none" strike="noStrike">
                <a:solidFill>
                  <a:srgbClr val="173C37"/>
                </a:solidFill>
                <a:effectLst/>
                <a:uFillTx/>
                <a:latin typeface="AppleGothic"/>
                <a:ea typeface="AppleGothic"/>
              </a:rPr>
              <a:t>j</a:t>
            </a:r>
            <a:r>
              <a:rPr lang="ko-KR" sz="1500" b="0" u="none" strike="noStrike">
                <a:solidFill>
                  <a:srgbClr val="173C37"/>
                </a:solidFill>
                <a:effectLst/>
                <a:uFillTx/>
                <a:latin typeface="AppleGothic"/>
                <a:ea typeface="AppleGothic"/>
              </a:rPr>
              <a:t>에는 최대 한 </a:t>
            </a:r>
            <a:r>
              <a:rPr lang="en-US" sz="1500" b="0" u="none" strike="noStrike">
                <a:solidFill>
                  <a:srgbClr val="173C37"/>
                </a:solidFill>
                <a:effectLst/>
                <a:uFillTx/>
                <a:latin typeface="AppleGothic"/>
                <a:ea typeface="AppleGothic"/>
              </a:rPr>
              <a:t>user</a:t>
            </a:r>
            <a:endParaRPr lang="en-US" sz="1500" b="0" u="none" strike="noStrike">
              <a:solidFill>
                <a:srgbClr val="000000"/>
              </a:solidFill>
              <a:effectLst/>
              <a:uFillTx/>
              <a:latin typeface="Arial"/>
            </a:endParaRPr>
          </a:p>
        </p:txBody>
      </p:sp>
      <p:sp>
        <p:nvSpPr>
          <p:cNvPr id="83" name="Text 19"/>
          <p:cNvSpPr/>
          <p:nvPr/>
        </p:nvSpPr>
        <p:spPr>
          <a:xfrm>
            <a:off x="4191120" y="457200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feasible X</a:t>
            </a:r>
            <a:endParaRPr lang="en-US" sz="1750" b="0" u="none" strike="noStrike">
              <a:solidFill>
                <a:srgbClr val="000000"/>
              </a:solidFill>
              <a:effectLst/>
              <a:uFillTx/>
              <a:latin typeface="Arial"/>
            </a:endParaRPr>
          </a:p>
        </p:txBody>
      </p:sp>
      <p:sp>
        <p:nvSpPr>
          <p:cNvPr id="84" name="Text 20"/>
          <p:cNvSpPr/>
          <p:nvPr/>
        </p:nvSpPr>
        <p:spPr>
          <a:xfrm>
            <a:off x="4191120" y="485136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local </a:t>
            </a:r>
            <a:r>
              <a:rPr lang="ko-KR" sz="1500" b="0" u="none" strike="noStrike">
                <a:solidFill>
                  <a:srgbClr val="173C37"/>
                </a:solidFill>
                <a:effectLst/>
                <a:uFillTx/>
                <a:latin typeface="AppleGothic"/>
                <a:ea typeface="AppleGothic"/>
              </a:rPr>
              <a:t>또는 한 </a:t>
            </a:r>
            <a:r>
              <a:rPr lang="en-US" sz="1500" b="0" u="none" strike="noStrike">
                <a:solidFill>
                  <a:srgbClr val="173C37"/>
                </a:solidFill>
                <a:effectLst/>
                <a:uFillTx/>
                <a:latin typeface="AppleGothic"/>
                <a:ea typeface="AppleGothic"/>
              </a:rPr>
              <a:t>server·sub-band</a:t>
            </a:r>
            <a:endParaRPr lang="en-US" sz="1500" b="0" u="none" strike="noStrike">
              <a:solidFill>
                <a:srgbClr val="000000"/>
              </a:solidFill>
              <a:effectLst/>
              <a:uFillTx/>
              <a:latin typeface="Arial"/>
            </a:endParaRPr>
          </a:p>
        </p:txBody>
      </p:sp>
      <p:sp>
        <p:nvSpPr>
          <p:cNvPr id="85" name="Text 21"/>
          <p:cNvSpPr/>
          <p:nvPr/>
        </p:nvSpPr>
        <p:spPr>
          <a:xfrm>
            <a:off x="4191120" y="561348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offloader sets</a:t>
            </a:r>
            <a:endParaRPr lang="en-US" sz="1750" b="0" u="none" strike="noStrike">
              <a:solidFill>
                <a:srgbClr val="000000"/>
              </a:solidFill>
              <a:effectLst/>
              <a:uFillTx/>
              <a:latin typeface="Arial"/>
            </a:endParaRPr>
          </a:p>
        </p:txBody>
      </p:sp>
      <p:sp>
        <p:nvSpPr>
          <p:cNvPr id="86" name="Text 22"/>
          <p:cNvSpPr/>
          <p:nvPr/>
        </p:nvSpPr>
        <p:spPr>
          <a:xfrm>
            <a:off x="4191120" y="589284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U_s </a:t>
            </a:r>
            <a:r>
              <a:rPr lang="ko-KR" sz="1500" b="0" u="none" strike="noStrike">
                <a:solidFill>
                  <a:srgbClr val="173C37"/>
                </a:solidFill>
                <a:effectLst/>
                <a:uFillTx/>
                <a:latin typeface="AppleGothic"/>
                <a:ea typeface="AppleGothic"/>
              </a:rPr>
              <a:t>와 </a:t>
            </a:r>
            <a:r>
              <a:rPr lang="en-US" sz="1500" b="0" u="none" strike="noStrike">
                <a:solidFill>
                  <a:srgbClr val="173C37"/>
                </a:solidFill>
                <a:effectLst/>
                <a:uFillTx/>
                <a:latin typeface="AppleGothic"/>
                <a:ea typeface="AppleGothic"/>
              </a:rPr>
              <a:t>U_off</a:t>
            </a:r>
            <a:r>
              <a:rPr lang="ko-KR" sz="1500" b="0" u="none" strike="noStrike">
                <a:solidFill>
                  <a:srgbClr val="173C37"/>
                </a:solidFill>
                <a:effectLst/>
                <a:uFillTx/>
                <a:latin typeface="AppleGothic"/>
                <a:ea typeface="AppleGothic"/>
              </a:rPr>
              <a:t>를 결정</a:t>
            </a:r>
            <a:endParaRPr lang="en-US" sz="1500" b="0" u="none" strike="noStrike">
              <a:solidFill>
                <a:srgbClr val="000000"/>
              </a:solidFill>
              <a:effectLst/>
              <a:uFillTx/>
              <a:latin typeface="Arial"/>
            </a:endParaRPr>
          </a:p>
        </p:txBody>
      </p:sp>
      <p:sp>
        <p:nvSpPr>
          <p:cNvPr id="87" name="Shape 23"/>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88" name="Text 24"/>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7, 10; Eqs. 2, 12b-12d</a:t>
            </a:r>
            <a:endParaRPr lang="en-US" sz="1050" b="0" u="none" strike="noStrike">
              <a:solidFill>
                <a:srgbClr val="000000"/>
              </a:solidFill>
              <a:effectLst/>
              <a:uFillTx/>
              <a:latin typeface="Arial"/>
            </a:endParaRPr>
          </a:p>
        </p:txBody>
      </p:sp>
      <p:sp>
        <p:nvSpPr>
          <p:cNvPr id="89" name="Text 25"/>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0"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utility</a:t>
            </a:r>
            <a:r>
              <a:rPr lang="ko-KR" sz="3100" b="1" u="none" strike="noStrike">
                <a:solidFill>
                  <a:srgbClr val="173C37"/>
                </a:solidFill>
                <a:effectLst/>
                <a:uFillTx/>
                <a:latin typeface="AppleGothic"/>
                <a:ea typeface="AppleGothic"/>
              </a:rPr>
              <a:t>는 </a:t>
            </a:r>
            <a:r>
              <a:rPr lang="en-US" sz="3100" b="1" u="none" strike="noStrike">
                <a:solidFill>
                  <a:srgbClr val="173C37"/>
                </a:solidFill>
                <a:effectLst/>
                <a:uFillTx/>
                <a:latin typeface="AppleGothic"/>
                <a:ea typeface="AppleGothic"/>
              </a:rPr>
              <a:t>local </a:t>
            </a:r>
            <a:r>
              <a:rPr lang="ko-KR" sz="3100" b="1" u="none" strike="noStrike">
                <a:solidFill>
                  <a:srgbClr val="173C37"/>
                </a:solidFill>
                <a:effectLst/>
                <a:uFillTx/>
                <a:latin typeface="AppleGothic"/>
                <a:ea typeface="AppleGothic"/>
              </a:rPr>
              <a:t>대비 </a:t>
            </a:r>
            <a:r>
              <a:rPr lang="en-US" sz="3100" b="1" u="none" strike="noStrike">
                <a:solidFill>
                  <a:srgbClr val="173C37"/>
                </a:solidFill>
                <a:effectLst/>
                <a:uFillTx/>
                <a:latin typeface="AppleGothic"/>
                <a:ea typeface="AppleGothic"/>
              </a:rPr>
              <a:t>time·energy </a:t>
            </a:r>
            <a:r>
              <a:rPr lang="ko-KR" sz="3100" b="1" u="none" strike="noStrike">
                <a:solidFill>
                  <a:srgbClr val="173C37"/>
                </a:solidFill>
                <a:effectLst/>
                <a:uFillTx/>
                <a:latin typeface="AppleGothic"/>
                <a:ea typeface="AppleGothic"/>
              </a:rPr>
              <a:t>개선의 가중합이다</a:t>
            </a:r>
            <a:endParaRPr lang="en-US" sz="3100" b="0" u="none" strike="noStrike">
              <a:solidFill>
                <a:srgbClr val="000000"/>
              </a:solidFill>
              <a:effectLst/>
              <a:uFillTx/>
              <a:latin typeface="Arial"/>
            </a:endParaRPr>
          </a:p>
        </p:txBody>
      </p:sp>
      <p:sp>
        <p:nvSpPr>
          <p:cNvPr id="91"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user preference</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provider preference</a:t>
            </a:r>
            <a:r>
              <a:rPr lang="ko-KR" sz="1900" b="0" u="none" strike="noStrike">
                <a:solidFill>
                  <a:srgbClr val="0D685C"/>
                </a:solidFill>
                <a:effectLst/>
                <a:uFillTx/>
                <a:latin typeface="AppleGothic"/>
                <a:ea typeface="AppleGothic"/>
              </a:rPr>
              <a:t>가 서로 다른 역할을 한다</a:t>
            </a:r>
            <a:endParaRPr lang="en-US" sz="1900" b="0" u="none" strike="noStrike">
              <a:solidFill>
                <a:srgbClr val="000000"/>
              </a:solidFill>
              <a:effectLst/>
              <a:uFillTx/>
              <a:latin typeface="Arial"/>
            </a:endParaRPr>
          </a:p>
        </p:txBody>
      </p:sp>
      <p:graphicFrame>
        <p:nvGraphicFramePr>
          <p:cNvPr id="92" name="Table 0"/>
          <p:cNvGraphicFramePr/>
          <p:nvPr/>
        </p:nvGraphicFramePr>
        <p:xfrm>
          <a:off x="660240" y="2082960"/>
          <a:ext cx="10870920" cy="3314520"/>
        </p:xfrm>
        <a:graphic>
          <a:graphicData uri="http://schemas.openxmlformats.org/drawingml/2006/table">
            <a:tbl>
              <a:tblPr/>
              <a:tblGrid>
                <a:gridCol w="1847880"/>
                <a:gridCol w="3478680"/>
                <a:gridCol w="2282760"/>
                <a:gridCol w="326124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기호</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의미</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범위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최적화에서의 역할</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beta_ut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completion-time </a:t>
                      </a:r>
                      <a:r>
                        <a:rPr lang="ko-KR" sz="1550" b="0" u="none" strike="noStrike">
                          <a:solidFill>
                            <a:srgbClr val="173C37"/>
                          </a:solidFill>
                          <a:effectLst/>
                          <a:uFillTx/>
                          <a:latin typeface="AppleGothic"/>
                          <a:ea typeface="AppleGothic"/>
                        </a:rPr>
                        <a:t>선호</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0</a:t>
                      </a:r>
                      <a:r>
                        <a:rPr lang="ko-KR" sz="1550" b="0" u="none" strike="noStrike">
                          <a:solidFill>
                            <a:srgbClr val="173C37"/>
                          </a:solidFill>
                          <a:effectLst/>
                          <a:uFillTx/>
                          <a:latin typeface="AppleGothic"/>
                          <a:ea typeface="AppleGothic"/>
                        </a:rPr>
                        <a:t>에서 </a:t>
                      </a: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beta_ue</a:t>
                      </a:r>
                      <a:r>
                        <a:rPr lang="ko-KR" sz="1550" b="0" u="none" strike="noStrike">
                          <a:solidFill>
                            <a:srgbClr val="173C37"/>
                          </a:solidFill>
                          <a:effectLst/>
                          <a:uFillTx/>
                          <a:latin typeface="AppleGothic"/>
                          <a:ea typeface="AppleGothic"/>
                        </a:rPr>
                        <a:t>와 합이 </a:t>
                      </a: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beta_ue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energy-saving </a:t>
                      </a:r>
                      <a:r>
                        <a:rPr lang="ko-KR" sz="1550" b="0" u="none" strike="noStrike">
                          <a:solidFill>
                            <a:srgbClr val="173C37"/>
                          </a:solidFill>
                          <a:effectLst/>
                          <a:uFillTx/>
                          <a:latin typeface="AppleGothic"/>
                          <a:ea typeface="AppleGothic"/>
                        </a:rPr>
                        <a:t>선호</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0</a:t>
                      </a:r>
                      <a:r>
                        <a:rPr lang="ko-KR" sz="1550" b="0" u="none" strike="noStrike">
                          <a:solidFill>
                            <a:srgbClr val="173C37"/>
                          </a:solidFill>
                          <a:effectLst/>
                          <a:uFillTx/>
                          <a:latin typeface="AppleGothic"/>
                          <a:ea typeface="AppleGothic"/>
                        </a:rPr>
                        <a:t>에서 </a:t>
                      </a: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battery-sensitive user</a:t>
                      </a:r>
                      <a:r>
                        <a:rPr lang="ko-KR" sz="1550" b="0" u="none" strike="noStrike">
                          <a:solidFill>
                            <a:srgbClr val="173C37"/>
                          </a:solidFill>
                          <a:effectLst/>
                          <a:uFillTx/>
                          <a:latin typeface="AppleGothic"/>
                          <a:ea typeface="AppleGothic"/>
                        </a:rPr>
                        <a:t>가 높일 수 있음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J_u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 </a:t>
                      </a:r>
                      <a:r>
                        <a:rPr lang="ko-KR" sz="1550" b="0" u="none" strike="noStrike">
                          <a:solidFill>
                            <a:srgbClr val="173C37"/>
                          </a:solidFill>
                          <a:effectLst/>
                          <a:uFillTx/>
                          <a:latin typeface="AppleGothic"/>
                          <a:ea typeface="AppleGothic"/>
                        </a:rPr>
                        <a:t>대비 상대 개선</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offload user</a:t>
                      </a:r>
                      <a:r>
                        <a:rPr lang="ko-KR" sz="1550" b="0" u="none" strike="noStrike">
                          <a:solidFill>
                            <a:srgbClr val="173C37"/>
                          </a:solidFill>
                          <a:effectLst/>
                          <a:uFillTx/>
                          <a:latin typeface="AppleGothic"/>
                          <a:ea typeface="AppleGothic"/>
                        </a:rPr>
                        <a:t>에만 합산</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time·energy improvement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lambda_u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provider</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user </a:t>
                      </a:r>
                      <a:r>
                        <a:rPr lang="ko-KR" sz="1550" b="0" u="none" strike="noStrike">
                          <a:solidFill>
                            <a:srgbClr val="173C37"/>
                          </a:solidFill>
                          <a:effectLst/>
                          <a:uFillTx/>
                          <a:latin typeface="AppleGothic"/>
                          <a:ea typeface="AppleGothic"/>
                        </a:rPr>
                        <a:t>선호</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0</a:t>
                      </a:r>
                      <a:r>
                        <a:rPr lang="ko-KR" sz="1550" b="0" u="none" strike="noStrike">
                          <a:solidFill>
                            <a:srgbClr val="173C37"/>
                          </a:solidFill>
                          <a:effectLst/>
                          <a:uFillTx/>
                          <a:latin typeface="AppleGothic"/>
                          <a:ea typeface="AppleGothic"/>
                        </a:rPr>
                        <a:t>보다 크고 </a:t>
                      </a:r>
                      <a:r>
                        <a:rPr lang="en-US" sz="1550" b="0" u="none" strike="noStrike">
                          <a:solidFill>
                            <a:srgbClr val="173C37"/>
                          </a:solidFill>
                          <a:effectLst/>
                          <a:uFillTx/>
                          <a:latin typeface="AppleGothic"/>
                          <a:ea typeface="AppleGothic"/>
                        </a:rPr>
                        <a:t>1 </a:t>
                      </a:r>
                      <a:r>
                        <a:rPr lang="ko-KR" sz="1550" b="0" u="none" strike="noStrike">
                          <a:solidFill>
                            <a:srgbClr val="173C37"/>
                          </a:solidFill>
                          <a:effectLst/>
                          <a:uFillTx/>
                          <a:latin typeface="AppleGothic"/>
                          <a:ea typeface="AppleGothic"/>
                        </a:rPr>
                        <a:t>이하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system utility</a:t>
                      </a:r>
                      <a:r>
                        <a:rPr lang="ko-KR" sz="1550" b="0" u="none" strike="noStrike">
                          <a:solidFill>
                            <a:srgbClr val="173C37"/>
                          </a:solidFill>
                          <a:effectLst/>
                          <a:uFillTx/>
                          <a:latin typeface="AppleGothic"/>
                          <a:ea typeface="AppleGothic"/>
                        </a:rPr>
                        <a:t>에서 </a:t>
                      </a:r>
                      <a:r>
                        <a:rPr lang="en-US" sz="1550" b="0" u="none" strike="noStrike">
                          <a:solidFill>
                            <a:srgbClr val="173C37"/>
                          </a:solidFill>
                          <a:effectLst/>
                          <a:uFillTx/>
                          <a:latin typeface="AppleGothic"/>
                          <a:ea typeface="AppleGothic"/>
                        </a:rPr>
                        <a:t>J_u</a:t>
                      </a:r>
                      <a:r>
                        <a:rPr lang="ko-KR" sz="1550" b="0" u="none" strike="noStrike">
                          <a:solidFill>
                            <a:srgbClr val="173C37"/>
                          </a:solidFill>
                          <a:effectLst/>
                          <a:uFillTx/>
                          <a:latin typeface="AppleGothic"/>
                          <a:ea typeface="AppleGothic"/>
                        </a:rPr>
                        <a:t>를 가중</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93"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94"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목적은 </a:t>
            </a:r>
            <a:r>
              <a:rPr lang="en-US" sz="1750" b="1" u="none" strike="noStrike">
                <a:solidFill>
                  <a:srgbClr val="173C37"/>
                </a:solidFill>
                <a:effectLst/>
                <a:uFillTx/>
                <a:latin typeface="AppleGothic"/>
                <a:ea typeface="AppleGothic"/>
              </a:rPr>
              <a:t>raw delay </a:t>
            </a:r>
            <a:r>
              <a:rPr lang="ko-KR" sz="1750" b="1" u="none" strike="noStrike">
                <a:solidFill>
                  <a:srgbClr val="173C37"/>
                </a:solidFill>
                <a:effectLst/>
                <a:uFillTx/>
                <a:latin typeface="AppleGothic"/>
                <a:ea typeface="AppleGothic"/>
              </a:rPr>
              <a:t>최소화 하나가 아니라 </a:t>
            </a:r>
            <a:r>
              <a:rPr lang="en-US" sz="1750" b="1" u="none" strike="noStrike">
                <a:solidFill>
                  <a:srgbClr val="173C37"/>
                </a:solidFill>
                <a:effectLst/>
                <a:uFillTx/>
                <a:latin typeface="AppleGothic"/>
                <a:ea typeface="AppleGothic"/>
              </a:rPr>
              <a:t>provider-weighted offloading utility </a:t>
            </a:r>
            <a:r>
              <a:rPr lang="ko-KR" sz="1750" b="1" u="none" strike="noStrike">
                <a:solidFill>
                  <a:srgbClr val="173C37"/>
                </a:solidFill>
                <a:effectLst/>
                <a:uFillTx/>
                <a:latin typeface="AppleGothic"/>
                <a:ea typeface="AppleGothic"/>
              </a:rPr>
              <a:t>최대화다</a:t>
            </a:r>
            <a:endParaRPr lang="en-US" sz="1750" b="0" u="none" strike="noStrike">
              <a:solidFill>
                <a:srgbClr val="000000"/>
              </a:solidFill>
              <a:effectLst/>
              <a:uFillTx/>
              <a:latin typeface="Arial"/>
            </a:endParaRPr>
          </a:p>
        </p:txBody>
      </p:sp>
      <p:sp>
        <p:nvSpPr>
          <p:cNvPr id="95"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96"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9-10; Eqs. 10-11</a:t>
            </a:r>
            <a:endParaRPr lang="en-US" sz="1050" b="0" u="none" strike="noStrike">
              <a:solidFill>
                <a:srgbClr val="000000"/>
              </a:solidFill>
              <a:effectLst/>
              <a:uFillTx/>
              <a:latin typeface="Arial"/>
            </a:endParaRPr>
          </a:p>
        </p:txBody>
      </p:sp>
      <p:sp>
        <p:nvSpPr>
          <p:cNvPr id="97"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06</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JTORA: scheduling</a:t>
            </a:r>
            <a:r>
              <a:rPr lang="ko-KR" sz="3100" b="1" u="none" strike="noStrike">
                <a:solidFill>
                  <a:srgbClr val="173C37"/>
                </a:solidFill>
                <a:effectLst/>
                <a:uFillTx/>
                <a:latin typeface="AppleGothic"/>
                <a:ea typeface="AppleGothic"/>
              </a:rPr>
              <a:t>과 </a:t>
            </a:r>
            <a:r>
              <a:rPr lang="en-US" sz="3100" b="1" u="none" strike="noStrike">
                <a:solidFill>
                  <a:srgbClr val="173C37"/>
                </a:solidFill>
                <a:effectLst/>
                <a:uFillTx/>
                <a:latin typeface="AppleGothic"/>
                <a:ea typeface="AppleGothic"/>
              </a:rPr>
              <a:t>allocation</a:t>
            </a:r>
            <a:r>
              <a:rPr lang="ko-KR" sz="3100" b="1" u="none" strike="noStrike">
                <a:solidFill>
                  <a:srgbClr val="173C37"/>
                </a:solidFill>
                <a:effectLst/>
                <a:uFillTx/>
                <a:latin typeface="AppleGothic"/>
                <a:ea typeface="AppleGothic"/>
              </a:rPr>
              <a:t>이 섞인 </a:t>
            </a:r>
            <a:r>
              <a:rPr lang="en-US" sz="3100" b="1" u="none" strike="noStrike">
                <a:solidFill>
                  <a:srgbClr val="173C37"/>
                </a:solidFill>
                <a:effectLst/>
                <a:uFillTx/>
                <a:latin typeface="AppleGothic"/>
                <a:ea typeface="AppleGothic"/>
              </a:rPr>
              <a:t>MINLP</a:t>
            </a:r>
            <a:endParaRPr lang="en-US" sz="3100" b="0" u="none" strike="noStrike">
              <a:solidFill>
                <a:srgbClr val="000000"/>
              </a:solidFill>
              <a:effectLst/>
              <a:uFillTx/>
              <a:latin typeface="Arial"/>
            </a:endParaRPr>
          </a:p>
        </p:txBody>
      </p:sp>
      <p:sp>
        <p:nvSpPr>
          <p:cNvPr id="99"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X, P, F</a:t>
            </a:r>
            <a:r>
              <a:rPr lang="ko-KR" sz="1900" b="0" u="none" strike="noStrike">
                <a:solidFill>
                  <a:srgbClr val="0D685C"/>
                </a:solidFill>
                <a:effectLst/>
                <a:uFillTx/>
                <a:latin typeface="AppleGothic"/>
                <a:ea typeface="AppleGothic"/>
              </a:rPr>
              <a:t>를 한 번에 바꾸면 </a:t>
            </a:r>
            <a:r>
              <a:rPr lang="en-US" sz="1900" b="0" u="none" strike="noStrike">
                <a:solidFill>
                  <a:srgbClr val="0D685C"/>
                </a:solidFill>
                <a:effectLst/>
                <a:uFillTx/>
                <a:latin typeface="AppleGothic"/>
                <a:ea typeface="AppleGothic"/>
              </a:rPr>
              <a:t>association·interference·CPU sharing</a:t>
            </a:r>
            <a:r>
              <a:rPr lang="ko-KR" sz="1900" b="0" u="none" strike="noStrike">
                <a:solidFill>
                  <a:srgbClr val="0D685C"/>
                </a:solidFill>
                <a:effectLst/>
                <a:uFillTx/>
                <a:latin typeface="AppleGothic"/>
                <a:ea typeface="AppleGothic"/>
              </a:rPr>
              <a:t>이 서로 얽힌다</a:t>
            </a:r>
            <a:endParaRPr lang="en-US" sz="1900" b="0" u="none" strike="noStrike">
              <a:solidFill>
                <a:srgbClr val="000000"/>
              </a:solidFill>
              <a:effectLst/>
              <a:uFillTx/>
              <a:latin typeface="Arial"/>
            </a:endParaRPr>
          </a:p>
        </p:txBody>
      </p:sp>
      <p:sp>
        <p:nvSpPr>
          <p:cNvPr id="100"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101"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X</a:t>
            </a:r>
            <a:endParaRPr lang="en-US" sz="1900" b="0" u="none" strike="noStrike">
              <a:solidFill>
                <a:srgbClr val="000000"/>
              </a:solidFill>
              <a:effectLst/>
              <a:uFillTx/>
              <a:latin typeface="Arial"/>
            </a:endParaRPr>
          </a:p>
        </p:txBody>
      </p:sp>
      <p:sp>
        <p:nvSpPr>
          <p:cNvPr id="102"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user-server-sub-band entry </a:t>
            </a:r>
            <a:r>
              <a:rPr lang="ko-KR" sz="1650" b="0" u="none" strike="noStrike">
                <a:solidFill>
                  <a:srgbClr val="173C37"/>
                </a:solidFill>
                <a:effectLst/>
                <a:uFillTx/>
                <a:latin typeface="AppleGothic"/>
                <a:ea typeface="AppleGothic"/>
              </a:rPr>
              <a:t>선택</a:t>
            </a:r>
            <a:endParaRPr lang="en-US" sz="1650" b="0" u="none" strike="noStrike">
              <a:solidFill>
                <a:srgbClr val="000000"/>
              </a:solidFill>
              <a:effectLst/>
              <a:uFillTx/>
              <a:latin typeface="Arial"/>
            </a:endParaRPr>
          </a:p>
        </p:txBody>
      </p:sp>
      <p:sp>
        <p:nvSpPr>
          <p:cNvPr id="103"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04"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5"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106"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P</a:t>
            </a:r>
            <a:endParaRPr lang="en-US" sz="1900" b="0" u="none" strike="noStrike">
              <a:solidFill>
                <a:srgbClr val="000000"/>
              </a:solidFill>
              <a:effectLst/>
              <a:uFillTx/>
              <a:latin typeface="Arial"/>
            </a:endParaRPr>
          </a:p>
        </p:txBody>
      </p:sp>
      <p:sp>
        <p:nvSpPr>
          <p:cNvPr id="107"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offloader uplink power </a:t>
            </a:r>
            <a:r>
              <a:rPr lang="ko-KR" sz="1650" b="0" u="none" strike="noStrike">
                <a:solidFill>
                  <a:srgbClr val="173C37"/>
                </a:solidFill>
                <a:effectLst/>
                <a:uFillTx/>
                <a:latin typeface="AppleGothic"/>
                <a:ea typeface="AppleGothic"/>
              </a:rPr>
              <a:t>선택</a:t>
            </a:r>
            <a:endParaRPr lang="en-US" sz="1650" b="0" u="none" strike="noStrike">
              <a:solidFill>
                <a:srgbClr val="000000"/>
              </a:solidFill>
              <a:effectLst/>
              <a:uFillTx/>
              <a:latin typeface="Arial"/>
            </a:endParaRPr>
          </a:p>
        </p:txBody>
      </p:sp>
      <p:sp>
        <p:nvSpPr>
          <p:cNvPr id="108"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09"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10"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111"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F</a:t>
            </a:r>
            <a:endParaRPr lang="en-US" sz="1900" b="0" u="none" strike="noStrike">
              <a:solidFill>
                <a:srgbClr val="000000"/>
              </a:solidFill>
              <a:effectLst/>
              <a:uFillTx/>
              <a:latin typeface="Arial"/>
            </a:endParaRPr>
          </a:p>
        </p:txBody>
      </p:sp>
      <p:sp>
        <p:nvSpPr>
          <p:cNvPr id="112"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server</a:t>
            </a:r>
            <a:r>
              <a:rPr lang="ko-KR" sz="1650" b="0" u="none" strike="noStrike">
                <a:solidFill>
                  <a:srgbClr val="173C37"/>
                </a:solidFill>
                <a:effectLst/>
                <a:uFillTx/>
                <a:latin typeface="AppleGothic"/>
                <a:ea typeface="AppleGothic"/>
              </a:rPr>
              <a:t>별 </a:t>
            </a:r>
            <a:r>
              <a:rPr lang="en-US" sz="1650" b="0" u="none" strike="noStrike">
                <a:solidFill>
                  <a:srgbClr val="173C37"/>
                </a:solidFill>
                <a:effectLst/>
                <a:uFillTx/>
                <a:latin typeface="AppleGothic"/>
                <a:ea typeface="AppleGothic"/>
              </a:rPr>
              <a:t>CPU share </a:t>
            </a:r>
            <a:r>
              <a:rPr lang="ko-KR" sz="1650" b="0" u="none" strike="noStrike">
                <a:solidFill>
                  <a:srgbClr val="173C37"/>
                </a:solidFill>
                <a:effectLst/>
                <a:uFillTx/>
                <a:latin typeface="AppleGothic"/>
                <a:ea typeface="AppleGothic"/>
              </a:rPr>
              <a:t>선택</a:t>
            </a:r>
            <a:endParaRPr lang="en-US" sz="1650" b="0" u="none" strike="noStrike">
              <a:solidFill>
                <a:srgbClr val="000000"/>
              </a:solidFill>
              <a:effectLst/>
              <a:uFillTx/>
              <a:latin typeface="Arial"/>
            </a:endParaRPr>
          </a:p>
        </p:txBody>
      </p:sp>
      <p:sp>
        <p:nvSpPr>
          <p:cNvPr id="113"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14"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15"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116"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constraints</a:t>
            </a:r>
            <a:endParaRPr lang="en-US" sz="1900" b="0" u="none" strike="noStrike">
              <a:solidFill>
                <a:srgbClr val="000000"/>
              </a:solidFill>
              <a:effectLst/>
              <a:uFillTx/>
              <a:latin typeface="Arial"/>
            </a:endParaRPr>
          </a:p>
        </p:txBody>
      </p:sp>
      <p:sp>
        <p:nvSpPr>
          <p:cNvPr id="117"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binary·radio·power·CPU budget</a:t>
            </a:r>
            <a:endParaRPr lang="en-US" sz="1650" b="0" u="none" strike="noStrike">
              <a:solidFill>
                <a:srgbClr val="000000"/>
              </a:solidFill>
              <a:effectLst/>
              <a:uFillTx/>
              <a:latin typeface="Arial"/>
            </a:endParaRPr>
          </a:p>
        </p:txBody>
      </p:sp>
      <p:sp>
        <p:nvSpPr>
          <p:cNvPr id="118"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19"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20"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121"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maximize</a:t>
            </a:r>
            <a:endParaRPr lang="en-US" sz="1900" b="0" u="none" strike="noStrike">
              <a:solidFill>
                <a:srgbClr val="000000"/>
              </a:solidFill>
              <a:effectLst/>
              <a:uFillTx/>
              <a:latin typeface="Arial"/>
            </a:endParaRPr>
          </a:p>
        </p:txBody>
      </p:sp>
      <p:sp>
        <p:nvSpPr>
          <p:cNvPr id="122"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sum lambda_u J_u</a:t>
            </a:r>
            <a:endParaRPr lang="en-US" sz="1650" b="0" u="none" strike="noStrike">
              <a:solidFill>
                <a:srgbClr val="000000"/>
              </a:solidFill>
              <a:effectLst/>
              <a:uFillTx/>
              <a:latin typeface="Arial"/>
            </a:endParaRPr>
          </a:p>
        </p:txBody>
      </p:sp>
      <p:sp>
        <p:nvSpPr>
          <p:cNvPr id="123"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24"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25"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논문은 </a:t>
            </a:r>
            <a:r>
              <a:rPr lang="en-US" sz="1750" b="1" u="none" strike="noStrike">
                <a:solidFill>
                  <a:srgbClr val="173C37"/>
                </a:solidFill>
                <a:effectLst/>
                <a:uFillTx/>
                <a:latin typeface="AppleGothic"/>
                <a:ea typeface="AppleGothic"/>
              </a:rPr>
              <a:t>JTORA</a:t>
            </a:r>
            <a:r>
              <a:rPr lang="ko-KR" sz="1750" b="1" u="none" strike="noStrike">
                <a:solidFill>
                  <a:srgbClr val="173C37"/>
                </a:solidFill>
                <a:effectLst/>
                <a:uFillTx/>
                <a:latin typeface="AppleGothic"/>
                <a:ea typeface="AppleGothic"/>
              </a:rPr>
              <a:t>를 </a:t>
            </a:r>
            <a:r>
              <a:rPr lang="en-US" sz="1750" b="1" u="none" strike="noStrike">
                <a:solidFill>
                  <a:srgbClr val="173C37"/>
                </a:solidFill>
                <a:effectLst/>
                <a:uFillTx/>
                <a:latin typeface="AppleGothic"/>
                <a:ea typeface="AppleGothic"/>
              </a:rPr>
              <a:t>NP-hard MINLP</a:t>
            </a:r>
            <a:r>
              <a:rPr lang="ko-KR" sz="1750" b="1" u="none" strike="noStrike">
                <a:solidFill>
                  <a:srgbClr val="173C37"/>
                </a:solidFill>
                <a:effectLst/>
                <a:uFillTx/>
                <a:latin typeface="AppleGothic"/>
                <a:ea typeface="AppleGothic"/>
              </a:rPr>
              <a:t>로 두고 최적 전수 탐색 대신 분해를 택한다</a:t>
            </a:r>
            <a:endParaRPr lang="en-US" sz="1750" b="0" u="none" strike="noStrike">
              <a:solidFill>
                <a:srgbClr val="000000"/>
              </a:solidFill>
              <a:effectLst/>
              <a:uFillTx/>
              <a:latin typeface="Arial"/>
            </a:endParaRPr>
          </a:p>
        </p:txBody>
      </p:sp>
      <p:sp>
        <p:nvSpPr>
          <p:cNvPr id="126"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27"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10-11; Eqs. 12a-12g</a:t>
            </a:r>
            <a:endParaRPr lang="en-US" sz="1050" b="0" u="none" strike="noStrike">
              <a:solidFill>
                <a:srgbClr val="000000"/>
              </a:solidFill>
              <a:effectLst/>
              <a:uFillTx/>
              <a:latin typeface="Arial"/>
            </a:endParaRPr>
          </a:p>
        </p:txBody>
      </p:sp>
      <p:sp>
        <p:nvSpPr>
          <p:cNvPr id="128"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07</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고정된 </a:t>
            </a:r>
            <a:r>
              <a:rPr lang="en-US" sz="3100" b="1" u="none" strike="noStrike">
                <a:solidFill>
                  <a:srgbClr val="173C37"/>
                </a:solidFill>
                <a:effectLst/>
                <a:uFillTx/>
                <a:latin typeface="AppleGothic"/>
                <a:ea typeface="AppleGothic"/>
              </a:rPr>
              <a:t>X</a:t>
            </a:r>
            <a:r>
              <a:rPr lang="ko-KR" sz="3100" b="1" u="none" strike="noStrike">
                <a:solidFill>
                  <a:srgbClr val="173C37"/>
                </a:solidFill>
                <a:effectLst/>
                <a:uFillTx/>
                <a:latin typeface="AppleGothic"/>
                <a:ea typeface="AppleGothic"/>
              </a:rPr>
              <a:t>에서 연속 자원을 풀고</a:t>
            </a:r>
            <a:r>
              <a:rPr lang="en-US" sz="3100" b="1" u="none" strike="noStrike">
                <a:solidFill>
                  <a:srgbClr val="173C37"/>
                </a:solidFill>
                <a:effectLst/>
                <a:uFillTx/>
                <a:latin typeface="AppleGothic"/>
                <a:ea typeface="AppleGothic"/>
              </a:rPr>
              <a:t>, </a:t>
            </a:r>
            <a:r>
              <a:rPr lang="ko-KR" sz="3100" b="1" u="none" strike="noStrike">
                <a:solidFill>
                  <a:srgbClr val="173C37"/>
                </a:solidFill>
                <a:effectLst/>
                <a:uFillTx/>
                <a:latin typeface="AppleGothic"/>
                <a:ea typeface="AppleGothic"/>
              </a:rPr>
              <a:t>그 값을 </a:t>
            </a:r>
            <a:r>
              <a:rPr lang="en-US" sz="3100" b="1" u="none" strike="noStrike">
                <a:solidFill>
                  <a:srgbClr val="173C37"/>
                </a:solidFill>
                <a:effectLst/>
                <a:uFillTx/>
                <a:latin typeface="AppleGothic"/>
                <a:ea typeface="AppleGothic"/>
              </a:rPr>
              <a:t>X</a:t>
            </a:r>
            <a:r>
              <a:rPr lang="ko-KR" sz="3100" b="1" u="none" strike="noStrike">
                <a:solidFill>
                  <a:srgbClr val="173C37"/>
                </a:solidFill>
                <a:effectLst/>
                <a:uFillTx/>
                <a:latin typeface="AppleGothic"/>
                <a:ea typeface="AppleGothic"/>
              </a:rPr>
              <a:t>의 점수로 쓴다</a:t>
            </a:r>
            <a:endParaRPr lang="en-US" sz="3100" b="0" u="none" strike="noStrike">
              <a:solidFill>
                <a:srgbClr val="000000"/>
              </a:solidFill>
              <a:effectLst/>
              <a:uFillTx/>
              <a:latin typeface="Arial"/>
            </a:endParaRPr>
          </a:p>
        </p:txBody>
      </p:sp>
      <p:sp>
        <p:nvSpPr>
          <p:cNvPr id="13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분해의 순서를 거꾸로 읽으면 </a:t>
            </a:r>
            <a:r>
              <a:rPr lang="en-US" sz="1900" b="0" u="none" strike="noStrike">
                <a:solidFill>
                  <a:srgbClr val="0D685C"/>
                </a:solidFill>
                <a:effectLst/>
                <a:uFillTx/>
                <a:latin typeface="AppleGothic"/>
                <a:ea typeface="AppleGothic"/>
              </a:rPr>
              <a:t>power</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CPU</a:t>
            </a:r>
            <a:r>
              <a:rPr lang="ko-KR" sz="1900" b="0" u="none" strike="noStrike">
                <a:solidFill>
                  <a:srgbClr val="0D685C"/>
                </a:solidFill>
                <a:effectLst/>
                <a:uFillTx/>
                <a:latin typeface="AppleGothic"/>
                <a:ea typeface="AppleGothic"/>
              </a:rPr>
              <a:t>가 </a:t>
            </a:r>
            <a:r>
              <a:rPr lang="en-US" sz="1900" b="0" u="none" strike="noStrike">
                <a:solidFill>
                  <a:srgbClr val="0D685C"/>
                </a:solidFill>
                <a:effectLst/>
                <a:uFillTx/>
                <a:latin typeface="AppleGothic"/>
                <a:ea typeface="AppleGothic"/>
              </a:rPr>
              <a:t>scheduling </a:t>
            </a:r>
            <a:r>
              <a:rPr lang="ko-KR" sz="1900" b="0" u="none" strike="noStrike">
                <a:solidFill>
                  <a:srgbClr val="0D685C"/>
                </a:solidFill>
                <a:effectLst/>
                <a:uFillTx/>
                <a:latin typeface="AppleGothic"/>
                <a:ea typeface="AppleGothic"/>
              </a:rPr>
              <a:t>이후에 왜 다시 계산되는지 놓친다</a:t>
            </a:r>
            <a:endParaRPr lang="en-US" sz="1900" b="0" u="none" strike="noStrike">
              <a:solidFill>
                <a:srgbClr val="000000"/>
              </a:solidFill>
              <a:effectLst/>
              <a:uFillTx/>
              <a:latin typeface="Arial"/>
            </a:endParaRPr>
          </a:p>
        </p:txBody>
      </p:sp>
      <p:sp>
        <p:nvSpPr>
          <p:cNvPr id="131" name="Shape 2"/>
          <p:cNvSpPr/>
          <p:nvPr/>
        </p:nvSpPr>
        <p:spPr>
          <a:xfrm>
            <a:off x="6095880" y="2705040"/>
            <a:ext cx="360" cy="1904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32" name="Shape 3"/>
          <p:cNvSpPr/>
          <p:nvPr/>
        </p:nvSpPr>
        <p:spPr>
          <a:xfrm>
            <a:off x="3301920" y="2895480"/>
            <a:ext cx="5587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33" name="Shape 4"/>
          <p:cNvSpPr/>
          <p:nvPr/>
        </p:nvSpPr>
        <p:spPr>
          <a:xfrm>
            <a:off x="3301920" y="2895480"/>
            <a:ext cx="360" cy="35568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34" name="Shape 5"/>
          <p:cNvSpPr/>
          <p:nvPr/>
        </p:nvSpPr>
        <p:spPr>
          <a:xfrm>
            <a:off x="8889840" y="2895480"/>
            <a:ext cx="360" cy="35568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35" name="Shape 6"/>
          <p:cNvSpPr/>
          <p:nvPr/>
        </p:nvSpPr>
        <p:spPr>
          <a:xfrm>
            <a:off x="3301920" y="3962160"/>
            <a:ext cx="360" cy="25416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36" name="Shape 7"/>
          <p:cNvSpPr/>
          <p:nvPr/>
        </p:nvSpPr>
        <p:spPr>
          <a:xfrm>
            <a:off x="3301920" y="421632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37" name="Shape 8"/>
          <p:cNvSpPr/>
          <p:nvPr/>
        </p:nvSpPr>
        <p:spPr>
          <a:xfrm>
            <a:off x="8889840" y="3962160"/>
            <a:ext cx="360" cy="25416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38" name="Shape 9"/>
          <p:cNvSpPr/>
          <p:nvPr/>
        </p:nvSpPr>
        <p:spPr>
          <a:xfrm>
            <a:off x="6730920" y="421632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39" name="Shape 10"/>
          <p:cNvSpPr/>
          <p:nvPr/>
        </p:nvSpPr>
        <p:spPr>
          <a:xfrm>
            <a:off x="5460840" y="4216320"/>
            <a:ext cx="360" cy="25380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40" name="Shape 11"/>
          <p:cNvSpPr/>
          <p:nvPr/>
        </p:nvSpPr>
        <p:spPr>
          <a:xfrm>
            <a:off x="6730920" y="4216320"/>
            <a:ext cx="360" cy="25380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41" name="Shape 12"/>
          <p:cNvSpPr/>
          <p:nvPr/>
        </p:nvSpPr>
        <p:spPr>
          <a:xfrm>
            <a:off x="6095880" y="5181480"/>
            <a:ext cx="360" cy="33012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42" name="Text 13"/>
          <p:cNvSpPr/>
          <p:nvPr/>
        </p:nvSpPr>
        <p:spPr>
          <a:xfrm>
            <a:off x="4191120" y="210816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JTORA</a:t>
            </a:r>
            <a:endParaRPr lang="en-US" sz="1750" b="0" u="none" strike="noStrike">
              <a:solidFill>
                <a:srgbClr val="000000"/>
              </a:solidFill>
              <a:effectLst/>
              <a:uFillTx/>
              <a:latin typeface="Arial"/>
            </a:endParaRPr>
          </a:p>
        </p:txBody>
      </p:sp>
      <p:sp>
        <p:nvSpPr>
          <p:cNvPr id="143" name="Text 14"/>
          <p:cNvSpPr/>
          <p:nvPr/>
        </p:nvSpPr>
        <p:spPr>
          <a:xfrm>
            <a:off x="4191120" y="238752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maximize J(X,P,F)</a:t>
            </a:r>
            <a:endParaRPr lang="en-US" sz="1500" b="0" u="none" strike="noStrike">
              <a:solidFill>
                <a:srgbClr val="000000"/>
              </a:solidFill>
              <a:effectLst/>
              <a:uFillTx/>
              <a:latin typeface="Arial"/>
            </a:endParaRPr>
          </a:p>
        </p:txBody>
      </p:sp>
      <p:sp>
        <p:nvSpPr>
          <p:cNvPr id="144" name="Text 15"/>
          <p:cNvSpPr/>
          <p:nvPr/>
        </p:nvSpPr>
        <p:spPr>
          <a:xfrm>
            <a:off x="1270080" y="335268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RA for fixed X</a:t>
            </a:r>
            <a:endParaRPr lang="en-US" sz="1750" b="0" u="none" strike="noStrike">
              <a:solidFill>
                <a:srgbClr val="000000"/>
              </a:solidFill>
              <a:effectLst/>
              <a:uFillTx/>
              <a:latin typeface="Arial"/>
            </a:endParaRPr>
          </a:p>
        </p:txBody>
      </p:sp>
      <p:sp>
        <p:nvSpPr>
          <p:cNvPr id="145" name="Text 16"/>
          <p:cNvSpPr/>
          <p:nvPr/>
        </p:nvSpPr>
        <p:spPr>
          <a:xfrm>
            <a:off x="1270080" y="363204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P</a:t>
            </a:r>
            <a:r>
              <a:rPr lang="ko-KR" sz="1500" b="0" u="none" strike="noStrike">
                <a:solidFill>
                  <a:srgbClr val="173C37"/>
                </a:solidFill>
                <a:effectLst/>
                <a:uFillTx/>
                <a:latin typeface="AppleGothic"/>
                <a:ea typeface="AppleGothic"/>
              </a:rPr>
              <a:t>와 </a:t>
            </a:r>
            <a:r>
              <a:rPr lang="en-US" sz="1500" b="0" u="none" strike="noStrike">
                <a:solidFill>
                  <a:srgbClr val="173C37"/>
                </a:solidFill>
                <a:effectLst/>
                <a:uFillTx/>
                <a:latin typeface="AppleGothic"/>
                <a:ea typeface="AppleGothic"/>
              </a:rPr>
              <a:t>F</a:t>
            </a:r>
            <a:r>
              <a:rPr lang="ko-KR" sz="1500" b="0" u="none" strike="noStrike">
                <a:solidFill>
                  <a:srgbClr val="173C37"/>
                </a:solidFill>
                <a:effectLst/>
                <a:uFillTx/>
                <a:latin typeface="AppleGothic"/>
                <a:ea typeface="AppleGothic"/>
              </a:rPr>
              <a:t>를 최적화</a:t>
            </a:r>
            <a:endParaRPr lang="en-US" sz="1500" b="0" u="none" strike="noStrike">
              <a:solidFill>
                <a:srgbClr val="000000"/>
              </a:solidFill>
              <a:effectLst/>
              <a:uFillTx/>
              <a:latin typeface="Arial"/>
            </a:endParaRPr>
          </a:p>
        </p:txBody>
      </p:sp>
      <p:sp>
        <p:nvSpPr>
          <p:cNvPr id="146" name="Text 17"/>
          <p:cNvSpPr/>
          <p:nvPr/>
        </p:nvSpPr>
        <p:spPr>
          <a:xfrm>
            <a:off x="6858000" y="335268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TO</a:t>
            </a:r>
            <a:endParaRPr lang="en-US" sz="1750" b="0" u="none" strike="noStrike">
              <a:solidFill>
                <a:srgbClr val="000000"/>
              </a:solidFill>
              <a:effectLst/>
              <a:uFillTx/>
              <a:latin typeface="Arial"/>
            </a:endParaRPr>
          </a:p>
        </p:txBody>
      </p:sp>
      <p:sp>
        <p:nvSpPr>
          <p:cNvPr id="147" name="Text 18"/>
          <p:cNvSpPr/>
          <p:nvPr/>
        </p:nvSpPr>
        <p:spPr>
          <a:xfrm>
            <a:off x="6858000" y="363204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J*(X)</a:t>
            </a:r>
            <a:r>
              <a:rPr lang="ko-KR" sz="1500" b="0" u="none" strike="noStrike">
                <a:solidFill>
                  <a:srgbClr val="173C37"/>
                </a:solidFill>
                <a:effectLst/>
                <a:uFillTx/>
                <a:latin typeface="AppleGothic"/>
                <a:ea typeface="AppleGothic"/>
              </a:rPr>
              <a:t>를 최대화</a:t>
            </a:r>
            <a:endParaRPr lang="en-US" sz="1500" b="0" u="none" strike="noStrike">
              <a:solidFill>
                <a:srgbClr val="000000"/>
              </a:solidFill>
              <a:effectLst/>
              <a:uFillTx/>
              <a:latin typeface="Arial"/>
            </a:endParaRPr>
          </a:p>
        </p:txBody>
      </p:sp>
      <p:sp>
        <p:nvSpPr>
          <p:cNvPr id="148" name="Text 19"/>
          <p:cNvSpPr/>
          <p:nvPr/>
        </p:nvSpPr>
        <p:spPr>
          <a:xfrm>
            <a:off x="4191120" y="457200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value feedback</a:t>
            </a:r>
            <a:endParaRPr lang="en-US" sz="1750" b="0" u="none" strike="noStrike">
              <a:solidFill>
                <a:srgbClr val="000000"/>
              </a:solidFill>
              <a:effectLst/>
              <a:uFillTx/>
              <a:latin typeface="Arial"/>
            </a:endParaRPr>
          </a:p>
        </p:txBody>
      </p:sp>
      <p:sp>
        <p:nvSpPr>
          <p:cNvPr id="149" name="Text 20"/>
          <p:cNvSpPr/>
          <p:nvPr/>
        </p:nvSpPr>
        <p:spPr>
          <a:xfrm>
            <a:off x="4191120" y="485136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RA optimum</a:t>
            </a:r>
            <a:r>
              <a:rPr lang="ko-KR" sz="1500" b="0" u="none" strike="noStrike">
                <a:solidFill>
                  <a:srgbClr val="173C37"/>
                </a:solidFill>
                <a:effectLst/>
                <a:uFillTx/>
                <a:latin typeface="AppleGothic"/>
                <a:ea typeface="AppleGothic"/>
              </a:rPr>
              <a:t>이 </a:t>
            </a:r>
            <a:r>
              <a:rPr lang="en-US" sz="1500" b="0" u="none" strike="noStrike">
                <a:solidFill>
                  <a:srgbClr val="173C37"/>
                </a:solidFill>
                <a:effectLst/>
                <a:uFillTx/>
                <a:latin typeface="AppleGothic"/>
                <a:ea typeface="AppleGothic"/>
              </a:rPr>
              <a:t>J*(X)</a:t>
            </a:r>
            <a:r>
              <a:rPr lang="ko-KR" sz="1500" b="0" u="none" strike="noStrike">
                <a:solidFill>
                  <a:srgbClr val="173C37"/>
                </a:solidFill>
                <a:effectLst/>
                <a:uFillTx/>
                <a:latin typeface="AppleGothic"/>
                <a:ea typeface="AppleGothic"/>
              </a:rPr>
              <a:t>를 제공</a:t>
            </a:r>
            <a:endParaRPr lang="en-US" sz="1500" b="0" u="none" strike="noStrike">
              <a:solidFill>
                <a:srgbClr val="000000"/>
              </a:solidFill>
              <a:effectLst/>
              <a:uFillTx/>
              <a:latin typeface="Arial"/>
            </a:endParaRPr>
          </a:p>
        </p:txBody>
      </p:sp>
      <p:sp>
        <p:nvSpPr>
          <p:cNvPr id="150" name="Text 21"/>
          <p:cNvSpPr/>
          <p:nvPr/>
        </p:nvSpPr>
        <p:spPr>
          <a:xfrm>
            <a:off x="4191120" y="561348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final tuple</a:t>
            </a:r>
            <a:endParaRPr lang="en-US" sz="1750" b="0" u="none" strike="noStrike">
              <a:solidFill>
                <a:srgbClr val="000000"/>
              </a:solidFill>
              <a:effectLst/>
              <a:uFillTx/>
              <a:latin typeface="Arial"/>
            </a:endParaRPr>
          </a:p>
        </p:txBody>
      </p:sp>
      <p:sp>
        <p:nvSpPr>
          <p:cNvPr id="151" name="Text 22"/>
          <p:cNvSpPr/>
          <p:nvPr/>
        </p:nvSpPr>
        <p:spPr>
          <a:xfrm>
            <a:off x="4191120" y="589284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X*, P*, F*</a:t>
            </a:r>
            <a:endParaRPr lang="en-US" sz="1500" b="0" u="none" strike="noStrike">
              <a:solidFill>
                <a:srgbClr val="000000"/>
              </a:solidFill>
              <a:effectLst/>
              <a:uFillTx/>
              <a:latin typeface="Arial"/>
            </a:endParaRPr>
          </a:p>
        </p:txBody>
      </p:sp>
      <p:sp>
        <p:nvSpPr>
          <p:cNvPr id="152" name="Shape 23"/>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53" name="Text 24"/>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10-12; Eqs. 13-15</a:t>
            </a:r>
            <a:endParaRPr lang="en-US" sz="1050" b="0" u="none" strike="noStrike">
              <a:solidFill>
                <a:srgbClr val="000000"/>
              </a:solidFill>
              <a:effectLst/>
              <a:uFillTx/>
              <a:latin typeface="Arial"/>
            </a:endParaRPr>
          </a:p>
        </p:txBody>
      </p:sp>
      <p:sp>
        <p:nvSpPr>
          <p:cNvPr id="154" name="Text 25"/>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08</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5"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RA</a:t>
            </a:r>
            <a:r>
              <a:rPr lang="ko-KR" sz="3100" b="1" u="none" strike="noStrike">
                <a:solidFill>
                  <a:srgbClr val="173C37"/>
                </a:solidFill>
                <a:effectLst/>
                <a:uFillTx/>
                <a:latin typeface="AppleGothic"/>
                <a:ea typeface="AppleGothic"/>
              </a:rPr>
              <a:t>는 </a:t>
            </a:r>
            <a:r>
              <a:rPr lang="en-US" sz="3100" b="1" u="none" strike="noStrike">
                <a:solidFill>
                  <a:srgbClr val="173C37"/>
                </a:solidFill>
                <a:effectLst/>
                <a:uFillTx/>
                <a:latin typeface="AppleGothic"/>
                <a:ea typeface="AppleGothic"/>
              </a:rPr>
              <a:t>uplink power</a:t>
            </a:r>
            <a:r>
              <a:rPr lang="ko-KR" sz="3100" b="1" u="none" strike="noStrike">
                <a:solidFill>
                  <a:srgbClr val="173C37"/>
                </a:solidFill>
                <a:effectLst/>
                <a:uFillTx/>
                <a:latin typeface="AppleGothic"/>
                <a:ea typeface="AppleGothic"/>
              </a:rPr>
              <a:t>와 </a:t>
            </a:r>
            <a:r>
              <a:rPr lang="en-US" sz="3100" b="1" u="none" strike="noStrike">
                <a:solidFill>
                  <a:srgbClr val="173C37"/>
                </a:solidFill>
                <a:effectLst/>
                <a:uFillTx/>
                <a:latin typeface="AppleGothic"/>
                <a:ea typeface="AppleGothic"/>
              </a:rPr>
              <a:t>server CPU</a:t>
            </a:r>
            <a:r>
              <a:rPr lang="ko-KR" sz="3100" b="1" u="none" strike="noStrike">
                <a:solidFill>
                  <a:srgbClr val="173C37"/>
                </a:solidFill>
                <a:effectLst/>
                <a:uFillTx/>
                <a:latin typeface="AppleGothic"/>
                <a:ea typeface="AppleGothic"/>
              </a:rPr>
              <a:t>의 두 문제로 다시 나뉜다</a:t>
            </a:r>
            <a:endParaRPr lang="en-US" sz="3100" b="0" u="none" strike="noStrike">
              <a:solidFill>
                <a:srgbClr val="000000"/>
              </a:solidFill>
              <a:effectLst/>
              <a:uFillTx/>
              <a:latin typeface="Arial"/>
            </a:endParaRPr>
          </a:p>
        </p:txBody>
      </p:sp>
      <p:sp>
        <p:nvSpPr>
          <p:cNvPr id="156"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fixed X</a:t>
            </a:r>
            <a:r>
              <a:rPr lang="ko-KR" sz="1900" b="0" u="none" strike="noStrike">
                <a:solidFill>
                  <a:srgbClr val="0D685C"/>
                </a:solidFill>
                <a:effectLst/>
                <a:uFillTx/>
                <a:latin typeface="AppleGothic"/>
                <a:ea typeface="AppleGothic"/>
              </a:rPr>
              <a:t>에서는 </a:t>
            </a:r>
            <a:r>
              <a:rPr lang="en-US" sz="1900" b="0" u="none" strike="noStrike">
                <a:solidFill>
                  <a:srgbClr val="0D685C"/>
                </a:solidFill>
                <a:effectLst/>
                <a:uFillTx/>
                <a:latin typeface="AppleGothic"/>
                <a:ea typeface="AppleGothic"/>
              </a:rPr>
              <a:t>total offloading overhead</a:t>
            </a:r>
            <a:r>
              <a:rPr lang="ko-KR" sz="1900" b="0" u="none" strike="noStrike">
                <a:solidFill>
                  <a:srgbClr val="0D685C"/>
                </a:solidFill>
                <a:effectLst/>
                <a:uFillTx/>
                <a:latin typeface="AppleGothic"/>
                <a:ea typeface="AppleGothic"/>
              </a:rPr>
              <a:t>가 </a:t>
            </a:r>
            <a:r>
              <a:rPr lang="en-US" sz="1900" b="0" u="none" strike="noStrike">
                <a:solidFill>
                  <a:srgbClr val="0D685C"/>
                </a:solidFill>
                <a:effectLst/>
                <a:uFillTx/>
                <a:latin typeface="AppleGothic"/>
                <a:ea typeface="AppleGothic"/>
              </a:rPr>
              <a:t>P</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F </a:t>
            </a:r>
            <a:r>
              <a:rPr lang="ko-KR" sz="1900" b="0" u="none" strike="noStrike">
                <a:solidFill>
                  <a:srgbClr val="0D685C"/>
                </a:solidFill>
                <a:effectLst/>
                <a:uFillTx/>
                <a:latin typeface="AppleGothic"/>
                <a:ea typeface="AppleGothic"/>
              </a:rPr>
              <a:t>항의 합으로 분리된다</a:t>
            </a:r>
            <a:endParaRPr lang="en-US" sz="1900" b="0" u="none" strike="noStrike">
              <a:solidFill>
                <a:srgbClr val="000000"/>
              </a:solidFill>
              <a:effectLst/>
              <a:uFillTx/>
              <a:latin typeface="Arial"/>
            </a:endParaRPr>
          </a:p>
        </p:txBody>
      </p:sp>
      <p:sp>
        <p:nvSpPr>
          <p:cNvPr id="157" name="Shape 2"/>
          <p:cNvSpPr/>
          <p:nvPr/>
        </p:nvSpPr>
        <p:spPr>
          <a:xfrm>
            <a:off x="3301920" y="2958840"/>
            <a:ext cx="360" cy="6098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58" name="Shape 3"/>
          <p:cNvSpPr/>
          <p:nvPr/>
        </p:nvSpPr>
        <p:spPr>
          <a:xfrm>
            <a:off x="8889840" y="2958840"/>
            <a:ext cx="360" cy="6098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59" name="Shape 4"/>
          <p:cNvSpPr/>
          <p:nvPr/>
        </p:nvSpPr>
        <p:spPr>
          <a:xfrm>
            <a:off x="3301920" y="356868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60" name="Shape 5"/>
          <p:cNvSpPr/>
          <p:nvPr/>
        </p:nvSpPr>
        <p:spPr>
          <a:xfrm>
            <a:off x="6730920" y="356868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61" name="Shape 6"/>
          <p:cNvSpPr/>
          <p:nvPr/>
        </p:nvSpPr>
        <p:spPr>
          <a:xfrm>
            <a:off x="5460840" y="3568680"/>
            <a:ext cx="360" cy="57132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62" name="Shape 7"/>
          <p:cNvSpPr/>
          <p:nvPr/>
        </p:nvSpPr>
        <p:spPr>
          <a:xfrm>
            <a:off x="6730920" y="3568680"/>
            <a:ext cx="360" cy="57132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63" name="Shape 8"/>
          <p:cNvSpPr/>
          <p:nvPr/>
        </p:nvSpPr>
        <p:spPr>
          <a:xfrm>
            <a:off x="6095880" y="4736880"/>
            <a:ext cx="360" cy="73656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64" name="Text 9"/>
          <p:cNvSpPr/>
          <p:nvPr/>
        </p:nvSpPr>
        <p:spPr>
          <a:xfrm>
            <a:off x="1270080" y="236232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UPA</a:t>
            </a:r>
            <a:endParaRPr lang="en-US" sz="1750" b="0" u="none" strike="noStrike">
              <a:solidFill>
                <a:srgbClr val="000000"/>
              </a:solidFill>
              <a:effectLst/>
              <a:uFillTx/>
              <a:latin typeface="Arial"/>
            </a:endParaRPr>
          </a:p>
        </p:txBody>
      </p:sp>
      <p:sp>
        <p:nvSpPr>
          <p:cNvPr id="165" name="Text 10"/>
          <p:cNvSpPr/>
          <p:nvPr/>
        </p:nvSpPr>
        <p:spPr>
          <a:xfrm>
            <a:off x="1270080" y="264168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power-dependent upload overhead</a:t>
            </a:r>
            <a:endParaRPr lang="en-US" sz="1500" b="0" u="none" strike="noStrike">
              <a:solidFill>
                <a:srgbClr val="000000"/>
              </a:solidFill>
              <a:effectLst/>
              <a:uFillTx/>
              <a:latin typeface="Arial"/>
            </a:endParaRPr>
          </a:p>
        </p:txBody>
      </p:sp>
      <p:sp>
        <p:nvSpPr>
          <p:cNvPr id="166" name="Text 11"/>
          <p:cNvSpPr/>
          <p:nvPr/>
        </p:nvSpPr>
        <p:spPr>
          <a:xfrm>
            <a:off x="6858000" y="236232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CRA</a:t>
            </a:r>
            <a:endParaRPr lang="en-US" sz="1750" b="0" u="none" strike="noStrike">
              <a:solidFill>
                <a:srgbClr val="000000"/>
              </a:solidFill>
              <a:effectLst/>
              <a:uFillTx/>
              <a:latin typeface="Arial"/>
            </a:endParaRPr>
          </a:p>
        </p:txBody>
      </p:sp>
      <p:sp>
        <p:nvSpPr>
          <p:cNvPr id="167" name="Text 12"/>
          <p:cNvSpPr/>
          <p:nvPr/>
        </p:nvSpPr>
        <p:spPr>
          <a:xfrm>
            <a:off x="6858000" y="264168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CPU-share execution overhead</a:t>
            </a:r>
            <a:endParaRPr lang="en-US" sz="1500" b="0" u="none" strike="noStrike">
              <a:solidFill>
                <a:srgbClr val="000000"/>
              </a:solidFill>
              <a:effectLst/>
              <a:uFillTx/>
              <a:latin typeface="Arial"/>
            </a:endParaRPr>
          </a:p>
        </p:txBody>
      </p:sp>
      <p:sp>
        <p:nvSpPr>
          <p:cNvPr id="168" name="Text 13"/>
          <p:cNvSpPr/>
          <p:nvPr/>
        </p:nvSpPr>
        <p:spPr>
          <a:xfrm>
            <a:off x="4191120" y="414036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RA optimum</a:t>
            </a:r>
            <a:endParaRPr lang="en-US" sz="1750" b="0" u="none" strike="noStrike">
              <a:solidFill>
                <a:srgbClr val="000000"/>
              </a:solidFill>
              <a:effectLst/>
              <a:uFillTx/>
              <a:latin typeface="Arial"/>
            </a:endParaRPr>
          </a:p>
        </p:txBody>
      </p:sp>
      <p:sp>
        <p:nvSpPr>
          <p:cNvPr id="169" name="Text 14"/>
          <p:cNvSpPr/>
          <p:nvPr/>
        </p:nvSpPr>
        <p:spPr>
          <a:xfrm>
            <a:off x="4191120" y="441972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P*(X)</a:t>
            </a:r>
            <a:r>
              <a:rPr lang="ko-KR" sz="1500" b="0" u="none" strike="noStrike">
                <a:solidFill>
                  <a:srgbClr val="173C37"/>
                </a:solidFill>
                <a:effectLst/>
                <a:uFillTx/>
                <a:latin typeface="AppleGothic"/>
                <a:ea typeface="AppleGothic"/>
              </a:rPr>
              <a:t>와 </a:t>
            </a:r>
            <a:r>
              <a:rPr lang="en-US" sz="1500" b="0" u="none" strike="noStrike">
                <a:solidFill>
                  <a:srgbClr val="173C37"/>
                </a:solidFill>
                <a:effectLst/>
                <a:uFillTx/>
                <a:latin typeface="AppleGothic"/>
                <a:ea typeface="AppleGothic"/>
              </a:rPr>
              <a:t>F*(X)</a:t>
            </a:r>
            <a:endParaRPr lang="en-US" sz="1500" b="0" u="none" strike="noStrike">
              <a:solidFill>
                <a:srgbClr val="000000"/>
              </a:solidFill>
              <a:effectLst/>
              <a:uFillTx/>
              <a:latin typeface="Arial"/>
            </a:endParaRPr>
          </a:p>
        </p:txBody>
      </p:sp>
      <p:sp>
        <p:nvSpPr>
          <p:cNvPr id="170" name="Text 15"/>
          <p:cNvSpPr/>
          <p:nvPr/>
        </p:nvSpPr>
        <p:spPr>
          <a:xfrm>
            <a:off x="4191120" y="547380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J*(X)</a:t>
            </a:r>
            <a:endParaRPr lang="en-US" sz="1750" b="0" u="none" strike="noStrike">
              <a:solidFill>
                <a:srgbClr val="000000"/>
              </a:solidFill>
              <a:effectLst/>
              <a:uFillTx/>
              <a:latin typeface="Arial"/>
            </a:endParaRPr>
          </a:p>
        </p:txBody>
      </p:sp>
      <p:sp>
        <p:nvSpPr>
          <p:cNvPr id="171" name="Text 16"/>
          <p:cNvSpPr/>
          <p:nvPr/>
        </p:nvSpPr>
        <p:spPr>
          <a:xfrm>
            <a:off x="4191120" y="575316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TO</a:t>
            </a:r>
            <a:r>
              <a:rPr lang="ko-KR" sz="1500" b="0" u="none" strike="noStrike">
                <a:solidFill>
                  <a:srgbClr val="173C37"/>
                </a:solidFill>
                <a:effectLst/>
                <a:uFillTx/>
                <a:latin typeface="AppleGothic"/>
                <a:ea typeface="AppleGothic"/>
              </a:rPr>
              <a:t>가 비교할 </a:t>
            </a:r>
            <a:r>
              <a:rPr lang="en-US" sz="1500" b="0" u="none" strike="noStrike">
                <a:solidFill>
                  <a:srgbClr val="173C37"/>
                </a:solidFill>
                <a:effectLst/>
                <a:uFillTx/>
                <a:latin typeface="AppleGothic"/>
                <a:ea typeface="AppleGothic"/>
              </a:rPr>
              <a:t>offload-set value</a:t>
            </a:r>
            <a:endParaRPr lang="en-US" sz="1500" b="0" u="none" strike="noStrike">
              <a:solidFill>
                <a:srgbClr val="000000"/>
              </a:solidFill>
              <a:effectLst/>
              <a:uFillTx/>
              <a:latin typeface="Arial"/>
            </a:endParaRPr>
          </a:p>
        </p:txBody>
      </p:sp>
      <p:sp>
        <p:nvSpPr>
          <p:cNvPr id="172" name="Shape 17"/>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73" name="Text 18"/>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12-13; Eqs. 16-20</a:t>
            </a:r>
            <a:endParaRPr lang="en-US" sz="1050" b="0" u="none" strike="noStrike">
              <a:solidFill>
                <a:srgbClr val="000000"/>
              </a:solidFill>
              <a:effectLst/>
              <a:uFillTx/>
              <a:latin typeface="Arial"/>
            </a:endParaRPr>
          </a:p>
        </p:txBody>
      </p:sp>
      <p:sp>
        <p:nvSpPr>
          <p:cNvPr id="174" name="Text 19"/>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09</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5"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UPA</a:t>
            </a:r>
            <a:r>
              <a:rPr lang="ko-KR" sz="3100" b="1" u="none" strike="noStrike">
                <a:solidFill>
                  <a:srgbClr val="173C37"/>
                </a:solidFill>
                <a:effectLst/>
                <a:uFillTx/>
                <a:latin typeface="AppleGothic"/>
                <a:ea typeface="AppleGothic"/>
              </a:rPr>
              <a:t>는 </a:t>
            </a:r>
            <a:r>
              <a:rPr lang="en-US" sz="3100" b="1" u="none" strike="noStrike">
                <a:solidFill>
                  <a:srgbClr val="173C37"/>
                </a:solidFill>
                <a:effectLst/>
                <a:uFillTx/>
                <a:latin typeface="AppleGothic"/>
                <a:ea typeface="AppleGothic"/>
              </a:rPr>
              <a:t>inter-cell interference</a:t>
            </a:r>
            <a:r>
              <a:rPr lang="ko-KR" sz="3100" b="1" u="none" strike="noStrike">
                <a:solidFill>
                  <a:srgbClr val="173C37"/>
                </a:solidFill>
                <a:effectLst/>
                <a:uFillTx/>
                <a:latin typeface="AppleGothic"/>
                <a:ea typeface="AppleGothic"/>
              </a:rPr>
              <a:t>를 </a:t>
            </a:r>
            <a:r>
              <a:rPr lang="en-US" sz="3100" b="1" u="none" strike="noStrike">
                <a:solidFill>
                  <a:srgbClr val="173C37"/>
                </a:solidFill>
                <a:effectLst/>
                <a:uFillTx/>
                <a:latin typeface="AppleGothic"/>
                <a:ea typeface="AppleGothic"/>
              </a:rPr>
              <a:t>upper-bound</a:t>
            </a:r>
            <a:r>
              <a:rPr lang="ko-KR" sz="3100" b="1" u="none" strike="noStrike">
                <a:solidFill>
                  <a:srgbClr val="173C37"/>
                </a:solidFill>
                <a:effectLst/>
                <a:uFillTx/>
                <a:latin typeface="AppleGothic"/>
                <a:ea typeface="AppleGothic"/>
              </a:rPr>
              <a:t>로 근사한다</a:t>
            </a:r>
            <a:endParaRPr lang="en-US" sz="3100" b="0" u="none" strike="noStrike">
              <a:solidFill>
                <a:srgbClr val="000000"/>
              </a:solidFill>
              <a:effectLst/>
              <a:uFillTx/>
              <a:latin typeface="Arial"/>
            </a:endParaRPr>
          </a:p>
        </p:txBody>
      </p:sp>
      <p:sp>
        <p:nvSpPr>
          <p:cNvPr id="176"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원래 </a:t>
            </a:r>
            <a:r>
              <a:rPr lang="en-US" sz="1900" b="0" u="none" strike="noStrike">
                <a:solidFill>
                  <a:srgbClr val="0D685C"/>
                </a:solidFill>
                <a:effectLst/>
                <a:uFillTx/>
                <a:latin typeface="AppleGothic"/>
                <a:ea typeface="AppleGothic"/>
              </a:rPr>
              <a:t>SINR</a:t>
            </a:r>
            <a:r>
              <a:rPr lang="ko-KR" sz="1900" b="0" u="none" strike="noStrike">
                <a:solidFill>
                  <a:srgbClr val="0D685C"/>
                </a:solidFill>
                <a:effectLst/>
                <a:uFillTx/>
                <a:latin typeface="AppleGothic"/>
                <a:ea typeface="AppleGothic"/>
              </a:rPr>
              <a:t>은 다른 </a:t>
            </a:r>
            <a:r>
              <a:rPr lang="en-US" sz="1900" b="0" u="none" strike="noStrike">
                <a:solidFill>
                  <a:srgbClr val="0D685C"/>
                </a:solidFill>
                <a:effectLst/>
                <a:uFillTx/>
                <a:latin typeface="AppleGothic"/>
                <a:ea typeface="AppleGothic"/>
              </a:rPr>
              <a:t>cell</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power</a:t>
            </a:r>
            <a:r>
              <a:rPr lang="ko-KR" sz="1900" b="0" u="none" strike="noStrike">
                <a:solidFill>
                  <a:srgbClr val="0D685C"/>
                </a:solidFill>
                <a:effectLst/>
                <a:uFillTx/>
                <a:latin typeface="AppleGothic"/>
                <a:ea typeface="AppleGothic"/>
              </a:rPr>
              <a:t>와 얽혀 있어 </a:t>
            </a:r>
            <a:r>
              <a:rPr lang="en-US" sz="1900" b="0" u="none" strike="noStrike">
                <a:solidFill>
                  <a:srgbClr val="0D685C"/>
                </a:solidFill>
                <a:effectLst/>
                <a:uFillTx/>
                <a:latin typeface="AppleGothic"/>
                <a:ea typeface="AppleGothic"/>
              </a:rPr>
              <a:t>nonconvex</a:t>
            </a:r>
            <a:r>
              <a:rPr lang="ko-KR" sz="1900" b="0" u="none" strike="noStrike">
                <a:solidFill>
                  <a:srgbClr val="0D685C"/>
                </a:solidFill>
                <a:effectLst/>
                <a:uFillTx/>
                <a:latin typeface="AppleGothic"/>
                <a:ea typeface="AppleGothic"/>
              </a:rPr>
              <a:t>다</a:t>
            </a:r>
            <a:endParaRPr lang="en-US" sz="1900" b="0" u="none" strike="noStrike">
              <a:solidFill>
                <a:srgbClr val="000000"/>
              </a:solidFill>
              <a:effectLst/>
              <a:uFillTx/>
              <a:latin typeface="Arial"/>
            </a:endParaRPr>
          </a:p>
        </p:txBody>
      </p:sp>
      <p:sp>
        <p:nvSpPr>
          <p:cNvPr id="177"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178"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exact SINR</a:t>
            </a:r>
            <a:endParaRPr lang="en-US" sz="1900" b="0" u="none" strike="noStrike">
              <a:solidFill>
                <a:srgbClr val="000000"/>
              </a:solidFill>
              <a:effectLst/>
              <a:uFillTx/>
              <a:latin typeface="Arial"/>
            </a:endParaRPr>
          </a:p>
        </p:txBody>
      </p:sp>
      <p:sp>
        <p:nvSpPr>
          <p:cNvPr id="179"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same sub-band</a:t>
            </a:r>
            <a:r>
              <a:rPr lang="ko-KR" sz="1650" b="0" u="none" strike="noStrike">
                <a:solidFill>
                  <a:srgbClr val="173C37"/>
                </a:solidFill>
                <a:effectLst/>
                <a:uFillTx/>
                <a:latin typeface="AppleGothic"/>
                <a:ea typeface="AppleGothic"/>
              </a:rPr>
              <a:t>의 </a:t>
            </a:r>
            <a:r>
              <a:rPr lang="en-US" sz="1650" b="0" u="none" strike="noStrike">
                <a:solidFill>
                  <a:srgbClr val="173C37"/>
                </a:solidFill>
                <a:effectLst/>
                <a:uFillTx/>
                <a:latin typeface="AppleGothic"/>
                <a:ea typeface="AppleGothic"/>
              </a:rPr>
              <a:t>other-cell power </a:t>
            </a:r>
            <a:r>
              <a:rPr lang="ko-KR" sz="1650" b="0" u="none" strike="noStrike">
                <a:solidFill>
                  <a:srgbClr val="173C37"/>
                </a:solidFill>
                <a:effectLst/>
                <a:uFillTx/>
                <a:latin typeface="AppleGothic"/>
                <a:ea typeface="AppleGothic"/>
              </a:rPr>
              <a:t>포함</a:t>
            </a:r>
            <a:endParaRPr lang="en-US" sz="1650" b="0" u="none" strike="noStrike">
              <a:solidFill>
                <a:srgbClr val="000000"/>
              </a:solidFill>
              <a:effectLst/>
              <a:uFillTx/>
              <a:latin typeface="Arial"/>
            </a:endParaRPr>
          </a:p>
        </p:txBody>
      </p:sp>
      <p:sp>
        <p:nvSpPr>
          <p:cNvPr id="180"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81"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82"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183"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upper bound</a:t>
            </a:r>
            <a:endParaRPr lang="en-US" sz="1900" b="0" u="none" strike="noStrike">
              <a:solidFill>
                <a:srgbClr val="000000"/>
              </a:solidFill>
              <a:effectLst/>
              <a:uFillTx/>
              <a:latin typeface="Arial"/>
            </a:endParaRPr>
          </a:p>
        </p:txBody>
      </p:sp>
      <p:sp>
        <p:nvSpPr>
          <p:cNvPr id="184"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other users</a:t>
            </a:r>
            <a:r>
              <a:rPr lang="ko-KR" sz="1650" b="0" u="none" strike="noStrike">
                <a:solidFill>
                  <a:srgbClr val="173C37"/>
                </a:solidFill>
                <a:effectLst/>
                <a:uFillTx/>
                <a:latin typeface="AppleGothic"/>
                <a:ea typeface="AppleGothic"/>
              </a:rPr>
              <a:t>가 </a:t>
            </a:r>
            <a:r>
              <a:rPr lang="en-US" sz="1650" b="0" u="none" strike="noStrike">
                <a:solidFill>
                  <a:srgbClr val="173C37"/>
                </a:solidFill>
                <a:effectLst/>
                <a:uFillTx/>
                <a:latin typeface="AppleGothic"/>
                <a:ea typeface="AppleGothic"/>
              </a:rPr>
              <a:t>P_k</a:t>
            </a:r>
            <a:r>
              <a:rPr lang="ko-KR" sz="1650" b="0" u="none" strike="noStrike">
                <a:solidFill>
                  <a:srgbClr val="173C37"/>
                </a:solidFill>
                <a:effectLst/>
                <a:uFillTx/>
                <a:latin typeface="AppleGothic"/>
                <a:ea typeface="AppleGothic"/>
              </a:rPr>
              <a:t>를 쓴다고 가정</a:t>
            </a:r>
            <a:endParaRPr lang="en-US" sz="1650" b="0" u="none" strike="noStrike">
              <a:solidFill>
                <a:srgbClr val="000000"/>
              </a:solidFill>
              <a:effectLst/>
              <a:uFillTx/>
              <a:latin typeface="Arial"/>
            </a:endParaRPr>
          </a:p>
        </p:txBody>
      </p:sp>
      <p:sp>
        <p:nvSpPr>
          <p:cNvPr id="185"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86"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87"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188"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approximate SINR</a:t>
            </a:r>
            <a:endParaRPr lang="en-US" sz="1900" b="0" u="none" strike="noStrike">
              <a:solidFill>
                <a:srgbClr val="000000"/>
              </a:solidFill>
              <a:effectLst/>
              <a:uFillTx/>
              <a:latin typeface="Arial"/>
            </a:endParaRPr>
          </a:p>
        </p:txBody>
      </p:sp>
      <p:sp>
        <p:nvSpPr>
          <p:cNvPr id="189"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user</a:t>
            </a:r>
            <a:r>
              <a:rPr lang="ko-KR" sz="1650" b="0" u="none" strike="noStrike">
                <a:solidFill>
                  <a:srgbClr val="173C37"/>
                </a:solidFill>
                <a:effectLst/>
                <a:uFillTx/>
                <a:latin typeface="AppleGothic"/>
                <a:ea typeface="AppleGothic"/>
              </a:rPr>
              <a:t>별 </a:t>
            </a:r>
            <a:r>
              <a:rPr lang="en-US" sz="1650" b="0" u="none" strike="noStrike">
                <a:solidFill>
                  <a:srgbClr val="173C37"/>
                </a:solidFill>
                <a:effectLst/>
                <a:uFillTx/>
                <a:latin typeface="AppleGothic"/>
                <a:ea typeface="AppleGothic"/>
              </a:rPr>
              <a:t>Gamma_s(p_u) </a:t>
            </a:r>
            <a:r>
              <a:rPr lang="ko-KR" sz="1650" b="0" u="none" strike="noStrike">
                <a:solidFill>
                  <a:srgbClr val="173C37"/>
                </a:solidFill>
                <a:effectLst/>
                <a:uFillTx/>
                <a:latin typeface="AppleGothic"/>
                <a:ea typeface="AppleGothic"/>
              </a:rPr>
              <a:t>구성</a:t>
            </a:r>
            <a:endParaRPr lang="en-US" sz="1650" b="0" u="none" strike="noStrike">
              <a:solidFill>
                <a:srgbClr val="000000"/>
              </a:solidFill>
              <a:effectLst/>
              <a:uFillTx/>
              <a:latin typeface="Arial"/>
            </a:endParaRPr>
          </a:p>
        </p:txBody>
      </p:sp>
      <p:sp>
        <p:nvSpPr>
          <p:cNvPr id="190"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91"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92"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193"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strict quasi-convex</a:t>
            </a:r>
            <a:endParaRPr lang="en-US" sz="1900" b="0" u="none" strike="noStrike">
              <a:solidFill>
                <a:srgbClr val="000000"/>
              </a:solidFill>
              <a:effectLst/>
              <a:uFillTx/>
              <a:latin typeface="Arial"/>
            </a:endParaRPr>
          </a:p>
        </p:txBody>
      </p:sp>
      <p:sp>
        <p:nvSpPr>
          <p:cNvPr id="194"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Lemma 1</a:t>
            </a:r>
            <a:r>
              <a:rPr lang="ko-KR" sz="1650" b="0" u="none" strike="noStrike">
                <a:solidFill>
                  <a:srgbClr val="173C37"/>
                </a:solidFill>
                <a:effectLst/>
                <a:uFillTx/>
                <a:latin typeface="AppleGothic"/>
                <a:ea typeface="AppleGothic"/>
              </a:rPr>
              <a:t>의 조건</a:t>
            </a:r>
            <a:endParaRPr lang="en-US" sz="1650" b="0" u="none" strike="noStrike">
              <a:solidFill>
                <a:srgbClr val="000000"/>
              </a:solidFill>
              <a:effectLst/>
              <a:uFillTx/>
              <a:latin typeface="Arial"/>
            </a:endParaRPr>
          </a:p>
        </p:txBody>
      </p:sp>
      <p:sp>
        <p:nvSpPr>
          <p:cNvPr id="195"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96"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97"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198"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per-user solution</a:t>
            </a:r>
            <a:endParaRPr lang="en-US" sz="1900" b="0" u="none" strike="noStrike">
              <a:solidFill>
                <a:srgbClr val="000000"/>
              </a:solidFill>
              <a:effectLst/>
              <a:uFillTx/>
              <a:latin typeface="Arial"/>
            </a:endParaRPr>
          </a:p>
        </p:txBody>
      </p:sp>
      <p:sp>
        <p:nvSpPr>
          <p:cNvPr id="199"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bisection</a:t>
            </a:r>
            <a:r>
              <a:rPr lang="ko-KR" sz="1650" b="0" u="none" strike="noStrike">
                <a:solidFill>
                  <a:srgbClr val="173C37"/>
                </a:solidFill>
                <a:effectLst/>
                <a:uFillTx/>
                <a:latin typeface="AppleGothic"/>
                <a:ea typeface="AppleGothic"/>
              </a:rPr>
              <a:t>으로 </a:t>
            </a:r>
            <a:r>
              <a:rPr lang="en-US" sz="1650" b="0" u="none" strike="noStrike">
                <a:solidFill>
                  <a:srgbClr val="173C37"/>
                </a:solidFill>
                <a:effectLst/>
                <a:uFillTx/>
                <a:latin typeface="AppleGothic"/>
                <a:ea typeface="AppleGothic"/>
              </a:rPr>
              <a:t>p_u* </a:t>
            </a:r>
            <a:r>
              <a:rPr lang="ko-KR" sz="1650" b="0" u="none" strike="noStrike">
                <a:solidFill>
                  <a:srgbClr val="173C37"/>
                </a:solidFill>
                <a:effectLst/>
                <a:uFillTx/>
                <a:latin typeface="AppleGothic"/>
                <a:ea typeface="AppleGothic"/>
              </a:rPr>
              <a:t>선택</a:t>
            </a:r>
            <a:endParaRPr lang="en-US" sz="1650" b="0" u="none" strike="noStrike">
              <a:solidFill>
                <a:srgbClr val="000000"/>
              </a:solidFill>
              <a:effectLst/>
              <a:uFillTx/>
              <a:latin typeface="Arial"/>
            </a:endParaRPr>
          </a:p>
        </p:txBody>
      </p:sp>
      <p:sp>
        <p:nvSpPr>
          <p:cNvPr id="200"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01"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02"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UPA</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coupled interference</a:t>
            </a:r>
            <a:r>
              <a:rPr lang="ko-KR" sz="1750" b="1" u="none" strike="noStrike">
                <a:solidFill>
                  <a:srgbClr val="173C37"/>
                </a:solidFill>
                <a:effectLst/>
                <a:uFillTx/>
                <a:latin typeface="AppleGothic"/>
                <a:ea typeface="AppleGothic"/>
              </a:rPr>
              <a:t>를 </a:t>
            </a:r>
            <a:r>
              <a:rPr lang="en-US" sz="1750" b="1" u="none" strike="noStrike">
                <a:solidFill>
                  <a:srgbClr val="173C37"/>
                </a:solidFill>
                <a:effectLst/>
                <a:uFillTx/>
                <a:latin typeface="AppleGothic"/>
                <a:ea typeface="AppleGothic"/>
              </a:rPr>
              <a:t>exact</a:t>
            </a:r>
            <a:r>
              <a:rPr lang="ko-KR" sz="1750" b="1" u="none" strike="noStrike">
                <a:solidFill>
                  <a:srgbClr val="173C37"/>
                </a:solidFill>
                <a:effectLst/>
                <a:uFillTx/>
                <a:latin typeface="AppleGothic"/>
                <a:ea typeface="AppleGothic"/>
              </a:rPr>
              <a:t>로 풀지 않는 근사다</a:t>
            </a:r>
            <a:endParaRPr lang="en-US" sz="1750" b="0" u="none" strike="noStrike">
              <a:solidFill>
                <a:srgbClr val="000000"/>
              </a:solidFill>
              <a:effectLst/>
              <a:uFillTx/>
              <a:latin typeface="Arial"/>
            </a:endParaRPr>
          </a:p>
        </p:txBody>
      </p:sp>
      <p:sp>
        <p:nvSpPr>
          <p:cNvPr id="203"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04"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13-14; Eqs. 20-23; Lemma 1</a:t>
            </a:r>
            <a:endParaRPr lang="en-US" sz="1050" b="0" u="none" strike="noStrike">
              <a:solidFill>
                <a:srgbClr val="000000"/>
              </a:solidFill>
              <a:effectLst/>
              <a:uFillTx/>
              <a:latin typeface="Arial"/>
            </a:endParaRPr>
          </a:p>
        </p:txBody>
      </p:sp>
      <p:sp>
        <p:nvSpPr>
          <p:cNvPr id="205"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10</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Algorithm 1: Omega </a:t>
            </a:r>
            <a:r>
              <a:rPr lang="ko-KR" sz="3100" b="1" u="none" strike="noStrike">
                <a:solidFill>
                  <a:srgbClr val="173C37"/>
                </a:solidFill>
                <a:effectLst/>
                <a:uFillTx/>
                <a:latin typeface="AppleGothic"/>
                <a:ea typeface="AppleGothic"/>
              </a:rPr>
              <a:t>부호로 </a:t>
            </a:r>
            <a:r>
              <a:rPr lang="en-US" sz="3100" b="1" u="none" strike="noStrike">
                <a:solidFill>
                  <a:srgbClr val="173C37"/>
                </a:solidFill>
                <a:effectLst/>
                <a:uFillTx/>
                <a:latin typeface="AppleGothic"/>
                <a:ea typeface="AppleGothic"/>
              </a:rPr>
              <a:t>power </a:t>
            </a:r>
            <a:r>
              <a:rPr lang="ko-KR" sz="3100" b="1" u="none" strike="noStrike">
                <a:solidFill>
                  <a:srgbClr val="173C37"/>
                </a:solidFill>
                <a:effectLst/>
                <a:uFillTx/>
                <a:latin typeface="AppleGothic"/>
                <a:ea typeface="AppleGothic"/>
              </a:rPr>
              <a:t>이분 탐색</a:t>
            </a:r>
            <a:endParaRPr lang="en-US" sz="3100" b="0" u="none" strike="noStrike">
              <a:solidFill>
                <a:srgbClr val="000000"/>
              </a:solidFill>
              <a:effectLst/>
              <a:uFillTx/>
              <a:latin typeface="Arial"/>
            </a:endParaRPr>
          </a:p>
        </p:txBody>
      </p:sp>
      <p:sp>
        <p:nvSpPr>
          <p:cNvPr id="20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root</a:t>
            </a:r>
            <a:r>
              <a:rPr lang="ko-KR" sz="1900" b="0" u="none" strike="noStrike">
                <a:solidFill>
                  <a:srgbClr val="0D685C"/>
                </a:solidFill>
                <a:effectLst/>
                <a:uFillTx/>
                <a:latin typeface="AppleGothic"/>
                <a:ea typeface="AppleGothic"/>
              </a:rPr>
              <a:t>가 </a:t>
            </a:r>
            <a:r>
              <a:rPr lang="en-US" sz="1900" b="0" u="none" strike="noStrike">
                <a:solidFill>
                  <a:srgbClr val="0D685C"/>
                </a:solidFill>
                <a:effectLst/>
                <a:uFillTx/>
                <a:latin typeface="AppleGothic"/>
                <a:ea typeface="AppleGothic"/>
              </a:rPr>
              <a:t>budget </a:t>
            </a:r>
            <a:r>
              <a:rPr lang="ko-KR" sz="1900" b="0" u="none" strike="noStrike">
                <a:solidFill>
                  <a:srgbClr val="0D685C"/>
                </a:solidFill>
                <a:effectLst/>
                <a:uFillTx/>
                <a:latin typeface="AppleGothic"/>
                <a:ea typeface="AppleGothic"/>
              </a:rPr>
              <a:t>안에 있으면 </a:t>
            </a:r>
            <a:r>
              <a:rPr lang="en-US" sz="1900" b="0" u="none" strike="noStrike">
                <a:solidFill>
                  <a:srgbClr val="0D685C"/>
                </a:solidFill>
                <a:effectLst/>
                <a:uFillTx/>
                <a:latin typeface="AppleGothic"/>
                <a:ea typeface="AppleGothic"/>
              </a:rPr>
              <a:t>interval</a:t>
            </a:r>
            <a:r>
              <a:rPr lang="ko-KR" sz="1900" b="0" u="none" strike="noStrike">
                <a:solidFill>
                  <a:srgbClr val="0D685C"/>
                </a:solidFill>
                <a:effectLst/>
                <a:uFillTx/>
                <a:latin typeface="AppleGothic"/>
                <a:ea typeface="AppleGothic"/>
              </a:rPr>
              <a:t>을 줄이고</a:t>
            </a:r>
            <a:r>
              <a:rPr lang="en-US" sz="1900" b="0" u="none" strike="noStrike">
                <a:solidFill>
                  <a:srgbClr val="0D685C"/>
                </a:solidFill>
                <a:effectLst/>
                <a:uFillTx/>
                <a:latin typeface="AppleGothic"/>
                <a:ea typeface="AppleGothic"/>
              </a:rPr>
              <a:t>, </a:t>
            </a:r>
            <a:r>
              <a:rPr lang="ko-KR" sz="1900" b="0" u="none" strike="noStrike">
                <a:solidFill>
                  <a:srgbClr val="0D685C"/>
                </a:solidFill>
                <a:effectLst/>
                <a:uFillTx/>
                <a:latin typeface="AppleGothic"/>
                <a:ea typeface="AppleGothic"/>
              </a:rPr>
              <a:t>아니면 </a:t>
            </a:r>
            <a:r>
              <a:rPr lang="en-US" sz="1900" b="0" u="none" strike="noStrike">
                <a:solidFill>
                  <a:srgbClr val="0D685C"/>
                </a:solidFill>
                <a:effectLst/>
                <a:uFillTx/>
                <a:latin typeface="AppleGothic"/>
                <a:ea typeface="AppleGothic"/>
              </a:rPr>
              <a:t>maximum power</a:t>
            </a:r>
            <a:r>
              <a:rPr lang="ko-KR" sz="1900" b="0" u="none" strike="noStrike">
                <a:solidFill>
                  <a:srgbClr val="0D685C"/>
                </a:solidFill>
                <a:effectLst/>
                <a:uFillTx/>
                <a:latin typeface="AppleGothic"/>
                <a:ea typeface="AppleGothic"/>
              </a:rPr>
              <a:t>를 선택한다</a:t>
            </a:r>
            <a:endParaRPr lang="en-US" sz="1900" b="0" u="none" strike="noStrike">
              <a:solidFill>
                <a:srgbClr val="000000"/>
              </a:solidFill>
              <a:effectLst/>
              <a:uFillTx/>
              <a:latin typeface="Arial"/>
            </a:endParaRPr>
          </a:p>
        </p:txBody>
      </p:sp>
      <p:sp>
        <p:nvSpPr>
          <p:cNvPr id="208"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209"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Omega(P_u)</a:t>
            </a:r>
            <a:endParaRPr lang="en-US" sz="1900" b="0" u="none" strike="noStrike">
              <a:solidFill>
                <a:srgbClr val="000000"/>
              </a:solidFill>
              <a:effectLst/>
              <a:uFillTx/>
              <a:latin typeface="Arial"/>
            </a:endParaRPr>
          </a:p>
        </p:txBody>
      </p:sp>
      <p:sp>
        <p:nvSpPr>
          <p:cNvPr id="210"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Eq. 24</a:t>
            </a:r>
            <a:r>
              <a:rPr lang="ko-KR" sz="1650" b="0" u="none" strike="noStrike">
                <a:solidFill>
                  <a:srgbClr val="173C37"/>
                </a:solidFill>
                <a:effectLst/>
                <a:uFillTx/>
                <a:latin typeface="AppleGothic"/>
                <a:ea typeface="AppleGothic"/>
              </a:rPr>
              <a:t>의 </a:t>
            </a:r>
            <a:r>
              <a:rPr lang="en-US" sz="1650" b="0" u="none" strike="noStrike">
                <a:solidFill>
                  <a:srgbClr val="173C37"/>
                </a:solidFill>
                <a:effectLst/>
                <a:uFillTx/>
                <a:latin typeface="AppleGothic"/>
                <a:ea typeface="AppleGothic"/>
              </a:rPr>
              <a:t>boundary sign </a:t>
            </a:r>
            <a:r>
              <a:rPr lang="ko-KR" sz="1650" b="0" u="none" strike="noStrike">
                <a:solidFill>
                  <a:srgbClr val="173C37"/>
                </a:solidFill>
                <a:effectLst/>
                <a:uFillTx/>
                <a:latin typeface="AppleGothic"/>
                <a:ea typeface="AppleGothic"/>
              </a:rPr>
              <a:t>계산</a:t>
            </a:r>
            <a:endParaRPr lang="en-US" sz="1650" b="0" u="none" strike="noStrike">
              <a:solidFill>
                <a:srgbClr val="000000"/>
              </a:solidFill>
              <a:effectLst/>
              <a:uFillTx/>
              <a:latin typeface="Arial"/>
            </a:endParaRPr>
          </a:p>
        </p:txBody>
      </p:sp>
      <p:sp>
        <p:nvSpPr>
          <p:cNvPr id="211"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12"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13"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214"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nonpositive</a:t>
            </a:r>
            <a:endParaRPr lang="en-US" sz="1900" b="0" u="none" strike="noStrike">
              <a:solidFill>
                <a:srgbClr val="000000"/>
              </a:solidFill>
              <a:effectLst/>
              <a:uFillTx/>
              <a:latin typeface="Arial"/>
            </a:endParaRPr>
          </a:p>
        </p:txBody>
      </p:sp>
      <p:sp>
        <p:nvSpPr>
          <p:cNvPr id="215"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p_u*=P_u</a:t>
            </a:r>
            <a:r>
              <a:rPr lang="ko-KR" sz="1650" b="0" u="none" strike="noStrike">
                <a:solidFill>
                  <a:srgbClr val="173C37"/>
                </a:solidFill>
                <a:effectLst/>
                <a:uFillTx/>
                <a:latin typeface="AppleGothic"/>
                <a:ea typeface="AppleGothic"/>
              </a:rPr>
              <a:t>로 종료</a:t>
            </a:r>
            <a:endParaRPr lang="en-US" sz="1650" b="0" u="none" strike="noStrike">
              <a:solidFill>
                <a:srgbClr val="000000"/>
              </a:solidFill>
              <a:effectLst/>
              <a:uFillTx/>
              <a:latin typeface="Arial"/>
            </a:endParaRPr>
          </a:p>
        </p:txBody>
      </p:sp>
      <p:sp>
        <p:nvSpPr>
          <p:cNvPr id="216"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17"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18"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219"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positive</a:t>
            </a:r>
            <a:endParaRPr lang="en-US" sz="1900" b="0" u="none" strike="noStrike">
              <a:solidFill>
                <a:srgbClr val="000000"/>
              </a:solidFill>
              <a:effectLst/>
              <a:uFillTx/>
              <a:latin typeface="Arial"/>
            </a:endParaRPr>
          </a:p>
        </p:txBody>
      </p:sp>
      <p:sp>
        <p:nvSpPr>
          <p:cNvPr id="220"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0</a:t>
            </a:r>
            <a:r>
              <a:rPr lang="ko-KR" sz="1650" b="0" u="none" strike="noStrike">
                <a:solidFill>
                  <a:srgbClr val="173C37"/>
                </a:solidFill>
                <a:effectLst/>
                <a:uFillTx/>
                <a:latin typeface="AppleGothic"/>
                <a:ea typeface="AppleGothic"/>
              </a:rPr>
              <a:t>과 </a:t>
            </a:r>
            <a:r>
              <a:rPr lang="en-US" sz="1650" b="0" u="none" strike="noStrike">
                <a:solidFill>
                  <a:srgbClr val="173C37"/>
                </a:solidFill>
                <a:effectLst/>
                <a:uFillTx/>
                <a:latin typeface="AppleGothic"/>
                <a:ea typeface="AppleGothic"/>
              </a:rPr>
              <a:t>P_u</a:t>
            </a:r>
            <a:r>
              <a:rPr lang="ko-KR" sz="1650" b="0" u="none" strike="noStrike">
                <a:solidFill>
                  <a:srgbClr val="173C37"/>
                </a:solidFill>
                <a:effectLst/>
                <a:uFillTx/>
                <a:latin typeface="AppleGothic"/>
                <a:ea typeface="AppleGothic"/>
              </a:rPr>
              <a:t>로 </a:t>
            </a:r>
            <a:r>
              <a:rPr lang="en-US" sz="1650" b="0" u="none" strike="noStrike">
                <a:solidFill>
                  <a:srgbClr val="173C37"/>
                </a:solidFill>
                <a:effectLst/>
                <a:uFillTx/>
                <a:latin typeface="AppleGothic"/>
                <a:ea typeface="AppleGothic"/>
              </a:rPr>
              <a:t>interval </a:t>
            </a:r>
            <a:r>
              <a:rPr lang="ko-KR" sz="1650" b="0" u="none" strike="noStrike">
                <a:solidFill>
                  <a:srgbClr val="173C37"/>
                </a:solidFill>
                <a:effectLst/>
                <a:uFillTx/>
                <a:latin typeface="AppleGothic"/>
                <a:ea typeface="AppleGothic"/>
              </a:rPr>
              <a:t>시작</a:t>
            </a:r>
            <a:endParaRPr lang="en-US" sz="1650" b="0" u="none" strike="noStrike">
              <a:solidFill>
                <a:srgbClr val="000000"/>
              </a:solidFill>
              <a:effectLst/>
              <a:uFillTx/>
              <a:latin typeface="Arial"/>
            </a:endParaRPr>
          </a:p>
        </p:txBody>
      </p:sp>
      <p:sp>
        <p:nvSpPr>
          <p:cNvPr id="221"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22"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23"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224"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midpoint</a:t>
            </a:r>
            <a:endParaRPr lang="en-US" sz="1900" b="0" u="none" strike="noStrike">
              <a:solidFill>
                <a:srgbClr val="000000"/>
              </a:solidFill>
              <a:effectLst/>
              <a:uFillTx/>
              <a:latin typeface="Arial"/>
            </a:endParaRPr>
          </a:p>
        </p:txBody>
      </p:sp>
      <p:sp>
        <p:nvSpPr>
          <p:cNvPr id="225"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Omega sign</a:t>
            </a:r>
            <a:r>
              <a:rPr lang="ko-KR" sz="1650" b="0" u="none" strike="noStrike">
                <a:solidFill>
                  <a:srgbClr val="173C37"/>
                </a:solidFill>
                <a:effectLst/>
                <a:uFillTx/>
                <a:latin typeface="AppleGothic"/>
                <a:ea typeface="AppleGothic"/>
              </a:rPr>
              <a:t>에 맞춰 한쪽 끝 교체</a:t>
            </a:r>
            <a:endParaRPr lang="en-US" sz="1650" b="0" u="none" strike="noStrike">
              <a:solidFill>
                <a:srgbClr val="000000"/>
              </a:solidFill>
              <a:effectLst/>
              <a:uFillTx/>
              <a:latin typeface="Arial"/>
            </a:endParaRPr>
          </a:p>
        </p:txBody>
      </p:sp>
      <p:sp>
        <p:nvSpPr>
          <p:cNvPr id="226"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27"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28"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229"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tolerance</a:t>
            </a:r>
            <a:endParaRPr lang="en-US" sz="1900" b="0" u="none" strike="noStrike">
              <a:solidFill>
                <a:srgbClr val="000000"/>
              </a:solidFill>
              <a:effectLst/>
              <a:uFillTx/>
              <a:latin typeface="Arial"/>
            </a:endParaRPr>
          </a:p>
        </p:txBody>
      </p:sp>
      <p:sp>
        <p:nvSpPr>
          <p:cNvPr id="230"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interval </a:t>
            </a:r>
            <a:r>
              <a:rPr lang="ko-KR" sz="1650" b="0" u="none" strike="noStrike">
                <a:solidFill>
                  <a:srgbClr val="173C37"/>
                </a:solidFill>
                <a:effectLst/>
                <a:uFillTx/>
                <a:latin typeface="AppleGothic"/>
                <a:ea typeface="AppleGothic"/>
              </a:rPr>
              <a:t>길이 </a:t>
            </a:r>
            <a:r>
              <a:rPr lang="en-US" sz="1650" b="0" u="none" strike="noStrike">
                <a:solidFill>
                  <a:srgbClr val="173C37"/>
                </a:solidFill>
                <a:effectLst/>
                <a:uFillTx/>
                <a:latin typeface="AppleGothic"/>
                <a:ea typeface="AppleGothic"/>
              </a:rPr>
              <a:t>epsilon </a:t>
            </a:r>
            <a:r>
              <a:rPr lang="ko-KR" sz="1650" b="0" u="none" strike="noStrike">
                <a:solidFill>
                  <a:srgbClr val="173C37"/>
                </a:solidFill>
                <a:effectLst/>
                <a:uFillTx/>
                <a:latin typeface="AppleGothic"/>
                <a:ea typeface="AppleGothic"/>
              </a:rPr>
              <a:t>이하</a:t>
            </a:r>
            <a:endParaRPr lang="en-US" sz="1650" b="0" u="none" strike="noStrike">
              <a:solidFill>
                <a:srgbClr val="000000"/>
              </a:solidFill>
              <a:effectLst/>
              <a:uFillTx/>
              <a:latin typeface="Arial"/>
            </a:endParaRPr>
          </a:p>
        </p:txBody>
      </p:sp>
      <p:sp>
        <p:nvSpPr>
          <p:cNvPr id="231"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32"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33"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Algorithm 1</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learned policy</a:t>
            </a:r>
            <a:r>
              <a:rPr lang="ko-KR" sz="1750" b="1" u="none" strike="noStrike">
                <a:solidFill>
                  <a:srgbClr val="173C37"/>
                </a:solidFill>
                <a:effectLst/>
                <a:uFillTx/>
                <a:latin typeface="AppleGothic"/>
                <a:ea typeface="AppleGothic"/>
              </a:rPr>
              <a:t>가 아닌 </a:t>
            </a:r>
            <a:r>
              <a:rPr lang="en-US" sz="1750" b="1" u="none" strike="noStrike">
                <a:solidFill>
                  <a:srgbClr val="173C37"/>
                </a:solidFill>
                <a:effectLst/>
                <a:uFillTx/>
                <a:latin typeface="AppleGothic"/>
                <a:ea typeface="AppleGothic"/>
              </a:rPr>
              <a:t>deterministic bisection</a:t>
            </a:r>
            <a:r>
              <a:rPr lang="ko-KR" sz="1750" b="1" u="none" strike="noStrike">
                <a:solidFill>
                  <a:srgbClr val="173C37"/>
                </a:solidFill>
                <a:effectLst/>
                <a:uFillTx/>
                <a:latin typeface="AppleGothic"/>
                <a:ea typeface="AppleGothic"/>
              </a:rPr>
              <a:t>이다</a:t>
            </a:r>
            <a:endParaRPr lang="en-US" sz="1750" b="0" u="none" strike="noStrike">
              <a:solidFill>
                <a:srgbClr val="000000"/>
              </a:solidFill>
              <a:effectLst/>
              <a:uFillTx/>
              <a:latin typeface="Arial"/>
            </a:endParaRPr>
          </a:p>
        </p:txBody>
      </p:sp>
      <p:sp>
        <p:nvSpPr>
          <p:cNvPr id="234"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35"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14-15; Eq. 24; Algorithm 1</a:t>
            </a:r>
            <a:endParaRPr lang="en-US" sz="1050" b="0" u="none" strike="noStrike">
              <a:solidFill>
                <a:srgbClr val="000000"/>
              </a:solidFill>
              <a:effectLst/>
              <a:uFillTx/>
              <a:latin typeface="Arial"/>
            </a:endParaRPr>
          </a:p>
        </p:txBody>
      </p:sp>
      <p:sp>
        <p:nvSpPr>
          <p:cNvPr id="236"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7"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CRA</a:t>
            </a:r>
            <a:r>
              <a:rPr lang="ko-KR" sz="3100" b="1" u="none" strike="noStrike">
                <a:solidFill>
                  <a:srgbClr val="173C37"/>
                </a:solidFill>
                <a:effectLst/>
                <a:uFillTx/>
                <a:latin typeface="AppleGothic"/>
                <a:ea typeface="AppleGothic"/>
              </a:rPr>
              <a:t>는 </a:t>
            </a:r>
            <a:r>
              <a:rPr lang="en-US" sz="3100" b="1" u="none" strike="noStrike">
                <a:solidFill>
                  <a:srgbClr val="173C37"/>
                </a:solidFill>
                <a:effectLst/>
                <a:uFillTx/>
                <a:latin typeface="AppleGothic"/>
                <a:ea typeface="AppleGothic"/>
              </a:rPr>
              <a:t>server CPU</a:t>
            </a:r>
            <a:r>
              <a:rPr lang="ko-KR" sz="3100" b="1" u="none" strike="noStrike">
                <a:solidFill>
                  <a:srgbClr val="173C37"/>
                </a:solidFill>
                <a:effectLst/>
                <a:uFillTx/>
                <a:latin typeface="AppleGothic"/>
                <a:ea typeface="AppleGothic"/>
              </a:rPr>
              <a:t>를 </a:t>
            </a:r>
            <a:r>
              <a:rPr lang="en-US" sz="3100" b="1" u="none" strike="noStrike">
                <a:solidFill>
                  <a:srgbClr val="173C37"/>
                </a:solidFill>
                <a:effectLst/>
                <a:uFillTx/>
                <a:latin typeface="AppleGothic"/>
                <a:ea typeface="AppleGothic"/>
              </a:rPr>
              <a:t>sqrt(eta_u)</a:t>
            </a:r>
            <a:r>
              <a:rPr lang="ko-KR" sz="3100" b="1" u="none" strike="noStrike">
                <a:solidFill>
                  <a:srgbClr val="173C37"/>
                </a:solidFill>
                <a:effectLst/>
                <a:uFillTx/>
                <a:latin typeface="AppleGothic"/>
                <a:ea typeface="AppleGothic"/>
              </a:rPr>
              <a:t>에 비례해 나눈다</a:t>
            </a:r>
            <a:endParaRPr lang="en-US" sz="3100" b="0" u="none" strike="noStrike">
              <a:solidFill>
                <a:srgbClr val="000000"/>
              </a:solidFill>
              <a:effectLst/>
              <a:uFillTx/>
              <a:latin typeface="Arial"/>
            </a:endParaRPr>
          </a:p>
        </p:txBody>
      </p:sp>
      <p:sp>
        <p:nvSpPr>
          <p:cNvPr id="238"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한 </a:t>
            </a:r>
            <a:r>
              <a:rPr lang="en-US" sz="1900" b="0" u="none" strike="noStrike">
                <a:solidFill>
                  <a:srgbClr val="0D685C"/>
                </a:solidFill>
                <a:effectLst/>
                <a:uFillTx/>
                <a:latin typeface="AppleGothic"/>
                <a:ea typeface="AppleGothic"/>
              </a:rPr>
              <a:t>server </a:t>
            </a:r>
            <a:r>
              <a:rPr lang="ko-KR" sz="1900" b="0" u="none" strike="noStrike">
                <a:solidFill>
                  <a:srgbClr val="0D685C"/>
                </a:solidFill>
                <a:effectLst/>
                <a:uFillTx/>
                <a:latin typeface="AppleGothic"/>
                <a:ea typeface="AppleGothic"/>
              </a:rPr>
              <a:t>안에서 높은 </a:t>
            </a:r>
            <a:r>
              <a:rPr lang="en-US" sz="1900" b="0" u="none" strike="noStrike">
                <a:solidFill>
                  <a:srgbClr val="0D685C"/>
                </a:solidFill>
                <a:effectLst/>
                <a:uFillTx/>
                <a:latin typeface="AppleGothic"/>
                <a:ea typeface="AppleGothic"/>
              </a:rPr>
              <a:t>eta_u</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task</a:t>
            </a:r>
            <a:r>
              <a:rPr lang="ko-KR" sz="1900" b="0" u="none" strike="noStrike">
                <a:solidFill>
                  <a:srgbClr val="0D685C"/>
                </a:solidFill>
                <a:effectLst/>
                <a:uFillTx/>
                <a:latin typeface="AppleGothic"/>
                <a:ea typeface="AppleGothic"/>
              </a:rPr>
              <a:t>가 더 큰 </a:t>
            </a:r>
            <a:r>
              <a:rPr lang="en-US" sz="1900" b="0" u="none" strike="noStrike">
                <a:solidFill>
                  <a:srgbClr val="0D685C"/>
                </a:solidFill>
                <a:effectLst/>
                <a:uFillTx/>
                <a:latin typeface="AppleGothic"/>
                <a:ea typeface="AppleGothic"/>
              </a:rPr>
              <a:t>CPU share</a:t>
            </a:r>
            <a:r>
              <a:rPr lang="ko-KR" sz="1900" b="0" u="none" strike="noStrike">
                <a:solidFill>
                  <a:srgbClr val="0D685C"/>
                </a:solidFill>
                <a:effectLst/>
                <a:uFillTx/>
                <a:latin typeface="AppleGothic"/>
                <a:ea typeface="AppleGothic"/>
              </a:rPr>
              <a:t>를 얻되</a:t>
            </a:r>
            <a:r>
              <a:rPr lang="en-US" sz="1900" b="0" u="none" strike="noStrike">
                <a:solidFill>
                  <a:srgbClr val="0D685C"/>
                </a:solidFill>
                <a:effectLst/>
                <a:uFillTx/>
                <a:latin typeface="AppleGothic"/>
                <a:ea typeface="AppleGothic"/>
              </a:rPr>
              <a:t>, total</a:t>
            </a:r>
            <a:r>
              <a:rPr lang="ko-KR" sz="1900" b="0" u="none" strike="noStrike">
                <a:solidFill>
                  <a:srgbClr val="0D685C"/>
                </a:solidFill>
                <a:effectLst/>
                <a:uFillTx/>
                <a:latin typeface="AppleGothic"/>
                <a:ea typeface="AppleGothic"/>
              </a:rPr>
              <a:t>은 </a:t>
            </a:r>
            <a:r>
              <a:rPr lang="en-US" sz="1900" b="0" u="none" strike="noStrike">
                <a:solidFill>
                  <a:srgbClr val="0D685C"/>
                </a:solidFill>
                <a:effectLst/>
                <a:uFillTx/>
                <a:latin typeface="AppleGothic"/>
                <a:ea typeface="AppleGothic"/>
              </a:rPr>
              <a:t>f_s</a:t>
            </a:r>
            <a:r>
              <a:rPr lang="ko-KR" sz="1900" b="0" u="none" strike="noStrike">
                <a:solidFill>
                  <a:srgbClr val="0D685C"/>
                </a:solidFill>
                <a:effectLst/>
                <a:uFillTx/>
                <a:latin typeface="AppleGothic"/>
                <a:ea typeface="AppleGothic"/>
              </a:rPr>
              <a:t>를 넘지 않는다</a:t>
            </a:r>
            <a:endParaRPr lang="en-US" sz="1900" b="0" u="none" strike="noStrike">
              <a:solidFill>
                <a:srgbClr val="000000"/>
              </a:solidFill>
              <a:effectLst/>
              <a:uFillTx/>
              <a:latin typeface="Arial"/>
            </a:endParaRPr>
          </a:p>
        </p:txBody>
      </p:sp>
      <p:graphicFrame>
        <p:nvGraphicFramePr>
          <p:cNvPr id="239" name="Table 0"/>
          <p:cNvGraphicFramePr/>
          <p:nvPr/>
        </p:nvGraphicFramePr>
        <p:xfrm>
          <a:off x="660240" y="2082960"/>
          <a:ext cx="10870920" cy="3314520"/>
        </p:xfrm>
        <a:graphic>
          <a:graphicData uri="http://schemas.openxmlformats.org/drawingml/2006/table">
            <a:tbl>
              <a:tblPr/>
              <a:tblGrid>
                <a:gridCol w="1956600"/>
                <a:gridCol w="3152520"/>
                <a:gridCol w="2717640"/>
                <a:gridCol w="304380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요소</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원문 식</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결론</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해석</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objective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sum eta_u / f_us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execution overhead </a:t>
                      </a:r>
                      <a:r>
                        <a:rPr lang="ko-KR" sz="1550" b="0" u="none" strike="noStrike">
                          <a:solidFill>
                            <a:srgbClr val="173C37"/>
                          </a:solidFill>
                          <a:effectLst/>
                          <a:uFillTx/>
                          <a:latin typeface="AppleGothic"/>
                          <a:ea typeface="AppleGothic"/>
                        </a:rPr>
                        <a:t>최소화</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f_us</a:t>
                      </a:r>
                      <a:r>
                        <a:rPr lang="ko-KR" sz="1550" b="0" u="none" strike="noStrike">
                          <a:solidFill>
                            <a:srgbClr val="173C37"/>
                          </a:solidFill>
                          <a:effectLst/>
                          <a:uFillTx/>
                          <a:latin typeface="AppleGothic"/>
                          <a:ea typeface="AppleGothic"/>
                        </a:rPr>
                        <a:t>가 작으면 </a:t>
                      </a:r>
                      <a:r>
                        <a:rPr lang="en-US" sz="1550" b="0" u="none" strike="noStrike">
                          <a:solidFill>
                            <a:srgbClr val="173C37"/>
                          </a:solidFill>
                          <a:effectLst/>
                          <a:uFillTx/>
                          <a:latin typeface="AppleGothic"/>
                          <a:ea typeface="AppleGothic"/>
                        </a:rPr>
                        <a:t>penalty</a:t>
                      </a:r>
                      <a:r>
                        <a:rPr lang="ko-KR" sz="1550" b="0" u="none" strike="noStrike">
                          <a:solidFill>
                            <a:srgbClr val="173C37"/>
                          </a:solidFill>
                          <a:effectLst/>
                          <a:uFillTx/>
                          <a:latin typeface="AppleGothic"/>
                          <a:ea typeface="AppleGothic"/>
                        </a:rPr>
                        <a:t>가 큼</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constraint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sum f_us ≤ f_s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server</a:t>
                      </a:r>
                      <a:r>
                        <a:rPr lang="ko-KR" sz="1550" b="0" u="none" strike="noStrike">
                          <a:solidFill>
                            <a:srgbClr val="173C37"/>
                          </a:solidFill>
                          <a:effectLst/>
                          <a:uFillTx/>
                          <a:latin typeface="AppleGothic"/>
                          <a:ea typeface="AppleGothic"/>
                        </a:rPr>
                        <a:t>별 </a:t>
                      </a:r>
                      <a:r>
                        <a:rPr lang="en-US" sz="1550" b="0" u="none" strike="noStrike">
                          <a:solidFill>
                            <a:srgbClr val="173C37"/>
                          </a:solidFill>
                          <a:effectLst/>
                          <a:uFillTx/>
                          <a:latin typeface="AppleGothic"/>
                          <a:ea typeface="AppleGothic"/>
                        </a:rPr>
                        <a:t>CPU budget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association</a:t>
                      </a:r>
                      <a:r>
                        <a:rPr lang="ko-KR" sz="1550" b="0" u="none" strike="noStrike">
                          <a:solidFill>
                            <a:srgbClr val="173C37"/>
                          </a:solidFill>
                          <a:effectLst/>
                          <a:uFillTx/>
                          <a:latin typeface="AppleGothic"/>
                          <a:ea typeface="AppleGothic"/>
                        </a:rPr>
                        <a:t>된 </a:t>
                      </a:r>
                      <a:r>
                        <a:rPr lang="en-US" sz="1550" b="0" u="none" strike="noStrike">
                          <a:solidFill>
                            <a:srgbClr val="173C37"/>
                          </a:solidFill>
                          <a:effectLst/>
                          <a:uFillTx/>
                          <a:latin typeface="AppleGothic"/>
                          <a:ea typeface="AppleGothic"/>
                        </a:rPr>
                        <a:t>user</a:t>
                      </a:r>
                      <a:r>
                        <a:rPr lang="ko-KR" sz="1550" b="0" u="none" strike="noStrike">
                          <a:solidFill>
                            <a:srgbClr val="173C37"/>
                          </a:solidFill>
                          <a:effectLst/>
                          <a:uFillTx/>
                          <a:latin typeface="AppleGothic"/>
                          <a:ea typeface="AppleGothic"/>
                        </a:rPr>
                        <a:t>만 </a:t>
                      </a:r>
                      <a:r>
                        <a:rPr lang="en-US" sz="1550" b="0" u="none" strike="noStrike">
                          <a:solidFill>
                            <a:srgbClr val="173C37"/>
                          </a:solidFill>
                          <a:effectLst/>
                          <a:uFillTx/>
                          <a:latin typeface="AppleGothic"/>
                          <a:ea typeface="AppleGothic"/>
                        </a:rPr>
                        <a:t>share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curvature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Hessian positive definite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convex problem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KKT </a:t>
                      </a:r>
                      <a:r>
                        <a:rPr lang="ko-KR" sz="1550" b="0" u="none" strike="noStrike">
                          <a:solidFill>
                            <a:srgbClr val="173C37"/>
                          </a:solidFill>
                          <a:effectLst/>
                          <a:uFillTx/>
                          <a:latin typeface="AppleGothic"/>
                          <a:ea typeface="AppleGothic"/>
                        </a:rPr>
                        <a:t>적용 가능</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solution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f_us* proportional to sqrt(eta_u)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closed form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fixed X</a:t>
                      </a:r>
                      <a:r>
                        <a:rPr lang="ko-KR" sz="1550" b="0" u="none" strike="noStrike">
                          <a:solidFill>
                            <a:srgbClr val="173C37"/>
                          </a:solidFill>
                          <a:effectLst/>
                          <a:uFillTx/>
                          <a:latin typeface="AppleGothic"/>
                          <a:ea typeface="AppleGothic"/>
                        </a:rPr>
                        <a:t>에서만 계산</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240"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41"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CRA</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closed form</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server</a:t>
            </a:r>
            <a:r>
              <a:rPr lang="ko-KR" sz="1750" b="1" u="none" strike="noStrike">
                <a:solidFill>
                  <a:srgbClr val="173C37"/>
                </a:solidFill>
                <a:effectLst/>
                <a:uFillTx/>
                <a:latin typeface="AppleGothic"/>
                <a:ea typeface="AppleGothic"/>
              </a:rPr>
              <a:t>가 </a:t>
            </a:r>
            <a:r>
              <a:rPr lang="en-US" sz="1750" b="1" u="none" strike="noStrike">
                <a:solidFill>
                  <a:srgbClr val="173C37"/>
                </a:solidFill>
                <a:effectLst/>
                <a:uFillTx/>
                <a:latin typeface="AppleGothic"/>
                <a:ea typeface="AppleGothic"/>
              </a:rPr>
              <a:t>user task</a:t>
            </a:r>
            <a:r>
              <a:rPr lang="ko-KR" sz="1750" b="1" u="none" strike="noStrike">
                <a:solidFill>
                  <a:srgbClr val="173C37"/>
                </a:solidFill>
                <a:effectLst/>
                <a:uFillTx/>
                <a:latin typeface="AppleGothic"/>
                <a:ea typeface="AppleGothic"/>
              </a:rPr>
              <a:t>를 임의로 동등 분할한다는 규칙과 다르다</a:t>
            </a:r>
            <a:endParaRPr lang="en-US" sz="1750" b="0" u="none" strike="noStrike">
              <a:solidFill>
                <a:srgbClr val="000000"/>
              </a:solidFill>
              <a:effectLst/>
              <a:uFillTx/>
              <a:latin typeface="Arial"/>
            </a:endParaRPr>
          </a:p>
        </p:txBody>
      </p:sp>
      <p:sp>
        <p:nvSpPr>
          <p:cNvPr id="242"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43"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15-16; Eqs. 25-28</a:t>
            </a:r>
            <a:endParaRPr lang="en-US" sz="1050" b="0" u="none" strike="noStrike">
              <a:solidFill>
                <a:srgbClr val="000000"/>
              </a:solidFill>
              <a:effectLst/>
              <a:uFillTx/>
              <a:latin typeface="Arial"/>
            </a:endParaRPr>
          </a:p>
        </p:txBody>
      </p:sp>
      <p:sp>
        <p:nvSpPr>
          <p:cNvPr id="244"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5"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outer TO</a:t>
            </a:r>
            <a:r>
              <a:rPr lang="ko-KR" sz="3100" b="1" u="none" strike="noStrike">
                <a:solidFill>
                  <a:srgbClr val="173C37"/>
                </a:solidFill>
                <a:effectLst/>
                <a:uFillTx/>
                <a:latin typeface="AppleGothic"/>
                <a:ea typeface="AppleGothic"/>
              </a:rPr>
              <a:t>는 두 </a:t>
            </a:r>
            <a:r>
              <a:rPr lang="en-US" sz="3100" b="1" u="none" strike="noStrike">
                <a:solidFill>
                  <a:srgbClr val="173C37"/>
                </a:solidFill>
                <a:effectLst/>
                <a:uFillTx/>
                <a:latin typeface="AppleGothic"/>
                <a:ea typeface="AppleGothic"/>
              </a:rPr>
              <a:t>matroid </a:t>
            </a:r>
            <a:r>
              <a:rPr lang="ko-KR" sz="3100" b="1" u="none" strike="noStrike">
                <a:solidFill>
                  <a:srgbClr val="173C37"/>
                </a:solidFill>
                <a:effectLst/>
                <a:uFillTx/>
                <a:latin typeface="AppleGothic"/>
                <a:ea typeface="AppleGothic"/>
              </a:rPr>
              <a:t>제약 아래 </a:t>
            </a:r>
            <a:r>
              <a:rPr lang="en-US" sz="3100" b="1" u="none" strike="noStrike">
                <a:solidFill>
                  <a:srgbClr val="173C37"/>
                </a:solidFill>
                <a:effectLst/>
                <a:uFillTx/>
                <a:latin typeface="AppleGothic"/>
                <a:ea typeface="AppleGothic"/>
              </a:rPr>
              <a:t>set value</a:t>
            </a:r>
            <a:r>
              <a:rPr lang="ko-KR" sz="3100" b="1" u="none" strike="noStrike">
                <a:solidFill>
                  <a:srgbClr val="173C37"/>
                </a:solidFill>
                <a:effectLst/>
                <a:uFillTx/>
                <a:latin typeface="AppleGothic"/>
                <a:ea typeface="AppleGothic"/>
              </a:rPr>
              <a:t>를 최대화한다</a:t>
            </a:r>
            <a:endParaRPr lang="en-US" sz="3100" b="0" u="none" strike="noStrike">
              <a:solidFill>
                <a:srgbClr val="000000"/>
              </a:solidFill>
              <a:effectLst/>
              <a:uFillTx/>
              <a:latin typeface="Arial"/>
            </a:endParaRPr>
          </a:p>
        </p:txBody>
      </p:sp>
      <p:sp>
        <p:nvSpPr>
          <p:cNvPr id="246"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candidate ground set</a:t>
            </a:r>
            <a:r>
              <a:rPr lang="ko-KR" sz="1900" b="0" u="none" strike="noStrike">
                <a:solidFill>
                  <a:srgbClr val="0D685C"/>
                </a:solidFill>
                <a:effectLst/>
                <a:uFillTx/>
                <a:latin typeface="AppleGothic"/>
                <a:ea typeface="AppleGothic"/>
              </a:rPr>
              <a:t>은 모든 </a:t>
            </a:r>
            <a:r>
              <a:rPr lang="en-US" sz="1900" b="0" u="none" strike="noStrike">
                <a:solidFill>
                  <a:srgbClr val="0D685C"/>
                </a:solidFill>
                <a:effectLst/>
                <a:uFillTx/>
                <a:latin typeface="AppleGothic"/>
                <a:ea typeface="AppleGothic"/>
              </a:rPr>
              <a:t>user·server·sub-band entry</a:t>
            </a:r>
            <a:r>
              <a:rPr lang="ko-KR" sz="1900" b="0" u="none" strike="noStrike">
                <a:solidFill>
                  <a:srgbClr val="0D685C"/>
                </a:solidFill>
                <a:effectLst/>
                <a:uFillTx/>
                <a:latin typeface="AppleGothic"/>
                <a:ea typeface="AppleGothic"/>
              </a:rPr>
              <a:t>의 집합이다</a:t>
            </a:r>
            <a:endParaRPr lang="en-US" sz="1900" b="0" u="none" strike="noStrike">
              <a:solidFill>
                <a:srgbClr val="000000"/>
              </a:solidFill>
              <a:effectLst/>
              <a:uFillTx/>
              <a:latin typeface="Arial"/>
            </a:endParaRPr>
          </a:p>
        </p:txBody>
      </p:sp>
      <p:sp>
        <p:nvSpPr>
          <p:cNvPr id="247" name="Text 2"/>
          <p:cNvSpPr/>
          <p:nvPr/>
        </p:nvSpPr>
        <p:spPr>
          <a:xfrm>
            <a:off x="838080" y="21718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constraint </a:t>
            </a:r>
            <a:r>
              <a:rPr lang="ko-KR" sz="2000" b="0" u="none" strike="noStrike">
                <a:solidFill>
                  <a:srgbClr val="173C37"/>
                </a:solidFill>
                <a:effectLst/>
                <a:uFillTx/>
                <a:latin typeface="AppleGothic"/>
                <a:ea typeface="AppleGothic"/>
              </a:rPr>
              <a:t>하나는 한 </a:t>
            </a:r>
            <a:r>
              <a:rPr lang="en-US" sz="2000" b="0" u="none" strike="noStrike">
                <a:solidFill>
                  <a:srgbClr val="173C37"/>
                </a:solidFill>
                <a:effectLst/>
                <a:uFillTx/>
                <a:latin typeface="AppleGothic"/>
                <a:ea typeface="AppleGothic"/>
              </a:rPr>
              <a:t>user</a:t>
            </a:r>
            <a:r>
              <a:rPr lang="ko-KR" sz="2000" b="0" u="none" strike="noStrike">
                <a:solidFill>
                  <a:srgbClr val="173C37"/>
                </a:solidFill>
                <a:effectLst/>
                <a:uFillTx/>
                <a:latin typeface="AppleGothic"/>
                <a:ea typeface="AppleGothic"/>
              </a:rPr>
              <a:t>가 최대 한 </a:t>
            </a:r>
            <a:r>
              <a:rPr lang="en-US" sz="2000" b="0" u="none" strike="noStrike">
                <a:solidFill>
                  <a:srgbClr val="173C37"/>
                </a:solidFill>
                <a:effectLst/>
                <a:uFillTx/>
                <a:latin typeface="AppleGothic"/>
                <a:ea typeface="AppleGothic"/>
              </a:rPr>
              <a:t>entry</a:t>
            </a:r>
            <a:r>
              <a:rPr lang="ko-KR" sz="2000" b="0" u="none" strike="noStrike">
                <a:solidFill>
                  <a:srgbClr val="173C37"/>
                </a:solidFill>
                <a:effectLst/>
                <a:uFillTx/>
                <a:latin typeface="AppleGothic"/>
                <a:ea typeface="AppleGothic"/>
              </a:rPr>
              <a:t>만 선택하게 한다</a:t>
            </a:r>
            <a:endParaRPr lang="en-US" sz="2000" b="0" u="none" strike="noStrike">
              <a:solidFill>
                <a:srgbClr val="000000"/>
              </a:solidFill>
              <a:effectLst/>
              <a:uFillTx/>
              <a:latin typeface="Arial"/>
            </a:endParaRPr>
          </a:p>
        </p:txBody>
      </p:sp>
      <p:sp>
        <p:nvSpPr>
          <p:cNvPr id="248" name="Shape 3"/>
          <p:cNvSpPr/>
          <p:nvPr/>
        </p:nvSpPr>
        <p:spPr>
          <a:xfrm>
            <a:off x="838080" y="290808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49" name="Text 4"/>
          <p:cNvSpPr/>
          <p:nvPr/>
        </p:nvSpPr>
        <p:spPr>
          <a:xfrm>
            <a:off x="838080" y="294624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다른 </a:t>
            </a:r>
            <a:r>
              <a:rPr lang="en-US" sz="2000" b="0" u="none" strike="noStrike">
                <a:solidFill>
                  <a:srgbClr val="173C37"/>
                </a:solidFill>
                <a:effectLst/>
                <a:uFillTx/>
                <a:latin typeface="AppleGothic"/>
                <a:ea typeface="AppleGothic"/>
              </a:rPr>
              <a:t>constraint</a:t>
            </a:r>
            <a:r>
              <a:rPr lang="ko-KR" sz="2000" b="0" u="none" strike="noStrike">
                <a:solidFill>
                  <a:srgbClr val="173C37"/>
                </a:solidFill>
                <a:effectLst/>
                <a:uFillTx/>
                <a:latin typeface="AppleGothic"/>
                <a:ea typeface="AppleGothic"/>
              </a:rPr>
              <a:t>는 한 </a:t>
            </a:r>
            <a:r>
              <a:rPr lang="en-US" sz="2000" b="0" u="none" strike="noStrike">
                <a:solidFill>
                  <a:srgbClr val="173C37"/>
                </a:solidFill>
                <a:effectLst/>
                <a:uFillTx/>
                <a:latin typeface="AppleGothic"/>
                <a:ea typeface="AppleGothic"/>
              </a:rPr>
              <a:t>server-sub-band</a:t>
            </a:r>
            <a:r>
              <a:rPr lang="ko-KR" sz="2000" b="0" u="none" strike="noStrike">
                <a:solidFill>
                  <a:srgbClr val="173C37"/>
                </a:solidFill>
                <a:effectLst/>
                <a:uFillTx/>
                <a:latin typeface="AppleGothic"/>
                <a:ea typeface="AppleGothic"/>
              </a:rPr>
              <a:t>에 최대 한 </a:t>
            </a:r>
            <a:r>
              <a:rPr lang="en-US" sz="2000" b="0" u="none" strike="noStrike">
                <a:solidFill>
                  <a:srgbClr val="173C37"/>
                </a:solidFill>
                <a:effectLst/>
                <a:uFillTx/>
                <a:latin typeface="AppleGothic"/>
                <a:ea typeface="AppleGothic"/>
              </a:rPr>
              <a:t>user</a:t>
            </a:r>
            <a:r>
              <a:rPr lang="ko-KR" sz="2000" b="0" u="none" strike="noStrike">
                <a:solidFill>
                  <a:srgbClr val="173C37"/>
                </a:solidFill>
                <a:effectLst/>
                <a:uFillTx/>
                <a:latin typeface="AppleGothic"/>
                <a:ea typeface="AppleGothic"/>
              </a:rPr>
              <a:t>만 두게 한다</a:t>
            </a:r>
            <a:endParaRPr lang="en-US" sz="2000" b="0" u="none" strike="noStrike">
              <a:solidFill>
                <a:srgbClr val="000000"/>
              </a:solidFill>
              <a:effectLst/>
              <a:uFillTx/>
              <a:latin typeface="Arial"/>
            </a:endParaRPr>
          </a:p>
        </p:txBody>
      </p:sp>
      <p:sp>
        <p:nvSpPr>
          <p:cNvPr id="250" name="Shape 5"/>
          <p:cNvSpPr/>
          <p:nvPr/>
        </p:nvSpPr>
        <p:spPr>
          <a:xfrm>
            <a:off x="838080" y="368280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1" name="Text 6"/>
          <p:cNvSpPr/>
          <p:nvPr/>
        </p:nvSpPr>
        <p:spPr>
          <a:xfrm>
            <a:off x="838080" y="372096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각 </a:t>
            </a:r>
            <a:r>
              <a:rPr lang="en-US" sz="2000" b="0" u="none" strike="noStrike">
                <a:solidFill>
                  <a:srgbClr val="173C37"/>
                </a:solidFill>
                <a:effectLst/>
                <a:uFillTx/>
                <a:latin typeface="AppleGothic"/>
                <a:ea typeface="AppleGothic"/>
              </a:rPr>
              <a:t>feasible X</a:t>
            </a:r>
            <a:r>
              <a:rPr lang="ko-KR" sz="2000" b="0" u="none" strike="noStrike">
                <a:solidFill>
                  <a:srgbClr val="173C37"/>
                </a:solidFill>
                <a:effectLst/>
                <a:uFillTx/>
                <a:latin typeface="AppleGothic"/>
                <a:ea typeface="AppleGothic"/>
              </a:rPr>
              <a:t>의 </a:t>
            </a:r>
            <a:r>
              <a:rPr lang="en-US" sz="2000" b="0" u="none" strike="noStrike">
                <a:solidFill>
                  <a:srgbClr val="173C37"/>
                </a:solidFill>
                <a:effectLst/>
                <a:uFillTx/>
                <a:latin typeface="AppleGothic"/>
                <a:ea typeface="AppleGothic"/>
              </a:rPr>
              <a:t>value J*(X)</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UPA</a:t>
            </a:r>
            <a:r>
              <a:rPr lang="ko-KR" sz="2000" b="0" u="none" strike="noStrike">
                <a:solidFill>
                  <a:srgbClr val="173C37"/>
                </a:solidFill>
                <a:effectLst/>
                <a:uFillTx/>
                <a:latin typeface="AppleGothic"/>
                <a:ea typeface="AppleGothic"/>
              </a:rPr>
              <a:t>와 </a:t>
            </a:r>
            <a:r>
              <a:rPr lang="en-US" sz="2000" b="0" u="none" strike="noStrike">
                <a:solidFill>
                  <a:srgbClr val="173C37"/>
                </a:solidFill>
                <a:effectLst/>
                <a:uFillTx/>
                <a:latin typeface="AppleGothic"/>
                <a:ea typeface="AppleGothic"/>
              </a:rPr>
              <a:t>CRA</a:t>
            </a:r>
            <a:r>
              <a:rPr lang="ko-KR" sz="2000" b="0" u="none" strike="noStrike">
                <a:solidFill>
                  <a:srgbClr val="173C37"/>
                </a:solidFill>
                <a:effectLst/>
                <a:uFillTx/>
                <a:latin typeface="AppleGothic"/>
                <a:ea typeface="AppleGothic"/>
              </a:rPr>
              <a:t>를 푼 뒤에야 계산된다</a:t>
            </a:r>
            <a:endParaRPr lang="en-US" sz="2000" b="0" u="none" strike="noStrike">
              <a:solidFill>
                <a:srgbClr val="000000"/>
              </a:solidFill>
              <a:effectLst/>
              <a:uFillTx/>
              <a:latin typeface="Arial"/>
            </a:endParaRPr>
          </a:p>
        </p:txBody>
      </p:sp>
      <p:sp>
        <p:nvSpPr>
          <p:cNvPr id="252" name="Shape 7"/>
          <p:cNvSpPr/>
          <p:nvPr/>
        </p:nvSpPr>
        <p:spPr>
          <a:xfrm>
            <a:off x="838080" y="445752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3" name="Text 8"/>
          <p:cNvSpPr/>
          <p:nvPr/>
        </p:nvSpPr>
        <p:spPr>
          <a:xfrm>
            <a:off x="838080" y="44956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전수 탐색은 </a:t>
            </a:r>
            <a:r>
              <a:rPr lang="en-US" sz="2000" b="0" u="none" strike="noStrike">
                <a:solidFill>
                  <a:srgbClr val="173C37"/>
                </a:solidFill>
                <a:effectLst/>
                <a:uFillTx/>
                <a:latin typeface="AppleGothic"/>
                <a:ea typeface="AppleGothic"/>
              </a:rPr>
              <a:t>n=S×U×N</a:t>
            </a:r>
            <a:r>
              <a:rPr lang="ko-KR" sz="2000" b="0" u="none" strike="noStrike">
                <a:solidFill>
                  <a:srgbClr val="173C37"/>
                </a:solidFill>
                <a:effectLst/>
                <a:uFillTx/>
                <a:latin typeface="AppleGothic"/>
                <a:ea typeface="AppleGothic"/>
              </a:rPr>
              <a:t>일 때 </a:t>
            </a:r>
            <a:r>
              <a:rPr lang="en-US" sz="2000" b="0" u="none" strike="noStrike">
                <a:solidFill>
                  <a:srgbClr val="173C37"/>
                </a:solidFill>
                <a:effectLst/>
                <a:uFillTx/>
                <a:latin typeface="AppleGothic"/>
                <a:ea typeface="AppleGothic"/>
              </a:rPr>
              <a:t>2^n</a:t>
            </a:r>
            <a:r>
              <a:rPr lang="ko-KR" sz="2000" b="0" u="none" strike="noStrike">
                <a:solidFill>
                  <a:srgbClr val="173C37"/>
                </a:solidFill>
                <a:effectLst/>
                <a:uFillTx/>
                <a:latin typeface="AppleGothic"/>
                <a:ea typeface="AppleGothic"/>
              </a:rPr>
              <a:t>개의 </a:t>
            </a:r>
            <a:r>
              <a:rPr lang="en-US" sz="2000" b="0" u="none" strike="noStrike">
                <a:solidFill>
                  <a:srgbClr val="173C37"/>
                </a:solidFill>
                <a:effectLst/>
                <a:uFillTx/>
                <a:latin typeface="AppleGothic"/>
                <a:ea typeface="AppleGothic"/>
              </a:rPr>
              <a:t>scheduling decision</a:t>
            </a:r>
            <a:r>
              <a:rPr lang="ko-KR" sz="2000" b="0" u="none" strike="noStrike">
                <a:solidFill>
                  <a:srgbClr val="173C37"/>
                </a:solidFill>
                <a:effectLst/>
                <a:uFillTx/>
                <a:latin typeface="AppleGothic"/>
                <a:ea typeface="AppleGothic"/>
              </a:rPr>
              <a:t>을 평가한다</a:t>
            </a:r>
            <a:endParaRPr lang="en-US" sz="2000" b="0" u="none" strike="noStrike">
              <a:solidFill>
                <a:srgbClr val="000000"/>
              </a:solidFill>
              <a:effectLst/>
              <a:uFillTx/>
              <a:latin typeface="Arial"/>
            </a:endParaRPr>
          </a:p>
        </p:txBody>
      </p:sp>
      <p:sp>
        <p:nvSpPr>
          <p:cNvPr id="254" name="Shape 9"/>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5" name="Text 10"/>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outer search</a:t>
            </a:r>
            <a:r>
              <a:rPr lang="ko-KR" sz="1750" b="1" u="none" strike="noStrike">
                <a:solidFill>
                  <a:srgbClr val="173C37"/>
                </a:solidFill>
                <a:effectLst/>
                <a:uFillTx/>
                <a:latin typeface="AppleGothic"/>
                <a:ea typeface="AppleGothic"/>
              </a:rPr>
              <a:t>의 어려움은 연속 변수보다 </a:t>
            </a:r>
            <a:r>
              <a:rPr lang="en-US" sz="1750" b="1" u="none" strike="noStrike">
                <a:solidFill>
                  <a:srgbClr val="173C37"/>
                </a:solidFill>
                <a:effectLst/>
                <a:uFillTx/>
                <a:latin typeface="AppleGothic"/>
                <a:ea typeface="AppleGothic"/>
              </a:rPr>
              <a:t>feasible set </a:t>
            </a:r>
            <a:r>
              <a:rPr lang="ko-KR" sz="1750" b="1" u="none" strike="noStrike">
                <a:solidFill>
                  <a:srgbClr val="173C37"/>
                </a:solidFill>
                <a:effectLst/>
                <a:uFillTx/>
                <a:latin typeface="AppleGothic"/>
                <a:ea typeface="AppleGothic"/>
              </a:rPr>
              <a:t>조합의 수에 있다</a:t>
            </a:r>
            <a:endParaRPr lang="en-US" sz="1750" b="0" u="none" strike="noStrike">
              <a:solidFill>
                <a:srgbClr val="000000"/>
              </a:solidFill>
              <a:effectLst/>
              <a:uFillTx/>
              <a:latin typeface="Arial"/>
            </a:endParaRPr>
          </a:p>
        </p:txBody>
      </p:sp>
      <p:sp>
        <p:nvSpPr>
          <p:cNvPr id="256" name="Shape 11"/>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7" name="Text 12"/>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16-17; Eq. 30</a:t>
            </a:r>
            <a:endParaRPr lang="en-US" sz="1050" b="0" u="none" strike="noStrike">
              <a:solidFill>
                <a:srgbClr val="000000"/>
              </a:solidFill>
              <a:effectLst/>
              <a:uFillTx/>
              <a:latin typeface="Arial"/>
            </a:endParaRPr>
          </a:p>
        </p:txBody>
      </p:sp>
      <p:sp>
        <p:nvSpPr>
          <p:cNvPr id="258" name="Text 13"/>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13</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Routine 1: </a:t>
            </a:r>
            <a:r>
              <a:rPr lang="ko-KR" sz="3100" b="1" u="none" strike="noStrike">
                <a:solidFill>
                  <a:srgbClr val="173C37"/>
                </a:solidFill>
                <a:effectLst/>
                <a:uFillTx/>
                <a:latin typeface="AppleGothic"/>
                <a:ea typeface="AppleGothic"/>
              </a:rPr>
              <a:t>새 </a:t>
            </a:r>
            <a:r>
              <a:rPr lang="en-US" sz="3100" b="1" u="none" strike="noStrike">
                <a:solidFill>
                  <a:srgbClr val="173C37"/>
                </a:solidFill>
                <a:effectLst/>
                <a:uFillTx/>
                <a:latin typeface="AppleGothic"/>
                <a:ea typeface="AppleGothic"/>
              </a:rPr>
              <a:t>entry</a:t>
            </a:r>
            <a:r>
              <a:rPr lang="ko-KR" sz="3100" b="1" u="none" strike="noStrike">
                <a:solidFill>
                  <a:srgbClr val="173C37"/>
                </a:solidFill>
                <a:effectLst/>
                <a:uFillTx/>
                <a:latin typeface="AppleGothic"/>
                <a:ea typeface="AppleGothic"/>
              </a:rPr>
              <a:t>의 충돌을 지운다</a:t>
            </a:r>
            <a:endParaRPr lang="en-US" sz="3100" b="0" u="none" strike="noStrike">
              <a:solidFill>
                <a:srgbClr val="000000"/>
              </a:solidFill>
              <a:effectLst/>
              <a:uFillTx/>
              <a:latin typeface="Arial"/>
            </a:endParaRPr>
          </a:p>
        </p:txBody>
      </p:sp>
      <p:sp>
        <p:nvSpPr>
          <p:cNvPr id="26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candidate x^j_us</a:t>
            </a:r>
            <a:r>
              <a:rPr lang="ko-KR" sz="1900" b="0" u="none" strike="noStrike">
                <a:solidFill>
                  <a:srgbClr val="0D685C"/>
                </a:solidFill>
                <a:effectLst/>
                <a:uFillTx/>
                <a:latin typeface="AppleGothic"/>
                <a:ea typeface="AppleGothic"/>
              </a:rPr>
              <a:t>를 넣을 때 같은 </a:t>
            </a:r>
            <a:r>
              <a:rPr lang="en-US" sz="1900" b="0" u="none" strike="noStrike">
                <a:solidFill>
                  <a:srgbClr val="0D685C"/>
                </a:solidFill>
                <a:effectLst/>
                <a:uFillTx/>
                <a:latin typeface="AppleGothic"/>
                <a:ea typeface="AppleGothic"/>
              </a:rPr>
              <a:t>user </a:t>
            </a:r>
            <a:r>
              <a:rPr lang="ko-KR" sz="1900" b="0" u="none" strike="noStrike">
                <a:solidFill>
                  <a:srgbClr val="0D685C"/>
                </a:solidFill>
                <a:effectLst/>
                <a:uFillTx/>
                <a:latin typeface="AppleGothic"/>
                <a:ea typeface="AppleGothic"/>
              </a:rPr>
              <a:t>또는 같은 </a:t>
            </a:r>
            <a:r>
              <a:rPr lang="en-US" sz="1900" b="0" u="none" strike="noStrike">
                <a:solidFill>
                  <a:srgbClr val="0D685C"/>
                </a:solidFill>
                <a:effectLst/>
                <a:uFillTx/>
                <a:latin typeface="AppleGothic"/>
                <a:ea typeface="AppleGothic"/>
              </a:rPr>
              <a:t>server-sub-band</a:t>
            </a:r>
            <a:r>
              <a:rPr lang="ko-KR" sz="1900" b="0" u="none" strike="noStrike">
                <a:solidFill>
                  <a:srgbClr val="0D685C"/>
                </a:solidFill>
                <a:effectLst/>
                <a:uFillTx/>
                <a:latin typeface="AppleGothic"/>
                <a:ea typeface="AppleGothic"/>
              </a:rPr>
              <a:t>의 선택을 제거한다</a:t>
            </a:r>
            <a:endParaRPr lang="en-US" sz="1900" b="0" u="none" strike="noStrike">
              <a:solidFill>
                <a:srgbClr val="000000"/>
              </a:solidFill>
              <a:effectLst/>
              <a:uFillTx/>
              <a:latin typeface="Arial"/>
            </a:endParaRPr>
          </a:p>
        </p:txBody>
      </p:sp>
      <p:sp>
        <p:nvSpPr>
          <p:cNvPr id="261" name="mechanism-lane-set"/>
          <p:cNvSpPr/>
          <p:nvPr/>
        </p:nvSpPr>
        <p:spPr>
          <a:xfrm>
            <a:off x="660240" y="2209680"/>
            <a:ext cx="863280" cy="189180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current set</a:t>
            </a:r>
            <a:endParaRPr lang="en-US" sz="1250" b="0" u="none" strike="noStrike">
              <a:solidFill>
                <a:srgbClr val="000000"/>
              </a:solidFill>
              <a:effectLst/>
              <a:uFillTx/>
              <a:latin typeface="Arial"/>
            </a:endParaRPr>
          </a:p>
        </p:txBody>
      </p:sp>
      <p:sp>
        <p:nvSpPr>
          <p:cNvPr id="262" name="mechanism-lane-proposal"/>
          <p:cNvSpPr/>
          <p:nvPr/>
        </p:nvSpPr>
        <p:spPr>
          <a:xfrm>
            <a:off x="660240" y="4102200"/>
            <a:ext cx="863280" cy="189180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candidate update</a:t>
            </a:r>
            <a:endParaRPr lang="en-US" sz="1250" b="0" u="none" strike="noStrike">
              <a:solidFill>
                <a:srgbClr val="000000"/>
              </a:solidFill>
              <a:effectLst/>
              <a:uFillTx/>
              <a:latin typeface="Arial"/>
            </a:endParaRPr>
          </a:p>
        </p:txBody>
      </p:sp>
      <p:sp>
        <p:nvSpPr>
          <p:cNvPr id="263" name="mechanism-edge-r1-segment-1"/>
          <p:cNvSpPr/>
          <p:nvPr/>
        </p:nvSpPr>
        <p:spPr>
          <a:xfrm>
            <a:off x="3809880" y="3155760"/>
            <a:ext cx="160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4" name="mechanism-edge-r1-segment-2"/>
          <p:cNvSpPr/>
          <p:nvPr/>
        </p:nvSpPr>
        <p:spPr>
          <a:xfrm>
            <a:off x="3970800" y="3155760"/>
            <a:ext cx="360" cy="168912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65" name="mechanism-edge-r1-segment-3"/>
          <p:cNvSpPr/>
          <p:nvPr/>
        </p:nvSpPr>
        <p:spPr>
          <a:xfrm>
            <a:off x="3970800" y="4844880"/>
            <a:ext cx="287424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6" name="mechanism-edge-r2-segment-1"/>
          <p:cNvSpPr/>
          <p:nvPr/>
        </p:nvSpPr>
        <p:spPr>
          <a:xfrm>
            <a:off x="3809880" y="5047920"/>
            <a:ext cx="32184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7" name="mechanism-edge-r2-segment-2"/>
          <p:cNvSpPr/>
          <p:nvPr/>
        </p:nvSpPr>
        <p:spPr>
          <a:xfrm>
            <a:off x="4131720" y="5047920"/>
            <a:ext cx="360" cy="20340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68" name="mechanism-edge-r2-segment-3"/>
          <p:cNvSpPr/>
          <p:nvPr/>
        </p:nvSpPr>
        <p:spPr>
          <a:xfrm>
            <a:off x="4131720" y="5251320"/>
            <a:ext cx="271332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9" name="mechanism-edge-r3-segment-1"/>
          <p:cNvSpPr/>
          <p:nvPr/>
        </p:nvSpPr>
        <p:spPr>
          <a:xfrm>
            <a:off x="8915400" y="50479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0" name="mechanism-node-current"/>
          <p:cNvSpPr/>
          <p:nvPr/>
        </p:nvSpPr>
        <p:spPr>
          <a:xfrm>
            <a:off x="1739880" y="293364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current X</a:t>
            </a:r>
            <a:endParaRPr lang="en-US" sz="1150" b="0" u="none" strike="noStrike">
              <a:solidFill>
                <a:srgbClr val="000000"/>
              </a:solidFill>
              <a:effectLst/>
              <a:uFillTx/>
              <a:latin typeface="Arial"/>
            </a:endParaRPr>
          </a:p>
        </p:txBody>
      </p:sp>
      <p:sp>
        <p:nvSpPr>
          <p:cNvPr id="271" name="mechanism-node-current-queue-1"/>
          <p:cNvSpPr/>
          <p:nvPr/>
        </p:nvSpPr>
        <p:spPr>
          <a:xfrm>
            <a:off x="1739880" y="318780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selected entries</a:t>
            </a:r>
            <a:endParaRPr lang="en-US" sz="950" b="0" u="none" strike="noStrike">
              <a:solidFill>
                <a:srgbClr val="000000"/>
              </a:solidFill>
              <a:effectLst/>
              <a:uFillTx/>
              <a:latin typeface="Arial"/>
            </a:endParaRPr>
          </a:p>
        </p:txBody>
      </p:sp>
      <p:sp>
        <p:nvSpPr>
          <p:cNvPr id="272" name="mechanism-node-candidate"/>
          <p:cNvSpPr/>
          <p:nvPr/>
        </p:nvSpPr>
        <p:spPr>
          <a:xfrm>
            <a:off x="1739880" y="471816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candidate</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x^j_us outside X</a:t>
            </a:r>
            <a:endParaRPr lang="en-US" sz="1150" b="0" u="none" strike="noStrike">
              <a:solidFill>
                <a:srgbClr val="000000"/>
              </a:solidFill>
              <a:effectLst/>
              <a:uFillTx/>
              <a:latin typeface="Arial"/>
            </a:endParaRPr>
          </a:p>
        </p:txBody>
      </p:sp>
      <p:sp>
        <p:nvSpPr>
          <p:cNvPr id="273" name="mechanism-node-drop"/>
          <p:cNvSpPr/>
          <p:nvPr/>
        </p:nvSpPr>
        <p:spPr>
          <a:xfrm>
            <a:off x="6845400" y="471816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remove conflicts</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same user and</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same server-sub-band</a:t>
            </a:r>
            <a:endParaRPr lang="en-US" sz="1150" b="0" u="none" strike="noStrike">
              <a:solidFill>
                <a:srgbClr val="000000"/>
              </a:solidFill>
              <a:effectLst/>
              <a:uFillTx/>
              <a:latin typeface="Arial"/>
            </a:endParaRPr>
          </a:p>
        </p:txBody>
      </p:sp>
      <p:sp>
        <p:nvSpPr>
          <p:cNvPr id="274" name="mechanism-node-next"/>
          <p:cNvSpPr/>
          <p:nvPr/>
        </p:nvSpPr>
        <p:spPr>
          <a:xfrm>
            <a:off x="9398160" y="471816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exchange result</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add candidate</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keep feasibility</a:t>
            </a:r>
            <a:endParaRPr lang="en-US" sz="1150" b="0" u="none" strike="noStrike">
              <a:solidFill>
                <a:srgbClr val="000000"/>
              </a:solidFill>
              <a:effectLst/>
              <a:uFillTx/>
              <a:latin typeface="Arial"/>
            </a:endParaRPr>
          </a:p>
        </p:txBody>
      </p:sp>
      <p:sp>
        <p:nvSpPr>
          <p:cNvPr id="275" name="Shape 16"/>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6" name="Text 17"/>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 17; Routine 1</a:t>
            </a:r>
            <a:endParaRPr lang="en-US" sz="1050" b="0" u="none" strike="noStrike">
              <a:solidFill>
                <a:srgbClr val="000000"/>
              </a:solidFill>
              <a:effectLst/>
              <a:uFillTx/>
              <a:latin typeface="Arial"/>
            </a:endParaRPr>
          </a:p>
        </p:txBody>
      </p:sp>
      <p:sp>
        <p:nvSpPr>
          <p:cNvPr id="277" name="Text 18"/>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8"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Algorithm 2: </a:t>
            </a:r>
            <a:r>
              <a:rPr lang="ko-KR" sz="3100" b="1" u="none" strike="noStrike">
                <a:solidFill>
                  <a:srgbClr val="173C37"/>
                </a:solidFill>
                <a:effectLst/>
                <a:uFillTx/>
                <a:latin typeface="AppleGothic"/>
                <a:ea typeface="AppleGothic"/>
              </a:rPr>
              <a:t>개선될 때만 </a:t>
            </a:r>
            <a:r>
              <a:rPr lang="en-US" sz="3100" b="1" u="none" strike="noStrike">
                <a:solidFill>
                  <a:srgbClr val="173C37"/>
                </a:solidFill>
                <a:effectLst/>
                <a:uFillTx/>
                <a:latin typeface="AppleGothic"/>
                <a:ea typeface="AppleGothic"/>
              </a:rPr>
              <a:t>remove·exchange</a:t>
            </a:r>
            <a:endParaRPr lang="en-US" sz="3100" b="0" u="none" strike="noStrike">
              <a:solidFill>
                <a:srgbClr val="000000"/>
              </a:solidFill>
              <a:effectLst/>
              <a:uFillTx/>
              <a:latin typeface="Arial"/>
            </a:endParaRPr>
          </a:p>
        </p:txBody>
      </p:sp>
      <p:sp>
        <p:nvSpPr>
          <p:cNvPr id="279"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처음부터 전수 탐색하지 않고 </a:t>
            </a:r>
            <a:r>
              <a:rPr lang="en-US" sz="1900" b="0" u="none" strike="noStrike">
                <a:solidFill>
                  <a:srgbClr val="0D685C"/>
                </a:solidFill>
                <a:effectLst/>
                <a:uFillTx/>
                <a:latin typeface="AppleGothic"/>
                <a:ea typeface="AppleGothic"/>
              </a:rPr>
              <a:t>best singleton</a:t>
            </a:r>
            <a:r>
              <a:rPr lang="ko-KR" sz="1900" b="0" u="none" strike="noStrike">
                <a:solidFill>
                  <a:srgbClr val="0D685C"/>
                </a:solidFill>
                <a:effectLst/>
                <a:uFillTx/>
                <a:latin typeface="AppleGothic"/>
                <a:ea typeface="AppleGothic"/>
              </a:rPr>
              <a:t>에서 </a:t>
            </a:r>
            <a:r>
              <a:rPr lang="en-US" sz="1900" b="0" u="none" strike="noStrike">
                <a:solidFill>
                  <a:srgbClr val="0D685C"/>
                </a:solidFill>
                <a:effectLst/>
                <a:uFillTx/>
                <a:latin typeface="AppleGothic"/>
                <a:ea typeface="AppleGothic"/>
              </a:rPr>
              <a:t>local search</a:t>
            </a:r>
            <a:r>
              <a:rPr lang="ko-KR" sz="1900" b="0" u="none" strike="noStrike">
                <a:solidFill>
                  <a:srgbClr val="0D685C"/>
                </a:solidFill>
                <a:effectLst/>
                <a:uFillTx/>
                <a:latin typeface="AppleGothic"/>
                <a:ea typeface="AppleGothic"/>
              </a:rPr>
              <a:t>를 시작한다</a:t>
            </a:r>
            <a:endParaRPr lang="en-US" sz="1900" b="0" u="none" strike="noStrike">
              <a:solidFill>
                <a:srgbClr val="000000"/>
              </a:solidFill>
              <a:effectLst/>
              <a:uFillTx/>
              <a:latin typeface="Arial"/>
            </a:endParaRPr>
          </a:p>
        </p:txBody>
      </p:sp>
      <p:sp>
        <p:nvSpPr>
          <p:cNvPr id="280"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281"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best singleton</a:t>
            </a:r>
            <a:endParaRPr lang="en-US" sz="1900" b="0" u="none" strike="noStrike">
              <a:solidFill>
                <a:srgbClr val="000000"/>
              </a:solidFill>
              <a:effectLst/>
              <a:uFillTx/>
              <a:latin typeface="Arial"/>
            </a:endParaRPr>
          </a:p>
        </p:txBody>
      </p:sp>
      <p:sp>
        <p:nvSpPr>
          <p:cNvPr id="282"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J*({x})</a:t>
            </a:r>
            <a:r>
              <a:rPr lang="ko-KR" sz="1650" b="0" u="none" strike="noStrike">
                <a:solidFill>
                  <a:srgbClr val="173C37"/>
                </a:solidFill>
                <a:effectLst/>
                <a:uFillTx/>
                <a:latin typeface="AppleGothic"/>
                <a:ea typeface="AppleGothic"/>
              </a:rPr>
              <a:t>가 최대인 </a:t>
            </a:r>
            <a:r>
              <a:rPr lang="en-US" sz="1650" b="0" u="none" strike="noStrike">
                <a:solidFill>
                  <a:srgbClr val="173C37"/>
                </a:solidFill>
                <a:effectLst/>
                <a:uFillTx/>
                <a:latin typeface="AppleGothic"/>
                <a:ea typeface="AppleGothic"/>
              </a:rPr>
              <a:t>x</a:t>
            </a:r>
            <a:r>
              <a:rPr lang="ko-KR" sz="1650" b="0" u="none" strike="noStrike">
                <a:solidFill>
                  <a:srgbClr val="173C37"/>
                </a:solidFill>
                <a:effectLst/>
                <a:uFillTx/>
                <a:latin typeface="AppleGothic"/>
                <a:ea typeface="AppleGothic"/>
              </a:rPr>
              <a:t>로 </a:t>
            </a:r>
            <a:r>
              <a:rPr lang="en-US" sz="1650" b="0" u="none" strike="noStrike">
                <a:solidFill>
                  <a:srgbClr val="173C37"/>
                </a:solidFill>
                <a:effectLst/>
                <a:uFillTx/>
                <a:latin typeface="AppleGothic"/>
                <a:ea typeface="AppleGothic"/>
              </a:rPr>
              <a:t>X </a:t>
            </a:r>
            <a:r>
              <a:rPr lang="ko-KR" sz="1650" b="0" u="none" strike="noStrike">
                <a:solidFill>
                  <a:srgbClr val="173C37"/>
                </a:solidFill>
                <a:effectLst/>
                <a:uFillTx/>
                <a:latin typeface="AppleGothic"/>
                <a:ea typeface="AppleGothic"/>
              </a:rPr>
              <a:t>시작</a:t>
            </a:r>
            <a:endParaRPr lang="en-US" sz="1650" b="0" u="none" strike="noStrike">
              <a:solidFill>
                <a:srgbClr val="000000"/>
              </a:solidFill>
              <a:effectLst/>
              <a:uFillTx/>
              <a:latin typeface="Arial"/>
            </a:endParaRPr>
          </a:p>
        </p:txBody>
      </p:sp>
      <p:sp>
        <p:nvSpPr>
          <p:cNvPr id="283"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84"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85"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286"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remove test</a:t>
            </a:r>
            <a:endParaRPr lang="en-US" sz="1900" b="0" u="none" strike="noStrike">
              <a:solidFill>
                <a:srgbClr val="000000"/>
              </a:solidFill>
              <a:effectLst/>
              <a:uFillTx/>
              <a:latin typeface="Arial"/>
            </a:endParaRPr>
          </a:p>
        </p:txBody>
      </p:sp>
      <p:sp>
        <p:nvSpPr>
          <p:cNvPr id="287"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existing entry </a:t>
            </a:r>
            <a:r>
              <a:rPr lang="ko-KR" sz="1650" b="0" u="none" strike="noStrike">
                <a:solidFill>
                  <a:srgbClr val="173C37"/>
                </a:solidFill>
                <a:effectLst/>
                <a:uFillTx/>
                <a:latin typeface="AppleGothic"/>
                <a:ea typeface="AppleGothic"/>
              </a:rPr>
              <a:t>제거가 </a:t>
            </a:r>
            <a:r>
              <a:rPr lang="en-US" sz="1650" b="0" u="none" strike="noStrike">
                <a:solidFill>
                  <a:srgbClr val="173C37"/>
                </a:solidFill>
                <a:effectLst/>
                <a:uFillTx/>
                <a:latin typeface="AppleGothic"/>
                <a:ea typeface="AppleGothic"/>
              </a:rPr>
              <a:t>factor </a:t>
            </a:r>
            <a:r>
              <a:rPr lang="ko-KR" sz="1650" b="0" u="none" strike="noStrike">
                <a:solidFill>
                  <a:srgbClr val="173C37"/>
                </a:solidFill>
                <a:effectLst/>
                <a:uFillTx/>
                <a:latin typeface="AppleGothic"/>
                <a:ea typeface="AppleGothic"/>
              </a:rPr>
              <a:t>개선</a:t>
            </a:r>
            <a:r>
              <a:rPr lang="en-US" sz="1650" b="0" u="none" strike="noStrike">
                <a:solidFill>
                  <a:srgbClr val="173C37"/>
                </a:solidFill>
                <a:effectLst/>
                <a:uFillTx/>
                <a:latin typeface="AppleGothic"/>
                <a:ea typeface="AppleGothic"/>
              </a:rPr>
              <a:t>?</a:t>
            </a:r>
            <a:endParaRPr lang="en-US" sz="1650" b="0" u="none" strike="noStrike">
              <a:solidFill>
                <a:srgbClr val="000000"/>
              </a:solidFill>
              <a:effectLst/>
              <a:uFillTx/>
              <a:latin typeface="Arial"/>
            </a:endParaRPr>
          </a:p>
        </p:txBody>
      </p:sp>
      <p:sp>
        <p:nvSpPr>
          <p:cNvPr id="288"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89"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90"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291"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accept remove</a:t>
            </a:r>
            <a:endParaRPr lang="en-US" sz="1900" b="0" u="none" strike="noStrike">
              <a:solidFill>
                <a:srgbClr val="000000"/>
              </a:solidFill>
              <a:effectLst/>
              <a:uFillTx/>
              <a:latin typeface="Arial"/>
            </a:endParaRPr>
          </a:p>
        </p:txBody>
      </p:sp>
      <p:sp>
        <p:nvSpPr>
          <p:cNvPr id="292"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J*</a:t>
            </a:r>
            <a:r>
              <a:rPr lang="ko-KR" sz="1650" b="0" u="none" strike="noStrike">
                <a:solidFill>
                  <a:srgbClr val="173C37"/>
                </a:solidFill>
                <a:effectLst/>
                <a:uFillTx/>
                <a:latin typeface="AppleGothic"/>
                <a:ea typeface="AppleGothic"/>
              </a:rPr>
              <a:t>가 </a:t>
            </a:r>
            <a:r>
              <a:rPr lang="en-US" sz="1650" b="0" u="none" strike="noStrike">
                <a:solidFill>
                  <a:srgbClr val="173C37"/>
                </a:solidFill>
                <a:effectLst/>
                <a:uFillTx/>
                <a:latin typeface="AppleGothic"/>
                <a:ea typeface="AppleGothic"/>
              </a:rPr>
              <a:t>1+epsilon/n^2 </a:t>
            </a:r>
            <a:r>
              <a:rPr lang="ko-KR" sz="1650" b="0" u="none" strike="noStrike">
                <a:solidFill>
                  <a:srgbClr val="173C37"/>
                </a:solidFill>
                <a:effectLst/>
                <a:uFillTx/>
                <a:latin typeface="AppleGothic"/>
                <a:ea typeface="AppleGothic"/>
              </a:rPr>
              <a:t>배 초과</a:t>
            </a:r>
            <a:endParaRPr lang="en-US" sz="1650" b="0" u="none" strike="noStrike">
              <a:solidFill>
                <a:srgbClr val="000000"/>
              </a:solidFill>
              <a:effectLst/>
              <a:uFillTx/>
              <a:latin typeface="Arial"/>
            </a:endParaRPr>
          </a:p>
        </p:txBody>
      </p:sp>
      <p:sp>
        <p:nvSpPr>
          <p:cNvPr id="293"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94"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95"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296"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exchange test</a:t>
            </a:r>
            <a:endParaRPr lang="en-US" sz="1900" b="0" u="none" strike="noStrike">
              <a:solidFill>
                <a:srgbClr val="000000"/>
              </a:solidFill>
              <a:effectLst/>
              <a:uFillTx/>
              <a:latin typeface="Arial"/>
            </a:endParaRPr>
          </a:p>
        </p:txBody>
      </p:sp>
      <p:sp>
        <p:nvSpPr>
          <p:cNvPr id="297"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outside candidate </a:t>
            </a:r>
            <a:r>
              <a:rPr lang="ko-KR" sz="1650" b="0" u="none" strike="noStrike">
                <a:solidFill>
                  <a:srgbClr val="173C37"/>
                </a:solidFill>
                <a:effectLst/>
                <a:uFillTx/>
                <a:latin typeface="AppleGothic"/>
                <a:ea typeface="AppleGothic"/>
              </a:rPr>
              <a:t>교환이 </a:t>
            </a:r>
            <a:r>
              <a:rPr lang="en-US" sz="1650" b="0" u="none" strike="noStrike">
                <a:solidFill>
                  <a:srgbClr val="173C37"/>
                </a:solidFill>
                <a:effectLst/>
                <a:uFillTx/>
                <a:latin typeface="AppleGothic"/>
                <a:ea typeface="AppleGothic"/>
              </a:rPr>
              <a:t>factor </a:t>
            </a:r>
            <a:r>
              <a:rPr lang="ko-KR" sz="1650" b="0" u="none" strike="noStrike">
                <a:solidFill>
                  <a:srgbClr val="173C37"/>
                </a:solidFill>
                <a:effectLst/>
                <a:uFillTx/>
                <a:latin typeface="AppleGothic"/>
                <a:ea typeface="AppleGothic"/>
              </a:rPr>
              <a:t>개선</a:t>
            </a:r>
            <a:r>
              <a:rPr lang="en-US" sz="1650" b="0" u="none" strike="noStrike">
                <a:solidFill>
                  <a:srgbClr val="173C37"/>
                </a:solidFill>
                <a:effectLst/>
                <a:uFillTx/>
                <a:latin typeface="AppleGothic"/>
                <a:ea typeface="AppleGothic"/>
              </a:rPr>
              <a:t>?</a:t>
            </a:r>
            <a:endParaRPr lang="en-US" sz="1650" b="0" u="none" strike="noStrike">
              <a:solidFill>
                <a:srgbClr val="000000"/>
              </a:solidFill>
              <a:effectLst/>
              <a:uFillTx/>
              <a:latin typeface="Arial"/>
            </a:endParaRPr>
          </a:p>
        </p:txBody>
      </p:sp>
      <p:sp>
        <p:nvSpPr>
          <p:cNvPr id="298"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99"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00"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301"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stop</a:t>
            </a:r>
            <a:endParaRPr lang="en-US" sz="1900" b="0" u="none" strike="noStrike">
              <a:solidFill>
                <a:srgbClr val="000000"/>
              </a:solidFill>
              <a:effectLst/>
              <a:uFillTx/>
              <a:latin typeface="Arial"/>
            </a:endParaRPr>
          </a:p>
        </p:txBody>
      </p:sp>
      <p:sp>
        <p:nvSpPr>
          <p:cNvPr id="302"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ko-KR" sz="1650" b="0" u="none" strike="noStrike">
                <a:solidFill>
                  <a:srgbClr val="173C37"/>
                </a:solidFill>
                <a:effectLst/>
                <a:uFillTx/>
                <a:latin typeface="AppleGothic"/>
                <a:ea typeface="AppleGothic"/>
              </a:rPr>
              <a:t>어느 개선도 없으면 </a:t>
            </a:r>
            <a:r>
              <a:rPr lang="en-US" sz="1650" b="0" u="none" strike="noStrike">
                <a:solidFill>
                  <a:srgbClr val="173C37"/>
                </a:solidFill>
                <a:effectLst/>
                <a:uFillTx/>
                <a:latin typeface="AppleGothic"/>
                <a:ea typeface="AppleGothic"/>
              </a:rPr>
              <a:t>local solution</a:t>
            </a:r>
            <a:endParaRPr lang="en-US" sz="1650" b="0" u="none" strike="noStrike">
              <a:solidFill>
                <a:srgbClr val="000000"/>
              </a:solidFill>
              <a:effectLst/>
              <a:uFillTx/>
              <a:latin typeface="Arial"/>
            </a:endParaRPr>
          </a:p>
        </p:txBody>
      </p:sp>
      <p:sp>
        <p:nvSpPr>
          <p:cNvPr id="303"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04"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05"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다항 시간은 </a:t>
            </a:r>
            <a:r>
              <a:rPr lang="en-US" sz="1750" b="1" u="none" strike="noStrike">
                <a:solidFill>
                  <a:srgbClr val="173C37"/>
                </a:solidFill>
                <a:effectLst/>
                <a:uFillTx/>
                <a:latin typeface="AppleGothic"/>
                <a:ea typeface="AppleGothic"/>
              </a:rPr>
              <a:t>local heuristic</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running time</a:t>
            </a:r>
            <a:r>
              <a:rPr lang="ko-KR" sz="1750" b="1" u="none" strike="noStrike">
                <a:solidFill>
                  <a:srgbClr val="173C37"/>
                </a:solidFill>
                <a:effectLst/>
                <a:uFillTx/>
                <a:latin typeface="AppleGothic"/>
                <a:ea typeface="AppleGothic"/>
              </a:rPr>
              <a:t>이지 </a:t>
            </a:r>
            <a:r>
              <a:rPr lang="en-US" sz="1750" b="1" u="none" strike="noStrike">
                <a:solidFill>
                  <a:srgbClr val="173C37"/>
                </a:solidFill>
                <a:effectLst/>
                <a:uFillTx/>
                <a:latin typeface="AppleGothic"/>
                <a:ea typeface="AppleGothic"/>
              </a:rPr>
              <a:t>global guarantee</a:t>
            </a:r>
            <a:r>
              <a:rPr lang="ko-KR" sz="1750" b="1" u="none" strike="noStrike">
                <a:solidFill>
                  <a:srgbClr val="173C37"/>
                </a:solidFill>
                <a:effectLst/>
                <a:uFillTx/>
                <a:latin typeface="AppleGothic"/>
                <a:ea typeface="AppleGothic"/>
              </a:rPr>
              <a:t>가 아니다</a:t>
            </a:r>
            <a:endParaRPr lang="en-US" sz="1750" b="0" u="none" strike="noStrike">
              <a:solidFill>
                <a:srgbClr val="000000"/>
              </a:solidFill>
              <a:effectLst/>
              <a:uFillTx/>
              <a:latin typeface="Arial"/>
            </a:endParaRPr>
          </a:p>
        </p:txBody>
      </p:sp>
      <p:sp>
        <p:nvSpPr>
          <p:cNvPr id="306"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07"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17-18; Algorithm 2; Remarks 1-2</a:t>
            </a:r>
            <a:endParaRPr lang="en-US" sz="1050" b="0" u="none" strike="noStrike">
              <a:solidFill>
                <a:srgbClr val="000000"/>
              </a:solidFill>
              <a:effectLst/>
              <a:uFillTx/>
              <a:latin typeface="Arial"/>
            </a:endParaRPr>
          </a:p>
        </p:txBody>
      </p:sp>
      <p:sp>
        <p:nvSpPr>
          <p:cNvPr id="308"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교육용 가상 </a:t>
            </a:r>
            <a:r>
              <a:rPr lang="en-US" sz="3100" b="1" u="none" strike="noStrike">
                <a:solidFill>
                  <a:srgbClr val="173C37"/>
                </a:solidFill>
                <a:effectLst/>
                <a:uFillTx/>
                <a:latin typeface="AppleGothic"/>
                <a:ea typeface="AppleGothic"/>
              </a:rPr>
              <a:t>trace: </a:t>
            </a:r>
            <a:r>
              <a:rPr lang="ko-KR" sz="3100" b="1" u="none" strike="noStrike">
                <a:solidFill>
                  <a:srgbClr val="173C37"/>
                </a:solidFill>
                <a:effectLst/>
                <a:uFillTx/>
                <a:latin typeface="AppleGothic"/>
                <a:ea typeface="AppleGothic"/>
              </a:rPr>
              <a:t>한 </a:t>
            </a:r>
            <a:r>
              <a:rPr lang="en-US" sz="3100" b="1" u="none" strike="noStrike">
                <a:solidFill>
                  <a:srgbClr val="173C37"/>
                </a:solidFill>
                <a:effectLst/>
                <a:uFillTx/>
                <a:latin typeface="AppleGothic"/>
                <a:ea typeface="AppleGothic"/>
              </a:rPr>
              <a:t>sub-band</a:t>
            </a:r>
            <a:r>
              <a:rPr lang="ko-KR" sz="3100" b="1" u="none" strike="noStrike">
                <a:solidFill>
                  <a:srgbClr val="173C37"/>
                </a:solidFill>
                <a:effectLst/>
                <a:uFillTx/>
                <a:latin typeface="AppleGothic"/>
                <a:ea typeface="AppleGothic"/>
              </a:rPr>
              <a:t>에서 </a:t>
            </a:r>
            <a:r>
              <a:rPr lang="en-US" sz="3100" b="1" u="none" strike="noStrike">
                <a:solidFill>
                  <a:srgbClr val="173C37"/>
                </a:solidFill>
                <a:effectLst/>
                <a:uFillTx/>
                <a:latin typeface="AppleGothic"/>
                <a:ea typeface="AppleGothic"/>
              </a:rPr>
              <a:t>exchange</a:t>
            </a:r>
            <a:r>
              <a:rPr lang="ko-KR" sz="3100" b="1" u="none" strike="noStrike">
                <a:solidFill>
                  <a:srgbClr val="173C37"/>
                </a:solidFill>
                <a:effectLst/>
                <a:uFillTx/>
                <a:latin typeface="AppleGothic"/>
                <a:ea typeface="AppleGothic"/>
              </a:rPr>
              <a:t>를 판정한다</a:t>
            </a:r>
            <a:endParaRPr lang="en-US" sz="3100" b="0" u="none" strike="noStrike">
              <a:solidFill>
                <a:srgbClr val="000000"/>
              </a:solidFill>
              <a:effectLst/>
              <a:uFillTx/>
              <a:latin typeface="Arial"/>
            </a:endParaRPr>
          </a:p>
        </p:txBody>
      </p:sp>
      <p:sp>
        <p:nvSpPr>
          <p:cNvPr id="31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교육용 가정</a:t>
            </a:r>
            <a:r>
              <a:rPr lang="en-US" sz="1900" b="0" u="none" strike="noStrike">
                <a:solidFill>
                  <a:srgbClr val="0D685C"/>
                </a:solidFill>
                <a:effectLst/>
                <a:uFillTx/>
                <a:latin typeface="AppleGothic"/>
                <a:ea typeface="AppleGothic"/>
              </a:rPr>
              <a:t>: users A,B; server 1; sub-band 1; epsilon=.1; n=2</a:t>
            </a:r>
            <a:endParaRPr lang="en-US" sz="1900" b="0" u="none" strike="noStrike">
              <a:solidFill>
                <a:srgbClr val="000000"/>
              </a:solidFill>
              <a:effectLst/>
              <a:uFillTx/>
              <a:latin typeface="Arial"/>
            </a:endParaRPr>
          </a:p>
        </p:txBody>
      </p:sp>
      <p:graphicFrame>
        <p:nvGraphicFramePr>
          <p:cNvPr id="311" name="Table 0"/>
          <p:cNvGraphicFramePr/>
          <p:nvPr/>
        </p:nvGraphicFramePr>
        <p:xfrm>
          <a:off x="660240" y="2082960"/>
          <a:ext cx="10870920" cy="3314520"/>
        </p:xfrm>
        <a:graphic>
          <a:graphicData uri="http://schemas.openxmlformats.org/drawingml/2006/table">
            <a:tbl>
              <a:tblPr/>
              <a:tblGrid>
                <a:gridCol w="1739160"/>
                <a:gridCol w="3043800"/>
                <a:gridCol w="3369960"/>
                <a:gridCol w="271764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단계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X </a:t>
                      </a:r>
                      <a:r>
                        <a:rPr lang="ko-KR" sz="1600" b="1" u="none" strike="noStrike">
                          <a:solidFill>
                            <a:srgbClr val="0D685C"/>
                          </a:solidFill>
                          <a:effectLst/>
                          <a:uFillTx/>
                          <a:latin typeface="AppleGothic"/>
                          <a:ea typeface="AppleGothic"/>
                        </a:rPr>
                        <a:t>또는 </a:t>
                      </a:r>
                      <a:r>
                        <a:rPr lang="en-US" sz="1600" b="1" u="none" strike="noStrike">
                          <a:solidFill>
                            <a:srgbClr val="0D685C"/>
                          </a:solidFill>
                          <a:effectLst/>
                          <a:uFillTx/>
                          <a:latin typeface="AppleGothic"/>
                          <a:ea typeface="AppleGothic"/>
                        </a:rPr>
                        <a:t>candidate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계산</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결과</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시작</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X={x^1_A1}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가정한 </a:t>
                      </a:r>
                      <a:r>
                        <a:rPr lang="en-US" sz="1550" b="0" u="none" strike="noStrike">
                          <a:solidFill>
                            <a:srgbClr val="173C37"/>
                          </a:solidFill>
                          <a:effectLst/>
                          <a:uFillTx/>
                          <a:latin typeface="AppleGothic"/>
                          <a:ea typeface="AppleGothic"/>
                        </a:rPr>
                        <a:t>J*(X)=.70</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a:t>
                      </a:r>
                      <a:r>
                        <a:rPr lang="ko-KR" sz="1550" b="0" u="none" strike="noStrike">
                          <a:solidFill>
                            <a:srgbClr val="173C37"/>
                          </a:solidFill>
                          <a:effectLst/>
                          <a:uFillTx/>
                          <a:latin typeface="AppleGothic"/>
                          <a:ea typeface="AppleGothic"/>
                        </a:rPr>
                        <a:t>가 </a:t>
                      </a:r>
                      <a:r>
                        <a:rPr lang="en-US" sz="1550" b="0" u="none" strike="noStrike">
                          <a:solidFill>
                            <a:srgbClr val="173C37"/>
                          </a:solidFill>
                          <a:effectLst/>
                          <a:uFillTx/>
                          <a:latin typeface="AppleGothic"/>
                          <a:ea typeface="AppleGothic"/>
                        </a:rPr>
                        <a:t>sub-band 1 </a:t>
                      </a:r>
                      <a:r>
                        <a:rPr lang="ko-KR" sz="1550" b="0" u="none" strike="noStrike">
                          <a:solidFill>
                            <a:srgbClr val="173C37"/>
                          </a:solidFill>
                          <a:effectLst/>
                          <a:uFillTx/>
                          <a:latin typeface="AppleGothic"/>
                          <a:ea typeface="AppleGothic"/>
                        </a:rPr>
                        <a:t>사용</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candidate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x^1_B1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same server-sub-band</a:t>
                      </a:r>
                      <a:r>
                        <a:rPr lang="ko-KR" sz="1550" b="0" u="none" strike="noStrike">
                          <a:solidFill>
                            <a:srgbClr val="173C37"/>
                          </a:solidFill>
                          <a:effectLst/>
                          <a:uFillTx/>
                          <a:latin typeface="AppleGothic"/>
                          <a:ea typeface="AppleGothic"/>
                        </a:rPr>
                        <a:t>라 </a:t>
                      </a:r>
                      <a:r>
                        <a:rPr lang="en-US" sz="1550" b="0" u="none" strike="noStrike">
                          <a:solidFill>
                            <a:srgbClr val="173C37"/>
                          </a:solidFill>
                          <a:effectLst/>
                          <a:uFillTx/>
                          <a:latin typeface="AppleGothic"/>
                          <a:ea typeface="AppleGothic"/>
                        </a:rPr>
                        <a:t>A</a:t>
                      </a:r>
                      <a:r>
                        <a:rPr lang="ko-KR" sz="1550" b="0" u="none" strike="noStrike">
                          <a:solidFill>
                            <a:srgbClr val="173C37"/>
                          </a:solidFill>
                          <a:effectLst/>
                          <a:uFillTx/>
                          <a:latin typeface="AppleGothic"/>
                          <a:ea typeface="AppleGothic"/>
                        </a:rPr>
                        <a:t>와 충돌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exchange</a:t>
                      </a:r>
                      <a:r>
                        <a:rPr lang="ko-KR" sz="1550" b="0" u="none" strike="noStrike">
                          <a:solidFill>
                            <a:srgbClr val="173C37"/>
                          </a:solidFill>
                          <a:effectLst/>
                          <a:uFillTx/>
                          <a:latin typeface="AppleGothic"/>
                          <a:ea typeface="AppleGothic"/>
                        </a:rPr>
                        <a:t>는 </a:t>
                      </a:r>
                      <a:r>
                        <a:rPr lang="en-US" sz="1550" b="0" u="none" strike="noStrike">
                          <a:solidFill>
                            <a:srgbClr val="173C37"/>
                          </a:solidFill>
                          <a:effectLst/>
                          <a:uFillTx/>
                          <a:latin typeface="AppleGothic"/>
                          <a:ea typeface="AppleGothic"/>
                        </a:rPr>
                        <a:t>A</a:t>
                      </a:r>
                      <a:r>
                        <a:rPr lang="ko-KR" sz="1550" b="0" u="none" strike="noStrike">
                          <a:solidFill>
                            <a:srgbClr val="173C37"/>
                          </a:solidFill>
                          <a:effectLst/>
                          <a:uFillTx/>
                          <a:latin typeface="AppleGothic"/>
                          <a:ea typeface="AppleGothic"/>
                        </a:rPr>
                        <a:t>를 제거</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gate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exchange value=.83</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(1+.1/2^2)×.70=.7175</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.83&gt;.7175 </a:t>
                      </a:r>
                      <a:r>
                        <a:rPr lang="ko-KR" sz="1550" b="0" u="none" strike="noStrike">
                          <a:solidFill>
                            <a:srgbClr val="173C37"/>
                          </a:solidFill>
                          <a:effectLst/>
                          <a:uFillTx/>
                          <a:latin typeface="AppleGothic"/>
                          <a:ea typeface="AppleGothic"/>
                        </a:rPr>
                        <a:t>이므로 수락</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다음 </a:t>
                      </a:r>
                      <a:r>
                        <a:rPr lang="en-US" sz="1550" b="0" u="none" strike="noStrike">
                          <a:solidFill>
                            <a:srgbClr val="173C37"/>
                          </a:solidFill>
                          <a:effectLst/>
                          <a:uFillTx/>
                          <a:latin typeface="AppleGothic"/>
                          <a:ea typeface="AppleGothic"/>
                        </a:rPr>
                        <a:t>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{x^1_B1}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feasible entry </a:t>
                      </a:r>
                      <a:r>
                        <a:rPr lang="ko-KR" sz="1550" b="0" u="none" strike="noStrike">
                          <a:solidFill>
                            <a:srgbClr val="173C37"/>
                          </a:solidFill>
                          <a:effectLst/>
                          <a:uFillTx/>
                          <a:latin typeface="AppleGothic"/>
                          <a:ea typeface="AppleGothic"/>
                        </a:rPr>
                        <a:t>하나 유지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a:t>
                      </a:r>
                      <a:r>
                        <a:rPr lang="ko-KR" sz="1550" b="0" u="none" strike="noStrike">
                          <a:solidFill>
                            <a:srgbClr val="173C37"/>
                          </a:solidFill>
                          <a:effectLst/>
                          <a:uFillTx/>
                          <a:latin typeface="AppleGothic"/>
                          <a:ea typeface="AppleGothic"/>
                        </a:rPr>
                        <a:t>로 교체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12"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13"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숫자는 교육용 가정이며</a:t>
            </a:r>
            <a:r>
              <a:rPr lang="en-US" sz="1750" b="1" u="none" strike="noStrike">
                <a:solidFill>
                  <a:srgbClr val="173C37"/>
                </a:solidFill>
                <a:effectLst/>
                <a:uFillTx/>
                <a:latin typeface="AppleGothic"/>
                <a:ea typeface="AppleGothic"/>
              </a:rPr>
              <a:t>, trace</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Routine 1</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feasibility</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Algorithm 2</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gate</a:t>
            </a:r>
            <a:r>
              <a:rPr lang="ko-KR" sz="1750" b="1" u="none" strike="noStrike">
                <a:solidFill>
                  <a:srgbClr val="173C37"/>
                </a:solidFill>
                <a:effectLst/>
                <a:uFillTx/>
                <a:latin typeface="AppleGothic"/>
                <a:ea typeface="AppleGothic"/>
              </a:rPr>
              <a:t>만 보인다</a:t>
            </a:r>
            <a:endParaRPr lang="en-US" sz="1750" b="0" u="none" strike="noStrike">
              <a:solidFill>
                <a:srgbClr val="000000"/>
              </a:solidFill>
              <a:effectLst/>
              <a:uFillTx/>
              <a:latin typeface="Arial"/>
            </a:endParaRPr>
          </a:p>
        </p:txBody>
      </p:sp>
      <p:sp>
        <p:nvSpPr>
          <p:cNvPr id="314"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15"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17-18; Routine 1; Algorithm 2</a:t>
            </a:r>
            <a:endParaRPr lang="en-US" sz="1050" b="0" u="none" strike="noStrike">
              <a:solidFill>
                <a:srgbClr val="000000"/>
              </a:solidFill>
              <a:effectLst/>
              <a:uFillTx/>
              <a:latin typeface="Arial"/>
            </a:endParaRPr>
          </a:p>
        </p:txBody>
      </p:sp>
      <p:sp>
        <p:nvSpPr>
          <p:cNvPr id="316"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16</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7"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local search</a:t>
            </a:r>
            <a:r>
              <a:rPr lang="ko-KR" sz="3100" b="1" u="none" strike="noStrike">
                <a:solidFill>
                  <a:srgbClr val="173C37"/>
                </a:solidFill>
                <a:effectLst/>
                <a:uFillTx/>
                <a:latin typeface="AppleGothic"/>
                <a:ea typeface="AppleGothic"/>
              </a:rPr>
              <a:t>는 각 </a:t>
            </a:r>
            <a:r>
              <a:rPr lang="en-US" sz="3100" b="1" u="none" strike="noStrike">
                <a:solidFill>
                  <a:srgbClr val="173C37"/>
                </a:solidFill>
                <a:effectLst/>
                <a:uFillTx/>
                <a:latin typeface="AppleGothic"/>
                <a:ea typeface="AppleGothic"/>
              </a:rPr>
              <a:t>candidate X</a:t>
            </a:r>
            <a:r>
              <a:rPr lang="ko-KR" sz="3100" b="1" u="none" strike="noStrike">
                <a:solidFill>
                  <a:srgbClr val="173C37"/>
                </a:solidFill>
                <a:effectLst/>
                <a:uFillTx/>
                <a:latin typeface="AppleGothic"/>
                <a:ea typeface="AppleGothic"/>
              </a:rPr>
              <a:t>의 </a:t>
            </a:r>
            <a:r>
              <a:rPr lang="en-US" sz="3100" b="1" u="none" strike="noStrike">
                <a:solidFill>
                  <a:srgbClr val="173C37"/>
                </a:solidFill>
                <a:effectLst/>
                <a:uFillTx/>
                <a:latin typeface="AppleGothic"/>
                <a:ea typeface="AppleGothic"/>
              </a:rPr>
              <a:t>RA value</a:t>
            </a:r>
            <a:r>
              <a:rPr lang="ko-KR" sz="3100" b="1" u="none" strike="noStrike">
                <a:solidFill>
                  <a:srgbClr val="173C37"/>
                </a:solidFill>
                <a:effectLst/>
                <a:uFillTx/>
                <a:latin typeface="AppleGothic"/>
                <a:ea typeface="AppleGothic"/>
              </a:rPr>
              <a:t>를 비교한다</a:t>
            </a:r>
            <a:endParaRPr lang="en-US" sz="3100" b="0" u="none" strike="noStrike">
              <a:solidFill>
                <a:srgbClr val="000000"/>
              </a:solidFill>
              <a:effectLst/>
              <a:uFillTx/>
              <a:latin typeface="Arial"/>
            </a:endParaRPr>
          </a:p>
        </p:txBody>
      </p:sp>
      <p:sp>
        <p:nvSpPr>
          <p:cNvPr id="318"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remove·exchange </a:t>
            </a:r>
            <a:r>
              <a:rPr lang="ko-KR" sz="1900" b="0" u="none" strike="noStrike">
                <a:solidFill>
                  <a:srgbClr val="0D685C"/>
                </a:solidFill>
                <a:effectLst/>
                <a:uFillTx/>
                <a:latin typeface="AppleGothic"/>
                <a:ea typeface="AppleGothic"/>
              </a:rPr>
              <a:t>수용검사는 </a:t>
            </a:r>
            <a:r>
              <a:rPr lang="en-US" sz="1900" b="0" u="none" strike="noStrike">
                <a:solidFill>
                  <a:srgbClr val="0D685C"/>
                </a:solidFill>
                <a:effectLst/>
                <a:uFillTx/>
                <a:latin typeface="AppleGothic"/>
                <a:ea typeface="AppleGothic"/>
              </a:rPr>
              <a:t>fixed-X UPA·CRA</a:t>
            </a:r>
            <a:r>
              <a:rPr lang="ko-KR" sz="1900" b="0" u="none" strike="noStrike">
                <a:solidFill>
                  <a:srgbClr val="0D685C"/>
                </a:solidFill>
                <a:effectLst/>
                <a:uFillTx/>
                <a:latin typeface="AppleGothic"/>
                <a:ea typeface="AppleGothic"/>
              </a:rPr>
              <a:t>가 만든 </a:t>
            </a:r>
            <a:r>
              <a:rPr lang="en-US" sz="1900" b="0" u="none" strike="noStrike">
                <a:solidFill>
                  <a:srgbClr val="0D685C"/>
                </a:solidFill>
                <a:effectLst/>
                <a:uFillTx/>
                <a:latin typeface="AppleGothic"/>
                <a:ea typeface="AppleGothic"/>
              </a:rPr>
              <a:t>J*(X)</a:t>
            </a:r>
            <a:r>
              <a:rPr lang="ko-KR" sz="1900" b="0" u="none" strike="noStrike">
                <a:solidFill>
                  <a:srgbClr val="0D685C"/>
                </a:solidFill>
                <a:effectLst/>
                <a:uFillTx/>
                <a:latin typeface="AppleGothic"/>
                <a:ea typeface="AppleGothic"/>
              </a:rPr>
              <a:t>를 매 </a:t>
            </a:r>
            <a:r>
              <a:rPr lang="en-US" sz="1900" b="0" u="none" strike="noStrike">
                <a:solidFill>
                  <a:srgbClr val="0D685C"/>
                </a:solidFill>
                <a:effectLst/>
                <a:uFillTx/>
                <a:latin typeface="AppleGothic"/>
                <a:ea typeface="AppleGothic"/>
              </a:rPr>
              <a:t>candidate</a:t>
            </a:r>
            <a:r>
              <a:rPr lang="ko-KR" sz="1900" b="0" u="none" strike="noStrike">
                <a:solidFill>
                  <a:srgbClr val="0D685C"/>
                </a:solidFill>
                <a:effectLst/>
                <a:uFillTx/>
                <a:latin typeface="AppleGothic"/>
                <a:ea typeface="AppleGothic"/>
              </a:rPr>
              <a:t>마다 다시 쓴다</a:t>
            </a:r>
            <a:endParaRPr lang="en-US" sz="1900" b="0" u="none" strike="noStrike">
              <a:solidFill>
                <a:srgbClr val="000000"/>
              </a:solidFill>
              <a:effectLst/>
              <a:uFillTx/>
              <a:latin typeface="Arial"/>
            </a:endParaRPr>
          </a:p>
        </p:txBody>
      </p:sp>
      <p:sp>
        <p:nvSpPr>
          <p:cNvPr id="319"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320"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candidate X</a:t>
            </a:r>
            <a:endParaRPr lang="en-US" sz="1900" b="0" u="none" strike="noStrike">
              <a:solidFill>
                <a:srgbClr val="000000"/>
              </a:solidFill>
              <a:effectLst/>
              <a:uFillTx/>
              <a:latin typeface="Arial"/>
            </a:endParaRPr>
          </a:p>
        </p:txBody>
      </p:sp>
      <p:sp>
        <p:nvSpPr>
          <p:cNvPr id="321"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remove </a:t>
            </a:r>
            <a:r>
              <a:rPr lang="ko-KR" sz="1650" b="0" u="none" strike="noStrike">
                <a:solidFill>
                  <a:srgbClr val="173C37"/>
                </a:solidFill>
                <a:effectLst/>
                <a:uFillTx/>
                <a:latin typeface="AppleGothic"/>
                <a:ea typeface="AppleGothic"/>
              </a:rPr>
              <a:t>또는 </a:t>
            </a:r>
            <a:r>
              <a:rPr lang="en-US" sz="1650" b="0" u="none" strike="noStrike">
                <a:solidFill>
                  <a:srgbClr val="173C37"/>
                </a:solidFill>
                <a:effectLst/>
                <a:uFillTx/>
                <a:latin typeface="AppleGothic"/>
                <a:ea typeface="AppleGothic"/>
              </a:rPr>
              <a:t>exchange </a:t>
            </a:r>
            <a:r>
              <a:rPr lang="ko-KR" sz="1650" b="0" u="none" strike="noStrike">
                <a:solidFill>
                  <a:srgbClr val="173C37"/>
                </a:solidFill>
                <a:effectLst/>
                <a:uFillTx/>
                <a:latin typeface="AppleGothic"/>
                <a:ea typeface="AppleGothic"/>
              </a:rPr>
              <a:t>제안</a:t>
            </a:r>
            <a:endParaRPr lang="en-US" sz="1650" b="0" u="none" strike="noStrike">
              <a:solidFill>
                <a:srgbClr val="000000"/>
              </a:solidFill>
              <a:effectLst/>
              <a:uFillTx/>
              <a:latin typeface="Arial"/>
            </a:endParaRPr>
          </a:p>
        </p:txBody>
      </p:sp>
      <p:sp>
        <p:nvSpPr>
          <p:cNvPr id="322"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23"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24"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325"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fixed-X RA</a:t>
            </a:r>
            <a:endParaRPr lang="en-US" sz="1900" b="0" u="none" strike="noStrike">
              <a:solidFill>
                <a:srgbClr val="000000"/>
              </a:solidFill>
              <a:effectLst/>
              <a:uFillTx/>
              <a:latin typeface="Arial"/>
            </a:endParaRPr>
          </a:p>
        </p:txBody>
      </p:sp>
      <p:sp>
        <p:nvSpPr>
          <p:cNvPr id="326"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UPA P*(X), CRA F*(X)</a:t>
            </a:r>
            <a:endParaRPr lang="en-US" sz="1650" b="0" u="none" strike="noStrike">
              <a:solidFill>
                <a:srgbClr val="000000"/>
              </a:solidFill>
              <a:effectLst/>
              <a:uFillTx/>
              <a:latin typeface="Arial"/>
            </a:endParaRPr>
          </a:p>
        </p:txBody>
      </p:sp>
      <p:sp>
        <p:nvSpPr>
          <p:cNvPr id="327"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28"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29"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330"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score</a:t>
            </a:r>
            <a:endParaRPr lang="en-US" sz="1900" b="0" u="none" strike="noStrike">
              <a:solidFill>
                <a:srgbClr val="000000"/>
              </a:solidFill>
              <a:effectLst/>
              <a:uFillTx/>
              <a:latin typeface="Arial"/>
            </a:endParaRPr>
          </a:p>
        </p:txBody>
      </p:sp>
      <p:sp>
        <p:nvSpPr>
          <p:cNvPr id="331"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J*(X) </a:t>
            </a:r>
            <a:r>
              <a:rPr lang="ko-KR" sz="1650" b="0" u="none" strike="noStrike">
                <a:solidFill>
                  <a:srgbClr val="173C37"/>
                </a:solidFill>
                <a:effectLst/>
                <a:uFillTx/>
                <a:latin typeface="AppleGothic"/>
                <a:ea typeface="AppleGothic"/>
              </a:rPr>
              <a:t>계산</a:t>
            </a:r>
            <a:endParaRPr lang="en-US" sz="1650" b="0" u="none" strike="noStrike">
              <a:solidFill>
                <a:srgbClr val="000000"/>
              </a:solidFill>
              <a:effectLst/>
              <a:uFillTx/>
              <a:latin typeface="Arial"/>
            </a:endParaRPr>
          </a:p>
        </p:txBody>
      </p:sp>
      <p:sp>
        <p:nvSpPr>
          <p:cNvPr id="332"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33"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34"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335"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accept?</a:t>
            </a:r>
            <a:endParaRPr lang="en-US" sz="1900" b="0" u="none" strike="noStrike">
              <a:solidFill>
                <a:srgbClr val="000000"/>
              </a:solidFill>
              <a:effectLst/>
              <a:uFillTx/>
              <a:latin typeface="Arial"/>
            </a:endParaRPr>
          </a:p>
        </p:txBody>
      </p:sp>
      <p:sp>
        <p:nvSpPr>
          <p:cNvPr id="336"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factor gate </a:t>
            </a:r>
            <a:r>
              <a:rPr lang="ko-KR" sz="1650" b="0" u="none" strike="noStrike">
                <a:solidFill>
                  <a:srgbClr val="173C37"/>
                </a:solidFill>
                <a:effectLst/>
                <a:uFillTx/>
                <a:latin typeface="AppleGothic"/>
                <a:ea typeface="AppleGothic"/>
              </a:rPr>
              <a:t>통과 시 반복</a:t>
            </a:r>
            <a:endParaRPr lang="en-US" sz="1650" b="0" u="none" strike="noStrike">
              <a:solidFill>
                <a:srgbClr val="000000"/>
              </a:solidFill>
              <a:effectLst/>
              <a:uFillTx/>
              <a:latin typeface="Arial"/>
            </a:endParaRPr>
          </a:p>
        </p:txBody>
      </p:sp>
      <p:sp>
        <p:nvSpPr>
          <p:cNvPr id="337"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38"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39"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340"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final tuple</a:t>
            </a:r>
            <a:endParaRPr lang="en-US" sz="1900" b="0" u="none" strike="noStrike">
              <a:solidFill>
                <a:srgbClr val="000000"/>
              </a:solidFill>
              <a:effectLst/>
              <a:uFillTx/>
              <a:latin typeface="Arial"/>
            </a:endParaRPr>
          </a:p>
        </p:txBody>
      </p:sp>
      <p:sp>
        <p:nvSpPr>
          <p:cNvPr id="341"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X*, P*(X*), F*(X*)</a:t>
            </a:r>
            <a:endParaRPr lang="en-US" sz="1650" b="0" u="none" strike="noStrike">
              <a:solidFill>
                <a:srgbClr val="000000"/>
              </a:solidFill>
              <a:effectLst/>
              <a:uFillTx/>
              <a:latin typeface="Arial"/>
            </a:endParaRPr>
          </a:p>
        </p:txBody>
      </p:sp>
      <p:sp>
        <p:nvSpPr>
          <p:cNvPr id="342"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3"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4"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최종 </a:t>
            </a:r>
            <a:r>
              <a:rPr lang="en-US" sz="1750" b="1" u="none" strike="noStrike">
                <a:solidFill>
                  <a:srgbClr val="173C37"/>
                </a:solidFill>
                <a:effectLst/>
                <a:uFillTx/>
                <a:latin typeface="AppleGothic"/>
                <a:ea typeface="AppleGothic"/>
              </a:rPr>
              <a:t>P*, F*</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X*</a:t>
            </a:r>
            <a:r>
              <a:rPr lang="ko-KR" sz="1750" b="1" u="none" strike="noStrike">
                <a:solidFill>
                  <a:srgbClr val="173C37"/>
                </a:solidFill>
                <a:effectLst/>
                <a:uFillTx/>
                <a:latin typeface="AppleGothic"/>
                <a:ea typeface="AppleGothic"/>
              </a:rPr>
              <a:t>에 대응하지만 </a:t>
            </a:r>
            <a:r>
              <a:rPr lang="en-US" sz="1750" b="1" u="none" strike="noStrike">
                <a:solidFill>
                  <a:srgbClr val="173C37"/>
                </a:solidFill>
                <a:effectLst/>
                <a:uFillTx/>
                <a:latin typeface="AppleGothic"/>
                <a:ea typeface="AppleGothic"/>
              </a:rPr>
              <a:t>RA</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Algorithm 2</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candidate scoring </a:t>
            </a:r>
            <a:r>
              <a:rPr lang="ko-KR" sz="1750" b="1" u="none" strike="noStrike">
                <a:solidFill>
                  <a:srgbClr val="173C37"/>
                </a:solidFill>
                <a:effectLst/>
                <a:uFillTx/>
                <a:latin typeface="AppleGothic"/>
                <a:ea typeface="AppleGothic"/>
              </a:rPr>
              <a:t>안에도 있다</a:t>
            </a:r>
            <a:endParaRPr lang="en-US" sz="1750" b="0" u="none" strike="noStrike">
              <a:solidFill>
                <a:srgbClr val="000000"/>
              </a:solidFill>
              <a:effectLst/>
              <a:uFillTx/>
              <a:latin typeface="Arial"/>
            </a:endParaRPr>
          </a:p>
        </p:txBody>
      </p:sp>
      <p:sp>
        <p:nvSpPr>
          <p:cNvPr id="345"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6"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10-18; Eqs. 13-19, 29-30; Alg. 2; Remark 2</a:t>
            </a:r>
            <a:endParaRPr lang="en-US" sz="1050" b="0" u="none" strike="noStrike">
              <a:solidFill>
                <a:srgbClr val="000000"/>
              </a:solidFill>
              <a:effectLst/>
              <a:uFillTx/>
              <a:latin typeface="Arial"/>
            </a:endParaRPr>
          </a:p>
        </p:txBody>
      </p:sp>
      <p:sp>
        <p:nvSpPr>
          <p:cNvPr id="347"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17</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8"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비교 방법의 </a:t>
            </a:r>
            <a:r>
              <a:rPr lang="en-US" sz="3100" b="1" u="none" strike="noStrike">
                <a:solidFill>
                  <a:srgbClr val="173C37"/>
                </a:solidFill>
                <a:effectLst/>
                <a:uFillTx/>
                <a:latin typeface="AppleGothic"/>
                <a:ea typeface="AppleGothic"/>
              </a:rPr>
              <a:t>scheduling·coordination </a:t>
            </a:r>
            <a:r>
              <a:rPr lang="ko-KR" sz="3100" b="1" u="none" strike="noStrike">
                <a:solidFill>
                  <a:srgbClr val="173C37"/>
                </a:solidFill>
                <a:effectLst/>
                <a:uFillTx/>
                <a:latin typeface="AppleGothic"/>
                <a:ea typeface="AppleGothic"/>
              </a:rPr>
              <a:t>범위</a:t>
            </a:r>
            <a:endParaRPr lang="en-US" sz="3100" b="0" u="none" strike="noStrike">
              <a:solidFill>
                <a:srgbClr val="000000"/>
              </a:solidFill>
              <a:effectLst/>
              <a:uFillTx/>
              <a:latin typeface="Arial"/>
            </a:endParaRPr>
          </a:p>
        </p:txBody>
      </p:sp>
      <p:sp>
        <p:nvSpPr>
          <p:cNvPr id="349"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모든 </a:t>
            </a:r>
            <a:r>
              <a:rPr lang="en-US" sz="1900" b="0" u="none" strike="noStrike">
                <a:solidFill>
                  <a:srgbClr val="0D685C"/>
                </a:solidFill>
                <a:effectLst/>
                <a:uFillTx/>
                <a:latin typeface="AppleGothic"/>
                <a:ea typeface="AppleGothic"/>
              </a:rPr>
              <a:t>baseline</a:t>
            </a:r>
            <a:r>
              <a:rPr lang="ko-KR" sz="1900" b="0" u="none" strike="noStrike">
                <a:solidFill>
                  <a:srgbClr val="0D685C"/>
                </a:solidFill>
                <a:effectLst/>
                <a:uFillTx/>
                <a:latin typeface="AppleGothic"/>
                <a:ea typeface="AppleGothic"/>
              </a:rPr>
              <a:t>이 같은 형태의 최적해를 푸는 것은 아니다</a:t>
            </a:r>
            <a:endParaRPr lang="en-US" sz="1900" b="0" u="none" strike="noStrike">
              <a:solidFill>
                <a:srgbClr val="000000"/>
              </a:solidFill>
              <a:effectLst/>
              <a:uFillTx/>
              <a:latin typeface="Arial"/>
            </a:endParaRPr>
          </a:p>
        </p:txBody>
      </p:sp>
      <p:graphicFrame>
        <p:nvGraphicFramePr>
          <p:cNvPr id="350" name="Table 0"/>
          <p:cNvGraphicFramePr/>
          <p:nvPr/>
        </p:nvGraphicFramePr>
        <p:xfrm>
          <a:off x="660240" y="2082960"/>
          <a:ext cx="10870920" cy="3314520"/>
        </p:xfrm>
        <a:graphic>
          <a:graphicData uri="http://schemas.openxmlformats.org/drawingml/2006/table">
            <a:tbl>
              <a:tblPr/>
              <a:tblGrid>
                <a:gridCol w="1956600"/>
                <a:gridCol w="3369960"/>
                <a:gridCol w="2935080"/>
                <a:gridCol w="260892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방법</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offloading choice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resource allocation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원문 역할</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Exhaustive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2^n decisions </a:t>
                      </a:r>
                      <a:r>
                        <a:rPr lang="ko-KR" sz="1550" b="0" u="none" strike="noStrike">
                          <a:solidFill>
                            <a:srgbClr val="173C37"/>
                          </a:solidFill>
                          <a:effectLst/>
                          <a:uFillTx/>
                          <a:latin typeface="AppleGothic"/>
                          <a:ea typeface="AppleGothic"/>
                        </a:rPr>
                        <a:t>전체 탐색</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각 </a:t>
                      </a:r>
                      <a:r>
                        <a:rPr lang="en-US" sz="1550" b="0" u="none" strike="noStrike">
                          <a:solidFill>
                            <a:srgbClr val="173C37"/>
                          </a:solidFill>
                          <a:effectLst/>
                          <a:uFillTx/>
                          <a:latin typeface="AppleGothic"/>
                          <a:ea typeface="AppleGothic"/>
                        </a:rPr>
                        <a:t>candidate</a:t>
                      </a:r>
                      <a:r>
                        <a:rPr lang="ko-KR" sz="1550" b="0" u="none" strike="noStrike">
                          <a:solidFill>
                            <a:srgbClr val="173C37"/>
                          </a:solidFill>
                          <a:effectLst/>
                          <a:uFillTx/>
                          <a:latin typeface="AppleGothic"/>
                          <a:ea typeface="AppleGothic"/>
                        </a:rPr>
                        <a:t>에 계산</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small setting</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optimal reference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GOJRA</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channel gain </a:t>
                      </a:r>
                      <a:r>
                        <a:rPr lang="ko-KR" sz="1550" b="0" u="none" strike="noStrike">
                          <a:solidFill>
                            <a:srgbClr val="173C37"/>
                          </a:solidFill>
                          <a:effectLst/>
                          <a:uFillTx/>
                          <a:latin typeface="AppleGothic"/>
                          <a:ea typeface="AppleGothic"/>
                        </a:rPr>
                        <a:t>순으로 </a:t>
                      </a:r>
                      <a:r>
                        <a:rPr lang="en-US" sz="1550" b="0" u="none" strike="noStrike">
                          <a:solidFill>
                            <a:srgbClr val="173C37"/>
                          </a:solidFill>
                          <a:effectLst/>
                          <a:uFillTx/>
                          <a:latin typeface="AppleGothic"/>
                          <a:ea typeface="AppleGothic"/>
                        </a:rPr>
                        <a:t>greedy admit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joint allocation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all-admissible offload rule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IOJRA</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home BS sub-band random </a:t>
                      </a:r>
                      <a:r>
                        <a:rPr lang="ko-KR" sz="1550" b="0" u="none" strike="noStrike">
                          <a:solidFill>
                            <a:srgbClr val="173C37"/>
                          </a:solidFill>
                          <a:effectLst/>
                          <a:uFillTx/>
                          <a:latin typeface="AppleGothic"/>
                          <a:ea typeface="AppleGothic"/>
                        </a:rPr>
                        <a:t>후 독립 결정</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joint allocation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independent decision baseline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DORA</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각 </a:t>
                      </a:r>
                      <a:r>
                        <a:rPr lang="en-US" sz="1550" b="0" u="none" strike="noStrike">
                          <a:solidFill>
                            <a:srgbClr val="173C37"/>
                          </a:solidFill>
                          <a:effectLst/>
                          <a:uFillTx/>
                          <a:latin typeface="AppleGothic"/>
                          <a:ea typeface="AppleGothic"/>
                        </a:rPr>
                        <a:t>BS</a:t>
                      </a:r>
                      <a:r>
                        <a:rPr lang="ko-KR" sz="1550" b="0" u="none" strike="noStrike">
                          <a:solidFill>
                            <a:srgbClr val="173C37"/>
                          </a:solidFill>
                          <a:effectLst/>
                          <a:uFillTx/>
                          <a:latin typeface="AppleGothic"/>
                          <a:ea typeface="AppleGothic"/>
                        </a:rPr>
                        <a:t>가 자기 </a:t>
                      </a:r>
                      <a:r>
                        <a:rPr lang="en-US" sz="1550" b="0" u="none" strike="noStrike">
                          <a:solidFill>
                            <a:srgbClr val="173C37"/>
                          </a:solidFill>
                          <a:effectLst/>
                          <a:uFillTx/>
                          <a:latin typeface="AppleGothic"/>
                          <a:ea typeface="AppleGothic"/>
                        </a:rPr>
                        <a:t>cell</a:t>
                      </a:r>
                      <a:r>
                        <a:rPr lang="ko-KR" sz="1550" b="0" u="none" strike="noStrike">
                          <a:solidFill>
                            <a:srgbClr val="173C37"/>
                          </a:solidFill>
                          <a:effectLst/>
                          <a:uFillTx/>
                          <a:latin typeface="AppleGothic"/>
                          <a:ea typeface="AppleGothic"/>
                        </a:rPr>
                        <a:t>만 결정</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 per-BS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distributed baseline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51"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52"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hJTORA</a:t>
            </a:r>
            <a:r>
              <a:rPr lang="ko-KR" sz="1750" b="1" u="none" strike="noStrike">
                <a:solidFill>
                  <a:srgbClr val="173C37"/>
                </a:solidFill>
                <a:effectLst/>
                <a:uFillTx/>
                <a:latin typeface="AppleGothic"/>
                <a:ea typeface="AppleGothic"/>
              </a:rPr>
              <a:t>의 비교 우위는 정해진 </a:t>
            </a:r>
            <a:r>
              <a:rPr lang="en-US" sz="1750" b="1" u="none" strike="noStrike">
                <a:solidFill>
                  <a:srgbClr val="173C37"/>
                </a:solidFill>
                <a:effectLst/>
                <a:uFillTx/>
                <a:latin typeface="AppleGothic"/>
                <a:ea typeface="AppleGothic"/>
              </a:rPr>
              <a:t>baselines</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simulation conditions </a:t>
            </a:r>
            <a:r>
              <a:rPr lang="ko-KR" sz="1750" b="1" u="none" strike="noStrike">
                <a:solidFill>
                  <a:srgbClr val="173C37"/>
                </a:solidFill>
                <a:effectLst/>
                <a:uFillTx/>
                <a:latin typeface="AppleGothic"/>
                <a:ea typeface="AppleGothic"/>
              </a:rPr>
              <a:t>안에서 읽어야 한다</a:t>
            </a:r>
            <a:endParaRPr lang="en-US" sz="1750" b="0" u="none" strike="noStrike">
              <a:solidFill>
                <a:srgbClr val="000000"/>
              </a:solidFill>
              <a:effectLst/>
              <a:uFillTx/>
              <a:latin typeface="Arial"/>
            </a:endParaRPr>
          </a:p>
        </p:txBody>
      </p:sp>
      <p:sp>
        <p:nvSpPr>
          <p:cNvPr id="353"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54"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 19; §VI; baseline definitions</a:t>
            </a:r>
            <a:endParaRPr lang="en-US" sz="1050" b="0" u="none" strike="noStrike">
              <a:solidFill>
                <a:srgbClr val="000000"/>
              </a:solidFill>
              <a:effectLst/>
              <a:uFillTx/>
              <a:latin typeface="Arial"/>
            </a:endParaRPr>
          </a:p>
        </p:txBody>
      </p:sp>
      <p:sp>
        <p:nvSpPr>
          <p:cNvPr id="355"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18</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기본 </a:t>
            </a:r>
            <a:r>
              <a:rPr lang="en-US" sz="3100" b="1" u="none" strike="noStrike">
                <a:solidFill>
                  <a:srgbClr val="173C37"/>
                </a:solidFill>
                <a:effectLst/>
                <a:uFillTx/>
                <a:latin typeface="AppleGothic"/>
                <a:ea typeface="AppleGothic"/>
              </a:rPr>
              <a:t>simulation </a:t>
            </a:r>
            <a:r>
              <a:rPr lang="ko-KR" sz="3100" b="1" u="none" strike="noStrike">
                <a:solidFill>
                  <a:srgbClr val="173C37"/>
                </a:solidFill>
                <a:effectLst/>
                <a:uFillTx/>
                <a:latin typeface="AppleGothic"/>
                <a:ea typeface="AppleGothic"/>
              </a:rPr>
              <a:t>조건이 </a:t>
            </a:r>
            <a:r>
              <a:rPr lang="en-US" sz="3100" b="1" u="none" strike="noStrike">
                <a:solidFill>
                  <a:srgbClr val="173C37"/>
                </a:solidFill>
                <a:effectLst/>
                <a:uFillTx/>
                <a:latin typeface="AppleGothic"/>
                <a:ea typeface="AppleGothic"/>
              </a:rPr>
              <a:t>result</a:t>
            </a:r>
            <a:r>
              <a:rPr lang="ko-KR" sz="3100" b="1" u="none" strike="noStrike">
                <a:solidFill>
                  <a:srgbClr val="173C37"/>
                </a:solidFill>
                <a:effectLst/>
                <a:uFillTx/>
                <a:latin typeface="AppleGothic"/>
                <a:ea typeface="AppleGothic"/>
              </a:rPr>
              <a:t>의 해석 범위를 정한다</a:t>
            </a:r>
            <a:endParaRPr lang="en-US" sz="3100" b="0" u="none" strike="noStrike">
              <a:solidFill>
                <a:srgbClr val="000000"/>
              </a:solidFill>
              <a:effectLst/>
              <a:uFillTx/>
              <a:latin typeface="Arial"/>
            </a:endParaRPr>
          </a:p>
        </p:txBody>
      </p:sp>
      <p:sp>
        <p:nvSpPr>
          <p:cNvPr id="35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여기서의 </a:t>
            </a:r>
            <a:r>
              <a:rPr lang="en-US" sz="1900" b="0" u="none" strike="noStrike">
                <a:solidFill>
                  <a:srgbClr val="0D685C"/>
                </a:solidFill>
                <a:effectLst/>
                <a:uFillTx/>
                <a:latin typeface="AppleGothic"/>
                <a:ea typeface="AppleGothic"/>
              </a:rPr>
              <a:t>utility</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runtime</a:t>
            </a:r>
            <a:r>
              <a:rPr lang="ko-KR" sz="1900" b="0" u="none" strike="noStrike">
                <a:solidFill>
                  <a:srgbClr val="0D685C"/>
                </a:solidFill>
                <a:effectLst/>
                <a:uFillTx/>
                <a:latin typeface="AppleGothic"/>
                <a:ea typeface="AppleGothic"/>
              </a:rPr>
              <a:t>은 이 </a:t>
            </a:r>
            <a:r>
              <a:rPr lang="en-US" sz="1900" b="0" u="none" strike="noStrike">
                <a:solidFill>
                  <a:srgbClr val="0D685C"/>
                </a:solidFill>
                <a:effectLst/>
                <a:uFillTx/>
                <a:latin typeface="AppleGothic"/>
                <a:ea typeface="AppleGothic"/>
              </a:rPr>
              <a:t>channel·CPU·task profile</a:t>
            </a:r>
            <a:r>
              <a:rPr lang="ko-KR" sz="1900" b="0" u="none" strike="noStrike">
                <a:solidFill>
                  <a:srgbClr val="0D685C"/>
                </a:solidFill>
                <a:effectLst/>
                <a:uFillTx/>
                <a:latin typeface="AppleGothic"/>
                <a:ea typeface="AppleGothic"/>
              </a:rPr>
              <a:t>에서 나온 값이다</a:t>
            </a:r>
            <a:endParaRPr lang="en-US" sz="1900" b="0" u="none" strike="noStrike">
              <a:solidFill>
                <a:srgbClr val="000000"/>
              </a:solidFill>
              <a:effectLst/>
              <a:uFillTx/>
              <a:latin typeface="Arial"/>
            </a:endParaRPr>
          </a:p>
        </p:txBody>
      </p:sp>
      <p:graphicFrame>
        <p:nvGraphicFramePr>
          <p:cNvPr id="358" name="Table 0"/>
          <p:cNvGraphicFramePr/>
          <p:nvPr/>
        </p:nvGraphicFramePr>
        <p:xfrm>
          <a:off x="660240" y="2082960"/>
          <a:ext cx="10870920" cy="3314520"/>
        </p:xfrm>
        <a:graphic>
          <a:graphicData uri="http://schemas.openxmlformats.org/drawingml/2006/table">
            <a:tbl>
              <a:tblPr/>
              <a:tblGrid>
                <a:gridCol w="2717640"/>
                <a:gridCol w="4565880"/>
                <a:gridCol w="358740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범주</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기본 조건</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의미</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cell and radio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S=7, 1 km spacing, B=20 MHz, P_u=20 dBm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single-antenna uplink model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noise and channel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noise -100 dBm, 8 dB shadowing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distance-dependent path loss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compute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server 20 GHz, local 1 GHz</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server CPU is finite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task</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d_u=420 KB, c_u=1000 Megacycles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face-recognition task</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preference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beta_ut=.2, beta_ue=.8, lambda_u=1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energy weighted default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59"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60"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numerical evidence</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7-cell default setting</a:t>
            </a:r>
            <a:r>
              <a:rPr lang="ko-KR" sz="1750" b="1" u="none" strike="noStrike">
                <a:solidFill>
                  <a:srgbClr val="173C37"/>
                </a:solidFill>
                <a:effectLst/>
                <a:uFillTx/>
                <a:latin typeface="AppleGothic"/>
                <a:ea typeface="AppleGothic"/>
              </a:rPr>
              <a:t>에 조건부다</a:t>
            </a:r>
            <a:endParaRPr lang="en-US" sz="1750" b="0" u="none" strike="noStrike">
              <a:solidFill>
                <a:srgbClr val="000000"/>
              </a:solidFill>
              <a:effectLst/>
              <a:uFillTx/>
              <a:latin typeface="Arial"/>
            </a:endParaRPr>
          </a:p>
        </p:txBody>
      </p:sp>
      <p:sp>
        <p:nvSpPr>
          <p:cNvPr id="361"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62"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18-19; §VI settings</a:t>
            </a:r>
            <a:endParaRPr lang="en-US" sz="1050" b="0" u="none" strike="noStrike">
              <a:solidFill>
                <a:srgbClr val="000000"/>
              </a:solidFill>
              <a:effectLst/>
              <a:uFillTx/>
              <a:latin typeface="Arial"/>
            </a:endParaRPr>
          </a:p>
        </p:txBody>
      </p:sp>
      <p:sp>
        <p:nvSpPr>
          <p:cNvPr id="363"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19</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4"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small network: hJTORA</a:t>
            </a:r>
            <a:r>
              <a:rPr lang="ko-KR" sz="3100" b="1" u="none" strike="noStrike">
                <a:solidFill>
                  <a:srgbClr val="173C37"/>
                </a:solidFill>
                <a:effectLst/>
                <a:uFillTx/>
                <a:latin typeface="AppleGothic"/>
                <a:ea typeface="AppleGothic"/>
              </a:rPr>
              <a:t>는 </a:t>
            </a:r>
            <a:r>
              <a:rPr lang="en-US" sz="3100" b="1" u="none" strike="noStrike">
                <a:solidFill>
                  <a:srgbClr val="173C37"/>
                </a:solidFill>
                <a:effectLst/>
                <a:uFillTx/>
                <a:latin typeface="AppleGothic"/>
                <a:ea typeface="AppleGothic"/>
              </a:rPr>
              <a:t>Exhaustive</a:t>
            </a:r>
            <a:r>
              <a:rPr lang="ko-KR" sz="3100" b="1" u="none" strike="noStrike">
                <a:solidFill>
                  <a:srgbClr val="173C37"/>
                </a:solidFill>
                <a:effectLst/>
                <a:uFillTx/>
                <a:latin typeface="AppleGothic"/>
                <a:ea typeface="AppleGothic"/>
              </a:rPr>
              <a:t>에 가깝고 빠르다</a:t>
            </a:r>
            <a:endParaRPr lang="en-US" sz="3100" b="0" u="none" strike="noStrike">
              <a:solidFill>
                <a:srgbClr val="000000"/>
              </a:solidFill>
              <a:effectLst/>
              <a:uFillTx/>
              <a:latin typeface="Arial"/>
            </a:endParaRPr>
          </a:p>
        </p:txBody>
      </p:sp>
      <p:sp>
        <p:nvSpPr>
          <p:cNvPr id="365"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near-optimal claim</a:t>
            </a:r>
            <a:r>
              <a:rPr lang="ko-KR" sz="1900" b="0" u="none" strike="noStrike">
                <a:solidFill>
                  <a:srgbClr val="0D685C"/>
                </a:solidFill>
                <a:effectLst/>
                <a:uFillTx/>
                <a:latin typeface="AppleGothic"/>
                <a:ea typeface="AppleGothic"/>
              </a:rPr>
              <a:t>은 </a:t>
            </a:r>
            <a:r>
              <a:rPr lang="en-US" sz="1900" b="0" u="none" strike="noStrike">
                <a:solidFill>
                  <a:srgbClr val="0D685C"/>
                </a:solidFill>
                <a:effectLst/>
                <a:uFillTx/>
                <a:latin typeface="AppleGothic"/>
                <a:ea typeface="AppleGothic"/>
              </a:rPr>
              <a:t>U=6, S=4, N=2</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500 shadowing realization </a:t>
            </a:r>
            <a:r>
              <a:rPr lang="ko-KR" sz="1900" b="0" u="none" strike="noStrike">
                <a:solidFill>
                  <a:srgbClr val="0D685C"/>
                </a:solidFill>
                <a:effectLst/>
                <a:uFillTx/>
                <a:latin typeface="AppleGothic"/>
                <a:ea typeface="AppleGothic"/>
              </a:rPr>
              <a:t>조건의 비교다</a:t>
            </a:r>
            <a:endParaRPr lang="en-US" sz="1900" b="0" u="none" strike="noStrike">
              <a:solidFill>
                <a:srgbClr val="000000"/>
              </a:solidFill>
              <a:effectLst/>
              <a:uFillTx/>
              <a:latin typeface="Arial"/>
            </a:endParaRPr>
          </a:p>
        </p:txBody>
      </p:sp>
      <p:graphicFrame>
        <p:nvGraphicFramePr>
          <p:cNvPr id="366" name="Table 0"/>
          <p:cNvGraphicFramePr/>
          <p:nvPr/>
        </p:nvGraphicFramePr>
        <p:xfrm>
          <a:off x="660240" y="2082960"/>
          <a:ext cx="10870920" cy="3426480"/>
        </p:xfrm>
        <a:graphic>
          <a:graphicData uri="http://schemas.openxmlformats.org/drawingml/2006/table">
            <a:tbl>
              <a:tblPr/>
              <a:tblGrid>
                <a:gridCol w="3369960"/>
                <a:gridCol w="3587400"/>
                <a:gridCol w="391356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관찰</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보고된 값</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조건 또는 주의</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utility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Exhaustive</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2% </a:t>
                      </a:r>
                      <a:r>
                        <a:rPr lang="ko-KR" sz="1550" b="0" u="none" strike="noStrike">
                          <a:solidFill>
                            <a:srgbClr val="173C37"/>
                          </a:solidFill>
                          <a:effectLst/>
                          <a:uFillTx/>
                          <a:latin typeface="AppleGothic"/>
                          <a:ea typeface="AppleGothic"/>
                        </a:rPr>
                        <a:t>이내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c_u=1000, 2000 Megacycles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baseline gain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DORA 13%; GOJRA 17%; IOJRA 47%</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2</a:t>
                      </a:r>
                      <a:r>
                        <a:rPr lang="ko-KR" sz="1550" b="0" u="none" strike="noStrike">
                          <a:solidFill>
                            <a:srgbClr val="173C37"/>
                          </a:solidFill>
                          <a:effectLst/>
                          <a:uFillTx/>
                          <a:latin typeface="AppleGothic"/>
                          <a:ea typeface="AppleGothic"/>
                        </a:rPr>
                        <a:t>의 두 </a:t>
                      </a:r>
                      <a:r>
                        <a:rPr lang="en-US" sz="1550" b="0" u="none" strike="noStrike">
                          <a:solidFill>
                            <a:srgbClr val="173C37"/>
                          </a:solidFill>
                          <a:effectLst/>
                          <a:uFillTx/>
                          <a:latin typeface="AppleGothic"/>
                          <a:ea typeface="AppleGothic"/>
                        </a:rPr>
                        <a:t>workload setting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hJTORA runtime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19.3±0.7 ms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Windows 7, 3.6 GHz CPU, 16 GB RAM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Exhaustive runtime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1923±1.4 ms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같은 </a:t>
                      </a:r>
                      <a:r>
                        <a:rPr lang="en-US" sz="1550" b="0" u="none" strike="noStrike">
                          <a:solidFill>
                            <a:srgbClr val="173C37"/>
                          </a:solidFill>
                          <a:effectLst/>
                          <a:uFillTx/>
                          <a:latin typeface="AppleGothic"/>
                          <a:ea typeface="AppleGothic"/>
                        </a:rPr>
                        <a:t>small setting</a:t>
                      </a:r>
                      <a:r>
                        <a:rPr lang="ko-KR" sz="1550" b="0" u="none" strike="noStrike">
                          <a:solidFill>
                            <a:srgbClr val="173C37"/>
                          </a:solidFill>
                          <a:effectLst/>
                          <a:uFillTx/>
                          <a:latin typeface="AppleGothic"/>
                          <a:ea typeface="AppleGothic"/>
                        </a:rPr>
                        <a:t>에서 약 </a:t>
                      </a:r>
                      <a:r>
                        <a:rPr lang="en-US" sz="1550" b="0" u="none" strike="noStrike">
                          <a:solidFill>
                            <a:srgbClr val="173C37"/>
                          </a:solidFill>
                          <a:effectLst/>
                          <a:uFillTx/>
                          <a:latin typeface="AppleGothic"/>
                          <a:ea typeface="AppleGothic"/>
                        </a:rPr>
                        <a:t>100</a:t>
                      </a:r>
                      <a:r>
                        <a:rPr lang="ko-KR" sz="1550" b="0" u="none" strike="noStrike">
                          <a:solidFill>
                            <a:srgbClr val="173C37"/>
                          </a:solidFill>
                          <a:effectLst/>
                          <a:uFillTx/>
                          <a:latin typeface="AppleGothic"/>
                          <a:ea typeface="AppleGothic"/>
                        </a:rPr>
                        <a:t>배</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uncertainty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95% confidence interval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500 large-scale fading realizations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67"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68"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near-optimal·100</a:t>
            </a:r>
            <a:r>
              <a:rPr lang="ko-KR" sz="1750" b="1" u="none" strike="noStrike">
                <a:solidFill>
                  <a:srgbClr val="173C37"/>
                </a:solidFill>
                <a:effectLst/>
                <a:uFillTx/>
                <a:latin typeface="AppleGothic"/>
                <a:ea typeface="AppleGothic"/>
              </a:rPr>
              <a:t>배 </a:t>
            </a:r>
            <a:r>
              <a:rPr lang="en-US" sz="1750" b="1" u="none" strike="noStrike">
                <a:solidFill>
                  <a:srgbClr val="173C37"/>
                </a:solidFill>
                <a:effectLst/>
                <a:uFillTx/>
                <a:latin typeface="AppleGothic"/>
                <a:ea typeface="AppleGothic"/>
              </a:rPr>
              <a:t>speed</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small setting</a:t>
            </a:r>
            <a:r>
              <a:rPr lang="ko-KR" sz="1750" b="1" u="none" strike="noStrike">
                <a:solidFill>
                  <a:srgbClr val="173C37"/>
                </a:solidFill>
                <a:effectLst/>
                <a:uFillTx/>
                <a:latin typeface="AppleGothic"/>
                <a:ea typeface="AppleGothic"/>
              </a:rPr>
              <a:t>의 관측값이다</a:t>
            </a:r>
            <a:endParaRPr lang="en-US" sz="1750" b="0" u="none" strike="noStrike">
              <a:solidFill>
                <a:srgbClr val="000000"/>
              </a:solidFill>
              <a:effectLst/>
              <a:uFillTx/>
              <a:latin typeface="Arial"/>
            </a:endParaRPr>
          </a:p>
        </p:txBody>
      </p:sp>
      <p:sp>
        <p:nvSpPr>
          <p:cNvPr id="369"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70"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19-20; Table I; Fig. 2</a:t>
            </a:r>
            <a:endParaRPr lang="en-US" sz="1050" b="0" u="none" strike="noStrike">
              <a:solidFill>
                <a:srgbClr val="000000"/>
              </a:solidFill>
              <a:effectLst/>
              <a:uFillTx/>
              <a:latin typeface="Arial"/>
            </a:endParaRPr>
          </a:p>
        </p:txBody>
      </p:sp>
      <p:sp>
        <p:nvSpPr>
          <p:cNvPr id="371"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20</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load·task profile</a:t>
            </a:r>
            <a:r>
              <a:rPr lang="ko-KR" sz="3100" b="1" u="none" strike="noStrike">
                <a:solidFill>
                  <a:srgbClr val="173C37"/>
                </a:solidFill>
                <a:effectLst/>
                <a:uFillTx/>
                <a:latin typeface="AppleGothic"/>
                <a:ea typeface="AppleGothic"/>
              </a:rPr>
              <a:t>이 </a:t>
            </a:r>
            <a:r>
              <a:rPr lang="en-US" sz="3100" b="1" u="none" strike="noStrike">
                <a:solidFill>
                  <a:srgbClr val="173C37"/>
                </a:solidFill>
                <a:effectLst/>
                <a:uFillTx/>
                <a:latin typeface="AppleGothic"/>
                <a:ea typeface="AppleGothic"/>
              </a:rPr>
              <a:t>offloading gain</a:t>
            </a:r>
            <a:r>
              <a:rPr lang="ko-KR" sz="3100" b="1" u="none" strike="noStrike">
                <a:solidFill>
                  <a:srgbClr val="173C37"/>
                </a:solidFill>
                <a:effectLst/>
                <a:uFillTx/>
                <a:latin typeface="AppleGothic"/>
                <a:ea typeface="AppleGothic"/>
              </a:rPr>
              <a:t>을 바꾼다</a:t>
            </a:r>
            <a:endParaRPr lang="en-US" sz="3100" b="0" u="none" strike="noStrike">
              <a:solidFill>
                <a:srgbClr val="000000"/>
              </a:solidFill>
              <a:effectLst/>
              <a:uFillTx/>
              <a:latin typeface="Arial"/>
            </a:endParaRPr>
          </a:p>
        </p:txBody>
      </p:sp>
      <p:sp>
        <p:nvSpPr>
          <p:cNvPr id="37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더 많은 </a:t>
            </a:r>
            <a:r>
              <a:rPr lang="en-US" sz="1900" b="0" u="none" strike="noStrike">
                <a:solidFill>
                  <a:srgbClr val="0D685C"/>
                </a:solidFill>
                <a:effectLst/>
                <a:uFillTx/>
                <a:latin typeface="AppleGothic"/>
                <a:ea typeface="AppleGothic"/>
              </a:rPr>
              <a:t>user</a:t>
            </a:r>
            <a:r>
              <a:rPr lang="ko-KR" sz="1900" b="0" u="none" strike="noStrike">
                <a:solidFill>
                  <a:srgbClr val="0D685C"/>
                </a:solidFill>
                <a:effectLst/>
                <a:uFillTx/>
                <a:latin typeface="AppleGothic"/>
                <a:ea typeface="AppleGothic"/>
              </a:rPr>
              <a:t>가 항상 더 큰 </a:t>
            </a:r>
            <a:r>
              <a:rPr lang="en-US" sz="1900" b="0" u="none" strike="noStrike">
                <a:solidFill>
                  <a:srgbClr val="0D685C"/>
                </a:solidFill>
                <a:effectLst/>
                <a:uFillTx/>
                <a:latin typeface="AppleGothic"/>
                <a:ea typeface="AppleGothic"/>
              </a:rPr>
              <a:t>system utility</a:t>
            </a:r>
            <a:r>
              <a:rPr lang="ko-KR" sz="1900" b="0" u="none" strike="noStrike">
                <a:solidFill>
                  <a:srgbClr val="0D685C"/>
                </a:solidFill>
                <a:effectLst/>
                <a:uFillTx/>
                <a:latin typeface="AppleGothic"/>
                <a:ea typeface="AppleGothic"/>
              </a:rPr>
              <a:t>를 뜻하지는 않는다</a:t>
            </a:r>
            <a:endParaRPr lang="en-US" sz="1900" b="0" u="none" strike="noStrike">
              <a:solidFill>
                <a:srgbClr val="000000"/>
              </a:solidFill>
              <a:effectLst/>
              <a:uFillTx/>
              <a:latin typeface="Arial"/>
            </a:endParaRPr>
          </a:p>
        </p:txBody>
      </p:sp>
      <p:graphicFrame>
        <p:nvGraphicFramePr>
          <p:cNvPr id="374" name="Table 0"/>
          <p:cNvGraphicFramePr/>
          <p:nvPr/>
        </p:nvGraphicFramePr>
        <p:xfrm>
          <a:off x="660240" y="2082960"/>
          <a:ext cx="10870920" cy="3314520"/>
        </p:xfrm>
        <a:graphic>
          <a:graphicData uri="http://schemas.openxmlformats.org/drawingml/2006/table">
            <a:tbl>
              <a:tblPr/>
              <a:tblGrid>
                <a:gridCol w="2717640"/>
                <a:gridCol w="4239720"/>
                <a:gridCol w="391356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변화</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보고된 관찰</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원문의 이유</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users per cell 1</a:t>
                      </a:r>
                      <a:r>
                        <a:rPr lang="ko-KR" sz="1550" b="0" u="none" strike="noStrike">
                          <a:solidFill>
                            <a:srgbClr val="173C37"/>
                          </a:solidFill>
                          <a:effectLst/>
                          <a:uFillTx/>
                          <a:latin typeface="AppleGothic"/>
                          <a:ea typeface="AppleGothic"/>
                        </a:rPr>
                        <a:t>에서 </a:t>
                      </a:r>
                      <a:r>
                        <a:rPr lang="en-US" sz="1550" b="0" u="none" strike="noStrike">
                          <a:solidFill>
                            <a:srgbClr val="173C37"/>
                          </a:solidFill>
                          <a:effectLst/>
                          <a:uFillTx/>
                          <a:latin typeface="AppleGothic"/>
                          <a:ea typeface="AppleGothic"/>
                        </a:rPr>
                        <a:t>10</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작을 때 증가 후 </a:t>
                      </a:r>
                      <a:r>
                        <a:rPr lang="en-US" sz="1550" b="0" u="none" strike="noStrike">
                          <a:solidFill>
                            <a:srgbClr val="173C37"/>
                          </a:solidFill>
                          <a:effectLst/>
                          <a:uFillTx/>
                          <a:latin typeface="AppleGothic"/>
                          <a:ea typeface="AppleGothic"/>
                        </a:rPr>
                        <a:t>threshold </a:t>
                      </a:r>
                      <a:r>
                        <a:rPr lang="ko-KR" sz="1550" b="0" u="none" strike="noStrike">
                          <a:solidFill>
                            <a:srgbClr val="173C37"/>
                          </a:solidFill>
                          <a:effectLst/>
                          <a:uFillTx/>
                          <a:latin typeface="AppleGothic"/>
                          <a:ea typeface="AppleGothic"/>
                        </a:rPr>
                        <a:t>뒤 감소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radio·CPU contention </a:t>
                      </a:r>
                      <a:r>
                        <a:rPr lang="ko-KR" sz="1550" b="0" u="none" strike="noStrike">
                          <a:solidFill>
                            <a:srgbClr val="173C37"/>
                          </a:solidFill>
                          <a:effectLst/>
                          <a:uFillTx/>
                          <a:latin typeface="AppleGothic"/>
                          <a:ea typeface="AppleGothic"/>
                        </a:rPr>
                        <a:t>증가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uniform workload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c_u=1000 Megacycles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3a </a:t>
                      </a:r>
                      <a:r>
                        <a:rPr lang="ko-KR" sz="1550" b="0" u="none" strike="noStrike">
                          <a:solidFill>
                            <a:srgbClr val="173C37"/>
                          </a:solidFill>
                          <a:effectLst/>
                          <a:uFillTx/>
                          <a:latin typeface="AppleGothic"/>
                          <a:ea typeface="AppleGothic"/>
                        </a:rPr>
                        <a:t>조건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nonuniform workload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cells 1,3,5,7</a:t>
                      </a:r>
                      <a:r>
                        <a:rPr lang="ko-KR" sz="1550" b="0" u="none" strike="noStrike">
                          <a:solidFill>
                            <a:srgbClr val="173C37"/>
                          </a:solidFill>
                          <a:effectLst/>
                          <a:uFillTx/>
                          <a:latin typeface="AppleGothic"/>
                          <a:ea typeface="AppleGothic"/>
                        </a:rPr>
                        <a:t>은 </a:t>
                      </a:r>
                      <a:r>
                        <a:rPr lang="en-US" sz="1550" b="0" u="none" strike="noStrike">
                          <a:solidFill>
                            <a:srgbClr val="173C37"/>
                          </a:solidFill>
                          <a:effectLst/>
                          <a:uFillTx/>
                          <a:latin typeface="AppleGothic"/>
                          <a:ea typeface="AppleGothic"/>
                        </a:rPr>
                        <a:t>500; 2,4,6</a:t>
                      </a:r>
                      <a:r>
                        <a:rPr lang="ko-KR" sz="1550" b="0" u="none" strike="noStrike">
                          <a:solidFill>
                            <a:srgbClr val="173C37"/>
                          </a:solidFill>
                          <a:effectLst/>
                          <a:uFillTx/>
                          <a:latin typeface="AppleGothic"/>
                          <a:ea typeface="AppleGothic"/>
                        </a:rPr>
                        <a:t>은 </a:t>
                      </a:r>
                      <a:r>
                        <a:rPr lang="en-US" sz="1550" b="0" u="none" strike="noStrike">
                          <a:solidFill>
                            <a:srgbClr val="173C37"/>
                          </a:solidFill>
                          <a:effectLst/>
                          <a:uFillTx/>
                          <a:latin typeface="AppleGothic"/>
                          <a:ea typeface="AppleGothic"/>
                        </a:rPr>
                        <a:t>2000</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3b </a:t>
                      </a:r>
                      <a:r>
                        <a:rPr lang="ko-KR" sz="1550" b="0" u="none" strike="noStrike">
                          <a:solidFill>
                            <a:srgbClr val="173C37"/>
                          </a:solidFill>
                          <a:effectLst/>
                          <a:uFillTx/>
                          <a:latin typeface="AppleGothic"/>
                          <a:ea typeface="AppleGothic"/>
                        </a:rPr>
                        <a:t>조건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workload c_u </a:t>
                      </a:r>
                      <a:r>
                        <a:rPr lang="ko-KR" sz="1550" b="0" u="none" strike="noStrike">
                          <a:solidFill>
                            <a:srgbClr val="173C37"/>
                          </a:solidFill>
                          <a:effectLst/>
                          <a:uFillTx/>
                          <a:latin typeface="AppleGothic"/>
                          <a:ea typeface="AppleGothic"/>
                        </a:rPr>
                        <a:t>증가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모든 </a:t>
                      </a:r>
                      <a:r>
                        <a:rPr lang="en-US" sz="1550" b="0" u="none" strike="noStrike">
                          <a:solidFill>
                            <a:srgbClr val="173C37"/>
                          </a:solidFill>
                          <a:effectLst/>
                          <a:uFillTx/>
                          <a:latin typeface="AppleGothic"/>
                          <a:ea typeface="AppleGothic"/>
                        </a:rPr>
                        <a:t>scheme utility </a:t>
                      </a:r>
                      <a:r>
                        <a:rPr lang="ko-KR" sz="1550" b="0" u="none" strike="noStrike">
                          <a:solidFill>
                            <a:srgbClr val="173C37"/>
                          </a:solidFill>
                          <a:effectLst/>
                          <a:uFillTx/>
                          <a:latin typeface="AppleGothic"/>
                          <a:ea typeface="AppleGothic"/>
                        </a:rPr>
                        <a:t>증가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MEC compute saving</a:t>
                      </a:r>
                      <a:r>
                        <a:rPr lang="ko-KR" sz="1550" b="0" u="none" strike="noStrike">
                          <a:solidFill>
                            <a:srgbClr val="173C37"/>
                          </a:solidFill>
                          <a:effectLst/>
                          <a:uFillTx/>
                          <a:latin typeface="AppleGothic"/>
                          <a:ea typeface="AppleGothic"/>
                        </a:rPr>
                        <a:t>가 커짐</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input d_u </a:t>
                      </a:r>
                      <a:r>
                        <a:rPr lang="ko-KR" sz="1550" b="0" u="none" strike="noStrike">
                          <a:solidFill>
                            <a:srgbClr val="173C37"/>
                          </a:solidFill>
                          <a:effectLst/>
                          <a:uFillTx/>
                          <a:latin typeface="AppleGothic"/>
                          <a:ea typeface="AppleGothic"/>
                        </a:rPr>
                        <a:t>증가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모든 </a:t>
                      </a:r>
                      <a:r>
                        <a:rPr lang="en-US" sz="1550" b="0" u="none" strike="noStrike">
                          <a:solidFill>
                            <a:srgbClr val="173C37"/>
                          </a:solidFill>
                          <a:effectLst/>
                          <a:uFillTx/>
                          <a:latin typeface="AppleGothic"/>
                          <a:ea typeface="AppleGothic"/>
                        </a:rPr>
                        <a:t>scheme utility </a:t>
                      </a:r>
                      <a:r>
                        <a:rPr lang="ko-KR" sz="1550" b="0" u="none" strike="noStrike">
                          <a:solidFill>
                            <a:srgbClr val="173C37"/>
                          </a:solidFill>
                          <a:effectLst/>
                          <a:uFillTx/>
                          <a:latin typeface="AppleGothic"/>
                          <a:ea typeface="AppleGothic"/>
                        </a:rPr>
                        <a:t>감소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upload overhead</a:t>
                      </a:r>
                      <a:r>
                        <a:rPr lang="ko-KR" sz="1550" b="0" u="none" strike="noStrike">
                          <a:solidFill>
                            <a:srgbClr val="173C37"/>
                          </a:solidFill>
                          <a:effectLst/>
                          <a:uFillTx/>
                          <a:latin typeface="AppleGothic"/>
                          <a:ea typeface="AppleGothic"/>
                        </a:rPr>
                        <a:t>가 커짐</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75"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76"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small input</a:t>
            </a:r>
            <a:r>
              <a:rPr lang="ko-KR" sz="1750" b="1" u="none" strike="noStrike">
                <a:solidFill>
                  <a:srgbClr val="173C37"/>
                </a:solidFill>
                <a:effectLst/>
                <a:uFillTx/>
                <a:latin typeface="AppleGothic"/>
                <a:ea typeface="AppleGothic"/>
              </a:rPr>
              <a:t>과 </a:t>
            </a:r>
            <a:r>
              <a:rPr lang="en-US" sz="1750" b="1" u="none" strike="noStrike">
                <a:solidFill>
                  <a:srgbClr val="173C37"/>
                </a:solidFill>
                <a:effectLst/>
                <a:uFillTx/>
                <a:latin typeface="AppleGothic"/>
                <a:ea typeface="AppleGothic"/>
              </a:rPr>
              <a:t>high workload</a:t>
            </a:r>
            <a:r>
              <a:rPr lang="ko-KR" sz="1750" b="1" u="none" strike="noStrike">
                <a:solidFill>
                  <a:srgbClr val="173C37"/>
                </a:solidFill>
                <a:effectLst/>
                <a:uFillTx/>
                <a:latin typeface="AppleGothic"/>
                <a:ea typeface="AppleGothic"/>
              </a:rPr>
              <a:t>가 </a:t>
            </a:r>
            <a:r>
              <a:rPr lang="en-US" sz="1750" b="1" u="none" strike="noStrike">
                <a:solidFill>
                  <a:srgbClr val="173C37"/>
                </a:solidFill>
                <a:effectLst/>
                <a:uFillTx/>
                <a:latin typeface="AppleGothic"/>
                <a:ea typeface="AppleGothic"/>
              </a:rPr>
              <a:t>offloading</a:t>
            </a:r>
            <a:r>
              <a:rPr lang="ko-KR" sz="1750" b="1" u="none" strike="noStrike">
                <a:solidFill>
                  <a:srgbClr val="173C37"/>
                </a:solidFill>
                <a:effectLst/>
                <a:uFillTx/>
                <a:latin typeface="AppleGothic"/>
                <a:ea typeface="AppleGothic"/>
              </a:rPr>
              <a:t>에 더 유리하다는 관찰은 </a:t>
            </a:r>
            <a:r>
              <a:rPr lang="en-US" sz="1750" b="1" u="none" strike="noStrike">
                <a:solidFill>
                  <a:srgbClr val="173C37"/>
                </a:solidFill>
                <a:effectLst/>
                <a:uFillTx/>
                <a:latin typeface="AppleGothic"/>
                <a:ea typeface="AppleGothic"/>
              </a:rPr>
              <a:t>Fig. 3-4 </a:t>
            </a:r>
            <a:r>
              <a:rPr lang="ko-KR" sz="1750" b="1" u="none" strike="noStrike">
                <a:solidFill>
                  <a:srgbClr val="173C37"/>
                </a:solidFill>
                <a:effectLst/>
                <a:uFillTx/>
                <a:latin typeface="AppleGothic"/>
                <a:ea typeface="AppleGothic"/>
              </a:rPr>
              <a:t>조건부 결과다</a:t>
            </a:r>
            <a:endParaRPr lang="en-US" sz="1750" b="0" u="none" strike="noStrike">
              <a:solidFill>
                <a:srgbClr val="000000"/>
              </a:solidFill>
              <a:effectLst/>
              <a:uFillTx/>
              <a:latin typeface="Arial"/>
            </a:endParaRPr>
          </a:p>
        </p:txBody>
      </p:sp>
      <p:sp>
        <p:nvSpPr>
          <p:cNvPr id="377"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78"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20-22; Figs. 3-4</a:t>
            </a:r>
            <a:endParaRPr lang="en-US" sz="1050" b="0" u="none" strike="noStrike">
              <a:solidFill>
                <a:srgbClr val="000000"/>
              </a:solidFill>
              <a:effectLst/>
              <a:uFillTx/>
              <a:latin typeface="Arial"/>
            </a:endParaRPr>
          </a:p>
        </p:txBody>
      </p:sp>
      <p:sp>
        <p:nvSpPr>
          <p:cNvPr id="379"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0"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time preference↑ → energy cost↑ (experiment)</a:t>
            </a:r>
            <a:endParaRPr lang="en-US" sz="3100" b="0" u="none" strike="noStrike">
              <a:solidFill>
                <a:srgbClr val="000000"/>
              </a:solidFill>
              <a:effectLst/>
              <a:uFillTx/>
              <a:latin typeface="Arial"/>
            </a:endParaRPr>
          </a:p>
        </p:txBody>
      </p:sp>
      <p:sp>
        <p:nvSpPr>
          <p:cNvPr id="381"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beta_ut</a:t>
            </a:r>
            <a:r>
              <a:rPr lang="ko-KR" sz="1900" b="0" u="none" strike="noStrike">
                <a:solidFill>
                  <a:srgbClr val="0D685C"/>
                </a:solidFill>
                <a:effectLst/>
                <a:uFillTx/>
                <a:latin typeface="AppleGothic"/>
                <a:ea typeface="AppleGothic"/>
              </a:rPr>
              <a:t>를 </a:t>
            </a:r>
            <a:r>
              <a:rPr lang="en-US" sz="1900" b="0" u="none" strike="noStrike">
                <a:solidFill>
                  <a:srgbClr val="0D685C"/>
                </a:solidFill>
                <a:effectLst/>
                <a:uFillTx/>
                <a:latin typeface="AppleGothic"/>
                <a:ea typeface="AppleGothic"/>
              </a:rPr>
              <a:t>.1</a:t>
            </a:r>
            <a:r>
              <a:rPr lang="ko-KR" sz="1900" b="0" u="none" strike="noStrike">
                <a:solidFill>
                  <a:srgbClr val="0D685C"/>
                </a:solidFill>
                <a:effectLst/>
                <a:uFillTx/>
                <a:latin typeface="AppleGothic"/>
                <a:ea typeface="AppleGothic"/>
              </a:rPr>
              <a:t>에서 </a:t>
            </a:r>
            <a:r>
              <a:rPr lang="en-US" sz="1900" b="0" u="none" strike="noStrike">
                <a:solidFill>
                  <a:srgbClr val="0D685C"/>
                </a:solidFill>
                <a:effectLst/>
                <a:uFillTx/>
                <a:latin typeface="AppleGothic"/>
                <a:ea typeface="AppleGothic"/>
              </a:rPr>
              <a:t>.9</a:t>
            </a:r>
            <a:r>
              <a:rPr lang="ko-KR" sz="1900" b="0" u="none" strike="noStrike">
                <a:solidFill>
                  <a:srgbClr val="0D685C"/>
                </a:solidFill>
                <a:effectLst/>
                <a:uFillTx/>
                <a:latin typeface="AppleGothic"/>
                <a:ea typeface="AppleGothic"/>
              </a:rPr>
              <a:t>로 올리고 </a:t>
            </a:r>
            <a:r>
              <a:rPr lang="en-US" sz="1900" b="0" u="none" strike="noStrike">
                <a:solidFill>
                  <a:srgbClr val="0D685C"/>
                </a:solidFill>
                <a:effectLst/>
                <a:uFillTx/>
                <a:latin typeface="AppleGothic"/>
                <a:ea typeface="AppleGothic"/>
              </a:rPr>
              <a:t>beta_ue=1-beta_ut</a:t>
            </a:r>
            <a:r>
              <a:rPr lang="ko-KR" sz="1900" b="0" u="none" strike="noStrike">
                <a:solidFill>
                  <a:srgbClr val="0D685C"/>
                </a:solidFill>
                <a:effectLst/>
                <a:uFillTx/>
                <a:latin typeface="AppleGothic"/>
                <a:ea typeface="AppleGothic"/>
              </a:rPr>
              <a:t>로 둔 </a:t>
            </a:r>
            <a:r>
              <a:rPr lang="en-US" sz="1900" b="0" u="none" strike="noStrike">
                <a:solidFill>
                  <a:srgbClr val="0D685C"/>
                </a:solidFill>
                <a:effectLst/>
                <a:uFillTx/>
                <a:latin typeface="AppleGothic"/>
                <a:ea typeface="AppleGothic"/>
              </a:rPr>
              <a:t>hJTORA </a:t>
            </a:r>
            <a:r>
              <a:rPr lang="ko-KR" sz="1900" b="0" u="none" strike="noStrike">
                <a:solidFill>
                  <a:srgbClr val="0D685C"/>
                </a:solidFill>
                <a:effectLst/>
                <a:uFillTx/>
                <a:latin typeface="AppleGothic"/>
                <a:ea typeface="AppleGothic"/>
              </a:rPr>
              <a:t>결과다</a:t>
            </a:r>
            <a:endParaRPr lang="en-US" sz="1900" b="0" u="none" strike="noStrike">
              <a:solidFill>
                <a:srgbClr val="000000"/>
              </a:solidFill>
              <a:effectLst/>
              <a:uFillTx/>
              <a:latin typeface="Arial"/>
            </a:endParaRPr>
          </a:p>
        </p:txBody>
      </p:sp>
      <p:sp>
        <p:nvSpPr>
          <p:cNvPr id="382"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383"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time weight up</a:t>
            </a:r>
            <a:endParaRPr lang="en-US" sz="1900" b="0" u="none" strike="noStrike">
              <a:solidFill>
                <a:srgbClr val="000000"/>
              </a:solidFill>
              <a:effectLst/>
              <a:uFillTx/>
              <a:latin typeface="Arial"/>
            </a:endParaRPr>
          </a:p>
        </p:txBody>
      </p:sp>
      <p:sp>
        <p:nvSpPr>
          <p:cNvPr id="384"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beta_ut: .1 to .9</a:t>
            </a:r>
            <a:endParaRPr lang="en-US" sz="1650" b="0" u="none" strike="noStrike">
              <a:solidFill>
                <a:srgbClr val="000000"/>
              </a:solidFill>
              <a:effectLst/>
              <a:uFillTx/>
              <a:latin typeface="Arial"/>
            </a:endParaRPr>
          </a:p>
        </p:txBody>
      </p:sp>
      <p:sp>
        <p:nvSpPr>
          <p:cNvPr id="385"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86"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87"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388"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energy weight down</a:t>
            </a:r>
            <a:endParaRPr lang="en-US" sz="1900" b="0" u="none" strike="noStrike">
              <a:solidFill>
                <a:srgbClr val="000000"/>
              </a:solidFill>
              <a:effectLst/>
              <a:uFillTx/>
              <a:latin typeface="Arial"/>
            </a:endParaRPr>
          </a:p>
        </p:txBody>
      </p:sp>
      <p:sp>
        <p:nvSpPr>
          <p:cNvPr id="389"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beta_ue=1-beta_ut</a:t>
            </a:r>
            <a:endParaRPr lang="en-US" sz="1650" b="0" u="none" strike="noStrike">
              <a:solidFill>
                <a:srgbClr val="000000"/>
              </a:solidFill>
              <a:effectLst/>
              <a:uFillTx/>
              <a:latin typeface="Arial"/>
            </a:endParaRPr>
          </a:p>
        </p:txBody>
      </p:sp>
      <p:sp>
        <p:nvSpPr>
          <p:cNvPr id="390"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91"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92"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393"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time result</a:t>
            </a:r>
            <a:endParaRPr lang="en-US" sz="1900" b="0" u="none" strike="noStrike">
              <a:solidFill>
                <a:srgbClr val="000000"/>
              </a:solidFill>
              <a:effectLst/>
              <a:uFillTx/>
              <a:latin typeface="Arial"/>
            </a:endParaRPr>
          </a:p>
        </p:txBody>
      </p:sp>
      <p:sp>
        <p:nvSpPr>
          <p:cNvPr id="394"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average time consumption </a:t>
            </a:r>
            <a:r>
              <a:rPr lang="ko-KR" sz="1650" b="0" u="none" strike="noStrike">
                <a:solidFill>
                  <a:srgbClr val="173C37"/>
                </a:solidFill>
                <a:effectLst/>
                <a:uFillTx/>
                <a:latin typeface="AppleGothic"/>
                <a:ea typeface="AppleGothic"/>
              </a:rPr>
              <a:t>감소</a:t>
            </a:r>
            <a:endParaRPr lang="en-US" sz="1650" b="0" u="none" strike="noStrike">
              <a:solidFill>
                <a:srgbClr val="000000"/>
              </a:solidFill>
              <a:effectLst/>
              <a:uFillTx/>
              <a:latin typeface="Arial"/>
            </a:endParaRPr>
          </a:p>
        </p:txBody>
      </p:sp>
      <p:sp>
        <p:nvSpPr>
          <p:cNvPr id="395"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96"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97"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398"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energy result</a:t>
            </a:r>
            <a:endParaRPr lang="en-US" sz="1900" b="0" u="none" strike="noStrike">
              <a:solidFill>
                <a:srgbClr val="000000"/>
              </a:solidFill>
              <a:effectLst/>
              <a:uFillTx/>
              <a:latin typeface="Arial"/>
            </a:endParaRPr>
          </a:p>
        </p:txBody>
      </p:sp>
      <p:sp>
        <p:nvSpPr>
          <p:cNvPr id="399"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average energy consumption </a:t>
            </a:r>
            <a:r>
              <a:rPr lang="ko-KR" sz="1650" b="0" u="none" strike="noStrike">
                <a:solidFill>
                  <a:srgbClr val="173C37"/>
                </a:solidFill>
                <a:effectLst/>
                <a:uFillTx/>
                <a:latin typeface="AppleGothic"/>
                <a:ea typeface="AppleGothic"/>
              </a:rPr>
              <a:t>증가</a:t>
            </a:r>
            <a:endParaRPr lang="en-US" sz="1650" b="0" u="none" strike="noStrike">
              <a:solidFill>
                <a:srgbClr val="000000"/>
              </a:solidFill>
              <a:effectLst/>
              <a:uFillTx/>
              <a:latin typeface="Arial"/>
            </a:endParaRPr>
          </a:p>
        </p:txBody>
      </p:sp>
      <p:sp>
        <p:nvSpPr>
          <p:cNvPr id="400"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01"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402"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403"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load effect</a:t>
            </a:r>
            <a:endParaRPr lang="en-US" sz="1900" b="0" u="none" strike="noStrike">
              <a:solidFill>
                <a:srgbClr val="000000"/>
              </a:solidFill>
              <a:effectLst/>
              <a:uFillTx/>
              <a:latin typeface="Arial"/>
            </a:endParaRPr>
          </a:p>
        </p:txBody>
      </p:sp>
      <p:sp>
        <p:nvSpPr>
          <p:cNvPr id="404"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U=21</a:t>
            </a:r>
            <a:r>
              <a:rPr lang="ko-KR" sz="1650" b="0" u="none" strike="noStrike">
                <a:solidFill>
                  <a:srgbClr val="173C37"/>
                </a:solidFill>
                <a:effectLst/>
                <a:uFillTx/>
                <a:latin typeface="AppleGothic"/>
                <a:ea typeface="AppleGothic"/>
              </a:rPr>
              <a:t>이 </a:t>
            </a:r>
            <a:r>
              <a:rPr lang="en-US" sz="1650" b="0" u="none" strike="noStrike">
                <a:solidFill>
                  <a:srgbClr val="173C37"/>
                </a:solidFill>
                <a:effectLst/>
                <a:uFillTx/>
                <a:latin typeface="AppleGothic"/>
                <a:ea typeface="AppleGothic"/>
              </a:rPr>
              <a:t>U=14</a:t>
            </a:r>
            <a:r>
              <a:rPr lang="ko-KR" sz="1650" b="0" u="none" strike="noStrike">
                <a:solidFill>
                  <a:srgbClr val="173C37"/>
                </a:solidFill>
                <a:effectLst/>
                <a:uFillTx/>
                <a:latin typeface="AppleGothic"/>
                <a:ea typeface="AppleGothic"/>
              </a:rPr>
              <a:t>보다 두 값이 큼</a:t>
            </a:r>
            <a:endParaRPr lang="en-US" sz="1650" b="0" u="none" strike="noStrike">
              <a:solidFill>
                <a:srgbClr val="000000"/>
              </a:solidFill>
              <a:effectLst/>
              <a:uFillTx/>
              <a:latin typeface="Arial"/>
            </a:endParaRPr>
          </a:p>
        </p:txBody>
      </p:sp>
      <p:sp>
        <p:nvSpPr>
          <p:cNvPr id="405"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06"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07"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user preference</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time</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energy</a:t>
            </a:r>
            <a:r>
              <a:rPr lang="ko-KR" sz="1750" b="1" u="none" strike="noStrike">
                <a:solidFill>
                  <a:srgbClr val="173C37"/>
                </a:solidFill>
                <a:effectLst/>
                <a:uFillTx/>
                <a:latin typeface="AppleGothic"/>
                <a:ea typeface="AppleGothic"/>
              </a:rPr>
              <a:t>를 하나의 방향으로 동시에 개선하는 </a:t>
            </a:r>
            <a:r>
              <a:rPr lang="en-US" sz="1750" b="1" u="none" strike="noStrike">
                <a:solidFill>
                  <a:srgbClr val="173C37"/>
                </a:solidFill>
                <a:effectLst/>
                <a:uFillTx/>
                <a:latin typeface="AppleGothic"/>
                <a:ea typeface="AppleGothic"/>
              </a:rPr>
              <a:t>knob</a:t>
            </a:r>
            <a:r>
              <a:rPr lang="ko-KR" sz="1750" b="1" u="none" strike="noStrike">
                <a:solidFill>
                  <a:srgbClr val="173C37"/>
                </a:solidFill>
                <a:effectLst/>
                <a:uFillTx/>
                <a:latin typeface="AppleGothic"/>
                <a:ea typeface="AppleGothic"/>
              </a:rPr>
              <a:t>가 아니다</a:t>
            </a:r>
            <a:endParaRPr lang="en-US" sz="1750" b="0" u="none" strike="noStrike">
              <a:solidFill>
                <a:srgbClr val="000000"/>
              </a:solidFill>
              <a:effectLst/>
              <a:uFillTx/>
              <a:latin typeface="Arial"/>
            </a:endParaRPr>
          </a:p>
        </p:txBody>
      </p:sp>
      <p:sp>
        <p:nvSpPr>
          <p:cNvPr id="408"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09"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22-23; Fig. 5</a:t>
            </a:r>
            <a:endParaRPr lang="en-US" sz="1050" b="0" u="none" strike="noStrike">
              <a:solidFill>
                <a:srgbClr val="000000"/>
              </a:solidFill>
              <a:effectLst/>
              <a:uFillTx/>
              <a:latin typeface="Arial"/>
            </a:endParaRPr>
          </a:p>
        </p:txBody>
      </p:sp>
      <p:sp>
        <p:nvSpPr>
          <p:cNvPr id="410"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1"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근사</a:t>
            </a:r>
            <a:r>
              <a:rPr lang="en-US" sz="3100" b="1" u="none" strike="noStrike">
                <a:solidFill>
                  <a:srgbClr val="173C37"/>
                </a:solidFill>
                <a:effectLst/>
                <a:uFillTx/>
                <a:latin typeface="AppleGothic"/>
                <a:ea typeface="AppleGothic"/>
              </a:rPr>
              <a:t>: 25 dBm </a:t>
            </a:r>
            <a:r>
              <a:rPr lang="ko-KR" sz="3100" b="1" u="none" strike="noStrike">
                <a:solidFill>
                  <a:srgbClr val="173C37"/>
                </a:solidFill>
                <a:effectLst/>
                <a:uFillTx/>
                <a:latin typeface="AppleGothic"/>
                <a:ea typeface="AppleGothic"/>
              </a:rPr>
              <a:t>아래 </a:t>
            </a:r>
            <a:r>
              <a:rPr lang="en-US" sz="3100" b="1" u="none" strike="noStrike">
                <a:solidFill>
                  <a:srgbClr val="173C37"/>
                </a:solidFill>
                <a:effectLst/>
                <a:uFillTx/>
                <a:latin typeface="AppleGothic"/>
                <a:ea typeface="AppleGothic"/>
              </a:rPr>
              <a:t>exact curve</a:t>
            </a:r>
            <a:r>
              <a:rPr lang="ko-KR" sz="3100" b="1" u="none" strike="noStrike">
                <a:solidFill>
                  <a:srgbClr val="173C37"/>
                </a:solidFill>
                <a:effectLst/>
                <a:uFillTx/>
                <a:latin typeface="AppleGothic"/>
                <a:ea typeface="AppleGothic"/>
              </a:rPr>
              <a:t>와 거의 일치</a:t>
            </a:r>
            <a:endParaRPr lang="en-US" sz="3100" b="0" u="none" strike="noStrike">
              <a:solidFill>
                <a:srgbClr val="000000"/>
              </a:solidFill>
              <a:effectLst/>
              <a:uFillTx/>
              <a:latin typeface="Arial"/>
            </a:endParaRPr>
          </a:p>
        </p:txBody>
      </p:sp>
      <p:sp>
        <p:nvSpPr>
          <p:cNvPr id="412"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Fig. 6</a:t>
            </a:r>
            <a:r>
              <a:rPr lang="ko-KR" sz="1900" b="0" u="none" strike="noStrike">
                <a:solidFill>
                  <a:srgbClr val="0D685C"/>
                </a:solidFill>
                <a:effectLst/>
                <a:uFillTx/>
                <a:latin typeface="AppleGothic"/>
                <a:ea typeface="AppleGothic"/>
              </a:rPr>
              <a:t>은 </a:t>
            </a:r>
            <a:r>
              <a:rPr lang="en-US" sz="1900" b="0" u="none" strike="noStrike">
                <a:solidFill>
                  <a:srgbClr val="0D685C"/>
                </a:solidFill>
                <a:effectLst/>
                <a:uFillTx/>
                <a:latin typeface="AppleGothic"/>
                <a:ea typeface="AppleGothic"/>
              </a:rPr>
              <a:t>approximation</a:t>
            </a:r>
            <a:r>
              <a:rPr lang="ko-KR" sz="1900" b="0" u="none" strike="noStrike">
                <a:solidFill>
                  <a:srgbClr val="0D685C"/>
                </a:solidFill>
                <a:effectLst/>
                <a:uFillTx/>
                <a:latin typeface="AppleGothic"/>
                <a:ea typeface="AppleGothic"/>
              </a:rPr>
              <a:t>을 </a:t>
            </a:r>
            <a:r>
              <a:rPr lang="en-US" sz="1900" b="0" u="none" strike="noStrike">
                <a:solidFill>
                  <a:srgbClr val="0D685C"/>
                </a:solidFill>
                <a:effectLst/>
                <a:uFillTx/>
                <a:latin typeface="AppleGothic"/>
                <a:ea typeface="AppleGothic"/>
              </a:rPr>
              <a:t>proof</a:t>
            </a:r>
            <a:r>
              <a:rPr lang="ko-KR" sz="1900" b="0" u="none" strike="noStrike">
                <a:solidFill>
                  <a:srgbClr val="0D685C"/>
                </a:solidFill>
                <a:effectLst/>
                <a:uFillTx/>
                <a:latin typeface="AppleGothic"/>
                <a:ea typeface="AppleGothic"/>
              </a:rPr>
              <a:t>가 아니라 </a:t>
            </a:r>
            <a:r>
              <a:rPr lang="en-US" sz="1900" b="0" u="none" strike="noStrike">
                <a:solidFill>
                  <a:srgbClr val="0D685C"/>
                </a:solidFill>
                <a:effectLst/>
                <a:uFillTx/>
                <a:latin typeface="AppleGothic"/>
                <a:ea typeface="AppleGothic"/>
              </a:rPr>
              <a:t>power sweep</a:t>
            </a:r>
            <a:r>
              <a:rPr lang="ko-KR" sz="1900" b="0" u="none" strike="noStrike">
                <a:solidFill>
                  <a:srgbClr val="0D685C"/>
                </a:solidFill>
                <a:effectLst/>
                <a:uFillTx/>
                <a:latin typeface="AppleGothic"/>
                <a:ea typeface="AppleGothic"/>
              </a:rPr>
              <a:t>에서의 </a:t>
            </a:r>
            <a:r>
              <a:rPr lang="en-US" sz="1900" b="0" u="none" strike="noStrike">
                <a:solidFill>
                  <a:srgbClr val="0D685C"/>
                </a:solidFill>
                <a:effectLst/>
                <a:uFillTx/>
                <a:latin typeface="AppleGothic"/>
                <a:ea typeface="AppleGothic"/>
              </a:rPr>
              <a:t>empirical check</a:t>
            </a:r>
            <a:r>
              <a:rPr lang="ko-KR" sz="1900" b="0" u="none" strike="noStrike">
                <a:solidFill>
                  <a:srgbClr val="0D685C"/>
                </a:solidFill>
                <a:effectLst/>
                <a:uFillTx/>
                <a:latin typeface="AppleGothic"/>
                <a:ea typeface="AppleGothic"/>
              </a:rPr>
              <a:t>로 읽게 한다</a:t>
            </a:r>
            <a:endParaRPr lang="en-US" sz="1900" b="0" u="none" strike="noStrike">
              <a:solidFill>
                <a:srgbClr val="000000"/>
              </a:solidFill>
              <a:effectLst/>
              <a:uFillTx/>
              <a:latin typeface="Arial"/>
            </a:endParaRPr>
          </a:p>
        </p:txBody>
      </p:sp>
      <p:graphicFrame>
        <p:nvGraphicFramePr>
          <p:cNvPr id="413" name="Table 0"/>
          <p:cNvGraphicFramePr/>
          <p:nvPr/>
        </p:nvGraphicFramePr>
        <p:xfrm>
          <a:off x="660240" y="2082960"/>
          <a:ext cx="10870920" cy="3314520"/>
        </p:xfrm>
        <a:graphic>
          <a:graphicData uri="http://schemas.openxmlformats.org/drawingml/2006/table">
            <a:tbl>
              <a:tblPr/>
              <a:tblGrid>
                <a:gridCol w="2391480"/>
                <a:gridCol w="2826360"/>
                <a:gridCol w="3152520"/>
                <a:gridCol w="250020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비교</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조건</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관찰</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해석 경계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exact vs approximation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U=14</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U=21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P_u&lt;25 dBm</a:t>
                      </a:r>
                      <a:r>
                        <a:rPr lang="ko-KR" sz="1550" b="0" u="none" strike="noStrike">
                          <a:solidFill>
                            <a:srgbClr val="173C37"/>
                          </a:solidFill>
                          <a:effectLst/>
                          <a:uFillTx/>
                          <a:latin typeface="AppleGothic"/>
                          <a:ea typeface="AppleGothic"/>
                        </a:rPr>
                        <a:t>에서 거의 동일</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해당 </a:t>
                      </a:r>
                      <a:r>
                        <a:rPr lang="en-US" sz="1550" b="0" u="none" strike="noStrike">
                          <a:solidFill>
                            <a:srgbClr val="173C37"/>
                          </a:solidFill>
                          <a:effectLst/>
                          <a:uFillTx/>
                          <a:latin typeface="AppleGothic"/>
                          <a:ea typeface="AppleGothic"/>
                        </a:rPr>
                        <a:t>sweep</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system utility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higher power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P_u&gt;25 dBm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gap</a:t>
                      </a:r>
                      <a:r>
                        <a:rPr lang="ko-KR" sz="1550" b="0" u="none" strike="noStrike">
                          <a:solidFill>
                            <a:srgbClr val="173C37"/>
                          </a:solidFill>
                          <a:effectLst/>
                          <a:uFillTx/>
                          <a:latin typeface="AppleGothic"/>
                          <a:ea typeface="AppleGothic"/>
                        </a:rPr>
                        <a:t>이 커짐</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approximation error</a:t>
                      </a:r>
                      <a:r>
                        <a:rPr lang="ko-KR" sz="1550" b="0" u="none" strike="noStrike">
                          <a:solidFill>
                            <a:srgbClr val="173C37"/>
                          </a:solidFill>
                          <a:effectLst/>
                          <a:uFillTx/>
                          <a:latin typeface="AppleGothic"/>
                          <a:ea typeface="AppleGothic"/>
                        </a:rPr>
                        <a:t>가 보임</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LTE reference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UE maximum 23 dBm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실용 범위 </a:t>
                      </a:r>
                      <a:r>
                        <a:rPr lang="en-US" sz="1550" b="0" u="none" strike="noStrike">
                          <a:solidFill>
                            <a:srgbClr val="173C37"/>
                          </a:solidFill>
                          <a:effectLst/>
                          <a:uFillTx/>
                          <a:latin typeface="AppleGothic"/>
                          <a:ea typeface="AppleGothic"/>
                        </a:rPr>
                        <a:t>argument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표준 자체를 재검증한 결과 아님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method boundary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Eq. 21 upper bound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UPA separability </a:t>
                      </a:r>
                      <a:r>
                        <a:rPr lang="ko-KR" sz="1550" b="0" u="none" strike="noStrike">
                          <a:solidFill>
                            <a:srgbClr val="173C37"/>
                          </a:solidFill>
                          <a:effectLst/>
                          <a:uFillTx/>
                          <a:latin typeface="AppleGothic"/>
                          <a:ea typeface="AppleGothic"/>
                        </a:rPr>
                        <a:t>제공</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exact coupled optimum </a:t>
                      </a:r>
                      <a:r>
                        <a:rPr lang="ko-KR" sz="1550" b="0" u="none" strike="noStrike">
                          <a:solidFill>
                            <a:srgbClr val="173C37"/>
                          </a:solidFill>
                          <a:effectLst/>
                          <a:uFillTx/>
                          <a:latin typeface="AppleGothic"/>
                          <a:ea typeface="AppleGothic"/>
                        </a:rPr>
                        <a:t>보장 아님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414"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15"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근사의 신뢰성은 </a:t>
            </a:r>
            <a:r>
              <a:rPr lang="en-US" sz="1750" b="1" u="none" strike="noStrike">
                <a:solidFill>
                  <a:srgbClr val="173C37"/>
                </a:solidFill>
                <a:effectLst/>
                <a:uFillTx/>
                <a:latin typeface="AppleGothic"/>
                <a:ea typeface="AppleGothic"/>
              </a:rPr>
              <a:t>reported power range</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channel model</a:t>
            </a:r>
            <a:r>
              <a:rPr lang="ko-KR" sz="1750" b="1" u="none" strike="noStrike">
                <a:solidFill>
                  <a:srgbClr val="173C37"/>
                </a:solidFill>
                <a:effectLst/>
                <a:uFillTx/>
                <a:latin typeface="AppleGothic"/>
                <a:ea typeface="AppleGothic"/>
              </a:rPr>
              <a:t>에 묶인 </a:t>
            </a:r>
            <a:r>
              <a:rPr lang="en-US" sz="1750" b="1" u="none" strike="noStrike">
                <a:solidFill>
                  <a:srgbClr val="173C37"/>
                </a:solidFill>
                <a:effectLst/>
                <a:uFillTx/>
                <a:latin typeface="AppleGothic"/>
                <a:ea typeface="AppleGothic"/>
              </a:rPr>
              <a:t>simulation evidence</a:t>
            </a:r>
            <a:r>
              <a:rPr lang="ko-KR" sz="1750" b="1" u="none" strike="noStrike">
                <a:solidFill>
                  <a:srgbClr val="173C37"/>
                </a:solidFill>
                <a:effectLst/>
                <a:uFillTx/>
                <a:latin typeface="AppleGothic"/>
                <a:ea typeface="AppleGothic"/>
              </a:rPr>
              <a:t>다</a:t>
            </a:r>
            <a:endParaRPr lang="en-US" sz="1750" b="0" u="none" strike="noStrike">
              <a:solidFill>
                <a:srgbClr val="000000"/>
              </a:solidFill>
              <a:effectLst/>
              <a:uFillTx/>
              <a:latin typeface="Arial"/>
            </a:endParaRPr>
          </a:p>
        </p:txBody>
      </p:sp>
      <p:sp>
        <p:nvSpPr>
          <p:cNvPr id="416"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17"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23-24; Fig. 6; Eq. 21</a:t>
            </a:r>
            <a:endParaRPr lang="en-US" sz="1050" b="0" u="none" strike="noStrike">
              <a:solidFill>
                <a:srgbClr val="000000"/>
              </a:solidFill>
              <a:effectLst/>
              <a:uFillTx/>
              <a:latin typeface="Arial"/>
            </a:endParaRPr>
          </a:p>
        </p:txBody>
      </p:sp>
      <p:sp>
        <p:nvSpPr>
          <p:cNvPr id="418"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23</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결과를 넘어 일반화하면 안 되는 모델 경계</a:t>
            </a:r>
            <a:endParaRPr lang="en-US" sz="3100" b="0" u="none" strike="noStrike">
              <a:solidFill>
                <a:srgbClr val="000000"/>
              </a:solidFill>
              <a:effectLst/>
              <a:uFillTx/>
              <a:latin typeface="Arial"/>
            </a:endParaRPr>
          </a:p>
        </p:txBody>
      </p:sp>
      <p:sp>
        <p:nvSpPr>
          <p:cNvPr id="42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정확한 </a:t>
            </a:r>
            <a:r>
              <a:rPr lang="en-US" sz="1900" b="0" u="none" strike="noStrike">
                <a:solidFill>
                  <a:srgbClr val="0D685C"/>
                </a:solidFill>
                <a:effectLst/>
                <a:uFillTx/>
                <a:latin typeface="AppleGothic"/>
                <a:ea typeface="AppleGothic"/>
              </a:rPr>
              <a:t>optimizer </a:t>
            </a:r>
            <a:r>
              <a:rPr lang="ko-KR" sz="1900" b="0" u="none" strike="noStrike">
                <a:solidFill>
                  <a:srgbClr val="0D685C"/>
                </a:solidFill>
                <a:effectLst/>
                <a:uFillTx/>
                <a:latin typeface="AppleGothic"/>
                <a:ea typeface="AppleGothic"/>
              </a:rPr>
              <a:t>설명에는 가정과 </a:t>
            </a:r>
            <a:r>
              <a:rPr lang="en-US" sz="1900" b="0" u="none" strike="noStrike">
                <a:solidFill>
                  <a:srgbClr val="0D685C"/>
                </a:solidFill>
                <a:effectLst/>
                <a:uFillTx/>
                <a:latin typeface="AppleGothic"/>
                <a:ea typeface="AppleGothic"/>
              </a:rPr>
              <a:t>evidence boundary</a:t>
            </a:r>
            <a:r>
              <a:rPr lang="ko-KR" sz="1900" b="0" u="none" strike="noStrike">
                <a:solidFill>
                  <a:srgbClr val="0D685C"/>
                </a:solidFill>
                <a:effectLst/>
                <a:uFillTx/>
                <a:latin typeface="AppleGothic"/>
                <a:ea typeface="AppleGothic"/>
              </a:rPr>
              <a:t>가 함께 필요하다</a:t>
            </a:r>
            <a:endParaRPr lang="en-US" sz="1900" b="0" u="none" strike="noStrike">
              <a:solidFill>
                <a:srgbClr val="000000"/>
              </a:solidFill>
              <a:effectLst/>
              <a:uFillTx/>
              <a:latin typeface="Arial"/>
            </a:endParaRPr>
          </a:p>
        </p:txBody>
      </p:sp>
      <p:sp>
        <p:nvSpPr>
          <p:cNvPr id="421" name="Text 2"/>
          <p:cNvSpPr/>
          <p:nvPr/>
        </p:nvSpPr>
        <p:spPr>
          <a:xfrm>
            <a:off x="838080" y="2171880"/>
            <a:ext cx="10693080" cy="53316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atomic task</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local </a:t>
            </a:r>
            <a:r>
              <a:rPr lang="ko-KR" sz="2000" b="0" u="none" strike="noStrike">
                <a:solidFill>
                  <a:srgbClr val="173C37"/>
                </a:solidFill>
                <a:effectLst/>
                <a:uFillTx/>
                <a:latin typeface="AppleGothic"/>
                <a:ea typeface="AppleGothic"/>
              </a:rPr>
              <a:t>또는 한 </a:t>
            </a:r>
            <a:r>
              <a:rPr lang="en-US" sz="2000" b="0" u="none" strike="noStrike">
                <a:solidFill>
                  <a:srgbClr val="173C37"/>
                </a:solidFill>
                <a:effectLst/>
                <a:uFillTx/>
                <a:latin typeface="AppleGothic"/>
                <a:ea typeface="AppleGothic"/>
              </a:rPr>
              <a:t>MEC</a:t>
            </a:r>
            <a:r>
              <a:rPr lang="ko-KR" sz="2000" b="0" u="none" strike="noStrike">
                <a:solidFill>
                  <a:srgbClr val="173C37"/>
                </a:solidFill>
                <a:effectLst/>
                <a:uFillTx/>
                <a:latin typeface="AppleGothic"/>
                <a:ea typeface="AppleGothic"/>
              </a:rPr>
              <a:t>로 가며 </a:t>
            </a:r>
            <a:r>
              <a:rPr lang="en-US" sz="2000" b="0" u="none" strike="noStrike">
                <a:solidFill>
                  <a:srgbClr val="173C37"/>
                </a:solidFill>
                <a:effectLst/>
                <a:uFillTx/>
                <a:latin typeface="AppleGothic"/>
                <a:ea typeface="AppleGothic"/>
              </a:rPr>
              <a:t>output downlink delay</a:t>
            </a:r>
            <a:r>
              <a:rPr lang="ko-KR" sz="2000" b="0" u="none" strike="noStrike">
                <a:solidFill>
                  <a:srgbClr val="173C37"/>
                </a:solidFill>
                <a:effectLst/>
                <a:uFillTx/>
                <a:latin typeface="AppleGothic"/>
                <a:ea typeface="AppleGothic"/>
              </a:rPr>
              <a:t>는 생략한다</a:t>
            </a:r>
            <a:endParaRPr lang="en-US" sz="2000" b="0" u="none" strike="noStrike">
              <a:solidFill>
                <a:srgbClr val="000000"/>
              </a:solidFill>
              <a:effectLst/>
              <a:uFillTx/>
              <a:latin typeface="Arial"/>
            </a:endParaRPr>
          </a:p>
        </p:txBody>
      </p:sp>
      <p:sp>
        <p:nvSpPr>
          <p:cNvPr id="422" name="Shape 3"/>
          <p:cNvSpPr/>
          <p:nvPr/>
        </p:nvSpPr>
        <p:spPr>
          <a:xfrm>
            <a:off x="838080" y="275580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23" name="Text 4"/>
          <p:cNvSpPr/>
          <p:nvPr/>
        </p:nvSpPr>
        <p:spPr>
          <a:xfrm>
            <a:off x="838080" y="2793960"/>
            <a:ext cx="10693080" cy="53316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single antenna·OFDMA; fast fading</a:t>
            </a:r>
            <a:r>
              <a:rPr lang="ko-KR" sz="2000" b="0" u="none" strike="noStrike">
                <a:solidFill>
                  <a:srgbClr val="173C37"/>
                </a:solidFill>
                <a:effectLst/>
                <a:uFillTx/>
                <a:latin typeface="AppleGothic"/>
                <a:ea typeface="AppleGothic"/>
              </a:rPr>
              <a:t>은 </a:t>
            </a:r>
            <a:r>
              <a:rPr lang="en-US" sz="2000" b="0" u="none" strike="noStrike">
                <a:solidFill>
                  <a:srgbClr val="173C37"/>
                </a:solidFill>
                <a:effectLst/>
                <a:uFillTx/>
                <a:latin typeface="AppleGothic"/>
                <a:ea typeface="AppleGothic"/>
              </a:rPr>
              <a:t>interval </a:t>
            </a:r>
            <a:r>
              <a:rPr lang="ko-KR" sz="2000" b="0" u="none" strike="noStrike">
                <a:solidFill>
                  <a:srgbClr val="173C37"/>
                </a:solidFill>
                <a:effectLst/>
                <a:uFillTx/>
                <a:latin typeface="AppleGothic"/>
                <a:ea typeface="AppleGothic"/>
              </a:rPr>
              <a:t>평균으로 둔다</a:t>
            </a:r>
            <a:endParaRPr lang="en-US" sz="2000" b="0" u="none" strike="noStrike">
              <a:solidFill>
                <a:srgbClr val="000000"/>
              </a:solidFill>
              <a:effectLst/>
              <a:uFillTx/>
              <a:latin typeface="Arial"/>
            </a:endParaRPr>
          </a:p>
        </p:txBody>
      </p:sp>
      <p:sp>
        <p:nvSpPr>
          <p:cNvPr id="424" name="Shape 5"/>
          <p:cNvSpPr/>
          <p:nvPr/>
        </p:nvSpPr>
        <p:spPr>
          <a:xfrm>
            <a:off x="838080" y="337788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25" name="Text 6"/>
          <p:cNvSpPr/>
          <p:nvPr/>
        </p:nvSpPr>
        <p:spPr>
          <a:xfrm>
            <a:off x="838080" y="3416400"/>
            <a:ext cx="10693080" cy="53316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UPA</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inter-cell interference upper bound</a:t>
            </a:r>
            <a:r>
              <a:rPr lang="ko-KR" sz="2000" b="0" u="none" strike="noStrike">
                <a:solidFill>
                  <a:srgbClr val="173C37"/>
                </a:solidFill>
                <a:effectLst/>
                <a:uFillTx/>
                <a:latin typeface="AppleGothic"/>
                <a:ea typeface="AppleGothic"/>
              </a:rPr>
              <a:t>로 </a:t>
            </a:r>
            <a:r>
              <a:rPr lang="en-US" sz="2000" b="0" u="none" strike="noStrike">
                <a:solidFill>
                  <a:srgbClr val="173C37"/>
                </a:solidFill>
                <a:effectLst/>
                <a:uFillTx/>
                <a:latin typeface="AppleGothic"/>
                <a:ea typeface="AppleGothic"/>
              </a:rPr>
              <a:t>separable approximation</a:t>
            </a:r>
            <a:r>
              <a:rPr lang="ko-KR" sz="2000" b="0" u="none" strike="noStrike">
                <a:solidFill>
                  <a:srgbClr val="173C37"/>
                </a:solidFill>
                <a:effectLst/>
                <a:uFillTx/>
                <a:latin typeface="AppleGothic"/>
                <a:ea typeface="AppleGothic"/>
              </a:rPr>
              <a:t>을 만든다</a:t>
            </a:r>
            <a:endParaRPr lang="en-US" sz="2000" b="0" u="none" strike="noStrike">
              <a:solidFill>
                <a:srgbClr val="000000"/>
              </a:solidFill>
              <a:effectLst/>
              <a:uFillTx/>
              <a:latin typeface="Arial"/>
            </a:endParaRPr>
          </a:p>
        </p:txBody>
      </p:sp>
      <p:sp>
        <p:nvSpPr>
          <p:cNvPr id="426" name="Shape 7"/>
          <p:cNvSpPr/>
          <p:nvPr/>
        </p:nvSpPr>
        <p:spPr>
          <a:xfrm>
            <a:off x="838080" y="400032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27" name="Text 8"/>
          <p:cNvSpPr/>
          <p:nvPr/>
        </p:nvSpPr>
        <p:spPr>
          <a:xfrm>
            <a:off x="838080" y="4038480"/>
            <a:ext cx="10693080" cy="53316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Algorithm 2</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local solution</a:t>
            </a:r>
            <a:r>
              <a:rPr lang="ko-KR" sz="2000" b="0" u="none" strike="noStrike">
                <a:solidFill>
                  <a:srgbClr val="173C37"/>
                </a:solidFill>
                <a:effectLst/>
                <a:uFillTx/>
                <a:latin typeface="AppleGothic"/>
                <a:ea typeface="AppleGothic"/>
              </a:rPr>
              <a:t>이고 </a:t>
            </a:r>
            <a:r>
              <a:rPr lang="en-US" sz="2000" b="0" u="none" strike="noStrike">
                <a:solidFill>
                  <a:srgbClr val="173C37"/>
                </a:solidFill>
                <a:effectLst/>
                <a:uFillTx/>
                <a:latin typeface="AppleGothic"/>
                <a:ea typeface="AppleGothic"/>
              </a:rPr>
              <a:t>global ratio</a:t>
            </a:r>
            <a:r>
              <a:rPr lang="ko-KR" sz="2000" b="0" u="none" strike="noStrike">
                <a:solidFill>
                  <a:srgbClr val="173C37"/>
                </a:solidFill>
                <a:effectLst/>
                <a:uFillTx/>
                <a:latin typeface="AppleGothic"/>
                <a:ea typeface="AppleGothic"/>
              </a:rPr>
              <a:t>를 제시하지 않는다</a:t>
            </a:r>
            <a:endParaRPr lang="en-US" sz="2000" b="0" u="none" strike="noStrike">
              <a:solidFill>
                <a:srgbClr val="000000"/>
              </a:solidFill>
              <a:effectLst/>
              <a:uFillTx/>
              <a:latin typeface="Arial"/>
            </a:endParaRPr>
          </a:p>
        </p:txBody>
      </p:sp>
      <p:sp>
        <p:nvSpPr>
          <p:cNvPr id="428" name="Shape 9"/>
          <p:cNvSpPr/>
          <p:nvPr/>
        </p:nvSpPr>
        <p:spPr>
          <a:xfrm>
            <a:off x="838080" y="462276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29" name="Text 10"/>
          <p:cNvSpPr/>
          <p:nvPr/>
        </p:nvSpPr>
        <p:spPr>
          <a:xfrm>
            <a:off x="838080" y="4660920"/>
            <a:ext cx="10693080" cy="53316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near-optimal result·runtime</a:t>
            </a:r>
            <a:r>
              <a:rPr lang="ko-KR" sz="2000" b="0" u="none" strike="noStrike">
                <a:solidFill>
                  <a:srgbClr val="173C37"/>
                </a:solidFill>
                <a:effectLst/>
                <a:uFillTx/>
                <a:latin typeface="AppleGothic"/>
                <a:ea typeface="AppleGothic"/>
              </a:rPr>
              <a:t>은 </a:t>
            </a:r>
            <a:r>
              <a:rPr lang="en-US" sz="2000" b="0" u="none" strike="noStrike">
                <a:solidFill>
                  <a:srgbClr val="173C37"/>
                </a:solidFill>
                <a:effectLst/>
                <a:uFillTx/>
                <a:latin typeface="AppleGothic"/>
                <a:ea typeface="AppleGothic"/>
              </a:rPr>
              <a:t>small simulation</a:t>
            </a:r>
            <a:r>
              <a:rPr lang="ko-KR" sz="2000" b="0" u="none" strike="noStrike">
                <a:solidFill>
                  <a:srgbClr val="173C37"/>
                </a:solidFill>
                <a:effectLst/>
                <a:uFillTx/>
                <a:latin typeface="AppleGothic"/>
                <a:ea typeface="AppleGothic"/>
              </a:rPr>
              <a:t>과 </a:t>
            </a:r>
            <a:r>
              <a:rPr lang="en-US" sz="2000" b="0" u="none" strike="noStrike">
                <a:solidFill>
                  <a:srgbClr val="173C37"/>
                </a:solidFill>
                <a:effectLst/>
                <a:uFillTx/>
                <a:latin typeface="AppleGothic"/>
                <a:ea typeface="AppleGothic"/>
              </a:rPr>
              <a:t>Table I hardware</a:t>
            </a:r>
            <a:r>
              <a:rPr lang="ko-KR" sz="2000" b="0" u="none" strike="noStrike">
                <a:solidFill>
                  <a:srgbClr val="173C37"/>
                </a:solidFill>
                <a:effectLst/>
                <a:uFillTx/>
                <a:latin typeface="AppleGothic"/>
                <a:ea typeface="AppleGothic"/>
              </a:rPr>
              <a:t>에 한정된다</a:t>
            </a:r>
            <a:endParaRPr lang="en-US" sz="2000" b="0" u="none" strike="noStrike">
              <a:solidFill>
                <a:srgbClr val="000000"/>
              </a:solidFill>
              <a:effectLst/>
              <a:uFillTx/>
              <a:latin typeface="Arial"/>
            </a:endParaRPr>
          </a:p>
        </p:txBody>
      </p:sp>
      <p:sp>
        <p:nvSpPr>
          <p:cNvPr id="430" name="Shape 11"/>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31" name="Text 12"/>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JTORA</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decomposition </a:t>
            </a:r>
            <a:r>
              <a:rPr lang="ko-KR" sz="1750" b="1" u="none" strike="noStrike">
                <a:solidFill>
                  <a:srgbClr val="173C37"/>
                </a:solidFill>
                <a:effectLst/>
                <a:uFillTx/>
                <a:latin typeface="AppleGothic"/>
                <a:ea typeface="AppleGothic"/>
              </a:rPr>
              <a:t>예시이며 </a:t>
            </a:r>
            <a:r>
              <a:rPr lang="en-US" sz="1750" b="1" u="none" strike="noStrike">
                <a:solidFill>
                  <a:srgbClr val="173C37"/>
                </a:solidFill>
                <a:effectLst/>
                <a:uFillTx/>
                <a:latin typeface="AppleGothic"/>
                <a:ea typeface="AppleGothic"/>
              </a:rPr>
              <a:t>modern MEC </a:t>
            </a:r>
            <a:r>
              <a:rPr lang="ko-KR" sz="1750" b="1" u="none" strike="noStrike">
                <a:solidFill>
                  <a:srgbClr val="173C37"/>
                </a:solidFill>
                <a:effectLst/>
                <a:uFillTx/>
                <a:latin typeface="AppleGothic"/>
                <a:ea typeface="AppleGothic"/>
              </a:rPr>
              <a:t>전체 모델은 아니다</a:t>
            </a:r>
            <a:endParaRPr lang="en-US" sz="1750" b="0" u="none" strike="noStrike">
              <a:solidFill>
                <a:srgbClr val="000000"/>
              </a:solidFill>
              <a:effectLst/>
              <a:uFillTx/>
              <a:latin typeface="Arial"/>
            </a:endParaRPr>
          </a:p>
        </p:txBody>
      </p:sp>
      <p:sp>
        <p:nvSpPr>
          <p:cNvPr id="432" name="Shape 13"/>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33" name="Text 14"/>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6-8, 13, 18-20; §§III,V-VI</a:t>
            </a:r>
            <a:endParaRPr lang="en-US" sz="1050" b="0" u="none" strike="noStrike">
              <a:solidFill>
                <a:srgbClr val="000000"/>
              </a:solidFill>
              <a:effectLst/>
              <a:uFillTx/>
              <a:latin typeface="Arial"/>
            </a:endParaRPr>
          </a:p>
        </p:txBody>
      </p:sp>
      <p:sp>
        <p:nvSpPr>
          <p:cNvPr id="434" name="Text 15"/>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5"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JTORA</a:t>
            </a:r>
            <a:r>
              <a:rPr lang="ko-KR" sz="3100" b="1" u="none" strike="noStrike">
                <a:solidFill>
                  <a:srgbClr val="173C37"/>
                </a:solidFill>
                <a:effectLst/>
                <a:uFillTx/>
                <a:latin typeface="AppleGothic"/>
                <a:ea typeface="AppleGothic"/>
              </a:rPr>
              <a:t>를 한 줄로 연결하면</a:t>
            </a:r>
            <a:endParaRPr lang="en-US" sz="3100" b="0" u="none" strike="noStrike">
              <a:solidFill>
                <a:srgbClr val="000000"/>
              </a:solidFill>
              <a:effectLst/>
              <a:uFillTx/>
              <a:latin typeface="Arial"/>
            </a:endParaRPr>
          </a:p>
        </p:txBody>
      </p:sp>
      <p:sp>
        <p:nvSpPr>
          <p:cNvPr id="436"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feasible offload set</a:t>
            </a:r>
            <a:r>
              <a:rPr lang="ko-KR" sz="1900" b="0" u="none" strike="noStrike">
                <a:solidFill>
                  <a:srgbClr val="0D685C"/>
                </a:solidFill>
                <a:effectLst/>
                <a:uFillTx/>
                <a:latin typeface="AppleGothic"/>
                <a:ea typeface="AppleGothic"/>
              </a:rPr>
              <a:t>을 고르고</a:t>
            </a:r>
            <a:r>
              <a:rPr lang="en-US" sz="1900" b="0" u="none" strike="noStrike">
                <a:solidFill>
                  <a:srgbClr val="0D685C"/>
                </a:solidFill>
                <a:effectLst/>
                <a:uFillTx/>
                <a:latin typeface="AppleGothic"/>
                <a:ea typeface="AppleGothic"/>
              </a:rPr>
              <a:t>, </a:t>
            </a:r>
            <a:r>
              <a:rPr lang="ko-KR" sz="1900" b="0" u="none" strike="noStrike">
                <a:solidFill>
                  <a:srgbClr val="0D685C"/>
                </a:solidFill>
                <a:effectLst/>
                <a:uFillTx/>
                <a:latin typeface="AppleGothic"/>
                <a:ea typeface="AppleGothic"/>
              </a:rPr>
              <a:t>그 </a:t>
            </a:r>
            <a:r>
              <a:rPr lang="en-US" sz="1900" b="0" u="none" strike="noStrike">
                <a:solidFill>
                  <a:srgbClr val="0D685C"/>
                </a:solidFill>
                <a:effectLst/>
                <a:uFillTx/>
                <a:latin typeface="AppleGothic"/>
                <a:ea typeface="AppleGothic"/>
              </a:rPr>
              <a:t>set</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radio·CPU value</a:t>
            </a:r>
            <a:r>
              <a:rPr lang="ko-KR" sz="1900" b="0" u="none" strike="noStrike">
                <a:solidFill>
                  <a:srgbClr val="0D685C"/>
                </a:solidFill>
                <a:effectLst/>
                <a:uFillTx/>
                <a:latin typeface="AppleGothic"/>
                <a:ea typeface="AppleGothic"/>
              </a:rPr>
              <a:t>를 계산해 </a:t>
            </a:r>
            <a:r>
              <a:rPr lang="en-US" sz="1900" b="0" u="none" strike="noStrike">
                <a:solidFill>
                  <a:srgbClr val="0D685C"/>
                </a:solidFill>
                <a:effectLst/>
                <a:uFillTx/>
                <a:latin typeface="AppleGothic"/>
                <a:ea typeface="AppleGothic"/>
              </a:rPr>
              <a:t>local search</a:t>
            </a:r>
            <a:r>
              <a:rPr lang="ko-KR" sz="1900" b="0" u="none" strike="noStrike">
                <a:solidFill>
                  <a:srgbClr val="0D685C"/>
                </a:solidFill>
                <a:effectLst/>
                <a:uFillTx/>
                <a:latin typeface="AppleGothic"/>
                <a:ea typeface="AppleGothic"/>
              </a:rPr>
              <a:t>를 반복한다</a:t>
            </a:r>
            <a:endParaRPr lang="en-US" sz="1900" b="0" u="none" strike="noStrike">
              <a:solidFill>
                <a:srgbClr val="000000"/>
              </a:solidFill>
              <a:effectLst/>
              <a:uFillTx/>
              <a:latin typeface="Arial"/>
            </a:endParaRPr>
          </a:p>
        </p:txBody>
      </p:sp>
      <p:sp>
        <p:nvSpPr>
          <p:cNvPr id="437"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438"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model</a:t>
            </a:r>
            <a:endParaRPr lang="en-US" sz="1900" b="0" u="none" strike="noStrike">
              <a:solidFill>
                <a:srgbClr val="000000"/>
              </a:solidFill>
              <a:effectLst/>
              <a:uFillTx/>
              <a:latin typeface="Arial"/>
            </a:endParaRPr>
          </a:p>
        </p:txBody>
      </p:sp>
      <p:sp>
        <p:nvSpPr>
          <p:cNvPr id="439"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time·energy utility</a:t>
            </a:r>
            <a:r>
              <a:rPr lang="ko-KR" sz="1650" b="0" u="none" strike="noStrike">
                <a:solidFill>
                  <a:srgbClr val="173C37"/>
                </a:solidFill>
                <a:effectLst/>
                <a:uFillTx/>
                <a:latin typeface="AppleGothic"/>
                <a:ea typeface="AppleGothic"/>
              </a:rPr>
              <a:t>와 </a:t>
            </a:r>
            <a:r>
              <a:rPr lang="en-US" sz="1650" b="0" u="none" strike="noStrike">
                <a:solidFill>
                  <a:srgbClr val="173C37"/>
                </a:solidFill>
                <a:effectLst/>
                <a:uFillTx/>
                <a:latin typeface="AppleGothic"/>
                <a:ea typeface="AppleGothic"/>
              </a:rPr>
              <a:t>shared constraints</a:t>
            </a:r>
            <a:endParaRPr lang="en-US" sz="1650" b="0" u="none" strike="noStrike">
              <a:solidFill>
                <a:srgbClr val="000000"/>
              </a:solidFill>
              <a:effectLst/>
              <a:uFillTx/>
              <a:latin typeface="Arial"/>
            </a:endParaRPr>
          </a:p>
        </p:txBody>
      </p:sp>
      <p:sp>
        <p:nvSpPr>
          <p:cNvPr id="440"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41"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442"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443"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schedule</a:t>
            </a:r>
            <a:endParaRPr lang="en-US" sz="1900" b="0" u="none" strike="noStrike">
              <a:solidFill>
                <a:srgbClr val="000000"/>
              </a:solidFill>
              <a:effectLst/>
              <a:uFillTx/>
              <a:latin typeface="Arial"/>
            </a:endParaRPr>
          </a:p>
        </p:txBody>
      </p:sp>
      <p:sp>
        <p:nvSpPr>
          <p:cNvPr id="444"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X</a:t>
            </a:r>
            <a:r>
              <a:rPr lang="ko-KR" sz="1650" b="0" u="none" strike="noStrike">
                <a:solidFill>
                  <a:srgbClr val="173C37"/>
                </a:solidFill>
                <a:effectLst/>
                <a:uFillTx/>
                <a:latin typeface="AppleGothic"/>
                <a:ea typeface="AppleGothic"/>
              </a:rPr>
              <a:t>를 </a:t>
            </a:r>
            <a:r>
              <a:rPr lang="en-US" sz="1650" b="0" u="none" strike="noStrike">
                <a:solidFill>
                  <a:srgbClr val="173C37"/>
                </a:solidFill>
                <a:effectLst/>
                <a:uFillTx/>
                <a:latin typeface="AppleGothic"/>
                <a:ea typeface="AppleGothic"/>
              </a:rPr>
              <a:t>remove·exchange</a:t>
            </a:r>
            <a:r>
              <a:rPr lang="ko-KR" sz="1650" b="0" u="none" strike="noStrike">
                <a:solidFill>
                  <a:srgbClr val="173C37"/>
                </a:solidFill>
                <a:effectLst/>
                <a:uFillTx/>
                <a:latin typeface="AppleGothic"/>
                <a:ea typeface="AppleGothic"/>
              </a:rPr>
              <a:t>로 탐색</a:t>
            </a:r>
            <a:endParaRPr lang="en-US" sz="1650" b="0" u="none" strike="noStrike">
              <a:solidFill>
                <a:srgbClr val="000000"/>
              </a:solidFill>
              <a:effectLst/>
              <a:uFillTx/>
              <a:latin typeface="Arial"/>
            </a:endParaRPr>
          </a:p>
        </p:txBody>
      </p:sp>
      <p:sp>
        <p:nvSpPr>
          <p:cNvPr id="445"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46"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447"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448"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allocate</a:t>
            </a:r>
            <a:endParaRPr lang="en-US" sz="1900" b="0" u="none" strike="noStrike">
              <a:solidFill>
                <a:srgbClr val="000000"/>
              </a:solidFill>
              <a:effectLst/>
              <a:uFillTx/>
              <a:latin typeface="Arial"/>
            </a:endParaRPr>
          </a:p>
        </p:txBody>
      </p:sp>
      <p:sp>
        <p:nvSpPr>
          <p:cNvPr id="449"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UPA bisection</a:t>
            </a:r>
            <a:r>
              <a:rPr lang="ko-KR" sz="1650" b="0" u="none" strike="noStrike">
                <a:solidFill>
                  <a:srgbClr val="173C37"/>
                </a:solidFill>
                <a:effectLst/>
                <a:uFillTx/>
                <a:latin typeface="AppleGothic"/>
                <a:ea typeface="AppleGothic"/>
              </a:rPr>
              <a:t>과 </a:t>
            </a:r>
            <a:r>
              <a:rPr lang="en-US" sz="1650" b="0" u="none" strike="noStrike">
                <a:solidFill>
                  <a:srgbClr val="173C37"/>
                </a:solidFill>
                <a:effectLst/>
                <a:uFillTx/>
                <a:latin typeface="AppleGothic"/>
                <a:ea typeface="AppleGothic"/>
              </a:rPr>
              <a:t>CRA closed form</a:t>
            </a:r>
            <a:endParaRPr lang="en-US" sz="1650" b="0" u="none" strike="noStrike">
              <a:solidFill>
                <a:srgbClr val="000000"/>
              </a:solidFill>
              <a:effectLst/>
              <a:uFillTx/>
              <a:latin typeface="Arial"/>
            </a:endParaRPr>
          </a:p>
        </p:txBody>
      </p:sp>
      <p:sp>
        <p:nvSpPr>
          <p:cNvPr id="450"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51"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452"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453"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evaluate</a:t>
            </a:r>
            <a:endParaRPr lang="en-US" sz="1900" b="0" u="none" strike="noStrike">
              <a:solidFill>
                <a:srgbClr val="000000"/>
              </a:solidFill>
              <a:effectLst/>
              <a:uFillTx/>
              <a:latin typeface="Arial"/>
            </a:endParaRPr>
          </a:p>
        </p:txBody>
      </p:sp>
      <p:sp>
        <p:nvSpPr>
          <p:cNvPr id="454"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J*(X)</a:t>
            </a:r>
            <a:r>
              <a:rPr lang="ko-KR" sz="1650" b="0" u="none" strike="noStrike">
                <a:solidFill>
                  <a:srgbClr val="173C37"/>
                </a:solidFill>
                <a:effectLst/>
                <a:uFillTx/>
                <a:latin typeface="AppleGothic"/>
                <a:ea typeface="AppleGothic"/>
              </a:rPr>
              <a:t>로 </a:t>
            </a:r>
            <a:r>
              <a:rPr lang="en-US" sz="1650" b="0" u="none" strike="noStrike">
                <a:solidFill>
                  <a:srgbClr val="173C37"/>
                </a:solidFill>
                <a:effectLst/>
                <a:uFillTx/>
                <a:latin typeface="AppleGothic"/>
                <a:ea typeface="AppleGothic"/>
              </a:rPr>
              <a:t>candidate </a:t>
            </a:r>
            <a:r>
              <a:rPr lang="ko-KR" sz="1650" b="0" u="none" strike="noStrike">
                <a:solidFill>
                  <a:srgbClr val="173C37"/>
                </a:solidFill>
                <a:effectLst/>
                <a:uFillTx/>
                <a:latin typeface="AppleGothic"/>
                <a:ea typeface="AppleGothic"/>
              </a:rPr>
              <a:t>비교</a:t>
            </a:r>
            <a:endParaRPr lang="en-US" sz="1650" b="0" u="none" strike="noStrike">
              <a:solidFill>
                <a:srgbClr val="000000"/>
              </a:solidFill>
              <a:effectLst/>
              <a:uFillTx/>
              <a:latin typeface="Arial"/>
            </a:endParaRPr>
          </a:p>
        </p:txBody>
      </p:sp>
      <p:sp>
        <p:nvSpPr>
          <p:cNvPr id="455"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56"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457"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458"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qualify</a:t>
            </a:r>
            <a:endParaRPr lang="en-US" sz="1900" b="0" u="none" strike="noStrike">
              <a:solidFill>
                <a:srgbClr val="000000"/>
              </a:solidFill>
              <a:effectLst/>
              <a:uFillTx/>
              <a:latin typeface="Arial"/>
            </a:endParaRPr>
          </a:p>
        </p:txBody>
      </p:sp>
      <p:sp>
        <p:nvSpPr>
          <p:cNvPr id="459"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simulation conditions</a:t>
            </a:r>
            <a:r>
              <a:rPr lang="ko-KR" sz="1650" b="0" u="none" strike="noStrike">
                <a:solidFill>
                  <a:srgbClr val="173C37"/>
                </a:solidFill>
                <a:effectLst/>
                <a:uFillTx/>
                <a:latin typeface="AppleGothic"/>
                <a:ea typeface="AppleGothic"/>
              </a:rPr>
              <a:t>와 </a:t>
            </a:r>
            <a:r>
              <a:rPr lang="en-US" sz="1650" b="0" u="none" strike="noStrike">
                <a:solidFill>
                  <a:srgbClr val="173C37"/>
                </a:solidFill>
                <a:effectLst/>
                <a:uFillTx/>
                <a:latin typeface="AppleGothic"/>
                <a:ea typeface="AppleGothic"/>
              </a:rPr>
              <a:t>limits </a:t>
            </a:r>
            <a:r>
              <a:rPr lang="ko-KR" sz="1650" b="0" u="none" strike="noStrike">
                <a:solidFill>
                  <a:srgbClr val="173C37"/>
                </a:solidFill>
                <a:effectLst/>
                <a:uFillTx/>
                <a:latin typeface="AppleGothic"/>
                <a:ea typeface="AppleGothic"/>
              </a:rPr>
              <a:t>유지</a:t>
            </a:r>
            <a:endParaRPr lang="en-US" sz="1650" b="0" u="none" strike="noStrike">
              <a:solidFill>
                <a:srgbClr val="000000"/>
              </a:solidFill>
              <a:effectLst/>
              <a:uFillTx/>
              <a:latin typeface="Arial"/>
            </a:endParaRPr>
          </a:p>
        </p:txBody>
      </p:sp>
      <p:sp>
        <p:nvSpPr>
          <p:cNvPr id="460"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61"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62"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핵심은 </a:t>
            </a:r>
            <a:r>
              <a:rPr lang="en-US" sz="1750" b="1" u="none" strike="noStrike">
                <a:solidFill>
                  <a:srgbClr val="173C37"/>
                </a:solidFill>
                <a:effectLst/>
                <a:uFillTx/>
                <a:latin typeface="AppleGothic"/>
                <a:ea typeface="AppleGothic"/>
              </a:rPr>
              <a:t>scheduling</a:t>
            </a:r>
            <a:r>
              <a:rPr lang="ko-KR" sz="1750" b="1" u="none" strike="noStrike">
                <a:solidFill>
                  <a:srgbClr val="173C37"/>
                </a:solidFill>
                <a:effectLst/>
                <a:uFillTx/>
                <a:latin typeface="AppleGothic"/>
                <a:ea typeface="AppleGothic"/>
              </a:rPr>
              <a:t>과 </a:t>
            </a:r>
            <a:r>
              <a:rPr lang="en-US" sz="1750" b="1" u="none" strike="noStrike">
                <a:solidFill>
                  <a:srgbClr val="173C37"/>
                </a:solidFill>
                <a:effectLst/>
                <a:uFillTx/>
                <a:latin typeface="AppleGothic"/>
                <a:ea typeface="AppleGothic"/>
              </a:rPr>
              <a:t>resource allocation</a:t>
            </a:r>
            <a:r>
              <a:rPr lang="ko-KR" sz="1750" b="1" u="none" strike="noStrike">
                <a:solidFill>
                  <a:srgbClr val="173C37"/>
                </a:solidFill>
                <a:effectLst/>
                <a:uFillTx/>
                <a:latin typeface="AppleGothic"/>
                <a:ea typeface="AppleGothic"/>
              </a:rPr>
              <a:t>을 </a:t>
            </a:r>
            <a:r>
              <a:rPr lang="en-US" sz="1750" b="1" u="none" strike="noStrike">
                <a:solidFill>
                  <a:srgbClr val="173C37"/>
                </a:solidFill>
                <a:effectLst/>
                <a:uFillTx/>
                <a:latin typeface="AppleGothic"/>
                <a:ea typeface="AppleGothic"/>
              </a:rPr>
              <a:t>value</a:t>
            </a:r>
            <a:r>
              <a:rPr lang="ko-KR" sz="1750" b="1" u="none" strike="noStrike">
                <a:solidFill>
                  <a:srgbClr val="173C37"/>
                </a:solidFill>
                <a:effectLst/>
                <a:uFillTx/>
                <a:latin typeface="AppleGothic"/>
                <a:ea typeface="AppleGothic"/>
              </a:rPr>
              <a:t>로 연결한 분해다</a:t>
            </a:r>
            <a:endParaRPr lang="en-US" sz="1750" b="0" u="none" strike="noStrike">
              <a:solidFill>
                <a:srgbClr val="000000"/>
              </a:solidFill>
              <a:effectLst/>
              <a:uFillTx/>
              <a:latin typeface="Arial"/>
            </a:endParaRPr>
          </a:p>
        </p:txBody>
      </p:sp>
      <p:sp>
        <p:nvSpPr>
          <p:cNvPr id="463"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64"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arxiv-v1 pp. 10-24; §§IV-VII</a:t>
            </a:r>
            <a:endParaRPr lang="en-US" sz="1050" b="0" u="none" strike="noStrike">
              <a:solidFill>
                <a:srgbClr val="000000"/>
              </a:solidFill>
              <a:effectLst/>
              <a:uFillTx/>
              <a:latin typeface="Arial"/>
            </a:endParaRPr>
          </a:p>
        </p:txBody>
      </p:sp>
      <p:sp>
        <p:nvSpPr>
          <p:cNvPr id="465"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Gothic" pitchFamily="0" charset="1"/>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Gothic" pitchFamily="0" charset="1"/>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LibreOffice/26.8.0.3$MacOSX_AARCH64 LibreOffice_project/bce0998afefdbc355585ca324285661a2170ba77</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2026-09-12T07:52:23Z</dcterms:created>
  <dc:creator>Research Seminars</dc:creator>
  <dc:description/>
  <dc:language>ko-KR</dc:language>
  <cp:lastModifiedBy>Research Seminars</cp:lastModifiedBy>
  <dcterms:modified xsi:type="dcterms:W3CDTF">2026-09-12T07:52:23Z</dcterms:modified>
  <cp:revision>1</cp:revision>
  <dc:subject>Joint Task Offloading and Resource Allocation for Multi-Server Mobile-Edge Computing Networks</dc:subject>
  <dc:title>다중 서버 MEC에서 무엇을 함께 최적화할까</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25</vt:r8>
  </property>
  <property fmtid="{D5CDD505-2E9C-101B-9397-08002B2CF9AE}" pid="3" name="PresentationFormat">
    <vt:lpwstr>On-screen Show (16:9)</vt:lpwstr>
  </property>
  <property fmtid="{D5CDD505-2E9C-101B-9397-08002B2CF9AE}" pid="4" name="Slides">
    <vt:r8>25</vt:r8>
  </property>
</Properties>
</file>
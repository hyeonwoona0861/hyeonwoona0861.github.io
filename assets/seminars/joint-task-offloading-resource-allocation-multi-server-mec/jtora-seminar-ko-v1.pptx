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다중 서버 MEC에서 무엇을 함께 최적화할까
발표 대본
이 자료는 Tran과 Pompili의 arXiv:1705.00704v1을 기준으로 합니다. 논문은 다중 셀에서 각 BS가 MEC 서버를 갖는 모델을 사용하며, task offloading decision, uplink transmit power, server computing resource allocation을 함께 최적화합니다.
공개 출처
arxiv-v1 | title page; abstract; v1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논문이 푸는 범위와 풀지 않는 범위
발표 대본
Section III는 task가 atomic이라 subtask로 나눌 수 없다고 가정합니다. Section V는 convex and quasi-convex optimization과 local-search heuristic을 사용합니다. actor, critic, replay memory, online queue dynamics는 원문에 없습니다.
공개 출처
arxiv-v1 | pp. 6-11; §§III-IV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여러 BS의 MEC server가 선택지와 간섭을 함께 만든다
발표 대본
Fig. 1은 mobile users, MEC server가 있는 BS, potential association link를 보여 줍니다. 이 편집 가능한 그림은 선택된 link와 potential link를 분리합니다. 논문은 index s의 server, BS, MEC server를 서로 바꾸어 부릅니다.
공개 출처
arxiv-v1 | p. 6; Fig. 1; §III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local과 offload는 time·energy accounting이 다르다
발표 대본
원문의 local time·energy는 식 (1)과 그 직전 정의에 있습니다. Offloaded delay는 식 (5), (7), (8), transmit energy는 식 (9)입니다. 원문은 output이 input보다 훨씬 작고 downlink가 빠르다고 가정하여 output delay를 생략합니다. 같은 BS의 users는 서로 다른 OFDMA sub-band를 쓰고, 다른 BS의 같은-sub-band users가 inter-cell interference를 만듭니다.
공개 출처
arxiv-v1 | pp. 6-9; Eqs. 1, 3-9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오프로딩 변수는 세 가지 선택을 동시에 담는다
발표 대본
이 슬라이드는 이진 선택변수의 제약을 읽는 순서입니다. Equation (2) requires sum over s and j of x^j_us to be at most one for each user. Equation (12d) requires sum over users of x^j_us to be at most one at server s and sub-band j. A user without a selected entry executes locally. U_s is the user set selected for server s.
공개 출처
arxiv-v1 | pp. 7, 10; Eqs. 2, 12b-12d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utility는 local 대비 time·energy 개선의 가중합이다
발표 대본
이 슬라이드는 utility의 기준점이 local execution임을 강조합니다. Equation (10) defines J_u as weighted relative reductions in time and energy versus local execution, multiplied by the offloading indicator. Equation (11) sums lambda_u J_u. The text gives payment/revenue preference as one interpretation of lambda_u. If J_u is nonpositive, the paper says that user should not offload.
공개 출처
arxiv-v1 | pp. 9-10; Eqs. 10-11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JTORA: scheduling과 allocation이 섞인 MINLP
발표 대본
이 슬라이드는 JTORA의 변수와 제약을 한 화면에 묶습니다. Equations (12a)-(12g) are the JTORA formulation. The authors state that it is NP-hard and that exhaustive optimization is impractical as variables grow with users, servers, and sub-bands. The subsequent method is designed as a low-complexity suboptimal approach, not an exact general solver.
공개 출처
arxiv-v1 | pp. 10-11; Eqs. 12a-12g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고정된 X에서 연속 자원을 풀고, 그 값을 X의 점수로 쓴다
발표 대본
이 슬라이드는 원문이 쓰는 outer/inner 분해를 설명합니다. Equations (13)-(15) express max_X max_{P,F} J(X,P,F), then define J*(X) as the RA optimum for fixed X. The TO problem chooses X under the binary association/sub-band constraints. RA feasibility constraints are separated from X constraints, which permits the nesting used here.
공개 출처
arxiv-v1 | pp. 10-12; Eqs. 13-15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RA는 uplink power와 server CPU의 두 문제로 다시 나뉜다
발표 대본
이 슬라이드는 고정된 X 안에서만 RA가 분리됨을 설명합니다. For fixed X, Eq. (16) turns utility maximization into minimizing V(X,P,F). Equation (19) is the sum of a power/rate term and a CPU-share term, which supports the independent UPA and CRA subproblems. This separation does not make the original full JTORA globally convex because X remains combinatorial.
공개 출처
arxiv-v1 | pp. 12-13; Eqs. 16-20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UPA는 inter-cell interference를 upper-bound로 근사한다
발표 대본
이 슬라이드는 UPA의 근사 경계와 조건을 구분합니다. Equation (21) defines the achievable upper bound for interference using power budgets P_k. Equation (22) substitutes it into an approximate SINR, and Eq. (23) separates the power choices. Lemma 1 states that Gamma_s(p_u) is strictly quasi-convex on the feasible power interval. The paper argues the approximation is reasonable when the offloading decision itself keeps the estimated interference small.
공개 출처
arxiv-v1 | pp. 13-14; Eqs. 20-23; Lemma 1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Algorithm 1: Omega 부호로 power 이분 탐색
발표 대본
이 슬라이드는 Algorithm 1의 경계판정과 bisection 방향을 읽습니다. After deriving that Omega_s(p_u) is monotonically increasing and negative at zero, the paper gives Algorithm 1. If Omega_s(P_u) is no greater than zero, the optimum is the upper boundary. Otherwise bisection updates the lower end when Omega at midpoint is no greater than zero, and the upper end otherwise. The stated iteration count is ceiling log2(P_u/epsilon) when a root must be found.
공개 출처
arxiv-v1 | pp. 14-15; Eq. 24; Algorithm 1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CRA는 server CPU를 sqrt(eta_u)에 비례해 나눈다
발표 대본
이 슬라이드는 CPU share의 닫힌형 해가 고정 X에 조건부임을 설명합니다. Equation (25) defines the CRA problem. Equations (26a)-(26b) show its positive-definite Hessian. Equation (27) gives f_us*=f_s sqrt(eta_u) divided by the sum of sqrt(eta_u) over users in U_s. Equation (28) gives the resulting objective. The solution is conditional on the fixed offloading set X.
공개 출처
arxiv-v1 | pp. 15-16; Eqs. 25-28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outer TO는 두 matroid 제약 아래 set value를 최대화한다
발표 대본
이 슬라이드는 TO가 두 matroid 제약을 갖는다는 원문 표현을 따릅니다. Equation (30) is the TO problem after substituting the resource-allocation values. The paper says the two constraints define two matroids over ground set G. It notes that exhaustive search requires 2^n decisions with n=S times U times N, and is not practical.
공개 출처
arxiv-v1 | pp. 16-17; Eq. 30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Routine 1: 새 entry의 충돌을 지운다
발표 대본
이 슬라이드는 Routine 1의 충돌 제거 순서를 보입니다. Routine 1 removes x^i_uw for every server w and sub-band i, then removes x^j_vs for every user v, and finally adds x^j_us. Thus an exchange can drop up to two elements under the two matroid constraints. The separate remove operation simply deletes one existing entry.
공개 출처
arxiv-v1 | p. 17; Routine 1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Algorithm 2: 개선될 때만 remove·exchange
발표 대본
이 슬라이드는 Algorithm 2의 수용조건과 보장 한계를 분리합니다. Algorithm 2 uses the threshold (1+epsilon/n^2)J*(X) for both remove and exchange. Remark 1 gives O((1/epsilon)n^3 log n) running time when 1/epsilon is at most polynomial in n. Remark 2 calls the output X* a local optimal solution and explicitly says the degree of suboptimality is non-trivial to characterize.
공개 출처
arxiv-v1 | pp. 17-18; Algorithm 2; Remarks 1-2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교육용 가상 trace: 한 sub-band에서 exchange를 판정한다
발표 대본
이것은 논문 실험이나 계산된 J*가 아니라 재계산용으로 만든 예시입니다. With one server and one sub-band, adding B conflicts with A on the same server-sub-band. For n=2 and epsilon=.1, the stated improvement factor is 1.025. The assumed .83 exchange value exceeds .7175, so Algorithm 2 would take that exchange branch.
공개 출처
arxiv-v1 | pp. 17-18; Routine 1; Algorithm 2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local search는 각 candidate X의 RA value를 비교한다
발표 대본
Algorithm 2의 remove와 exchange 수용검사는 J*(remove(...)) 및 J*(exchange(...))를 비교하므로, 각 candidate X의 fixed-X RA가 먼저 필요합니다. Remark 2는 종료 뒤 final X*에 대응하는 P*, F*를 붙인다고 설명합니다. 이는 online control loop가 아니라 nested optimization 관계입니다.
공개 출처
arxiv-v1 | pp. 10-18; Eqs. 13-19, 29-30; Alg. 2; Remark 2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비교 방법의 scheduling·coordination 범위
발표 대본
이 슬라이드는 Section VI의 네 비교군을 구별합니다. Exhaustive is only used for a small network because its scheduling search is expensive. GOJRA applies the Section V resource allocation after greedy admission. IOJRA uses a random home-BS sub-band and independent decision. DORA independently decides for users within each BS cell.
공개 출처
arxiv-v1 | p. 19; §VI; baseline definitions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기본 simulation 조건이 result의 해석 범위를 정한다
발표 대본
이 슬라이드는 Section VI의 기본 simulation condition만 나열합니다. Section VI supplies these defaults unless otherwise stated. Users are uniformly randomly placed, and sub-bands N equal users per cell. The channel path-loss model is 140.7+36.7 log10(d in km). The paper sets kappa=5×10^-27. This slide lists conditions rather than treating them as a real deployment specification.
공개 출처
arxiv-v1 | pp. 18-19; §VI settings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small network: hJTORA는 Exhaustive에 가깝고 빠르다
발표 대본
이 슬라이드는 작은 network에서만 Exhaustive를 비교한 Fig. 2를 읽습니다. Fig. 2 compares U=6 uniformly placed users served by S=4 cells with N=2 sub-bands each, across 500 shadowing realizations. 본문은 c_u=1000, 2000 Megacycles라고 쓰지만 같은 Fig. 2 panel label은 1, 2 Megacycles라고 표기하는 내부 불일치가 있습니다. 아래 utility·gain·runtime은 p. 20 prose와 Table I의 별도 보고값이며 이 불일치를 임의로 해결하지 않습니다.
공개 출처
arxiv-v1 | pp. 19-20; Table I; Fig. 2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load·task profile이 offloading gain을 바꾼다
발표 대본
이 슬라이드는 Fig. 3과 Fig. 4의 서로 다른 sweep을 섞지 않습니다. For Fig. 3, N equals users per cell, so per-user bandwidth declines as user count grows. Fig. 4 evaluates different workloads and input sizes at U=28. The paper reports hJTORA as best among compared schemes under these settings; the deck avoids assigning unreported point values from the plotted curves.
공개 출처
arxiv-v1 | pp. 20-22; Figs. 3-4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time preference↑ → energy cost↑ (experiment)
발표 대본
이 슬라이드는 user preference weight를 바꾼 Fig. 5의 trade-off입니다. Figure 5 reports average time and energy consumption of all users under hJTORA. It varies beta_ut from 0.1 to 0.9 and sets beta_ue to one minus beta_ut. The paper also observes higher time and energy consumption at U=21 than U=14 because more users compete for limited resources.
공개 출처
arxiv-v1 | pp. 22-23; Fig. 5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근사: 25 dBm 아래 exact curve와 거의 일치
발표 대본
이 슬라이드는 근사의 경험적 비교이지 일반 오차정리가 아닙니다. Section VI-E compares system utility calculated with approximate versus exact inter-cell interference while P_u varies 0 to 35 dBm. The authors say the curves are almost identical below 25 dBm and separate at higher power, then reference 23 dBm maximum UE power in 3GPP TS36.101 section 6.2.3. This is not a mathematical error bound for all systems.
공개 출처
arxiv-v1 | pp. 23-24; Fig. 6; Eq. 21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결과를 넘어 일반화하면 안 되는 모델 경계
발표 대본
이 슬라이드는 모델 가정·근사 경계·실험 조건을 구분해 회수합니다. The system-model limits appear in Section III, including atomic tasks, single antennas, omitted output delay, and fast-fading averaging. The approximation boundary is in Section V-A. Remarks 1-2 provide the local-search complexity and solution status, while Section VI identifies the simulation conditions. These distinctions prevent a source-grounded seminar from adding unsupported deployment or theorem claims.
공개 출처
arxiv-v1 | pp. 6-8, 13, 18-20; §§III,V-VI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JTORA를 한 줄로 연결하면
발표 대본
마무리는 논문의 실제 계산 순서만 다시 연결합니다. The closing flow summarizes the paper's actual order: define JTORA, solve RA conditional on X, use J*(X) for TO local search, and finally attach P* and F* to X*. The numerical claims are conditioned on the Section VI simulation rather than a deployment guarantee.
공개 출처
arxiv-v1 | pp. 10-24; §§IV-VII
Joint Task Offloading and Resource Allocation for Multi-Server Mobile-Edge Computing Networks, arXiv:1705.00704v1
https://arxiv.org/abs/1705.00704v1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다중 서버 MEC에서 무엇을 함께 최적화할까</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Joint Task Offloading and Resource Allocation for Multi-Server Mobile-Edge Computing Networks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Tuyen X. Tran, Dario Pompili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JTORA: 오프로딩 위치·상향링크 전력·서버 CPU를 하나의 문제로 묶는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title page; abstract; v1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푸는 범위와 풀지 않는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사용자의 한 atomic task를 local 또는 한 서버·한 sub-band에 배치한다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BS는 MEC server를 하나씩 가지며, 사용자는 가까운 BS 중 하나로 task input을 보낸다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결정은 local/offload 하나가 아니라 user·server·sub-band 조합이다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고정된 배치에서는 uplink power와 server CPU share를 연속적으로 최적화한다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partial task partitioning, neural policy, online queue control은 이 논문의 모델이 아니다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다중 서버 배치와 연속 자원 할당을 결합한 offline optimization이다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6-11; §§III-IV</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여러 BS의 MEC server가 선택지와 간섭을 함께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user는 한 server에 task input을 올리지만, 같은 sub-band의 다른 cell 전송은 간섭을 만든다</a:t>
            </a:r>
            <a:endParaRPr lang="en-US" sz="1900" dirty="0"/>
          </a:p>
        </p:txBody>
      </p:sp>
      <p:sp>
        <p:nvSpPr>
          <p:cNvPr id="4" name="mechanism-lane-selected"/>
          <p:cNvSpPr txBox="1"/>
          <p:nvPr/>
        </p:nvSpPr>
        <p:spPr>
          <a:xfrm>
            <a:off x="660400" y="22098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selected path</a:t>
            </a:r>
            <a:endParaRPr lang="en-US" sz="1250" dirty="0"/>
          </a:p>
        </p:txBody>
      </p:sp>
      <p:sp>
        <p:nvSpPr>
          <p:cNvPr id="5" name="mechanism-lane-potential"/>
          <p:cNvSpPr txBox="1"/>
          <p:nvPr/>
        </p:nvSpPr>
        <p:spPr>
          <a:xfrm>
            <a:off x="660400" y="41021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potential association</a:t>
            </a:r>
            <a:endParaRPr lang="en-US" sz="1250" dirty="0"/>
          </a:p>
        </p:txBody>
      </p:sp>
      <p:sp>
        <p:nvSpPr>
          <p:cNvPr id="6" name="mechanism-edge-t1-segment-1"/>
          <p:cNvSpPr/>
          <p:nvPr/>
        </p:nvSpPr>
        <p:spPr>
          <a:xfrm>
            <a:off x="3810000" y="2965450"/>
            <a:ext cx="321733" cy="0"/>
          </a:xfrm>
          <a:prstGeom prst="line">
            <a:avLst/>
          </a:prstGeom>
          <a:noFill/>
          <a:ln w="12700">
            <a:solidFill>
              <a:srgbClr val="0D685C"/>
            </a:solidFill>
            <a:prstDash val="solid"/>
            <a:headEnd type="none"/>
            <a:tailEnd type="none"/>
          </a:ln>
        </p:spPr>
        <p:txBody>
          <a:bodyPr/>
          <a:lstStyle/>
          <a:p>
            <a:endParaRPr lang="ko-KR"/>
          </a:p>
        </p:txBody>
      </p:sp>
      <p:sp>
        <p:nvSpPr>
          <p:cNvPr id="7" name="mechanism-edge-t1-segment-2"/>
          <p:cNvSpPr/>
          <p:nvPr/>
        </p:nvSpPr>
        <p:spPr>
          <a:xfrm>
            <a:off x="4131733" y="2965450"/>
            <a:ext cx="0" cy="190500"/>
          </a:xfrm>
          <a:prstGeom prst="line">
            <a:avLst/>
          </a:prstGeom>
          <a:noFill/>
          <a:ln w="12700">
            <a:solidFill>
              <a:srgbClr val="0D685C"/>
            </a:solidFill>
            <a:prstDash val="solid"/>
            <a:headEnd type="none"/>
            <a:tailEnd type="none"/>
          </a:ln>
        </p:spPr>
        <p:txBody>
          <a:bodyPr/>
          <a:lstStyle/>
          <a:p>
            <a:endParaRPr lang="ko-KR"/>
          </a:p>
        </p:txBody>
      </p:sp>
      <p:sp>
        <p:nvSpPr>
          <p:cNvPr id="8" name="mechanism-edge-t1-segment-3"/>
          <p:cNvSpPr/>
          <p:nvPr/>
        </p:nvSpPr>
        <p:spPr>
          <a:xfrm>
            <a:off x="4131733" y="3155950"/>
            <a:ext cx="160867"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t1-label"/>
          <p:cNvSpPr txBox="1"/>
          <p:nvPr/>
        </p:nvSpPr>
        <p:spPr>
          <a:xfrm>
            <a:off x="3517900" y="2597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offload x^j_us=1</a:t>
            </a:r>
            <a:endParaRPr lang="en-US" sz="950" dirty="0"/>
          </a:p>
        </p:txBody>
      </p:sp>
      <p:sp>
        <p:nvSpPr>
          <p:cNvPr id="10" name="mechanism-edge-t2-segment-1"/>
          <p:cNvSpPr/>
          <p:nvPr/>
        </p:nvSpPr>
        <p:spPr>
          <a:xfrm>
            <a:off x="3810000" y="3346450"/>
            <a:ext cx="160867" cy="0"/>
          </a:xfrm>
          <a:prstGeom prst="line">
            <a:avLst/>
          </a:prstGeom>
          <a:noFill/>
          <a:ln w="12700">
            <a:solidFill>
              <a:srgbClr val="5E6D69"/>
            </a:solidFill>
            <a:prstDash val="dash"/>
            <a:headEnd type="none"/>
            <a:tailEnd type="none"/>
          </a:ln>
        </p:spPr>
        <p:txBody>
          <a:bodyPr/>
          <a:lstStyle/>
          <a:p>
            <a:endParaRPr lang="ko-KR"/>
          </a:p>
        </p:txBody>
      </p:sp>
      <p:sp>
        <p:nvSpPr>
          <p:cNvPr id="11" name="mechanism-edge-t2-segment-2"/>
          <p:cNvSpPr/>
          <p:nvPr/>
        </p:nvSpPr>
        <p:spPr>
          <a:xfrm>
            <a:off x="3970867" y="3346450"/>
            <a:ext cx="0" cy="1701800"/>
          </a:xfrm>
          <a:prstGeom prst="line">
            <a:avLst/>
          </a:prstGeom>
          <a:noFill/>
          <a:ln w="12700">
            <a:solidFill>
              <a:srgbClr val="5E6D69"/>
            </a:solidFill>
            <a:prstDash val="dash"/>
            <a:headEnd type="none"/>
            <a:tailEnd type="none"/>
          </a:ln>
        </p:spPr>
        <p:txBody>
          <a:bodyPr/>
          <a:lstStyle/>
          <a:p>
            <a:endParaRPr lang="ko-KR"/>
          </a:p>
        </p:txBody>
      </p:sp>
      <p:sp>
        <p:nvSpPr>
          <p:cNvPr id="12" name="mechanism-edge-t2-segment-3"/>
          <p:cNvSpPr/>
          <p:nvPr/>
        </p:nvSpPr>
        <p:spPr>
          <a:xfrm>
            <a:off x="3970867" y="5048250"/>
            <a:ext cx="321733" cy="0"/>
          </a:xfrm>
          <a:prstGeom prst="line">
            <a:avLst/>
          </a:prstGeom>
          <a:noFill/>
          <a:ln w="12700">
            <a:solidFill>
              <a:srgbClr val="5E6D69"/>
            </a:solidFill>
            <a:prstDash val="dash"/>
            <a:headEnd type="none"/>
            <a:tailEnd type="triangle"/>
          </a:ln>
        </p:spPr>
        <p:txBody>
          <a:bodyPr/>
          <a:lstStyle/>
          <a:p>
            <a:endParaRPr lang="ko-KR"/>
          </a:p>
        </p:txBody>
      </p:sp>
      <p:sp>
        <p:nvSpPr>
          <p:cNvPr id="13" name="mechanism-edge-t2-label"/>
          <p:cNvSpPr txBox="1"/>
          <p:nvPr/>
        </p:nvSpPr>
        <p:spPr>
          <a:xfrm>
            <a:off x="3517900" y="54165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potential</a:t>
            </a:r>
            <a:endParaRPr lang="en-US" sz="950" dirty="0"/>
          </a:p>
        </p:txBody>
      </p:sp>
      <p:sp>
        <p:nvSpPr>
          <p:cNvPr id="14" name="mechanism-edge-t3-segment-1"/>
          <p:cNvSpPr/>
          <p:nvPr/>
        </p:nvSpPr>
        <p:spPr>
          <a:xfrm>
            <a:off x="6362700" y="3155950"/>
            <a:ext cx="30353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t3-label"/>
          <p:cNvSpPr txBox="1"/>
          <p:nvPr/>
        </p:nvSpPr>
        <p:spPr>
          <a:xfrm>
            <a:off x="7346950" y="29273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CPU share</a:t>
            </a:r>
            <a:endParaRPr lang="en-US" sz="950" dirty="0"/>
          </a:p>
        </p:txBody>
      </p:sp>
      <p:sp>
        <p:nvSpPr>
          <p:cNvPr id="16" name="mechanism-node-task"/>
          <p:cNvSpPr txBox="1"/>
          <p:nvPr/>
        </p:nvSpPr>
        <p:spPr>
          <a:xfrm>
            <a:off x="1739900" y="28384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user task</a:t>
            </a:r>
            <a:endParaRPr lang="en-US" sz="1150" dirty="0"/>
          </a:p>
        </p:txBody>
      </p:sp>
      <p:sp>
        <p:nvSpPr>
          <p:cNvPr id="17" name="mechanism-node-task-queue-1"/>
          <p:cNvSpPr/>
          <p:nvPr/>
        </p:nvSpPr>
        <p:spPr>
          <a:xfrm>
            <a:off x="1739900" y="30924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input d_u</a:t>
            </a:r>
            <a:endParaRPr lang="en-US" sz="950" dirty="0"/>
          </a:p>
        </p:txBody>
      </p:sp>
      <p:sp>
        <p:nvSpPr>
          <p:cNvPr id="18" name="mechanism-node-task-queue-2"/>
          <p:cNvSpPr/>
          <p:nvPr/>
        </p:nvSpPr>
        <p:spPr>
          <a:xfrm>
            <a:off x="1739900" y="32829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workload c_u</a:t>
            </a:r>
            <a:endParaRPr lang="en-US" sz="950" dirty="0"/>
          </a:p>
        </p:txBody>
      </p:sp>
      <p:sp>
        <p:nvSpPr>
          <p:cNvPr id="19" name="mechanism-node-home"/>
          <p:cNvSpPr/>
          <p:nvPr/>
        </p:nvSpPr>
        <p:spPr>
          <a:xfrm>
            <a:off x="4292600" y="2825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BS 1 + MEC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selected uplink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sub-band j</a:t>
            </a:r>
            <a:endParaRPr lang="en-US" sz="1150" dirty="0"/>
          </a:p>
        </p:txBody>
      </p:sp>
      <p:sp>
        <p:nvSpPr>
          <p:cNvPr id="20" name="mechanism-node-other"/>
          <p:cNvSpPr/>
          <p:nvPr/>
        </p:nvSpPr>
        <p:spPr>
          <a:xfrm>
            <a:off x="4292600" y="47180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nearby BS + MEC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possible server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association</a:t>
            </a:r>
            <a:endParaRPr lang="en-US" sz="1150" dirty="0"/>
          </a:p>
        </p:txBody>
      </p:sp>
      <p:sp>
        <p:nvSpPr>
          <p:cNvPr id="21" name="mechanism-node-compute"/>
          <p:cNvSpPr/>
          <p:nvPr/>
        </p:nvSpPr>
        <p:spPr>
          <a:xfrm>
            <a:off x="9398000" y="2825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server execution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shared CPU rate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f_us</a:t>
            </a:r>
            <a:endParaRPr lang="en-US" sz="11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6; Fig. 1; §III</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local과 offload는 time·energy accounting이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offload가 유리하려면 uplink overhead와 server contention까지 local 비용보다 작아야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043936"/>
                <a:gridCol w="3043936"/>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completion 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device energy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가정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c_u / f_lu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kappa (f_lu)^2 c_u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task는 device CPU에서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upload + server execution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p_u × upload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downlink delay 생략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c_u / f_us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device energy가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server CPU를 users가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d_u / R_us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same-cell OFDMA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other cells는 interference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서버가 있어도 업로드 지연·에너지와 CPU 경합 때문에 모든 task를 offload하지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6-9; Eqs. 1, 3-9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오프로딩 변수는 세 가지 선택을 동시에 담는다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x^j_us=1은 user u가 server s의 sub-band j를 쓰는 하나의 entry다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candidate entry</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x^j_us ∈ {0,1}</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user constraint</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한 task는 최대 한 entry</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BS-sub-band constraint</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한 j에는 최대 한 user</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feasible X</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또는 한 server·sub-band</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offloader sets</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U_s 와 U_off를 결정</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7, 10; Eqs. 2, 12b-12d</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utility는 local 대비 time·energy 개선의 가중합이다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user preference와 provider preference가 서로 다른 역할을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478784"/>
                <a:gridCol w="2282952"/>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최적화에서의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completion-time 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0에서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beta_ue와 합이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energy-saving 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0에서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battery-sensitive user가 높일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J_u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대비 상대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user에만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time·energy improvement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lambda_u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provider의 user 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0보다 크고 1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utility에서 J_u를 가중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목적은 raw delay 최소화 하나가 아니라 provider-weighted offloading utility 최대화다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9-10; Eqs. 10-11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JTORA: scheduling과 allocation이 섞인 MINLP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X, P, F를 한 번에 바꾸면 association·interference·CPU sharing이 서로 얽힌다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X</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user-server-sub-band entry 선택</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offloader uplink power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server별 CPU share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constraints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binary·radio·power·CPU budget</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maximize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sum lambda_u J_u</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JTORA를 NP-hard MINLP로 두고 최적 전수 탐색 대신 분해를 택한다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10-11; Eqs. 12a-12g</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고정된 X에서 연속 자원을 풀고, 그 값을 X의 점수로 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분해의 순서를 거꾸로 읽으면 power와 CPU가 scheduling 이후에 왜 다시 계산되는지 놓친다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JTORA</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maximize J(X,P,F)</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RA for fixed X</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P와 F를 최적화</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TO</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J*(X)를 최대화</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value feedback</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RA optimum이 J*(X)를 제공</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final tuple</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 P*, F*</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10-12; Eqs. 13-15</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RA는 uplink power와 server CPU의 두 문제로 다시 나뉜다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fixed X에서는 total offloading overhead가 P와 F 항의 합으로 분리된다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UPA</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power-dependent upload overhead</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CRA</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CPU-share execution overhead</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RA optimum</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P*(X)와 F*(X)</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J*(X)</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TO가 비교할 offload-set value</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12-13; Eqs. 16-20</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UPA는 inter-cell interference를 upper-bound로 근사한다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원래 SINR은 다른 cell의 power와 얽혀 있어 nonconvex다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exact SINR</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same sub-band의 other-cell power 포함</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upper bound</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other users가 P_k를 쓴다고 가정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approximate SINR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user별 Gamma_s(p_u) 구성</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strict quasi-convex</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Lemma 1의 조건</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per-user solution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bisection으로 p_u* 선택</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UPA는 coupled interference를 exact로 풀지 않는 근사다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13-14; Eqs. 20-23; Lemma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 Omega 부호로 power 이분 탐색</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root가 budget 안에 있으면 interval을 줄이고, 아니면 maximum power를 선택한다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Omega(P_u)</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Eq. 24의 boundary sign 계산</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nonpositive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p_u*=P_u로 종료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positive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0과 P_u로 interval 시작</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midpoint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Omega sign에 맞춰 한쪽 끝 교체</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tolerance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interval 길이 epsilon 이하</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Algorithm 1은 learned policy가 아닌 deterministic bisection이다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14-15; Eq. 24;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CRA는 server CPU를 sqrt(eta_u)에 비례해 나눈다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server 안에서 높은 eta_u의 task가 더 큰 CPU share를 얻되, total은 f_s를 넘지 않는다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152648"/>
                <a:gridCol w="271780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 eta_u / f_us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execution overhead 최소화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f_us가 작으면 penalty가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 f_us ≤ f_s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server별 CPU budget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association된 user만 share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curvature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 positive definite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convex problem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KKT 적용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solution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f_us* proportional to sqrt(eta_u)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closed 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X에서만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CRA의 closed form은 server가 user task를 임의로 동등 분할한다는 규칙과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15-16; Eqs. 25-28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outer TO는 두 matroid 제약 아래 set value를 최대화한다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ground set은 모든 user·server·sub-band entry의 집합이다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constraint 하나는 한 user가 최대 한 entry만 선택하게 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다른 constraint는 한 server-sub-band에 최대 한 user만 두게 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feasible X의 value J*(X)는 UPA와 CRA를 푼 뒤에야 계산된다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전수 탐색은 n=S×U×N일 때 2^n개의 scheduling decision을 평가한다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outer search의 어려움은 연속 변수보다 feasible set 조합의 수에 있다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16-17; Eq. 30</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Routine 1: 새 entry의 충돌을 지운다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x^j_us를 넣을 때 같은 user 또는 같은 server-sub-band의 선택을 제거한다</a:t>
            </a:r>
            <a:endParaRPr lang="en-US" sz="1900" dirty="0"/>
          </a:p>
        </p:txBody>
      </p:sp>
      <p:sp>
        <p:nvSpPr>
          <p:cNvPr id="4" name="mechanism-lane-set"/>
          <p:cNvSpPr txBox="1"/>
          <p:nvPr/>
        </p:nvSpPr>
        <p:spPr>
          <a:xfrm>
            <a:off x="660400" y="22098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current set</a:t>
            </a:r>
            <a:endParaRPr lang="en-US" sz="1250" dirty="0"/>
          </a:p>
        </p:txBody>
      </p:sp>
      <p:sp>
        <p:nvSpPr>
          <p:cNvPr id="5" name="mechanism-lane-proposal"/>
          <p:cNvSpPr txBox="1"/>
          <p:nvPr/>
        </p:nvSpPr>
        <p:spPr>
          <a:xfrm>
            <a:off x="660400" y="41021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candidate update</a:t>
            </a:r>
            <a:endParaRPr lang="en-US" sz="1250" dirty="0"/>
          </a:p>
        </p:txBody>
      </p:sp>
      <p:sp>
        <p:nvSpPr>
          <p:cNvPr id="6" name="mechanism-edge-r1-segment-1"/>
          <p:cNvSpPr/>
          <p:nvPr/>
        </p:nvSpPr>
        <p:spPr>
          <a:xfrm>
            <a:off x="3810000" y="3155950"/>
            <a:ext cx="160867" cy="0"/>
          </a:xfrm>
          <a:prstGeom prst="line">
            <a:avLst/>
          </a:prstGeom>
          <a:noFill/>
          <a:ln w="12700">
            <a:solidFill>
              <a:srgbClr val="0D685C"/>
            </a:solidFill>
            <a:prstDash val="solid"/>
            <a:headEnd type="none"/>
            <a:tailEnd type="none"/>
          </a:ln>
        </p:spPr>
        <p:txBody>
          <a:bodyPr/>
          <a:lstStyle/>
          <a:p>
            <a:endParaRPr lang="ko-KR"/>
          </a:p>
        </p:txBody>
      </p:sp>
      <p:sp>
        <p:nvSpPr>
          <p:cNvPr id="7" name="mechanism-edge-r1-segment-2"/>
          <p:cNvSpPr/>
          <p:nvPr/>
        </p:nvSpPr>
        <p:spPr>
          <a:xfrm>
            <a:off x="3970867" y="3155950"/>
            <a:ext cx="0" cy="1689100"/>
          </a:xfrm>
          <a:prstGeom prst="line">
            <a:avLst/>
          </a:prstGeom>
          <a:noFill/>
          <a:ln w="12700">
            <a:solidFill>
              <a:srgbClr val="0D685C"/>
            </a:solidFill>
            <a:prstDash val="solid"/>
            <a:headEnd type="none"/>
            <a:tailEnd type="none"/>
          </a:ln>
        </p:spPr>
        <p:txBody>
          <a:bodyPr/>
          <a:lstStyle/>
          <a:p>
            <a:endParaRPr lang="ko-KR"/>
          </a:p>
        </p:txBody>
      </p:sp>
      <p:sp>
        <p:nvSpPr>
          <p:cNvPr id="8" name="mechanism-edge-r1-segment-3"/>
          <p:cNvSpPr/>
          <p:nvPr/>
        </p:nvSpPr>
        <p:spPr>
          <a:xfrm>
            <a:off x="3970867" y="4845050"/>
            <a:ext cx="2874433"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r2-segment-1"/>
          <p:cNvSpPr/>
          <p:nvPr/>
        </p:nvSpPr>
        <p:spPr>
          <a:xfrm>
            <a:off x="3810000" y="5048250"/>
            <a:ext cx="321733" cy="0"/>
          </a:xfrm>
          <a:prstGeom prst="line">
            <a:avLst/>
          </a:prstGeom>
          <a:noFill/>
          <a:ln w="12700">
            <a:solidFill>
              <a:srgbClr val="0D685C"/>
            </a:solidFill>
            <a:prstDash val="solid"/>
            <a:headEnd type="none"/>
            <a:tailEnd type="none"/>
          </a:ln>
        </p:spPr>
        <p:txBody>
          <a:bodyPr/>
          <a:lstStyle/>
          <a:p>
            <a:endParaRPr lang="ko-KR"/>
          </a:p>
        </p:txBody>
      </p:sp>
      <p:sp>
        <p:nvSpPr>
          <p:cNvPr id="10" name="mechanism-edge-r2-segment-2"/>
          <p:cNvSpPr/>
          <p:nvPr/>
        </p:nvSpPr>
        <p:spPr>
          <a:xfrm>
            <a:off x="4131733" y="5048250"/>
            <a:ext cx="0" cy="203200"/>
          </a:xfrm>
          <a:prstGeom prst="line">
            <a:avLst/>
          </a:prstGeom>
          <a:noFill/>
          <a:ln w="12700">
            <a:solidFill>
              <a:srgbClr val="0D685C"/>
            </a:solidFill>
            <a:prstDash val="solid"/>
            <a:headEnd type="none"/>
            <a:tailEnd type="none"/>
          </a:ln>
        </p:spPr>
        <p:txBody>
          <a:bodyPr/>
          <a:lstStyle/>
          <a:p>
            <a:endParaRPr lang="ko-KR"/>
          </a:p>
        </p:txBody>
      </p:sp>
      <p:sp>
        <p:nvSpPr>
          <p:cNvPr id="11" name="mechanism-edge-r2-segment-3"/>
          <p:cNvSpPr/>
          <p:nvPr/>
        </p:nvSpPr>
        <p:spPr>
          <a:xfrm>
            <a:off x="4131733" y="5251450"/>
            <a:ext cx="2713567"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r3-segment-1"/>
          <p:cNvSpPr/>
          <p:nvPr/>
        </p:nvSpPr>
        <p:spPr>
          <a:xfrm>
            <a:off x="8915400" y="5048250"/>
            <a:ext cx="482600" cy="0"/>
          </a:xfrm>
          <a:prstGeom prst="line">
            <a:avLst/>
          </a:prstGeom>
          <a:noFill/>
          <a:ln w="12700">
            <a:solidFill>
              <a:srgbClr val="0D685C"/>
            </a:solidFill>
            <a:prstDash val="solid"/>
            <a:headEnd type="none"/>
            <a:tailEnd type="triangle"/>
          </a:ln>
        </p:spPr>
        <p:txBody>
          <a:bodyPr/>
          <a:lstStyle/>
          <a:p>
            <a:endParaRPr lang="ko-KR"/>
          </a:p>
        </p:txBody>
      </p:sp>
      <p:sp>
        <p:nvSpPr>
          <p:cNvPr id="13" name="mechanism-node-current"/>
          <p:cNvSpPr txBox="1"/>
          <p:nvPr/>
        </p:nvSpPr>
        <p:spPr>
          <a:xfrm>
            <a:off x="1739900" y="29337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current X</a:t>
            </a:r>
            <a:endParaRPr lang="en-US" sz="1150" dirty="0"/>
          </a:p>
        </p:txBody>
      </p:sp>
      <p:sp>
        <p:nvSpPr>
          <p:cNvPr id="14" name="mechanism-node-current-queue-1"/>
          <p:cNvSpPr/>
          <p:nvPr/>
        </p:nvSpPr>
        <p:spPr>
          <a:xfrm>
            <a:off x="1739900" y="31877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selected entries</a:t>
            </a:r>
            <a:endParaRPr lang="en-US" sz="950" dirty="0"/>
          </a:p>
        </p:txBody>
      </p:sp>
      <p:sp>
        <p:nvSpPr>
          <p:cNvPr id="15" name="mechanism-node-candidate"/>
          <p:cNvSpPr/>
          <p:nvPr/>
        </p:nvSpPr>
        <p:spPr>
          <a:xfrm>
            <a:off x="1739900" y="47180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candidate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x^j_us outside X</a:t>
            </a:r>
            <a:endParaRPr lang="en-US" sz="1150" dirty="0"/>
          </a:p>
        </p:txBody>
      </p:sp>
      <p:sp>
        <p:nvSpPr>
          <p:cNvPr id="16" name="mechanism-node-drop"/>
          <p:cNvSpPr/>
          <p:nvPr/>
        </p:nvSpPr>
        <p:spPr>
          <a:xfrm>
            <a:off x="6845300" y="47180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remove conflicts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same user and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same server-sub-band</a:t>
            </a:r>
            <a:endParaRPr lang="en-US" sz="1150" dirty="0"/>
          </a:p>
        </p:txBody>
      </p:sp>
      <p:sp>
        <p:nvSpPr>
          <p:cNvPr id="17" name="mechanism-node-next"/>
          <p:cNvSpPr/>
          <p:nvPr/>
        </p:nvSpPr>
        <p:spPr>
          <a:xfrm>
            <a:off x="9398000" y="47180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exchange result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add candidate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keep feasibility</a:t>
            </a:r>
            <a:endParaRPr lang="en-US" sz="11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17; Routine 1</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2: 개선될 때만 remove·exchange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처음부터 전수 탐색하지 않고 best singleton에서 local search를 시작한다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best singleton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J*({x})가 최대인 x로 X 시작</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remove test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existing entry 제거가 factor 개선?</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accept remove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J*가 1+epsilon/n^2 배 초과</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exchange test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outside candidate 교환이 factor 개선?</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stop</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어느 개선도 없으면 local solution</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다항 시간은 local heuristic의 running time이지 global guarantee가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17-18; Algorithm 2; Remarks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가상 trace: 한 sub-band에서 exchange를 판정한다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가정: users A,B; server 1; sub-band 1; epsilon=.1; n=2</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043936"/>
                <a:gridCol w="3370072"/>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X 또는 candidate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X={x^1_A1}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가정한 J*(X)=.70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A가 sub-band 1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x^1_B1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server-sub-band라 A와 충돌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exchange는 A를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exchange value=.83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(1+.1/2^2)×.70=.7175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.83&gt;.7175 이므로 수락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{x^1_B1}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feasible entry 하나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B로 교체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숫자는 교육용 가정이며, trace는 Routine 1의 feasibility와 Algorithm 2의 gate만 보인다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17-18; Routine 1; Algorithm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 search는 각 candidate X의 RA value를 비교한다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remove·exchange 수용검사는 fixed-X UPA·CRA가 만든 J*(X)를 매 candidate마다 다시 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X</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remove 또는 exchange 제안</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fixed-X RA</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UPA P*(X), CRA F*(X)</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J*(X)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accept?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factor gate 통과 시 반복</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final tuple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 P*(X*), F*(X*)</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최종 P*, F*는 X*에 대응하지만 RA는 Algorithm 2의 candidate scoring 안에도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10-18; Eqs. 13-19, 29-30; Alg. 2; Remark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방법의 scheduling·coordination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모든 baseline이 같은 형태의 최적해를 푸는 것은 아니다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370072"/>
                <a:gridCol w="2935224"/>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offloading choice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resource allocation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Exhaustive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2^n decisions 전체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candidate에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small setting의 optimal reference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GOJRA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gain 순으로 greedy admit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all-admissible offload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IOJRA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home BS sub-band random 후 독립 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independent decision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DORA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BS가 자기 cell만 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per-BS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hJTORA의 비교 우위는 정해진 baselines와 simulation conditions 안에서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19; §VI; baseline definitions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기본 simulation 조건이 result의 해석 범위를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여기서의 utility와 runtime은 이 channel·CPU·task profile에서 나온 값이다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5659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and radio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S=7, 1 km spacing, B=20 MHz, P_u=20 dBm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single-antenna uplink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noise and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noise -100 dBm, 8 dB shadowing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distance-dependent path 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 20 GHz, local 1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 CPU is finite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d_u=420 KB, c_u=1000 Megacycles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face-recognition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beta_ut=.2, beta_ue=.8, lambda_u=1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weighted default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numerical evidence는 7-cell default setting에 조건부다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18-19; §VI settings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small network: hJTORA는 Exhaustive에 가깝고 빠르다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near-optimal claim은 U=6, S=4, N=2와 500 shadowing realization 조건의 비교다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3587496"/>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 또는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Exhaustive의 2% 이내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c_u=1000, 2000 Megacycles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 gain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DORA 13%; GOJRA 17%; IOJRA 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2의 두 workload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hJTORA runtime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19.3±0.7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Windows 7, 3.6 GHz CPU, 16 GB 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Exhaustive runtime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1923±1.4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small setting에서 약 100배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uncertainty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 confidence interval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500 large-scale fading realizations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near-optimal·100배 speed는 small setting의 관측값이다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19-20; Table I;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load·task profile이 offloading gain을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더 많은 user가 항상 더 큰 system utility를 뜻하지는 않는다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users per cell 1에서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작을 때 증가 후 threshold 뒤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radio·CPU contention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c_u=1000 Megacycles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3a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nonuniform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cells 1,3,5,7은 500; 2,4,6은 2000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3b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workload c_u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scheme utility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 compute saving가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d_u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scheme utility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upload overhead가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small input과 high workload가 offloading에 더 유리하다는 관찰은 Fig. 3-4 조건부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20-22; Figs. 3-4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time preference↑ → energy cost↑ (experiment)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beta_ut를 .1에서 .9로 올리고 beta_ue=1-beta_ut로 둔 hJTORA 결과다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time weight up</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beta_ut: .1 to .9</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energy weight down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beta_ue=1-beta_ut</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time result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average time consumption 감소</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energy result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average energy consumption 증가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load effect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U=21이 U=14보다 두 값이 큼</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user preference는 time와 energy를 하나의 방향으로 동시에 개선하는 knob가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22-23; Fig. 5</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근사: 25 dBm 아래 exact curve와 거의 일치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6은 approximation을 proof가 아니라 power sweep에서의 empirical check로 읽게 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826512"/>
                <a:gridCol w="3152648"/>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vs approximation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U=14와 U=21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P_u&lt;25 dBm에서 거의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sweep의 system utility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higher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P_u&gt;25 dBm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gap이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approximation error가 보임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LTE reference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maximum 23 dBm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실용 범위 argument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표준 자체를 재검증한 결과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method boundary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21 upper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UPA separability 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coupled optimum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근사의 신뢰성은 reported power range와 channel model에 묶인 simulation evidence다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23-24; Fig. 6; Eq. 21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결과를 넘어 일반화하면 안 되는 모델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정확한 optimizer 설명에는 가정과 evidence boundary가 함께 필요하다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atomic task는 local 또는 한 MEC로 가며 output downlink delay는 생략한다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single antenna·OFDMA; fast fading은 interval 평균으로 둔다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UPA는 inter-cell interference upper bound로 separable approximation을 만든다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Algorithm 2는 local solution이고 global ratio를 제시하지 않는다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near-optimal result·runtime은 small simulation과 Table I hardware에 한정된다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JTORA는 decomposition 예시이며 modern MEC 전체 모델은 아니다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6-8, 13, 18-20; §§III,V-VI</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JTORA를 한 줄로 연결하면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feasible offload set을 고르고, 그 set의 radio·CPU value를 계산해 local search를 반복한다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model</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time·energy utility와 shared constraints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schedule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X를 remove·exchange로 탐색</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allocate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UPA bisection과 CRA closed form</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J*(X)로 candidate 비교</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qualify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simulation conditions와 limits 유지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scheduling과 resource allocation을 value로 연결한 분해다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10-24; §§IV-VII</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다중 서버 MEC에서 무엇을 함께 최적화할까</dc:title>
  <dc:subject>Joint Task Offloading and Resource Allocation for Multi-Server Mobile-Edge Computing Networks</dc:subject>
  <dc:creator>Research Seminars</dc:creator>
  <cp:lastModifiedBy>Research Seminars</cp:lastModifiedBy>
  <cp:revision>1</cp:revision>
  <dcterms:created xsi:type="dcterms:W3CDTF">2026-09-12T07:52:23Z</dcterms:created>
  <dcterms:modified xsi:type="dcterms:W3CDTF">2026-09-12T07:52:23Z</dcterms:modified>
</cp:coreProperties>
</file>
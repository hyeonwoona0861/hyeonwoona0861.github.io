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A8E93DFD-5201-419C-A403-DD7CBAA52A5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PTE: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대규모 그래프의 삼각형 열거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안녕하세요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소개할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발표된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PTE, Pre-partitioned Triangle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“수십억 개의 정점과 간선을 가진 그래프에서 어떻게 모든 삼각형을 찾아낼 것인가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?”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질문에서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오늘은 복잡한 증명보다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방식이 어디에서 막혔고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데이터 흐름을 어떻게 바꾸었는지에 초점을 맞추겠습니다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여기서 말하는 삼각형 열거가 무엇인지부터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약어를 “미리 분할한 삼각형 열거”라고 풀어 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(KDD 2016), p. 1. DOI: 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질문과 답변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저장장치인가요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문맥의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보통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SSD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HDD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저장장치를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I/O-efficient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다 못 넣는 그래프를 디스크로 처리하지만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단일 머신의 저장 용량과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I/O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처리량은 여전히 한계입니다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70TB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ClueWeb12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 개 삼각형을 정점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개씩 단순 저장할 때 필요한 출력 저장공간의 대략값입니다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처리용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출력 보관용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다른 병목입니다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 pp.1–2, Sections 1, 2.1.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Q2.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무엇이 다른가요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 개 결과를 정말 저장했나요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삼각형의 총개수만 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삼각형을 하나씩 발견합니다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논문의 정의는 발견한 삼각형을 모두 유지하거나 외부로 내보낼 것을 요구하지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삼각형을 로컬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enum(·)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함수에 전달해 바로 세거나 분석할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논문이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 개의 삼각형을 열거했다는 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 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3-tuples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파일로 저장했다는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 p.3, Definition 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뒤의 설명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Q7. 2016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결과를 현재의 최고 성능으로 봐도 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당시의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Hadoop 1.2.1, Spark 1.5.1, GraphLab PowerGraph 2.2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비교한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배”와 “유일하게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ClueWeb12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처리”했다는 주장은 그 실험 환경과 비교 대상에 한정해야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of the 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판단하려면 이후 연구와 최신 시스템을 별도로 조사해야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 pp.8–10, Sections 5.1.2, 5.2, 6.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Tenstorrent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잘 동작한다고 말할 수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클러스터의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구현을 평가했으며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Tenstorrent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하드웨어를 다루지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데이터 분할 아이디어가 참고가 될 수는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적합성을 판단하려면 장치 메모리 용량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호스트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장치 전송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온칩 네트워크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희소 그래프 연산 지원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런타임의 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I/O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구조를 별도로 측정해야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논문 결과가 아니라 후속 연구 질문입니다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 pp.8–10, Sections 5.1.2, 5.2.3, 6.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(KDD 2016), p. 1. DOI: 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이미지 설명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실측 데이터가 아닌 개념도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그래프 안의 삼각형 하나를 강조한 그림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A4FF408-77F9-4F84-B5E2-C254837D72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Triangle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의미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그래프의 삼각형은 세 정점이 서로 모두 연결된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Triangle counting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전체 개수만 구하는 문제라면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triangle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각각의 삼각형을 하나씩 발견하는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자기 루프와 중복 간선이 없는 무방향 단순 그래프를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삼각형을 여러 번 찾지 않도록 정점을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연결 수가 작은 순서로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순서로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순서가 간선의 실제 방향을 바꾸는 것은 아니고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중복 계산을 피하기 위한 표기 규칙입니다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 중요한 점은 발견한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 개의 삼각형을 모두 파일에 저장해야 한다는 뜻이 아니라는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삼각형을 찾을 때 로컬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함수를 호출해 바로 집계하거나 검사할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그렇다면 어려움은 최종 결과의 크기만이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찾는 동안 생기는 데이터에도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“개수만 세기”와 “각 항목을 발견해 콜백에 전달하기”를 손으로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 세는 비유로 구분한다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§1, §3.1, Definition 1, pp. 1, 3. A/B/C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설명용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§1, §3.1, Definition 1, pp. 1, 3. A/B/C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설명용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E893D4-985A-45C2-9161-4B054DCAA2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그래프가 커질 때 생기는 병목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ClueWeb12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억 정점과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억 간선이 있고 삼각형은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3.06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파일이 큰 것뿐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찾는 과정에서 복사하는 데이터와 최종 결과도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지금 계산할 부분을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디스크는 입력과 임시 파일을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네트워크는 장비 사이의 이동을 담당합니다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70TB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삼각형을 결과 파일로 보존할 때의 규모입니다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메모리라는 말이 어디에서는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어디에서는 디스크인지 혼동하기 쉬우므로 다음 장에서 먼저 구분하겠습니다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숫자를 외우기보다 입력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중간 데이터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각각 커진다는 흐름을 강조한다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§2.1, p. 2; Table 2, p. 8. 3,064,499,157,291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§2.1, p. 2; Table 2, p. 8. 3,064,499,157,291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E1C5FD-1CCA-485D-AB82-12C9585A50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External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책상과 책장을 떠올려 봅시다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 펼쳐 놓고 계산하는 책상이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아직 펼치지 않은 자료를 넣어 두는 책장이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SSD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HDD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밖의 저장장치이지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저장장치가 본체 안에 들어 있어도 메모리 계층에서는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책상보다 큰 자료는 책장에서 조금씩 꺼내 처리할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필요한 입력과 작업 파일이 책장 전체 용량보다도 크면 놓을 곳이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저장공간은 또 다른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3.06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 개 삼각형을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64-bit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개로 단순 저장하면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바이트씩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73.5TB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저장 형식을 가정한 계산이지 압축된 모든 표현의 보편적 하한은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70TB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규모지만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70TB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요구한다는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함수에 넘겨 바로 집계하고 버리면 결과 전체를 보존하지 않아도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부족 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70TB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생성이라는 인과관계가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임시 파일과 출력 보관은 서로 다른 저장 요구다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§2.1, p. 2; Definition 1, p. 3. 64-bit 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개를 저장하는 교육용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§2.1, p. 2; Definition 1, p. 3. 64-bit 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개를 저장하는 교육용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8B53F9-0ABE-4541-8AC3-B7DC912C3E1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입력보다 중간 데이터가 더 커지는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중심 한 명이 다른 백만 명과 연결되어 있지만 이웃끼리는 연결되지 않은 별 모양 그래프를 생각해 봅시다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간선은 백만 개이고 삼각형은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그런데 이웃 두 명의 모든 조합을 후보로 만들면 백만 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9999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천억 개가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정답이 없어도 후보가 폭증할 수 있는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알고리즘이 이 후보를 저장하는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후보를 물질화하는 방식의 위험을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직접 연결되는 또 다른 문제는 같은 간선을 여러 부분 문제에 복제하는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복제본은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메모리만 차지하는 것이 아니라 임시 디스크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병합과 정렬을 거칩니다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서버의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더한다고 모든 병목이 자동으로 사라지지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폭증과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간선 복제는 중간 데이터가 커지는 서로 다른 경로다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방식에 같은 실패 원인을 씌우지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§2.2-2.4, pp. 2-3.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모양 그래프와 후보 수는 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§2.2-2.4, pp. 2-3.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모양 그래프와 후보 수는 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794FF1C-FB4D-4B18-8A2A-10B2167964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알고리즘의 접근과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접근은 크게 세 종류입니다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I/O-efficient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큰 그래프를 디스크에서 처리하지만 단일 머신의 저장공간과 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I/O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GraphLab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분산 메모리 방식은 간선과 정점을 여러 머신에 복제하므로 중간 복제본이 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MapReduce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정점에 임의의 색을 주고 작은 부분 문제로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각 간선을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입력에 반복해서 보내기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양이 간선 수보다 훨씬 빠르게 늘어납니다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번에 처리하는 양을 제한하도록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쪼개 공간 부족 부담을 낮추지만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전체적으로는 같은 간선을 계속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데이터셋을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바꾸려는 핵심은 삼각형 탐색법 자체보다 이 비효율적인 데이터 이동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상수 계수만큼 개선했다는 말의 뜻부터 짚고 색 분할로 넘어가겠습니다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 이동 관점에서는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 번에 나르는 짐을 줄인다고 설명한다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4-wise-independent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배정과 부하 분석도 포함하며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PTEBASE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pairwise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가정과 동일하지 않다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이것만으로 매번 메모리 수용이 확정되는 것은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§2.1-2.4, pp. 2-3; §3.2, p. 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검토한 방법 기준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(https://www.dei.unipd.it/~silvestri/assets/publications/PSKP14.pdf)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§2.1-2.4, pp. 2-3; §3.2, p. 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검토한 방법 기준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4F8648-1505-40D4-9B43-DB735A6CA9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GP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Constant-factor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비교하는 비용은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보내는 간선 레코드의 개수입니다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간선 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하고 두 방법에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정점의 색은 균등 무작위로 배정하며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색 작업을 정의할 수 있도록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라벨과 색 조합별 작업은 다음 슬라이드에서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세 색을 고른 작업에 간선을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양 끝의 색이 같으면 나머지 두 색을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중에서 고르므로 간선당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(ρ-1)(ρ-2)/2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레코드가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 끝의 색이 다르면 나머지 한 색을 고르므로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맞게 두 색 작업과 세 색 작업을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색 간선은 두 색 작업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개에 보내고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색 간선은 두 색 작업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개와 세 색 작업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개에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어느 종류의 간선이든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레코드를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균등하고 독립적인 끝점 색 배정에서 같은 색 간선일 확률은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1/ρ,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색일 확률은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(ρ-1)/ρ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복제 횟수에 가중하면 전체 기대 레코드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3m(ρ-1)(ρ-2)/(2ρ)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색 배정 결과와 무관하게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m(ρ-1)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식의 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m(ρ-1)(ρ-6)/(2ρ)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레코드 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기대값보다 작은 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 &gt;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ρ=6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같으며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까지는 이 레코드 수 기준으로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작지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 비용은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1.5mρ,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TTP / E[GP]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2/3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가까워지므로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적은 레코드를 보내지만 두 방법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Θ(mρ)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크기에 따른 증가 차수를 유지하면서 앞의 상수 계수를 줄인다는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동일한 색 수에서의 분석이며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메모리 조건에서 색 수를 각각 조절하는 비교에 이 절감률을 그대로 적용할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레코드 개수는 정확한 전송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수나 전체 실행시간과 구별해야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시간에는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디스크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I/O,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정렬과 네트워크가 함께 작용합니다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사전 분할로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줄이지만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전체 연산이나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선형으로 만든다는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균등 색 배정이라는 비교 조건을 먼저 명시한다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기대값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정확한 레코드 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절감은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레코드 수 분석이며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실행시간에 적용되는 고정 개선율이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TTP §4.1-4.3, Lemma 2·Theorem 2, pp. 4-6; PTE §2.4·§3.2, pp. 3-4. m=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ρ=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원논문의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map-output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레코드 분석이며 가상 비용이나 실행시간 측정값이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(https://islab.kaist.ac.kr/chungcw/InterConfPapers/km0805-ha-myung.pdf)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TTP §4.1-4.3, Lemma 2·Theorem 2, pp. 4-6; PTE §2.4·§3.2, pp. 3-4.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https://islab.kaist.ac.kr/chungcw/InterConfPapers/km0805-ha-myung.pdf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0BAA1C-6743-411E-91E7-17899BB55F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 기준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정점에 색 라벨을 붙인다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분할은 먼저 정점에 라벨을 붙이는 데서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입력으로 받는 함수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ξ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무작위 해시 함수 집합에서 하나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선택한 함수는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ρ−1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색을 반환하고 실행 동안 모든 작업이 같은 함수를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정점을 다른 간선에서 만났다고 다시 색을 뽑으면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받아도 두 정점이 합쳐지는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학생 두 명이 같은 색 이름표를 단 것과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라벨은 같은 주제나 커뮤니티를 찾은 결과가 아니고 차수가 비슷한 정점을 묶은 것도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색의 개수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머신 수와 같다고 정하지 않고 간선 수와 가용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특정한 해시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seed, 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연산을 지정한 것은 아니므로 여기서 임의 구현을 논문 알고리즘으로 소개하지 않겠습니다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실행에서 함수는 고정된다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무작위 선택과 결정적인 함수 평가를 구분한다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Table 1, p. 2; §3.2-4.1, pp. 3-4. A/B/C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색 배정은 설명용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Table 1, p. 2; §3.2-4.1, pp. 3-4. A/B/C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색 배정은 설명용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469CD99-5C13-43C8-82B9-520087B2F0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색상으로 나누는 세 가지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type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앞에서 붙인 색 라벨로 삼각형을 세 종류로 분류합니다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정점과 세 간선이 이미 존재하는 삼각형을 전제로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A, B,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같은 색이면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정확히 두 정점만 같은 색이면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 다 다른 색이면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색이 된다는 것은 정점 자체가 같아진다는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 인접한 정점이 서로 다른 색이어야 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proper graph coloring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색 분류는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활용하는 공통 배경입니다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슬라이드만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고유 동작이라고 이해하면 부족합니다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배정을 바꾸면 같은 삼각형의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바뀔 수 있지만 원래 간선이나 삼각형의 존재는 바뀌지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이름표만 바뀐다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색이라고 새 간선이 생기지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§3.2, p. 3; §4.1, p. 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그림은 정의를 설명하는 자체 제작 개념도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(https://www.dei.unipd.it/~silvestri/assets/publications/PSKP14.pdf)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(https://islab.kaist.ac.kr/chungcw/InterConfPapers/km0805-ha-myung.pdf)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§3.2, p. 3; §4.1, p. 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그림은 정의를 설명하는 자체 제작 개념도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https://islab.kaist.ac.kr/chungcw/InterConfPapers/km0805-ha-myung.pdf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이미지 설명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자체 제작 개념도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실측자료 아님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C23C01-EFE1-40B0-829A-9CD403B7389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 기준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조합이 하나의 작업이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작업은 색 조합으로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색 작업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(i,j)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j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간선을 모아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색 작업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(i,j,k)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색 사이의 세 묶음만 모아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기존 삼각형은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작업이 담당합니다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A,B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내부 간선과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B,C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간선을 함께 읽으면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정점 색이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0,1,2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(0,1,2)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존재하는 모든 두 색 조합과 세 색 조합을 처리하므로 한 머신이 여러 작업을 차례로 맡을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하나를 머신 한 대와 동일시하지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Type-1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여러 두 색 작업에 포함되므로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지정된 작업에서만 출력하고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중복 계산까지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색 작업에도 내부 간선이 필요하다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 counting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가중치 보정과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 규칙은 같지 않다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§3.2-4.1, pp. 3-5.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번호와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A/B/C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설명용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§3.2-4.1, pp. 3-5.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번호와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A/B/C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설명용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D2C613B-7337-45E4-AB14-ED59D719E8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 기준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파일은 끝점 색의 순서로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앞에서 두 색 사이의 간선을 모아 작업한다고 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이때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정점과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정점을 잇는 모든 간선의 집합을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간선 집합을 뜻하고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색 라벨입니다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간선 하나를 뜻하는 것도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새로운 간선을 만드는 것도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논리적 집합과 실제 저장 파일은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정점은 차수가 작은 순서로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동률이면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순서로 정렬합니다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예시에서 이 순서가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 C,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합시다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간선을 이 정점 순서대로 한 번만 기록하므로 실제 간선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(A,C)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E_star[0,1]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(C,B)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E_star[1,0]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번호를 작은 것부터 다시 정렬하지 않는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파일은 같은 간선의 복사본이 아니라 서로 겹치지 않는 집합입니다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간선을 모두 읽으려면 두 파일을 함께 읽어야 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E01 = E_star[0,1] ∪ E_star[1,0]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∪는 합집합 기호이며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새 파일을 따로 저장해야 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색 내부의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E_star[0,0]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정점 순서는 차수와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파일 키는 순서 있는 끝점 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키는 사용할 두 색이나 세 색의 조합이라는 세 층을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예시는 삼각형 밖의 이웃까지 포함한 전체 그래프의 차수에 의해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 C, 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순서가 성립할 수 있다고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별표는 곱셈이 아니라 집합 표기의 구별이다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순서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섞지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Table 1, §3.1, §4.1, Algorithm 1, pp. 2-4. E_star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읽기 쉽게 쓴 표기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Table 1, §3.1, §4.1, Algorithm 1, pp. 2-4. E_star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읽기 쉽게 쓴 표기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3CA5C3-F77E-4B0A-9A6E-9EE80DACF8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간선 하나가 여러 작업으로 복제된다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색이 네 개일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간선 하나를 따라가 봅시다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 끝 색이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이 간선은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(0,1), (0,2), (0,3)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색 작업에 각각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 끝 색이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작업에 한 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(0,1,2)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(0,1,3)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작업에 두 번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경우 모두 세 레코드가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색이면 같은 색 간선은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ρ−1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두 색 작업으로 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색 간선은 한 두 색 작업과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ρ−2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세 색 작업으로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총 복제 레코드는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(ρ−1)m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작업들을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나누어 한 번의 부담을 낮춥니다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합하면 같은 복제 레코드들을 보내고 입력도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다시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내부의 복제를 센 예시이지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ρ=4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적다는 비교가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작게 쪼개는 이익과 더 많이 복사하는 비용이 동시에 생긴다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공간 제어 효과 자체는 유효하다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§2.4, §3.2, pp. 3-4; CTTP (CIKM 2014), §4, §5.3.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색은 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(https://www.dei.unipd.it/~silvestri/assets/publications/PSKP14.pdf)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(https://islab.kaist.ac.kr/chungcw/InterConfPapers/km0805-ha-myung.pdf)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§2.4, §3.2, pp. 3-4; CTTP (CIKM 2014), §4, §5.3.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색은 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https://islab.kaist.ac.kr/chungcw/InterConfPapers/km0805-ha-myung.pdf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96354FC-7DD0-45DE-96F0-E960977D7C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PTEBASE: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 저장과 열거의 분리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핵심은 이름 그대로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pre-partitioning,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미리 분할하는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단계에서 각 간선을 양 끝 정점의 색 조합에 따라 정확히 하나의 간선 파일에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색이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정점을 잇는 간선은 해당 색과 순서에 맞는 파일에 한 번만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단계의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양은 간선 수에 선형인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O(|E|)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열거 단계에서는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위해 부분 그래프를 다시 만들어 보내지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작업이 분산 저장소에서 자기 부분 문제에 필요한 간선 파일만 읽어 메모리에서 삼각형을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전체 데이터를 읽고 간선을 여러 부분 문제로 다시 배송한다면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PTEBASE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번 분류해 창고에 두고 각 작업이 필요한 상자만 가져오는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선형이 되었다고 전체 비용이 모두 선형인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필요한 파일을 여러 부분 문제에서 읽는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실제 이웃 비교 작업은 여전히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끝나지 않고 계산과 읽기 순서를 두 단계 더 개선합니다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전에 분할 크기를 평균적으로 조절하는 이유와 색 수를 정하는 기준을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“한 번 분류해 저장”과 “작업마다 필요한 파일을 선택해서 읽기”를 두 단계로 끊어 말한다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Algorithms 1-2, §4.1, pp. 4-5; Hadoop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§4.5, p. 7.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Algorithms 1-2, §4.1, pp. 4-5; Hadoop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§4.5, p. 7.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99AEB3-6958-4309-8B7A-1F8B7924B45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Pairwise independence: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평균적으로 퍼질까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하나를 균등하게 뽑아 모든 정점에 같은 색을 주면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정점의 색은 균일하게 분포하지만 간선은 한 파일에 몰립니다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정점 하나의 색이 균일한 것만으로는 부족하고 두 정점 사이 독립성도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간선은 서로 다른 두 끝점으로 결정됩니다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색이 세 개라면 특정한 순서 있는 색상쌍이 될 확률은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1/3,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각각의 확률을 더하면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파일의 기대 간선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기대값의 합을 계산할 때 간선끼리 모두 독립적일 필요는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중심 정점을 공유하는 간선들은 그 정점 색을 함께 사용하므로 배정이 연관될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뜻을 다시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정점과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정점을 잇는 간선 전체이며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저장 파일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E_star[0,1]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E_star[1,0]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합집합입니다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파일에 각각 기대상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있고 서로 겹치는 간선이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 크기는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+ 100 = 200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확률로도 서로 배타적인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(1,0)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경우를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1/9 + 1/9 = 2/9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한 경우만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E_star[0,0]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간선을 두 번 세거나 새 간선을 생성해서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되는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‘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기대상’은 해시를 새로 골라 실행하는 확률 실험의 평균에 대한 말이지 이번 실행의 모든 파일 크기가 똑같다는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pairwise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4-wise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가정을 동일하게 말하지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고확률 변형도 별도 분석이다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§4.1, p.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확률 가정 해설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색은 수식 대입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(https://www.dei.unipd.it/~silvestri/assets/publications/PSKP14.pdf)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§4.1, p.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확률 가정 해설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색은 수식 대입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398D565-3316-4826-ABD4-91EC230AB65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색은 몇 개로 나눌까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 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읽기 비용의 균형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그래프가 클수록 부분 문제를 더 작게 나누고 싶습니다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색을 무작정 늘리면 두 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색 조합으로 만들어지는 작업이 많아지고 같은 파일을 여러 작업이 반복해서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색 작업이 읽는 기대 간선 수를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두 색의 간선 묶음은 기대상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2m/ρ²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이 묶음을 세 개 읽으므로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6m/ρ²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한 작업의 가용 메모리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이하로 만들도록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sqrt(6m/M)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올림으로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간선 개수이므로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간선을 몇 개 담을 수 있는지에 대응하는 메모리 단위로 맞춰야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32GB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숫자를 간선 개수와 그대로 섞어 넣으면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구현은 간선 표현뿐 아니라 인덱스와 작업 버퍼의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비용도 따져야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이 식은 기대 크기를 맞추는 기준입니다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실행의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수용을 보장하는 것은 아니며 작은 반례는 부록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두었습니다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 → 작업 크기 감소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작업 수와 반복 읽기 증가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클러스터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읽지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§4.1, p. 4; §4.4, p. 7. ceil=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올림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sqrt=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기대값과 용량 보장의 구분은 해설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§4.1, p. 4; §4.4, p. 7. ceil=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올림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sqrt=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기대값과 용량 보장의 구분은 해설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63201A-A766-442B-8861-EC4EBA498C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작업 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찾는 방법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3(a)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단순화해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 문제 안에서 간선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(u,v)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기준으로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이웃 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{v,a,b}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이웃 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{n,b}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교차합니다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공통 원소는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(u,v,b)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삼각형입니다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이웃 집합 교차가 열거의 기본 연산입니다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문제라면 다른 두 간선은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파일에 있어야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이웃을 비교할 필요 없이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올바른 색 방향에 속한 이웃끼리만 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관찰이 다음 버전인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출발점입니다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화면에서 두 집합의 공통 원소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가리킨다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그래프의 정점 순서는 논문처럼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기억시킨다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§3.1, p. 3; Algorithm 2, p. 4; Figure 3(a), 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§3.1, p. 3; Algorithm 2, p. 4; Figure 3(a), 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F43A2B-176D-4DAA-94AF-58D99D801AA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PTECD: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필요한 색의 이웃만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슬라이드의 예시를 그대로 쓰겠습니다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기준이 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pivot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(u,v)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E_star[0,1]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번째 정점의 색을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color-direction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호출에서는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이웃을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E_star[0,2]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이웃을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E_star[1,2]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비교하던 이웃 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{v,a,b}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{n,b}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관계없는 색의 정점을 교차 입력에서 제외하면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실제로 교차하는 집합은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{b}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{b}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그대로 남으므로 결과도 같은 삼각형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(u,v,b)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정점의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정한 순서는 간선과 삼각형의 중복 출력을 막기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순서로 놓인 끝점의 색 라벨이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파일의 키가 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번호를 작은 것부터 다시 정렬하지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이 한 호출만으로 모든 경우를 처리하는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color-direction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호출이 가능한 색과 방향 배치를 모두 나누어 담당합니다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예에서는 결과를 바꾸지 않고 비교 집합만 줄었다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순서와 색 번호 순서를 혼동하지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여섯 호출이 전체 경우를 완전하게 나눈다는 점을 확인한다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§4.2, Algorithm 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3–4, pp. 5–6.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§4.2, Algorithm 3, Figure 3-4, pp. 5-6. Figure 3(a)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0,1,2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붙인 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C62F49-8BDD-490F-9D08-117B527A63A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PTECD: Type-1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계산은 한 작업에만 배정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모든 정점의 색이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삼각형을 생각하겠습니다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두 색 작업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(0,1), (0,2), (0,3)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모두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간선을 가지므로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후보를 세 번 계산할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중복 방지 조건에 따라 출력은 한 번만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담당을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unordered pair (c, (c+1) mod rho)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담당은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01,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작업에서만 계산하고 한 번 출력하므로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예에서는 세 번 계산하던 것을 한 번으로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다른 두 색 작업에서 색 내부 간선 파일을 전부 없애는 규칙은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내부 간선은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삼각형을 찾을 때 여전히 필요할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생략하는 것은 담당이 아닌 작업의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전용 열거 호출뿐입니다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 출력과 한 번 계산을 구분한다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담당 규칙은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unordered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다음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작업으로 표현한다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§4.2, Algorithm 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3–4, pp. 5–6.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§4.1-4.2, Algorithm 3 lines 3-8, pp. 4-6. ρ=4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담당 규칙의 수식 대입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66DCFB3-5C0C-4972-8703-89041EBFCA0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PTESC: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개는 유지하고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개만 교체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0,1,2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다루는 한 세 색 작업에서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계속 쓸 파일과 중간에 교체할 파일을 나누어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E_star[0,1]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E_star[1,0],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E_star[1,2]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E_star[2,1]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네 파일은 두 단계의 계산에 걸쳐 계속 사용하므로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화면의 ‘공통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개’가 이 파일들입니다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남은 두 파일은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E_star[0,2]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E_star[2,0]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화면에서는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0→2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2→0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 파일이라고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Type-3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삼각형 하나에는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정점과 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정점을 잇는 간선이 하나 있으므로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간선은 두 파일 중 하나에만 속합니다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찾을 삼각형을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0→2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파일이 필요한 경우와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2→0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파일이 필요한 경우로 나누어 처리할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화살표는 무방향 간선을 차수와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정한 정점 순서대로 기록했을 때의 색 방향입니다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그래프를 방향 그래프로 바꾸거나 색 번호를 작은 것부터 정렬한다는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줄에서는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0→2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파일을 읽고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0→2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파일이 필요한 삼각형을 모두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이제 뒤에 남은 것은 반대 방향인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2→0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파일을 쓰는 계산뿐입니다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둘째 줄에서 역할이 끝난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0→2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내려도 놓치는 삼각형이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순간에는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개만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 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2→0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파일을 읽어 나머지 삼각형을 찾으면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4+1,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반대 방향 파일을 동시에 유지할 필요가 없어 최대 동시 적재가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해제는 이 작업의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내린다는 뜻이고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 저장소의 원본 파일은 그대로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연결하면 앞 단계는 색 순서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(0,1,2), (0,2,1), (1,0,2)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호출이고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단계는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(1,2,0), (2,0,1), (2,1,0)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호출입니다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호출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(x,y,z)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E_star[x,y]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기준 간선을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E_star[x,z]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E_star[y,z]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이웃을 가져옵니다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세 호출만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E_star[0,2]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세 호출만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E_star[2,0]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여섯 경우를 빠짐없이 처리하면서 각 파일을 이 한 부분 문제 안에서 한 번씩만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부분 문제에서도 그 파일이 필요할 수 있으므로 전체 실행에서 한 번만 읽는다는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동시 적재량 감소가 전체 읽기 감소로 이어지는 이유는 다음 장에서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표를 위에서 아래로 짚으며 ‘공통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+ 0→2’, ‘0→2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 완료 후 해제’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‘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+ 2→0’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세부 순열은 질문이 나올 때 대본의 마지막 문단으로 보충한다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부분 문제의 전체 파일 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개와 최대 동시 적재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구분한다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§4.3, Algorithm 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5, pp. 6–7.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§4.3, Figure 5, Algorithm 4, pp. 6-7. (i,j,k)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(0,1,2)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FB15F5-A6D6-4272-A134-2865A0D577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PTESC: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 적재 감소가 읽기 감소로 이어지는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각 작업에서 읽는 데이터 양 자체를 줄이는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동시에 필요한 기대 데이터 크기입니다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6m/rho², 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5m/rho²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작업별 가용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 할 때 필요한 색 수를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ceil(sqrt(6m/M))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ceil(sqrt(5m/M))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잡을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허용할 수 있다는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두 색 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off-diagonal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 하나는 두 색 부분 문제 한 개와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세 번째 색을 고르는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rho−2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세 색 부분 문제에서 읽힙니다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합하면 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rho−1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작업입니다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실제로 작아지면 그 파일의 반복 읽기 횟수도 줄고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감소합니다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ceiling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두 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같을 수도 있으며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크기는 무작위 색 배정에 대한 기대값이지 모든 실행의 메모리 상한 보장이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효과는 여러 작업이 하나의 캐시를 공유해서 생기는 것이 아니고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빅오를 바꾸는 개선도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§4.4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설명하는 동일한 점근 복잡도 안의 상수 계수 개선입니다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간선 수와 그에 대응하는 메모리 용량 단위로 맞춰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예산에는 인덱스와 버퍼 비용도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색 수에서는 파일 이름이 같아도 담기는 간선이 달라지므로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설명의 핵심은 특정 파일 내용의 고정이 아니라 각 간선 파일이 참여하는 작업 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인과관계는 동시 기대 적재량 감소 →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 → 파일이 참여하는 작업 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rho−1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감소 → 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read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감소이다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실제로 같으면 이 경로의 절감도 생기지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§4.3, Algorithm 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5, pp. 6–7; §4.4, p. 7.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§4.3-4.4, pp. 6-7.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간선 수에 대응하는 단위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보장과는 구분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AFA38A6-19A4-4477-8FC6-B02D91301D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TTP·CTTP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색별 부분 문제를 만들 때 간선을 여러 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이를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나눠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공간 부담을 낮추지만 전체 복제와 반복 읽기는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간선을 먼저 한 파일에만 분할 저장하고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작업이 필요한 파일을 읽게 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O(|E|)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낮춥니다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정확히 필요한 색 방향만 비교하고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작업 내부 적재 순서를 바꿔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차별점은 더 많은 머신을 동원한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데이터를 언제 복제하고 언제 읽는가를 재설계한 데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효과를 논문의 실험으로 확인하겠습니다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복잡도 식보다 “복제 전송”과 “분할 후 선택 읽기”의 대비를 강조한다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§2.4, §3.2, §4.1, §4.4; CTTP §4, §5.3.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입력 간선 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(https://www.dei.unipd.it/~silvestri/assets/publications/PSKP14.pdf)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§2.4, §3.2, §4.1, §4.4; CTTP §4, §5.3.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입력 간선 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AA3E60-48BB-4E63-973B-767429C516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실험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worker 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대로 구성된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 클러스터에서 수행됐고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머신은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32GB 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가졌습니다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ClueWeb12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억 정점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720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억 간선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 개가 넘는 삼각형을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계열은 이 전체 그래프를 처리했지만 비교 알고리즘들은 메모리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정수 범위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제한 시간 문제로 더 작은 규모에서 멈췄습니다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이것은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논문이 사용한 구현과 환경에서의 비교입니다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속도 수치도 조건을 붙여 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성능 향상은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real-world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 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SubDomain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비교한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shuffle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감소는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억 간선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ClueWeb12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ClueWeb12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뽑은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360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억 간선 규모의 실험 지점입니다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 개 삼각형을 모두 저장했다는 의미도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열거할 때 로컬 콜백으로 전달했기 때문에 결과 전체를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70TB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파일로 물질화하지 않아도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이 결과가 말하는 범위와 한계를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“최대” 수치 옆의 데이터셋과 입력 규모를 함께 가리켜 과장된 일반화를 막는다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Figure 1, p. 2; Table 2·Figure 6·§5.1, p. 8; Figure 7·§5.2.1, p. 9.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Figure 1, p. 2; Table 2·Figure 6·§5.1, p. 8; Figure 7·§5.2.1, p. 9.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55EF447-2A2A-42E7-A6AE-69DC5BE81D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정리와 적용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병목을 순서대로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미리 분할해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PTECD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color-direction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불필요한 계산을 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부분 문제 내부 스케줄로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교훈은 대규모 그래프 알고리즘의 성능이 연산식만이 아니라 중간 데이터의 생성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이동 방식에 의해 결정된다는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색상 해시의 균형은 기댓값에 대한 분석이지 모든 그래프에서의 최악 경우 보장은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Hadoop·Spark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환경을 대상으로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이 논문만으로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현재의 모든 플랫폼이나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Tenstorrent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장치에서 그대로 효율적이라고 결론 내릴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 적용에는 메모리 계층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통신 방식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런타임에 대한 별도 검증이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이상으로 발표를 마치겠습니다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문장은 “연산보다 데이터 이동이 먼저 병목이 될 수 있다”로 다시 압축해도 좋다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Definition 1, §4, §6.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현재의 모든 시스템에 대한 성능 보장은 아님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Definition 1, §4, §6.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현재의 모든 시스템에 대한 성능 보장은 아님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BD44693-16D9-4170-B83D-E8ACCA7EDC9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의사코드로 보는 전체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의사코드는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흐름을 합쳐 설명한 교육용 요약이지 실행 코드가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 단계에서 간선의 끝점 색을 순서대로 키에 담아 한 파일로 분류하고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열거 단계는 작업에 필요한 파일을 직접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E_star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표기는 수식 명령이 그대로 표시되는 문제를 피하기 위한 읽기 쉬운 표기입니다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ψ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사용하지 않는 입력 키이며 정점이나 색이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삼각형 출력이 아니라 간선을 색상쌍별로 모으기 위한 레코드 출력입니다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세부 분기와 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color-direction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경우는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Algorithms 2–4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설명용 표기를 바꾸어도 키의 순서와 분기 조건의 의미는 바꾸지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Algorithms 1-4, pp. 4-6.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코드가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PTECD/PTESC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교육용 요약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질문과 답변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여섯 방향을 검사하나요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삼각형에는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pivot, port, starboard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간선이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색 또는 두 색이 정점 순서와 결합되면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color-direction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배치가 여섯 가지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배치에 맞는 세 간선 집합을 별도로 넣어 필요한 방향의 삼각형만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여섯 호출은 같은 삼각형을 무조건 여섯 번 출력한다는 뜻이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가능한 방향 경우를 빠짐없이 나누어 담당한다는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 pp.5–6, Algorithm 3, Figure 4.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Q6. 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개로 줄었다는 것은 무엇인가요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간선 파일 종류가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세 색 부분 문제에서 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color-direction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호출을 수행할 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읽기와 해제 순서를 조정해 동시에 메모리에 유지해야 하는 간선 집합의 최대 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낮춘다는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때문에 메모리 제약 아래 더 적은 색을 쓸 수 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 pp.6–7, Section 4.3, Figure 5, Algorithm 4.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Algorithms 1-4, pp. 4-6.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코드가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PTECD/PTESC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교육용 요약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D387B4-5462-4657-8845-EF2941182C8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비용과 메모리 보장의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세 행은 서로 다른 비용입니다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분할 단계의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레코드 양에 대한 주장입니다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여러 작업이 파일을 반복해서 읽는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O(m^(3/2)/sqrt(M))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남고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total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O(m^(3/2))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한 행의 개선을 전체 통신량이나 실행시간으로 확대하면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확률적 배정으로 계산한 평균 작업 크기와 매번 반드시 메모리에 들어간다는 확정적 주장을 구분하는 것도 같은 이유입니다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입력 간선 수이고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작업별 가용 메모리다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 식은 논문의 자원 모델 기준이다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§2.4, §4.1, §4.4.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기대값과 실행별 용량 보장의 구분은 발표용 해설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질문과 답변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Q3.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개선한다는 것은 무슨 뜻인가요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색 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 ≥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균등 무작위 정점 색 배정을 기준으로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기대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레코드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3m(ρ-1)(ρ-2)/(2ρ),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레코드 수는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m(ρ-1)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m=|E|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색 간선을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(ρ-1)(ρ-2)/2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색 간선을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종류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 &gt;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레코드 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기대값보다 작고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 / E[GP]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2/3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가까워집니다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방법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Θ(mρ)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개선은 상수 계수에 해당합니다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레코드 수 비교이며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메모리에 맞춰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쓰는 비교나 전체 실행시간에 같은 절감률을 적용할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TTP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원논문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§4.1-4.3, Lemma 2·Theorem 2; PTE §2.4·§3.2.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Q4. Pairwise independence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간선 분산을 고르게 보장하나요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균등한 색상 범위와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pairwise independence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간선의 두 끝점이 특정한 순서 있는 색상쌍에 배정될 확률은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1/ρ²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방향별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E_star[i,j]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 간선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m/ρ²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방향을 합친 서로 다른 두 색 사이 묶음은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2m/ρ²,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색 내부 묶음은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m/ρ²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묶음 종류도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분석은 모든 실행에서 완벽히 고르다는 보장이나 고확률 최악 경우 보장이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하나의 허브 정점을 공유하는 많은 간선의 배정은 서로 상관될 수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 pp.3–5, Sections 3.2, 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coloring·memory-size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방향별 묶음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기대값과 실행별 보장의 구분은 확률 가정에 대한 해설입니다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§2.4, §4.1, §4.4.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기대값과 실행별 용량 보장의 구분은 발표용 해설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7EB932-DF10-43CD-9740-1A64B0A37C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 크기가 작아도 실제로 넘칠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네 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a,b,d,e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연결된 별 모양 그래프입니다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삼각형은 없고 간선은 네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중심 색이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배정은 완전 독립적으로 색을 골라도 발생할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간선 세 개분이라고 놓으면 논문의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주고 세 색 작업의 기대 크기는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24/9,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8/3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그런데 이 배정에서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(0,1,2)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간선과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간선을 실제로 읽어 네 개를 메모리에 올립니다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평균은 세 개 이하인데 이번 실행은 네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프로그램이 실패했다는 실험 보고가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기대값 식만으로 매번 들어간다는 논증을 할 수 없다는 수학적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높은 확률의 최대 부하를 말하려면 추가 분석이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포인트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정답인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없어도 입력 간선 적재는 필요하다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평균과 상한을 구분한다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 크기 식에 대한 교육용 반례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실험이나 실제 실패 보고가 아님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(https://datalab.snu.ac.kr/~ukang/papers/pteKDD16.pdf) 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(https://doi.org/10.1145/2939672.2939757)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질문과 답변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Q4. Pairwise independence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간선 분산을 고르게 보장하나요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균등한 색상 범위와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pairwise independence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간선의 두 끝점이 특정한 순서 있는 색상쌍에 배정될 확률은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1/ρ²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방향별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E_star[i,j]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 간선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m/ρ²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방향을 합친 서로 다른 두 색 사이 묶음은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2m/ρ²,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색 내부 묶음은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m/ρ²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묶음 종류도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분석은 모든 실행에서 완벽히 고르다는 보장이나 고확률 최악 경우 보장이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하나의 허브 정점을 공유하는 많은 간선의 배정은 서로 상관될 수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 pp.3–5, Sections 3.2, 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coloring·memory-size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방향별 묶음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기대값과 실행별 보장의 구분은 확률 가정에 대한 해설입니다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PTE §4.1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 크기 식에 대한 교육용 반례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실험이나 실제 실패 보고가 아님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https://datalab.snu.ac.kr/~ukang/papers/pteKDD16.pdf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53E083-AAAA-4568-A6FC-69CBF1D21B1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60240" y="673200"/>
            <a:ext cx="5714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6200" b="1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PTE</a:t>
            </a:r>
            <a:endParaRPr lang="en-US" sz="6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60240" y="1943280"/>
            <a:ext cx="6603480" cy="14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4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대규모 그래프의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4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삼각형 열거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60240" y="3683160"/>
            <a:ext cx="617184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중간 데이터 병목과 </a:t>
            </a:r>
            <a:r>
              <a:rPr lang="en-US" sz="19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Pre-partitioned Triangle Enumeration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60240" y="4851360"/>
            <a:ext cx="723852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Ha-Myung Park, Sung-Hyon Myaeng, U Kang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KDD 2016, pp. 1115-1124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PTE: Enumerating Trillion Triangles On Distributed Systems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" name="Image 0" descr="실측 데이터가 아닌 개념도. 큰 그래프 안의 삼각형 하나를 강조한 그림."/>
          <p:cNvPicPr/>
          <p:nvPr/>
        </p:nvPicPr>
        <p:blipFill>
          <a:blip r:embed="rId1"/>
          <a:stretch/>
        </p:blipFill>
        <p:spPr>
          <a:xfrm>
            <a:off x="7746840" y="1092240"/>
            <a:ext cx="3936600" cy="393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 4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(KDD 2016), p. 1. DOI: 10.1145/2939672.2939757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Triangle enumeration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의미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서로 모두 연결된 세 정점을 하나씩 발견한다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660240" y="2324160"/>
            <a:ext cx="412704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5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세 정점과 세 간선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660240" y="2997360"/>
            <a:ext cx="438120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A, B, 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간선 </a:t>
            </a:r>
            <a:r>
              <a:rPr lang="en-US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(A, B), (A, C), (B, C)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660240" y="4140360"/>
            <a:ext cx="4381200" cy="6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무방향 단순 그래프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자기 루프</a:t>
            </a:r>
            <a:r>
              <a:rPr lang="en-US" sz="17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중복 간선 없음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5981760" y="2286000"/>
            <a:ext cx="507960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Counting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6"/>
          <p:cNvSpPr/>
          <p:nvPr/>
        </p:nvSpPr>
        <p:spPr>
          <a:xfrm>
            <a:off x="5981760" y="2768760"/>
            <a:ext cx="539712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삼각형이 몇 개인지 센다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5981760" y="3619440"/>
            <a:ext cx="507960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Enumeration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8"/>
          <p:cNvSpPr/>
          <p:nvPr/>
        </p:nvSpPr>
        <p:spPr>
          <a:xfrm>
            <a:off x="5981760" y="4102200"/>
            <a:ext cx="539712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각 삼각형의 구성 정점을 발견한다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660240" y="5270400"/>
            <a:ext cx="10870920" cy="8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발견한 </a:t>
            </a:r>
            <a:r>
              <a:rPr lang="en-US" sz="19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(A, B, C)</a:t>
            </a:r>
            <a:r>
              <a:rPr lang="ko-KR" sz="19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enum(A, B, C)</a:t>
            </a:r>
            <a:r>
              <a:rPr lang="ko-KR" sz="19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로 처리한다</a:t>
            </a:r>
            <a:r>
              <a:rPr lang="en-US" sz="19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논문의 문제 정의는 모든 결과를 파일에 저장하도록 요구하지 않는다</a:t>
            </a:r>
            <a:r>
              <a:rPr lang="en-US" sz="19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0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§1, §3.1, Definition 1, pp. 1, 3. A/B/C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는 설명용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그래프가 커질 때 생기는 병목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ClueWeb12: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입력뿐 아니라 중간 데이터와 결과도 커진다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"/>
          <p:cNvSpPr/>
          <p:nvPr/>
        </p:nvSpPr>
        <p:spPr>
          <a:xfrm>
            <a:off x="660240" y="2031840"/>
            <a:ext cx="3555720" cy="6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8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63</a:t>
            </a:r>
            <a:r>
              <a:rPr lang="ko-KR" sz="38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억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3"/>
          <p:cNvSpPr/>
          <p:nvPr/>
        </p:nvSpPr>
        <p:spPr>
          <a:xfrm>
            <a:off x="660240" y="2717640"/>
            <a:ext cx="3301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정점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4"/>
          <p:cNvSpPr/>
          <p:nvPr/>
        </p:nvSpPr>
        <p:spPr>
          <a:xfrm>
            <a:off x="4280040" y="2031840"/>
            <a:ext cx="3555720" cy="6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8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720</a:t>
            </a:r>
            <a:r>
              <a:rPr lang="ko-KR" sz="38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억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5"/>
          <p:cNvSpPr/>
          <p:nvPr/>
        </p:nvSpPr>
        <p:spPr>
          <a:xfrm>
            <a:off x="4280040" y="2717640"/>
            <a:ext cx="3301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간선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6"/>
          <p:cNvSpPr/>
          <p:nvPr/>
        </p:nvSpPr>
        <p:spPr>
          <a:xfrm>
            <a:off x="7899480" y="2031840"/>
            <a:ext cx="3555720" cy="6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8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약 </a:t>
            </a:r>
            <a:r>
              <a:rPr lang="en-US" sz="38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3.06</a:t>
            </a:r>
            <a:r>
              <a:rPr lang="ko-KR" sz="38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조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7"/>
          <p:cNvSpPr/>
          <p:nvPr/>
        </p:nvSpPr>
        <p:spPr>
          <a:xfrm>
            <a:off x="7899480" y="2717640"/>
            <a:ext cx="3301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삼각형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8"/>
          <p:cNvSpPr/>
          <p:nvPr/>
        </p:nvSpPr>
        <p:spPr>
          <a:xfrm>
            <a:off x="660240" y="3835080"/>
            <a:ext cx="1087128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Text 9"/>
          <p:cNvSpPr/>
          <p:nvPr/>
        </p:nvSpPr>
        <p:spPr>
          <a:xfrm>
            <a:off x="660240" y="3390840"/>
            <a:ext cx="2107800" cy="4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RAM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0"/>
          <p:cNvSpPr/>
          <p:nvPr/>
        </p:nvSpPr>
        <p:spPr>
          <a:xfrm>
            <a:off x="2997360" y="3390840"/>
            <a:ext cx="8534160" cy="4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0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지금 계산하는 부분 그래프와 작업 버퍼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1"/>
          <p:cNvSpPr/>
          <p:nvPr/>
        </p:nvSpPr>
        <p:spPr>
          <a:xfrm>
            <a:off x="660240" y="4406760"/>
            <a:ext cx="1087128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660240" y="3962520"/>
            <a:ext cx="2107800" cy="4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SSD / HDD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3"/>
          <p:cNvSpPr/>
          <p:nvPr/>
        </p:nvSpPr>
        <p:spPr>
          <a:xfrm>
            <a:off x="2997360" y="3962520"/>
            <a:ext cx="8534160" cy="4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0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입력 파일</a:t>
            </a:r>
            <a:r>
              <a:rPr lang="en-US" sz="20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분할 파일</a:t>
            </a:r>
            <a:r>
              <a:rPr lang="en-US" sz="20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임시 중간 파일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4"/>
          <p:cNvSpPr/>
          <p:nvPr/>
        </p:nvSpPr>
        <p:spPr>
          <a:xfrm>
            <a:off x="660240" y="4978080"/>
            <a:ext cx="1087128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660240" y="4533840"/>
            <a:ext cx="2107800" cy="4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0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네트워크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6"/>
          <p:cNvSpPr/>
          <p:nvPr/>
        </p:nvSpPr>
        <p:spPr>
          <a:xfrm>
            <a:off x="2997360" y="4533840"/>
            <a:ext cx="8534160" cy="4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0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다른 장비로 옮기거나 읽어 오는 데이터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7"/>
          <p:cNvSpPr/>
          <p:nvPr/>
        </p:nvSpPr>
        <p:spPr>
          <a:xfrm>
            <a:off x="660240" y="5372280"/>
            <a:ext cx="1087092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삼각형을 모두 저장하면 원문 추산 약 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70 TB.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 저장 비용과 계산 중 발생하는 중간 데이터는 서로 다른 문제다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8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§2.1, p. 2; Table 2, p. 8. 3,064,499,157,291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triangle.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9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External memory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RAM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책상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(RAM)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과 책장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(SSD/HDD),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완성한 결과의 보관 공간을 구분하자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1" name="Table 0"/>
          <p:cNvGraphicFramePr/>
          <p:nvPr/>
        </p:nvGraphicFramePr>
        <p:xfrm>
          <a:off x="660240" y="1994040"/>
          <a:ext cx="10870920" cy="349704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담는 것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부족하면 생기는 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90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memory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지금 계산할 간선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인덱스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버퍼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작업을 더 작게 나누거나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메모리 부족으로 중단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90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External memory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SSD / HDD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입력과 분할 파일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임시 파일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머신의 저장공간을 넘으면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파일을 둘 곳이 없음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90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storage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저장소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triangle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남길 때의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 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개씩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처리와 별개로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보관 용량이 필요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 2"/>
          <p:cNvSpPr/>
          <p:nvPr/>
        </p:nvSpPr>
        <p:spPr>
          <a:xfrm>
            <a:off x="660240" y="5715000"/>
            <a:ext cx="1087092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1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3.06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조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× 3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ID × 8 byte ≈ 73.5 TB: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단순 저장 형식의 계산 예시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1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논문의 ‘약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70 TB’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결과 저장 규모이며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RAM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요구량이 아니다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3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§2.1, p. 2; Definition 1, p. 3. 64-bit ID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세 개를 저장하는 교육용 계산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4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입력보다 중간 데이터가 더 커지는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정답이 적어도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후보와 복제본은 많을 수 있다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"/>
          <p:cNvSpPr/>
          <p:nvPr/>
        </p:nvSpPr>
        <p:spPr>
          <a:xfrm>
            <a:off x="660240" y="215892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"/>
          <p:cNvSpPr/>
          <p:nvPr/>
        </p:nvSpPr>
        <p:spPr>
          <a:xfrm>
            <a:off x="1384200" y="218448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후보 폭증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4"/>
          <p:cNvSpPr/>
          <p:nvPr/>
        </p:nvSpPr>
        <p:spPr>
          <a:xfrm>
            <a:off x="3720960" y="218448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한 중심에 이웃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100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만 개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간선 약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100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만 개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이웃 쌍을 모두 만들면 후보는 약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천억 개다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1384200" y="307332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Text 6"/>
          <p:cNvSpPr/>
          <p:nvPr/>
        </p:nvSpPr>
        <p:spPr>
          <a:xfrm>
            <a:off x="660240" y="323856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7"/>
          <p:cNvSpPr/>
          <p:nvPr/>
        </p:nvSpPr>
        <p:spPr>
          <a:xfrm>
            <a:off x="1384200" y="326376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간선 복제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3720960" y="326376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삼각형을 놓치지 않도록 같은 간선을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여러 부분 문제의 입력으로 보낼 수 있다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1384200" y="415260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660240" y="431784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1"/>
          <p:cNvSpPr/>
          <p:nvPr/>
        </p:nvSpPr>
        <p:spPr>
          <a:xfrm>
            <a:off x="1384200" y="434340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Shuffle </a:t>
            </a: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비용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3720960" y="434340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복제 레코드 생성 → 임시 디스크 쓰기 → 전송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받는 쪽의 읽기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병합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정렬 비용도 함께 생긴다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1384200" y="523224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660240" y="5676840"/>
            <a:ext cx="1087092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별 모양 그래프는 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개여도 후보가 매우 많을 수 있다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모든 알고리즘이 이 후보들을 실제 저장한다는 뜻은 아니다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5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§2.2-2.4, pp. 2-3.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별 모양 그래프와 후보 수는 교육용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6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기존 알고리즘의 접근과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처리 규모의 한계는 방법마다 다르게 나타난다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4" name="Table 0"/>
          <p:cNvGraphicFramePr/>
          <p:nvPr/>
        </p:nvGraphicFramePr>
        <p:xfrm>
          <a:off x="660240" y="1994040"/>
          <a:ext cx="10870920" cy="3914280"/>
        </p:xfrm>
        <a:graphic>
          <a:graphicData uri="http://schemas.openxmlformats.org/drawingml/2006/table">
            <a:tbl>
              <a:tblPr/>
              <a:tblGrid>
                <a:gridCol w="2500200"/>
                <a:gridCol w="3804840"/>
                <a:gridCol w="456588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접근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해결하려는 문제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병목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916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머신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I/O-efficient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큰 그래프를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디스크에서 나눠 읽기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머신의 저장공간과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 디스크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I/O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916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Distributed memory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머신의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그래프를 나누어 보관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복제된 그래프와 중간 데이터가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분산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 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용량을 초과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916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 / TTP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 문제들을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MapReduce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병렬 처리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 문제마다 간선을 복사해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대량의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 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발생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916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CTTP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나누어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데이터량 제한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 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양은 여전하고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입력을 다시 읽음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5" name="Text 2"/>
          <p:cNvSpPr/>
          <p:nvPr/>
        </p:nvSpPr>
        <p:spPr>
          <a:xfrm>
            <a:off x="660240" y="5829480"/>
            <a:ext cx="108709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1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 표는 데이터 이동 관점의 요약이다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CTTP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해시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부하 분석은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와 별도로 구분한다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3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§2.1-2.4, pp. 2-3; §3.2, p. 4.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논문이 검토한 방법 기준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GP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대비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TTP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Constant-factor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같은 색 수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ρ ≥ 3,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균등 무작위 색 배정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. m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은 입력 간선 수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0"/>
          <p:cNvGraphicFramePr/>
          <p:nvPr/>
        </p:nvGraphicFramePr>
        <p:xfrm>
          <a:off x="660240" y="1994040"/>
          <a:ext cx="10870920" cy="3497040"/>
        </p:xfrm>
        <a:graphic>
          <a:graphicData uri="http://schemas.openxmlformats.org/drawingml/2006/table">
            <a:tbl>
              <a:tblPr/>
              <a:tblGrid>
                <a:gridCol w="4348440"/>
                <a:gridCol w="3261240"/>
                <a:gridCol w="326124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 </a:t>
                      </a: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레코드 수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90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색 끝점의 간선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간선당 레코드 수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(ρ-1)(ρ-2) / 2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ρ-1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90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색 끝점의 간선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간선당 레코드 수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ρ-2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+ (ρ-2) = ρ-1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90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그래프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기대 레코드 수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3m(ρ-1)(ρ-2) / (2ρ)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m(ρ-1)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Text 2"/>
          <p:cNvSpPr/>
          <p:nvPr/>
        </p:nvSpPr>
        <p:spPr>
          <a:xfrm>
            <a:off x="660240" y="5715000"/>
            <a:ext cx="1087092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1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ρ &gt; 6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TTP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기대 레코드 수가 감소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ρ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TTP / E[GP] ≈ 2/3.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1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두 방법 모두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Θ(mρ).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레코드 수의 상수 계수 개선이며 실행시간 비율은 아니다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TTP §4.1-4.3, Lemma 2·Theorem 2, pp. 4-6; PTE §2.4·§3.2, pp. 3-4.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ρ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기준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분할 기준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1: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정점에 색 라벨을 붙인다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같은 주제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커뮤니티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차수로 묶는 것이 아니라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해시로 배정한다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660240" y="215892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1384200" y="218448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함수 하나 선택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3720960" y="218448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무작위로 고른 함수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ξ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가 각 정점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에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ρ−1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까지의 색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ξ(v)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를 돌려준다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1384200" y="307332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6"/>
          <p:cNvSpPr/>
          <p:nvPr/>
        </p:nvSpPr>
        <p:spPr>
          <a:xfrm>
            <a:off x="660240" y="323856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7"/>
          <p:cNvSpPr/>
          <p:nvPr/>
        </p:nvSpPr>
        <p:spPr>
          <a:xfrm>
            <a:off x="1384200" y="326376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실행 중 고정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8"/>
          <p:cNvSpPr/>
          <p:nvPr/>
        </p:nvSpPr>
        <p:spPr>
          <a:xfrm>
            <a:off x="3720960" y="326376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같은 정점은 어디서 읽어도 같은 색이다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간선을 만날 때마다 색을 다시 뽑지 않는다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9"/>
          <p:cNvSpPr/>
          <p:nvPr/>
        </p:nvSpPr>
        <p:spPr>
          <a:xfrm>
            <a:off x="1384200" y="415260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660240" y="431784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1"/>
          <p:cNvSpPr/>
          <p:nvPr/>
        </p:nvSpPr>
        <p:spPr>
          <a:xfrm>
            <a:off x="1384200" y="434340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작은 예시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3720960" y="434340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서로 다른 정점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A, B, C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에 색이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0, 0, 1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이면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라벨만 같다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정점이 합쳐지지 않는다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384200" y="523224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660240" y="5676840"/>
            <a:ext cx="1087092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ρ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색의 개수이지 머신 대수가 아니다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간선 수와 작업별 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RAM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을 보고 정한다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단순 나머지 연산을 논문의 실제 해시 구현이라고 가정하지 않는다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Table 1, p. 2; §3.2-4.1, pp. 3-4. A/B/C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의 색 배정은 설명용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6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색상으로 나누는 세 가지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triangle type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TTP·CTTP·PTE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가 공유하는 분류 기준 —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만의 고유 기능은 아니다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교육용 자체 제작 개념도; 실측자료 아님"/>
          <p:cNvPicPr/>
          <p:nvPr/>
        </p:nvPicPr>
        <p:blipFill>
          <a:blip r:embed="rId1"/>
          <a:stretch/>
        </p:blipFill>
        <p:spPr>
          <a:xfrm>
            <a:off x="660240" y="2222640"/>
            <a:ext cx="10870920" cy="31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2"/>
          <p:cNvSpPr/>
          <p:nvPr/>
        </p:nvSpPr>
        <p:spPr>
          <a:xfrm>
            <a:off x="660240" y="5143680"/>
            <a:ext cx="35301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세 정점의 색이 모두 같음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4280040" y="5143680"/>
            <a:ext cx="35301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정확히 두 정점의 색이 같음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7899480" y="5143680"/>
            <a:ext cx="35301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세 정점의 색이 모두 다름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660240" y="5727600"/>
            <a:ext cx="108709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A, B, C</a:t>
            </a:r>
            <a:r>
              <a:rPr lang="ko-KR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서로 다른 정점이며</a:t>
            </a:r>
            <a:r>
              <a:rPr lang="en-US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세 간선이 이미 있어야 </a:t>
            </a:r>
            <a:r>
              <a:rPr lang="en-US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색은 라벨일 뿐이다</a:t>
            </a:r>
            <a:r>
              <a:rPr lang="en-US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색을 바꿔도 원래 그래프의 간선이나 </a:t>
            </a:r>
            <a:r>
              <a:rPr lang="en-US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변하지 않는다</a:t>
            </a:r>
            <a:r>
              <a:rPr lang="en-US" sz="16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§3.2, p. 3; §4.1, p. 4.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그림은 정의를 설명하는 자체 제작 개념도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분할 기준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2: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 조합이 하나의 작업이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각 작업은 두 색 또는 세 색 사이의 간선만 다룬다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2" name="Table 0"/>
          <p:cNvGraphicFramePr/>
          <p:nvPr/>
        </p:nvGraphicFramePr>
        <p:xfrm>
          <a:off x="660240" y="2222640"/>
          <a:ext cx="10870920" cy="2136960"/>
        </p:xfrm>
        <a:graphic>
          <a:graphicData uri="http://schemas.openxmlformats.org/drawingml/2006/table">
            <a:tbl>
              <a:tblPr/>
              <a:tblGrid>
                <a:gridCol w="2608920"/>
                <a:gridCol w="5000400"/>
                <a:gridCol w="326124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 문제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간선 묶음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찾을 삼각형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색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(i, j)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i-j 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i 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j 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 1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 2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색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(i, j, k)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i-j 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i-k 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j-k 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 3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Text 2"/>
          <p:cNvSpPr/>
          <p:nvPr/>
        </p:nvSpPr>
        <p:spPr>
          <a:xfrm>
            <a:off x="660240" y="4673520"/>
            <a:ext cx="108709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A, B, C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색이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0, 0, 1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인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triangle → 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두 색 작업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(0,1).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색이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0, 1, 2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라면 → 세 색 작업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(0,1,2).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"/>
          <p:cNvSpPr/>
          <p:nvPr/>
        </p:nvSpPr>
        <p:spPr>
          <a:xfrm>
            <a:off x="660240" y="5715000"/>
            <a:ext cx="108709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전체 두 색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세 색 조합을 작업으로 만든다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한 머신은 여러 작업을 맡을 수 있다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Type 1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여러 두 색 작업에 포함되므로 중복 출력 방지 규칙이 필요하다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§3.2-4.1, pp. 3-5.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색 번호와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A/B/C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는 설명용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분할 기준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3: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간선 파일은 끝점 색의 순서로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정점 순서와 색 번호의 크기는 서로 다른 기준이다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9" name="Table 0"/>
          <p:cNvGraphicFramePr/>
          <p:nvPr/>
        </p:nvGraphicFramePr>
        <p:xfrm>
          <a:off x="660240" y="2222640"/>
          <a:ext cx="10870920" cy="2136960"/>
        </p:xfrm>
        <a:graphic>
          <a:graphicData uri="http://schemas.openxmlformats.org/drawingml/2006/table">
            <a:tbl>
              <a:tblPr/>
              <a:tblGrid>
                <a:gridCol w="4131000"/>
                <a:gridCol w="2608920"/>
                <a:gridCol w="413100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예시의 두 간선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끝점의 색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저장 파일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 순서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A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앞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A=0, C=1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E_star[0,1]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 순서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C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앞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C=1, B=0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E_star[1,0]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0" name="Text 2"/>
          <p:cNvSpPr/>
          <p:nvPr/>
        </p:nvSpPr>
        <p:spPr>
          <a:xfrm>
            <a:off x="660240" y="4673520"/>
            <a:ext cx="108709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E01: 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과 색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을 잇는 간선 집합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(0·1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색 라벨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E01 = E_star[0,1] ∪ E_star[1,0]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660240" y="5715000"/>
            <a:ext cx="108709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정점 순서는 차수 → 동률이면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로 정한다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예시는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A &lt; C &lt; B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를 가정한다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를 색 번호의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min/max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로 바꾸면 방향 정보가 사라진다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Table 1, §3.1, §4.1, Algorithm 1, pp. 2-4. E_star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는 원문의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E*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를 읽기 쉽게 쓴 표기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5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TTP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에서는 간선 하나가 여러 작업으로 복제된다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색이 네 개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(0,1,2,3)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일 때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한 간선의 행선지를 세어 보자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6" name="Table 0"/>
          <p:cNvGraphicFramePr/>
          <p:nvPr/>
        </p:nvGraphicFramePr>
        <p:xfrm>
          <a:off x="660240" y="2222640"/>
          <a:ext cx="10870920" cy="2264760"/>
        </p:xfrm>
        <a:graphic>
          <a:graphicData uri="http://schemas.openxmlformats.org/drawingml/2006/table">
            <a:tbl>
              <a:tblPr/>
              <a:tblGrid>
                <a:gridCol w="2608920"/>
                <a:gridCol w="5978880"/>
                <a:gridCol w="228276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끝점의 색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보내는 작업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복제 레코드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0, 0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색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(0,1), (0,2), (0,3)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0, 1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색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(0,1)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색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(0,1,2), (0,1,3)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7" name="Text 2"/>
          <p:cNvSpPr/>
          <p:nvPr/>
        </p:nvSpPr>
        <p:spPr>
          <a:xfrm>
            <a:off x="660240" y="4673520"/>
            <a:ext cx="108709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색이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ρ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개이면 간선마다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ρ−1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 레코드를 보낸다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작은 문제를 많이 만들수록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같은 간선을 더 많이 배송한다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3"/>
          <p:cNvSpPr/>
          <p:nvPr/>
        </p:nvSpPr>
        <p:spPr>
          <a:xfrm>
            <a:off x="660240" y="5715000"/>
            <a:ext cx="108709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작업을 여러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로 나누지만 전체 복제 레코드 수는 남는다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 표는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TTP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복제 예시이며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색이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개일 때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GP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보다 낫다는 비교가 아니다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4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§2.4, §3.2, pp. 3-4; CTTP (CIKM 2014), §4, §5.3.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네 색은 교육용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5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PTEBASE: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분할 저장과 열거의 분리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간선을 미리 분류해 저장하고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필요한 묶음을 직접 읽는다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660240" y="215892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1384200" y="218448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한 번 분할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3720960" y="218448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간선마다 색상쌍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key 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하나를 만든다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MapReduce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로 묶어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HDFS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분할 파일에 저장한다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5"/>
          <p:cNvSpPr/>
          <p:nvPr/>
        </p:nvSpPr>
        <p:spPr>
          <a:xfrm>
            <a:off x="1384200" y="307332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660240" y="323856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1384200" y="326376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작은 작업 배정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3720960" y="326376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두 색 또는 세 색 조합을 작업으로 만든다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map task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필요한 분할 파일을 직접 읽는다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9"/>
          <p:cNvSpPr/>
          <p:nvPr/>
        </p:nvSpPr>
        <p:spPr>
          <a:xfrm>
            <a:off x="1384200" y="415260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660240" y="431784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1"/>
          <p:cNvSpPr/>
          <p:nvPr/>
        </p:nvSpPr>
        <p:spPr>
          <a:xfrm>
            <a:off x="1384200" y="434340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RAM</a:t>
            </a: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에서 열거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3720960" y="434340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작업 안에서 삼각형을 찾아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enum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을 호출한다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 열거 단계에는 별도의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shuffle / reduce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가 없다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3"/>
          <p:cNvSpPr/>
          <p:nvPr/>
        </p:nvSpPr>
        <p:spPr>
          <a:xfrm>
            <a:off x="1384200" y="523224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660240" y="5676840"/>
            <a:ext cx="1087092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각 입력 간선은 분할 단계에서 한 번만 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emit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동일한 분할 파일을 여러 작업이 읽는 비용은 여전히 남는다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5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Algorithms 1-2, §4.1, pp. 4-5; Hadoop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구현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§4.5, p. 7.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6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Pairwise independence: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왜 평균적으로 퍼질까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?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간선 하나의 목적지는 두 끝점의 색으로 결정된다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Table 0"/>
          <p:cNvGraphicFramePr/>
          <p:nvPr/>
        </p:nvGraphicFramePr>
        <p:xfrm>
          <a:off x="660240" y="2222640"/>
          <a:ext cx="10870920" cy="239256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색이 </a:t>
                      </a:r>
                      <a:r>
                        <a:rPr lang="en-US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개일 때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하나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순서쌍의 확률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1/3 × 1/3 = 1/9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끝점의 색이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균일하고 서로 독립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900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E_star[i,j]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기대상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900/9 = 100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간선별 확률을 더한 평균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측정값은 아님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1" name="Text 2"/>
          <p:cNvSpPr/>
          <p:nvPr/>
        </p:nvSpPr>
        <p:spPr>
          <a:xfrm>
            <a:off x="660240" y="4673520"/>
            <a:ext cx="108709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E01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색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과 색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1 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사이의 간선 집합이다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E_star[0,1]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E_star[1,0]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을 합쳐 기대상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100 + 100 = 200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660240" y="5715000"/>
            <a:ext cx="108709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E00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색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0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내부 간선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E_star[0,0]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하나이므로 기대상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100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두 집합을 합쳐도 간선 중복은 없다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기대값은 매 실행의 실제 개수를 보장하지 않는다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§4.1, p. 4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의 확률 가정 해설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간선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900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·3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색은 수식 대입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5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색은 몇 개로 나눌까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? RAM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과 읽기 비용의 균형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작업 입력의 기대 크기가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RAM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예산 안에 들도록 색 수를 정한다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"/>
          <p:cNvSpPr/>
          <p:nvPr/>
        </p:nvSpPr>
        <p:spPr>
          <a:xfrm>
            <a:off x="660240" y="215892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"/>
          <p:cNvSpPr/>
          <p:nvPr/>
        </p:nvSpPr>
        <p:spPr>
          <a:xfrm>
            <a:off x="1384200" y="218448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간선 수 </a:t>
            </a:r>
            <a:r>
              <a:rPr lang="en-US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m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4"/>
          <p:cNvSpPr/>
          <p:nvPr/>
        </p:nvSpPr>
        <p:spPr>
          <a:xfrm>
            <a:off x="3720960" y="218448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입력이 클수록 같은 색 수에서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각 작업이 읽어야 할 간선도 많아진다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5"/>
          <p:cNvSpPr/>
          <p:nvPr/>
        </p:nvSpPr>
        <p:spPr>
          <a:xfrm>
            <a:off x="1384200" y="307332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6"/>
          <p:cNvSpPr/>
          <p:nvPr/>
        </p:nvSpPr>
        <p:spPr>
          <a:xfrm>
            <a:off x="660240" y="323856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1384200" y="326376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작업 </a:t>
            </a:r>
            <a:r>
              <a:rPr lang="en-US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RAM M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8"/>
          <p:cNvSpPr/>
          <p:nvPr/>
        </p:nvSpPr>
        <p:spPr>
          <a:xfrm>
            <a:off x="3720960" y="326376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세 색 작업은 서로 다른 색 사이의 세 묶음을 읽는다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기대 크기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6m/ρ² ≤ M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 되도록 정한다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9"/>
          <p:cNvSpPr/>
          <p:nvPr/>
        </p:nvSpPr>
        <p:spPr>
          <a:xfrm>
            <a:off x="1384200" y="415260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10"/>
          <p:cNvSpPr/>
          <p:nvPr/>
        </p:nvSpPr>
        <p:spPr>
          <a:xfrm>
            <a:off x="660240" y="431784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1384200" y="434340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색 수 </a:t>
            </a:r>
            <a:r>
              <a:rPr lang="en-US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ρ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2"/>
          <p:cNvSpPr/>
          <p:nvPr/>
        </p:nvSpPr>
        <p:spPr>
          <a:xfrm>
            <a:off x="3720960" y="434340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PTEBASE: ρ = ceil(sqrt(6m/M)).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색을 늘리면 작업은 작아지지만 작업 수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반복 읽기는 늘어난다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3"/>
          <p:cNvSpPr/>
          <p:nvPr/>
        </p:nvSpPr>
        <p:spPr>
          <a:xfrm>
            <a:off x="1384200" y="523224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14"/>
          <p:cNvSpPr/>
          <p:nvPr/>
        </p:nvSpPr>
        <p:spPr>
          <a:xfrm>
            <a:off x="660240" y="5676840"/>
            <a:ext cx="1087092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간선 수와 그에 대응하는 메모리 용량 단위로 비교한다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byte 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예산에는 인덱스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버퍼도 필요하다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기대값은 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RAM 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수용의 확정 보장이 아니다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5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§4.1, p. 4; §4.4, p. 7. ceil=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올림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, sqrt=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제곱근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기대값과 용량 보장의 구분은 해설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6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한 작업 안에서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을 찾는 방법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간선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(u, v)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의 양 끝점에 공통으로 연결된 정점을 찾는다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660240" y="2349360"/>
            <a:ext cx="482580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22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의 이웃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3"/>
          <p:cNvSpPr/>
          <p:nvPr/>
        </p:nvSpPr>
        <p:spPr>
          <a:xfrm>
            <a:off x="660240" y="2946240"/>
            <a:ext cx="482580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9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{v, a, b}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"/>
          <p:cNvSpPr/>
          <p:nvPr/>
        </p:nvSpPr>
        <p:spPr>
          <a:xfrm>
            <a:off x="6743880" y="2349360"/>
            <a:ext cx="482580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22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의 이웃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6743880" y="2946240"/>
            <a:ext cx="482580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9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{n, b}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6"/>
          <p:cNvSpPr/>
          <p:nvPr/>
        </p:nvSpPr>
        <p:spPr>
          <a:xfrm>
            <a:off x="660240" y="4203720"/>
            <a:ext cx="108709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공통 이웃 </a:t>
            </a: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b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7"/>
          <p:cNvSpPr/>
          <p:nvPr/>
        </p:nvSpPr>
        <p:spPr>
          <a:xfrm>
            <a:off x="660240" y="4826160"/>
            <a:ext cx="1087092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4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발견한 삼각형</a:t>
            </a:r>
            <a:r>
              <a:rPr lang="en-US" sz="24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(u, v, b)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8"/>
          <p:cNvSpPr/>
          <p:nvPr/>
        </p:nvSpPr>
        <p:spPr>
          <a:xfrm>
            <a:off x="660240" y="5664240"/>
            <a:ext cx="10870920" cy="6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차수가 작은 정점을 먼저 두고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동률이면 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로 순서를 정한다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그 순서에 맞는 이웃만 탐색한다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원래 입력은 무방향 그래프다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9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§3.1, p. 3; Algorithm 2, p. 4; Figure 3(a), p. 5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의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0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PTECD: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필요한 색의 이웃만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색 순서가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0,1,2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인 삼각형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세 번째 정점은 색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여야 한다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5" name="Table 0"/>
          <p:cNvGraphicFramePr/>
          <p:nvPr/>
        </p:nvGraphicFramePr>
        <p:xfrm>
          <a:off x="660240" y="2222640"/>
          <a:ext cx="10870920" cy="213696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방식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비교할 이웃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비교할 이웃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PTEBASE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{v, a, b}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{n, b}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PTECD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색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이웃만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{b}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색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이웃만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{b}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6" name="Text 2"/>
          <p:cNvSpPr/>
          <p:nvPr/>
        </p:nvSpPr>
        <p:spPr>
          <a:xfrm>
            <a:off x="660240" y="4673520"/>
            <a:ext cx="108709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u=0, v=1, a=1, n=0, b=2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각 정점의 색이다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비교 대상은 줄어도 공통 이웃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와 삼각형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(u,v,b)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그대로다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660240" y="5715000"/>
            <a:ext cx="108709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CD=color-direction. (u,v)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E_star[0,1],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이웃은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E_star[0,2]·E_star[1,2]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에서 읽는다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세 색의 순서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6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가지를 각각 처리하므로 다른 방향의 삼각형도 빠뜨리지 않는다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4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§4.2, Algorithm 3, Figure 3-4, pp. 5-6. Figure 3(a)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에 색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0,1,2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를 붙인 교육용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PTECD: Type-1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계산은 한 작업에만 배정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모든 정점의 색이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인 삼각형을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색 수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ρ=4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에서 생각해 보자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2" name="Table 0"/>
          <p:cNvGraphicFramePr/>
          <p:nvPr/>
        </p:nvGraphicFramePr>
        <p:xfrm>
          <a:off x="660240" y="2222640"/>
          <a:ext cx="10870920" cy="2136960"/>
        </p:xfrm>
        <a:graphic>
          <a:graphicData uri="http://schemas.openxmlformats.org/drawingml/2006/table">
            <a:tbl>
              <a:tblPr/>
              <a:tblGrid>
                <a:gridCol w="2391480"/>
                <a:gridCol w="5435280"/>
                <a:gridCol w="304380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방식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색 </a:t>
                      </a:r>
                      <a:r>
                        <a:rPr lang="en-US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</a:t>
                      </a: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 삼각형을 계산할 작업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</a:t>
                      </a:r>
                      <a:r>
                        <a:rPr lang="en-US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출력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PTEBASE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(0,1), (0,2), (0,3)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반복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PTECD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(0,1)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에서만 계산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3" name="Text 2"/>
          <p:cNvSpPr/>
          <p:nvPr/>
        </p:nvSpPr>
        <p:spPr>
          <a:xfrm>
            <a:off x="660240" y="4673520"/>
            <a:ext cx="108709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색별 담당 작업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0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(0,1), 1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(1,2), 2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(2,3), 3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(0,3).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담당 작업에서만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E_star[c,c]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로 색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 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내부 삼각형을 찾는다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660240" y="5715000"/>
            <a:ext cx="108709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출력 중복만 막는 것에서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같은 삼각형을 다시 찾는 계산까지 없애는 것이다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다른 두 색 작업에서도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Type-2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를 찾는 데 필요한 내부 간선은 계속 읽고 사용한다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4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§4.1-4.2, Algorithm 3 lines 3-8, pp. 4-6. ρ=4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는 담당 규칙의 수식 대입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PTESC: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파일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개는 유지하고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1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개만 교체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0→2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파일이 필요한 삼각형을 먼저 모두 찾고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반대 방향을 처리한다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9" name="Table 0"/>
          <p:cNvGraphicFramePr/>
          <p:nvPr/>
        </p:nvGraphicFramePr>
        <p:xfrm>
          <a:off x="660240" y="1994040"/>
          <a:ext cx="10870920" cy="3497040"/>
        </p:xfrm>
        <a:graphic>
          <a:graphicData uri="http://schemas.openxmlformats.org/drawingml/2006/table">
            <a:tbl>
              <a:tblPr/>
              <a:tblGrid>
                <a:gridCol w="3369960"/>
                <a:gridCol w="5217840"/>
                <a:gridCol w="228276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진행 순서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</a:t>
                      </a: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두는 파일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파일 수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90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 0→2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쓰는 계산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E_star[0,2]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+ 1 = 5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90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 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끝난 파일 해제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E_star[0,2]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내림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개는 계속 유지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90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 2→0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쓰는 계산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E_star[2,0]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새로 읽음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E_star[2,0]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+ 1 = 5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0" name="Text 2"/>
          <p:cNvSpPr/>
          <p:nvPr/>
        </p:nvSpPr>
        <p:spPr>
          <a:xfrm>
            <a:off x="660240" y="5715000"/>
            <a:ext cx="1087092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1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1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사이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2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사이의 방향별 파일 각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1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한 세 색 작업에서 총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6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개를 한 번씩 읽지만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RAM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에 동시에 두는 파일은 최대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개다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§4.3, Figure 5, Algorithm 4, pp. 6-7. (i,j,k)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(0,1,2)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로 바꾼 예시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4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PTESC: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동시 적재 감소가 읽기 감소로 이어지는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6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개 파일은 모두 읽는다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줄어드는 것은 색 수와 작업 간 반복 읽기다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"/>
          <p:cNvSpPr/>
          <p:nvPr/>
        </p:nvSpPr>
        <p:spPr>
          <a:xfrm>
            <a:off x="660240" y="215892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"/>
          <p:cNvSpPr/>
          <p:nvPr/>
        </p:nvSpPr>
        <p:spPr>
          <a:xfrm>
            <a:off x="1384200" y="218448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동시 적재량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4"/>
          <p:cNvSpPr/>
          <p:nvPr/>
        </p:nvSpPr>
        <p:spPr>
          <a:xfrm>
            <a:off x="3720960" y="218448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CD: 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기대상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6m/ρ²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SC: 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기대상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5m/ρ²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5"/>
          <p:cNvSpPr/>
          <p:nvPr/>
        </p:nvSpPr>
        <p:spPr>
          <a:xfrm>
            <a:off x="1384200" y="307332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6"/>
          <p:cNvSpPr/>
          <p:nvPr/>
        </p:nvSpPr>
        <p:spPr>
          <a:xfrm>
            <a:off x="660240" y="323856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7"/>
          <p:cNvSpPr/>
          <p:nvPr/>
        </p:nvSpPr>
        <p:spPr>
          <a:xfrm>
            <a:off x="1384200" y="326376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RAM M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8"/>
          <p:cNvSpPr/>
          <p:nvPr/>
        </p:nvSpPr>
        <p:spPr>
          <a:xfrm>
            <a:off x="3720960" y="326376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CD: ρ = ceil(sqrt(6m/M))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SC: ρ = ceil(sqrt(5m/M))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9"/>
          <p:cNvSpPr/>
          <p:nvPr/>
        </p:nvSpPr>
        <p:spPr>
          <a:xfrm>
            <a:off x="1384200" y="415260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10"/>
          <p:cNvSpPr/>
          <p:nvPr/>
        </p:nvSpPr>
        <p:spPr>
          <a:xfrm>
            <a:off x="660240" y="4317840"/>
            <a:ext cx="507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1"/>
          <p:cNvSpPr/>
          <p:nvPr/>
        </p:nvSpPr>
        <p:spPr>
          <a:xfrm>
            <a:off x="1384200" y="4343400"/>
            <a:ext cx="2158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3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반복 읽기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2"/>
          <p:cNvSpPr/>
          <p:nvPr/>
        </p:nvSpPr>
        <p:spPr>
          <a:xfrm>
            <a:off x="3720960" y="4343400"/>
            <a:ext cx="7670520" cy="87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E_star[0,1]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두 색 작업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(0,1)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과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세 색 작업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(0,1,k)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에서 읽힌다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총 </a:t>
            </a:r>
            <a:r>
              <a:rPr lang="en-US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ρ - 1</a:t>
            </a:r>
            <a:r>
              <a:rPr lang="ko-KR" sz="19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 작업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3"/>
          <p:cNvSpPr/>
          <p:nvPr/>
        </p:nvSpPr>
        <p:spPr>
          <a:xfrm>
            <a:off x="1384200" y="5232240"/>
            <a:ext cx="1014732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14"/>
          <p:cNvSpPr/>
          <p:nvPr/>
        </p:nvSpPr>
        <p:spPr>
          <a:xfrm>
            <a:off x="660240" y="5676840"/>
            <a:ext cx="1087092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 수가 실제로 줄면 읽는 작업 수도 줄어든다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올림 때문에 같은 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ρ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가 될 수도 있다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기대 메모리 기준이며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여러 작업 사이의 캐시 공유를 가정한 개선은 아니다</a:t>
            </a:r>
            <a:r>
              <a:rPr lang="en-US" sz="17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5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§4.3-4.4, pp. 6-7. m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은 간선 수에 대응하는 단위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RAM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보장과는 구분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6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TTP·CTTP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비슷한 부분 문제를 풀지만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간선을 모으는 방식이 다르다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0"/>
          <p:cNvGraphicFramePr/>
          <p:nvPr/>
        </p:nvGraphicFramePr>
        <p:xfrm>
          <a:off x="660240" y="1994040"/>
          <a:ext cx="10870920" cy="391428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항목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 / CTTP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PTE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916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 문제 준비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작업에 필요한 간선을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 output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복제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색상쌍별 파일을 저장하고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작업이 직접 읽음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916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수와 분할 수에 따라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함께 증가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간선 수에 비례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O(m)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916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열거 단계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복제 간선을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뒤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처리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분할 파일을 읽은 뒤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 task 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안에서 처리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916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비용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임시 </a:t>
                      </a: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I/O·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정렬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CTTP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반복 입력 읽기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분할 파일의 반복 읽기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 </a:t>
                      </a:r>
                      <a:r>
                        <a:rPr lang="ko-KR" sz="172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용량과 실제 열거 계산</a:t>
                      </a:r>
                      <a:endParaRPr lang="en-US" sz="17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3" name="Text 2"/>
          <p:cNvSpPr/>
          <p:nvPr/>
        </p:nvSpPr>
        <p:spPr>
          <a:xfrm>
            <a:off x="660240" y="5829480"/>
            <a:ext cx="108709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1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O(m)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shuffle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데이터량이다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전체 실행시간이나 전체 통신량을 뜻하지 않는다</a:t>
            </a:r>
            <a:r>
              <a:rPr lang="en-US" sz="17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§2.4, §3.2, §4.1, §4.4; CTTP §4, §5.3. m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은 입력 간선 수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4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논문의 실험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2016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년 실험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: 40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worker,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머신당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32 GB RAM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2"/>
          <p:cNvSpPr/>
          <p:nvPr/>
        </p:nvSpPr>
        <p:spPr>
          <a:xfrm>
            <a:off x="660240" y="3047760"/>
            <a:ext cx="1087128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660240" y="2082960"/>
            <a:ext cx="31366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2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약 </a:t>
            </a:r>
            <a:r>
              <a:rPr lang="en-US" sz="32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3.06</a:t>
            </a:r>
            <a:r>
              <a:rPr lang="ko-KR" sz="32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조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4"/>
          <p:cNvSpPr/>
          <p:nvPr/>
        </p:nvSpPr>
        <p:spPr>
          <a:xfrm>
            <a:off x="3949560" y="2082960"/>
            <a:ext cx="750528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ClueWeb12 </a:t>
            </a:r>
            <a:r>
              <a:rPr lang="ko-KR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triangle </a:t>
            </a:r>
            <a:r>
              <a:rPr lang="ko-KR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열거 성공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5"/>
          <p:cNvSpPr/>
          <p:nvPr/>
        </p:nvSpPr>
        <p:spPr>
          <a:xfrm>
            <a:off x="3949560" y="2514600"/>
            <a:ext cx="7505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63</a:t>
            </a:r>
            <a:r>
              <a:rPr lang="ko-KR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억 정점</a:t>
            </a: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, 720</a:t>
            </a:r>
            <a:r>
              <a:rPr lang="ko-KR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억 간선</a:t>
            </a: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비교 대상들은 전체 그래프 처리에 실패</a:t>
            </a: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6"/>
          <p:cNvSpPr/>
          <p:nvPr/>
        </p:nvSpPr>
        <p:spPr>
          <a:xfrm>
            <a:off x="660240" y="4165560"/>
            <a:ext cx="1087128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7"/>
          <p:cNvSpPr/>
          <p:nvPr/>
        </p:nvSpPr>
        <p:spPr>
          <a:xfrm>
            <a:off x="660240" y="3200400"/>
            <a:ext cx="31366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2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최대 </a:t>
            </a:r>
            <a:r>
              <a:rPr lang="en-US" sz="32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47</a:t>
            </a:r>
            <a:r>
              <a:rPr lang="ko-KR" sz="32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배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8"/>
          <p:cNvSpPr/>
          <p:nvPr/>
        </p:nvSpPr>
        <p:spPr>
          <a:xfrm>
            <a:off x="3949560" y="3200400"/>
            <a:ext cx="750528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PTESC</a:t>
            </a:r>
            <a:r>
              <a:rPr lang="ko-KR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실행시간 개선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9"/>
          <p:cNvSpPr/>
          <p:nvPr/>
        </p:nvSpPr>
        <p:spPr>
          <a:xfrm>
            <a:off x="3949560" y="3632040"/>
            <a:ext cx="7505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SubDomain</a:t>
            </a:r>
            <a:r>
              <a:rPr lang="ko-KR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와 비교</a:t>
            </a: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모든 데이터셋에 공통인 배수는 아님</a:t>
            </a: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10"/>
          <p:cNvSpPr/>
          <p:nvPr/>
        </p:nvSpPr>
        <p:spPr>
          <a:xfrm>
            <a:off x="660240" y="5283000"/>
            <a:ext cx="1087128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11"/>
          <p:cNvSpPr/>
          <p:nvPr/>
        </p:nvSpPr>
        <p:spPr>
          <a:xfrm>
            <a:off x="660240" y="4317840"/>
            <a:ext cx="31366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2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최대 </a:t>
            </a:r>
            <a:r>
              <a:rPr lang="en-US" sz="32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245</a:t>
            </a:r>
            <a:r>
              <a:rPr lang="ko-KR" sz="32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배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2"/>
          <p:cNvSpPr/>
          <p:nvPr/>
        </p:nvSpPr>
        <p:spPr>
          <a:xfrm>
            <a:off x="3949560" y="4317840"/>
            <a:ext cx="750528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</a:t>
            </a:r>
            <a:r>
              <a:rPr lang="ko-KR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shuffle </a:t>
            </a:r>
            <a:r>
              <a:rPr lang="ko-KR" sz="22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데이터량 감소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3"/>
          <p:cNvSpPr/>
          <p:nvPr/>
        </p:nvSpPr>
        <p:spPr>
          <a:xfrm>
            <a:off x="3949560" y="4749840"/>
            <a:ext cx="7505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ClueWeb12 </a:t>
            </a:r>
            <a:r>
              <a:rPr lang="ko-KR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표본 약 </a:t>
            </a: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360</a:t>
            </a:r>
            <a:r>
              <a:rPr lang="ko-KR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억 간선 조건에서 </a:t>
            </a: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와 비교</a:t>
            </a:r>
            <a:r>
              <a:rPr lang="en-US" sz="1629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4"/>
          <p:cNvSpPr/>
          <p:nvPr/>
        </p:nvSpPr>
        <p:spPr>
          <a:xfrm>
            <a:off x="660240" y="5715000"/>
            <a:ext cx="10870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200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억 간선을 넘는 표본에서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일 내 완료하지 못했다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처리 실패의 원인은 방법별로 메모리 부족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ID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범위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실행시간 한계 등으로 다르다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5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Figure 1, p. 2; Table 2·Figure 6·§5.1, p. 8; Figure 7·§5.2.1, p. 9.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6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정리와 적용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PTE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는 중간 데이터를 만드는 방식부터 바꾼다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2"/>
          <p:cNvSpPr/>
          <p:nvPr/>
        </p:nvSpPr>
        <p:spPr>
          <a:xfrm>
            <a:off x="660240" y="2933640"/>
            <a:ext cx="1087128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3"/>
          <p:cNvSpPr/>
          <p:nvPr/>
        </p:nvSpPr>
        <p:spPr>
          <a:xfrm>
            <a:off x="660240" y="2247840"/>
            <a:ext cx="203148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PTEBASE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4"/>
          <p:cNvSpPr/>
          <p:nvPr/>
        </p:nvSpPr>
        <p:spPr>
          <a:xfrm>
            <a:off x="2921040" y="2247840"/>
            <a:ext cx="86101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간선을 미리 분할해 대량의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shuffle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을 줄임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5"/>
          <p:cNvSpPr/>
          <p:nvPr/>
        </p:nvSpPr>
        <p:spPr>
          <a:xfrm>
            <a:off x="660240" y="3746160"/>
            <a:ext cx="1087128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6"/>
          <p:cNvSpPr/>
          <p:nvPr/>
        </p:nvSpPr>
        <p:spPr>
          <a:xfrm>
            <a:off x="660240" y="3060720"/>
            <a:ext cx="203148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PTECD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7"/>
          <p:cNvSpPr/>
          <p:nvPr/>
        </p:nvSpPr>
        <p:spPr>
          <a:xfrm>
            <a:off x="2921040" y="3060720"/>
            <a:ext cx="86101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필요한 이웃만 비교하고 중복 계산을 제거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8"/>
          <p:cNvSpPr/>
          <p:nvPr/>
        </p:nvSpPr>
        <p:spPr>
          <a:xfrm>
            <a:off x="660240" y="4559040"/>
            <a:ext cx="10871280" cy="360"/>
          </a:xfrm>
          <a:prstGeom prst="line">
            <a:avLst/>
          </a:prstGeom>
          <a:ln w="12700">
            <a:solidFill>
              <a:srgbClr val="C6D5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9"/>
          <p:cNvSpPr/>
          <p:nvPr/>
        </p:nvSpPr>
        <p:spPr>
          <a:xfrm>
            <a:off x="660240" y="3873600"/>
            <a:ext cx="203148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PTESC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0"/>
          <p:cNvSpPr/>
          <p:nvPr/>
        </p:nvSpPr>
        <p:spPr>
          <a:xfrm>
            <a:off x="2921040" y="3873600"/>
            <a:ext cx="86101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·loading 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순서를 조정해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network read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를 줄임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1"/>
          <p:cNvSpPr/>
          <p:nvPr/>
        </p:nvSpPr>
        <p:spPr>
          <a:xfrm>
            <a:off x="660240" y="4927680"/>
            <a:ext cx="108709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적용 범위</a:t>
            </a:r>
            <a:r>
              <a:rPr lang="en-US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논문이 다루는 정적</a:t>
            </a:r>
            <a:r>
              <a:rPr lang="en-US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무방향</a:t>
            </a:r>
            <a:r>
              <a:rPr lang="en-US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단순 그래프의 정확한 열거</a:t>
            </a:r>
            <a:r>
              <a:rPr lang="en-US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남는 제약</a:t>
            </a:r>
            <a:r>
              <a:rPr lang="en-US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작업별 </a:t>
            </a:r>
            <a:r>
              <a:rPr lang="en-US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RAM, </a:t>
            </a:r>
            <a:r>
              <a:rPr lang="ko-KR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분산 저장공간</a:t>
            </a:r>
            <a:r>
              <a:rPr lang="en-US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통신</a:t>
            </a:r>
            <a:r>
              <a:rPr lang="en-US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그리고 발견할 삼각형 수</a:t>
            </a:r>
            <a:r>
              <a:rPr lang="en-US" sz="18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2"/>
          <p:cNvSpPr/>
          <p:nvPr/>
        </p:nvSpPr>
        <p:spPr>
          <a:xfrm>
            <a:off x="660240" y="5905440"/>
            <a:ext cx="108709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13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Definition 1, §4, §6.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현재의 모든 시스템에 대한 성능 보장은 아님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4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부록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A.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의사코드로 보는 전체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설명용 요약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정확한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branch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와 순서는 원문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Algorithms 1-4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참조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"/>
          <p:cNvSpPr/>
          <p:nvPr/>
        </p:nvSpPr>
        <p:spPr>
          <a:xfrm>
            <a:off x="660240" y="2095560"/>
            <a:ext cx="108709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준비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정점에 차수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·ID 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순서를 부여하고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각 정점의 색을 정한다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3"/>
          <p:cNvSpPr/>
          <p:nvPr/>
        </p:nvSpPr>
        <p:spPr>
          <a:xfrm>
            <a:off x="660240" y="2451240"/>
            <a:ext cx="108709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분할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ordered edge (u, v)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key (color(u), color(v))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로 묶어 저장한다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4"/>
          <p:cNvSpPr/>
          <p:nvPr/>
        </p:nvSpPr>
        <p:spPr>
          <a:xfrm>
            <a:off x="660240" y="2806560"/>
            <a:ext cx="108709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열거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두 색 또는 세 색 조합의 작업을 병렬로 실행한다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5"/>
          <p:cNvSpPr/>
          <p:nvPr/>
        </p:nvSpPr>
        <p:spPr>
          <a:xfrm>
            <a:off x="927000" y="3162240"/>
            <a:ext cx="10604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각 작업은 필요한 방향별 간선 파일을 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RAM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으로 읽는다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6"/>
          <p:cNvSpPr/>
          <p:nvPr/>
        </p:nvSpPr>
        <p:spPr>
          <a:xfrm>
            <a:off x="927000" y="3517920"/>
            <a:ext cx="10604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가능한 색상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정점 순서의 경우들을 빠짐없이 처리한다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7"/>
          <p:cNvSpPr/>
          <p:nvPr/>
        </p:nvSpPr>
        <p:spPr>
          <a:xfrm>
            <a:off x="927000" y="3873600"/>
            <a:ext cx="10604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pivot (u, v)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마다 허용된 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u 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이웃과 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v 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이웃의 교집합을 구한다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8"/>
          <p:cNvSpPr/>
          <p:nvPr/>
        </p:nvSpPr>
        <p:spPr>
          <a:xfrm>
            <a:off x="927000" y="4229280"/>
            <a:ext cx="10604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공통 이웃 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를 찾으면 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enum(u, v, w)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를 호출한다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9"/>
          <p:cNvSpPr/>
          <p:nvPr/>
        </p:nvSpPr>
        <p:spPr>
          <a:xfrm>
            <a:off x="927000" y="4584600"/>
            <a:ext cx="10604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Type 1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지정된 부분 문제에서만 열거한다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0"/>
          <p:cNvSpPr/>
          <p:nvPr/>
        </p:nvSpPr>
        <p:spPr>
          <a:xfrm>
            <a:off x="660240" y="4940280"/>
            <a:ext cx="108709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PTESC: 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세 색 작업의 내부 호출 순서를 조정해 최대 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개 묶음을 유지한다</a:t>
            </a:r>
            <a:r>
              <a:rPr lang="en-US" sz="1729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1"/>
          <p:cNvSpPr/>
          <p:nvPr/>
        </p:nvSpPr>
        <p:spPr>
          <a:xfrm>
            <a:off x="660240" y="5651640"/>
            <a:ext cx="1087092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색상쌍의 순서를 </a:t>
            </a:r>
            <a:r>
              <a:rPr lang="en-US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min/max</a:t>
            </a:r>
            <a:r>
              <a:rPr lang="ko-KR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로 바꾸지 않는다</a:t>
            </a:r>
            <a:r>
              <a:rPr lang="en-US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방향별 </a:t>
            </a:r>
            <a:r>
              <a:rPr lang="en-US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E_star[i,j]</a:t>
            </a:r>
            <a:r>
              <a:rPr lang="ko-KR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E_star[j,i]</a:t>
            </a:r>
            <a:r>
              <a:rPr lang="ko-KR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를 구분해야 </a:t>
            </a:r>
            <a:r>
              <a:rPr lang="en-US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color-direction</a:t>
            </a:r>
            <a:r>
              <a:rPr lang="ko-KR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을 활용할 수 있다</a:t>
            </a:r>
            <a:r>
              <a:rPr lang="en-US" sz="172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2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Algorithms 1-4, pp. 4-6.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실행 코드가 아닌 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PTECD/PTESC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의 교육용 요약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3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부록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B.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비용과 메모리 보장의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3" name="Table 0"/>
          <p:cNvGraphicFramePr/>
          <p:nvPr/>
        </p:nvGraphicFramePr>
        <p:xfrm>
          <a:off x="660240" y="1663560"/>
          <a:ext cx="10870920" cy="2520720"/>
        </p:xfrm>
        <a:graphic>
          <a:graphicData uri="http://schemas.openxmlformats.org/drawingml/2006/table">
            <a:tbl>
              <a:tblPr/>
              <a:tblGrid>
                <a:gridCol w="2826360"/>
                <a:gridCol w="4022280"/>
                <a:gridCol w="402228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9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 대상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9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 / TTP / CTTP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9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PTE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284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 </a:t>
                      </a:r>
                      <a:r>
                        <a:rPr lang="ko-KR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데이터량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O(m^(3/2) / sqrt(M))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O(m)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284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PTE</a:t>
                      </a:r>
                      <a:r>
                        <a:rPr lang="ko-KR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read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표에서는 비교 생략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O(m^(3/2) / sqrt(M))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284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PTE</a:t>
                      </a:r>
                      <a:r>
                        <a:rPr lang="ko-KR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work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표에서는 비교 생략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729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O(m^(3/2))</a:t>
                      </a:r>
                      <a:endParaRPr lang="en-US" sz="1729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4" name="Text 1"/>
          <p:cNvSpPr/>
          <p:nvPr/>
        </p:nvSpPr>
        <p:spPr>
          <a:xfrm>
            <a:off x="660240" y="4394160"/>
            <a:ext cx="1087092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간선 수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M</a:t>
            </a: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은 한 작업이 사용할 수 있는 메모리의 이론적 규모다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확률적 색상 배정은 기대 크기를 조절한다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모든 부분 문제의 크기가 항상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같거나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RAM </a:t>
            </a:r>
            <a:r>
              <a:rPr lang="ko-KR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초과 가능성이 사라진다는 보장과는 구분해야 한다</a:t>
            </a:r>
            <a:r>
              <a:rPr lang="en-US" sz="18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"/>
          <p:cNvSpPr/>
          <p:nvPr/>
        </p:nvSpPr>
        <p:spPr>
          <a:xfrm>
            <a:off x="660240" y="5664240"/>
            <a:ext cx="1087092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같은 색 라벨의 정점 수나 간선 수는 실행마다 달라질 수 있다</a:t>
            </a:r>
            <a:r>
              <a:rPr lang="en-US" sz="17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고차수 정점에 연결된 간선들은 동일한 정점 색을 공유한다</a:t>
            </a:r>
            <a:r>
              <a:rPr lang="en-US" sz="17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§2.4, §4.1, §4.4.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기대값과 실행별 용량 보장의 구분은 발표용 해설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4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0"/>
          <p:cNvSpPr/>
          <p:nvPr/>
        </p:nvSpPr>
        <p:spPr>
          <a:xfrm>
            <a:off x="660240" y="495360"/>
            <a:ext cx="1087092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부록 </a:t>
            </a:r>
            <a:r>
              <a:rPr lang="en-US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C. </a:t>
            </a:r>
            <a:r>
              <a:rPr lang="ko-KR" sz="3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기대 크기가 작아도 실제로 넘칠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"/>
          <p:cNvSpPr/>
          <p:nvPr/>
        </p:nvSpPr>
        <p:spPr>
          <a:xfrm>
            <a:off x="660240" y="1346040"/>
            <a:ext cx="10870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중심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에 네 잎이 연결된 별 모양 그래프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간선 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개</a:t>
            </a:r>
            <a:r>
              <a:rPr lang="en-US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, triangle 0</a:t>
            </a:r>
            <a:r>
              <a:rPr lang="ko-KR" sz="2100" b="0" u="none" strike="noStrike">
                <a:solidFill>
                  <a:srgbClr val="137F78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0" name="Table 0"/>
          <p:cNvGraphicFramePr/>
          <p:nvPr/>
        </p:nvGraphicFramePr>
        <p:xfrm>
          <a:off x="660240" y="2222640"/>
          <a:ext cx="10870920" cy="2264760"/>
        </p:xfrm>
        <a:graphic>
          <a:graphicData uri="http://schemas.openxmlformats.org/drawingml/2006/table">
            <a:tbl>
              <a:tblPr/>
              <a:tblGrid>
                <a:gridCol w="3913560"/>
                <a:gridCol w="4565880"/>
                <a:gridCol w="2391480"/>
              </a:tblGrid>
              <a:tr h="48240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색 배정 예시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간선 묶음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ko-KR" sz="1900" b="0" u="none" strike="noStrike">
                          <a:solidFill>
                            <a:srgbClr val="137F7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간선 수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137F7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c=0, a=b=1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E01: (c,a), (c,b)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12240">
                      <a:solidFill>
                        <a:srgbClr val="137F78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d=e=2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E02: (c,d), (c,e)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E12: 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73080" rIns="164520" bIns="73080" anchor="t">
                      <a:noAutofit/>
                    </a:bodyPr>
                    <a:p>
                      <a:pPr defTabSz="914400">
                        <a:lnSpc>
                          <a:spcPct val="135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+ 0</a:t>
                      </a:r>
                      <a:r>
                        <a:rPr lang="ko-KR" sz="1900" b="0" u="none" strike="noStrike">
                          <a:solidFill>
                            <a:srgbClr val="183C38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64520" marT="73080" marB="73080">
                    <a:lnL>
                      <a:noFill/>
                    </a:lnL>
                    <a:lnR>
                      <a:noFill/>
                    </a:lnR>
                    <a:lnT w="6480">
                      <a:solidFill>
                        <a:srgbClr val="C6D5D0"/>
                      </a:solidFill>
                      <a:prstDash val="solid"/>
                    </a:lnT>
                    <a:lnB w="6480">
                      <a:solidFill>
                        <a:srgbClr val="C6D5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1" name="Text 2"/>
          <p:cNvSpPr/>
          <p:nvPr/>
        </p:nvSpPr>
        <p:spPr>
          <a:xfrm>
            <a:off x="660240" y="4673520"/>
            <a:ext cx="108709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M=3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ρ=3. 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세 색 작업의 기대 크기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= 8/3 ≤ 3.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하지만 위 색 배정에서는 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2+2+0 = 4 &gt; 3</a:t>
            </a:r>
            <a:r>
              <a:rPr lang="ko-KR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210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3"/>
          <p:cNvSpPr/>
          <p:nvPr/>
        </p:nvSpPr>
        <p:spPr>
          <a:xfrm>
            <a:off x="660240" y="5715000"/>
            <a:ext cx="108709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기대값만으로 매 실행의 메모리 수용을 증명할 수 없다는 수학적 예시다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PTE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실행 실패를 측정한 결과가 아니며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, triangle </a:t>
            </a:r>
            <a:r>
              <a:rPr lang="ko-KR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수와 입력 적재량도 다르다</a:t>
            </a:r>
            <a:r>
              <a:rPr lang="en-US" sz="1650" b="0" u="none" strike="noStrike">
                <a:solidFill>
                  <a:srgbClr val="183C38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4"/>
          <p:cNvSpPr/>
          <p:nvPr/>
        </p:nvSpPr>
        <p:spPr>
          <a:xfrm>
            <a:off x="660240" y="6438960"/>
            <a:ext cx="10134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PTE §4.1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의 기대 크기 식에 대한 교육용 반례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논문 실험이나 실제 실패 보고가 아님</a:t>
            </a:r>
            <a:r>
              <a:rPr lang="en-US" sz="1000" b="0" u="none" strike="noStrike">
                <a:solidFill>
                  <a:srgbClr val="576962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"/>
          <p:cNvSpPr/>
          <p:nvPr/>
        </p:nvSpPr>
        <p:spPr>
          <a:xfrm>
            <a:off x="11150640" y="642636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42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37F78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</TotalTime>
  <Application>LibreOffice/26.8.0.3$MacOSX_AARCH64 LibreOffice_project/bce0998afefdbc355585ca324285661a2170ba77</Application>
  <AppVersion>15.0000</AppVersion>
  <Words>14259</Words>
  <Paragraphs>515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2026-09-10T09:10:43Z</dcterms:created>
  <dc:creator>PptxGenJS</dc:creator>
  <dc:description/>
  <dc:language>ko-KR</dc:language>
  <cp:lastModifiedBy>나현우(학부생-인공지능전공)</cp:lastModifiedBy>
  <dcterms:modified xsi:type="dcterms:W3CDTF">2026-09-10T15:15:48Z</dcterms:modified>
  <cp:revision>2</cp:revision>
  <dc:subject>PTE 논문 한국어 교육용 세미나</dc:subject>
  <dc:title>PTE: 대규모 그래프의 삼각형 열거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와이드스크린</vt:lpwstr>
  </property>
  <property fmtid="{D5CDD505-2E9C-101B-9397-08002B2CF9AE}" pid="4" name="Slides">
    <vt:r8>26</vt:r8>
  </property>
</Properties>
</file>
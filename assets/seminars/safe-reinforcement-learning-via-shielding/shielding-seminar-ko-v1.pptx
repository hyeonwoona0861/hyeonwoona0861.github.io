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Shielding으로 안전한 강화학습 만들기
발표 대본
이 자료는 Alshiekh 등의 Safe Reinforcement Learning via Shielding을 설명합니다. 논문의 핵심은 강화학습기가 어떤 내부 구조를 쓰는지 모두 분석하지 않고도, 행동이 환경으로 전달되는 경계에 shield를 배치해 시간 논리 안전 조건을 지키게 하는 것입니다. 안전 명세와 환경의 보수적 추상화로 shield를 미리 합성하고, 학습기는 그 안전한 범위 안에서 보상을 최적화합니다.
공개 출처
arxiv-paper | title page and abstract
Safe Reinforcement Learning via Shielding, arXiv:1708.08611v2
https://arxiv.org/abs/1708.08611
aaai-record | AAAI-18 publication record
Safe Reinforcement Learning via Shielding, AAAI-18 record
https://ojs.aaai.org/index.php/AAAI/article/view/11797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높은 reward가 안전을 뜻하지는 않는다
발표 대본
강화학습은 누적 reward를 크게 만드는 policy를 찾습니다. 위험 상태에 음의 reward를 줄 수는 있지만, learner는 그 위험을 경험하고 나서야 penalty를 관찰할 수 있습니다. 더구나 충분히 큰 penalty가 최종 policy를 안전하게 만들더라도 학습 중 모든 시점의 안전까지 자동으로 보장하지는 않습니다. 논문은 이 문제를 reward 설계만으로 해결하려 하지 않고, 행동 실행 경계에 별도의 안전 장치를 둡니다.
공개 출처
arxiv-paper | pp. 1–2, Introduction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두 역할을 분리한다
발표 대본
논문이 제안하는 경계는 단순합니다. learner는 reward에 따라 성능을 개선하고, shield는 명세 위반 가능성이 있는 행동이 환경으로 전달되지 않게 합니다. 이 분리는 shield가 learner의 신경망이나 Q-table 내부를 알 필요가 없게 합니다. 그러나 shield 자체는 안전 명세와 환경의 관련 동작을 표현한 추상화를 필요로 합니다.
공개 출처
arxiv-paper | pp. 1–2, Figs. 1–2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먼저 구분할 네 가지 대상
발표 대본
MDP는 learner가 상호작용하는 실제 환경 모델입니다. Observer f는 복잡한 state를 안전 판단에 필요한 유한 label로 바꿉니다. Safety automaton은 어떤 관찰과 행동의 연속이 허용되는지 추적합니다. Abstraction은 실제 환경이 어떤 label 변화를 만들 수 있는지를 과소평가하지 않도록 보수적으로 기술합니다. 논문이 부분 관찰 일반 문제를 해결한다고 주장하는 것은 아니며, shield가 정해진 observer interface를 사용한다는 뜻입니다.
공개 출처
arxiv-paper | pp. 4–7, Secs. 3–4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Safety는 유한한 bad prefix로 드러난다
발표 대본
Safety specification의 핵심 특징은 위반한 trace에 유한한 bad prefix가 있다는 점입니다. 예를 들어 탱크가 마르면 그 순간까지의 prefix만으로 이미 안전 조건 위반이 확정됩니다. Automaton은 긴 history 전체를 저장하지 않고 현재 automaton state로 필요한 정보를 요약합니다. Shield는 다음 전이가 unsafe state로 가거나 장차 피할 수 없는 상태로 들어가는 행동을 미리 제거합니다.
공개 출처
arxiv-paper | p. 5, safety specification and safety automaton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Safety automaton이 기억하는 것
발표 대본
예를 들어 밸브를 연 뒤 최소 세 단계 유지해야 한다면, 현재 수위만 보고는 언제 밸브를 바꿔도 되는지 알 수 없습니다. Automaton state는 마지막 변경 뒤 몇 단계가 지났는지와 같은 safety-relevant history를 기억할 수 있습니다. 논문은 LTL safety formula를 deterministic safety word automaton으로 변환할 수 있다는 기존 결과를 이용합니다.
공개 출처
arxiv-paper | p. 5, Sec. 3; pp. 7–8, Example 1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Shield 합성에는 두 입력이 필요하다
발표 대본
Safety automaton만 있으면 무엇이 금지되는지는 알 수 있지만, 특정 행동 뒤에 어떤 관찰이 올 수 있는지는 알 수 없습니다. 반대로 환경 추상화만 있으면 가능한 변화는 알지만 무엇을 피해야 하는지는 알 수 없습니다. 두 automaton state의 곱으로 safety game을 만들고, 어떤 환경 선택이 오더라도 안전을 유지할 action이 존재하는 state 집합 W를 계산합니다.
공개 출처
arxiv-paper | pp. 12–13, Sec. 6, steps 1–2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Safety game은 환경과 시스템이 번갈아 움직인다
발표 대본
논문의 game에서는 매 단계 환경 player가 관찰 label을 먼저 고르고, system player가 action을 고릅니다. Game state는 specification automaton state와 abstraction automaton state의 쌍입니다. 따라서 shield는 현재 순간에 명세를 위반하지 않는 행동만 보는 것이 아니라, abstraction이 허용하는 미래에서 계속 안전을 강제할 수 있는지를 계산합니다.
공개 출처
arxiv-paper | pp. 5–6, game definition; pp. 12–13, product game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Winning region W의 의미
발표 대본
Winning region은 현재 specification automaton state가 safe인지에 그치지 않습니다. Cliff로 향하는 자동차처럼 지금은 충돌하지 않았어도 이미 제동이 늦어 장차 사고를 피할 수 없다면 그 state는 losing일 수 있습니다. W 안에서는 모든 가능한 다음 observation에 대응할 안전 action이 있으므로 합성된 shield가 deadlock하지 않습니다. 단, 실제 환경이 abstraction을 벗어나면 이 논리의 전제가 깨집니다.
공개 출처
arxiv-paper | pp. 6–7, planning ahead; pp. 13–16, W and correctness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왜 abstraction은 보수적이어야 하는가
발표 대본
Abstraction은 실제 dynamics를 정밀하게 재현할 필요는 없지만, 안전 판단과 관련된 가능한 behavior를 포함해야 합니다. 가능한 전이를 더 많이 넣으면 shield가 보수적으로 행동할 수 있습니다. 반대로 실제 가능한 위험 전이를 누락하면 game에서 고려하지 않은 상황이 발생해 안전 보장을 잃습니다. 보수성이 강할수록 허용 행동이 줄어 성능이나 탐색 자유도가 떨어질 수 있다는 trade-off도 있습니다.
공개 출처
arxiv-paper | pp. 6–8, Sec. 4 and Example 1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Water tank에서 미리 막아야 하는 이유
발표 대본
논문의 water tank 예에서는 용량이 100리터이고, inflow는 열렸을 때 초당 1에서 2리터, outflow는 0에서 1리터입니다. 밸브 상태를 바꾸면 최소 세 단계 유지해야 합니다. 따라서 level이 93을 넘은 상태에서 밸브를 열면 이후 세 단계 동안 최대 유입과 0 유출이 겹쳐 overflow를 피할 수 없을 수 있습니다. Shield는 현재 위반이 없더라도 그 행동을 미리 비활성화합니다.
공개 출처
arxiv-paper | pp. 7–8, Example 1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Preemptive shield: 선택 전에 후보를 줄인다
발표 대본
Preemptive shielding에서는 shield가 먼저 현재 game state와 관찰 label을 이용해 successor가 W에 남는 action 집합을 계산합니다. Learner는 그 목록 안에서만 행동을 선택합니다. 이를 unsafe action이 제거된 product MDP에서 학습한다고 볼 수 있습니다. 논문의 Assumption 1 아래에서 learner는 원래 MDP state와 shield state의 곱을 상태 입력으로 받아야 합니다.
공개 출처
arxiv-paper | pp. 9–11, Sec. 5.1 and Fig. 6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Post-posed shield: 제안 뒤 실행 action을 정한다
발표 대본
논문은 shield가 learner 뒤에 놓이는 방식을 post-posed shielding이라고 부릅니다. Learner가 action 하나를 내면 안전할 때 그대로 통과시키고, unsafe일 때 safe action으로 바꿉니다. Ranking을 내면 위에서부터 검사해 첫 safe action을 실행합니다. Learner는 실제로 실행된 action과 그 결과 reward를 받아 업데이트합니다. 고정 policy의 실행 단계에도 붙일 수 있지만, unsafe 제안이 남아 있을 수 있으므로 shield는 배포 중에도 유지해야 합니다.
공개 출처
arxiv-paper | pp. 11–12, Sec. 5.2 and Fig. 7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두 interface의 차이
발표 대본
Preemptive 방식은 learner가 shield state를 포함한 product state를 받아 제한된 action set에서 선택하도록 요구합니다. Post-posed 방식은 learner의 기존 interface를 덜 바꾸며, learner가 shield 존재를 몰라도 작동할 수 있습니다. 다만 convergence를 엄밀히 이전하려면 post-posed fallback 선택 규칙에 추가 조건이 필요합니다. 어느 방식도 shield를 제거한 뒤 policy가 스스로 안전하다고 자동 보장하지 않습니다.
공개 출처
arxiv-paper | pp. 9–12, Secs. 5.1–5.2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교육용 예시: go와 brake를 W로 판정한다
발표 대본
이 표는 논문의 수치 실험이 아니라 두 interface의 차이를 설명하기 위해 만든 예시입니다. 현재 game state를 g, 관찰 label을 near라고 둡니다. go의 successor g_bad는 W 밖이고 brake의 successor g_safe는 W 안이라고 가정합니다. Preemptive 출력 정의에 따라 W 안으로 가는 action만 모으면 집합은 정확히 brake 하나입니다. Action 수를 두 개로 제한했으므로 다른 후보는 없습니다.
공개 출처
arxiv-paper | pp. 13–15, shield output definitions; constructed example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교육용 예시의 preemptive 실행
발표 대본
앞 슬라이드의 판정을 그대로 적용합니다. Shield는 go의 successor가 W 밖이므로 go를 제거하고 brake만 learner에게 줍니다. Learner는 선택권이 하나이므로 brake를 골라 environment에 보냅니다. 이 예시는 action filtering의 interface를 보여 주며, brake의 reward가 go보다 높다는 가정은 전혀 사용하지 않습니다. 안전 판정과 reward 선호는 별개입니다.
공개 출처
arxiv-paper | pp. 9–11 and p. 13; constructed example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교육용 예시의 post-posed 실행
발표 대본
같은 successor 판정에 learner가 go를 가장 선호하고 brake를 두 번째로 선호한다고 추가합니다. Shield는 ranking을 위에서부터 검사합니다. go는 unsafe이므로 건너뛰고 brake가 safe이므로 brake를 실행합니다. 따라서 원래 제안과 실행 action이 다릅니다. Learner가 업데이트할 때는 실제 실행된 brake와 environment가 돌려준 reward를 관찰해야 합니다.
공개 출처
arxiv-paper | pp. 11–12 and p. 15; constructed example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교정된 action을 어떻게 학습에 반영하는가
발표 대본
논문은 post-posed 교정 뒤 두 update 변형을 설명합니다. Unsafe proposal에 punishment를 줄 수도 있고, 실제 safe action에서 얻은 reward를 proposal에 줄 수도 있습니다. 어느 경우에도 최종 learned policy가 shield 없이 안전하다는 보장은 없습니다. 특히 no-punishment 변형에서는 unsafe proposal이 좋은 action으로 학습될 수도 있지만 shield가 항상 safe action으로 매핑하므로 실행은 안전합니다.
공개 출처
arxiv-paper | pp. 11–12, Sec. 5.2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Shield 합성 절차
발표 대본
명세 automaton과 environment abstraction을 product safety game으로 결합합니다. Product state는 두 automaton state의 쌍입니다. 표준 safety-game solving으로 W를 계산한 뒤, preemptive 방식은 successor가 W에 있는 모든 action의 집합을 출력하고 post-posed 방식은 제안 action이 W를 벗어나면 W 안으로 가는 safe action을 선택합니다. 도달할 수 없는 shield state는 선택적으로 제거할 수 있습니다.
공개 출처
arxiv-paper | pp. 12–15, Sec. 6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Realizable해야 safe action이 계속 존재한다
발표 대본
Reactive synthesis에서 realizability는 환경이 허용된 어떤 선택을 하더라도 system이 명세를 지킬 전략이 존재한다는 뜻입니다. 초기 state가 winning region 밖이라면 어떤 shield도 해당 추상 환경에서 안전을 보장할 수 없습니다. W 안에서 합성된 strategy를 따르면 reachable state마다 최소 하나의 safe action이 있어 deadlock하지 않습니다.
공개 출처
arxiv-paper | pp. 5–6, realizability and winning region; pp. 15–16, correctness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정확성 보장은 조건부다
발표 대본
논문의 correctness proof는 실제 MDP trace가 abstraction에 포함된다는 전제 아래 specification automaton의 unsafe state에 들어가지 않음을 보입니다. Product game에서는 abstraction automaton이 오류 state에 들어간 경우를 system의 winning 쪽으로 취급합니다. 이는 실제 현장에서 abstraction이 틀렸다면 더 이상 안전 책임을 주장하지 않는다는 논리적 경계입니다. 따라서 specification 누락, observer 오류, abstraction miss는 별도의 검증 대상입니다.
공개 출처
arxiv-paper | pp. 13 and 15–16, game safe set and correctness proof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Minimal interference의 정확한 의미
발표 대본
논문의 proof는 shield가 비활성화한 action을 다시 허용한다고 가정합니다. 그러면 abstraction과 지금까지 관찰된 behavior에 일치하는 어떤 MDP에서는, learner가 이후 어떤 policy를 쓰더라도 유한 시간 안에 specification 위반이 발생할 확률이 0보다 클 수 있습니다. 그래서 그 action은 모든 일치 MDP에 대한 안전을 보장하려면 막아야 합니다. 이 정의는 reward, sample efficiency, global optimality를 비교하지 않습니다.
공개 출처
arxiv-paper | p. 16, Minimal Interference proof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Convergence는 product MDP로 옮겨 생각한다
발표 대본
Shield와 environment를 합친 dynamics를 product MDP M′로 볼 수 있으면, 표준 MDP에서 converge하는 learning algorithm의 성질을 그 M′에 적용할 수 있습니다. Post-posed 방식에서 ranking에 safe action이 없을 때 대체 action을 고르는 분포는 state, shield state, ranking에 의존해도 되지만 시간에 따라 변하면 안 됩니다. 논문의 주장은 discrete-state 조건과 product-state 접근을 전제로 하며 임의의 function approximation이나 deep RL convergence를 보장하지 않습니다.
공개 출처
arxiv-paper | pp. 16–17, Sec. 7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안전 보장과 학습 보장을 분리해서 읽는다
발표 대본
Shield가 보장하는 핵심은 지정된 safety property를 runtime에서 지키는 것입니다. 최적성은 shield가 허용하는 action과 product state로 정의된 constrained problem 안에서 해석해야 합니다. Shield는 safe exploration coverage를 보장하지 않고, unseen raw state에서 function approximator가 잘 일반화한다고 보장하지도 않습니다. Observer와 abstraction이 현실을 충분히 표현하는지는 설계자가 책임져야 합니다.
공개 출처
arxiv-paper | pp. 6, 15–17 and 22, definitions, proofs, conclusion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실험 1: Grid world
발표 대본
두 grid 모두 로봇이 동서남북으로 움직이며 지정된 색 영역을 순서대로 방문합니다. 9×9에서는 벽과 bomb 조건을 함께 쓰고 15×9에서는 벽과 움직이는 opponent 충돌을 막습니다. Shield 합성 시간은 각각 2초와 0.6초입니다. Figure 11에서 음의 reward는 unshielded version에서만 나타납니다. 15×9의 비교에서는 ranking 길이 3이고 correction penalty가 없는 shielded version만 optimal path를 찾았다고 보고합니다. 이 관찰을 다른 환경의 일반 theorem으로 확대하지 않습니다.
공개 출처
arxiv-paper | pp. 17–19, Sec. 8.1 and Fig. 11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실험 2: Self-driving car simulation
발표 대본
차량 state는 x와 y 위치, heading의 cosine과 sine 네 값입니다. Shield는 원시 state 전체 대신 어느 차량 측면이 벽에서 60 pixels 이내인지 계산한 입력을 사용합니다. Learner는 네 input, 여덟 heading output, 세 hidden layer의 DQN과 Boltzmann exploration을 사용합니다. Figure 12에서 unshielded agent는 후반에도 crash를 보이지만, correction punishment가 없는 shielded version은 crash 없이 더 빠르게 reward를 높입니다. 이는 실제 도로 안전 인증 결과가 아닙니다.
공개 출처
arxiv-paper | pp. 19–20, Sec. 8.2 and Fig. 12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실험 3: Atari Seaquest
발표 대본
Seaquest learner는 RGB 화면만 받는 DeepMind 계열 DQN implementation이며 논문은 이를 black box로 사용합니다. Shield 입력은 같은 image에서 학습한 perception 결과가 아니라 simulator state에서 계산합니다. 두 safety property는 산소가 떨어지기 전에 떠오르기, 그리고 산소가 충분하지만 diver를 모으지 않았을 때 떠오르지 않기입니다. Figure 13에서 shielded 성능은 unshielded와 비슷하고 safety proposition 위반은 보고되지 않습니다. Perception error까지 다룬 실험은 아닙니다.
공개 출처
arxiv-paper | pp. 19–20, Sec. 8.3 and Fig. 13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실험 4: Water tank
발표 대본
Water tank concrete MDP는 energy consumption이 state에 따라 달라지고 local minimum이 여러 개 있도록 구성됩니다. Post-posed shield는 탱크가 마르거나 넘치는 것을 막고, 밸브 mode를 바꾼 뒤 세 단계를 유지하는 조건을 지킵니다. Figure 14에서 shielded와 unshielded Q-learning, SARSA가 모두 optimum에 도달하지만 shielded curve가 더 빠릅니다. 이 결과는 shielding이 언제나 sample efficiency를 개선한다는 보장은 아닙니다.
공개 출처
arxiv-paper | p. 21, Sec. 8.4 and Fig. 14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네 실험을 같은 기준으로 읽기
발표 대본
실험은 tabular Q-learning, DQN, SARSA 등 서로 다른 learner를 사용해 interface 독립성을 보여 줍니다. 하지만 모든 실험에서 shield가 사용할 safety-relevant 정보와 abstraction은 사람이 제공합니다. 시뮬레이션은 Intel i7-4790K, 16 GB RAM, 64-bit Ubuntu 16.04에서 수행되었습니다. 합성 시간과 learning curve는 이 조건의 결과이며 현대 하드웨어나 실제 시스템으로 일반화한 benchmark가 아닙니다.
공개 출처
arxiv-paper | pp. 17–21, Sec. 8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적용 전에 확인할 한계
발표 대본
논문도 가장 큰 단점으로 어느 action이 언제 unsafe한지를 나타내는 approximate model이 필요하다고 밝힙니다. 안전이 state에 따라 달라진다면 이런 정보 없이 허용 행동을 판단할 방법이 없다는 입장입니다. 다만 abstraction과 observer가 틀릴 가능성, 명세에 없는 hazard, 과도한 보수성, shield 자체의 runtime 신뢰성은 별도 engineering 과제로 남습니다.
공개 출처
arxiv-paper | pp. 21–22, Conclusion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핵심 흐름을 한 번 더 연결하면
발표 대본
이 논문의 전체 논리는 다섯 단계입니다. 먼저 temporal-logic safety condition을 automaton으로 만들고, 안전 판단에 필요한 environment dynamics를 보수적으로 추상화합니다. 둘의 product safety game에서 winning region을 계산합니다. Runtime에는 preemptive filter 또는 post-posed override로 shield를 연결합니다. Learner는 그 제약 안에서 reward를 최적화합니다. Formal safety는 명세와 abstraction 조건에 한정되고, 성능 향상은 네 실험에서 관찰된 결과이지 일반 보장은 아닙니다.
공개 출처
arxiv-paper | pp. 1–2, 12–17, and 21–22
Safe Reinforcement Learning via Shielding, arXiv:1708.08611v2
https://arxiv.org/abs/1708.08611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Shielding으로 안전한 강화학습 만들기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Safe Reinforcement Learning via Shielding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Mohammed Alshiekh, Roderick Bloem, Rüdiger Ehlers, Bettina Könighofer, Scott Niekum, and Ufuk Topcu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보상 최적화와 시간 논리 안전 조건을 분리하고 다시 연결하는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title page and abstract; aaai-record AAAI-18 publication record</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높은 reward가 안전을 뜻하지는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위험에 큰 penalty를 주어도 탐색 중 사고가 먼저 일어날 수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Learner</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미지의 환경에서 action을 시험</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Environment</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state와 reward를 반환</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Policy update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장기 return이 커지도록 수정</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남는 문제</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학습·실행 중 안전 위반을 막는 보장은 없음</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 최적화와 매 순간의 안전 보장은 서로 다른 요구사항이다.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 Introduction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역할을 분리한다</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3261360"/>
                <a:gridCol w="2500376"/>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맡는 목표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입력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기준의 return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선호 action 또는 ranking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specification 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 label·action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 action 집합 또는 실행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Dynamics와 reward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실제로 실행된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state·reward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Learner는 성능을 배우고 shield는 허용 가능한 행동 경계를 지킨다.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 Figs.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먼저 구분할 네 가지 대상</a:t>
            </a:r>
            <a:endParaRPr lang="en-US" sz="3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282952"/>
                <a:gridCol w="4348480"/>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Shield가 사용하는 부분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MDP 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state, action, transition,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완전히 알 필요는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Observer 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State를 유한 label로 바꾸는 함수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안전에 관련된 관찰만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automaton φs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trace를 safe state로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나쁜 prefix가 생기기 전 차단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 φM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환경 label 변화를 보수적으로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앞으로 생길 수 있는 경우를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Shield는 원시 state 전체보다 안전 판단에 필요한 label과 추상 동작을 본다.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4–7, Secs. 3–4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Safety는 유한한 bad prefix로 드러난다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번 생기면 이후 행동으로 되돌릴 수 없는 위반의 시작을 추적한다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Trace</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관찰 label과 action이 시간 순서로 쌓임</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Automaton state</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지금까지의 안전 관련 history를 요약</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Unsafe transition</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위반이 확정되는 bad prefix가 생성</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Shield</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 전 단계에서 해당 action을 차단</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Shield는 사고 뒤 복구가 아니라 위반이 확정되기 전의 action 제한을 목표로 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5, safety specification and safety automaton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Safety automaton이 기억하는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state q는 지금까지의 trace에서 앞으로 필요한 제약 정보를 압축한다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34848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q0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유한 state와 초기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 관련 history의 요약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Σ = L × 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 label과 action의 alphabet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label과 선택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automaton state 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label,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계속 머물러야 하는 safe states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 전체가 F 안인지 검사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관찰만으로 부족한 시간 조건은 automaton state가 보완한다.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5, Sec. 3; pp. 7–8, Example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Shield 합성에는 두 입력이 필요하다</a:t>
            </a:r>
            <a:endParaRPr lang="en-US" sz="3100" dirty="0"/>
          </a:p>
        </p:txBody>
      </p:sp>
      <p:sp>
        <p:nvSpPr>
          <p:cNvPr id="3" name="Shape 1"/>
          <p:cNvSpPr/>
          <p:nvPr/>
        </p:nvSpPr>
        <p:spPr>
          <a:xfrm>
            <a:off x="3302000" y="2578100"/>
            <a:ext cx="0" cy="609600"/>
          </a:xfrm>
          <a:prstGeom prst="line">
            <a:avLst/>
          </a:prstGeom>
          <a:noFill/>
          <a:ln w="12700">
            <a:solidFill>
              <a:srgbClr val="0D685C"/>
            </a:solidFill>
            <a:prstDash val="solid"/>
            <a:headEnd type="none"/>
            <a:tailEnd type="none"/>
          </a:ln>
        </p:spPr>
        <p:txBody>
          <a:bodyPr/>
          <a:lstStyle/>
          <a:p>
            <a:endParaRPr lang="ko-KR"/>
          </a:p>
        </p:txBody>
      </p:sp>
      <p:sp>
        <p:nvSpPr>
          <p:cNvPr id="4" name="Shape 2"/>
          <p:cNvSpPr/>
          <p:nvPr/>
        </p:nvSpPr>
        <p:spPr>
          <a:xfrm>
            <a:off x="8890000" y="2578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3187700"/>
            <a:ext cx="2159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6731000" y="3187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5461000" y="3187700"/>
            <a:ext cx="0" cy="5715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6731000" y="3187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096000" y="4356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0" name="Text 8"/>
          <p:cNvSpPr txBox="1"/>
          <p:nvPr/>
        </p:nvSpPr>
        <p:spPr>
          <a:xfrm>
            <a:off x="1270000" y="1981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Safety automaton</a:t>
            </a:r>
            <a:endParaRPr lang="en-US" sz="1750" dirty="0"/>
          </a:p>
        </p:txBody>
      </p:sp>
      <p:sp>
        <p:nvSpPr>
          <p:cNvPr id="11" name="Text 9"/>
          <p:cNvSpPr txBox="1"/>
          <p:nvPr/>
        </p:nvSpPr>
        <p:spPr>
          <a:xfrm>
            <a:off x="1270000" y="2260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어떤 trace가 허용되는가</a:t>
            </a:r>
            <a:endParaRPr lang="en-US" sz="1500" dirty="0"/>
          </a:p>
        </p:txBody>
      </p:sp>
      <p:sp>
        <p:nvSpPr>
          <p:cNvPr id="12" name="Text 10"/>
          <p:cNvSpPr txBox="1"/>
          <p:nvPr/>
        </p:nvSpPr>
        <p:spPr>
          <a:xfrm>
            <a:off x="6858000" y="1981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Environment model</a:t>
            </a:r>
            <a:endParaRPr lang="en-US" sz="1750" dirty="0"/>
          </a:p>
        </p:txBody>
      </p:sp>
      <p:sp>
        <p:nvSpPr>
          <p:cNvPr id="13" name="Text 11"/>
          <p:cNvSpPr txBox="1"/>
          <p:nvPr/>
        </p:nvSpPr>
        <p:spPr>
          <a:xfrm>
            <a:off x="6858000" y="2260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어떤 label 변화가 가능한가</a:t>
            </a:r>
            <a:endParaRPr lang="en-US" sz="1500" dirty="0"/>
          </a:p>
        </p:txBody>
      </p:sp>
      <p:sp>
        <p:nvSpPr>
          <p:cNvPr id="14" name="Text 12"/>
          <p:cNvSpPr txBox="1"/>
          <p:nvPr/>
        </p:nvSpPr>
        <p:spPr>
          <a:xfrm>
            <a:off x="4191000" y="3759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Product safety game</a:t>
            </a:r>
            <a:endParaRPr lang="en-US" sz="1750" dirty="0"/>
          </a:p>
        </p:txBody>
      </p:sp>
      <p:sp>
        <p:nvSpPr>
          <p:cNvPr id="15" name="Text 13"/>
          <p:cNvSpPr txBox="1"/>
          <p:nvPr/>
        </p:nvSpPr>
        <p:spPr>
          <a:xfrm>
            <a:off x="4191000" y="4038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명세 state와 추상화 state를 결합</a:t>
            </a:r>
            <a:endParaRPr lang="en-US" sz="1500" dirty="0"/>
          </a:p>
        </p:txBody>
      </p:sp>
      <p:sp>
        <p:nvSpPr>
          <p:cNvPr id="16" name="Text 14"/>
          <p:cNvSpPr txBox="1"/>
          <p:nvPr/>
        </p:nvSpPr>
        <p:spPr>
          <a:xfrm>
            <a:off x="4191000" y="5092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Winning region W</a:t>
            </a:r>
            <a:endParaRPr lang="en-US" sz="1750" dirty="0"/>
          </a:p>
        </p:txBody>
      </p:sp>
      <p:sp>
        <p:nvSpPr>
          <p:cNvPr id="17" name="Text 15"/>
          <p:cNvSpPr txBox="1"/>
          <p:nvPr/>
        </p:nvSpPr>
        <p:spPr>
          <a:xfrm>
            <a:off x="4191000" y="5372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계속 안전을 강제할 수 있는 game states</a:t>
            </a:r>
            <a:endParaRPr lang="en-US" sz="150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12–13, Sec. 6, steps 1–2</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Safety game은 환경과 시스템이 번갈아 움직인다</a:t>
            </a:r>
            <a:endParaRPr lang="en-US" sz="3100" dirty="0"/>
          </a:p>
        </p:txBody>
      </p:sp>
      <p:sp>
        <p:nvSpPr>
          <p:cNvPr id="3" name="mechanism-lane-game"/>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한 game step</a:t>
            </a:r>
            <a:endParaRPr lang="en-US" sz="1250" dirty="0"/>
          </a:p>
        </p:txBody>
      </p:sp>
      <p:sp>
        <p:nvSpPr>
          <p:cNvPr id="4" name="mechanism-edge-g1-segment-1"/>
          <p:cNvSpPr/>
          <p:nvPr/>
        </p:nvSpPr>
        <p:spPr>
          <a:xfrm>
            <a:off x="38100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g2-segment-1"/>
          <p:cNvSpPr/>
          <p:nvPr/>
        </p:nvSpPr>
        <p:spPr>
          <a:xfrm>
            <a:off x="63627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g3-segment-1"/>
          <p:cNvSpPr/>
          <p:nvPr/>
        </p:nvSpPr>
        <p:spPr>
          <a:xfrm>
            <a:off x="89154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node-current"/>
          <p:cNvSpPr/>
          <p:nvPr/>
        </p:nvSpPr>
        <p:spPr>
          <a:xfrm>
            <a:off x="17399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현재 game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 = (q_spec, q_abs)</a:t>
            </a:r>
            <a:endParaRPr lang="en-US" sz="1150" dirty="0"/>
          </a:p>
        </p:txBody>
      </p:sp>
      <p:sp>
        <p:nvSpPr>
          <p:cNvPr id="8" name="mechanism-node-env"/>
          <p:cNvSpPr/>
          <p:nvPr/>
        </p:nvSpPr>
        <p:spPr>
          <a:xfrm>
            <a:off x="42926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환경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관찰 label l</a:t>
            </a:r>
            <a:endParaRPr lang="en-US" sz="1150" dirty="0"/>
          </a:p>
        </p:txBody>
      </p:sp>
      <p:sp>
        <p:nvSpPr>
          <p:cNvPr id="9" name="mechanism-node-system"/>
          <p:cNvSpPr/>
          <p:nvPr/>
        </p:nvSpPr>
        <p:spPr>
          <a:xfrm>
            <a:off x="68453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시스템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실행 action a</a:t>
            </a:r>
            <a:endParaRPr lang="en-US" sz="1150" dirty="0"/>
          </a:p>
        </p:txBody>
      </p:sp>
      <p:sp>
        <p:nvSpPr>
          <p:cNvPr id="10" name="mechanism-node-next"/>
          <p:cNvSpPr/>
          <p:nvPr/>
        </p:nvSpPr>
        <p:spPr>
          <a:xfrm>
            <a:off x="93980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game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δ(g,l,a)</a:t>
            </a:r>
            <a:endParaRPr lang="en-US" sz="115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Winning action은 가능한 환경 변화까지 고려한 뒤에도 W 안에 남게 하는 선택이다.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5–6, game definition; pp. 12–13, product game</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Winning region W의 의미</a:t>
            </a:r>
            <a:endParaRPr lang="en-US" sz="3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Shield의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 ∈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환경의 모든 허용 선택에 대응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 전략을 계속 이어갈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 ∉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환경이 장차 위반을 강제할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state로 가는 action을 허용하지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Reachable winning 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한 safe action이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Preemptive action set이 비지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 error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trace가 추상화 밖으로 나감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논문의 보장 조건이 깨졌다는 신호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W는 지금 안전한 state가 아니라 앞으로도 안전을 강제할 수 있는 state 집합이다.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6–7, planning ahead; pp. 13–16, W and correctness</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abstraction은 보수적이어야 하는가</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실제 dynamics</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next state가 확률적으로 가능</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Labeling</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안전 판단에 필요한 유한 label로 축약</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Abstraction</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가능한 label transition을 빠뜨리지 않음</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Game solving</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그 모든 경우에 안전한 action만 남김</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가능한 위험 전이를 누락하면 shield가 실제 위험을 안전하다고 오판할 수 있다.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6–8, Sec. 4 and Example 1</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Water tank에서 미리 막아야 하는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밸브를 바꾸면 최소 세 단계 유지해야 하므로 현재 수위만 보고 결정할 수 없다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4131056"/>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가능한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Shield 판단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Tank level이 너무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Outflow가 계속될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Inflow를 켜고 최소 level까지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Level이 93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Inflow가 초당 최대 2 L, outflow는 0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밸브를 새로 열지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Valve 변경 직후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3초 동안 mode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level 범위를 함께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Shield는 즉시 위반뿐 아니라 의무적으로 이어질 행동의 최악 경우까지 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7–8, Example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Preemptive shield: 선택 전에 후보를 줄인다</a:t>
            </a:r>
            <a:endParaRPr lang="en-US" sz="3100" dirty="0"/>
          </a:p>
        </p:txBody>
      </p:sp>
      <p:sp>
        <p:nvSpPr>
          <p:cNvPr id="3" name="mechanism-lane-pre"/>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Preemptive interface</a:t>
            </a:r>
            <a:endParaRPr lang="en-US" sz="1250" dirty="0"/>
          </a:p>
        </p:txBody>
      </p:sp>
      <p:sp>
        <p:nvSpPr>
          <p:cNvPr id="4" name="mechanism-edge-p1-segment-1"/>
          <p:cNvSpPr/>
          <p:nvPr/>
        </p:nvSpPr>
        <p:spPr>
          <a:xfrm>
            <a:off x="38100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p2-segment-1"/>
          <p:cNvSpPr/>
          <p:nvPr/>
        </p:nvSpPr>
        <p:spPr>
          <a:xfrm>
            <a:off x="63627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p3-segment-1"/>
          <p:cNvSpPr/>
          <p:nvPr/>
        </p:nvSpPr>
        <p:spPr>
          <a:xfrm>
            <a:off x="891540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node-shield"/>
          <p:cNvSpPr/>
          <p:nvPr/>
        </p:nvSpPr>
        <p:spPr>
          <a:xfrm>
            <a:off x="17399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Shield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관찰 label과 W를 확인</a:t>
            </a:r>
            <a:endParaRPr lang="en-US" sz="1150" dirty="0"/>
          </a:p>
        </p:txBody>
      </p:sp>
      <p:sp>
        <p:nvSpPr>
          <p:cNvPr id="8" name="mechanism-node-safe"/>
          <p:cNvSpPr txBox="1"/>
          <p:nvPr/>
        </p:nvSpPr>
        <p:spPr>
          <a:xfrm>
            <a:off x="4292600" y="30607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Safe action set</a:t>
            </a:r>
            <a:endParaRPr lang="en-US" sz="1150" dirty="0"/>
          </a:p>
        </p:txBody>
      </p:sp>
      <p:sp>
        <p:nvSpPr>
          <p:cNvPr id="9" name="mechanism-node-safe-queue-1"/>
          <p:cNvSpPr/>
          <p:nvPr/>
        </p:nvSpPr>
        <p:spPr>
          <a:xfrm>
            <a:off x="4292600" y="33147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a1</a:t>
            </a:r>
            <a:endParaRPr lang="en-US" sz="950" dirty="0"/>
          </a:p>
        </p:txBody>
      </p:sp>
      <p:sp>
        <p:nvSpPr>
          <p:cNvPr id="10" name="mechanism-node-safe-queue-2"/>
          <p:cNvSpPr/>
          <p:nvPr/>
        </p:nvSpPr>
        <p:spPr>
          <a:xfrm>
            <a:off x="4292600" y="35052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a2</a:t>
            </a:r>
            <a:endParaRPr lang="en-US" sz="950" dirty="0"/>
          </a:p>
        </p:txBody>
      </p:sp>
      <p:sp>
        <p:nvSpPr>
          <p:cNvPr id="11" name="mechanism-node-safe-queue-3"/>
          <p:cNvSpPr/>
          <p:nvPr/>
        </p:nvSpPr>
        <p:spPr>
          <a:xfrm>
            <a:off x="4292600" y="36957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t>
            </a:r>
            <a:endParaRPr lang="en-US" sz="950" dirty="0"/>
          </a:p>
        </p:txBody>
      </p:sp>
      <p:sp>
        <p:nvSpPr>
          <p:cNvPr id="12" name="mechanism-node-safe-queue-4"/>
          <p:cNvSpPr/>
          <p:nvPr/>
        </p:nvSpPr>
        <p:spPr>
          <a:xfrm>
            <a:off x="4292600" y="38862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ak</a:t>
            </a:r>
            <a:endParaRPr lang="en-US" sz="950" dirty="0"/>
          </a:p>
        </p:txBody>
      </p:sp>
      <p:sp>
        <p:nvSpPr>
          <p:cNvPr id="13" name="mechanism-node-agent"/>
          <p:cNvSpPr/>
          <p:nvPr/>
        </p:nvSpPr>
        <p:spPr>
          <a:xfrm>
            <a:off x="68453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Learning agent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집합 안에서 하나를 선택</a:t>
            </a:r>
            <a:endParaRPr lang="en-US" sz="1150" dirty="0"/>
          </a:p>
        </p:txBody>
      </p:sp>
      <p:sp>
        <p:nvSpPr>
          <p:cNvPr id="14" name="mechanism-node-env"/>
          <p:cNvSpPr/>
          <p:nvPr/>
        </p:nvSpPr>
        <p:spPr>
          <a:xfrm>
            <a:off x="9398000" y="32385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Environment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 action을 실행</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Learner는 처음부터 안전 action 집합 바깥을 선택할 수 없다.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9–11, Sec. 5.1 and Fig. 6</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Post-posed shield: 제안 뒤 실행 action을 정한다</a:t>
            </a:r>
            <a:endParaRPr lang="en-US" sz="3100" dirty="0"/>
          </a:p>
        </p:txBody>
      </p:sp>
      <p:sp>
        <p:nvSpPr>
          <p:cNvPr id="3" name="mechanism-lane-post"/>
          <p:cNvSpPr txBox="1"/>
          <p:nvPr/>
        </p:nvSpPr>
        <p:spPr>
          <a:xfrm>
            <a:off x="660400" y="1803400"/>
            <a:ext cx="863600" cy="35306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Post-posed interface</a:t>
            </a:r>
            <a:endParaRPr lang="en-US" sz="1250" dirty="0"/>
          </a:p>
        </p:txBody>
      </p:sp>
      <p:sp>
        <p:nvSpPr>
          <p:cNvPr id="4" name="mechanism-edge-q1-segment-1"/>
          <p:cNvSpPr/>
          <p:nvPr/>
        </p:nvSpPr>
        <p:spPr>
          <a:xfrm>
            <a:off x="329946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5" name="mechanism-edge-q2-segment-1"/>
          <p:cNvSpPr/>
          <p:nvPr/>
        </p:nvSpPr>
        <p:spPr>
          <a:xfrm>
            <a:off x="534162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q3-segment-1"/>
          <p:cNvSpPr/>
          <p:nvPr/>
        </p:nvSpPr>
        <p:spPr>
          <a:xfrm>
            <a:off x="738378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q4-segment-1"/>
          <p:cNvSpPr/>
          <p:nvPr/>
        </p:nvSpPr>
        <p:spPr>
          <a:xfrm>
            <a:off x="9425940" y="35687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agent"/>
          <p:cNvSpPr/>
          <p:nvPr/>
        </p:nvSpPr>
        <p:spPr>
          <a:xfrm>
            <a:off x="173990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Learning agent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Action 또는 ranking 제안</a:t>
            </a:r>
            <a:endParaRPr lang="en-US" sz="1150" dirty="0"/>
          </a:p>
        </p:txBody>
      </p:sp>
      <p:sp>
        <p:nvSpPr>
          <p:cNvPr id="9" name="mechanism-node-rank"/>
          <p:cNvSpPr txBox="1"/>
          <p:nvPr/>
        </p:nvSpPr>
        <p:spPr>
          <a:xfrm>
            <a:off x="3782060" y="31559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Action ranking</a:t>
            </a:r>
            <a:endParaRPr lang="en-US" sz="1150" dirty="0"/>
          </a:p>
        </p:txBody>
      </p:sp>
      <p:sp>
        <p:nvSpPr>
          <p:cNvPr id="10" name="mechanism-node-rank-queue-1"/>
          <p:cNvSpPr/>
          <p:nvPr/>
        </p:nvSpPr>
        <p:spPr>
          <a:xfrm>
            <a:off x="3782060" y="3409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1순위</a:t>
            </a:r>
            <a:endParaRPr lang="en-US" sz="950" dirty="0"/>
          </a:p>
        </p:txBody>
      </p:sp>
      <p:sp>
        <p:nvSpPr>
          <p:cNvPr id="11" name="mechanism-node-rank-queue-2"/>
          <p:cNvSpPr/>
          <p:nvPr/>
        </p:nvSpPr>
        <p:spPr>
          <a:xfrm>
            <a:off x="3782060" y="36004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2순위</a:t>
            </a:r>
            <a:endParaRPr lang="en-US" sz="950" dirty="0"/>
          </a:p>
        </p:txBody>
      </p:sp>
      <p:sp>
        <p:nvSpPr>
          <p:cNvPr id="12" name="mechanism-node-rank-queue-3"/>
          <p:cNvSpPr/>
          <p:nvPr/>
        </p:nvSpPr>
        <p:spPr>
          <a:xfrm>
            <a:off x="3782060" y="37909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3순위</a:t>
            </a:r>
            <a:endParaRPr lang="en-US" sz="950" dirty="0"/>
          </a:p>
        </p:txBody>
      </p:sp>
      <p:sp>
        <p:nvSpPr>
          <p:cNvPr id="13" name="mechanism-node-shield"/>
          <p:cNvSpPr/>
          <p:nvPr/>
        </p:nvSpPr>
        <p:spPr>
          <a:xfrm>
            <a:off x="582422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Shield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첫 safe action을 선택</a:t>
            </a:r>
            <a:endParaRPr lang="en-US" sz="1150" dirty="0"/>
          </a:p>
        </p:txBody>
      </p:sp>
      <p:sp>
        <p:nvSpPr>
          <p:cNvPr id="14" name="mechanism-node-env"/>
          <p:cNvSpPr/>
          <p:nvPr/>
        </p:nvSpPr>
        <p:spPr>
          <a:xfrm>
            <a:off x="786638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Environment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수정된 action을 실행</a:t>
            </a:r>
            <a:endParaRPr lang="en-US" sz="1150" dirty="0"/>
          </a:p>
        </p:txBody>
      </p:sp>
      <p:sp>
        <p:nvSpPr>
          <p:cNvPr id="15" name="mechanism-node-update"/>
          <p:cNvSpPr/>
          <p:nvPr/>
        </p:nvSpPr>
        <p:spPr>
          <a:xfrm>
            <a:off x="9908540" y="32385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Policy update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실행 action과 reward를 관찰</a:t>
            </a:r>
            <a:endParaRPr lang="en-US" sz="1150" dirty="0"/>
          </a:p>
        </p:txBody>
      </p:sp>
      <p:sp>
        <p:nvSpPr>
          <p:cNvPr id="16" name="Shape 14"/>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7" name="Text 15"/>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제안 action이 unsafe일 때만 shield가 safe action으로 교체한다.</a:t>
            </a:r>
            <a:endParaRPr lang="en-US" sz="1750" dirty="0"/>
          </a:p>
        </p:txBody>
      </p:sp>
      <p:sp>
        <p:nvSpPr>
          <p:cNvPr id="18" name="Shape 1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9" name="Text 1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11–12, Sec. 5.2 and Fig. 7</a:t>
            </a:r>
            <a:endParaRPr lang="en-US" sz="1050" dirty="0"/>
          </a:p>
        </p:txBody>
      </p:sp>
      <p:sp>
        <p:nvSpPr>
          <p:cNvPr id="20" name="Text 1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interface의 차이</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02234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Preemptive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Post-posed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위치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Learner의 선택 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Learner의 제안 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출력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 action들의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실제로 실행할 action 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 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Product state와 제한 action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state만으로도 동작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 proposal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애초에 선택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 action으로 교정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Deployment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제한된 action space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Fixed policy에도 덧붙일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방식은 같은 W를 사용하지만 learner와 shield 사이의 계약이 다르다.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9–12, Secs. 5.1–5.2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 go와 brake를 W로 판정한다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실험값이 아닌 interface 계산 예시이며 현재 game state g와 label near를 가정한다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913632"/>
                <a:gridCol w="2391664"/>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후보 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game state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 포함 여부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판정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δ(g, near, go) = g_bad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g_bad ∉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brake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δ(g, near, brake) = g_safe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g_safe ∈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예시의 safe action set은 정확히 {brake}다.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13–15, shield output definitions;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예시의 preemptive 실행</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관찰</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g, label near</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Filter</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 제거, brake 유지</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Learner input</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Safe set {brake}</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Learner가 brake를 선택</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Preemptive 방식에서는 unsafe action이 learner의 후보 목록에 나타나지 않는다.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9–11 and p. 13; constructed example</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예시의 post-posed 실행</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Learner ranking</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 brake]를 제안</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1순위 검사</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go는 successor가 W 밖</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2순위 검사</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brake는 successor가 W 안</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실행</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첫 safe action brake를 전달</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Ranking을 쓰면 shield는 learner의 선호를 가능한 범위에서 최대한 따른다.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11–12 and p. 15; constructed example</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교정된 action을 어떻게 학습에 반영하는가</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Unsafe proposal 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중요한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Punishment variant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제안한 unsafe action에 음의 reward 부여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Final policy에서 unsafe action이 사라진다는 보장은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No-punishment variant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실행된 safe action의 reward를 proposal에도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 proposal이 optimal policy에 남을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실행 action과 reward를 learner에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Learning과 deployment 모두 shield가 필요할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Shield가 안전을 담당하므로 learner가 unsafe action을 완전히 잊는다고 가정하지 않는다.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11–12, Sec. 5.2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Shield 합성 절차</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1. Automata</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Safety specification과 MDP abstraction 준비</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2. Product</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State space G = Q_spec × Q_abs 구성</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3. Game solve</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Safety winning region W 계산</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4. Interface</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Action set 또는 교정 action 출력</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5. Runtime</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Observer label과 action으로 shield state 갱신</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shielding 방식은 product game과 W 계산까지 같은 합성 절차를 공유한다.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12–15, Sec. 6</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Realizable해야 safe action이 계속 존재한다</a:t>
            </a:r>
            <a:endParaRPr lang="en-US" sz="3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478784"/>
                <a:gridCol w="369620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성립할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성립하지 않을 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game state가 W에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Winning strategy로 시작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처음부터 안전 강제가 불가능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환경이 abstraction을 따름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Game이 고려한 transition 안에서 전개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관찰된 trace가 모델 밖으로 나감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Shield가 W 안을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step 최소 한 action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Losing state에 들어가면 보장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명세가 존재한다는 것만으로 충분하지 않고 주어진 환경에서 강제 가능한 명세여야 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5–6, realizability and winning region; pp. 15–16, correctness</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정확성 보장은 조건부다</a:t>
            </a:r>
            <a:endParaRPr lang="en-US" sz="3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3804920"/>
                <a:gridCol w="3913632"/>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보장하지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Learning과 execution trace가 safety specification을 만족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환경이 abstraction에 부합하고 초기 state가 winning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밖의 행동이나 누락된 hazard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Preemptive safe action set이 비지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Reachable shield state가 W 안에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action을 허용한다는 의미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오류 state 진입은 abstraction 오류 뒤에만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Observer와 automata update가 정의대로 동작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 자체의 정확성 자동 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Shield의 formal guarantee는 specification과 abstraction이 덮는 동작에 한정된다.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13 and 15–16, game safe set and correctness proof</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Minimal interference의 정확한 의미</a:t>
            </a:r>
            <a:endParaRPr lang="en-US" sz="3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717800"/>
                <a:gridCol w="4783328"/>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오해하면 안 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왜 action을 막는가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Abstraction과 일치하는 어떤 MDP에서 위반 확률이 0보다 클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step에서 즉시 충돌한다는 뜻만은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이후 policy가 잘하면 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막힌 action 뒤에는 어떤 후속 policy라도 위험을 피하지 못하는 경우가 존재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평균적으로 안전하면 허용한다는 기준이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075267">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최소라는 뜻</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일치 MDP에서 안전을 보장하는 shield 중 덜 제한적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 loss나 regret의 최소값이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Minimal interference는 안전 제약의 최소성이지 성능 손실의 최적화가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16, Minimal Interference proof</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Convergence는 product MDP로 옮겨 생각한다</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67461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필요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결론의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Discrete MDP와 shield state의 product를 learner가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표준 MDP로 표현 가능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Preemptive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State별 action set이 shield로 제한됨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 product MDP에서의 convergence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Post-posed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Fallback safe-action 분포가 시간에 따라 변하지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Joint dynamics가 stationary 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algorithm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표준 MDP에서 원래 converge하는 알고리즘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종류의 convergence 이전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모든 neural RL의 수렴을 새로 증명한 것이 아니다.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16–17, Sec. 7</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안전 보장과 학습 보장을 분리해서 읽는다</a:t>
            </a:r>
            <a:endParaRPr lang="en-US" sz="31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제공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제공하지 않음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명세·추상화 범위에서 runtime trace 보호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명세 밖의 모든 현실 위험 제거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Shielded product MDP 안에서 learner가 최적화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원래 unconstrained MDP의 global optimum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 action 실행을 차단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safe state를 충분히 방문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Generalization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Observer가 구분한 label에 대응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학습하지 않은 state에서 neural policy 정확성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Model validity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Abstraction을 입력으로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 오류의 자동 탐지·복구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Formal safety theorem을 성능·탐색·미지 state 보장으로 확장해서 읽으면 안 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6, 15–17 and 22, definitions, proofs, conclusion</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1: Grid world</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Tabular Q-learning과 epsilon-greedy exploration, 9×9 및 15×9 환경</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13105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9×9</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15×9</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색 영역을 순서대로 방문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색 영역을 순서대로 방문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벽 회피 + bomb 위 2단계 초과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벽과 이동 opponent 충돌 회피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synthesis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정밀 abstraction, 2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정밀 abstraction, 0.6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관찰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Unshielded만 음의 reward 경험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Ranking 3·no penalty만 optimal path 발견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결과는 두 grid 설정과 비교 variant에 조건부이며 보편적 속도 향상 증거는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17–19, Sec. 8.1 and Fig. 11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2: Self-driving car simulation</a:t>
            </a:r>
            <a:endParaRPr lang="en-US" sz="3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89204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Environment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480×480 pixels, step당 3 pixels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시계 방향 주행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Action·turn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 heading outputs, 최대 7.5° 회전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벽 충돌 시 penalty와 restart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observation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차량 측면이 벽에서 60 pixels 이내인지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Preemptive·post-posed 모두 2 s 합성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Boltzmann exploration, 3 hidden layers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No-punishment shield가 더 빨리 학습하고 crash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Crash-free 결과는 이 simulator와 관찰 interface에서 보고된 결과다.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19–20, Sec. 8.2 and Fig. 12</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3: Atari Seaquest</a:t>
            </a:r>
            <a:endParaRPr lang="en-US" sz="3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956816"/>
                <a:gridCol w="3043936"/>
                <a:gridCol w="3370072"/>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Learner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Shield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화면 RGB image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Simulator state에서 proposition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관찰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Score 최대화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Oxygen 소진 전 수면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위반 없이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내부 변경 없는 black box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산소 충분·diver 없음이면 수면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plot은 유사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Interface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제안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Unsafe action만 교정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Shielded performance 저하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Shield는 learner의 RGB 입력과 별개인 simulator proposition을 사용했다.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19–20, Sec. 8.3 and Fig. 13</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4: Water tank</a:t>
            </a:r>
            <a:endParaRPr lang="en-US" sz="3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500376"/>
                <a:gridCol w="4783328"/>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Safety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Dry·overflow 방지, mode 변경 뒤 3단계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Post-posed shield가 제약 강제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Concrete 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State-dependent energy, 여러 local minima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Q-learning과 SARSA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 synthesis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Specification 두 개와 abstraction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s 미만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Shielded·unshielded 모두 optimum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Shielded가 더 적은 episode에 optimum 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환경에서는 안전 제한이 탐색을 줄여 최적 policy 도달을 앞당겼다.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 21, Sec. 8.4 and Fig. 14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 실험을 같은 기준으로 읽기</a:t>
            </a:r>
            <a:endParaRPr lang="en-US" sz="3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1739392"/>
                <a:gridCol w="2609088"/>
                <a:gridCol w="3804920"/>
                <a:gridCol w="271780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Domain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Learner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Shield에 필요한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Tabular Q-learning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정밀 grid abstraction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위반 penalty 회피와 경로 차이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벽까지 60-pixel proximity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crash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Seaquest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RGB DQN black box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Simulator propositions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성능 유지와 명세 위반 방지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8064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Water tank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Q-learning·SARSA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Tank dynamics abstraction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Optimum 도달 episode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공통점은 learner 종류가 아니라 안전 관찰과 abstraction을 별도로 제공했다는 점이다.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17–21, Sec. 8</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적용 전에 확인할 한계</a:t>
            </a:r>
            <a:endParaRPr lang="en-US" sz="3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391664"/>
                <a:gridCol w="45659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실무 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Abstraction 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위험 action의 미래 결과를 알아야 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가능한 hazard transition을 빠뜨렸는가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Specification coverage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적지 않은 위험은 shield가 알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현실의 안전 요구가 automaton에 들어갔는가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Observer 신뢰성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잘못된 label은 잘못된 game state를 만듦</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Sensor·perception error를 어떻게 다루는가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Conservatism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과도한 transition은 safe action을 줄임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안전성과 행동 자유도의 균형은 어떤가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 dependency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Learned policy가 unsafe proposal을 유지할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 중 shield를 계속 운영할 수 있는가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Shielding은 model-free safety가 아니라 행동 경계의 formal model이다.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21–22, Conclusion</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핵심 흐름을 한 번 더 연결하면</a:t>
            </a:r>
            <a:endParaRPr lang="en-US" sz="3100" dirty="0"/>
          </a:p>
        </p:txBody>
      </p:sp>
      <p:sp>
        <p:nvSpPr>
          <p:cNvPr id="3" name="Text 1"/>
          <p:cNvSpPr txBox="1"/>
          <p:nvPr/>
        </p:nvSpPr>
        <p:spPr>
          <a:xfrm>
            <a:off x="660400" y="17018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Specify</a:t>
            </a:r>
            <a:endParaRPr lang="en-US" sz="1900" dirty="0"/>
          </a:p>
        </p:txBody>
      </p:sp>
      <p:sp>
        <p:nvSpPr>
          <p:cNvPr id="5" name="Text 3"/>
          <p:cNvSpPr txBox="1"/>
          <p:nvPr/>
        </p:nvSpPr>
        <p:spPr>
          <a:xfrm>
            <a:off x="4152900" y="17018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Safety condition을 automaton으로 표현</a:t>
            </a:r>
            <a:endParaRPr lang="en-US" sz="1650" dirty="0"/>
          </a:p>
        </p:txBody>
      </p:sp>
      <p:sp>
        <p:nvSpPr>
          <p:cNvPr id="6" name="Shape 4"/>
          <p:cNvSpPr/>
          <p:nvPr/>
        </p:nvSpPr>
        <p:spPr>
          <a:xfrm>
            <a:off x="1397000" y="2286000"/>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2987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4765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4765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Abstract</a:t>
            </a:r>
            <a:endParaRPr lang="en-US" sz="1900" dirty="0"/>
          </a:p>
        </p:txBody>
      </p:sp>
      <p:sp>
        <p:nvSpPr>
          <p:cNvPr id="10" name="Text 8"/>
          <p:cNvSpPr txBox="1"/>
          <p:nvPr/>
        </p:nvSpPr>
        <p:spPr>
          <a:xfrm>
            <a:off x="4152900" y="24765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가능한 환경 변화를 보수적으로 표현</a:t>
            </a:r>
            <a:endParaRPr lang="en-US" sz="1650" dirty="0"/>
          </a:p>
        </p:txBody>
      </p:sp>
      <p:sp>
        <p:nvSpPr>
          <p:cNvPr id="11" name="Shape 9"/>
          <p:cNvSpPr/>
          <p:nvPr/>
        </p:nvSpPr>
        <p:spPr>
          <a:xfrm>
            <a:off x="1397000" y="306070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0734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2512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2512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Synthesize</a:t>
            </a:r>
            <a:endParaRPr lang="en-US" sz="1900" dirty="0"/>
          </a:p>
        </p:txBody>
      </p:sp>
      <p:sp>
        <p:nvSpPr>
          <p:cNvPr id="15" name="Text 13"/>
          <p:cNvSpPr txBox="1"/>
          <p:nvPr/>
        </p:nvSpPr>
        <p:spPr>
          <a:xfrm>
            <a:off x="4152900" y="32512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Product game에서 winning region 계산</a:t>
            </a:r>
            <a:endParaRPr lang="en-US" sz="1650" dirty="0"/>
          </a:p>
        </p:txBody>
      </p:sp>
      <p:sp>
        <p:nvSpPr>
          <p:cNvPr id="16" name="Shape 14"/>
          <p:cNvSpPr/>
          <p:nvPr/>
        </p:nvSpPr>
        <p:spPr>
          <a:xfrm>
            <a:off x="1397000" y="3835400"/>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38481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0259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0259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Shield</a:t>
            </a:r>
            <a:endParaRPr lang="en-US" sz="1900" dirty="0"/>
          </a:p>
        </p:txBody>
      </p:sp>
      <p:sp>
        <p:nvSpPr>
          <p:cNvPr id="20" name="Text 18"/>
          <p:cNvSpPr txBox="1"/>
          <p:nvPr/>
        </p:nvSpPr>
        <p:spPr>
          <a:xfrm>
            <a:off x="4152900" y="40259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 전 filter 또는 선택 후 override</a:t>
            </a:r>
            <a:endParaRPr lang="en-US" sz="1650" dirty="0"/>
          </a:p>
        </p:txBody>
      </p:sp>
      <p:sp>
        <p:nvSpPr>
          <p:cNvPr id="21" name="Shape 19"/>
          <p:cNvSpPr/>
          <p:nvPr/>
        </p:nvSpPr>
        <p:spPr>
          <a:xfrm>
            <a:off x="1397000" y="46101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850900" y="462280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3" name="Text 21"/>
          <p:cNvSpPr txBox="1"/>
          <p:nvPr/>
        </p:nvSpPr>
        <p:spPr>
          <a:xfrm>
            <a:off x="660400" y="4800600"/>
            <a:ext cx="571500" cy="57150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4" name="Text 22"/>
          <p:cNvSpPr txBox="1"/>
          <p:nvPr/>
        </p:nvSpPr>
        <p:spPr>
          <a:xfrm>
            <a:off x="1397000" y="4800600"/>
            <a:ext cx="2603500" cy="57150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Learn</a:t>
            </a:r>
            <a:endParaRPr lang="en-US" sz="1900" dirty="0"/>
          </a:p>
        </p:txBody>
      </p:sp>
      <p:sp>
        <p:nvSpPr>
          <p:cNvPr id="25" name="Text 23"/>
          <p:cNvSpPr txBox="1"/>
          <p:nvPr/>
        </p:nvSpPr>
        <p:spPr>
          <a:xfrm>
            <a:off x="4152900" y="4800600"/>
            <a:ext cx="7378700" cy="57150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안전 범위 안에서 reward를 최적화</a:t>
            </a:r>
            <a:endParaRPr lang="en-US" sz="1650" dirty="0"/>
          </a:p>
        </p:txBody>
      </p:sp>
      <p:sp>
        <p:nvSpPr>
          <p:cNvPr id="26" name="Shape 24"/>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7" name="Shape 2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8" name="Text 2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Shielding은 안전과 학습을 분리해 실행 경계에서 결합한다.</a:t>
            </a:r>
            <a:endParaRPr lang="en-US" sz="1750" dirty="0"/>
          </a:p>
        </p:txBody>
      </p:sp>
      <p:sp>
        <p:nvSpPr>
          <p:cNvPr id="29" name="Shape 2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0" name="Text 2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arxiv-paper pp. 1–2, 12–17, and 21–22</a:t>
            </a:r>
            <a:endParaRPr lang="en-US" sz="1050" dirty="0"/>
          </a:p>
        </p:txBody>
      </p:sp>
      <p:sp>
        <p:nvSpPr>
          <p:cNvPr id="31" name="Text 2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Shielding으로 안전한 강화학습 만들기</dc:title>
  <dc:subject>Safe Reinforcement Learning via Shielding</dc:subject>
  <dc:creator>Research Seminars</dc:creator>
  <cp:lastModifiedBy>Research Seminars</cp:lastModifiedBy>
  <cp:revision>1</cp:revision>
  <dcterms:created xsi:type="dcterms:W3CDTF">2026-09-12T05:13:15Z</dcterms:created>
  <dcterms:modified xsi:type="dcterms:W3CDTF">2026-09-12T05:13:15Z</dcterms:modified>
</cp:coreProperties>
</file>
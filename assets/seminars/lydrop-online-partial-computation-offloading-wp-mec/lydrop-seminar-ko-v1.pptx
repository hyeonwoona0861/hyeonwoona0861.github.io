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slides/slide17.xml" ContentType="application/vnd.openxmlformats-officedocument.presentationml.slide+xml"/>
  <Override PartName="/ppt/slides/slide10.xml" ContentType="application/vnd.openxmlformats-officedocument.presentationml.slide+xml"/>
  <Override PartName="/ppt/slides/slide12.xml" ContentType="application/vnd.openxmlformats-officedocument.presentationml.slide+xml"/>
  <Override PartName="/ppt/slides/slide19.xml" ContentType="application/vnd.openxmlformats-officedocument.presentationml.slide+xml"/>
  <Override PartName="/ppt/slides/slide11.xml" ContentType="application/vnd.openxmlformats-officedocument.presentationml.slide+xml"/>
  <Override PartName="/ppt/slides/slide2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2.xml" ContentType="application/vnd.openxmlformats-officedocument.presentationml.slide+xml"/>
  <Override PartName="/ppt/slides/slide6.xml" ContentType="application/vnd.openxmlformats-officedocument.presentationml.slide+xml"/>
  <Override PartName="/ppt/slides/slide1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13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8.xml" ContentType="application/vnd.openxmlformats-officedocument.presentationml.slide+xml"/>
  <Override PartName="/ppt/slides/slide14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Slides/notesSlide8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7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defRPr>
            </a:lvl1pPr>
          </a:lstStyle>
          <a:p>
            <a:pPr indent="0" algn="r">
              <a:buNone/>
            </a:pPr>
            <a:fld id="{149213B6-DC6D-4C92-B520-4C5012E8A28B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Noto Sans CJK KR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 LyDROP: WP-MEC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 오프로딩의 온라인 제어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어떤 온라인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WP-MEC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문제를 풀려 하는지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부분 오프로딩 비율과 연속 자원을 어떻게 나누는지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모델 기반 최적화가 어떤 순서로 협력하는지를 소개합니다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LyDROP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이 논문의 이름이며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다른 유사 약칭의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방법과 같은 모델이라고 가정하지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title, abstract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5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9D008D70-1B4A-4383-9D30-02357D618E7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8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왜 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마다 다시 결정해야 하는가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시간에 따라 달라지는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 task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있는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wireless powered MEC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다룹니다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먼저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수행하는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partial-offload decision delta, WPT duration a, transmission time 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정합니다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여기서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안의 단계들은 순서이지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동일한 물리 시간 간격을 뜻하는 축이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1–4, §§1–3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8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9590D22-A459-4A6F-A5C9-68A403452FF0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물리적 분할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전력 수확에서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까지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그림은 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system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교육용으로 압축한 관계도입니다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WPT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channel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얻는 에너지이고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delta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 에너지를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나누는 비율입니다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쓸 시간 비율입니다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execution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 feedback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경량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저부하 조건에서 무시하므로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모든 실제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MEC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포괄한다고 해석하면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4–5, Eqs. 1–9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621612D-1E77-453A-A111-79F883C029B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4. delta: binary route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아닌 연속 에너지 분할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WD 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harvested energy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중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 offloading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쓰는 비율입니다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1-delta_i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computation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배정됩니다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중간값은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전체를 반으로 자르는 별도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routing label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아니라 에너지 분할에서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offloaded 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동시에 처리되는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partial-offloading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delta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frequency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transmit power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부르면 원문 변수의 역할이 바뀝니다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4–5, Eqs. 1–6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4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843FD8A-8131-4F9B-A30F-F6F5797B8C4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5.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budget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넘을 수 없다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data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시작 시 쌓인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Q_i(t)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넘을 수 없고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끝난 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new task arrival R_i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더해집니다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정의되어 있으며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current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input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목록에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수확 에너지를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소진하는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사용하므로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controller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inter-frame battery 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virtual energy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4–6, Eqs. 9–11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7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EDA1A55-38F6-44FE-BDC8-DA946FC5947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39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6.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강의용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분할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·queue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확인한다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예시는 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normalized frame T=1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가정한 강의용 계산입니다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sigma=0.5, P_a=4, h=1, tau=0.25, k=0.125, phi=1, B=1, chi=1, N_0=0.1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E=1 J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delta=0.5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식에서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local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1.587 bits, offloaded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1.098 bits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값들은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radio calibration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원문 측정치가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계산 목적은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service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제약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D&lt;=Q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arrival-after-service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순서를 확인하는 것입니다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4–6, Eqs. 1–10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0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29D5160-CF3C-4A36-82C3-A5C7B0DD48A4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7. 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장기 목표를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frame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long-term average weighted computation rate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최대화와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strong data-queue stability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함께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Lemma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drift-plus-penalty upper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유도하고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상수항을 제외해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per-frame maximization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P2 score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Q_i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backlog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WD service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더 가치 있게 만들고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omega_i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항은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반영합니다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inspected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학습된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O(1/V), O(V)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혹은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approximation-gap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주는 정리가 보이지 않으므로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그러한 보장을 주장하지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p. 6, Eqs. 11–16; Lemma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3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503C3340-DA42-4F70-B5AE-D0FAABB772B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omega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하는 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sum_i (Q_i(t)+V omega_i) r_i(t)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maximize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하는 형태입니다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슬라이드는 그 식을 새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처럼 확장하지 않고 각 항의 직관만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queue term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build-up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고려하기 위한 현재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정보이고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omega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weight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 sweep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특정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결과이므로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관계를 일반적 단조 법칙이라고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p. 6, Eqs. 14–16; p. 10, Fig.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5400375-6DF2-4874-B5D3-19CB2D5FFBAD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0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9. LyDROP: DNN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제안과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model-based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선택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current 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partial-offloading action delta-hat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출력합니다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2K+1 candidate decisions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만들고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각각을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평가해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maximum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delta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고정되면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convex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되어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Lagrange duality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bisection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이 논문의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neural value network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PPO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부르면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7–9, Fig. 3;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9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0D44F49-3449-4865-867E-752EA70E7EE3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10. two constructions: fixed vs adopted PNOP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quantization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원문이 채택한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noisy-order-preserving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delta-hat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와의 거리로 정렬하고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shifted candidates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Gaussian white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0/1 threshold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그림이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noisy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weighted sum computation rate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더 높지만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average data queue length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더 높으므로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낮췄다고 말하면 안 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7–8, Eqs. 17–20;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2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57B37C8-A49A-48AC-8AE8-1D89958067EE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11. noisy order: near-0.5 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순서를 사용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slide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vector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teaching sketch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paper experiment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원문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Eq. 18–20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distance ordering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shifted/noisy candidate construction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정의합니다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Fig. 16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output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가까운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entry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기준으로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residual and absolute-value 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발표에서는 모든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detailed modular operation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외우기보다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partial energy ratio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order-preserving 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exploration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위한 방법이라는 구분을 유지하는 편이 중요합니다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7–8, Eqs. 18–20; p. 13, Fig. 16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A9E1E60-6F90-48E0-8199-B754CB24E99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1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12. fixed delta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뒤의 연속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solve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delta_i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될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tau_i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대한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convex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관찰됩니다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Lagrange multiplier 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도입하고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dual problem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만든 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Eqs. 26–28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dichotomy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bisection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얻습니다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solver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낸 후보 각각의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resource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가능하게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하지만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DNN candidate generation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original P1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exact global solver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주장은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뒷받침하지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8–9, Eqs. 21–28; Algorithm 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8" name="PlaceHolder 3"/>
          <p:cNvSpPr>
            <a:spLocks noGrp="1"/>
          </p:cNvSpPr>
          <p:nvPr>
            <p:ph type="sldNum" idx="1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C5BBCEE5-82E1-4883-8219-87D6ECED82B2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13. bisection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dual 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찾는다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lower and upper bound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두고 반복하며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Omega(epsilon)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monotonicity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이용합니다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3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뒤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epsilon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dichotomy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얻고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Eqs. 26–27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tau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 star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계산합니다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Appendix Lemmas 2–3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Lambert-W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포함한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derivation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발표에서는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scoring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계산 역할을 강조하고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Appendix algebra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새로운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runtime 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guarantee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확장하지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p. 9, Eq. 28; Algorithm 2; Appendix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PlaceHolder 3"/>
          <p:cNvSpPr>
            <a:spLocks noGrp="1"/>
          </p:cNvSpPr>
          <p:nvPr>
            <p:ph type="sldNum" idx="1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C7BE18E-660F-46CF-B8A6-DB849C16CFE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14. online action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periodic DNN training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 input, DNN output, candidate quantization, P2 evaluation, joint action execution, replay memory renewal, periodic DNN training, queue renewal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순서를 적습니다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replay sample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(xi, delta)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표시합니다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Algorithm 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G(delta, xi)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추가해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갱신한다고 적고 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memory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뽑은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batch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주기적으로 학습하지만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xi, delta, 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라는 세 개 필드를 가진 저장 레코드의 명세로 단정하지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gamma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training interval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on-device DNN training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deployed power consumption 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current arrival 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renewal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포함되며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actor input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구성하는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h,Q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분리되어 있습니다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7-8, Fig. 3 and Algorithm 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PlaceHolder 3"/>
          <p:cNvSpPr>
            <a:spLocks noGrp="1"/>
          </p:cNvSpPr>
          <p:nvPr>
            <p:ph type="sldNum" idx="1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30E7740-1A26-45AB-A54E-B60C4815A16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 결과는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설정 안에서 읽어야 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bandwidth B=2 MHz, energy efficiency coefficient k_i=10^-26, sigma=0.51, AP transmit power 3 W, phi=100, receiver noise power 10^-10 W, chi=1.1, T=1 s, V=36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channel gain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i.i.d. Rician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task arrivals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equal mean exponential distribution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실험에서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WDs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위치는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발표에서는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simulator 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deployed WPT throughput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device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바꾸지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p. 9, Table III; §5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7" name="PlaceHolder 3"/>
          <p:cNvSpPr>
            <a:spLocks noGrp="1"/>
          </p:cNvSpPr>
          <p:nvPr>
            <p:ph type="sldNum" idx="1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77CA50F9-6AFD-4CE8-BB4F-476AAB83B2CA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 Table II: noisy choice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rate·queue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결과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II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order-preserving quantization and noisy-order-preserving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noisy column has weighted sum computation rate 7.9523 versus 7.6573, while its average data queue length is 3.4037 versus 2.0842.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 backlog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acceptable range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라고 보아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noisy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subsequent experiments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채택합니다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따라서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줄였다는 문장은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values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맞지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p. 8, Table II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0" name="PlaceHolder 3"/>
          <p:cNvSpPr>
            <a:spLocks noGrp="1"/>
          </p:cNvSpPr>
          <p:nvPr>
            <p:ph type="sldNum" idx="1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11D44C8E-FFCD-433D-A3CB-93563A8E63C6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17. 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simulation tuning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변수다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 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 value 8, 9,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computation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각각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0.1833, 0.1636, 0.1551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적혀 있고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table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printed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5 and Table IV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결합해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K=10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noisy-order-preserving groups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수로 선택합니다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6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task arrival rate kappa_i=8 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두고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변화시킵니다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발표자는 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result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universal monotonic rule or hardware benchmark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부르지 않아야 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9–10, Table IV; Figs. 5–6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3" name="PlaceHolder 3"/>
          <p:cNvSpPr>
            <a:spLocks noGrp="1"/>
          </p:cNvSpPr>
          <p:nvPr>
            <p:ph type="sldNum" idx="2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F231647-AE36-4538-B708-B1F195EBF0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18. 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어떤 방식으로 반영하는지에서 다르다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Section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LyCD, LyRPO, Myopic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LyCD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randomly generated partial-offloading decisions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부터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coordinate descent and Lagrange duality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쓰는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설명됩니다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LyRPO is described as randomly generating partial offloading strategies. Myopic solves weighted sum computation rate without queue backlog.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표는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generic coordinate-descent or myopic-control definition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제공하지 않고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해당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baselines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구성한 방식만 요약합니다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9–10, §5; Eq. 29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PlaceHolder 3"/>
          <p:cNvSpPr>
            <a:spLocks noGrp="1"/>
          </p:cNvSpPr>
          <p:nvPr>
            <p:ph type="sldNum" idx="2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DB6C0AE1-376A-4454-B443-9D3C7CB5AAFF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19. 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비교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: trace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구분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Figs. 7, 8, 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N=10, 20, 30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n=10000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 traces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Fig. 7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본문은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kappa_i=8 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omega_i=1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명시합니다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Table V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CPU calculation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program total execution duration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set total time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나눈 값입니다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N=20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LyCD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3.68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N=30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16.39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배라고 보고합니다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값은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AP-to-WD latency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energy-harvesting delay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아니라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computational program-time comparison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10–11, Figs. 7–9; Table V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9" name="PlaceHolder 3"/>
          <p:cNvSpPr>
            <a:spLocks noGrp="1"/>
          </p:cNvSpPr>
          <p:nvPr>
            <p:ph type="sldNum" idx="2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21735B17-A2FE-4EBF-9D4D-4099BCECD94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20. priority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arrival sweep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도 조건을 붙여 읽는다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Figs. 10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even-numbered WD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omega_i=1.2, odd-numbered WD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Figs. 12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13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task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바꿉니다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average arrival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 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8.25 Mbps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오를 때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Myopic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다른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보다 최소 두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orders of magnitude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커지며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unstable points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그리지 않았다고 설명합니다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stated simulation series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trained DNN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전체 부하 안정성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아닙니다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11–12, Figs. 10–13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2" name="PlaceHolder 3"/>
          <p:cNvSpPr>
            <a:spLocks noGrp="1"/>
          </p:cNvSpPr>
          <p:nvPr>
            <p:ph type="sldNum" idx="2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B746FF0B-2CCD-4BEE-AAB3-455E0F33B1E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21. Melbourne: location-based simulation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BS 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latitude/longitude (-37.81517, 144.97476)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 두고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stated coordinate rectangle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816 groups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nearby users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고릅니다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Figs. 14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15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user quantity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바꾸어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algorithms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비교합니다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논문은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Melbourne real-world dataset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이라고 부르지만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system model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reported curves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location-based simulation evaluation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source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field WPT measurement, battery trace, production MEC runtime measurement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보고하지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12–13, Figs. 14–15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5" name="PlaceHolder 3"/>
          <p:cNvSpPr>
            <a:spLocks noGrp="1"/>
          </p:cNvSpPr>
          <p:nvPr>
            <p:ph type="sldNum" idx="2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F4FCB16E-A1FC-4E84-BBBC-6B1ED611E447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22.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모델 가정은 결과를 어디까지 일반화할지 정한다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rate derivation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harvested energy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time frame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안에서 사용하고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t_i star=T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둡니다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conclusion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one AP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fixed-location WDs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명시하며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multi-AP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및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mobile-WD case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future work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듭니다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p. 5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AP compute/feedback-delay omission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lightweight, medium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 load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low-latency network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한정됩니다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Lemma 1 drift derivation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fixed-delta solver lemmas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가 있지만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, every learned DNN candidate policy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global optimality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arbitrary deployment condition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에서의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asymptotic guarantee theorem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없습니다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5–6, 13–14; §§3, 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PlaceHolder 3"/>
          <p:cNvSpPr>
            <a:spLocks noGrp="1"/>
          </p:cNvSpPr>
          <p:nvPr>
            <p:ph type="sldNum" idx="2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9AD5E21-3F68-4147-9390-A52EC70F2BFC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45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23. LyDROP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이해하는 네 연결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발표 대본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마지막으로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변수 역할을 구분합니다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WPT duration, delta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harvested-energy split, tau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uplink-time allocation, Q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real data queue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입니다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DNN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relaxed partial decision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outputs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하고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candidate quantization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search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넓힙니다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model-based critic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fixed candidate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를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P2 resource allocation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으로 평가합니다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experimental evidence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paper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의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stated simulator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와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location-based evaluation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조건에 한정됩니다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이 구분으로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LyDROP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을 단순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binary label 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또는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learned-value-critic method</a:t>
            </a: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로 오해하지 않습니다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ko-KR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공개 출처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ieee-paper | pp. 4–13, §§3–6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IEEE Transactions on Cognitive Communications and Networking paper record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https://doi.org/10.1109/TCCN.2025.3612741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1" name="PlaceHolder 3"/>
          <p:cNvSpPr>
            <a:spLocks noGrp="1"/>
          </p:cNvSpPr>
          <p:nvPr>
            <p:ph type="sldNum" idx="2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</a:pPr>
            <a:fld id="{EC485BC8-E2AC-4DA6-8565-AFE9DFDE5358}" type="slidenum">
              <a:rPr lang="en-US" sz="18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800" b="0" u="none" strike="noStrike">
              <a:solidFill>
                <a:srgbClr val="000000"/>
              </a:solidFill>
              <a:effectLst/>
              <a:uFillTx/>
              <a:latin typeface="Noto Sans CJK KR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buNone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</a:lstStyle>
          <a:p>
            <a:pPr indent="0" algn="l">
              <a:buNone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pleGothic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0" y="0"/>
            <a:ext cx="215640" cy="6857640"/>
          </a:xfrm>
          <a:prstGeom prst="rect">
            <a:avLst/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" name="Text 1"/>
          <p:cNvSpPr/>
          <p:nvPr/>
        </p:nvSpPr>
        <p:spPr>
          <a:xfrm>
            <a:off x="888840" y="888840"/>
            <a:ext cx="8762760" cy="1345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LyDROP: WP-MEC </a:t>
            </a:r>
            <a:r>
              <a:rPr lang="ko-KR" sz="40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 오프로딩의 온라인 제어</a:t>
            </a:r>
            <a:endParaRPr lang="en-US" sz="4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Text 2"/>
          <p:cNvSpPr/>
          <p:nvPr/>
        </p:nvSpPr>
        <p:spPr>
          <a:xfrm>
            <a:off x="888840" y="2413080"/>
            <a:ext cx="9651600" cy="133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Partial Computation Offloading Optimization in Wireless Powered Mobile Edge Computing Network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Shape 3"/>
          <p:cNvSpPr/>
          <p:nvPr/>
        </p:nvSpPr>
        <p:spPr>
          <a:xfrm>
            <a:off x="888840" y="4076640"/>
            <a:ext cx="965196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" name="Text 4"/>
          <p:cNvSpPr/>
          <p:nvPr/>
        </p:nvSpPr>
        <p:spPr>
          <a:xfrm>
            <a:off x="888840" y="4368960"/>
            <a:ext cx="965160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Lu Sun, Rina Liang, Liangtian Wan, Kaihui Liu, Zhaolong Ning, Jie Wang (2026)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5"/>
          <p:cNvSpPr/>
          <p:nvPr/>
        </p:nvSpPr>
        <p:spPr>
          <a:xfrm>
            <a:off x="888840" y="5245200"/>
            <a:ext cx="9651600" cy="57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무선 전력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 에너지 분할</a:t>
            </a:r>
            <a:r>
              <a:rPr lang="en-US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uplink </a:t>
            </a:r>
            <a:r>
              <a:rPr lang="ko-KR" sz="175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시간을 함께 정해 데이터 큐를 다룬다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Shape 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" name="Text 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title, abstract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왜 매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다시 결정해야 하는가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task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도착이 변하면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전력 수확과 데이터 처리의 균형도 함께 바뀐다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channel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수확 가능한 에너지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달라진다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기다리는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가치를 바꾼다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공유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WPT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시간과 모든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uplink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시간이 경쟁한다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온라인 </a:t>
            </a: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control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이번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delta, a, tau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선택한다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0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1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고정된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선택이 아니라 매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공동 자원 결정을 다룬다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3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1–4, §§1–3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물리적 분할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전력 수확에서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까지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WPT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에너지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만들고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uplink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시간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local·offload service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결정한다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mechanism-lane-frame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WD, one frame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mechanism-edge-wpt-harvest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49" name="mechanism-edge-e-split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0" name="mechanism-edge-split-tau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1" name="mechanism-edge-tau-data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2" name="mechanism-node-wpt"/>
          <p:cNvSpPr/>
          <p:nvPr/>
        </p:nvSpPr>
        <p:spPr>
          <a:xfrm>
            <a:off x="17398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AP WPT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WPT: 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power transfer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mechanism-node-harvest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 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E=sigma P_a h aT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 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mechanism-node-split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split delta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 (1-d)E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dE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mechanism-node-resource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uplink tau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tau_i per WD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a+sumtau&lt;=1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mechanism-node-service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data 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D=D_L+D_O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 &lt;= 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58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a, delta, tau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자원 결정이며 하나의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 label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합치면 안 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0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4–5, Eqs. 1–9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delta: binary route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아닌 연속 에너지 분할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1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사이의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offload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처리량을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함께 만들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5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6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7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8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69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0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1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2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3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4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75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harvested 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쓸 수 있는 에너지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delta = 0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 = D_L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0 &lt; delta &lt; 1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두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branch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분할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 = D_L + D_O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delta = 1</a:t>
            </a:r>
            <a:r>
              <a:rPr lang="ko-KR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도 가능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모든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배정할 수 있다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decision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어떤 비율이 좋은지는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h, Q, a, tau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의존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86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4–5, Eqs. 1–6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현재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budget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넘을 수 없다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arrival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이번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들어오므로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현재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구분된다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90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3043800"/>
                <a:gridCol w="40222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제약 또는 상태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잘못 읽기 쉬운 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 + sum tau &lt;= 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WPT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WD uplink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공유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tau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독립 선택하지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D_i &lt;= Q_i(t)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있던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가능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미리 처리하지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Q_i(next) = Q_i - D_i + R_i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 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더한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virtual energy queue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 state xi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current 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actor input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으로 명시되지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1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2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update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순서를 지켜야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offloading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인과관계가 보인다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94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4–6, Eqs. 9–11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강의용 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계산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분할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제약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·queue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함께 확인한다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아래 수치는 논문 실험값이 아니라 식의 인과관계를 보이는 재계산 예시다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energy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a=0.5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E=0.5×4×1×0.5×1 = 1 J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2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3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split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delta=0.5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offload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 J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7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08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D_L=1.587, D_O=1.098, total D=2.685 bits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2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3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causal checks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a+tau=0.75&lt;=1, D=2.685&lt;=Q=3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7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18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next queue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 R=0.2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Q(next)=3−2.685+0.2=0.515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2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3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수확 에너지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, shared time,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현재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검사를 통과한 뒤에만 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더한다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25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4–6, Eqs. 1–10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P1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장기 목표를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현재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 score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Lyapunov drift-plus-penalty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backlog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computation 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같은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결정에 넣는다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1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5658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수준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원문의 질문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발표에서 읽을 핵심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P1 long run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높이고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strong data-queue stability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만족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장기 목표와 제약을 정의한다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Lyapunov 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 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제곱합으로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congestion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표현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큰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미처리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data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많음을 뜻한다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 per frame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Q_i + V omega_i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가중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backlog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선호를 함께 반영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V &gt; 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penalty scaling parameter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tuning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관찰을 보장으로 바꾸지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이번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비교하는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learned-policy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최적성 정리는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p. 6, Eqs. 11–16; Lemma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omega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하는 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Q_i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 omega_i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곱해진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current computation 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높이려 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Q_i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크면 오래 기다린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data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하는 항의 비중이 커진다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omega_i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device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weighted-rate priority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표현한다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 objective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scale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조절하는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control parameter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3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만으로 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future channel·arrival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예측하거나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 policy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안정성을 증명하지는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5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backlog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반영한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current-frame rate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기준이다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47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p. 6, Eqs. 14–16; p. 10, Fig.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LyDROP: DNN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제안과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model-based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선택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relaxed delta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제안하고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critic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 resource solve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최종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joint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고른다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mechanism-lane-control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one-frame control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mechanism-edge-e1-segment-1"/>
          <p:cNvSpPr/>
          <p:nvPr/>
        </p:nvSpPr>
        <p:spPr>
          <a:xfrm>
            <a:off x="3299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3" name="mechanism-edge-e2-segment-1"/>
          <p:cNvSpPr/>
          <p:nvPr/>
        </p:nvSpPr>
        <p:spPr>
          <a:xfrm>
            <a:off x="534132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4" name="mechanism-edge-e3-segment-1"/>
          <p:cNvSpPr/>
          <p:nvPr/>
        </p:nvSpPr>
        <p:spPr>
          <a:xfrm>
            <a:off x="7383600" y="3771720"/>
            <a:ext cx="48276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5" name="mechanism-edge-e4-segment-1"/>
          <p:cNvSpPr/>
          <p:nvPr/>
        </p:nvSpPr>
        <p:spPr>
          <a:xfrm>
            <a:off x="9425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56" name="mechanism-node-state"/>
          <p:cNvSpPr/>
          <p:nvPr/>
        </p:nvSpPr>
        <p:spPr>
          <a:xfrm>
            <a:off x="1739880" y="3454560"/>
            <a:ext cx="155916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state xi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mechanism-node-state-queue-1"/>
          <p:cNvSpPr/>
          <p:nvPr/>
        </p:nvSpPr>
        <p:spPr>
          <a:xfrm>
            <a:off x="1739880" y="370836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h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8" name="mechanism-node-state-queue-2"/>
          <p:cNvSpPr/>
          <p:nvPr/>
        </p:nvSpPr>
        <p:spPr>
          <a:xfrm>
            <a:off x="1739880" y="3898800"/>
            <a:ext cx="155916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Q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mechanism-node-actor"/>
          <p:cNvSpPr/>
          <p:nvPr/>
        </p:nvSpPr>
        <p:spPr>
          <a:xfrm>
            <a:off x="37821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actor DNN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input h, 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output d-hat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mechanism-node-cands"/>
          <p:cNvSpPr/>
          <p:nvPr/>
        </p:nvSpPr>
        <p:spPr>
          <a:xfrm>
            <a:off x="582408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2K+1 delta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 list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search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mechanism-node-critic"/>
          <p:cNvSpPr/>
          <p:nvPr/>
        </p:nvSpPr>
        <p:spPr>
          <a:xfrm>
            <a:off x="786636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 critic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d solve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 score 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mechanism-node-action"/>
          <p:cNvSpPr/>
          <p:nvPr/>
        </p:nvSpPr>
        <p:spPr>
          <a:xfrm>
            <a:off x="9908640" y="3441600"/>
            <a:ext cx="155916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d*, tau*, a*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update Q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4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4" name="Text 15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critic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learned value network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fixed-delta resource optimizer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Shape 16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66" name="Text 17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7–9, Fig. 3;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18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two constructions: fixed vs adopted PNOP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원문은 두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construction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설명하지만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actual control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adopted partial NOP candidate set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Shape 2"/>
          <p:cNvSpPr/>
          <p:nvPr/>
        </p:nvSpPr>
        <p:spPr>
          <a:xfrm>
            <a:off x="6095880" y="2705040"/>
            <a:ext cx="360" cy="19044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1" name="Shape 3"/>
          <p:cNvSpPr/>
          <p:nvPr/>
        </p:nvSpPr>
        <p:spPr>
          <a:xfrm>
            <a:off x="3301920" y="2895480"/>
            <a:ext cx="5587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2" name="Shape 4"/>
          <p:cNvSpPr/>
          <p:nvPr/>
        </p:nvSpPr>
        <p:spPr>
          <a:xfrm>
            <a:off x="330192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3" name="Shape 5"/>
          <p:cNvSpPr/>
          <p:nvPr/>
        </p:nvSpPr>
        <p:spPr>
          <a:xfrm>
            <a:off x="8889840" y="2895480"/>
            <a:ext cx="360" cy="35568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4" name="Shape 6"/>
          <p:cNvSpPr/>
          <p:nvPr/>
        </p:nvSpPr>
        <p:spPr>
          <a:xfrm>
            <a:off x="330192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5" name="Shape 7"/>
          <p:cNvSpPr/>
          <p:nvPr/>
        </p:nvSpPr>
        <p:spPr>
          <a:xfrm>
            <a:off x="3301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6" name="Shape 8"/>
          <p:cNvSpPr/>
          <p:nvPr/>
        </p:nvSpPr>
        <p:spPr>
          <a:xfrm>
            <a:off x="8889840" y="3962160"/>
            <a:ext cx="360" cy="2541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7" name="Shape 9"/>
          <p:cNvSpPr/>
          <p:nvPr/>
        </p:nvSpPr>
        <p:spPr>
          <a:xfrm>
            <a:off x="6730920" y="4216320"/>
            <a:ext cx="215892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8" name="Shape 10"/>
          <p:cNvSpPr/>
          <p:nvPr/>
        </p:nvSpPr>
        <p:spPr>
          <a:xfrm>
            <a:off x="546084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79" name="Shape 11"/>
          <p:cNvSpPr/>
          <p:nvPr/>
        </p:nvSpPr>
        <p:spPr>
          <a:xfrm>
            <a:off x="6730920" y="4216320"/>
            <a:ext cx="360" cy="25380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0" name="Shape 12"/>
          <p:cNvSpPr/>
          <p:nvPr/>
        </p:nvSpPr>
        <p:spPr>
          <a:xfrm>
            <a:off x="6095880" y="5181480"/>
            <a:ext cx="360" cy="33012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81" name="Text 13"/>
          <p:cNvSpPr/>
          <p:nvPr/>
        </p:nvSpPr>
        <p:spPr>
          <a:xfrm>
            <a:off x="4191120" y="210816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DNN output delta-hat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14"/>
          <p:cNvSpPr/>
          <p:nvPr/>
        </p:nvSpPr>
        <p:spPr>
          <a:xfrm>
            <a:off x="4191120" y="238752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entry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1 </a:t>
            </a:r>
            <a:r>
              <a:rPr lang="ko-KR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사이의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partial-offload ratio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5"/>
          <p:cNvSpPr/>
          <p:nvPr/>
        </p:nvSpPr>
        <p:spPr>
          <a:xfrm>
            <a:off x="127008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fixed interval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6"/>
          <p:cNvSpPr/>
          <p:nvPr/>
        </p:nvSpPr>
        <p:spPr>
          <a:xfrm>
            <a:off x="127008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Eq. 17 comparison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not adopted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Text 17"/>
          <p:cNvSpPr/>
          <p:nvPr/>
        </p:nvSpPr>
        <p:spPr>
          <a:xfrm>
            <a:off x="6858000" y="3352680"/>
            <a:ext cx="406368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adopted PNOP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 18"/>
          <p:cNvSpPr/>
          <p:nvPr/>
        </p:nvSpPr>
        <p:spPr>
          <a:xfrm>
            <a:off x="6858000" y="3632040"/>
            <a:ext cx="406368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0.5-distance order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noisy candidates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 19"/>
          <p:cNvSpPr/>
          <p:nvPr/>
        </p:nvSpPr>
        <p:spPr>
          <a:xfrm>
            <a:off x="4191120" y="457200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adopted candidates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Text 20"/>
          <p:cNvSpPr/>
          <p:nvPr/>
        </p:nvSpPr>
        <p:spPr>
          <a:xfrm>
            <a:off x="4191120" y="4851360"/>
            <a:ext cx="3809520" cy="317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2K+1 deltas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score P2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21"/>
          <p:cNvSpPr/>
          <p:nvPr/>
        </p:nvSpPr>
        <p:spPr>
          <a:xfrm>
            <a:off x="4191120" y="561348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 choice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Text 22"/>
          <p:cNvSpPr/>
          <p:nvPr/>
        </p:nvSpPr>
        <p:spPr>
          <a:xfrm>
            <a:off x="4191120" y="5892840"/>
            <a:ext cx="3809520" cy="266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best feasible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1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192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7–8, Eqs. 17–20;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noisy order: near-0.5 entry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순서를 사용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교육용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vector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후보가 여전히 연속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partial ratio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임을 보여 주며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원문의 수치 예시는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relaxed vector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delta-hat = [0.18, 0.47, 0.82]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0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1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distance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0.5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와의 거리로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entry order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5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06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shifted branch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ranked entry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shift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적용한다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9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0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1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noise branch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3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Gaussian white noise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더해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넓힌다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4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5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16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7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ratio candidates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entry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local·offload energy split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유지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0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1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search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binary action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조합 나열이 아니라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vector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주변의 탐색이다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2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3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7–8, Eqs. 18–20; p. 13, Fig. 16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delta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뒤의 연속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resource solve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delta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고정되면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tau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푸는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 subproblem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convexity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이용할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7" name="mechanism-lane-solver"/>
          <p:cNvSpPr/>
          <p:nvPr/>
        </p:nvSpPr>
        <p:spPr>
          <a:xfrm>
            <a:off x="660240" y="2209680"/>
            <a:ext cx="863280" cy="3123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one candidate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8" name="mechanism-edge-e1-segment-1"/>
          <p:cNvSpPr/>
          <p:nvPr/>
        </p:nvSpPr>
        <p:spPr>
          <a:xfrm>
            <a:off x="380988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29" name="mechanism-edge-e2-segment-1"/>
          <p:cNvSpPr/>
          <p:nvPr/>
        </p:nvSpPr>
        <p:spPr>
          <a:xfrm>
            <a:off x="636264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0" name="mechanism-edge-e3-segment-1"/>
          <p:cNvSpPr/>
          <p:nvPr/>
        </p:nvSpPr>
        <p:spPr>
          <a:xfrm>
            <a:off x="8915400" y="3771720"/>
            <a:ext cx="482400" cy="360"/>
          </a:xfrm>
          <a:prstGeom prst="line">
            <a:avLst/>
          </a:prstGeom>
          <a:ln w="12700">
            <a:solidFill>
              <a:srgbClr val="0D685C"/>
            </a:solidFill>
            <a:round/>
            <a:tailEnd len="med" type="triangle" w="med"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1" name="mechanism-node-input"/>
          <p:cNvSpPr/>
          <p:nvPr/>
        </p:nvSpPr>
        <p:spPr>
          <a:xfrm>
            <a:off x="1739880" y="3454560"/>
            <a:ext cx="2069640" cy="228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2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input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mechanism-node-input-queue-1"/>
          <p:cNvSpPr/>
          <p:nvPr/>
        </p:nvSpPr>
        <p:spPr>
          <a:xfrm>
            <a:off x="1739880" y="370836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delta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mechanism-node-input-queue-2"/>
          <p:cNvSpPr/>
          <p:nvPr/>
        </p:nvSpPr>
        <p:spPr>
          <a:xfrm>
            <a:off x="1739880" y="3898800"/>
            <a:ext cx="2069640" cy="190080"/>
          </a:xfrm>
          <a:prstGeom prst="rect">
            <a:avLst/>
          </a:prstGeom>
          <a:solidFill>
            <a:srgbClr val="FFFFFF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12600" tIns="12600" rIns="12600" bIns="1260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9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current h, Q</a:t>
            </a:r>
            <a:endParaRPr lang="en-US" sz="9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mechanism-node-p2"/>
          <p:cNvSpPr/>
          <p:nvPr/>
        </p:nvSpPr>
        <p:spPr>
          <a:xfrm>
            <a:off x="429264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P2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maximize 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queue, time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mechanism-node-dual"/>
          <p:cNvSpPr/>
          <p:nvPr/>
        </p:nvSpPr>
        <p:spPr>
          <a:xfrm>
            <a:off x="684540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bisection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dual epsilon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monotone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mechanism-node-out"/>
          <p:cNvSpPr/>
          <p:nvPr/>
        </p:nvSpPr>
        <p:spPr>
          <a:xfrm>
            <a:off x="9398160" y="3441600"/>
            <a:ext cx="2069640" cy="659880"/>
          </a:xfrm>
          <a:prstGeom prst="roundRect">
            <a:avLst>
              <a:gd name="adj" fmla="val 16667"/>
            </a:avLst>
          </a:prstGeom>
          <a:solidFill>
            <a:srgbClr val="E8F1EE"/>
          </a:solidFill>
          <a:ln w="0">
            <a:solidFill>
              <a:srgbClr val="0D685C"/>
            </a:solidFill>
          </a:ln>
        </p:spPr>
        <p:style>
          <a:lnRef idx="0"/>
          <a:fillRef idx="0"/>
          <a:effectRef idx="0"/>
          <a:fontRef idx="minor"/>
        </p:style>
        <p:txBody>
          <a:bodyPr lIns="50760" tIns="50760" rIns="50760" bIns="5076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score 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a*, tau*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return G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7" name="Shape 1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38" name="Text 1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fixed-delta solver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평가용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 subproblem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푼다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Shape 1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0" name="Text 1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8–9, Eqs. 21–28; Algorithm 2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Text 1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bisection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dual epsilon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찾는다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3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2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목적은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별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timing resource allocation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빠르게 계산하는 것이다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2"/>
          <p:cNvSpPr/>
          <p:nvPr/>
        </p:nvSpPr>
        <p:spPr>
          <a:xfrm>
            <a:off x="660240" y="21081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3"/>
          <p:cNvSpPr/>
          <p:nvPr/>
        </p:nvSpPr>
        <p:spPr>
          <a:xfrm>
            <a:off x="1397160" y="21081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4"/>
          <p:cNvSpPr/>
          <p:nvPr/>
        </p:nvSpPr>
        <p:spPr>
          <a:xfrm>
            <a:off x="4152960" y="21081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 search interval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둔다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7" name="Shape 5"/>
          <p:cNvSpPr/>
          <p:nvPr/>
        </p:nvSpPr>
        <p:spPr>
          <a:xfrm>
            <a:off x="1396800" y="261108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8" name="Shape 6"/>
          <p:cNvSpPr/>
          <p:nvPr/>
        </p:nvSpPr>
        <p:spPr>
          <a:xfrm>
            <a:off x="851040" y="26236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49" name="Text 7"/>
          <p:cNvSpPr/>
          <p:nvPr/>
        </p:nvSpPr>
        <p:spPr>
          <a:xfrm>
            <a:off x="660240" y="280152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8"/>
          <p:cNvSpPr/>
          <p:nvPr/>
        </p:nvSpPr>
        <p:spPr>
          <a:xfrm>
            <a:off x="1397160" y="280152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midpoint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Text 9"/>
          <p:cNvSpPr/>
          <p:nvPr/>
        </p:nvSpPr>
        <p:spPr>
          <a:xfrm>
            <a:off x="4152960" y="280152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epsilon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midpoint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로 잡고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condition Omega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2" name="Shape 10"/>
          <p:cNvSpPr/>
          <p:nvPr/>
        </p:nvSpPr>
        <p:spPr>
          <a:xfrm>
            <a:off x="1396800" y="33044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3" name="Shape 11"/>
          <p:cNvSpPr/>
          <p:nvPr/>
        </p:nvSpPr>
        <p:spPr>
          <a:xfrm>
            <a:off x="851040" y="33174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4" name="Text 12"/>
          <p:cNvSpPr/>
          <p:nvPr/>
        </p:nvSpPr>
        <p:spPr>
          <a:xfrm>
            <a:off x="660240" y="349488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5" name="Text 13"/>
          <p:cNvSpPr/>
          <p:nvPr/>
        </p:nvSpPr>
        <p:spPr>
          <a:xfrm>
            <a:off x="1397160" y="349488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bound update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6" name="Text 14"/>
          <p:cNvSpPr/>
          <p:nvPr/>
        </p:nvSpPr>
        <p:spPr>
          <a:xfrm>
            <a:off x="4152960" y="349488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condition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부호에 따라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LB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또는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UB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갱신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7" name="Shape 15"/>
          <p:cNvSpPr/>
          <p:nvPr/>
        </p:nvSpPr>
        <p:spPr>
          <a:xfrm>
            <a:off x="1396800" y="39978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8" name="Shape 16"/>
          <p:cNvSpPr/>
          <p:nvPr/>
        </p:nvSpPr>
        <p:spPr>
          <a:xfrm>
            <a:off x="851040" y="401076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59" name="Text 17"/>
          <p:cNvSpPr/>
          <p:nvPr/>
        </p:nvSpPr>
        <p:spPr>
          <a:xfrm>
            <a:off x="660240" y="418860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18"/>
          <p:cNvSpPr/>
          <p:nvPr/>
        </p:nvSpPr>
        <p:spPr>
          <a:xfrm>
            <a:off x="1397160" y="418860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stop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19"/>
          <p:cNvSpPr/>
          <p:nvPr/>
        </p:nvSpPr>
        <p:spPr>
          <a:xfrm>
            <a:off x="4152960" y="418860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|UB−LB|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tolerance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이하면 멈춘다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Shape 20"/>
          <p:cNvSpPr/>
          <p:nvPr/>
        </p:nvSpPr>
        <p:spPr>
          <a:xfrm>
            <a:off x="1396800" y="469116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3" name="Shape 21"/>
          <p:cNvSpPr/>
          <p:nvPr/>
        </p:nvSpPr>
        <p:spPr>
          <a:xfrm>
            <a:off x="851040" y="470412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4" name="Text 22"/>
          <p:cNvSpPr/>
          <p:nvPr/>
        </p:nvSpPr>
        <p:spPr>
          <a:xfrm>
            <a:off x="660240" y="4881960"/>
            <a:ext cx="57132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05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5" name="Text 23"/>
          <p:cNvSpPr/>
          <p:nvPr/>
        </p:nvSpPr>
        <p:spPr>
          <a:xfrm>
            <a:off x="1397160" y="4881960"/>
            <a:ext cx="260316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Text 24"/>
          <p:cNvSpPr/>
          <p:nvPr/>
        </p:nvSpPr>
        <p:spPr>
          <a:xfrm>
            <a:off x="4152960" y="4881960"/>
            <a:ext cx="7378200" cy="48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a*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tau*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계산해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G evaluation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쓴다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Shape 25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8" name="Shape 26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69" name="Text 27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Lambert-W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유도식의 상세 암기는 필요 없지만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fixed-delta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이후의 계산 역할은 알아야 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Shape 28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1" name="Text 29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p. 9, Eq. 28; Algorithm 2; Appendix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30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online action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periodic DNN training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Algorithm 1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매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frame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joint action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replay-memory batch training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같은 순서에 두지만 역할은 구분한다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75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717640"/>
                <a:gridCol w="3152520"/>
                <a:gridCol w="500040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언제 쓰는가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무엇을 하는가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online action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current h, Q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delta candidate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평가해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delta*, tau*, a*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update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현재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service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반영하고 새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더해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replay memory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joint action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실행 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3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(xi, delta)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경험으로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갱신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 training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mod(t, gamma)=0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 때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갱신된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memory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sample batch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학습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76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7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training interval gamma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on-device training 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다른 문제다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79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7-8, Fig. 3 and Algorithm 1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0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14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실험 결과는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simulator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설정 안에서 읽어야 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rate·queue plots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WP-MEC field deployment measurement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아니라 명시된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simulation protocol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비교다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8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6746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항목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implementation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TensorFlow 2.13, Python 3.9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framework version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자체가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deployment proof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는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system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B=2 MHz, P_a=3 W, T=1 s, V=36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III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parameter setting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channel and arrivals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i.i.d. Rician h, equal-mean exponential arrival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실제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traffic trace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일반화가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locations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WD positions fixed in 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mobility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multi-AP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직접 검증하지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그래프의 우위는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지정한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channel, arrival, topology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조건에 묶여 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8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p. 9, Table III; §5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15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II: noisy choice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rate·queue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결과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논문은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noisy order-preserving method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weighted 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더 높고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acceptable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하다고 해석한다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9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565880"/>
                <a:gridCol w="2935080"/>
                <a:gridCol w="336996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quantization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weighted sum rate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average data queue length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order-preserving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7.6573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2.0842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14094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noisy order-preserving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7.9523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3.4037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9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noisy method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higher 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보였지만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lower queue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보인 것은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p. 8, Table II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16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simulation tuning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변수다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count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drift-penalty scale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이 연구의 설정에서 실험적으로 선택된다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9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IV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K=8, 9, 10 CPU computation time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각각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0.1833, 0.1636, 0.1551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1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Table IV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바탕으로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authors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K=10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선택한다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3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Fig. 6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kappa_i=8 Mbps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커질수록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weighted rate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증가하는 실험 관찰을 보인다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5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K=10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과 특정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모든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topology·arrival·hardware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최적이라는 뜻은 아니다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7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parameter selection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empirical choice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이며 일반 규칙이나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theorem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09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9–10, Table IV; Figs. 5–6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17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어떤 방식으로 반영하는지에서 다르다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각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baseline 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설명은 이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experiment definition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 한정해 읽는다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13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1956600"/>
                <a:gridCol w="4022280"/>
                <a:gridCol w="4892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방법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partial decision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출발점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resource </a:t>
                      </a: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처리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LyDROP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DNN proposal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 quantization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P2 score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candidate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평가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LyCD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partial decisions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coordinate descent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dual timing solve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LyRPO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random partial strategies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Lyapunov P2 formulation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사용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Myopic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current weighted rate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backlog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objective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무시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14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5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baseline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candidate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생성과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objective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따로 비교한다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17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9–10, §5; Eq. 29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8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18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N 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비교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: trace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time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구분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Figs. 7–9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rate·queue traces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Table V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CPU computation time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은 같은 종류의 지표가 아니다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565880"/>
                <a:gridCol w="38048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evidence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조건 또는 값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발표에서의 올바른 읽기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Figs. 7–9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N=10, 20, 30; n=10000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각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simulator trace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queue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Fig. 7 setting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kappa_i=8 Mbps, omega_i=1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priority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넣지 않은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stated condition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Table V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LyCD/LyDROP ratio: 3.68 at N=20, 16.39 at N=30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program execution time ratio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interpretation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증가한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experiments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MEC end-to-end latency claim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이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2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CPU program time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wireless service latency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다른 지표다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2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10–11, Figs. 7–9; Table V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19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priority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 sweep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도 조건을 붙여 읽는다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weight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WD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arrival rate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다른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scenario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rate·queue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비교한다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29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2500200"/>
                <a:gridCol w="4674600"/>
                <a:gridCol w="369612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experiment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원문 조건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해석 경계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priority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even WD omega=1.2, odd WD omega=1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특정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weight assignment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simulation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arrival sweep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mean arrival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바꾸어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Figs. 12–13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비교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offered load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변화 실험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Myopic queue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에서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8.25 Mbps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로 갈 때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at least two orders larger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unstable points are omitted later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reported result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LyDROP rate·queue plots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모든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stochastic traffic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guarantee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아니다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30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1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priority weight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arrival rate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말하지 않으면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plot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queue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차이를 일반화하기 쉽다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2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3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11–12, Figs. 10–13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20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Melbourne: location-based simulation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real user locations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를 활용했지만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WPT field deployment measurement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로 읽을 근거는 없다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2"/>
          <p:cNvSpPr/>
          <p:nvPr/>
        </p:nvSpPr>
        <p:spPr>
          <a:xfrm>
            <a:off x="838080" y="21718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source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Melbourne BS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위치를 정하고 주변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latitude·longitude 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범위의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816 user groups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사용한다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Shape 3"/>
          <p:cNvSpPr/>
          <p:nvPr/>
        </p:nvSpPr>
        <p:spPr>
          <a:xfrm>
            <a:off x="838080" y="290808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39" name="Text 4"/>
          <p:cNvSpPr/>
          <p:nvPr/>
        </p:nvSpPr>
        <p:spPr>
          <a:xfrm>
            <a:off x="838080" y="294624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Figs. 14–15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user count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바꾸며 네 알고리즘을 비교한다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0" name="Shape 5"/>
          <p:cNvSpPr/>
          <p:nvPr/>
        </p:nvSpPr>
        <p:spPr>
          <a:xfrm>
            <a:off x="838080" y="368280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1" name="Text 6"/>
          <p:cNvSpPr/>
          <p:nvPr/>
        </p:nvSpPr>
        <p:spPr>
          <a:xfrm>
            <a:off x="838080" y="372096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location distribution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이 균등 거리 가정과 다르다는 점을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experiment input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반영한다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Shape 7"/>
          <p:cNvSpPr/>
          <p:nvPr/>
        </p:nvSpPr>
        <p:spPr>
          <a:xfrm>
            <a:off x="838080" y="4457520"/>
            <a:ext cx="1069344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3" name="Text 8"/>
          <p:cNvSpPr/>
          <p:nvPr/>
        </p:nvSpPr>
        <p:spPr>
          <a:xfrm>
            <a:off x="838080" y="4495680"/>
            <a:ext cx="10693080" cy="68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marL="254160" indent="-254160" defTabSz="914400">
              <a:lnSpc>
                <a:spcPct val="125000"/>
              </a:lnSpc>
              <a:buClr>
                <a:srgbClr val="173C37"/>
              </a:buClr>
              <a:buFont typeface="Symbol" charset="2"/>
              <a:buChar char=""/>
            </a:pP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실제 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AP charging, device battery, MEC execution trace</a:t>
            </a:r>
            <a:r>
              <a:rPr lang="ko-KR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현장에서 측정한 결과라고 주장하지 않는다</a:t>
            </a:r>
            <a:r>
              <a:rPr lang="en-US" sz="200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4" name="Shape 9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5" name="Text 10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real location data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field deployment evidence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는 서로 다른 수준의 근거다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Shape 11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47" name="Text 12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12–13, Figs. 14–15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8" name="Text 13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21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모델 가정은 결과를 어디까지 일반화할지 정한다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paper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positive result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system omission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을 함께 읽어야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LyDROP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의 적용 경계를 알 수 있다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351" name="Table 0"/>
          <p:cNvGraphicFramePr/>
          <p:nvPr/>
        </p:nvGraphicFramePr>
        <p:xfrm>
          <a:off x="660240" y="2082960"/>
          <a:ext cx="10870920" cy="3314520"/>
        </p:xfrm>
        <a:graphic>
          <a:graphicData uri="http://schemas.openxmlformats.org/drawingml/2006/table">
            <a:tbl>
              <a:tblPr/>
              <a:tblGrid>
                <a:gridCol w="4565880"/>
                <a:gridCol w="6305040"/>
              </a:tblGrid>
              <a:tr h="49500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가정 또는 </a:t>
                      </a:r>
                      <a:r>
                        <a:rPr lang="en-US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omission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ko-KR" sz="1600" b="1" u="none" strike="noStrike">
                          <a:solidFill>
                            <a:srgbClr val="0D685C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왜 중요한가</a:t>
                      </a:r>
                      <a:endParaRPr lang="en-US" sz="16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12240">
                      <a:solidFill>
                        <a:srgbClr val="0D685C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same-frame energy use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controller state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에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inter-frame battery dynamics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를 두지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one AP, fixed WD locations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mobile·multi-AP coordination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직접 다루지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AP compute and feedback delay omitted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task complexity·concurrency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커지면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schedule 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판단이 달라질 수 있다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4520"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Lyapunov-guided DNN candidate control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lIns="100440" tIns="54720" rIns="100440" bIns="54720" anchor="t">
                      <a:noAutofit/>
                    </a:bodyPr>
                    <a:p>
                      <a:pPr defTabSz="914400">
                        <a:lnSpc>
                          <a:spcPct val="120000"/>
                        </a:lnSpc>
                        <a:tabLst>
                          <a:tab pos="0" algn="l"/>
                        </a:tabLst>
                      </a:pP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learned policy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의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global optimality theorem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을 </a:t>
                      </a:r>
                      <a:r>
                        <a:rPr lang="en-US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source</a:t>
                      </a:r>
                      <a:r>
                        <a:rPr lang="ko-KR" sz="1550" b="0" u="none" strike="noStrike">
                          <a:solidFill>
                            <a:srgbClr val="173C37"/>
                          </a:solidFill>
                          <a:effectLst/>
                          <a:uFillTx/>
                          <a:latin typeface="AppleGothic"/>
                          <a:ea typeface="AppleGothic"/>
                        </a:rPr>
                        <a:t>가 제시하지 않는다</a:t>
                      </a:r>
                      <a:endParaRPr lang="en-US" sz="155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anchor="t" marL="100440" marR="100440" marT="54720" marB="54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480">
                      <a:solidFill>
                        <a:srgbClr val="C9D8D4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352" name="Shape 2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3" name="Text 3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명시된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WP-MEC model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에서의 방법이며 모든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deployment 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조건의 보장은 아니다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4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55" name="Text 5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5–6, 13–14; §§3, 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6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22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Text 0"/>
          <p:cNvSpPr/>
          <p:nvPr/>
        </p:nvSpPr>
        <p:spPr>
          <a:xfrm>
            <a:off x="660240" y="469800"/>
            <a:ext cx="10870920" cy="850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LyDROP</a:t>
            </a:r>
            <a:r>
              <a:rPr lang="ko-KR" sz="310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을 이해하는 네 연결</a:t>
            </a:r>
            <a:endParaRPr lang="en-US" sz="3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"/>
          <p:cNvSpPr/>
          <p:nvPr/>
        </p:nvSpPr>
        <p:spPr>
          <a:xfrm>
            <a:off x="660240" y="1333440"/>
            <a:ext cx="10870920" cy="647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부분 에너지 분할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, data queue, candidate selection, fixed-delta solver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함께 있어야 논문의 </a:t>
            </a:r>
            <a:r>
              <a:rPr lang="en-US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control loop</a:t>
            </a:r>
            <a:r>
              <a:rPr lang="ko-KR" sz="1900" b="0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가 완성된다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Text 2"/>
          <p:cNvSpPr/>
          <p:nvPr/>
        </p:nvSpPr>
        <p:spPr>
          <a:xfrm>
            <a:off x="660240" y="210816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01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3"/>
          <p:cNvSpPr/>
          <p:nvPr/>
        </p:nvSpPr>
        <p:spPr>
          <a:xfrm>
            <a:off x="1397160" y="210816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physical split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4"/>
          <p:cNvSpPr/>
          <p:nvPr/>
        </p:nvSpPr>
        <p:spPr>
          <a:xfrm>
            <a:off x="4152960" y="210816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만들고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delta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E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local·offload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 나눈다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5"/>
          <p:cNvSpPr/>
          <p:nvPr/>
        </p:nvSpPr>
        <p:spPr>
          <a:xfrm>
            <a:off x="1396800" y="278424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3" name="Shape 6"/>
          <p:cNvSpPr/>
          <p:nvPr/>
        </p:nvSpPr>
        <p:spPr>
          <a:xfrm>
            <a:off x="851040" y="27972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4" name="Text 7"/>
          <p:cNvSpPr/>
          <p:nvPr/>
        </p:nvSpPr>
        <p:spPr>
          <a:xfrm>
            <a:off x="660240" y="29750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02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8"/>
          <p:cNvSpPr/>
          <p:nvPr/>
        </p:nvSpPr>
        <p:spPr>
          <a:xfrm>
            <a:off x="1397160" y="29750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queue guidance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9"/>
          <p:cNvSpPr/>
          <p:nvPr/>
        </p:nvSpPr>
        <p:spPr>
          <a:xfrm>
            <a:off x="4152960" y="29750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Q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V omega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P2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현재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service 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가치를 만든다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10"/>
          <p:cNvSpPr/>
          <p:nvPr/>
        </p:nvSpPr>
        <p:spPr>
          <a:xfrm>
            <a:off x="1396800" y="36511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8" name="Shape 11"/>
          <p:cNvSpPr/>
          <p:nvPr/>
        </p:nvSpPr>
        <p:spPr>
          <a:xfrm>
            <a:off x="851040" y="366408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69" name="Text 12"/>
          <p:cNvSpPr/>
          <p:nvPr/>
        </p:nvSpPr>
        <p:spPr>
          <a:xfrm>
            <a:off x="660240" y="384192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03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13"/>
          <p:cNvSpPr/>
          <p:nvPr/>
        </p:nvSpPr>
        <p:spPr>
          <a:xfrm>
            <a:off x="1397160" y="384192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candidate selection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14"/>
          <p:cNvSpPr/>
          <p:nvPr/>
        </p:nvSpPr>
        <p:spPr>
          <a:xfrm>
            <a:off x="4152960" y="384192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DNN delta-hat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에서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2K+1 partial vector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생성한다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15"/>
          <p:cNvSpPr/>
          <p:nvPr/>
        </p:nvSpPr>
        <p:spPr>
          <a:xfrm>
            <a:off x="1396800" y="451800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3" name="Shape 16"/>
          <p:cNvSpPr/>
          <p:nvPr/>
        </p:nvSpPr>
        <p:spPr>
          <a:xfrm>
            <a:off x="851040" y="4530600"/>
            <a:ext cx="190080" cy="151920"/>
          </a:xfrm>
          <a:prstGeom prst="downArrow">
            <a:avLst>
              <a:gd name="adj1" fmla="val 50000"/>
              <a:gd name="adj2" fmla="val 50000"/>
            </a:avLst>
          </a:prstGeom>
          <a:solidFill>
            <a:srgbClr val="0D685C"/>
          </a:solidFill>
          <a:ln w="12700">
            <a:solidFill>
              <a:srgbClr val="0D685C">
                <a:alpha val="0"/>
              </a:srgbClr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4" name="Text 17"/>
          <p:cNvSpPr/>
          <p:nvPr/>
        </p:nvSpPr>
        <p:spPr>
          <a:xfrm>
            <a:off x="660240" y="4708440"/>
            <a:ext cx="57132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22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04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18"/>
          <p:cNvSpPr/>
          <p:nvPr/>
        </p:nvSpPr>
        <p:spPr>
          <a:xfrm>
            <a:off x="1397160" y="4708440"/>
            <a:ext cx="260316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0D685C"/>
                </a:solidFill>
                <a:effectLst/>
                <a:uFillTx/>
                <a:latin typeface="AppleGothic"/>
                <a:ea typeface="AppleGothic"/>
              </a:rPr>
              <a:t>resource solve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19"/>
          <p:cNvSpPr/>
          <p:nvPr/>
        </p:nvSpPr>
        <p:spPr>
          <a:xfrm>
            <a:off x="4152960" y="4708440"/>
            <a:ext cx="7378200" cy="663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fixed delta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마다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dual/bisection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으로 </a:t>
            </a:r>
            <a:r>
              <a:rPr lang="en-US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a*, tau*, G</a:t>
            </a:r>
            <a:r>
              <a:rPr lang="ko-KR" sz="1650" b="0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계산한다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Shape 20"/>
          <p:cNvSpPr/>
          <p:nvPr/>
        </p:nvSpPr>
        <p:spPr>
          <a:xfrm>
            <a:off x="1396800" y="5384520"/>
            <a:ext cx="1013472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8" name="Shape 21"/>
          <p:cNvSpPr/>
          <p:nvPr/>
        </p:nvSpPr>
        <p:spPr>
          <a:xfrm>
            <a:off x="660240" y="5562360"/>
            <a:ext cx="10871280" cy="360"/>
          </a:xfrm>
          <a:prstGeom prst="line">
            <a:avLst/>
          </a:prstGeom>
          <a:ln w="12700">
            <a:solidFill>
              <a:srgbClr val="0D685C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79" name="Text 22"/>
          <p:cNvSpPr/>
          <p:nvPr/>
        </p:nvSpPr>
        <p:spPr>
          <a:xfrm>
            <a:off x="660240" y="5727600"/>
            <a:ext cx="10870920" cy="495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LyDROP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은 </a:t>
            </a:r>
            <a:r>
              <a:rPr lang="en-US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partial split, queue control, P2 solve</a:t>
            </a:r>
            <a:r>
              <a:rPr lang="ko-KR" sz="1750" b="1" u="none" strike="noStrike">
                <a:solidFill>
                  <a:srgbClr val="173C37"/>
                </a:solidFill>
                <a:effectLst/>
                <a:uFillTx/>
                <a:latin typeface="AppleGothic"/>
                <a:ea typeface="AppleGothic"/>
              </a:rPr>
              <a:t>를 결합한다</a:t>
            </a:r>
            <a:endParaRPr lang="en-US" sz="17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0" name="Shape 23"/>
          <p:cNvSpPr/>
          <p:nvPr/>
        </p:nvSpPr>
        <p:spPr>
          <a:xfrm>
            <a:off x="660240" y="6311880"/>
            <a:ext cx="10871280" cy="360"/>
          </a:xfrm>
          <a:prstGeom prst="line">
            <a:avLst/>
          </a:prstGeom>
          <a:ln w="12700">
            <a:solidFill>
              <a:srgbClr val="C9D8D4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>
            <a:noAutofit/>
          </a:bodyPr>
          <a:p>
            <a:pPr/>
            <a:endParaRPr lang="en-US" sz="1800" b="0" u="none" strike="noStrike">
              <a:solidFill>
                <a:schemeClr val="dk1"/>
              </a:solidFill>
              <a:effectLst/>
              <a:uFillTx/>
              <a:latin typeface="AppleGothic"/>
            </a:endParaRPr>
          </a:p>
        </p:txBody>
      </p:sp>
      <p:sp>
        <p:nvSpPr>
          <p:cNvPr id="381" name="Text 24"/>
          <p:cNvSpPr/>
          <p:nvPr/>
        </p:nvSpPr>
        <p:spPr>
          <a:xfrm>
            <a:off x="660240" y="6413400"/>
            <a:ext cx="9981720" cy="27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ko-KR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근거 </a:t>
            </a:r>
            <a:r>
              <a:rPr lang="en-US" sz="1050" b="0" u="none" strike="noStrike">
                <a:solidFill>
                  <a:srgbClr val="5E6D69"/>
                </a:solidFill>
                <a:effectLst/>
                <a:uFillTx/>
                <a:latin typeface="AppleGothic"/>
                <a:ea typeface="AppleGothic"/>
              </a:rPr>
              <a:t>ieee-paper pp. 4–13, §§3–6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2" name="Text 25"/>
          <p:cNvSpPr/>
          <p:nvPr/>
        </p:nvSpPr>
        <p:spPr>
          <a:xfrm>
            <a:off x="11112480" y="6400800"/>
            <a:ext cx="431280" cy="253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00" b="0" u="none" strike="noStrike">
                <a:solidFill>
                  <a:srgbClr val="0D685C"/>
                </a:solidFill>
                <a:effectLst/>
                <a:uFillTx/>
                <a:latin typeface="Arial"/>
                <a:ea typeface="Arial"/>
              </a:rPr>
              <a:t>23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pleGothic" pitchFamily="0" charset="1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pleGothic" pitchFamily="0" charset="1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Application>LibreOffice/26.8.0.3$MacOSX_AARCH64 LibreOffice_project/bce0998afefdbc355585ca324285661a2170ba77</Application>
  <AppVersion>15.0000</AppVersion>
  <Words>0</Words>
  <Paragraphs>0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2026-09-12T05:36:02Z</dcterms:created>
  <dc:creator>Research Seminars</dc:creator>
  <dc:description/>
  <dc:language>ko-KR</dc:language>
  <cp:lastModifiedBy>Research Seminars</cp:lastModifiedBy>
  <dcterms:modified xsi:type="dcterms:W3CDTF">2026-09-12T05:36:02Z</dcterms:modified>
  <cp:revision>1</cp:revision>
  <dc:subject>Online Partial Computation Offloading Optimization in Wireless Powered Mobile Edge Computing Network</dc:subject>
  <dc:title>LyDROP: WP-MEC 부분 오프로딩의 온라인 제어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r8>23</vt:r8>
  </property>
  <property fmtid="{D5CDD505-2E9C-101B-9397-08002B2CF9AE}" pid="3" name="PresentationFormat">
    <vt:lpwstr>On-screen Show (16:9)</vt:lpwstr>
  </property>
  <property fmtid="{D5CDD505-2E9C-101B-9397-08002B2CF9AE}" pid="4" name="Slides">
    <vt:r8>23</vt:r8>
  </property>
</Properties>
</file>
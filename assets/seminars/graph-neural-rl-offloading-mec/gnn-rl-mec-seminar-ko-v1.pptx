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3.xml" ContentType="application/vnd.openxmlformats-officedocument.presentationml.slide+xml"/>
  <Override PartName="/ppt/slides/slide21.xml" ContentType="application/vnd.openxmlformats-officedocument.presentationml.slide+xml"/>
  <Override PartName="/ppt/slides/slide12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599145F4-CC85-4527-AF9A-4290A01D3F1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변하는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연결을 그래프와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읽기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덱은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등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Electronics 2024, 13, 2387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원문을 기준으로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제안법은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M-GNRL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GraphSAGE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결합합니다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mdpi-2024 | title page;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Wang et al., Electronics 2024, 13(12), 2387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https://www.mdpi.com/2079-9292/13/12/2387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2D904F4-CF3B-438C-AD0E-3AC28E7EBF8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문제와 방법 범위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service coverage constraint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동적 연결을 핵심 동기로 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discrete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사용한다고 명시하며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actor-critic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제안하지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mdpi-2024 | pp. 1-3; abstract; §1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Wang et al., Electronics 2024, 13(12), 2387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https://www.mdpi.com/2079-9292/13/12/2387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40F968A-3CFD-4C17-918B-72A4F850497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MEC structural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current device, BS, coverage circle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structure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함께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Section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directly connected BS, M+s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indirectly connected BS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mdpi-2024 | pp. 2, 4; Fig. 1; §3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Wang et al., Electronics 2024, 13(12), 2387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https://www.mdpi.com/2079-9292/13/12/2387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ED4F55F-4CBB-4ED7-BC14-D77269FD9BA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local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구성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rate,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2–3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time·energy,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4–7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direct/forward transmission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total 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8–12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BS resource scheduling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load 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mdpi-2024 | pp. 5-7; Eqs. 1-12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Wang et al., Electronics 2024, 13(12), 2387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https://www.mdpi.com/2079-9292/13/12/2387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40EA3C9-064D-46F6-9C7E-5D556EEB3FA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multiple constraints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선택 합이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energy,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offloading 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compute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가중합을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binary choice, task sequence, BS CPU, execution-time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at-most-one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제약을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mdpi-2024 | p. 7; Eqs. 13-14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Wang et al., Electronics 2024, 13(12), 2387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https://www.mdpi.com/2079-9292/13/12/2387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63D4FBB-75AE-4FBA-8C9E-6C696BAFC70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 feature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필요한가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기존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entity connection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충분히 고려하지 못한다고 동기를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Section 4.2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direct·indirect BS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때문에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I=2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mdpi-2024 | pp. 2-3, 9; §1; §4.2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Wang et al., Electronics 2024, 13(12), 2387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https://www.mdpi.com/2079-9292/13/12/2387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3271932-1626-4D0A-874A-414929E8980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hop GraphSAGE feature learning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device embedding,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16–19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device·BS neighbor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집계하는 방법입니다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W parameters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학습되며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무작정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 depth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쓰는 설계가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mdpi-2024 | pp. 9-10; Eqs. 15-19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Wang et al., Electronics 2024, 13(12), 2387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https://www.mdpi.com/2079-9292/13/12/2387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38C2AE6-C8CF-4FBE-8E46-9E89BC9D6B5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embedding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학습을 분리한다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random-walk neighbor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negative sampling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포함한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embedding loss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먼저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node embedding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얻고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 replay loop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수행합니다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mdpi-2024 | pp. 10-12; Eqs. 20, 23, 26-27; Alg.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Wang et al., Electronics 2024, 13(12), 2387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https://www.mdpi.com/2079-9292/13/12/2387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81947A4-C823-4F01-A50F-B8079BBE741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DQN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piecewise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성공 시간 조건에서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1/Cost_n(t)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덱은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reciprocal-cost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표기를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그대로 두며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sign-conversion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해석을 더하지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mdpi-2024 | pp. 10-12; Eqs. 21-22; Alg.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Wang et al., Electronics 2024, 13(12), 2387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https://www.mdpi.com/2079-9292/13/12/2387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75977C4-9D31-440F-BBFE-B792C70DB6C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edge feature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one-hot BS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concatenated node feature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MLP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softmax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보내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feature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24–25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 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최고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 BS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one-hot choice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mdpi-2024 | pp. 10-11; Eqs. 23-25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Wang et al., Electronics 2024, 13(12), 2387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https://www.mdpi.com/2079-9292/13/12/2387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A3A5110-1603-415D-996C-1D821665D8D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edge-score toy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교육용으로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가정했습니다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argmax rule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따르면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BS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선택합니다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Eq. 13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option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23–25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BS-only score vector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연결은 원문이 충분히 설명하지 않는 한계입니다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mdpi-2024 | pp. 7, 10-11; Eqs. 13, 23-25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Wang et al., Electronics 2024, 13(12), 2387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https://www.mdpi.com/2079-9292/13/12/2387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6541D58-39C7-4FB7-A6A7-C3F86B945B6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 loop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1–10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행은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GNN embedding, 11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행은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learned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DRL environment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사용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12–21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행은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 pool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mini-batch parameter 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actor·critic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mdpi-2024 | p. 12; Algorithm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Wang et al., Electronics 2024, 13(12), 2387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https://www.mdpi.com/2079-9292/13/12/2387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4F49945-387B-483B-8BAA-B3B76B25AFE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scheduler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execution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offloading scheduler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들어간 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scheduler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execution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resource allocation/processing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 하나를 고르게 하는 흐름입니다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결과는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return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될 수 있지만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execution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processing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들어간다는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mdpi-2024 | p. 8; Fig. 3; §4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Wang et al., Electronics 2024, 13(12), 2387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https://www.mdpi.com/2079-9292/13/12/2387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D0E8D23-65C3-45E0-BFFA-A24B624C586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관측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이동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adjacency-list update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t, t+5, t+10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observation node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바뀌며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embedding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바뀌는 그림입니다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Algorithm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adjacency linked list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초기화하고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changed-set input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vertex-table addition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deletion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surrounding prose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similar procedure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라고만 말하며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printed algorithm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deletion/update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보이지는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mdpi-2024 | pp. 12-13; Fig. 5; Algorithm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Wang et al., Electronics 2024, 13(12), 2387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https://www.mdpi.com/2079-9292/13/12/2387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7FBCA5C-8FCF-437C-A829-A1502724BD8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simulation graph records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5.1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record format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나열하고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mobile devices are uniformly distributed within each BS service range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Data availability statement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are contained in the article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라고만 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mdpi-2024 | pp. 13, 18; §5.1; data availability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Wang et al., Electronics 2024, 13(12), 2387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https://www.mdpi.com/2079-9292/13/12/2387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EFA1465-A68D-42CE-8D9F-0AC409769EB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Table 2 simulation conditions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theta=[.5,1], BS coverage=[.5,4] km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Fig. 6 scenario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 km by 4 km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영역과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BS coverage .5 km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mdpi-2024 | pp. 14-15; Table 2; Fig. 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Wang et al., Electronics 2024, 13(12), 2387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https://www.mdpi.com/2079-9292/13/12/2387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EF199AB-A865-4884-A490-0A33BBC173A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역할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5.1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LOCAL, RANDOM, GNN-A2C, Coop-UEC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GNN-A2C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Coop-UEC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application context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cited method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동일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architecture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부르지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mdpi-2024 | pp. 13-14; §5.1; refs. 23, 32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Wang et al., Electronics 2024, 13(12), 2387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https://www.mdpi.com/2079-9292/13/12/2387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F205EC2-F040-4117-ACA4-041BEA8642D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discount factor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convergence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gamma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증가와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linear relation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아니라고 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Fig. 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 interpretation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convergence guarantee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mdpi-2024 | p. 15; Figs. 7-8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Wang et al., Electronics 2024, 13(12), 2387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https://www.mdpi.com/2079-9292/13/12/2387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259D1C0-5A0E-4EA2-B36E-907EBECCD71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arrival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system cost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topology label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(4+5) times 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 BS, indirect BS, MD counts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표기합니다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Fig. 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percentage statements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동일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experimental environment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averaged cost difference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설명한 값입니다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mdpi-2024 | pp. 16-17; Figs. 9-10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Wang et al., Electronics 2024, 13(12), 2387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https://www.mdpi.com/2079-9292/13/12/2387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EE1FDD0-9EFE-4520-B46C-4C546191D44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weight coefficient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경계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11 legend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(alpha,beta)=(0,1),(1,0),(.7,.3),(.3,.7),(.5,.5)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다섯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pair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adjacent prose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three sets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적어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figure/prose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내부적으로 다르므로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덱은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visible legend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다섯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condition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따릅니다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task 1–6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9a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값을 쓰며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one-sided case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extreme 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uneven resource allocation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해석합니다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mdpi-2024 | p. 17; Fig. 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Wang et al., Electronics 2024, 13(12), 2387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https://www.mdpi.com/2079-9292/13/12/2387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49E4F5C-C603-41D2-99AD-613A9454CB2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source-grounded limits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single-agent boundary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 11, idealized simulation boundary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 17 conclusion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Eq. 13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Eqs. 23–25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local-action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연결은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 text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완전히 해소하지 않는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modeling ambiguity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mdpi-2024 | pp. 7, 11, 13, 17; Eqs. 13, 23-25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Wang et al., Electronics 2024, 13(12), 2387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https://www.mdpi.com/2079-9292/13/12/2387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87F9AB3-ED01-45DB-8EC4-BF7A17D5180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M-GNRL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한 흐름으로 읽기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마무리는 원문의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3–5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1–2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순서를 연결합니다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 수치와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generalization claim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Figures 7–11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조건에 묶어 해석해야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mdpi-2024 | pp. 8-17; Figs. 3-11; Algs. 1-2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Wang et al., Electronics 2024, 13(12), 2387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https://www.mdpi.com/2079-9292/13/12/2387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2BE9F14-F536-4988-8DF4-C9947117BA6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변하는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MEC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연결을 그래프와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DQN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읽기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Offloading Strategy Based on Graph Neural Reinforcement Learning in Mobile Edge Computing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Tao Wang, Xue Ouyang, Dingmi Sun, Yimin Chen, Hao Li (2024)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M-GNRL: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hop GraphSAGE feature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edge-score DQN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BS offloading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선택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mdpi-2024 title page; abstract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논문의 문제와 방법 범위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이동으로 직접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간접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BS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관계가 달라질 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system cost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낮추는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offloading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전략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838080" y="21718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MEC graph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vertex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MD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BS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 현재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MD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observation point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3"/>
          <p:cNvSpPr/>
          <p:nvPr/>
        </p:nvSpPr>
        <p:spPr>
          <a:xfrm>
            <a:off x="838080" y="29080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" name="Text 4"/>
          <p:cNvSpPr/>
          <p:nvPr/>
        </p:nvSpPr>
        <p:spPr>
          <a:xfrm>
            <a:off x="838080" y="294624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slot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시작에 하나씩 생기며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time·energy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함께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cost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5"/>
          <p:cNvSpPr/>
          <p:nvPr/>
        </p:nvSpPr>
        <p:spPr>
          <a:xfrm>
            <a:off x="838080" y="3682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Text 6"/>
          <p:cNvSpPr/>
          <p:nvPr/>
        </p:nvSpPr>
        <p:spPr>
          <a:xfrm>
            <a:off x="838080" y="372096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hop GraphSAGE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node feature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만들고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DQN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 score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BS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고른다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7"/>
          <p:cNvSpPr/>
          <p:nvPr/>
        </p:nvSpPr>
        <p:spPr>
          <a:xfrm>
            <a:off x="838080" y="44575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" name="Text 8"/>
          <p:cNvSpPr/>
          <p:nvPr/>
        </p:nvSpPr>
        <p:spPr>
          <a:xfrm>
            <a:off x="838080" y="44956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single-agent simulation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physical deployment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multi-agent coordination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다루지 않는다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9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" name="Text 10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관계 구조를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feature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넣어 동적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MEC offloading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학습하는 논문이다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1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1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mdpi-2024 pp. 1-3; abstract; §1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MEC structural graph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coverage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연결은 관측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위치가 바뀌면 달라지고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graph topology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도 갱신된다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mechanism-lane-direct"/>
          <p:cNvSpPr/>
          <p:nvPr/>
        </p:nvSpPr>
        <p:spPr>
          <a:xfrm>
            <a:off x="660240" y="2209680"/>
            <a:ext cx="863280" cy="18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directly connected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mechanism-lane-indirect"/>
          <p:cNvSpPr/>
          <p:nvPr/>
        </p:nvSpPr>
        <p:spPr>
          <a:xfrm>
            <a:off x="660240" y="4102200"/>
            <a:ext cx="863280" cy="18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indirectly connected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mechanism-edge-g1-segment-1"/>
          <p:cNvSpPr/>
          <p:nvPr/>
        </p:nvSpPr>
        <p:spPr>
          <a:xfrm>
            <a:off x="3809880" y="315576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" name="mechanism-edge-g1-label"/>
          <p:cNvSpPr/>
          <p:nvPr/>
        </p:nvSpPr>
        <p:spPr>
          <a:xfrm>
            <a:off x="3517920" y="259704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direct link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mechanism-edge-g2-segment-1"/>
          <p:cNvSpPr/>
          <p:nvPr/>
        </p:nvSpPr>
        <p:spPr>
          <a:xfrm>
            <a:off x="6362640" y="315576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" name="mechanism-edge-g2-label"/>
          <p:cNvSpPr/>
          <p:nvPr/>
        </p:nvSpPr>
        <p:spPr>
          <a:xfrm>
            <a:off x="6070680" y="259704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BS link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mechanism-edge-g3-segment-1"/>
          <p:cNvSpPr/>
          <p:nvPr/>
        </p:nvSpPr>
        <p:spPr>
          <a:xfrm>
            <a:off x="8915400" y="3155760"/>
            <a:ext cx="241200" cy="360"/>
          </a:xfrm>
          <a:prstGeom prst="line">
            <a:avLst/>
          </a:prstGeom>
          <a:ln w="12700">
            <a:solidFill>
              <a:srgbClr val="5E6D69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" name="mechanism-edge-g3-segment-2"/>
          <p:cNvSpPr/>
          <p:nvPr/>
        </p:nvSpPr>
        <p:spPr>
          <a:xfrm>
            <a:off x="9156600" y="3155760"/>
            <a:ext cx="360" cy="1892160"/>
          </a:xfrm>
          <a:prstGeom prst="line">
            <a:avLst/>
          </a:prstGeom>
          <a:ln w="12700">
            <a:solidFill>
              <a:srgbClr val="5E6D69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" name="mechanism-edge-g3-segment-3"/>
          <p:cNvSpPr/>
          <p:nvPr/>
        </p:nvSpPr>
        <p:spPr>
          <a:xfrm>
            <a:off x="9156600" y="5047920"/>
            <a:ext cx="241200" cy="360"/>
          </a:xfrm>
          <a:prstGeom prst="line">
            <a:avLst/>
          </a:prstGeom>
          <a:ln w="12700">
            <a:solidFill>
              <a:srgbClr val="5E6D69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" name="mechanism-edge-g3-label"/>
          <p:cNvSpPr/>
          <p:nvPr/>
        </p:nvSpPr>
        <p:spPr>
          <a:xfrm>
            <a:off x="8623440" y="259704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indirect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mechanism-node-md"/>
          <p:cNvSpPr/>
          <p:nvPr/>
        </p:nvSpPr>
        <p:spPr>
          <a:xfrm>
            <a:off x="1739880" y="2838600"/>
            <a:ext cx="2069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current MD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mechanism-node-md-queue-1"/>
          <p:cNvSpPr/>
          <p:nvPr/>
        </p:nvSpPr>
        <p:spPr>
          <a:xfrm>
            <a:off x="1739880" y="309240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D_n, C_n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mechanism-node-md-queue-2"/>
          <p:cNvSpPr/>
          <p:nvPr/>
        </p:nvSpPr>
        <p:spPr>
          <a:xfrm>
            <a:off x="1739880" y="328284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observation point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mechanism-node-bs1"/>
          <p:cNvSpPr/>
          <p:nvPr/>
        </p:nvSpPr>
        <p:spPr>
          <a:xfrm>
            <a:off x="4292640" y="282564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BS 1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within coverage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M(t)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mechanism-node-bs2"/>
          <p:cNvSpPr/>
          <p:nvPr/>
        </p:nvSpPr>
        <p:spPr>
          <a:xfrm>
            <a:off x="6845400" y="282564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BS 2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BS-to-BS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connectivity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mechanism-node-bs3"/>
          <p:cNvSpPr/>
          <p:nvPr/>
        </p:nvSpPr>
        <p:spPr>
          <a:xfrm>
            <a:off x="9398160" y="471816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indirect BS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outside current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coverage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1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2" name="Text 1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mdpi-2024 pp. 2, 4; Fig. 1; §3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2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cost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구성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경로가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direct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인지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indirect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인지에 따라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transmission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항이 달라진다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4783320"/>
                <a:gridCol w="3587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정의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R_n,m=B log2(1+P_n,m g_n /(N0+distance^θ))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direct upload rate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T_local=C_n/f_local; E_local=P_n T_local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device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직접 실행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direct offload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T_trans=D_n/R_n,m; E_trans=P_n,m T_trans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전송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indirect BS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forwarding time·energy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BS relay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있는 경로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BS compute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f_com=weight × remaining resource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BS load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속성 반영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 cost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radio transmission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BS execution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함께 반영한다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mdpi-2024 pp. 5-7; Eqs. 1-12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cost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multiple constraints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binary BS choice, BS frequency, deadline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max execution time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함께 제한한다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5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6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7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8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9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0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1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2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3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4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5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current task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D_n(t), C_n(t), deadline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E_local when no BS chosen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offload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α E_total + β T_compute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Cost_n(t)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Eq. 13, α+β=1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feasible choice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at most one BS; Eq. 14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6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mdpi-2024 p. 7; Eqs. 13-14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graph feature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필요한가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가까운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node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만 보면 간접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multi-hop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관계를 놓칠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2"/>
          <p:cNvSpPr/>
          <p:nvPr/>
        </p:nvSpPr>
        <p:spPr>
          <a:xfrm>
            <a:off x="838080" y="21718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원문은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irregular MEC relation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non-Euclidean graph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모델링한다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3"/>
          <p:cNvSpPr/>
          <p:nvPr/>
        </p:nvSpPr>
        <p:spPr>
          <a:xfrm>
            <a:off x="838080" y="29080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2" name="Text 4"/>
          <p:cNvSpPr/>
          <p:nvPr/>
        </p:nvSpPr>
        <p:spPr>
          <a:xfrm>
            <a:off x="838080" y="294624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message passing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이웃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node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feature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현재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node embedding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반영한다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5"/>
          <p:cNvSpPr/>
          <p:nvPr/>
        </p:nvSpPr>
        <p:spPr>
          <a:xfrm>
            <a:off x="838080" y="3682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4" name="Text 6"/>
          <p:cNvSpPr/>
          <p:nvPr/>
        </p:nvSpPr>
        <p:spPr>
          <a:xfrm>
            <a:off x="838080" y="372096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논문은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direct·indirect BS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다루므로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two-hop information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사용한다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7"/>
          <p:cNvSpPr/>
          <p:nvPr/>
        </p:nvSpPr>
        <p:spPr>
          <a:xfrm>
            <a:off x="838080" y="44575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6" name="Text 8"/>
          <p:cNvSpPr/>
          <p:nvPr/>
        </p:nvSpPr>
        <p:spPr>
          <a:xfrm>
            <a:off x="838080" y="44956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GNN output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DQN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environment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edge-score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계산의 입력이 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9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8" name="Text 10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GNN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BS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후보의 관계 정보를 압축하는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feature stage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1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0" name="Text 1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mdpi-2024 pp. 2-3, 9; §1; §4.2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1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hop GraphSAGE feature learning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sampled neighbors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집계해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BS embedding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업데이트한다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raw graph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G_t=(V_g, zeta)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8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9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sample neighbors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MD-BS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BS-BS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3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4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layer 1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neighbor aggregation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8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9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layer 2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two-hop context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3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4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embedding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updated h_n, h_m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8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9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layer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이 논문의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direct·indirect BS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범위에 맞춘 선택이다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1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mdpi-2024 pp. 9-10; Eqs. 15-19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embedding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DQN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학습을 분리한다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GraphSAGE embedding loss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DQN temporal-difference loss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서로 다른 단계다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4892040"/>
                <a:gridCol w="32612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목표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업데이트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GraphSAGE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neighbor embedding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negative samples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Eq. 20; Adam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W1, W2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 feature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Con(h_n,h_m) → MLP1 → MLP2 → softmax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Eq. 23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DQN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replay sample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reward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 value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Eq. 26; gradient update Eq. 27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GNN message aggregation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DQN policy learning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loss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합치지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mdpi-2024 pp. 10-12; Eqs. 20, 23, 26-27; Alg.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DQN state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원문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task·deadline·BS load·remaining resource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포함하며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reward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정의는 원문 그대로 읽는다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5652720"/>
                <a:gridCol w="28263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요소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내용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 s_t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D_n, C_n, De_n, L_mu(m), L_mu(m)^s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Eq. 22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 time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r_t=1/Cost_n(t), 0&lt;T_e≤tau_n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Eq. 21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표기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otherwise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r_t=.1(tau_n-T_e)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deadline/max time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experience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(s,a,r,s') replay pool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Algorithm 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부호나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cost-to-reward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변환을 덱에서 임의로 고치지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mdpi-2024 pp. 10-12; Eqs. 21-22; Alg.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 feature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one-hot BS action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까지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updated MD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BS feature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softmax score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중 최대값을 택하는 방식이다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h_n, h_m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updated node features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5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6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concatenate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Con(h_n,h_m)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0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1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MLP1, MLP2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 feature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5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6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softmax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offloading probabilities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0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1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argmax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one-hot x_m(t)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5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6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Eq. 23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 feature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graph link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자체와 구별되는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decision score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8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mdpi-2024 pp. 10-11; Eqs. 23-25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교육용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edge-score toy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score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원문 데이터가 아닌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Eq. 23–25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재계산하는 가정이다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3152520"/>
                <a:gridCol w="2608920"/>
                <a:gridCol w="23914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candidate BS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invented softmax score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one-hot x_m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BS 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.20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BS 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.65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max score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indirect BS 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.15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check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.20+.65+.15=1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one entry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BS 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max-probability rule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보일 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paper experiment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재현하지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mdpi-2024 pp. 7, 10-11; Eqs. 13, 23-25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Algorithm 1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training loop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graph embedding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만든 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DQN replay loop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parameter omega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갱신한다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embedding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Eqs. 15-20; Adam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4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5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graph environment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learned graph input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9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0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 and action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Eqs. 22-24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4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5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store tuple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s,a,r,s' replay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9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0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mini-batch update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Eqs. 26-27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4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5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Algorithm 1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pre-trained scheduler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replay-based DQN training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연결한다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7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mdpi-2024 p. 12; Algorithm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scheduler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execution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Fig. 3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graph data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scheduler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보내고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결과를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MEC processing path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이어 준다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mechanism-lane-decision"/>
          <p:cNvSpPr/>
          <p:nvPr/>
        </p:nvSpPr>
        <p:spPr>
          <a:xfrm>
            <a:off x="660240" y="2209680"/>
            <a:ext cx="863280" cy="18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branch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mechanism-lane-mec"/>
          <p:cNvSpPr/>
          <p:nvPr/>
        </p:nvSpPr>
        <p:spPr>
          <a:xfrm>
            <a:off x="660240" y="4102200"/>
            <a:ext cx="863280" cy="18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offload branch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mechanism-edge-p1-segment-1"/>
          <p:cNvSpPr/>
          <p:nvPr/>
        </p:nvSpPr>
        <p:spPr>
          <a:xfrm>
            <a:off x="3809880" y="315576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4" name="mechanism-edge-p1-label"/>
          <p:cNvSpPr/>
          <p:nvPr/>
        </p:nvSpPr>
        <p:spPr>
          <a:xfrm>
            <a:off x="3517920" y="259704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graph data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mechanism-edge-p2-segment-1"/>
          <p:cNvSpPr/>
          <p:nvPr/>
        </p:nvSpPr>
        <p:spPr>
          <a:xfrm>
            <a:off x="6362640" y="2952720"/>
            <a:ext cx="3214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6" name="mechanism-edge-p2-segment-2"/>
          <p:cNvSpPr/>
          <p:nvPr/>
        </p:nvSpPr>
        <p:spPr>
          <a:xfrm>
            <a:off x="6684120" y="2952720"/>
            <a:ext cx="360" cy="2030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7" name="mechanism-edge-p2-segment-3"/>
          <p:cNvSpPr/>
          <p:nvPr/>
        </p:nvSpPr>
        <p:spPr>
          <a:xfrm>
            <a:off x="6684120" y="315576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8" name="mechanism-edge-p2-label"/>
          <p:cNvSpPr/>
          <p:nvPr/>
        </p:nvSpPr>
        <p:spPr>
          <a:xfrm>
            <a:off x="6070680" y="259704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mechanism-edge-p3-segment-1"/>
          <p:cNvSpPr/>
          <p:nvPr/>
        </p:nvSpPr>
        <p:spPr>
          <a:xfrm>
            <a:off x="6362640" y="335880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0" name="mechanism-edge-p3-segment-2"/>
          <p:cNvSpPr/>
          <p:nvPr/>
        </p:nvSpPr>
        <p:spPr>
          <a:xfrm>
            <a:off x="6523560" y="3358800"/>
            <a:ext cx="360" cy="168912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1" name="mechanism-edge-p3-segment-3"/>
          <p:cNvSpPr/>
          <p:nvPr/>
        </p:nvSpPr>
        <p:spPr>
          <a:xfrm>
            <a:off x="6523560" y="5047920"/>
            <a:ext cx="32148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2" name="mechanism-edge-p3-label"/>
          <p:cNvSpPr/>
          <p:nvPr/>
        </p:nvSpPr>
        <p:spPr>
          <a:xfrm>
            <a:off x="6070680" y="541656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mechanism-edge-p4-segment-1"/>
          <p:cNvSpPr/>
          <p:nvPr/>
        </p:nvSpPr>
        <p:spPr>
          <a:xfrm>
            <a:off x="8915400" y="3155760"/>
            <a:ext cx="3214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4" name="mechanism-edge-p4-segment-2"/>
          <p:cNvSpPr/>
          <p:nvPr/>
        </p:nvSpPr>
        <p:spPr>
          <a:xfrm flipV="1">
            <a:off x="9236880" y="2952720"/>
            <a:ext cx="360" cy="2030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5" name="mechanism-edge-p4-segment-3"/>
          <p:cNvSpPr/>
          <p:nvPr/>
        </p:nvSpPr>
        <p:spPr>
          <a:xfrm>
            <a:off x="9236880" y="295272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6" name="mechanism-edge-p4-label"/>
          <p:cNvSpPr/>
          <p:nvPr/>
        </p:nvSpPr>
        <p:spPr>
          <a:xfrm>
            <a:off x="8623440" y="259704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return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mechanism-edge-p5-segment-1"/>
          <p:cNvSpPr/>
          <p:nvPr/>
        </p:nvSpPr>
        <p:spPr>
          <a:xfrm>
            <a:off x="8915400" y="5047920"/>
            <a:ext cx="16056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8" name="mechanism-edge-p5-segment-2"/>
          <p:cNvSpPr/>
          <p:nvPr/>
        </p:nvSpPr>
        <p:spPr>
          <a:xfrm flipV="1">
            <a:off x="9075960" y="3358800"/>
            <a:ext cx="360" cy="168912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9" name="mechanism-edge-p5-segment-3"/>
          <p:cNvSpPr/>
          <p:nvPr/>
        </p:nvSpPr>
        <p:spPr>
          <a:xfrm>
            <a:off x="9075960" y="3358800"/>
            <a:ext cx="32184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0" name="mechanism-edge-p5-label"/>
          <p:cNvSpPr/>
          <p:nvPr/>
        </p:nvSpPr>
        <p:spPr>
          <a:xfrm>
            <a:off x="8623440" y="541656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return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mechanism-node-task"/>
          <p:cNvSpPr/>
          <p:nvPr/>
        </p:nvSpPr>
        <p:spPr>
          <a:xfrm>
            <a:off x="1739880" y="2933640"/>
            <a:ext cx="2069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new task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mechanism-node-task-queue-1"/>
          <p:cNvSpPr/>
          <p:nvPr/>
        </p:nvSpPr>
        <p:spPr>
          <a:xfrm>
            <a:off x="1739880" y="318780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MD relation graph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mechanism-node-scheduler"/>
          <p:cNvSpPr/>
          <p:nvPr/>
        </p:nvSpPr>
        <p:spPr>
          <a:xfrm>
            <a:off x="4292640" y="282564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scheduler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offloading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decision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mechanism-node-local"/>
          <p:cNvSpPr/>
          <p:nvPr/>
        </p:nvSpPr>
        <p:spPr>
          <a:xfrm>
            <a:off x="6845400" y="282564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device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processes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mechanism-node-mec"/>
          <p:cNvSpPr/>
          <p:nvPr/>
        </p:nvSpPr>
        <p:spPr>
          <a:xfrm>
            <a:off x="6845400" y="471816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MEC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BS resource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allocation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mechanism-node-result"/>
          <p:cNvSpPr/>
          <p:nvPr/>
        </p:nvSpPr>
        <p:spPr>
          <a:xfrm>
            <a:off x="9398160" y="282564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return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result to MD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8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mdpi-2024 p. 8; Fig. 3; §4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관측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MD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이동 뒤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adjacency-list update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Algorithm 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changed-set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입력 아래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vertex-table addition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보이는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illustration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mechanism-lane-update"/>
          <p:cNvSpPr/>
          <p:nvPr/>
        </p:nvSpPr>
        <p:spPr>
          <a:xfrm>
            <a:off x="660240" y="2209680"/>
            <a:ext cx="863280" cy="378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graph update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mechanism-edge-u1-segment-1"/>
          <p:cNvSpPr/>
          <p:nvPr/>
        </p:nvSpPr>
        <p:spPr>
          <a:xfrm>
            <a:off x="3809880" y="410184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4" name="mechanism-edge-u1-label"/>
          <p:cNvSpPr/>
          <p:nvPr/>
        </p:nvSpPr>
        <p:spPr>
          <a:xfrm>
            <a:off x="3517920" y="354348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compare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mechanism-edge-u2-segment-1"/>
          <p:cNvSpPr/>
          <p:nvPr/>
        </p:nvSpPr>
        <p:spPr>
          <a:xfrm>
            <a:off x="6362640" y="410184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6" name="mechanism-edge-u2-label"/>
          <p:cNvSpPr/>
          <p:nvPr/>
        </p:nvSpPr>
        <p:spPr>
          <a:xfrm>
            <a:off x="6070680" y="354348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addition only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mechanism-edge-u3-segment-1"/>
          <p:cNvSpPr/>
          <p:nvPr/>
        </p:nvSpPr>
        <p:spPr>
          <a:xfrm>
            <a:off x="8915400" y="410184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8" name="mechanism-edge-u3-label"/>
          <p:cNvSpPr/>
          <p:nvPr/>
        </p:nvSpPr>
        <p:spPr>
          <a:xfrm>
            <a:off x="8623440" y="354348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refresh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mechanism-node-old"/>
          <p:cNvSpPr/>
          <p:nvPr/>
        </p:nvSpPr>
        <p:spPr>
          <a:xfrm>
            <a:off x="1739880" y="3879720"/>
            <a:ext cx="2069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G(t)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mechanism-node-old-queue-1"/>
          <p:cNvSpPr/>
          <p:nvPr/>
        </p:nvSpPr>
        <p:spPr>
          <a:xfrm>
            <a:off x="1739880" y="413388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cached list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mechanism-node-change"/>
          <p:cNvSpPr/>
          <p:nvPr/>
        </p:nvSpPr>
        <p:spPr>
          <a:xfrm>
            <a:off x="4292640" y="377208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changed sets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C(vertices)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C(edges)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mechanism-node-new"/>
          <p:cNvSpPr/>
          <p:nvPr/>
        </p:nvSpPr>
        <p:spPr>
          <a:xfrm>
            <a:off x="6845400" y="377208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addition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add vertex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mechanism-node-next"/>
          <p:cNvSpPr/>
          <p:nvPr/>
        </p:nvSpPr>
        <p:spPr>
          <a:xfrm>
            <a:off x="9398160" y="377208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next decision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input to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Algorithm 1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1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5" name="Text 1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mdpi-2024 pp. 12-13; Fig. 5; Algorithm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1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simulation graph records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실험 입력은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MD record, BS record, connection record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세 종류다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6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5652720"/>
                <a:gridCol w="27176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record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fields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graph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ID, D, C, deadline, priority, local CPU, slot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node feature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ID, F, P, load, remaining resource, range, slot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BS node feature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connection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BS ID, MD/BS ID, rate, distance, slot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 relation and attributes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원문 실험은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graph input schema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명시하지만 공개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dataset download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제공하지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mdpi-2024 pp. 13, 18; §5.1; data availability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 2 simulation conditions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수치 결과는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bandwidth, task, CPU, replay setting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정해진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simulation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나온다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3261240"/>
                <a:gridCol w="5652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network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bandwidth; slot sequence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 MHz; T=80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size; CPU cycles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800–2000 kbytes; 1000–2500 Mcycles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compute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MD CPU; BS CPU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.5–1.5 GHz; 4–11 GHz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episodes; batch; replay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1000/1200/1400; 100; 1500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gamma; learning rate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.93/.95/.97/.99; .001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reported performance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MEC deployment specification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일반화하면 안 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mdpi-2024 pp. 14-15; Table 2; Fig. 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baseline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역할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baseline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동일한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GNN-DQN variant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아니라 서로 다른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policy family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5435280"/>
                <a:gridCol w="30438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설명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 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device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offloading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offload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BS selection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nonlearned reference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GNN-A2C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aerial EdgeIoT graph RL framework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GNN plus A2C reference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Coop-UEC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drone cooperative DRL offloading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long-term reward DRL reference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M-GNRL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결과는 이 네 방법 및 논문의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조건에 대한 비교다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mdpi-2024 pp. 13-14; §5.1; refs. 23, 32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discount factor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convergence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Fig. 7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gamma=.97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이후 실험에 쓰게 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empirical selection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Fig. 8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조건부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convergence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비교다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369960"/>
                <a:gridCol w="4565880"/>
                <a:gridCol w="29350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 또는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setting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reported observation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gamma=.97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7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highest average reward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tested .93, .95, .97, .99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Coop-UEC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1050 episode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.35–.44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GNN-A2C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920 iteration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.66–.78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M-GNRL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950 iteration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.82–.97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GNN-A2C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약간 더 빠르지만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M-GNRL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stable state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더 높은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보였다고 보고한다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mdpi-2024 p. 15; Figs. 7-8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arrival rate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system cost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load, topology, coverage, BS frequency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각각 바꾼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simulation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결과를 같은 주장으로 합치지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2"/>
          <p:cNvSpPr/>
          <p:nvPr/>
        </p:nvSpPr>
        <p:spPr>
          <a:xfrm>
            <a:off x="838080" y="21718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Fig. 9a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fixed BS resource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volume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커질 때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arrival rate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비교한다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Shape 3"/>
          <p:cNvSpPr/>
          <p:nvPr/>
        </p:nvSpPr>
        <p:spPr>
          <a:xfrm>
            <a:off x="838080" y="29080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3" name="Text 4"/>
          <p:cNvSpPr/>
          <p:nvPr/>
        </p:nvSpPr>
        <p:spPr>
          <a:xfrm>
            <a:off x="838080" y="294624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Fig. 9b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direct·indirect BS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MD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수가 다른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six topology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비교한다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Shape 5"/>
          <p:cNvSpPr/>
          <p:nvPr/>
        </p:nvSpPr>
        <p:spPr>
          <a:xfrm>
            <a:off x="838080" y="3682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5" name="Text 6"/>
          <p:cNvSpPr/>
          <p:nvPr/>
        </p:nvSpPr>
        <p:spPr>
          <a:xfrm>
            <a:off x="838080" y="372096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Fig. 10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topology, BS coverage, BS frequency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따른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system cost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제시한다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Shape 7"/>
          <p:cNvSpPr/>
          <p:nvPr/>
        </p:nvSpPr>
        <p:spPr>
          <a:xfrm>
            <a:off x="838080" y="44575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7" name="Text 8"/>
          <p:cNvSpPr/>
          <p:nvPr/>
        </p:nvSpPr>
        <p:spPr>
          <a:xfrm>
            <a:off x="838080" y="44956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원문은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GNN-A2C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Coop-UEC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대비 약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22.8%, M-GNRL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GNN-A2C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대비 약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15.6% cost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낮췄다고 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Shape 9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9" name="Text 10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22.8%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15.6%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서로 다른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baseline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대한 조건부 비교다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Shape 1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1" name="Text 1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mdpi-2024 pp. 16-17; Figs. 9-10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1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 coefficient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경계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time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energy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한쪽만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cost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두면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Fig. 11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extreme cost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uneven allocation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관찰된다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152520"/>
                <a:gridCol w="4457160"/>
                <a:gridCol w="32612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setting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비교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alpha=0, beta=1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time-side only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11 conditions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alpha=1, beta=0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energy-side only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11 conditions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alpha=.7, beta=.3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mixed setting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11 condition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alpha=.3, beta=.7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mixed setting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11 condition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alpha=.5, beta=.5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mixed setting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11 condition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cost weights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objective preference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paper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보편적 최적 값을 제시하지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mdpi-2024 p. 17; Fig. 11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source-grounded limits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mechanism claim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evidence boundary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분리해 읽는다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2"/>
          <p:cNvSpPr/>
          <p:nvPr/>
        </p:nvSpPr>
        <p:spPr>
          <a:xfrm>
            <a:off x="838080" y="21718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Graph update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adjacency-list addition demonstration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deletion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text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similar procedure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라고만 말한다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Shape 3"/>
          <p:cNvSpPr/>
          <p:nvPr/>
        </p:nvSpPr>
        <p:spPr>
          <a:xfrm>
            <a:off x="838080" y="29080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5" name="Text 4"/>
          <p:cNvSpPr/>
          <p:nvPr/>
        </p:nvSpPr>
        <p:spPr>
          <a:xfrm>
            <a:off x="838080" y="294624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Algorithm 1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single-agent task offloading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future work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multi-agent collaboration·competition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든다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Shape 5"/>
          <p:cNvSpPr/>
          <p:nvPr/>
        </p:nvSpPr>
        <p:spPr>
          <a:xfrm>
            <a:off x="838080" y="3682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7" name="Text 6"/>
          <p:cNvSpPr/>
          <p:nvPr/>
        </p:nvSpPr>
        <p:spPr>
          <a:xfrm>
            <a:off x="838080" y="372096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Eq. 13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option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두지만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Eq. 23–25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BS edge-score action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구체화한다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7"/>
          <p:cNvSpPr/>
          <p:nvPr/>
        </p:nvSpPr>
        <p:spPr>
          <a:xfrm>
            <a:off x="838080" y="44575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9" name="Text 8"/>
          <p:cNvSpPr/>
          <p:nvPr/>
        </p:nvSpPr>
        <p:spPr>
          <a:xfrm>
            <a:off x="838080" y="44956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결론은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idealized setting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제약된다고 밝히며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real-world test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future work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Shape 9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1" name="Text 10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M-GNRL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dynamic graph simulation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전략이며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deployed MEC guarantee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Shape 1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3" name="Text 1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mdpi-2024 pp. 7, 11, 13, 17; Eqs. 13, 23-25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1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M-GNRL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한 흐름으로 읽기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moving MD relation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graph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갱신하고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two-hop feature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DQN edge score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거쳐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offloading choice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만든다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MEC graph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MD-BS relation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1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2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GraphSAGE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two-hop embeddings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6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7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DQN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state, reward, replay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1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2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 action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softmax and argmax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6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7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execution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or MEC path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1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2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핵심 기여는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graph relation feature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DQN offloading decision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연결한 점이다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4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mdpi-2024 pp. 8-17; Figs. 3-11; Algs. 1-2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2026-09-12T07:59:35Z</dcterms:created>
  <dc:creator>Research Seminars</dc:creator>
  <dc:description/>
  <dc:language>ko-KR</dc:language>
  <cp:lastModifiedBy>Research Seminars</cp:lastModifiedBy>
  <dcterms:modified xsi:type="dcterms:W3CDTF">2026-09-12T07:59:35Z</dcterms:modified>
  <cp:revision>1</cp:revision>
  <dc:subject>Offloading Strategy Based on Graph Neural Reinforcement Learning in Mobile Edge Computing</dc:subject>
  <dc:title>변하는 MEC 연결을 그래프와 DQN으로 읽기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22</vt:r8>
  </property>
  <property fmtid="{D5CDD505-2E9C-101B-9397-08002B2CF9AE}" pid="3" name="PresentationFormat">
    <vt:lpwstr>On-screen Show (16:9)</vt:lpwstr>
  </property>
  <property fmtid="{D5CDD505-2E9C-101B-9397-08002B2CF9AE}" pid="4" name="Slides">
    <vt:r8>22</vt:r8>
  </property>
</Properties>
</file>
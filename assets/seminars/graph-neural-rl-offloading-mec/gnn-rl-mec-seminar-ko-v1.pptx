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변하는 MEC 연결을 그래프와 DQN으로 읽기
발표 대본
이 덱은 Wang 등, Electronics 2024, 13, 2387의 원문을 기준으로 합니다. 제안법은 M-GNRL이며 GraphSAGE와 DQN을 결합합니다.
공개 출처
mdpi-2024 | title page; abstract
Wang et al., Electronics 2024, 13(12), 2387
https://www.mdpi.com/2079-9292/13/12/2387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 논문의 문제와 방법 범위
발표 대본
원문은 service coverage constraint와 동적 연결을 핵심 동기로 듭니다. discrete action에는 DQN을 사용한다고 명시하며 actor-critic을 제안하지 않습니다.
공개 출처
mdpi-2024 | pp. 1-3; abstract; §1
Wang et al., Electronics 2024, 13(12), 2387
https://www.mdpi.com/2079-9292/13/12/2387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 MEC structural graph와 coverage
발표 대본
Fig. 1은 current device, BS, coverage circle 및 MEC structure graph를 함께 보여 줍니다. Section 3은 M을 directly connected BS, M+s를 indirectly connected BS로 둡니다.
공개 출처
mdpi-2024 | pp. 2, 4; Fig. 1; §3
Wang et al., Electronics 2024, 13(12), 2387
https://www.mdpi.com/2079-9292/13/12/2387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 local과 offload의 cost 구성
발표 대본
식 1은 rate, 식 2–3은 local time·energy, 식 4–7은 direct/forward transmission과 total energy입니다. 식 8–12는 BS resource scheduling과 load factor를 정의합니다.
공개 출처
mdpi-2024 | pp. 5-7; Eqs. 1-12
Wang et al., Electronics 2024, 13(12), 2387
https://www.mdpi.com/2079-9292/13/12/2387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5. cost와 multiple constraints
발표 대본
식 13은 선택 합이 0이면 local energy, 1이면 offloading energy와 compute time의 가중합을 씁니다. 식 14는 binary choice, task sequence, BS CPU, execution-time 및 at-most-one 제약을 둡니다.
공개 출처
mdpi-2024 | p. 7; Eqs. 13-14
Wang et al., Electronics 2024, 13(12), 2387
https://www.mdpi.com/2079-9292/13/12/2387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6. 왜 graph feature가 필요한가
발표 대본
Section 1은 기존 DRL이 entity connection을 충분히 고려하지 못한다고 동기를 설명합니다. Section 4.2는 direct·indirect BS 때문에 I=2라고 명시합니다.
공개 출처
mdpi-2024 | pp. 2-3, 9; §1; §4.2
Wang et al., Electronics 2024, 13(12), 2387
https://www.mdpi.com/2079-9292/13/12/2387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7. 두 hop GraphSAGE feature learning
발표 대본
식 15는 device embedding, 식 16–19는 BS가 device·BS neighbor를 집계하는 방법입니다. W parameters와 activation은 학습되며, 무작정 모든 graph depth를 쓰는 설계가 아닙니다.
공개 출처
mdpi-2024 | pp. 9-10; Eqs. 15-19
Wang et al., Electronics 2024, 13(12), 2387
https://www.mdpi.com/2079-9292/13/12/2387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8. embedding 학습과 DQN 학습을 분리한다
발표 대본
식 20은 random-walk neighbor와 negative sampling을 포함한 embedding loss입니다. Algorithm 1은 먼저 node embedding을 얻고, 이어 DQN replay loop를 수행합니다.
공개 출처
mdpi-2024 | pp. 10-12; Eqs. 20, 23, 26-27; Alg. 1
Wang et al., Electronics 2024, 13(12), 2387
https://www.mdpi.com/2079-9292/13/12/2387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9. DQN state와 원문 reward
발표 대본
식 21의 piecewise reward는 성공 시간 조건에서 1/Cost_n(t)를 씁니다. 이 덱은 reciprocal-cost 표기를 source 그대로 두며, 별도 sign-conversion 해석을 더하지 않습니다.
공개 출처
mdpi-2024 | pp. 10-12; Eqs. 21-22; Alg. 1
Wang et al., Electronics 2024, 13(12), 2387
https://www.mdpi.com/2079-9292/13/12/2387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10. edge feature에서 one-hot BS action까지
발표 대본
식 23은 concatenated node feature를 두 MLP와 softmax로 보내 edge feature를 만듭니다. 식 24–25는 action vector와 최고 score BS의 one-hot choice를 정의합니다.
공개 출처
mdpi-2024 | pp. 10-11; Eqs. 23-25
Wang et al., Electronics 2024, 13(12), 2387
https://www.mdpi.com/2079-9292/13/12/2387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11. 교육용 edge-score toy
발표 대본
교육용으로 score를 가정했습니다. 식 25의 argmax rule을 따르면 BS 2를 선택합니다. Eq. 13의 local option과 Eq. 23–25의 BS-only score vector 연결은 원문이 충분히 설명하지 않는 한계입니다.
공개 출처
mdpi-2024 | pp. 7, 10-11; Eqs. 13, 23-25
Wang et al., Electronics 2024, 13(12), 2387
https://www.mdpi.com/2079-9292/13/12/2387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12. Algorithm 1의 training loop
발표 대본
Algorithm 1의 1–10행은 GNN embedding, 11행은 learned graph를 DRL environment로 사용, 12–21행은 replay pool과 mini-batch parameter update입니다. actor·critic은 없습니다.
공개 출처
mdpi-2024 | p. 12; Algorithm 1
Wang et al., Electronics 2024, 13(12), 2387
https://www.mdpi.com/2079-9292/13/12/2387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13. 학습된 scheduler 이후 task execution
발표 대본
Fig. 3은 MD layer의 graph data가 offloading scheduler로 들어간 뒤, scheduler가 local execution 또는 MEC resource allocation/processing 중 하나를 고르게 하는 흐름입니다. 두 결과는 MD로 return될 수 있지만 local execution이 MEC processing으로 들어간다는 뜻은 아닙니다.
공개 출처
mdpi-2024 | p. 8; Fig. 3; §4
Wang et al., Electronics 2024, 13(12), 2387
https://www.mdpi.com/2079-9292/13/12/2387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14. 관측 MD 이동 뒤 adjacency-list update
발표 대본
Fig. 5는 t, t+5, t+10에서 observation node가 바뀌며 graph와 embedding이 바뀌는 그림입니다. Algorithm 2는 adjacency linked list를 초기화하고 changed-set input 아래 vertex-table addition을 보입니다. deletion은 surrounding prose가 similar procedure라고만 말하며, printed algorithm이 edge deletion/update를 보이지는 않습니다.
공개 출처
mdpi-2024 | pp. 12-13; Fig. 5; Algorithm 2
Wang et al., Electronics 2024, 13(12), 2387
https://www.mdpi.com/2079-9292/13/12/2387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15. simulation graph records
발표 대본
Section 5.1은 세 record format을 나열하고 mobile devices are uniformly distributed within each BS service range라고 설명합니다. Data availability statement는 data are contained in the article라고만 말합니다.
공개 출처
mdpi-2024 | pp. 13, 18; §5.1; data availability
Wang et al., Electronics 2024, 13(12), 2387
https://www.mdpi.com/2079-9292/13/12/2387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16. Table 2 simulation conditions
발표 대본
Table 2에는 theta=[.5,1], BS coverage=[.5,4] km도 있습니다. Fig. 6 scenario는 4 km by 4 km 영역과 BS coverage .5 km를 사용합니다.
공개 출처
mdpi-2024 | pp. 14-15; Table 2; Fig. 6
Wang et al., Electronics 2024, 13(12), 2387
https://www.mdpi.com/2079-9292/13/12/2387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17. 비교 baseline의 역할
발표 대본
Section 5.1이 LOCAL, RANDOM, GNN-A2C, Coop-UEC를 정의합니다. GNN-A2C와 Coop-UEC는 다른 application context의 cited method이므로 동일 architecture라고 부르지 않습니다.
공개 출처
mdpi-2024 | pp. 13-14; §5.1; refs. 23, 32
Wang et al., Electronics 2024, 13(12), 2387
https://www.mdpi.com/2079-9292/13/12/2387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18. discount factor 선택과 convergence
발표 대본
원문은 gamma 증가와 reward가 linear relation이 아니라고 말합니다. Fig. 8의 range와 timing은 paper의 graph interpretation이며, 일반 convergence guarantee가 아닙니다.
공개 출처
mdpi-2024 | p. 15; Figs. 7-8
Wang et al., Electronics 2024, 13(12), 2387
https://www.mdpi.com/2079-9292/13/12/2387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19. arrival rate와 system cost 결과
발표 대본
Fig. 9의 topology label은 (4+5) times 20처럼 direct BS, indirect BS, MD counts를 표기합니다. Fig. 10의 percentage statements는 paper가 동일 experimental environment의 averaged cost difference로 설명한 값입니다.
공개 출처
mdpi-2024 | pp. 16-17; Figs. 9-10
Wang et al., Electronics 2024, 13(12), 2387
https://www.mdpi.com/2079-9292/13/12/2387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20. weight coefficient의 경계
발표 대본
Fig. 11 legend는 (alpha,beta)=(0,1),(1,0),(.7,.3),(.3,.7),(.5,.5)의 다섯 pair를 보입니다. adjacent prose는 three sets라고 적어 figure/prose가 내부적으로 다르므로, 이 덱은 visible legend의 다섯 condition을 따릅니다. task 1–6은 Fig. 9a 값을 쓰며, 저자들은 one-sided case에서 extreme cost와 uneven resource allocation을 해석합니다.
공개 출처
mdpi-2024 | p. 17; Fig. 11
Wang et al., Electronics 2024, 13(12), 2387
https://www.mdpi.com/2079-9292/13/12/2387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21. source-grounded limits
발표 대본
single-agent boundary는 p. 11, idealized simulation boundary는 p. 17 conclusion에 있습니다. Eq. 13과 Eqs. 23–25의 local-action 연결은 source text가 완전히 해소하지 않는 modeling ambiguity로 표시합니다.
공개 출처
mdpi-2024 | pp. 7, 11, 13, 17; Eqs. 13, 23-25
Wang et al., Electronics 2024, 13(12), 2387
https://www.mdpi.com/2079-9292/13/12/2387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22. M-GNRL을 한 흐름으로 읽기
발표 대본
마무리는 원문의 Fig. 3–5 및 Algorithm 1–2 순서를 연결합니다. 결과 수치와 generalization claim은 Table 2와 Figures 7–11의 simulation 조건에 묶어 해석해야 합니다.
공개 출처
mdpi-2024 | pp. 8-17; Figs. 3-11; Algs. 1-2
Wang et al., Electronics 2024, 13(12), 2387
https://www.mdpi.com/2079-9292/13/12/2387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5900" cy="6858000"/>
          </a:xfrm>
          <a:prstGeom prst="rect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3" name="Text 1"/>
          <p:cNvSpPr txBox="1"/>
          <p:nvPr/>
        </p:nvSpPr>
        <p:spPr>
          <a:xfrm>
            <a:off x="889000" y="889000"/>
            <a:ext cx="8763000" cy="134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변하는 MEC 연결을 그래프와 DQN으로 읽기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89000" y="2413000"/>
            <a:ext cx="9652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Offloading Strategy Based on Graph Neural Reinforcement Learning in Mobile Edge Computing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89000" y="4076700"/>
            <a:ext cx="96520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6" name="Text 4"/>
          <p:cNvSpPr txBox="1"/>
          <p:nvPr/>
        </p:nvSpPr>
        <p:spPr>
          <a:xfrm>
            <a:off x="889000" y="4368800"/>
            <a:ext cx="965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Tao Wang, Xue Ouyang, Dingmi Sun, Yimin Chen, Hao Li (2024)</a:t>
            </a:r>
            <a:endParaRPr lang="en-US" sz="1750" dirty="0"/>
          </a:p>
        </p:txBody>
      </p:sp>
      <p:sp>
        <p:nvSpPr>
          <p:cNvPr id="7" name="Text 5"/>
          <p:cNvSpPr txBox="1"/>
          <p:nvPr/>
        </p:nvSpPr>
        <p:spPr>
          <a:xfrm>
            <a:off x="889000" y="5245100"/>
            <a:ext cx="965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M-GNRL: 두 hop GraphSAGE feature와 edge-score DQN으로 BS offloading을 선택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9" name="Text 7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mdpi-2024 title page; abstract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논문의 문제와 방법 범위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현재 MD의 이동으로 직접·간접 BS 관계가 달라질 때 system cost를 낮추는 offloading 전략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838200" y="2171700"/>
            <a:ext cx="1069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254000" indent="-254000">
              <a:lnSpc>
                <a:spcPct val="125000"/>
              </a:lnSpc>
              <a:buSzPct val="100000"/>
              <a:buChar char="•"/>
            </a:pPr>
            <a:r>
              <a:rPr lang="en-US" sz="20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MEC graph의 vertex는 MD와 BS이며 현재 MD가 observation point다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38200" y="2908300"/>
            <a:ext cx="106934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6" name="Text 4"/>
          <p:cNvSpPr txBox="1"/>
          <p:nvPr/>
        </p:nvSpPr>
        <p:spPr>
          <a:xfrm>
            <a:off x="838200" y="2946400"/>
            <a:ext cx="1069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254000" indent="-254000">
              <a:lnSpc>
                <a:spcPct val="125000"/>
              </a:lnSpc>
              <a:buSzPct val="100000"/>
              <a:buChar char="•"/>
            </a:pPr>
            <a:r>
              <a:rPr lang="en-US" sz="20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task는 한 slot 시작에 하나씩 생기며 time·energy를 함께 cost로 둔다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38200" y="3683000"/>
            <a:ext cx="106934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8" name="Text 6"/>
          <p:cNvSpPr txBox="1"/>
          <p:nvPr/>
        </p:nvSpPr>
        <p:spPr>
          <a:xfrm>
            <a:off x="838200" y="3721100"/>
            <a:ext cx="1069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254000" indent="-254000">
              <a:lnSpc>
                <a:spcPct val="125000"/>
              </a:lnSpc>
              <a:buSzPct val="100000"/>
              <a:buChar char="•"/>
            </a:pPr>
            <a:r>
              <a:rPr lang="en-US" sz="20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두 hop GraphSAGE가 node feature를 만들고 DQN이 edge score로 BS를 고른다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38200" y="4457700"/>
            <a:ext cx="106934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0" name="Text 8"/>
          <p:cNvSpPr txBox="1"/>
          <p:nvPr/>
        </p:nvSpPr>
        <p:spPr>
          <a:xfrm>
            <a:off x="838200" y="4495800"/>
            <a:ext cx="1069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254000" indent="-254000">
              <a:lnSpc>
                <a:spcPct val="125000"/>
              </a:lnSpc>
              <a:buSzPct val="100000"/>
              <a:buChar char="•"/>
            </a:pPr>
            <a:r>
              <a:rPr lang="en-US" sz="20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single-agent simulation이며 physical deployment나 multi-agent coordination은 다루지 않는다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2" name="Text 10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관계 구조를 feature로 넣어 동적 MEC offloading을 학습하는 논문이다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4" name="Text 12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mdpi-2024 pp. 1-3; abstract; §1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MEC structural graph와 coverage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BS와 MD의 연결은 관측 MD의 위치가 바뀌면 달라지고 graph topology도 갱신된다</a:t>
            </a:r>
            <a:endParaRPr lang="en-US" sz="1900" dirty="0"/>
          </a:p>
        </p:txBody>
      </p:sp>
      <p:sp>
        <p:nvSpPr>
          <p:cNvPr id="4" name="mechanism-lane-direct"/>
          <p:cNvSpPr txBox="1"/>
          <p:nvPr/>
        </p:nvSpPr>
        <p:spPr>
          <a:xfrm>
            <a:off x="660400" y="2209800"/>
            <a:ext cx="863600" cy="1892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directly connected</a:t>
            </a:r>
            <a:endParaRPr lang="en-US" sz="1250" dirty="0"/>
          </a:p>
        </p:txBody>
      </p:sp>
      <p:sp>
        <p:nvSpPr>
          <p:cNvPr id="5" name="mechanism-lane-indirect"/>
          <p:cNvSpPr txBox="1"/>
          <p:nvPr/>
        </p:nvSpPr>
        <p:spPr>
          <a:xfrm>
            <a:off x="660400" y="4102100"/>
            <a:ext cx="863600" cy="1892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indirectly connected</a:t>
            </a:r>
            <a:endParaRPr lang="en-US" sz="1250" dirty="0"/>
          </a:p>
        </p:txBody>
      </p:sp>
      <p:sp>
        <p:nvSpPr>
          <p:cNvPr id="6" name="mechanism-edge-g1-segment-1"/>
          <p:cNvSpPr/>
          <p:nvPr/>
        </p:nvSpPr>
        <p:spPr>
          <a:xfrm>
            <a:off x="3810000" y="3155950"/>
            <a:ext cx="4826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7" name="mechanism-edge-g1-label"/>
          <p:cNvSpPr txBox="1"/>
          <p:nvPr/>
        </p:nvSpPr>
        <p:spPr>
          <a:xfrm>
            <a:off x="3517900" y="2597150"/>
            <a:ext cx="1066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direct link</a:t>
            </a:r>
            <a:endParaRPr lang="en-US" sz="950" dirty="0"/>
          </a:p>
        </p:txBody>
      </p:sp>
      <p:sp>
        <p:nvSpPr>
          <p:cNvPr id="8" name="mechanism-edge-g2-segment-1"/>
          <p:cNvSpPr/>
          <p:nvPr/>
        </p:nvSpPr>
        <p:spPr>
          <a:xfrm>
            <a:off x="6362700" y="3155950"/>
            <a:ext cx="4826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9" name="mechanism-edge-g2-label"/>
          <p:cNvSpPr txBox="1"/>
          <p:nvPr/>
        </p:nvSpPr>
        <p:spPr>
          <a:xfrm>
            <a:off x="6070600" y="2597150"/>
            <a:ext cx="1066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BS link</a:t>
            </a:r>
            <a:endParaRPr lang="en-US" sz="950" dirty="0"/>
          </a:p>
        </p:txBody>
      </p:sp>
      <p:sp>
        <p:nvSpPr>
          <p:cNvPr id="10" name="mechanism-edge-g3-segment-1"/>
          <p:cNvSpPr/>
          <p:nvPr/>
        </p:nvSpPr>
        <p:spPr>
          <a:xfrm>
            <a:off x="8915400" y="3155950"/>
            <a:ext cx="241300" cy="0"/>
          </a:xfrm>
          <a:prstGeom prst="line">
            <a:avLst/>
          </a:prstGeom>
          <a:noFill/>
          <a:ln w="12700">
            <a:solidFill>
              <a:srgbClr val="5E6D69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1" name="mechanism-edge-g3-segment-2"/>
          <p:cNvSpPr/>
          <p:nvPr/>
        </p:nvSpPr>
        <p:spPr>
          <a:xfrm>
            <a:off x="9156700" y="3155950"/>
            <a:ext cx="0" cy="1892300"/>
          </a:xfrm>
          <a:prstGeom prst="line">
            <a:avLst/>
          </a:prstGeom>
          <a:noFill/>
          <a:ln w="12700">
            <a:solidFill>
              <a:srgbClr val="5E6D69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2" name="mechanism-edge-g3-segment-3"/>
          <p:cNvSpPr/>
          <p:nvPr/>
        </p:nvSpPr>
        <p:spPr>
          <a:xfrm>
            <a:off x="9156700" y="5048250"/>
            <a:ext cx="241300" cy="0"/>
          </a:xfrm>
          <a:prstGeom prst="line">
            <a:avLst/>
          </a:prstGeom>
          <a:noFill/>
          <a:ln w="12700">
            <a:solidFill>
              <a:srgbClr val="5E6D69"/>
            </a:solidFill>
            <a:prstDash val="dash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13" name="mechanism-edge-g3-label"/>
          <p:cNvSpPr txBox="1"/>
          <p:nvPr/>
        </p:nvSpPr>
        <p:spPr>
          <a:xfrm>
            <a:off x="8623300" y="2597150"/>
            <a:ext cx="1066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indirect</a:t>
            </a:r>
            <a:endParaRPr lang="en-US" sz="950" dirty="0"/>
          </a:p>
        </p:txBody>
      </p:sp>
      <p:sp>
        <p:nvSpPr>
          <p:cNvPr id="14" name="mechanism-node-md"/>
          <p:cNvSpPr txBox="1"/>
          <p:nvPr/>
        </p:nvSpPr>
        <p:spPr>
          <a:xfrm>
            <a:off x="1739900" y="2838450"/>
            <a:ext cx="2070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current MD</a:t>
            </a:r>
            <a:endParaRPr lang="en-US" sz="1150" dirty="0"/>
          </a:p>
        </p:txBody>
      </p:sp>
      <p:sp>
        <p:nvSpPr>
          <p:cNvPr id="15" name="mechanism-node-md-queue-1"/>
          <p:cNvSpPr/>
          <p:nvPr/>
        </p:nvSpPr>
        <p:spPr>
          <a:xfrm>
            <a:off x="1739900" y="3092450"/>
            <a:ext cx="2070100" cy="190500"/>
          </a:xfrm>
          <a:prstGeom prst="rect">
            <a:avLst/>
          </a:prstGeom>
          <a:solidFill>
            <a:srgbClr val="FFFFFF"/>
          </a:solidFill>
          <a:ln>
            <a:solidFill>
              <a:srgbClr val="0D685C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task D_n, C_n</a:t>
            </a:r>
            <a:endParaRPr lang="en-US" sz="950" dirty="0"/>
          </a:p>
        </p:txBody>
      </p:sp>
      <p:sp>
        <p:nvSpPr>
          <p:cNvPr id="16" name="mechanism-node-md-queue-2"/>
          <p:cNvSpPr/>
          <p:nvPr/>
        </p:nvSpPr>
        <p:spPr>
          <a:xfrm>
            <a:off x="1739900" y="3282950"/>
            <a:ext cx="2070100" cy="190500"/>
          </a:xfrm>
          <a:prstGeom prst="rect">
            <a:avLst/>
          </a:prstGeom>
          <a:solidFill>
            <a:srgbClr val="FFFFFF"/>
          </a:solidFill>
          <a:ln>
            <a:solidFill>
              <a:srgbClr val="0D685C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observation point</a:t>
            </a:r>
            <a:endParaRPr lang="en-US" sz="950" dirty="0"/>
          </a:p>
        </p:txBody>
      </p:sp>
      <p:sp>
        <p:nvSpPr>
          <p:cNvPr id="17" name="mechanism-node-bs1"/>
          <p:cNvSpPr/>
          <p:nvPr/>
        </p:nvSpPr>
        <p:spPr>
          <a:xfrm>
            <a:off x="4292600" y="2825750"/>
            <a:ext cx="2070100" cy="660400"/>
          </a:xfrm>
          <a:prstGeom prst="roundRect">
            <a:avLst/>
          </a:prstGeom>
          <a:solidFill>
            <a:srgbClr val="E8F1EE"/>
          </a:solidFill>
          <a:ln>
            <a:solidFill>
              <a:srgbClr val="0D685C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BS 1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within coverage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M(t)</a:t>
            </a:r>
            <a:endParaRPr lang="en-US" sz="1150" dirty="0"/>
          </a:p>
        </p:txBody>
      </p:sp>
      <p:sp>
        <p:nvSpPr>
          <p:cNvPr id="18" name="mechanism-node-bs2"/>
          <p:cNvSpPr/>
          <p:nvPr/>
        </p:nvSpPr>
        <p:spPr>
          <a:xfrm>
            <a:off x="6845300" y="2825750"/>
            <a:ext cx="2070100" cy="660400"/>
          </a:xfrm>
          <a:prstGeom prst="roundRect">
            <a:avLst/>
          </a:prstGeom>
          <a:solidFill>
            <a:srgbClr val="E8F1EE"/>
          </a:solidFill>
          <a:ln>
            <a:solidFill>
              <a:srgbClr val="0D685C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BS 2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BS-to-BS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connectivity</a:t>
            </a:r>
            <a:endParaRPr lang="en-US" sz="1150" dirty="0"/>
          </a:p>
        </p:txBody>
      </p:sp>
      <p:sp>
        <p:nvSpPr>
          <p:cNvPr id="19" name="mechanism-node-bs3"/>
          <p:cNvSpPr/>
          <p:nvPr/>
        </p:nvSpPr>
        <p:spPr>
          <a:xfrm>
            <a:off x="9398000" y="4718050"/>
            <a:ext cx="2070100" cy="660400"/>
          </a:xfrm>
          <a:prstGeom prst="roundRect">
            <a:avLst/>
          </a:prstGeom>
          <a:solidFill>
            <a:srgbClr val="E8F1EE"/>
          </a:solidFill>
          <a:ln>
            <a:solidFill>
              <a:srgbClr val="0D685C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indirect BS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outside current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coverage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1" name="Text 19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mdpi-2024 pp. 2, 4; Fig. 1; §3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local과 offload의 cost 구성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선택한 BS의 경로가 direct인지 indirect인지에 따라 transmission 항이 달라진다</a:t>
            </a:r>
            <a:endParaRPr lang="en-US" sz="1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400" y="2082800"/>
          <a:ext cx="10871200" cy="3314700"/>
        </p:xfrm>
        <a:graphic>
          <a:graphicData uri="http://schemas.openxmlformats.org/drawingml/2006/table">
            <a:tbl>
              <a:tblPr/>
              <a:tblGrid>
                <a:gridCol w="2500376"/>
                <a:gridCol w="4783328"/>
                <a:gridCol w="3587496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항목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원문 정의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역할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rate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R_n,m=B log2(1+P_n,m g_n /(N0+distance^θ))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direct upload rate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local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T_local=C_n/f_local; E_local=P_n T_local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device가 직접 실행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direct offload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T_trans=D_n/R_n,m; E_trans=P_n,m T_trans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MD에서 BS로 전송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indirect BS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forwarding time·energy를 추가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BS relay가 있는 경로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BS compute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f_com=weight × remaining resource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BS load와 task 속성 반영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6" name="Text 3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offload cost는 radio transmission과 BS execution을 함께 반영한다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8" name="Text 5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mdpi-2024 pp. 5-7; Eqs. 1-12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cost와 multiple constraints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binary BS choice, BS frequency, deadline과 max execution time을 함께 제한한다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096000" y="2705100"/>
            <a:ext cx="0" cy="19050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5" name="Shape 3"/>
          <p:cNvSpPr/>
          <p:nvPr/>
        </p:nvSpPr>
        <p:spPr>
          <a:xfrm>
            <a:off x="3302000" y="2895600"/>
            <a:ext cx="55880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6" name="Shape 4"/>
          <p:cNvSpPr/>
          <p:nvPr/>
        </p:nvSpPr>
        <p:spPr>
          <a:xfrm>
            <a:off x="3302000" y="2895600"/>
            <a:ext cx="0" cy="35560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7" name="Shape 5"/>
          <p:cNvSpPr/>
          <p:nvPr/>
        </p:nvSpPr>
        <p:spPr>
          <a:xfrm>
            <a:off x="8890000" y="2895600"/>
            <a:ext cx="0" cy="35560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8" name="Shape 6"/>
          <p:cNvSpPr/>
          <p:nvPr/>
        </p:nvSpPr>
        <p:spPr>
          <a:xfrm>
            <a:off x="3302000" y="3962400"/>
            <a:ext cx="0" cy="25400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9" name="Shape 7"/>
          <p:cNvSpPr/>
          <p:nvPr/>
        </p:nvSpPr>
        <p:spPr>
          <a:xfrm>
            <a:off x="3302000" y="4216400"/>
            <a:ext cx="21590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0" name="Shape 8"/>
          <p:cNvSpPr/>
          <p:nvPr/>
        </p:nvSpPr>
        <p:spPr>
          <a:xfrm>
            <a:off x="8890000" y="3962400"/>
            <a:ext cx="0" cy="25400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1" name="Shape 9"/>
          <p:cNvSpPr/>
          <p:nvPr/>
        </p:nvSpPr>
        <p:spPr>
          <a:xfrm>
            <a:off x="6731000" y="4216400"/>
            <a:ext cx="21590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2" name="Shape 10"/>
          <p:cNvSpPr/>
          <p:nvPr/>
        </p:nvSpPr>
        <p:spPr>
          <a:xfrm>
            <a:off x="5461000" y="4216400"/>
            <a:ext cx="0" cy="25400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13" name="Shape 11"/>
          <p:cNvSpPr/>
          <p:nvPr/>
        </p:nvSpPr>
        <p:spPr>
          <a:xfrm>
            <a:off x="6731000" y="4216400"/>
            <a:ext cx="0" cy="25400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14" name="Shape 12"/>
          <p:cNvSpPr/>
          <p:nvPr/>
        </p:nvSpPr>
        <p:spPr>
          <a:xfrm>
            <a:off x="6096000" y="5181600"/>
            <a:ext cx="0" cy="33020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15" name="Text 13"/>
          <p:cNvSpPr txBox="1"/>
          <p:nvPr/>
        </p:nvSpPr>
        <p:spPr>
          <a:xfrm>
            <a:off x="4191000" y="2108200"/>
            <a:ext cx="3810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current task</a:t>
            </a:r>
            <a:endParaRPr lang="en-US" sz="1750" dirty="0"/>
          </a:p>
        </p:txBody>
      </p:sp>
      <p:sp>
        <p:nvSpPr>
          <p:cNvPr id="16" name="Text 14"/>
          <p:cNvSpPr txBox="1"/>
          <p:nvPr/>
        </p:nvSpPr>
        <p:spPr>
          <a:xfrm>
            <a:off x="4191000" y="2387600"/>
            <a:ext cx="381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D_n(t), C_n(t), deadline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270000" y="3352800"/>
            <a:ext cx="4064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local</a:t>
            </a:r>
            <a:endParaRPr lang="en-US" sz="1750" dirty="0"/>
          </a:p>
        </p:txBody>
      </p:sp>
      <p:sp>
        <p:nvSpPr>
          <p:cNvPr id="18" name="Text 16"/>
          <p:cNvSpPr txBox="1"/>
          <p:nvPr/>
        </p:nvSpPr>
        <p:spPr>
          <a:xfrm>
            <a:off x="1270000" y="3632200"/>
            <a:ext cx="4064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E_local when no BS chosen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0" y="3352800"/>
            <a:ext cx="4064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offload</a:t>
            </a:r>
            <a:endParaRPr lang="en-US" sz="1750" dirty="0"/>
          </a:p>
        </p:txBody>
      </p:sp>
      <p:sp>
        <p:nvSpPr>
          <p:cNvPr id="20" name="Text 18"/>
          <p:cNvSpPr txBox="1"/>
          <p:nvPr/>
        </p:nvSpPr>
        <p:spPr>
          <a:xfrm>
            <a:off x="6858000" y="3632200"/>
            <a:ext cx="4064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α E_total + β T_compute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191000" y="4572000"/>
            <a:ext cx="3810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Cost_n(t)</a:t>
            </a:r>
            <a:endParaRPr lang="en-US" sz="1750" dirty="0"/>
          </a:p>
        </p:txBody>
      </p:sp>
      <p:sp>
        <p:nvSpPr>
          <p:cNvPr id="22" name="Text 20"/>
          <p:cNvSpPr txBox="1"/>
          <p:nvPr/>
        </p:nvSpPr>
        <p:spPr>
          <a:xfrm>
            <a:off x="4191000" y="4851400"/>
            <a:ext cx="381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Eq. 13, α+β=1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191000" y="5613400"/>
            <a:ext cx="3810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feasible choice</a:t>
            </a:r>
            <a:endParaRPr lang="en-US" sz="1750" dirty="0"/>
          </a:p>
        </p:txBody>
      </p:sp>
      <p:sp>
        <p:nvSpPr>
          <p:cNvPr id="24" name="Text 22"/>
          <p:cNvSpPr txBox="1"/>
          <p:nvPr/>
        </p:nvSpPr>
        <p:spPr>
          <a:xfrm>
            <a:off x="4191000" y="5892800"/>
            <a:ext cx="3810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at most one BS; Eq. 14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6" name="Text 24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mdpi-2024 p. 7; Eqs. 13-14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왜 graph feature가 필요한가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현재 MD는 가까운 node만 보면 간접 BS와 multi-hop 관계를 놓칠 수 있다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838200" y="2171700"/>
            <a:ext cx="1069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254000" indent="-254000">
              <a:lnSpc>
                <a:spcPct val="125000"/>
              </a:lnSpc>
              <a:buSzPct val="100000"/>
              <a:buChar char="•"/>
            </a:pPr>
            <a:r>
              <a:rPr lang="en-US" sz="20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원문은 irregular MEC relation을 non-Euclidean graph로 모델링한다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38200" y="2908300"/>
            <a:ext cx="106934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6" name="Text 4"/>
          <p:cNvSpPr txBox="1"/>
          <p:nvPr/>
        </p:nvSpPr>
        <p:spPr>
          <a:xfrm>
            <a:off x="838200" y="2946400"/>
            <a:ext cx="1069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254000" indent="-254000">
              <a:lnSpc>
                <a:spcPct val="125000"/>
              </a:lnSpc>
              <a:buSzPct val="100000"/>
              <a:buChar char="•"/>
            </a:pPr>
            <a:r>
              <a:rPr lang="en-US" sz="20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message passing은 이웃 node의 feature를 현재 node embedding에 반영한다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38200" y="3683000"/>
            <a:ext cx="106934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8" name="Text 6"/>
          <p:cNvSpPr txBox="1"/>
          <p:nvPr/>
        </p:nvSpPr>
        <p:spPr>
          <a:xfrm>
            <a:off x="838200" y="3721100"/>
            <a:ext cx="1069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254000" indent="-254000">
              <a:lnSpc>
                <a:spcPct val="125000"/>
              </a:lnSpc>
              <a:buSzPct val="100000"/>
              <a:buChar char="•"/>
            </a:pPr>
            <a:r>
              <a:rPr lang="en-US" sz="20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이 논문은 direct·indirect BS만 다루므로 two-hop information을 사용한다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38200" y="4457700"/>
            <a:ext cx="106934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0" name="Text 8"/>
          <p:cNvSpPr txBox="1"/>
          <p:nvPr/>
        </p:nvSpPr>
        <p:spPr>
          <a:xfrm>
            <a:off x="838200" y="4495800"/>
            <a:ext cx="1069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254000" indent="-254000">
              <a:lnSpc>
                <a:spcPct val="125000"/>
              </a:lnSpc>
              <a:buSzPct val="100000"/>
              <a:buChar char="•"/>
            </a:pPr>
            <a:r>
              <a:rPr lang="en-US" sz="20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GNN output은 DQN의 environment와 edge-score 계산의 입력이 된다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2" name="Text 10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GNN은 BS 후보의 관계 정보를 압축하는 feature stage다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4" name="Text 12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mdpi-2024 pp. 2-3, 9; §1; §4.2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두 hop GraphSAGE feature learning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sampled neighbors를 집계해 MD와 BS embedding을 업데이트한다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660400" y="2108200"/>
            <a:ext cx="571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397000" y="2108200"/>
            <a:ext cx="2603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raw graph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4152900" y="2108200"/>
            <a:ext cx="73787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G_t=(V_g, zeta)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397000" y="261112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8" name="Shape 6"/>
          <p:cNvSpPr/>
          <p:nvPr/>
        </p:nvSpPr>
        <p:spPr>
          <a:xfrm>
            <a:off x="850900" y="2623820"/>
            <a:ext cx="190500" cy="152400"/>
          </a:xfrm>
          <a:prstGeom prst="downArrow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9" name="Text 7"/>
          <p:cNvSpPr txBox="1"/>
          <p:nvPr/>
        </p:nvSpPr>
        <p:spPr>
          <a:xfrm>
            <a:off x="660400" y="2801620"/>
            <a:ext cx="571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397000" y="2801620"/>
            <a:ext cx="2603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sample neighbors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4152900" y="2801620"/>
            <a:ext cx="73787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MD-BS와 BS-BS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397000" y="330454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3" name="Shape 11"/>
          <p:cNvSpPr/>
          <p:nvPr/>
        </p:nvSpPr>
        <p:spPr>
          <a:xfrm>
            <a:off x="850900" y="3317240"/>
            <a:ext cx="190500" cy="152400"/>
          </a:xfrm>
          <a:prstGeom prst="downArrow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14" name="Text 12"/>
          <p:cNvSpPr txBox="1"/>
          <p:nvPr/>
        </p:nvSpPr>
        <p:spPr>
          <a:xfrm>
            <a:off x="660400" y="3495040"/>
            <a:ext cx="571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397000" y="3495040"/>
            <a:ext cx="2603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layer 1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4152900" y="3495040"/>
            <a:ext cx="73787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neighbor aggregation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397000" y="399796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8" name="Shape 16"/>
          <p:cNvSpPr/>
          <p:nvPr/>
        </p:nvSpPr>
        <p:spPr>
          <a:xfrm>
            <a:off x="850900" y="4010660"/>
            <a:ext cx="190500" cy="152400"/>
          </a:xfrm>
          <a:prstGeom prst="downArrow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19" name="Text 17"/>
          <p:cNvSpPr txBox="1"/>
          <p:nvPr/>
        </p:nvSpPr>
        <p:spPr>
          <a:xfrm>
            <a:off x="660400" y="4188460"/>
            <a:ext cx="571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1397000" y="4188460"/>
            <a:ext cx="2603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layer 2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4152900" y="4188460"/>
            <a:ext cx="73787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two-hop context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397000" y="469138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3" name="Shape 21"/>
          <p:cNvSpPr/>
          <p:nvPr/>
        </p:nvSpPr>
        <p:spPr>
          <a:xfrm>
            <a:off x="850900" y="4704080"/>
            <a:ext cx="190500" cy="152400"/>
          </a:xfrm>
          <a:prstGeom prst="downArrow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24" name="Text 22"/>
          <p:cNvSpPr txBox="1"/>
          <p:nvPr/>
        </p:nvSpPr>
        <p:spPr>
          <a:xfrm>
            <a:off x="660400" y="4881880"/>
            <a:ext cx="571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1397000" y="4881880"/>
            <a:ext cx="2603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embedding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4152900" y="4881880"/>
            <a:ext cx="73787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updated h_n, h_m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397000" y="538480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8" name="Shape 26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9" name="Text 27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layer 수 2는 이 논문의 direct·indirect BS 범위에 맞춘 선택이다</a:t>
            </a:r>
            <a:endParaRPr lang="en-US" sz="1750" dirty="0"/>
          </a:p>
        </p:txBody>
      </p:sp>
      <p:sp>
        <p:nvSpPr>
          <p:cNvPr id="30" name="Shape 28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31" name="Text 29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mdpi-2024 pp. 9-10; Eqs. 15-19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embedding 학습과 DQN 학습을 분리한다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GraphSAGE embedding loss와 DQN temporal-difference loss는 서로 다른 단계다</a:t>
            </a:r>
            <a:endParaRPr lang="en-US" sz="1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400" y="2082800"/>
          <a:ext cx="10871200" cy="3314700"/>
        </p:xfrm>
        <a:graphic>
          <a:graphicData uri="http://schemas.openxmlformats.org/drawingml/2006/table">
            <a:tbl>
              <a:tblPr/>
              <a:tblGrid>
                <a:gridCol w="2717800"/>
                <a:gridCol w="4892040"/>
                <a:gridCol w="3261360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단계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입력·목표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업데이트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98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GraphSAGE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neighbor embedding과 negative samples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Eq. 20; Adam으로 W1, W2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98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edge feature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Con(h_n,h_m) → MLP1 → MLP2 → softmax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Eq. 23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98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DQN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replay sample의 reward와 Q value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Eq. 26; gradient update Eq. 27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6" name="Text 3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GNN message aggregation과 DQN policy learning을 같은 loss로 합치지 않는다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8" name="Text 5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mdpi-2024 pp. 10-12; Eqs. 20, 23, 26-27; Alg. 1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DQN state와 원문 reward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state는 task·deadline·BS load·remaining resource를 포함하며 reward 정의는 원문 그대로 읽는다</a:t>
            </a:r>
            <a:endParaRPr lang="en-US" sz="1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400" y="2082800"/>
          <a:ext cx="10871200" cy="3314700"/>
        </p:xfrm>
        <a:graphic>
          <a:graphicData uri="http://schemas.openxmlformats.org/drawingml/2006/table">
            <a:tbl>
              <a:tblPr/>
              <a:tblGrid>
                <a:gridCol w="2391664"/>
                <a:gridCol w="5653024"/>
                <a:gridCol w="2826512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요소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원문 내용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주의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state s_t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D_n, C_n, De_n, L_mu(m), L_mu(m)^s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Eq. 22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on time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r_t=1/Cost_n(t), 0&lt;T_e≤tau_n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Eq. 21의 표기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otherwise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r_t=.1(tau_n-T_e)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deadline/max time 관련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experience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(s,a,r,s') replay pool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Algorithm 1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6" name="Text 3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reward의 부호나 cost-to-reward 변환을 덱에서 임의로 고치지 않는다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8" name="Text 5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mdpi-2024 pp. 10-12; Eqs. 21-22; Alg. 1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edge feature에서 one-hot BS action까지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updated MD와 BS feature의 softmax score 중 최대값을 택하는 방식이다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660400" y="2108200"/>
            <a:ext cx="571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397000" y="2108200"/>
            <a:ext cx="2603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h_n, h_m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4152900" y="2108200"/>
            <a:ext cx="73787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updated node features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397000" y="261112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8" name="Shape 6"/>
          <p:cNvSpPr/>
          <p:nvPr/>
        </p:nvSpPr>
        <p:spPr>
          <a:xfrm>
            <a:off x="850900" y="2623820"/>
            <a:ext cx="190500" cy="152400"/>
          </a:xfrm>
          <a:prstGeom prst="downArrow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9" name="Text 7"/>
          <p:cNvSpPr txBox="1"/>
          <p:nvPr/>
        </p:nvSpPr>
        <p:spPr>
          <a:xfrm>
            <a:off x="660400" y="2801620"/>
            <a:ext cx="571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397000" y="2801620"/>
            <a:ext cx="2603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concatenate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4152900" y="2801620"/>
            <a:ext cx="73787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Con(h_n,h_m)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397000" y="330454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3" name="Shape 11"/>
          <p:cNvSpPr/>
          <p:nvPr/>
        </p:nvSpPr>
        <p:spPr>
          <a:xfrm>
            <a:off x="850900" y="3317240"/>
            <a:ext cx="190500" cy="152400"/>
          </a:xfrm>
          <a:prstGeom prst="downArrow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14" name="Text 12"/>
          <p:cNvSpPr txBox="1"/>
          <p:nvPr/>
        </p:nvSpPr>
        <p:spPr>
          <a:xfrm>
            <a:off x="660400" y="3495040"/>
            <a:ext cx="571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397000" y="3495040"/>
            <a:ext cx="2603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MLP1, MLP2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4152900" y="3495040"/>
            <a:ext cx="73787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edge feature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397000" y="399796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8" name="Shape 16"/>
          <p:cNvSpPr/>
          <p:nvPr/>
        </p:nvSpPr>
        <p:spPr>
          <a:xfrm>
            <a:off x="850900" y="4010660"/>
            <a:ext cx="190500" cy="152400"/>
          </a:xfrm>
          <a:prstGeom prst="downArrow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19" name="Text 17"/>
          <p:cNvSpPr txBox="1"/>
          <p:nvPr/>
        </p:nvSpPr>
        <p:spPr>
          <a:xfrm>
            <a:off x="660400" y="4188460"/>
            <a:ext cx="571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1397000" y="4188460"/>
            <a:ext cx="2603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softmax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4152900" y="4188460"/>
            <a:ext cx="73787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offloading probabilities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397000" y="469138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3" name="Shape 21"/>
          <p:cNvSpPr/>
          <p:nvPr/>
        </p:nvSpPr>
        <p:spPr>
          <a:xfrm>
            <a:off x="850900" y="4704080"/>
            <a:ext cx="190500" cy="152400"/>
          </a:xfrm>
          <a:prstGeom prst="downArrow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24" name="Text 22"/>
          <p:cNvSpPr txBox="1"/>
          <p:nvPr/>
        </p:nvSpPr>
        <p:spPr>
          <a:xfrm>
            <a:off x="660400" y="4881880"/>
            <a:ext cx="571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1397000" y="4881880"/>
            <a:ext cx="2603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argmax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4152900" y="4881880"/>
            <a:ext cx="73787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one-hot x_m(t)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397000" y="538480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8" name="Shape 26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9" name="Text 27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Eq. 23의 edge feature는 graph link 자체와 구별되는 decision score다</a:t>
            </a:r>
            <a:endParaRPr lang="en-US" sz="1750" dirty="0"/>
          </a:p>
        </p:txBody>
      </p:sp>
      <p:sp>
        <p:nvSpPr>
          <p:cNvPr id="30" name="Shape 28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31" name="Text 29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mdpi-2024 pp. 10-11; Eqs. 23-25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교육용 edge-score toy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아래 score는 원문 데이터가 아닌 Eq. 23–25를 재계산하는 가정이다</a:t>
            </a:r>
            <a:endParaRPr lang="en-US" sz="1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400" y="2082800"/>
          <a:ext cx="10871200" cy="3314700"/>
        </p:xfrm>
        <a:graphic>
          <a:graphicData uri="http://schemas.openxmlformats.org/drawingml/2006/table">
            <a:tbl>
              <a:tblPr/>
              <a:tblGrid>
                <a:gridCol w="2717800"/>
                <a:gridCol w="3152648"/>
                <a:gridCol w="2609088"/>
                <a:gridCol w="2391664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candidate BS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invented softmax score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one-hot x_m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선택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BS 1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.20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0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아님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BS 2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.65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1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max score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indirect BS 3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.15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0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아님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check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.20+.65+.15=1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one entry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BS 2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6" name="Text 3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이 toy는 max-probability rule을 보일 뿐 paper experiment를 재현하지 않는다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8" name="Text 5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mdpi-2024 pp. 7, 10-11; Eqs. 13, 23-25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Algorithm 1의 training loop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graph embedding을 만든 뒤 DQN replay loop에서 parameter omega를 갱신한다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660400" y="2108200"/>
            <a:ext cx="571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397000" y="2108200"/>
            <a:ext cx="2603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embedding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4152900" y="2108200"/>
            <a:ext cx="73787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Eqs. 15-20; Adam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397000" y="261112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8" name="Shape 6"/>
          <p:cNvSpPr/>
          <p:nvPr/>
        </p:nvSpPr>
        <p:spPr>
          <a:xfrm>
            <a:off x="850900" y="2623820"/>
            <a:ext cx="190500" cy="152400"/>
          </a:xfrm>
          <a:prstGeom prst="downArrow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9" name="Text 7"/>
          <p:cNvSpPr txBox="1"/>
          <p:nvPr/>
        </p:nvSpPr>
        <p:spPr>
          <a:xfrm>
            <a:off x="660400" y="2801620"/>
            <a:ext cx="571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397000" y="2801620"/>
            <a:ext cx="2603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graph environment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4152900" y="2801620"/>
            <a:ext cx="73787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learned graph input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397000" y="330454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3" name="Shape 11"/>
          <p:cNvSpPr/>
          <p:nvPr/>
        </p:nvSpPr>
        <p:spPr>
          <a:xfrm>
            <a:off x="850900" y="3317240"/>
            <a:ext cx="190500" cy="152400"/>
          </a:xfrm>
          <a:prstGeom prst="downArrow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14" name="Text 12"/>
          <p:cNvSpPr txBox="1"/>
          <p:nvPr/>
        </p:nvSpPr>
        <p:spPr>
          <a:xfrm>
            <a:off x="660400" y="3495040"/>
            <a:ext cx="571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397000" y="3495040"/>
            <a:ext cx="2603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state and action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4152900" y="3495040"/>
            <a:ext cx="73787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Eqs. 22-24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397000" y="399796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8" name="Shape 16"/>
          <p:cNvSpPr/>
          <p:nvPr/>
        </p:nvSpPr>
        <p:spPr>
          <a:xfrm>
            <a:off x="850900" y="4010660"/>
            <a:ext cx="190500" cy="152400"/>
          </a:xfrm>
          <a:prstGeom prst="downArrow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19" name="Text 17"/>
          <p:cNvSpPr txBox="1"/>
          <p:nvPr/>
        </p:nvSpPr>
        <p:spPr>
          <a:xfrm>
            <a:off x="660400" y="4188460"/>
            <a:ext cx="571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1397000" y="4188460"/>
            <a:ext cx="2603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store tuple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4152900" y="4188460"/>
            <a:ext cx="73787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s,a,r,s' replay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397000" y="469138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3" name="Shape 21"/>
          <p:cNvSpPr/>
          <p:nvPr/>
        </p:nvSpPr>
        <p:spPr>
          <a:xfrm>
            <a:off x="850900" y="4704080"/>
            <a:ext cx="190500" cy="152400"/>
          </a:xfrm>
          <a:prstGeom prst="downArrow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24" name="Text 22"/>
          <p:cNvSpPr txBox="1"/>
          <p:nvPr/>
        </p:nvSpPr>
        <p:spPr>
          <a:xfrm>
            <a:off x="660400" y="4881880"/>
            <a:ext cx="571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1397000" y="4881880"/>
            <a:ext cx="2603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mini-batch update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4152900" y="4881880"/>
            <a:ext cx="73787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Eqs. 26-27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397000" y="538480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8" name="Shape 26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9" name="Text 27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Algorithm 1은 pre-trained scheduler와 replay-based DQN training을 연결한다</a:t>
            </a:r>
            <a:endParaRPr lang="en-US" sz="1750" dirty="0"/>
          </a:p>
        </p:txBody>
      </p:sp>
      <p:sp>
        <p:nvSpPr>
          <p:cNvPr id="30" name="Shape 28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31" name="Text 29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mdpi-2024 p. 12; Algorithm 1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학습된 scheduler 이후 task execution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Fig. 3은 graph data를 scheduler로 보내고, 결과를 local 또는 MEC processing path로 이어 준다</a:t>
            </a:r>
            <a:endParaRPr lang="en-US" sz="1900" dirty="0"/>
          </a:p>
        </p:txBody>
      </p:sp>
      <p:sp>
        <p:nvSpPr>
          <p:cNvPr id="4" name="mechanism-lane-decision"/>
          <p:cNvSpPr txBox="1"/>
          <p:nvPr/>
        </p:nvSpPr>
        <p:spPr>
          <a:xfrm>
            <a:off x="660400" y="2209800"/>
            <a:ext cx="863600" cy="1892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local branch</a:t>
            </a:r>
            <a:endParaRPr lang="en-US" sz="1250" dirty="0"/>
          </a:p>
        </p:txBody>
      </p:sp>
      <p:sp>
        <p:nvSpPr>
          <p:cNvPr id="5" name="mechanism-lane-mec"/>
          <p:cNvSpPr txBox="1"/>
          <p:nvPr/>
        </p:nvSpPr>
        <p:spPr>
          <a:xfrm>
            <a:off x="660400" y="4102100"/>
            <a:ext cx="863600" cy="1892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offload branch</a:t>
            </a:r>
            <a:endParaRPr lang="en-US" sz="1250" dirty="0"/>
          </a:p>
        </p:txBody>
      </p:sp>
      <p:sp>
        <p:nvSpPr>
          <p:cNvPr id="6" name="mechanism-edge-p1-segment-1"/>
          <p:cNvSpPr/>
          <p:nvPr/>
        </p:nvSpPr>
        <p:spPr>
          <a:xfrm>
            <a:off x="3810000" y="3155950"/>
            <a:ext cx="4826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7" name="mechanism-edge-p1-label"/>
          <p:cNvSpPr txBox="1"/>
          <p:nvPr/>
        </p:nvSpPr>
        <p:spPr>
          <a:xfrm>
            <a:off x="3517900" y="2597150"/>
            <a:ext cx="1066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graph data</a:t>
            </a:r>
            <a:endParaRPr lang="en-US" sz="950" dirty="0"/>
          </a:p>
        </p:txBody>
      </p:sp>
      <p:sp>
        <p:nvSpPr>
          <p:cNvPr id="8" name="mechanism-edge-p2-segment-1"/>
          <p:cNvSpPr/>
          <p:nvPr/>
        </p:nvSpPr>
        <p:spPr>
          <a:xfrm>
            <a:off x="6362700" y="2952750"/>
            <a:ext cx="321733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9" name="mechanism-edge-p2-segment-2"/>
          <p:cNvSpPr/>
          <p:nvPr/>
        </p:nvSpPr>
        <p:spPr>
          <a:xfrm>
            <a:off x="6684433" y="2952750"/>
            <a:ext cx="0" cy="20320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0" name="mechanism-edge-p2-segment-3"/>
          <p:cNvSpPr/>
          <p:nvPr/>
        </p:nvSpPr>
        <p:spPr>
          <a:xfrm>
            <a:off x="6684433" y="3155950"/>
            <a:ext cx="160867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11" name="mechanism-edge-p2-label"/>
          <p:cNvSpPr txBox="1"/>
          <p:nvPr/>
        </p:nvSpPr>
        <p:spPr>
          <a:xfrm>
            <a:off x="6070600" y="2597150"/>
            <a:ext cx="1066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local</a:t>
            </a:r>
            <a:endParaRPr lang="en-US" sz="950" dirty="0"/>
          </a:p>
        </p:txBody>
      </p:sp>
      <p:sp>
        <p:nvSpPr>
          <p:cNvPr id="12" name="mechanism-edge-p3-segment-1"/>
          <p:cNvSpPr/>
          <p:nvPr/>
        </p:nvSpPr>
        <p:spPr>
          <a:xfrm>
            <a:off x="6362700" y="3359150"/>
            <a:ext cx="160867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3" name="mechanism-edge-p3-segment-2"/>
          <p:cNvSpPr/>
          <p:nvPr/>
        </p:nvSpPr>
        <p:spPr>
          <a:xfrm>
            <a:off x="6523567" y="3359150"/>
            <a:ext cx="0" cy="168910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4" name="mechanism-edge-p3-segment-3"/>
          <p:cNvSpPr/>
          <p:nvPr/>
        </p:nvSpPr>
        <p:spPr>
          <a:xfrm>
            <a:off x="6523567" y="5048250"/>
            <a:ext cx="321733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15" name="mechanism-edge-p3-label"/>
          <p:cNvSpPr txBox="1"/>
          <p:nvPr/>
        </p:nvSpPr>
        <p:spPr>
          <a:xfrm>
            <a:off x="6070600" y="5416550"/>
            <a:ext cx="1066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offload</a:t>
            </a:r>
            <a:endParaRPr lang="en-US" sz="950" dirty="0"/>
          </a:p>
        </p:txBody>
      </p:sp>
      <p:sp>
        <p:nvSpPr>
          <p:cNvPr id="16" name="mechanism-edge-p4-segment-1"/>
          <p:cNvSpPr/>
          <p:nvPr/>
        </p:nvSpPr>
        <p:spPr>
          <a:xfrm>
            <a:off x="8915400" y="3155950"/>
            <a:ext cx="321733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7" name="mechanism-edge-p4-segment-2"/>
          <p:cNvSpPr/>
          <p:nvPr/>
        </p:nvSpPr>
        <p:spPr>
          <a:xfrm flipV="1">
            <a:off x="9237133" y="2952750"/>
            <a:ext cx="0" cy="20320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8" name="mechanism-edge-p4-segment-3"/>
          <p:cNvSpPr/>
          <p:nvPr/>
        </p:nvSpPr>
        <p:spPr>
          <a:xfrm>
            <a:off x="9237133" y="2952750"/>
            <a:ext cx="160867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19" name="mechanism-edge-p4-label"/>
          <p:cNvSpPr txBox="1"/>
          <p:nvPr/>
        </p:nvSpPr>
        <p:spPr>
          <a:xfrm>
            <a:off x="8623300" y="2597150"/>
            <a:ext cx="1066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return</a:t>
            </a:r>
            <a:endParaRPr lang="en-US" sz="950" dirty="0"/>
          </a:p>
        </p:txBody>
      </p:sp>
      <p:sp>
        <p:nvSpPr>
          <p:cNvPr id="20" name="mechanism-edge-p5-segment-1"/>
          <p:cNvSpPr/>
          <p:nvPr/>
        </p:nvSpPr>
        <p:spPr>
          <a:xfrm>
            <a:off x="8915400" y="5048250"/>
            <a:ext cx="160867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1" name="mechanism-edge-p5-segment-2"/>
          <p:cNvSpPr/>
          <p:nvPr/>
        </p:nvSpPr>
        <p:spPr>
          <a:xfrm flipV="1">
            <a:off x="9076267" y="3359150"/>
            <a:ext cx="0" cy="168910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2" name="mechanism-edge-p5-segment-3"/>
          <p:cNvSpPr/>
          <p:nvPr/>
        </p:nvSpPr>
        <p:spPr>
          <a:xfrm>
            <a:off x="9076267" y="3359150"/>
            <a:ext cx="321733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23" name="mechanism-edge-p5-label"/>
          <p:cNvSpPr txBox="1"/>
          <p:nvPr/>
        </p:nvSpPr>
        <p:spPr>
          <a:xfrm>
            <a:off x="8623300" y="5416550"/>
            <a:ext cx="1066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return</a:t>
            </a:r>
            <a:endParaRPr lang="en-US" sz="950" dirty="0"/>
          </a:p>
        </p:txBody>
      </p:sp>
      <p:sp>
        <p:nvSpPr>
          <p:cNvPr id="24" name="mechanism-node-task"/>
          <p:cNvSpPr txBox="1"/>
          <p:nvPr/>
        </p:nvSpPr>
        <p:spPr>
          <a:xfrm>
            <a:off x="1739900" y="2933700"/>
            <a:ext cx="2070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new task</a:t>
            </a:r>
            <a:endParaRPr lang="en-US" sz="1150" dirty="0"/>
          </a:p>
        </p:txBody>
      </p:sp>
      <p:sp>
        <p:nvSpPr>
          <p:cNvPr id="25" name="mechanism-node-task-queue-1"/>
          <p:cNvSpPr/>
          <p:nvPr/>
        </p:nvSpPr>
        <p:spPr>
          <a:xfrm>
            <a:off x="1739900" y="3187700"/>
            <a:ext cx="2070100" cy="190500"/>
          </a:xfrm>
          <a:prstGeom prst="rect">
            <a:avLst/>
          </a:prstGeom>
          <a:solidFill>
            <a:srgbClr val="FFFFFF"/>
          </a:solidFill>
          <a:ln>
            <a:solidFill>
              <a:srgbClr val="0D685C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MD relation graph</a:t>
            </a:r>
            <a:endParaRPr lang="en-US" sz="950" dirty="0"/>
          </a:p>
        </p:txBody>
      </p:sp>
      <p:sp>
        <p:nvSpPr>
          <p:cNvPr id="26" name="mechanism-node-scheduler"/>
          <p:cNvSpPr/>
          <p:nvPr/>
        </p:nvSpPr>
        <p:spPr>
          <a:xfrm>
            <a:off x="4292600" y="2825750"/>
            <a:ext cx="2070100" cy="660400"/>
          </a:xfrm>
          <a:prstGeom prst="roundRect">
            <a:avLst/>
          </a:prstGeom>
          <a:solidFill>
            <a:srgbClr val="E8F1EE"/>
          </a:solidFill>
          <a:ln>
            <a:solidFill>
              <a:srgbClr val="0D685C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scheduler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offloading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decision</a:t>
            </a:r>
            <a:endParaRPr lang="en-US" sz="1150" dirty="0"/>
          </a:p>
        </p:txBody>
      </p:sp>
      <p:sp>
        <p:nvSpPr>
          <p:cNvPr id="27" name="mechanism-node-local"/>
          <p:cNvSpPr/>
          <p:nvPr/>
        </p:nvSpPr>
        <p:spPr>
          <a:xfrm>
            <a:off x="6845300" y="2825750"/>
            <a:ext cx="2070100" cy="660400"/>
          </a:xfrm>
          <a:prstGeom prst="roundRect">
            <a:avLst/>
          </a:prstGeom>
          <a:solidFill>
            <a:srgbClr val="E8F1EE"/>
          </a:solidFill>
          <a:ln>
            <a:solidFill>
              <a:srgbClr val="0D685C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local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device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processes</a:t>
            </a:r>
            <a:endParaRPr lang="en-US" sz="1150" dirty="0"/>
          </a:p>
        </p:txBody>
      </p:sp>
      <p:sp>
        <p:nvSpPr>
          <p:cNvPr id="28" name="mechanism-node-mec"/>
          <p:cNvSpPr/>
          <p:nvPr/>
        </p:nvSpPr>
        <p:spPr>
          <a:xfrm>
            <a:off x="6845300" y="4718050"/>
            <a:ext cx="2070100" cy="660400"/>
          </a:xfrm>
          <a:prstGeom prst="roundRect">
            <a:avLst/>
          </a:prstGeom>
          <a:solidFill>
            <a:srgbClr val="E8F1EE"/>
          </a:solidFill>
          <a:ln>
            <a:solidFill>
              <a:srgbClr val="0D685C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MEC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BS resource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allocation</a:t>
            </a:r>
            <a:endParaRPr lang="en-US" sz="1150" dirty="0"/>
          </a:p>
        </p:txBody>
      </p:sp>
      <p:sp>
        <p:nvSpPr>
          <p:cNvPr id="29" name="mechanism-node-result"/>
          <p:cNvSpPr/>
          <p:nvPr/>
        </p:nvSpPr>
        <p:spPr>
          <a:xfrm>
            <a:off x="9398000" y="2825750"/>
            <a:ext cx="2070100" cy="660400"/>
          </a:xfrm>
          <a:prstGeom prst="roundRect">
            <a:avLst/>
          </a:prstGeom>
          <a:solidFill>
            <a:srgbClr val="E8F1EE"/>
          </a:solidFill>
          <a:ln>
            <a:solidFill>
              <a:srgbClr val="0D685C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return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result to MD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31" name="Text 29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mdpi-2024 p. 8; Fig. 3; §4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관측 MD 이동 뒤 adjacency-list update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Algorithm 2는 changed-set 입력 아래 vertex-table addition을 보이는 illustration이다</a:t>
            </a:r>
            <a:endParaRPr lang="en-US" sz="1900" dirty="0"/>
          </a:p>
        </p:txBody>
      </p:sp>
      <p:sp>
        <p:nvSpPr>
          <p:cNvPr id="4" name="mechanism-lane-update"/>
          <p:cNvSpPr txBox="1"/>
          <p:nvPr/>
        </p:nvSpPr>
        <p:spPr>
          <a:xfrm>
            <a:off x="660400" y="2209800"/>
            <a:ext cx="863600" cy="378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graph update</a:t>
            </a:r>
            <a:endParaRPr lang="en-US" sz="1250" dirty="0"/>
          </a:p>
        </p:txBody>
      </p:sp>
      <p:sp>
        <p:nvSpPr>
          <p:cNvPr id="5" name="mechanism-edge-u1-segment-1"/>
          <p:cNvSpPr/>
          <p:nvPr/>
        </p:nvSpPr>
        <p:spPr>
          <a:xfrm>
            <a:off x="3810000" y="4102100"/>
            <a:ext cx="4826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6" name="mechanism-edge-u1-label"/>
          <p:cNvSpPr txBox="1"/>
          <p:nvPr/>
        </p:nvSpPr>
        <p:spPr>
          <a:xfrm>
            <a:off x="3517900" y="3543300"/>
            <a:ext cx="1066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compare</a:t>
            </a:r>
            <a:endParaRPr lang="en-US" sz="950" dirty="0"/>
          </a:p>
        </p:txBody>
      </p:sp>
      <p:sp>
        <p:nvSpPr>
          <p:cNvPr id="7" name="mechanism-edge-u2-segment-1"/>
          <p:cNvSpPr/>
          <p:nvPr/>
        </p:nvSpPr>
        <p:spPr>
          <a:xfrm>
            <a:off x="6362700" y="4102100"/>
            <a:ext cx="4826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8" name="mechanism-edge-u2-label"/>
          <p:cNvSpPr txBox="1"/>
          <p:nvPr/>
        </p:nvSpPr>
        <p:spPr>
          <a:xfrm>
            <a:off x="6070600" y="3543300"/>
            <a:ext cx="1066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addition only</a:t>
            </a:r>
            <a:endParaRPr lang="en-US" sz="950" dirty="0"/>
          </a:p>
        </p:txBody>
      </p:sp>
      <p:sp>
        <p:nvSpPr>
          <p:cNvPr id="9" name="mechanism-edge-u3-segment-1"/>
          <p:cNvSpPr/>
          <p:nvPr/>
        </p:nvSpPr>
        <p:spPr>
          <a:xfrm>
            <a:off x="8915400" y="4102100"/>
            <a:ext cx="4826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10" name="mechanism-edge-u3-label"/>
          <p:cNvSpPr txBox="1"/>
          <p:nvPr/>
        </p:nvSpPr>
        <p:spPr>
          <a:xfrm>
            <a:off x="8623300" y="3543300"/>
            <a:ext cx="1066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refresh</a:t>
            </a:r>
            <a:endParaRPr lang="en-US" sz="950" dirty="0"/>
          </a:p>
        </p:txBody>
      </p:sp>
      <p:sp>
        <p:nvSpPr>
          <p:cNvPr id="11" name="mechanism-node-old"/>
          <p:cNvSpPr txBox="1"/>
          <p:nvPr/>
        </p:nvSpPr>
        <p:spPr>
          <a:xfrm>
            <a:off x="1739900" y="3879850"/>
            <a:ext cx="2070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G(t)</a:t>
            </a:r>
            <a:endParaRPr lang="en-US" sz="1150" dirty="0"/>
          </a:p>
        </p:txBody>
      </p:sp>
      <p:sp>
        <p:nvSpPr>
          <p:cNvPr id="12" name="mechanism-node-old-queue-1"/>
          <p:cNvSpPr/>
          <p:nvPr/>
        </p:nvSpPr>
        <p:spPr>
          <a:xfrm>
            <a:off x="1739900" y="4133850"/>
            <a:ext cx="2070100" cy="190500"/>
          </a:xfrm>
          <a:prstGeom prst="rect">
            <a:avLst/>
          </a:prstGeom>
          <a:solidFill>
            <a:srgbClr val="FFFFFF"/>
          </a:solidFill>
          <a:ln>
            <a:solidFill>
              <a:srgbClr val="0D685C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cached list</a:t>
            </a:r>
            <a:endParaRPr lang="en-US" sz="950" dirty="0"/>
          </a:p>
        </p:txBody>
      </p:sp>
      <p:sp>
        <p:nvSpPr>
          <p:cNvPr id="13" name="mechanism-node-change"/>
          <p:cNvSpPr/>
          <p:nvPr/>
        </p:nvSpPr>
        <p:spPr>
          <a:xfrm>
            <a:off x="4292600" y="3771900"/>
            <a:ext cx="2070100" cy="660400"/>
          </a:xfrm>
          <a:prstGeom prst="roundRect">
            <a:avLst/>
          </a:prstGeom>
          <a:solidFill>
            <a:srgbClr val="E8F1EE"/>
          </a:solidFill>
          <a:ln>
            <a:solidFill>
              <a:srgbClr val="0D685C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changed sets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C(vertices)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C(edges)</a:t>
            </a:r>
            <a:endParaRPr lang="en-US" sz="1150" dirty="0"/>
          </a:p>
        </p:txBody>
      </p:sp>
      <p:sp>
        <p:nvSpPr>
          <p:cNvPr id="14" name="mechanism-node-new"/>
          <p:cNvSpPr/>
          <p:nvPr/>
        </p:nvSpPr>
        <p:spPr>
          <a:xfrm>
            <a:off x="6845300" y="3771900"/>
            <a:ext cx="2070100" cy="660400"/>
          </a:xfrm>
          <a:prstGeom prst="roundRect">
            <a:avLst/>
          </a:prstGeom>
          <a:solidFill>
            <a:srgbClr val="E8F1EE"/>
          </a:solidFill>
          <a:ln>
            <a:solidFill>
              <a:srgbClr val="0D685C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addition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add vertex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tables</a:t>
            </a:r>
            <a:endParaRPr lang="en-US" sz="1150" dirty="0"/>
          </a:p>
        </p:txBody>
      </p:sp>
      <p:sp>
        <p:nvSpPr>
          <p:cNvPr id="15" name="mechanism-node-next"/>
          <p:cNvSpPr/>
          <p:nvPr/>
        </p:nvSpPr>
        <p:spPr>
          <a:xfrm>
            <a:off x="9398000" y="3771900"/>
            <a:ext cx="2070100" cy="660400"/>
          </a:xfrm>
          <a:prstGeom prst="roundRect">
            <a:avLst/>
          </a:prstGeom>
          <a:solidFill>
            <a:srgbClr val="E8F1EE"/>
          </a:solidFill>
          <a:ln>
            <a:solidFill>
              <a:srgbClr val="0D685C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next decision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input to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Algorithm 1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7" name="Text 15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mdpi-2024 pp. 12-13; Fig. 5; Algorithm 2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simulation graph records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실험 입력은 MD record, BS record, connection record의 세 종류다</a:t>
            </a:r>
            <a:endParaRPr lang="en-US" sz="1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400" y="2082800"/>
          <a:ext cx="10871200" cy="3314700"/>
        </p:xfrm>
        <a:graphic>
          <a:graphicData uri="http://schemas.openxmlformats.org/drawingml/2006/table">
            <a:tbl>
              <a:tblPr/>
              <a:tblGrid>
                <a:gridCol w="2500376"/>
                <a:gridCol w="5653024"/>
                <a:gridCol w="2717800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record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원문 fields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graph 역할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98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MD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ID, D, C, deadline, priority, local CPU, slot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task node feature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98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BS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ID, F, P, load, remaining resource, range, slot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BS node feature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98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connection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BS ID, MD/BS ID, rate, distance, slot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edge relation and attributes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6" name="Text 3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원문 실험은 graph input schema를 명시하지만 공개 dataset download는 제공하지 않는다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8" name="Text 5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mdpi-2024 pp. 13, 18; §5.1; data availability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Table 2 simulation conditions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수치 결과는 bandwidth, task, CPU, replay setting이 정해진 simulation에서 나온다</a:t>
            </a:r>
            <a:endParaRPr lang="en-US" sz="1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400" y="2082800"/>
          <a:ext cx="10871200" cy="3314700"/>
        </p:xfrm>
        <a:graphic>
          <a:graphicData uri="http://schemas.openxmlformats.org/drawingml/2006/table">
            <a:tbl>
              <a:tblPr/>
              <a:tblGrid>
                <a:gridCol w="1956816"/>
                <a:gridCol w="3261360"/>
                <a:gridCol w="5653024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범주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조건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값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network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bandwidth; slot sequence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4 MHz; T=80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task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size; CPU cycles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800–2000 kbytes; 1000–2500 Mcycles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compute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MD CPU; BS CPU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.5–1.5 GHz; 4–11 GHz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RL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episodes; batch; replay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1000/1200/1400; 100; 1500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RL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gamma; learning rate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.93/.95/.97/.99; .001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6" name="Text 3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reported performance를 MEC deployment specification으로 일반화하면 안 된다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8" name="Text 5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mdpi-2024 pp. 14-15; Table 2; Fig. 6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비교 baseline의 역할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각 baseline은 동일한 GNN-DQN variant가 아니라 서로 다른 policy family다</a:t>
            </a:r>
            <a:endParaRPr lang="en-US" sz="1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400" y="2082800"/>
          <a:ext cx="10871200" cy="3314700"/>
        </p:xfrm>
        <a:graphic>
          <a:graphicData uri="http://schemas.openxmlformats.org/drawingml/2006/table">
            <a:tbl>
              <a:tblPr/>
              <a:tblGrid>
                <a:gridCol w="2391664"/>
                <a:gridCol w="5435600"/>
                <a:gridCol w="3043936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방법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원문 설명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비교 의미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LOCAL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device에서만 task 실행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offloading 없음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RANDOM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offload와 BS selection을 random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nonlearned reference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GNN-A2C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aerial EdgeIoT graph RL framework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GNN plus A2C reference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Coop-UEC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drone cooperative DRL offloading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long-term reward DRL reference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6" name="Text 3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M-GNRL의 결과는 이 네 방법 및 논문의 simulation 조건에 대한 비교다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8" name="Text 5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mdpi-2024 pp. 13-14; §5.1; refs. 23, 32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discount factor 선택과 convergence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Fig. 7은 gamma=.97을 이후 실험에 쓰게 한 empirical selection이고 Fig. 8은 조건부 convergence 비교다</a:t>
            </a:r>
            <a:endParaRPr lang="en-US" sz="1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400" y="2082800"/>
          <a:ext cx="10871200" cy="3314700"/>
        </p:xfrm>
        <a:graphic>
          <a:graphicData uri="http://schemas.openxmlformats.org/drawingml/2006/table">
            <a:tbl>
              <a:tblPr/>
              <a:tblGrid>
                <a:gridCol w="3370072"/>
                <a:gridCol w="4565904"/>
                <a:gridCol w="2935224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방법 또는 setting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reported observation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조건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gamma=.97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Fig. 7의 highest average reward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tested .93, .95, .97, .99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Coop-UEC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1050 episode 뒤 .35–.44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Fig. 8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GNN-A2C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920 iteration 뒤 .66–.78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Fig. 8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M-GNRL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950 iteration 뒤 .82–.97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Fig. 8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6" name="Text 3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GNN-A2C는 약간 더 빠르지만 M-GNRL은 stable state에서 더 높은 reward를 보였다고 보고한다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8" name="Text 5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mdpi-2024 p. 15; Figs. 7-8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arrival rate와 system cost 결과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task load, topology, coverage, BS frequency를 각각 바꾼 simulation 결과를 같은 주장으로 합치지 않는다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838200" y="2171700"/>
            <a:ext cx="1069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254000" indent="-254000">
              <a:lnSpc>
                <a:spcPct val="125000"/>
              </a:lnSpc>
              <a:buSzPct val="100000"/>
              <a:buChar char="•"/>
            </a:pPr>
            <a:r>
              <a:rPr lang="en-US" sz="20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Fig. 9a는 fixed BS resource에서 task volume이 커질 때 task arrival rate를 비교한다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38200" y="2908300"/>
            <a:ext cx="106934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6" name="Text 4"/>
          <p:cNvSpPr txBox="1"/>
          <p:nvPr/>
        </p:nvSpPr>
        <p:spPr>
          <a:xfrm>
            <a:off x="838200" y="2946400"/>
            <a:ext cx="1069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254000" indent="-254000">
              <a:lnSpc>
                <a:spcPct val="125000"/>
              </a:lnSpc>
              <a:buSzPct val="100000"/>
              <a:buChar char="•"/>
            </a:pPr>
            <a:r>
              <a:rPr lang="en-US" sz="20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Fig. 9b는 direct·indirect BS 수와 MD 수가 다른 six topology를 비교한다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38200" y="3683000"/>
            <a:ext cx="106934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8" name="Text 6"/>
          <p:cNvSpPr txBox="1"/>
          <p:nvPr/>
        </p:nvSpPr>
        <p:spPr>
          <a:xfrm>
            <a:off x="838200" y="3721100"/>
            <a:ext cx="1069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254000" indent="-254000">
              <a:lnSpc>
                <a:spcPct val="125000"/>
              </a:lnSpc>
              <a:buSzPct val="100000"/>
              <a:buChar char="•"/>
            </a:pPr>
            <a:r>
              <a:rPr lang="en-US" sz="20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Fig. 10은 topology, BS coverage, BS frequency에 따른 system cost를 제시한다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38200" y="4457700"/>
            <a:ext cx="106934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0" name="Text 8"/>
          <p:cNvSpPr txBox="1"/>
          <p:nvPr/>
        </p:nvSpPr>
        <p:spPr>
          <a:xfrm>
            <a:off x="838200" y="4495800"/>
            <a:ext cx="1069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254000" indent="-254000">
              <a:lnSpc>
                <a:spcPct val="125000"/>
              </a:lnSpc>
              <a:buSzPct val="100000"/>
              <a:buChar char="•"/>
            </a:pPr>
            <a:r>
              <a:rPr lang="en-US" sz="20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원문은 GNN-A2C가 Coop-UEC 대비 약 22.8%, M-GNRL이 GNN-A2C 대비 약 15.6% cost를 낮췄다고 쓴다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2" name="Text 10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22.8%와 15.6%는 서로 다른 baseline에 대한 조건부 비교다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4" name="Text 12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mdpi-2024 pp. 16-17; Figs. 9-10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weight coefficient의 경계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time이나 energy 한쪽만 cost에 두면 Fig. 11에서 extreme cost와 uneven allocation이 관찰된다</a:t>
            </a:r>
            <a:endParaRPr lang="en-US" sz="1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400" y="2082800"/>
          <a:ext cx="10871200" cy="3314700"/>
        </p:xfrm>
        <a:graphic>
          <a:graphicData uri="http://schemas.openxmlformats.org/drawingml/2006/table">
            <a:tbl>
              <a:tblPr/>
              <a:tblGrid>
                <a:gridCol w="3152648"/>
                <a:gridCol w="4457192"/>
                <a:gridCol w="3261360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setting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원문 비교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해석 경계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alpha=0, beta=1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time-side only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Fig. 11 conditions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alpha=1, beta=0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energy-side only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Fig. 11 conditions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alpha=.7, beta=.3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mixed setting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Fig. 11 condition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alpha=.3, beta=.7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mixed setting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Fig. 11 condition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alpha=.5, beta=.5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mixed setting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Fig. 11 condition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6" name="Text 3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cost weights는 objective preference이며 paper가 보편적 최적 값을 제시하지 않는다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8" name="Text 5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mdpi-2024 p. 17; Fig. 11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source-grounded limits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논문의 mechanism claim과 evidence boundary를 분리해 읽는다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838200" y="2171700"/>
            <a:ext cx="1069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254000" indent="-254000">
              <a:lnSpc>
                <a:spcPct val="125000"/>
              </a:lnSpc>
              <a:buSzPct val="100000"/>
              <a:buChar char="•"/>
            </a:pPr>
            <a:r>
              <a:rPr lang="en-US" sz="20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Graph update는 adjacency-list addition demonstration이며 deletion은 text에서 similar procedure라고만 말한다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38200" y="2908300"/>
            <a:ext cx="106934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6" name="Text 4"/>
          <p:cNvSpPr txBox="1"/>
          <p:nvPr/>
        </p:nvSpPr>
        <p:spPr>
          <a:xfrm>
            <a:off x="838200" y="2946400"/>
            <a:ext cx="1069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254000" indent="-254000">
              <a:lnSpc>
                <a:spcPct val="125000"/>
              </a:lnSpc>
              <a:buSzPct val="100000"/>
              <a:buChar char="•"/>
            </a:pPr>
            <a:r>
              <a:rPr lang="en-US" sz="20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Algorithm 1은 single-agent task offloading이며 future work로 multi-agent collaboration·competition을 든다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38200" y="3683000"/>
            <a:ext cx="106934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8" name="Text 6"/>
          <p:cNvSpPr txBox="1"/>
          <p:nvPr/>
        </p:nvSpPr>
        <p:spPr>
          <a:xfrm>
            <a:off x="838200" y="3721100"/>
            <a:ext cx="1069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254000" indent="-254000">
              <a:lnSpc>
                <a:spcPct val="125000"/>
              </a:lnSpc>
              <a:buSzPct val="100000"/>
              <a:buChar char="•"/>
            </a:pPr>
            <a:r>
              <a:rPr lang="en-US" sz="20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Eq. 13은 local option을 두지만 Eq. 23–25는 BS edge-score action만 구체화한다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38200" y="4457700"/>
            <a:ext cx="106934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0" name="Text 8"/>
          <p:cNvSpPr txBox="1"/>
          <p:nvPr/>
        </p:nvSpPr>
        <p:spPr>
          <a:xfrm>
            <a:off x="838200" y="4495800"/>
            <a:ext cx="1069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254000" indent="-254000">
              <a:lnSpc>
                <a:spcPct val="125000"/>
              </a:lnSpc>
              <a:buSzPct val="100000"/>
              <a:buChar char="•"/>
            </a:pPr>
            <a:r>
              <a:rPr lang="en-US" sz="20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결론은 simulation이 idealized setting에 제약된다고 밝히며 real-world test를 future work로 둔다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2" name="Text 10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M-GNRL은 dynamic graph simulation 전략이며 deployed MEC guarantee가 아니다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4" name="Text 12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mdpi-2024 pp. 7, 11, 13, 17; Eqs. 13, 23-25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M-GNRL을 한 흐름으로 읽기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moving MD relation을 graph로 갱신하고, two-hop feature와 DQN edge score를 거쳐 offloading choice를 만든다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660400" y="2108200"/>
            <a:ext cx="571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397000" y="2108200"/>
            <a:ext cx="2603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MEC graph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4152900" y="2108200"/>
            <a:ext cx="73787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MD-BS relation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397000" y="261112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8" name="Shape 6"/>
          <p:cNvSpPr/>
          <p:nvPr/>
        </p:nvSpPr>
        <p:spPr>
          <a:xfrm>
            <a:off x="850900" y="2623820"/>
            <a:ext cx="190500" cy="152400"/>
          </a:xfrm>
          <a:prstGeom prst="downArrow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9" name="Text 7"/>
          <p:cNvSpPr txBox="1"/>
          <p:nvPr/>
        </p:nvSpPr>
        <p:spPr>
          <a:xfrm>
            <a:off x="660400" y="2801620"/>
            <a:ext cx="571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397000" y="2801620"/>
            <a:ext cx="2603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GraphSAGE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4152900" y="2801620"/>
            <a:ext cx="73787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two-hop embeddings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397000" y="330454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3" name="Shape 11"/>
          <p:cNvSpPr/>
          <p:nvPr/>
        </p:nvSpPr>
        <p:spPr>
          <a:xfrm>
            <a:off x="850900" y="3317240"/>
            <a:ext cx="190500" cy="152400"/>
          </a:xfrm>
          <a:prstGeom prst="downArrow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14" name="Text 12"/>
          <p:cNvSpPr txBox="1"/>
          <p:nvPr/>
        </p:nvSpPr>
        <p:spPr>
          <a:xfrm>
            <a:off x="660400" y="3495040"/>
            <a:ext cx="571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397000" y="3495040"/>
            <a:ext cx="2603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DQN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4152900" y="3495040"/>
            <a:ext cx="73787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state, reward, replay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397000" y="399796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8" name="Shape 16"/>
          <p:cNvSpPr/>
          <p:nvPr/>
        </p:nvSpPr>
        <p:spPr>
          <a:xfrm>
            <a:off x="850900" y="4010660"/>
            <a:ext cx="190500" cy="152400"/>
          </a:xfrm>
          <a:prstGeom prst="downArrow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19" name="Text 17"/>
          <p:cNvSpPr txBox="1"/>
          <p:nvPr/>
        </p:nvSpPr>
        <p:spPr>
          <a:xfrm>
            <a:off x="660400" y="4188460"/>
            <a:ext cx="571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1397000" y="4188460"/>
            <a:ext cx="2603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edge action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4152900" y="4188460"/>
            <a:ext cx="73787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softmax and argmax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397000" y="469138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3" name="Shape 21"/>
          <p:cNvSpPr/>
          <p:nvPr/>
        </p:nvSpPr>
        <p:spPr>
          <a:xfrm>
            <a:off x="850900" y="4704080"/>
            <a:ext cx="190500" cy="152400"/>
          </a:xfrm>
          <a:prstGeom prst="downArrow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24" name="Text 22"/>
          <p:cNvSpPr txBox="1"/>
          <p:nvPr/>
        </p:nvSpPr>
        <p:spPr>
          <a:xfrm>
            <a:off x="660400" y="4881880"/>
            <a:ext cx="571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1397000" y="4881880"/>
            <a:ext cx="2603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execution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4152900" y="4881880"/>
            <a:ext cx="73787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local or MEC path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397000" y="538480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8" name="Shape 26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9" name="Text 27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핵심 기여는 graph relation feature를 DQN offloading decision에 연결한 점이다</a:t>
            </a:r>
            <a:endParaRPr lang="en-US" sz="1750" dirty="0"/>
          </a:p>
        </p:txBody>
      </p:sp>
      <p:sp>
        <p:nvSpPr>
          <p:cNvPr id="30" name="Shape 28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31" name="Text 29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mdpi-2024 pp. 8-17; Figs. 3-11; Algs. 1-2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ple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ple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변하는 MEC 연결을 그래프와 DQN으로 읽기</dc:title>
  <dc:subject>Offloading Strategy Based on Graph Neural Reinforcement Learning in Mobile Edge Computing</dc:subject>
  <dc:creator>Research Seminars</dc:creator>
  <cp:lastModifiedBy>Research Seminars</cp:lastModifiedBy>
  <cp:revision>1</cp:revision>
  <dcterms:created xsi:type="dcterms:W3CDTF">2026-09-12T07:59:35Z</dcterms:created>
  <dcterms:modified xsi:type="dcterms:W3CDTF">2026-09-12T07:59:35Z</dcterms:modified>
</cp:coreProperties>
</file>
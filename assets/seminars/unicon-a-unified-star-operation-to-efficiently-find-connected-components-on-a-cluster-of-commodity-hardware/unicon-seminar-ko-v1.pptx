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UniCon: 범용 클러스터의 연결 요소 계산
발표 대본
UniCon은 MapReduce 기반 connected components algorithm입니다. 이 자료는 먼저 CC의 정확한 output을 정의하고, PACC까지 남은 intermediate-data 문제를 확인합니다. 이어서 UniStar의 overlapping partition semantics, intact-edge 처리, 세 filtering cases와 HybridMap을 설명한 뒤 조건이 붙은 experiment results를 읽습니다.
공개 출처
unicon-paper | title and abstract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Connected components의 정확한 출력
발표 대본
입력은 totally ordered vertex IDs를 가진 undirected graph입니다. Edge는 큰 ID가 먼저 오도록 ordered pair로 기록합니다. CC output은 각 vertex u를 component Lambda of u의 가장 preceding vertex, 즉 minimum ID에 mapping하는 것입니다. 예시에서는 1, 4, 6이 같은 component라 모두 1에 mapping되고, 2와 9는 2에 mapping됩니다.
공개 출처
unicon-paper | pp. 4-5, Table 1 and Definition 1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기호와 상태의 의미
발표 대본
rho는 partition count이고 xi는 vertex를 partition ID로 보내는 random hash입니다. 이 color label은 작업 분할에 쓰이며 component 결과가 아닙니다. tau는 remaining edge count가 충분히 작아졌을 때 distributed UniStar 대신 single-machine Rem으로 전환하는 threshold입니다. F는 filtering case one과 two에서 sep로 분리한 edges를 누적하며 final finishing에 다시 사용합니다.
공개 출처
unicon-paper | pp. 4-6, Table 1 and Algorithm 1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대규모 CC에서 memory와 I/O가 함께 문제다
발표 대본
Distributed-memory algorithms는 input graph와 processing state를 aggregate RAM에 올려야 하므로 commodity cluster에서 OOM이 날 수 있습니다. MapReduce는 distributed storage를 사용해 이 조건을 완화하지만 각 round의 records를 disk에 쓰고 network로 shuffle합니다. UniCon은 I/O를 없애지 않습니다. 대신 star operations가 만드는 intermediate edges와 불필요한 next-round inputs를 줄입니다.
공개 출처
unicon-paper | pp. 1-3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Alternating, PACC, UniCon의 차이
발표 대본
Alternating algorithm은 large-star와 small-star를 번갈아 실행합니다. PACC는 partition-aware versions로 reducer concentration을 줄였지만 두 operations를 계속 교대하며 intermediate data를 옮깁니다. UniCon은 두 operations를 단순히 합치지 않고, overlapping partition subgraph에서 local CC를 계산하는 UniStar를 도입합니다. DSP-CC는 external memory를 쓰는 separate single-machine algorithm이라 UniCon을 그 분산판으로 부르면 안 됩니다.
공개 출처
unicon-paper | pp. 3-6
UniCon, PLOS ONE 17(11): e0277527
https://journals.plos.org/plosone/article?id=10.1371/journal.pone.0277527
pacc-paper | pp. 6-15
PACC: Large Scale Connected Component Computation on Hadoop and Spark
https://journals.plos.org/plosone/article?id=10.1371/journal.pone.0229936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UniStar-naive의 data explosion
발표 대본
Figure 2의 input은 14 edges인데 naïve round one에서 25, round two에서 29로 늘어납니다. 원문은 edge 17 comma 16을 예로 듭니다. Endpoint 16 관점의 minimum은 12이고 endpoint 17 관점의 minimum은 16이라 round one에서 17 comma 12와 17 comma 16으로 copy됩니다. 이 copies가 이후 round에서 다시 처리되어 data explosion이 이어집니다.
공개 출처
unicon-paper | pp. 6-7, Fig. 2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UniCon의 전체 pipeline
발표 대본
Algorithm 1은 sketching, partitioning, finishing의 세 phases로 구성됩니다. Sketching은 PACC에서 가져온 input reduction과 load-balancing step입니다. Partitioning에서는 edge count가 tau보다 크면 UniStar-opt를 반복하고 case one과 two sep edges를 F에 누적합니다. Edge count가 threshold 이하이면 Rem을 사용합니다. Finishing은 remaining E와 F를 함께 사용해 final representative mapping을 만듭니다.
공개 출처
unicon-paper | pp. 5-6, Algorithm 1 and Fig. 1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Partition은 disjoint output group이 아니다
발표 대본
UniStar는 vertices를 random hash로 partitions에 배정합니다. 하지만 partition subgraph G_i는 vertex shard만 보는 것이 아니라 그 partition vertices에 incident한 edges를 모두 받습니다. Cross edge는 양 endpoint partitions의 local views에 들어갈 수 있습니다. 이 overlap을 제거한 disjoint sharding으로 바꾸어 설명하면 Theorem 1의 connectivity-preservation 논리와 intact-edge optimization을 모두 왜곡합니다.
공개 출처
unicon-paper | pp. 5 and 7, Fig. 3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작은 path에서 overlap과 Rem 따라가기
발표 대본
Vertex 1과 6은 partition zero, vertex 4는 partition one입니다. G zero는 vertices 1과 6에 incident한 두 edges를 모두 포함합니다. G one도 vertex 4에 incident한 두 edges를 모두 포함합니다. 따라서 local graph는 두 views에서 같고 Rem은 parent mapping one to one, four to one, six to one을 계산합니다. 이 예시는 overlap semantics를 설명하며 각 edge를 exactly one worker에서만 처리한다는 뜻이 아닙니다.
공개 출처
unicon-paper | pp. 7-8, Fig. 3 and Theorem 1; values illustrative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Parent mapping에서 output edge까지
발표 대본
Input edge set은 path one to four to six입니다. 각 local Rem parent는 all vertices를 one에 mapping합니다. UniStar output을 set union하고 duplicates를 제거하면 four to one과 six to one이 남습니다. Input과 output graph의 edge topology는 다르지만 connected component는 같습니다. Theorem 1은 각 local path를 direct 또는 two-hop path로 대체해 이 connectivity를 보존함을 보입니다.
공개 출처
unicon-paper | pp. 7-8, Theorem 1; values illustrative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UniStar 한 round의 실제 계산
발표 대본
각 G_i에서 Rem이 local component minimum p of u를 계산합니다. Node u가 자기 hash partition subset의 minimum이 아니면 먼저 그 subset minimum에 연결되고, 그 local minimum은 p of u에 연결됩니다. 이 two-hop structure는 load concentration을 줄이면서 local component connectivity를 유지합니다. 모든 local output edge sets를 union해 next graph를 만듭니다.
공개 출처
unicon-paper | pp. 7-8, Fig. 3 and Theorem 1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Intact tag가 duplicate input을 줄인다
발표 대본
일반 cross-partition edge는 두 endpoint partition keys로 emit됩니다. 이전 round에서 partition i의 output edge가 unchanged라 intact tag를 받으면 다음 round에서 그 edge를 다른 local subgraph에 다시 복제하지 않습니다. Figure 4의 edge 4 comma 1은 one view에만 남습니다. Reduce는 tags를 clear한 뒤 이번 round의 changed set을 기준으로 새 tags를 붙입니다.
공개 출처
unicon-paper | pp. 8-9, Fig. 4 and Algorithm 2 lines 1-4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UniStar-opt의 세 filtering cases
발표 대본
Case one은 same-partition edge에서 u에게 following neighbor가 없는 경우입니다. Case two는 xi(v)=i, 즉 v가 partition i에 속하고 G_i에서 v의 모든 incident edges가 intact인 경우입니다. 두 cases의 edges는 subsequent rounds에서 빼지만 sep로 F에 축적해 finishing input에 다시 넣습니다. Case three는 xi(u)=i이며 (u,v)가 G_i에서 u의 유일한 incident edge이고 그 edge가 intact인 경우입니다. 단지 intact edge가 하나라는 조건이 아닙니다. 반대 partition의 copy 또는 replacement edge가 남으므로 sep 없이 discard합니다.
공개 출처
unicon-paper | pp. 9-10, Algorithm 2 and Fig. 5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Filtered edge의 state 변화
발표 대본
Algorithm 1에서 F는 initially empty입니다. UniStar-opt가 case one과 two edges를 sep로 내보낼 때마다 F와 union합니다. 이 edges는 반복 input에서만 제외됩니다. Remaining E가 작아지면 Rem을 실행하고, final finishing은 Rem output과 F를 함께 사용합니다. Case three는 이 route에 들어가지 않으며 Theorem 2가 counterpart preservation을 뒷받침합니다.
공개 출처
unicon-paper | pp. 5-6 and 9-10, Algorithms 1-2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Case 3 discard의 보존 조건
발표 대본
Theorem 2는 cross edge (u,v)가 xi(u)=i인 G_i에서 u의 유일한 incident edge일 때 반대 partition에도 해당 edge가 있음을 보입니다. Case three는 이 유일 edge가 intact라는 조건도 요구합니다. 다른 non-intact incident edge가 있는데 intact edge만 하나인 경우는 여기에 해당하지 않습니다. Non-intact edge는 두 views에 기본적으로 복제됩니다. Opposite view가 그대로 emit하면 copy가 남고, 바꾸면 u를 다른 node와 잇는 replacement edge가 생깁니다. 이 조건이 있으므로 u-side duplicate를 sep 없이 discard할 수 있습니다.
공개 출처
unicon-paper | p. 10, Theorem 2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Threshold tau와 Rem 전환
발표 대본
UniCon은 remaining edge count가 tau 이하가 되면 Rem으로 전환합니다. 이 choice는 correctness를 바꾸는 constant가 아니라 performance tuning입니다. Experiment에서 tau equals two thousand million은 GSH, CW, HL을 single machine으로 처리하려다 OOM을 냈습니다. 논문은 각 dataset에 optimal tau를 사용했으므로 하나의 tau를 모든 hardware에 권장할 수 없습니다.
공개 출처
unicon-paper | pp. 5-6 and 12, Algorithm 1 and Fig. 6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HybridMap이 worker RAM을 구성하는 방법
발표 대본
Rem의 parent map p를 universe-size array로 만들면 each worker가 total vertex count size를 부담합니다. HybridMap은 자기 partition vertex range를 compact array에 두고, local subgraph에 incident하지만 partition 밖인 vertices만 hash table에 둡니다. Local keys가 대부분 array에 있으므로 all-hash보다 lookup을 줄이고, full array보다 memory를 크게 낮춥니다.
공개 출처
unicon-paper | p. 11, HybridMap section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Theorem 3의 expected memory bound
발표 대본
Theorem 3 assumes random vertex partition and evenly distributed edges. Expected local vertex count is V over rho, and expected edge-view count is two E over rho because a cross edge can enter two subgraphs. 따라서 HybridMap memory는 expected O of V plus E over rho입니다. 논문은 high-probability concentration이나 deterministic byte limit을 제공하지 않습니다. Rho를 늘리면 memory는 줄지만 partition-aware benefit와 performance가 약해질 수 있습니다.
공개 출처
unicon-paper | p. 11, Theorem 3 and Fig. 7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증명과 측정을 구분하는 기준
발표 대본
Theorem one is a connectivity correctness result. Theorem two supports case-three filtering under its structural condition. Theorem three is an expected asymptotic memory result. In contrast, input reduction, intermediate-data reduction, speedups and maximum processable sizes are measurements. Edge record count가 줄어도 compression, sort spill, network bytes, JVM overhead가 같은 비율로 줄어든다는 theorem은 없습니다.
공개 출처
unicon-paper | pp. 8-11, Theorems 1-3; pp. 14-18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Experiment hardware와 software 조건
발표 대본
실험 cluster는 10 machines로 구성됩니다. 각 machine은 four-core Intel Xeon E3-1220 at 3.10 gigahertz, 16 gigabytes RAM, two one-terabyte SSDs를 갖습니다. Hadoop 3.2.1, Spark 3.0.1, MPICH 3.3을 사용했고 master도 worker로 참여했습니다. 비교 algorithm은 원 저자 code를 사용했으며 Rem은 C plus plus eleven으로 구현했습니다.
공개 출처
unicon-paper | p. 12, Experimental settings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UniStar와 naive 통합의 비교
발표 대본
Figure 8에서 UniStar는 UniStar-naive보다 input data를 up to four times, Map output intermediate data를 up to eight times 줄였습니다. Figure 9에서 single UniStar operation은 two to five times faster였고, UniCon-base는 rounds도 줄어 total runtime을 up to 4.3 times 낮췄습니다. These are reported maxima across experiment conditions, not fixed constants for all graphs.
공개 출처
unicon-paper | pp. 14-15, Figs. 8-9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Filtering과 HybridMap의 measured effects
발표 대본
Figure 10은 filtering 효과를 분리하려고 tau를 zero로 고정합니다. CW에서 UniCon-opt는 round당 input size를 평균 80.4 percent 줄였습니다. 마지막 input이 다시 늘어나는 이유는 finishing이 case one과 two edges를 되돌려 받기 때문입니다. Figure 13은 CW에서 HybridMap runtime이 all-hash보다 22.7 percent 낮다고 보고합니다. Array-only는 worker마다 V-size array를 할당해 GSH, CW, HL에서 실패했습니다.
공개 출처
unicon-paper | pp. 15-17, Figs. 10 and 12-13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Scale 결과의 조건과 범위
발표 대본
Figure 14 reports that UniCon handles up to 4096 times larger RMAT graphs than LACC and FastSV on this cluster because competitors hit OOM earlier. HL has 3,443,082,324 vertices and 128,736,914,167 edges. On CW only UniCon and PACC succeed. Figure 15 expresses UniCon-opt speed as 143 percent of PACC, corresponding to PACC runtime divided by UniCon-opt runtime of 1.43. 이를 143 percent faster라고 바꾸면 안 됩니다.
공개 출처
unicon-paper | pp. 12-13 and 17-18, Table 2 and Figs. 14-15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UniCon 결과의 적용 한계
발표 대본
Connectivity preservation은 algorithm semantics에 대한 theorem이지만 performance claims는 system-dependent입니다. Expected memory bound를 worst-case 16-gigabyte guarantee로 바꿀 수 없습니다. Record reduction과 physical bytes reduction도 identical하지 않습니다. Tau와 rho tuning이 결과에 영향을 주며, 이 paper는 connected components만 다룹니다. 다른 graph algorithms나 current clusters에는 별도 evidence가 필요합니다.
공개 출처
unicon-paper | pp. 11-19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UniCon의 기여를 이루는 네 요소
발표 대본
UniStar alone은 overlapping partitions에서 local connectivity를 빠르게 압축합니다. Intact tag는 stable cross edge의 duplicate copy를 줄입니다. Filtering은 completed structures를 next rounds에서 제외하되 case one and two edges를 F에 보존합니다. HybridMap은 each worker의 parent state를 compact하게 유지합니다. 이 네 요소가 함께 commodity-cluster CC scalability를 목표로 합니다.
공개 출처
unicon-paper | pp. 5-11 and p. 19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정확한 UniCon 설명
발표 대본
UniCon을 요약하면 다음과 같습니다. Overlapping partition subgraphs에서 local connected components를 계산해 unified star output을 만들고, intact duplicate와 completed edges를 구분해 next-round records를 줄입니다. Case one and two evidence는 F에 보존하고 HybridMap으로 worker memory를 제한합니다. Reported scale results는 2022년 10-machine configuration에 조건부입니다.
공개 출처
unicon-paper | pp. 4-19
UniCon, PLOS ONE 17(11): e0277527
https://journals.plos.org/plosone/article?id=10.1371/journal.pone.0277527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UniCon: 범용 클러스터의 연결 요소 계산</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UniCon: A Unified Star-Operation to Efficiently Find Connected Components on a Cluster of Commodity Hardware</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Chaeeun Kim, Changhun Han, and Ha-Myung Park (2022)</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Unified star, overlap partition, edge filtering, HybridMap을 하나의 정확한 흐름으로 읽는다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title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Connected components의 정확한 출력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vertex u를 같은 component에서 ID가 가장 작은 representative로 mapping한다</a:t>
            </a:r>
            <a:endParaRPr lang="en-US" sz="1900" dirty="0"/>
          </a:p>
        </p:txBody>
      </p:sp>
      <p:sp>
        <p:nvSpPr>
          <p:cNvPr id="4" name="mechanism-lane-comp-a"/>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component A</a:t>
            </a:r>
            <a:endParaRPr lang="en-US" sz="1250" dirty="0"/>
          </a:p>
        </p:txBody>
      </p:sp>
      <p:sp>
        <p:nvSpPr>
          <p:cNvPr id="5" name="mechanism-lane-comp-b"/>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component B</a:t>
            </a:r>
            <a:endParaRPr lang="en-US" sz="1250" dirty="0"/>
          </a:p>
        </p:txBody>
      </p:sp>
      <p:sp>
        <p:nvSpPr>
          <p:cNvPr id="6" name="mechanism-edge-e-a-set-segment-1"/>
          <p:cNvSpPr/>
          <p:nvPr/>
        </p:nvSpPr>
        <p:spPr>
          <a:xfrm>
            <a:off x="46609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a-map-segment-1"/>
          <p:cNvSpPr/>
          <p:nvPr/>
        </p:nvSpPr>
        <p:spPr>
          <a:xfrm>
            <a:off x="80645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b-set-segment-1"/>
          <p:cNvSpPr/>
          <p:nvPr/>
        </p:nvSpPr>
        <p:spPr>
          <a:xfrm>
            <a:off x="46609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e-b-map-segment-1"/>
          <p:cNvSpPr/>
          <p:nvPr/>
        </p:nvSpPr>
        <p:spPr>
          <a:xfrm>
            <a:off x="80645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0" name="mechanism-node-edges-a"/>
          <p:cNvSpPr txBox="1"/>
          <p:nvPr/>
        </p:nvSpPr>
        <p:spPr>
          <a:xfrm>
            <a:off x="1739900" y="2673350"/>
            <a:ext cx="29210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입력 edges</a:t>
            </a:r>
            <a:endParaRPr lang="en-US" sz="1150" dirty="0"/>
          </a:p>
        </p:txBody>
      </p:sp>
      <p:sp>
        <p:nvSpPr>
          <p:cNvPr id="11" name="mechanism-node-edges-a-queue-1"/>
          <p:cNvSpPr/>
          <p:nvPr/>
        </p:nvSpPr>
        <p:spPr>
          <a:xfrm>
            <a:off x="1739900" y="292735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(4,1)</a:t>
            </a:r>
            <a:endParaRPr lang="en-US" sz="950" dirty="0"/>
          </a:p>
        </p:txBody>
      </p:sp>
      <p:sp>
        <p:nvSpPr>
          <p:cNvPr id="12" name="mechanism-node-edges-a-queue-2"/>
          <p:cNvSpPr/>
          <p:nvPr/>
        </p:nvSpPr>
        <p:spPr>
          <a:xfrm>
            <a:off x="1739900" y="311785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(6,4)</a:t>
            </a:r>
            <a:endParaRPr lang="en-US" sz="950" dirty="0"/>
          </a:p>
        </p:txBody>
      </p:sp>
      <p:sp>
        <p:nvSpPr>
          <p:cNvPr id="13" name="mechanism-node-set-a"/>
          <p:cNvSpPr/>
          <p:nvPr/>
        </p:nvSpPr>
        <p:spPr>
          <a:xfrm>
            <a:off x="5143500" y="266065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연결 집합</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{1,4,6}, min=1</a:t>
            </a:r>
            <a:endParaRPr lang="en-US" sz="1150" dirty="0"/>
          </a:p>
        </p:txBody>
      </p:sp>
      <p:sp>
        <p:nvSpPr>
          <p:cNvPr id="14" name="mechanism-node-map-a"/>
          <p:cNvSpPr txBox="1"/>
          <p:nvPr/>
        </p:nvSpPr>
        <p:spPr>
          <a:xfrm>
            <a:off x="8547100" y="2578100"/>
            <a:ext cx="29210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대표 mapping</a:t>
            </a:r>
            <a:endParaRPr lang="en-US" sz="1150" dirty="0"/>
          </a:p>
        </p:txBody>
      </p:sp>
      <p:sp>
        <p:nvSpPr>
          <p:cNvPr id="15" name="mechanism-node-map-a-queue-1"/>
          <p:cNvSpPr/>
          <p:nvPr/>
        </p:nvSpPr>
        <p:spPr>
          <a:xfrm>
            <a:off x="8547100" y="283210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1:1</a:t>
            </a:r>
            <a:endParaRPr lang="en-US" sz="950" dirty="0"/>
          </a:p>
        </p:txBody>
      </p:sp>
      <p:sp>
        <p:nvSpPr>
          <p:cNvPr id="16" name="mechanism-node-map-a-queue-2"/>
          <p:cNvSpPr/>
          <p:nvPr/>
        </p:nvSpPr>
        <p:spPr>
          <a:xfrm>
            <a:off x="8547100" y="302260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4:1</a:t>
            </a:r>
            <a:endParaRPr lang="en-US" sz="950" dirty="0"/>
          </a:p>
        </p:txBody>
      </p:sp>
      <p:sp>
        <p:nvSpPr>
          <p:cNvPr id="17" name="mechanism-node-map-a-queue-3"/>
          <p:cNvSpPr/>
          <p:nvPr/>
        </p:nvSpPr>
        <p:spPr>
          <a:xfrm>
            <a:off x="8547100" y="321310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6:1</a:t>
            </a:r>
            <a:endParaRPr lang="en-US" sz="950" dirty="0"/>
          </a:p>
        </p:txBody>
      </p:sp>
      <p:sp>
        <p:nvSpPr>
          <p:cNvPr id="18" name="mechanism-node-edges-b"/>
          <p:cNvSpPr txBox="1"/>
          <p:nvPr/>
        </p:nvSpPr>
        <p:spPr>
          <a:xfrm>
            <a:off x="1739900" y="4330700"/>
            <a:ext cx="29210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입력 edge</a:t>
            </a:r>
            <a:endParaRPr lang="en-US" sz="1150" dirty="0"/>
          </a:p>
        </p:txBody>
      </p:sp>
      <p:sp>
        <p:nvSpPr>
          <p:cNvPr id="19" name="mechanism-node-edges-b-queue-1"/>
          <p:cNvSpPr/>
          <p:nvPr/>
        </p:nvSpPr>
        <p:spPr>
          <a:xfrm>
            <a:off x="1739900" y="458470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(9,2)</a:t>
            </a:r>
            <a:endParaRPr lang="en-US" sz="950" dirty="0"/>
          </a:p>
        </p:txBody>
      </p:sp>
      <p:sp>
        <p:nvSpPr>
          <p:cNvPr id="20" name="mechanism-node-set-b"/>
          <p:cNvSpPr/>
          <p:nvPr/>
        </p:nvSpPr>
        <p:spPr>
          <a:xfrm>
            <a:off x="5143500" y="422275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연결 집합</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{2,9}, min=2</a:t>
            </a:r>
            <a:endParaRPr lang="en-US" sz="1150" dirty="0"/>
          </a:p>
        </p:txBody>
      </p:sp>
      <p:sp>
        <p:nvSpPr>
          <p:cNvPr id="21" name="mechanism-node-map-b"/>
          <p:cNvSpPr txBox="1"/>
          <p:nvPr/>
        </p:nvSpPr>
        <p:spPr>
          <a:xfrm>
            <a:off x="8547100" y="4235450"/>
            <a:ext cx="29210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대표 mapping</a:t>
            </a:r>
            <a:endParaRPr lang="en-US" sz="1150" dirty="0"/>
          </a:p>
        </p:txBody>
      </p:sp>
      <p:sp>
        <p:nvSpPr>
          <p:cNvPr id="22" name="mechanism-node-map-b-queue-1"/>
          <p:cNvSpPr/>
          <p:nvPr/>
        </p:nvSpPr>
        <p:spPr>
          <a:xfrm>
            <a:off x="8547100" y="448945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2:2</a:t>
            </a:r>
            <a:endParaRPr lang="en-US" sz="950" dirty="0"/>
          </a:p>
        </p:txBody>
      </p:sp>
      <p:sp>
        <p:nvSpPr>
          <p:cNvPr id="23" name="mechanism-node-map-b-queue-2"/>
          <p:cNvSpPr/>
          <p:nvPr/>
        </p:nvSpPr>
        <p:spPr>
          <a:xfrm>
            <a:off x="8547100" y="467995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9:2</a:t>
            </a:r>
            <a:endParaRPr lang="en-US" sz="950" dirty="0"/>
          </a:p>
        </p:txBody>
      </p:sp>
      <p:sp>
        <p:nvSpPr>
          <p:cNvPr id="24" name="Shape 2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5" name="Text 2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UniCon의 representative는 임의 label이 아니라 component의 minimum vertex ID다</a:t>
            </a:r>
            <a:endParaRPr lang="en-US" sz="1750" dirty="0"/>
          </a:p>
        </p:txBody>
      </p:sp>
      <p:sp>
        <p:nvSpPr>
          <p:cNvPr id="26" name="Shape 2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7" name="Text 2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4-5, Table 1 and Definition 1</a:t>
            </a:r>
            <a:endParaRPr lang="en-US" sz="1050" dirty="0"/>
          </a:p>
        </p:txBody>
      </p:sp>
      <p:sp>
        <p:nvSpPr>
          <p:cNvPr id="28" name="Text 2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기호와 상태의 의미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Formula보다 먼저 graph, partition, threshold, 보관 edge를 정의한다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5000752"/>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발표에서의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Vertex set V와 undirected edge set 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graph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rho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Partition 개수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Worker-local view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xi(u)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Vertex u의 random hash partition 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Component label이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Single-machine Rem 전환 threshold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Hardware별 tuning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case 1/2의 sep edge 누적 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Finishing에서 복원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Partition ID와 component representative는 서로 다른 label이다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4-6, Table 1 and Algorithm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대규모 CC에서 memory와 I/O가 함께 문제다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Input graph뿐 아니라 반복 중 생성되는 records도 저장하고 이동해야 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826512"/>
                <a:gridCol w="2935224"/>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 저장 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Scale 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남는 비용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 machine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machine의 RAM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RAM 초과 시 OOM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외부 저장 algorithm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Distributed memory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worker의 RAM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graph와 state가 RAM 초과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Machine 수와 memory 의존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MapReduce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Distributed storage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RAM 한계 완화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Disk, sort, network 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UniCon 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Storage와 local RAM 혼합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Intermediate records 억제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I/O 자체는 남음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Distributed storage를 쓰면 OOM 위험은 줄지만 intermediate-data I/O가 병목이 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1-3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Alternating, PACC, UniCon의 차이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세 방법은 같은 star operation을 다른 이름으로 부르는 관계가 아니다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3370072"/>
                <a:gridCol w="2500376"/>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반복 operation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Partition awareness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핵심 한계 또는 변화</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Alternating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Large-star와 small-star 교대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distributed rounds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PACC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PA-large-star와 PA-small-star 교대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Load balance 개선, data 이동 지속</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UniCon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UniStar 하나를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Overlap subgraph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CC와 중복 억제 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DSP-CC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External-memory Union-Find 계열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 single-machine method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UniCon은 PACC sketching을 쓰지만 partitioning의 star semantics를 새로 정의한다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3-6; pacc-paper pp. 6-15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UniStar-naive의 data explosion</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edge를 양 endpoint 관점에서 다시 만들면 다음 round에서 그 copies가 또 복제된다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Original</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|E|=14</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Round 1</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|E|=25</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Round 2</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|E|=29</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Repeated copies</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Edge (17,16)이 (17,12)와 (17,16)으로 재발행</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Unified operation 자체보다 duplicate propagation을 막는 semantics가 중요하다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6-7, Fig. 2</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UniCon의 전체 pipeline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Sketching 뒤의 edge count가 threshold tau보다 큰지에 따라 distributed round와 Rem이 갈린다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Sketching</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Edge chunks의 local CC로 compact E 생성</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|E| &gt; tau</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UniStar-opt, sep는 F에 누적</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|E| ≤ tau</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Single-machine Rem으로 E 축소</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Convergence</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Remaining E와 F를 보존</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Finishing</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Minimum representative mapping</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5-6, Algorithm 1 and Fig.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Partition은 disjoint output group이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G_i는 partition i의 vertices에 incident한 edges로 만든 local view다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xi: V to [rho]는 random hash이며 vertex마다 work partition을 지정한다.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Partition i의 edge set E_i는 [V]_i vertices에 incident한 edges를 포함한다.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Cross-partition edge는 endpoint가 속한 두 subgraph에 모두 나타날 수 있다.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따라서 G_0, G_1, ...은 서로 겹치는 subgraphs이며 component partition이 아니다.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Overlap은 중복 비용의 원인이면서 cross-partition connectivity를 보존하는 재료다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5 and 7, Fig. 3</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작은 path에서 overlap과 Rem 따라가기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입력 E={(4,1),(6,4)}, rho=2, xi(1)=0, xi(4)=1, xi(6)=0인 교육용 계산</a:t>
            </a:r>
            <a:endParaRPr lang="en-US" sz="1900" dirty="0"/>
          </a:p>
        </p:txBody>
      </p:sp>
      <p:sp>
        <p:nvSpPr>
          <p:cNvPr id="4" name="mechanism-lane-g0"/>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G_0 view</a:t>
            </a:r>
            <a:endParaRPr lang="en-US" sz="1250" dirty="0"/>
          </a:p>
        </p:txBody>
      </p:sp>
      <p:sp>
        <p:nvSpPr>
          <p:cNvPr id="5" name="mechanism-lane-g1"/>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G_1 view</a:t>
            </a:r>
            <a:endParaRPr lang="en-US" sz="1250" dirty="0"/>
          </a:p>
        </p:txBody>
      </p:sp>
      <p:sp>
        <p:nvSpPr>
          <p:cNvPr id="6" name="mechanism-edge-e-input-v0-segment-1"/>
          <p:cNvSpPr/>
          <p:nvPr/>
        </p:nvSpPr>
        <p:spPr>
          <a:xfrm>
            <a:off x="3810000" y="2800350"/>
            <a:ext cx="321733" cy="0"/>
          </a:xfrm>
          <a:prstGeom prst="line">
            <a:avLst/>
          </a:prstGeom>
          <a:noFill/>
          <a:ln w="12700">
            <a:solidFill>
              <a:srgbClr val="0D685C"/>
            </a:solidFill>
            <a:prstDash val="solid"/>
            <a:headEnd type="none"/>
            <a:tailEnd type="none"/>
          </a:ln>
        </p:spPr>
        <p:txBody>
          <a:bodyPr/>
          <a:lstStyle/>
          <a:p>
            <a:endParaRPr lang="ko-KR"/>
          </a:p>
        </p:txBody>
      </p:sp>
      <p:sp>
        <p:nvSpPr>
          <p:cNvPr id="7" name="mechanism-edge-e-input-v0-segment-2"/>
          <p:cNvSpPr/>
          <p:nvPr/>
        </p:nvSpPr>
        <p:spPr>
          <a:xfrm>
            <a:off x="4131733" y="2800350"/>
            <a:ext cx="0" cy="190500"/>
          </a:xfrm>
          <a:prstGeom prst="line">
            <a:avLst/>
          </a:prstGeom>
          <a:noFill/>
          <a:ln w="12700">
            <a:solidFill>
              <a:srgbClr val="0D685C"/>
            </a:solidFill>
            <a:prstDash val="solid"/>
            <a:headEnd type="none"/>
            <a:tailEnd type="none"/>
          </a:ln>
        </p:spPr>
        <p:txBody>
          <a:bodyPr/>
          <a:lstStyle/>
          <a:p>
            <a:endParaRPr lang="ko-KR"/>
          </a:p>
        </p:txBody>
      </p:sp>
      <p:sp>
        <p:nvSpPr>
          <p:cNvPr id="8" name="mechanism-edge-e-input-v0-segment-3"/>
          <p:cNvSpPr/>
          <p:nvPr/>
        </p:nvSpPr>
        <p:spPr>
          <a:xfrm>
            <a:off x="4131733" y="2990850"/>
            <a:ext cx="160867"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e-input-v1-segment-1"/>
          <p:cNvSpPr/>
          <p:nvPr/>
        </p:nvSpPr>
        <p:spPr>
          <a:xfrm>
            <a:off x="3810000" y="3181350"/>
            <a:ext cx="160867" cy="0"/>
          </a:xfrm>
          <a:prstGeom prst="line">
            <a:avLst/>
          </a:prstGeom>
          <a:noFill/>
          <a:ln w="12700">
            <a:solidFill>
              <a:srgbClr val="0D685C"/>
            </a:solidFill>
            <a:prstDash val="solid"/>
            <a:headEnd type="none"/>
            <a:tailEnd type="none"/>
          </a:ln>
        </p:spPr>
        <p:txBody>
          <a:bodyPr/>
          <a:lstStyle/>
          <a:p>
            <a:endParaRPr lang="ko-KR"/>
          </a:p>
        </p:txBody>
      </p:sp>
      <p:sp>
        <p:nvSpPr>
          <p:cNvPr id="10" name="mechanism-edge-e-input-v1-segment-2"/>
          <p:cNvSpPr/>
          <p:nvPr/>
        </p:nvSpPr>
        <p:spPr>
          <a:xfrm>
            <a:off x="3970867" y="3181350"/>
            <a:ext cx="0" cy="1371600"/>
          </a:xfrm>
          <a:prstGeom prst="line">
            <a:avLst/>
          </a:prstGeom>
          <a:noFill/>
          <a:ln w="12700">
            <a:solidFill>
              <a:srgbClr val="0D685C"/>
            </a:solidFill>
            <a:prstDash val="solid"/>
            <a:headEnd type="none"/>
            <a:tailEnd type="none"/>
          </a:ln>
        </p:spPr>
        <p:txBody>
          <a:bodyPr/>
          <a:lstStyle/>
          <a:p>
            <a:endParaRPr lang="ko-KR"/>
          </a:p>
        </p:txBody>
      </p:sp>
      <p:sp>
        <p:nvSpPr>
          <p:cNvPr id="11" name="mechanism-edge-e-input-v1-segment-3"/>
          <p:cNvSpPr/>
          <p:nvPr/>
        </p:nvSpPr>
        <p:spPr>
          <a:xfrm>
            <a:off x="3970867" y="4552950"/>
            <a:ext cx="321733" cy="0"/>
          </a:xfrm>
          <a:prstGeom prst="line">
            <a:avLst/>
          </a:prstGeom>
          <a:noFill/>
          <a:ln w="12700">
            <a:solidFill>
              <a:srgbClr val="0D685C"/>
            </a:solidFill>
            <a:prstDash val="solid"/>
            <a:headEnd type="none"/>
            <a:tailEnd type="triangle"/>
          </a:ln>
        </p:spPr>
        <p:txBody>
          <a:bodyPr/>
          <a:lstStyle/>
          <a:p>
            <a:endParaRPr lang="ko-KR"/>
          </a:p>
        </p:txBody>
      </p:sp>
      <p:sp>
        <p:nvSpPr>
          <p:cNvPr id="12" name="mechanism-edge-e-v0-rem0-segment-1"/>
          <p:cNvSpPr/>
          <p:nvPr/>
        </p:nvSpPr>
        <p:spPr>
          <a:xfrm>
            <a:off x="63627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13" name="mechanism-edge-e-rem0-p0-segment-1"/>
          <p:cNvSpPr/>
          <p:nvPr/>
        </p:nvSpPr>
        <p:spPr>
          <a:xfrm>
            <a:off x="89154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14" name="mechanism-edge-e-v1-rem1-segment-1"/>
          <p:cNvSpPr/>
          <p:nvPr/>
        </p:nvSpPr>
        <p:spPr>
          <a:xfrm>
            <a:off x="63627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5" name="mechanism-edge-e-rem1-p1-segment-1"/>
          <p:cNvSpPr/>
          <p:nvPr/>
        </p:nvSpPr>
        <p:spPr>
          <a:xfrm>
            <a:off x="89154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6" name="mechanism-node-input"/>
          <p:cNvSpPr txBox="1"/>
          <p:nvPr/>
        </p:nvSpPr>
        <p:spPr>
          <a:xfrm>
            <a:off x="1739900" y="267335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Input E</a:t>
            </a:r>
            <a:endParaRPr lang="en-US" sz="1150" dirty="0"/>
          </a:p>
        </p:txBody>
      </p:sp>
      <p:sp>
        <p:nvSpPr>
          <p:cNvPr id="17" name="mechanism-node-input-queue-1"/>
          <p:cNvSpPr/>
          <p:nvPr/>
        </p:nvSpPr>
        <p:spPr>
          <a:xfrm>
            <a:off x="1739900" y="29273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(4,1)</a:t>
            </a:r>
            <a:endParaRPr lang="en-US" sz="950" dirty="0"/>
          </a:p>
        </p:txBody>
      </p:sp>
      <p:sp>
        <p:nvSpPr>
          <p:cNvPr id="18" name="mechanism-node-input-queue-2"/>
          <p:cNvSpPr/>
          <p:nvPr/>
        </p:nvSpPr>
        <p:spPr>
          <a:xfrm>
            <a:off x="1739900" y="31178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(6,4)</a:t>
            </a:r>
            <a:endParaRPr lang="en-US" sz="950" dirty="0"/>
          </a:p>
        </p:txBody>
      </p:sp>
      <p:sp>
        <p:nvSpPr>
          <p:cNvPr id="19" name="mechanism-node-view0"/>
          <p:cNvSpPr txBox="1"/>
          <p:nvPr/>
        </p:nvSpPr>
        <p:spPr>
          <a:xfrm>
            <a:off x="4292600" y="267335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Incident edges</a:t>
            </a:r>
            <a:endParaRPr lang="en-US" sz="1150" dirty="0"/>
          </a:p>
        </p:txBody>
      </p:sp>
      <p:sp>
        <p:nvSpPr>
          <p:cNvPr id="20" name="mechanism-node-view0-queue-1"/>
          <p:cNvSpPr/>
          <p:nvPr/>
        </p:nvSpPr>
        <p:spPr>
          <a:xfrm>
            <a:off x="4292600" y="29273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(4,1)</a:t>
            </a:r>
            <a:endParaRPr lang="en-US" sz="950" dirty="0"/>
          </a:p>
        </p:txBody>
      </p:sp>
      <p:sp>
        <p:nvSpPr>
          <p:cNvPr id="21" name="mechanism-node-view0-queue-2"/>
          <p:cNvSpPr/>
          <p:nvPr/>
        </p:nvSpPr>
        <p:spPr>
          <a:xfrm>
            <a:off x="4292600" y="31178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(6,4)</a:t>
            </a:r>
            <a:endParaRPr lang="en-US" sz="950" dirty="0"/>
          </a:p>
        </p:txBody>
      </p:sp>
      <p:sp>
        <p:nvSpPr>
          <p:cNvPr id="22" name="mechanism-node-rem0"/>
          <p:cNvSpPr/>
          <p:nvPr/>
        </p:nvSpPr>
        <p:spPr>
          <a:xfrm>
            <a:off x="68453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Rem on G_0</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Local CC min=1</a:t>
            </a:r>
            <a:endParaRPr lang="en-US" sz="1150" dirty="0"/>
          </a:p>
        </p:txBody>
      </p:sp>
      <p:sp>
        <p:nvSpPr>
          <p:cNvPr id="23" name="mechanism-node-parent0"/>
          <p:cNvSpPr txBox="1"/>
          <p:nvPr/>
        </p:nvSpPr>
        <p:spPr>
          <a:xfrm>
            <a:off x="9398000" y="25781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Parent p_0</a:t>
            </a:r>
            <a:endParaRPr lang="en-US" sz="1150" dirty="0"/>
          </a:p>
        </p:txBody>
      </p:sp>
      <p:sp>
        <p:nvSpPr>
          <p:cNvPr id="24" name="mechanism-node-parent0-queue-1"/>
          <p:cNvSpPr/>
          <p:nvPr/>
        </p:nvSpPr>
        <p:spPr>
          <a:xfrm>
            <a:off x="9398000" y="28321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1:1</a:t>
            </a:r>
            <a:endParaRPr lang="en-US" sz="950" dirty="0"/>
          </a:p>
        </p:txBody>
      </p:sp>
      <p:sp>
        <p:nvSpPr>
          <p:cNvPr id="25" name="mechanism-node-parent0-queue-2"/>
          <p:cNvSpPr/>
          <p:nvPr/>
        </p:nvSpPr>
        <p:spPr>
          <a:xfrm>
            <a:off x="9398000" y="30226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4:1</a:t>
            </a:r>
            <a:endParaRPr lang="en-US" sz="950" dirty="0"/>
          </a:p>
        </p:txBody>
      </p:sp>
      <p:sp>
        <p:nvSpPr>
          <p:cNvPr id="26" name="mechanism-node-parent0-queue-3"/>
          <p:cNvSpPr/>
          <p:nvPr/>
        </p:nvSpPr>
        <p:spPr>
          <a:xfrm>
            <a:off x="9398000" y="32131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6:1</a:t>
            </a:r>
            <a:endParaRPr lang="en-US" sz="950" dirty="0"/>
          </a:p>
        </p:txBody>
      </p:sp>
      <p:sp>
        <p:nvSpPr>
          <p:cNvPr id="27" name="mechanism-node-view1"/>
          <p:cNvSpPr txBox="1"/>
          <p:nvPr/>
        </p:nvSpPr>
        <p:spPr>
          <a:xfrm>
            <a:off x="4292600" y="423545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Incident edges</a:t>
            </a:r>
            <a:endParaRPr lang="en-US" sz="1150" dirty="0"/>
          </a:p>
        </p:txBody>
      </p:sp>
      <p:sp>
        <p:nvSpPr>
          <p:cNvPr id="28" name="mechanism-node-view1-queue-1"/>
          <p:cNvSpPr/>
          <p:nvPr/>
        </p:nvSpPr>
        <p:spPr>
          <a:xfrm>
            <a:off x="4292600" y="44894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(4,1)</a:t>
            </a:r>
            <a:endParaRPr lang="en-US" sz="950" dirty="0"/>
          </a:p>
        </p:txBody>
      </p:sp>
      <p:sp>
        <p:nvSpPr>
          <p:cNvPr id="29" name="mechanism-node-view1-queue-2"/>
          <p:cNvSpPr/>
          <p:nvPr/>
        </p:nvSpPr>
        <p:spPr>
          <a:xfrm>
            <a:off x="4292600" y="46799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(6,4)</a:t>
            </a:r>
            <a:endParaRPr lang="en-US" sz="950" dirty="0"/>
          </a:p>
        </p:txBody>
      </p:sp>
      <p:sp>
        <p:nvSpPr>
          <p:cNvPr id="30" name="mechanism-node-rem1"/>
          <p:cNvSpPr/>
          <p:nvPr/>
        </p:nvSpPr>
        <p:spPr>
          <a:xfrm>
            <a:off x="68453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Rem on G_1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Local CC min=1</a:t>
            </a:r>
            <a:endParaRPr lang="en-US" sz="1150" dirty="0"/>
          </a:p>
        </p:txBody>
      </p:sp>
      <p:sp>
        <p:nvSpPr>
          <p:cNvPr id="31" name="mechanism-node-parent1"/>
          <p:cNvSpPr txBox="1"/>
          <p:nvPr/>
        </p:nvSpPr>
        <p:spPr>
          <a:xfrm>
            <a:off x="9398000" y="41402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Parent p_1</a:t>
            </a:r>
            <a:endParaRPr lang="en-US" sz="1150" dirty="0"/>
          </a:p>
        </p:txBody>
      </p:sp>
      <p:sp>
        <p:nvSpPr>
          <p:cNvPr id="32" name="mechanism-node-parent1-queue-1"/>
          <p:cNvSpPr/>
          <p:nvPr/>
        </p:nvSpPr>
        <p:spPr>
          <a:xfrm>
            <a:off x="9398000" y="43942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1:1</a:t>
            </a:r>
            <a:endParaRPr lang="en-US" sz="950" dirty="0"/>
          </a:p>
        </p:txBody>
      </p:sp>
      <p:sp>
        <p:nvSpPr>
          <p:cNvPr id="33" name="mechanism-node-parent1-queue-2"/>
          <p:cNvSpPr/>
          <p:nvPr/>
        </p:nvSpPr>
        <p:spPr>
          <a:xfrm>
            <a:off x="9398000" y="45847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4:1</a:t>
            </a:r>
            <a:endParaRPr lang="en-US" sz="950" dirty="0"/>
          </a:p>
        </p:txBody>
      </p:sp>
      <p:sp>
        <p:nvSpPr>
          <p:cNvPr id="34" name="mechanism-node-parent1-queue-3"/>
          <p:cNvSpPr/>
          <p:nvPr/>
        </p:nvSpPr>
        <p:spPr>
          <a:xfrm>
            <a:off x="9398000" y="47752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6:1</a:t>
            </a:r>
            <a:endParaRPr lang="en-US" sz="950" dirty="0"/>
          </a:p>
        </p:txBody>
      </p:sp>
      <p:sp>
        <p:nvSpPr>
          <p:cNvPr id="35" name="Shape 3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36" name="Text 3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cross edges가 두 local views에 존재하며 각 Rem은 같은 minimum parent를 찾는다</a:t>
            </a:r>
            <a:endParaRPr lang="en-US" sz="1750" dirty="0"/>
          </a:p>
        </p:txBody>
      </p:sp>
      <p:sp>
        <p:nvSpPr>
          <p:cNvPr id="37" name="Shape 3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8" name="Text 3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7-8, Fig. 3 and Theorem 1; values illustrative</a:t>
            </a:r>
            <a:endParaRPr lang="en-US" sz="1050" dirty="0"/>
          </a:p>
        </p:txBody>
      </p:sp>
      <p:sp>
        <p:nvSpPr>
          <p:cNvPr id="39" name="Text 3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Parent mapping에서 output edge까지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local outputs의 set union은 duplicate를 한 번만 남기고 같은 component를 표현한다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1739392"/>
                <a:gridCol w="2174240"/>
                <a:gridCol w="1956816"/>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State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Vertex 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Vertex 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Vertex 6</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Edge set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adjacent to 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adjacent to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{(4,1),(6,4)}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on G_0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CC min=1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on G_1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CC min=1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Union output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representative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 to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 to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{(4,1),(6,1)}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Input path와 output star는 edge가 달라도 component {1,4,6}을 동일하게 보존한다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7-8, Theorem 1; values illustrative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UniStar 한 round의 실제 계산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Partition-local CC를 먼저 찾고 같은 hash group의 local minimum을 경유해 output edges를 만든다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Hash vertices</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xi(u)로 rho partitions 지정</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Build G_i</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[V]_i에 incident한 edges를 모아 overlap view 생성</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Run Rem</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p(u)=minimum of local component 계산</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Emit local stars</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Partition-local minimum 또는 p(u)에 연결</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Set union</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모든 G'_i edges를 합치고 duplicate 제거</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Global minimum 대신 local minimum 경로로 connectivity를 유지한다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7-8, Fig. 3 and Theorem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Intact tag가 duplicate input을 줄인다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Intact는 한 partition output에서 edge가 변하지 않았다는 상태 tag다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261360"/>
                <a:gridCol w="3696208"/>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현재 edge 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Map emission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다음 round 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Cross edge, tag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xi(u)와 xi(v)에 모두 emit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overlap views에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Partition i에서 intact tag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반대쪽 duplicate emission 생략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local view에서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Reduce 시작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이전 tags를 clear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output 변화로 tag 재판정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Connectivity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자체를 모두 제거하지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중복 record만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Intact exclusion은 이미 안정된 cross edge의 두 번째 copy를 생략하는 규칙이다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8-9, Fig. 4 and Algorithm 2 lines 1-4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UniStar-opt의 세 filtering cases</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Case 1과 2는 sep에 보관하고 case 3만 counterpart가 남는 조건에서 discard한다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304544"/>
                <a:gridCol w="4674616"/>
                <a:gridCol w="2174240"/>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Case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판정 핵심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Next round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Finishing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Same partition, u의 following neighbor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sep to F로 복원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xi(v)=i, v의 모든 incident edge가 intact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sep to F로 복원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xi(u)=i, u의 유일 incident edge이며 intact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Discard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복원 불필요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Filtering은 세 edge를 같은 방식으로 삭제하는 optimization이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9-10, Algorithm 2 and Fig. 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Filtered edge의 state 변화</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다음 round input에서 빠진다는 사실과 final result에서 사라진다는 사실은 다르다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UniStar-opt</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Output edge의 filtering case 판정</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Case 1 or 2</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Edge를 sep로 emit</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Accumulate F</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rounds의 sep를 set union</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Rem on remaining 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|E|가 tau 이하이면 single-machine Rem</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Finishing</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Remaining E와 F로 final mapping 계산</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F는 버린 edge 모음이 아니라 final connectivity를 위해 보존한 evidence다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5-6 and 9-10, Algorithms 1-2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Case 3 discard의 보존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xi(u)=i에서 u의 유일 incident edge가 intact이면 반대 partition의 copy 또는 대체 edge가 남는다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Original non-intact cross edge는 처음에 두 endpoint partitions에 존재한다.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한 view에서 intact가 되어 제외되더라도 opposite view가 같은 edge를 유지할 수 있다.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Opposite view가 edge를 바꾸면 u와 다른 neighbor를 잇는 replacement가 생긴다.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따라서 case 3의 local duplicate는 final connectivity를 끊지 않는다.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Case 3은 arbitrary deletion이 아니라 counterpart 또는 replacement existence에 의존한다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 10, Theorem 2</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Threshold tau와 Rem 전환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Tau는 correctness constant가 아니라 distributed I/O와 single-machine memory 사이의 tuning parameter다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2717800"/>
                <a:gridCol w="3152648"/>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실행</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위험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 &gt; tau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UniStar-opt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Distributed reduction 지속</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 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 ≤ tau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distributed rounds 절약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Single-machine OOM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tau=2000M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GSH, CW, HL에서 실패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Too-early Rem 전환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machine memory 초과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Reported result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Dataset별 optimal tau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Measured tuning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Universal default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Tau를 크게 잡으면 rounds는 줄 수 있지만 remaining graph가 한 machine에 맞지 않을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5-6 and 12, Algorithm 1 and Fig. 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HybridMap이 worker RAM을 구성하는 방법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자기 partition vertices는 array에, 외부 incident vertices는 hash table에 둔다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2609088"/>
                <a:gridCol w="2717800"/>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Node group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Data structure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Access 특성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Memory role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Compact array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Index access가 빠름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Expected |V|/rho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V_i minus [V]_i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Hash table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외부 key만 저장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most incident-edge scale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Original Rem 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Universe-size array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빠른 index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Worker마다 |V|라 OOM 위험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All-hash alternative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Hash table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O(|V_i|) space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Array보다 lookup 느림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HybridMap은 full array를 피하고 frequent local keys에 array speed를 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 11, HybridMap section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Theorem 3의 expected memory bound</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V는 vertices, E는 edges, rho는 partitions이며 bound는 random and even hash assumption에 조건부다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043936"/>
                <a:gridCol w="2935224"/>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Term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Expected worker share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근거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보장하지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array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|V|/rho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vertex partition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Worst-case exact 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Incident edges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2|E|/rho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Cross edge가 두 views에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Tail concentration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HybridMap total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O((|V|+|E|)/rho)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Array plus external keys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 byte ceiling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Increasing rho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Expected memory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작은 local views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Runtime always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Theorem 3은 expected asymptotic bound이며 16GB worker의 worst-case 안전 증명은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 11, Theorem 3 and Fig. 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증명과 측정을 구분하는 기준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Connectivity theorem, expected memory theorem, empirical speedups는 서로 다른 종류의 claim이다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478784"/>
                <a:gridCol w="2065528"/>
                <a:gridCol w="3152648"/>
                <a:gridCol w="21742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Claim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종류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G와 G'의 same connectivity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Theorem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UniStar construction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Correctness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Case 3 counterpart remains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Theorem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Cross edge와 only-edge condition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 discard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Expected memory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Theorem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and even hash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Asymptotic expectation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4x, 8x, 4096x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Experiment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2022 stack and datasets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Measured comparison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실험 배수는 theorem constant가 아니며 record 감소와 byte 감소도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8-11, Theorems 1-3; pp. 14-18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Experiment hardware와 software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결과는 10대 commodity machines와 2022년 공개 구현 조건에서 측정됐다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5109464"/>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Item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Cluster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machines, master also worker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 10 workers used by default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Each machine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Xeon E3-1220, 4 cores, 3.10GHz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generation specific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Memory and storage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16GB RAM, two 1TB SSDs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Commodity condition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Stack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Hadoop 3.2.1, Spark 3.0.1, MPICH 3.3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Stack-specific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C++11 implementation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Single-machine phase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성능 배수는 hardware, implementation, tau와 rho tuning을 함께 적어야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 12, Experimental settings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UniStar와 naive 통합의 비교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UniCon-base와 UniCon-naive를 비교해 partition-aware processing과 intact exclusion 효과를 측정했다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2609088"/>
                <a:gridCol w="2717800"/>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Metric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maximum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Comparison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 input ratio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naive / UniStar up to 4x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8 datasets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records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Map output ratio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naive / UniStar up to 8x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8 datasets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Intermediate records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Operation time ratio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naive / UniStar = 2 to 5x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Every reported case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Total time ratio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naive / base up to 4.3x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Rounds also fewer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UniStar의 효과는 data records 감소와 fewer rounds가 함께 만든 조건부 결과다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14-15, Figs. 8-9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Filtering과 HybridMap의 measured effects</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수치는 CW graph와 해당 experiment configuration에 묶여 있다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282952"/>
                <a:gridCol w="3478784"/>
                <a:gridCol w="2500376"/>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Technique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result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filtering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80.4% average input shrink per round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CW, tau=0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Case 1/2 edges return at finishing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HybridMap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22.7% lower runtime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CW, vs all-hash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Array access benefit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Array-only 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OOM on GSH, CW, HL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 array per worker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Universe array bottleneck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All-hash 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Memory succeeds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Hash lookup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HybridMap보다 느림 on CW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80.4%와 22.7%는 universal constants가 아니라 CW에서의 measured results다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15-17, Figs. 10 and 12-13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Scale 결과의 조건과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4096x는 이 cluster에서 LACC와 FastSV가 먼저 OOM한 RMAT comparison이다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2935224"/>
                <a:gridCol w="2935224"/>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Result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value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Exact context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일반화 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Largest relative scale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4096x larger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Vs LACC and FastSV on RMAT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Hardware-independent law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Largest real graph HL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3.443B vertices, 128.737B edges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Prepared CC 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CW success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Only UniCon and PACC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10-machine experiment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implementation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PACC comparison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PACC time / UniCon-opt time = 1.43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Real-world set report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143% faster로 쓰지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4096x는 graph size의 실험 비교이며 runtime 배수나 theorem bound가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12-13 and 17-18, Table 2 and Figs. 14-15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UniCon 결과의 적용 한계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Correctness와 measured scalability를 다른 graph task나 system stack으로 자동 확장하지 않는다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Theorem 3은 expectation이며 reducer별 worst-case RAM 또는 tail bound를 주지 않는다.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Record count 감소는 compressed bytes, sort spill, network traffic의 같은 비율 감소를 보장하지 않는다.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Tau와 rho는 hardware와 dataset에 따라 조정해야 한다.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2022년 CC 결과를 triangle, shortest path, arbitrary graph processing에 적용할 근거는 없다.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UniCon은 CC 전용이며 system condition이 바뀌면 성능을 다시 측정해야 한다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11-19</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UniCon의 기여를 이루는 네 요소</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요소만 떼어 설명하면 correctness, I/O reduction, worker memory의 연결이 사라진다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Unified star</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Overlapping G_i에서 local CC 계산</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Intact exclusion</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Stable cross-edge duplicate를 다음 round에서 생략</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Recoverable filtering</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Case 1/2는 F에 보관, case 3만 discard</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HybridMap</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Local array와 external-key hash를 결합</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UniCon은 unified star, duplicate suppression, edge preservation, HybridMap의 결합이다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5-11 and p. 19</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정확한 UniCon 설명</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Output, overlap, filtering, evidence boundary를 한 문장씩 확인한다</a:t>
            </a:r>
            <a:endParaRPr lang="en-US" sz="1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6087872"/>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정확한 설명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피해야 할 오해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CC output은 vertex별 minimum representative mapping이다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Partition ID가 component ID다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Cross edge는 overlapping G_i views에 있을 수 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edge는 정확히 한 worker만 본다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Case 1/2 edges는 F를 거쳐 finishing에 돌아온다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Filtering은 모두 영구 삭제다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4096x는 10-machine RMAT OOM comparison이다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hardware에서 4096배 확장된다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핵심은 intermediate records를 줄이며 connectivity evidence를 보존하는 방법이다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unicon-paper pp. 4-19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UniCon: 범용 클러스터의 연결 요소 계산</dc:title>
  <dc:subject>UniCon: A Unified Star-Operation to Efficiently Find Connected Components on a Cluster of Commodity Hardware</dc:subject>
  <dc:creator>Research Seminars</dc:creator>
  <cp:lastModifiedBy>Research Seminars</cp:lastModifiedBy>
  <cp:revision>1</cp:revision>
  <dcterms:created xsi:type="dcterms:W3CDTF">2026-09-12T04:32:51Z</dcterms:created>
  <dcterms:modified xsi:type="dcterms:W3CDTF">2026-09-12T04:32:51Z</dcterms:modified>
</cp:coreProperties>
</file>
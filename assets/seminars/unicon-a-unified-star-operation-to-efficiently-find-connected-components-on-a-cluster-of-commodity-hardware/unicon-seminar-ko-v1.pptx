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slides/slide16.xml" ContentType="application/vnd.openxmlformats-officedocument.presentationml.slide+xml"/>
  <Override PartName="/ppt/slides/slide2.xml" ContentType="application/vnd.openxmlformats-officedocument.presentationml.slide+xml"/>
  <Override PartName="/ppt/slides/slide10.xml" ContentType="application/vnd.openxmlformats-officedocument.presentationml.slide+xml"/>
  <Override PartName="/ppt/slides/slide17.xml" ContentType="application/vnd.openxmlformats-officedocument.presentationml.slide+xml"/>
  <Override PartName="/ppt/slides/slide12.xml" ContentType="application/vnd.openxmlformats-officedocument.presentationml.slide+xml"/>
  <Override PartName="/ppt/slides/slide19.xml" ContentType="application/vnd.openxmlformats-officedocument.presentationml.slide+xml"/>
  <Override PartName="/ppt/slides/slide11.xml" ContentType="application/vnd.openxmlformats-officedocument.presentationml.slide+xml"/>
  <Override PartName="/ppt/slides/slide22.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3.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13.xml" ContentType="application/vnd.openxmlformats-officedocument.presentationml.slide+xml"/>
  <Override PartName="/ppt/slides/slide1.xml" ContentType="application/vnd.openxmlformats-officedocument.presentationml.slide+xml"/>
  <Override PartName="/ppt/slides/slide18.xml" ContentType="application/vnd.openxmlformats-officedocument.presentationml.slide+xml"/>
  <Override PartName="/ppt/slides/slide14.xml" ContentType="application/vnd.openxmlformats-officedocument.presentationml.slide+xml"/>
  <Override PartName="/ppt/slides/slide7.xml" ContentType="application/vnd.openxmlformats-officedocument.presentationml.slide+xml"/>
  <Override PartName="/ppt/slides/slide23.xml" ContentType="application/vnd.openxmlformats-officedocument.presentationml.slide+xml"/>
  <Override PartName="/ppt/slides/slide5.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15.xml" ContentType="application/vnd.openxmlformats-officedocument.presentationml.slide+xml"/>
  <Override PartName="/ppt/slides/slide26.xml" ContentType="application/vnd.openxmlformats-officedocument.presentationml.slide+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1.xml" ContentType="application/vnd.openxmlformats-officedocument.presentationml.notesSlide+xml"/>
  <Override PartName="/ppt/notesSlides/notesSlide8.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18.xml" ContentType="application/vnd.openxmlformats-officedocument.presentationml.notesSlide+xml"/>
  <Override PartName="/ppt/notesSlides/notesSlide22.xml" ContentType="application/vnd.openxmlformats-officedocument.presentationml.notesSlide+xml"/>
  <Override PartName="/ppt/notesSlides/notesSlide15.xml" ContentType="application/vnd.openxmlformats-officedocument.presentationml.notesSlide+xml"/>
  <Override PartName="/ppt/notesSlides/notesSlide9.xml" ContentType="application/vnd.openxmlformats-officedocument.presentationml.notesSlide+xml"/>
  <Override PartName="/ppt/notesSlides/notesSlide19.xml" ContentType="application/vnd.openxmlformats-officedocument.presentationml.notesSlide+xml"/>
  <Override PartName="/ppt/notesSlides/notesSlide23.xml" ContentType="application/vnd.openxmlformats-officedocument.presentationml.notesSlide+xml"/>
  <Override PartName="/ppt/notesSlides/notesSlide25.xml" ContentType="application/vnd.openxmlformats-officedocument.presentationml.notesSlide+xml"/>
  <Override PartName="/ppt/notesSlides/notesSlide13.xml" ContentType="application/vnd.openxmlformats-officedocument.presentationml.notesSlide+xml"/>
  <Override PartName="/ppt/notesSlides/notesSlide12.xml" ContentType="application/vnd.openxmlformats-officedocument.presentationml.notesSlide+xml"/>
  <Override PartName="/ppt/notesSlides/notesSlide5.xml" ContentType="application/vnd.openxmlformats-officedocument.presentationml.notesSlide+xml"/>
  <Override PartName="/ppt/notesSlides/notesSlide24.xml" ContentType="application/vnd.openxmlformats-officedocument.presentationml.notesSlide+xml"/>
  <Override PartName="/ppt/notesSlides/notesSlide20.xml" ContentType="application/vnd.openxmlformats-officedocument.presentationml.notesSlide+xml"/>
  <Override PartName="/ppt/notesSlides/notesSlide4.xml" ContentType="application/vnd.openxmlformats-officedocument.presentationml.notesSlide+xml"/>
  <Override PartName="/ppt/notesSlides/notesSlide14.xml" ContentType="application/vnd.openxmlformats-officedocument.presentationml.notesSlide+xml"/>
  <Override PartName="/ppt/notesSlides/notesSlide17.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10.xml" ContentType="application/vnd.openxmlformats-officedocument.presentationml.notesSlide+xml"/>
  <Override PartName="/ppt/notesSlides/notesSlide16.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216000" y="812520"/>
            <a:ext cx="7127280" cy="4008960"/>
          </a:xfrm>
          <a:prstGeom prst="rect">
            <a:avLst/>
          </a:prstGeom>
          <a:noFill/>
          <a:ln w="0">
            <a:noFill/>
          </a:ln>
        </p:spPr>
        <p:txBody>
          <a:bodyPr lIns="0" tIns="0" rIns="0" bIns="0" anchor="ctr">
            <a:noAutofit/>
          </a:bodyPr>
          <a:p>
            <a:r>
              <a:rPr lang="en-US" sz="1800" b="0" u="none" strike="noStrike">
                <a:solidFill>
                  <a:schemeClr val="dk1"/>
                </a:solidFill>
                <a:effectLst/>
                <a:uFillTx/>
                <a:latin typeface="AppleGothic"/>
              </a:rPr>
              <a:t>Click to move the slide</a:t>
            </a:r>
            <a:endParaRPr lang="en-US" sz="1800" b="0" u="none" strike="noStrike">
              <a:solidFill>
                <a:schemeClr val="dk1"/>
              </a:solidFill>
              <a:effectLst/>
              <a:uFillTx/>
              <a:latin typeface="AppleGothic"/>
            </a:endParaRPr>
          </a:p>
        </p:txBody>
      </p:sp>
      <p:sp>
        <p:nvSpPr>
          <p:cNvPr id="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Noto Sans CJK KR"/>
              </a:rPr>
              <a:t> </a:t>
            </a:r>
            <a:endParaRPr lang="en-US" sz="1400" b="0" u="none" strike="noStrike">
              <a:solidFill>
                <a:srgbClr val="000000"/>
              </a:solidFill>
              <a:effectLst/>
              <a:uFillTx/>
              <a:latin typeface="Noto Sans CJK KR"/>
            </a:endParaRPr>
          </a:p>
        </p:txBody>
      </p:sp>
      <p:sp>
        <p:nvSpPr>
          <p:cNvPr id="7"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Noto Sans CJK KR"/>
              </a:defRPr>
            </a:lvl1pPr>
          </a:lstStyle>
          <a:p>
            <a:pPr indent="0" algn="r">
              <a:buNone/>
            </a:pPr>
            <a:r>
              <a:rPr lang="en-US" sz="1400" b="0" u="none" strike="noStrike">
                <a:solidFill>
                  <a:srgbClr val="000000"/>
                </a:solidFill>
                <a:effectLst/>
                <a:uFillTx/>
                <a:latin typeface="Noto Sans CJK KR"/>
              </a:rPr>
              <a:t> </a:t>
            </a:r>
            <a:endParaRPr lang="en-US" sz="1400" b="0" u="none" strike="noStrike">
              <a:solidFill>
                <a:srgbClr val="000000"/>
              </a:solidFill>
              <a:effectLst/>
              <a:uFillTx/>
              <a:latin typeface="Noto Sans CJK KR"/>
            </a:endParaRPr>
          </a:p>
        </p:txBody>
      </p:sp>
      <p:sp>
        <p:nvSpPr>
          <p:cNvPr id="8"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Noto Sans CJK KR"/>
              </a:defRPr>
            </a:lvl1pPr>
          </a:lstStyle>
          <a:p>
            <a:pPr indent="0" algn="l">
              <a:buNone/>
            </a:pPr>
            <a:r>
              <a:rPr lang="en-US" sz="1400" b="0" u="none" strike="noStrike">
                <a:solidFill>
                  <a:srgbClr val="000000"/>
                </a:solidFill>
                <a:effectLst/>
                <a:uFillTx/>
                <a:latin typeface="Noto Sans CJK KR"/>
              </a:rPr>
              <a:t> </a:t>
            </a:r>
            <a:endParaRPr lang="en-US" sz="1400" b="0" u="none" strike="noStrike">
              <a:solidFill>
                <a:srgbClr val="000000"/>
              </a:solidFill>
              <a:effectLst/>
              <a:uFillTx/>
              <a:latin typeface="Noto Sans CJK KR"/>
            </a:endParaRPr>
          </a:p>
        </p:txBody>
      </p:sp>
      <p:sp>
        <p:nvSpPr>
          <p:cNvPr id="9"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Noto Sans CJK KR"/>
              </a:defRPr>
            </a:lvl1pPr>
          </a:lstStyle>
          <a:p>
            <a:pPr indent="0" algn="r">
              <a:buNone/>
            </a:pPr>
            <a:fld id="{BD5B7994-D0CF-4F7C-B8B8-A754E66BD27E}" type="slidenum">
              <a:rPr lang="en-US" sz="1400" b="0" u="none" strike="noStrike">
                <a:solidFill>
                  <a:srgbClr val="000000"/>
                </a:solidFill>
                <a:effectLst/>
                <a:uFillTx/>
                <a:latin typeface="Noto Sans CJK KR"/>
              </a:rPr>
              <a:t>1</a:t>
            </a:fld>
            <a:endParaRPr lang="en-US" sz="1400" b="0" u="none" strike="noStrike">
              <a:solidFill>
                <a:srgbClr val="000000"/>
              </a:solidFill>
              <a:effectLst/>
              <a:uFillTx/>
              <a:latin typeface="Noto Sans CJK KR"/>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6" name="PlaceHolder 1"/>
          <p:cNvSpPr>
            <a:spLocks noGrp="1"/>
          </p:cNvSpPr>
          <p:nvPr>
            <p:ph type="sldImg"/>
          </p:nvPr>
        </p:nvSpPr>
        <p:spPr>
          <a:xfrm>
            <a:off x="0" y="0"/>
            <a:ext cx="0" cy="0"/>
          </a:xfrm>
          <a:prstGeom prst="rect">
            <a:avLst/>
          </a:prstGeom>
          <a:ln w="0">
            <a:noFill/>
          </a:ln>
        </p:spPr>
      </p:sp>
      <p:sp>
        <p:nvSpPr>
          <p:cNvPr id="38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1. UniCon: </a:t>
            </a:r>
            <a:r>
              <a:rPr lang="ko-KR" sz="2000" b="0" u="none" strike="noStrike">
                <a:solidFill>
                  <a:srgbClr val="000000"/>
                </a:solidFill>
                <a:effectLst/>
                <a:uFillTx/>
                <a:latin typeface="Arial"/>
              </a:rPr>
              <a:t>범용 클러스터의 연결 요소 계산</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MapReduce </a:t>
            </a:r>
            <a:r>
              <a:rPr lang="ko-KR" sz="2000" b="0" u="none" strike="noStrike">
                <a:solidFill>
                  <a:srgbClr val="000000"/>
                </a:solidFill>
                <a:effectLst/>
                <a:uFillTx/>
                <a:latin typeface="Arial"/>
              </a:rPr>
              <a:t>기반 </a:t>
            </a:r>
            <a:r>
              <a:rPr lang="en-US" sz="2000" b="0" u="none" strike="noStrike">
                <a:solidFill>
                  <a:srgbClr val="000000"/>
                </a:solidFill>
                <a:effectLst/>
                <a:uFillTx/>
                <a:latin typeface="Arial"/>
              </a:rPr>
              <a:t>connected components algorithm</a:t>
            </a:r>
            <a:r>
              <a:rPr lang="ko-KR" sz="2000" b="0" u="none" strike="noStrike">
                <a:solidFill>
                  <a:srgbClr val="000000"/>
                </a:solidFill>
                <a:effectLst/>
                <a:uFillTx/>
                <a:latin typeface="Arial"/>
              </a:rPr>
              <a:t>입니다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이 자료는 먼저 </a:t>
            </a:r>
            <a:r>
              <a:rPr lang="en-US" sz="2000" b="0" u="none" strike="noStrike">
                <a:solidFill>
                  <a:srgbClr val="000000"/>
                </a:solidFill>
                <a:effectLst/>
                <a:uFillTx/>
                <a:latin typeface="Arial"/>
              </a:rPr>
              <a:t>CC</a:t>
            </a:r>
            <a:r>
              <a:rPr lang="ko-KR" sz="2000" b="0" u="none" strike="noStrike">
                <a:solidFill>
                  <a:srgbClr val="000000"/>
                </a:solidFill>
                <a:effectLst/>
                <a:uFillTx/>
                <a:latin typeface="Arial"/>
              </a:rPr>
              <a:t>의 정확한 </a:t>
            </a:r>
            <a:r>
              <a:rPr lang="en-US" sz="2000" b="0" u="none" strike="noStrike">
                <a:solidFill>
                  <a:srgbClr val="000000"/>
                </a:solidFill>
                <a:effectLst/>
                <a:uFillTx/>
                <a:latin typeface="Arial"/>
              </a:rPr>
              <a:t>output</a:t>
            </a:r>
            <a:r>
              <a:rPr lang="ko-KR" sz="2000" b="0" u="none" strike="noStrike">
                <a:solidFill>
                  <a:srgbClr val="000000"/>
                </a:solidFill>
                <a:effectLst/>
                <a:uFillTx/>
                <a:latin typeface="Arial"/>
              </a:rPr>
              <a:t>을 정의하고</a:t>
            </a:r>
            <a:r>
              <a:rPr lang="en-US" sz="2000" b="0" u="none" strike="noStrike">
                <a:solidFill>
                  <a:srgbClr val="000000"/>
                </a:solidFill>
                <a:effectLst/>
                <a:uFillTx/>
                <a:latin typeface="Arial"/>
              </a:rPr>
              <a:t>, PACC</a:t>
            </a:r>
            <a:r>
              <a:rPr lang="ko-KR" sz="2000" b="0" u="none" strike="noStrike">
                <a:solidFill>
                  <a:srgbClr val="000000"/>
                </a:solidFill>
                <a:effectLst/>
                <a:uFillTx/>
                <a:latin typeface="Arial"/>
              </a:rPr>
              <a:t>까지 남은 </a:t>
            </a:r>
            <a:r>
              <a:rPr lang="en-US" sz="2000" b="0" u="none" strike="noStrike">
                <a:solidFill>
                  <a:srgbClr val="000000"/>
                </a:solidFill>
                <a:effectLst/>
                <a:uFillTx/>
                <a:latin typeface="Arial"/>
              </a:rPr>
              <a:t>intermediate-data </a:t>
            </a:r>
            <a:r>
              <a:rPr lang="ko-KR" sz="2000" b="0" u="none" strike="noStrike">
                <a:solidFill>
                  <a:srgbClr val="000000"/>
                </a:solidFill>
                <a:effectLst/>
                <a:uFillTx/>
                <a:latin typeface="Arial"/>
              </a:rPr>
              <a:t>문제를 확인합니다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이어서 </a:t>
            </a:r>
            <a:r>
              <a:rPr lang="en-US" sz="2000" b="0" u="none" strike="noStrike">
                <a:solidFill>
                  <a:srgbClr val="000000"/>
                </a:solidFill>
                <a:effectLst/>
                <a:uFillTx/>
                <a:latin typeface="Arial"/>
              </a:rPr>
              <a:t>UniStar</a:t>
            </a:r>
            <a:r>
              <a:rPr lang="ko-KR" sz="2000" b="0" u="none" strike="noStrike">
                <a:solidFill>
                  <a:srgbClr val="000000"/>
                </a:solidFill>
                <a:effectLst/>
                <a:uFillTx/>
                <a:latin typeface="Arial"/>
              </a:rPr>
              <a:t>의 </a:t>
            </a:r>
            <a:r>
              <a:rPr lang="en-US" sz="2000" b="0" u="none" strike="noStrike">
                <a:solidFill>
                  <a:srgbClr val="000000"/>
                </a:solidFill>
                <a:effectLst/>
                <a:uFillTx/>
                <a:latin typeface="Arial"/>
              </a:rPr>
              <a:t>overlapping partition semantics, intact-edge </a:t>
            </a:r>
            <a:r>
              <a:rPr lang="ko-KR" sz="2000" b="0" u="none" strike="noStrike">
                <a:solidFill>
                  <a:srgbClr val="000000"/>
                </a:solidFill>
                <a:effectLst/>
                <a:uFillTx/>
                <a:latin typeface="Arial"/>
              </a:rPr>
              <a:t>처리</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세 </a:t>
            </a:r>
            <a:r>
              <a:rPr lang="en-US" sz="2000" b="0" u="none" strike="noStrike">
                <a:solidFill>
                  <a:srgbClr val="000000"/>
                </a:solidFill>
                <a:effectLst/>
                <a:uFillTx/>
                <a:latin typeface="Arial"/>
              </a:rPr>
              <a:t>filtering cases</a:t>
            </a:r>
            <a:r>
              <a:rPr lang="ko-KR" sz="2000" b="0" u="none" strike="noStrike">
                <a:solidFill>
                  <a:srgbClr val="000000"/>
                </a:solidFill>
                <a:effectLst/>
                <a:uFillTx/>
                <a:latin typeface="Arial"/>
              </a:rPr>
              <a:t>와 </a:t>
            </a:r>
            <a:r>
              <a:rPr lang="en-US" sz="2000" b="0" u="none" strike="noStrike">
                <a:solidFill>
                  <a:srgbClr val="000000"/>
                </a:solidFill>
                <a:effectLst/>
                <a:uFillTx/>
                <a:latin typeface="Arial"/>
              </a:rPr>
              <a:t>HybridMap</a:t>
            </a:r>
            <a:r>
              <a:rPr lang="ko-KR" sz="2000" b="0" u="none" strike="noStrike">
                <a:solidFill>
                  <a:srgbClr val="000000"/>
                </a:solidFill>
                <a:effectLst/>
                <a:uFillTx/>
                <a:latin typeface="Arial"/>
              </a:rPr>
              <a:t>을 설명한 뒤 조건이 붙은 </a:t>
            </a:r>
            <a:r>
              <a:rPr lang="en-US" sz="2000" b="0" u="none" strike="noStrike">
                <a:solidFill>
                  <a:srgbClr val="000000"/>
                </a:solidFill>
                <a:effectLst/>
                <a:uFillTx/>
                <a:latin typeface="Arial"/>
              </a:rPr>
              <a:t>experiment results</a:t>
            </a:r>
            <a:r>
              <a:rPr lang="ko-KR" sz="2000" b="0" u="none" strike="noStrike">
                <a:solidFill>
                  <a:srgbClr val="000000"/>
                </a:solidFill>
                <a:effectLst/>
                <a:uFillTx/>
                <a:latin typeface="Arial"/>
              </a:rPr>
              <a:t>를 읽습니다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unicon-paper | title and abstract</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 PLOS ONE 17(11): e0277527</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https://journals.plos.org/plosone/article?id=10.1371/journal.pone.0277527</a:t>
            </a:r>
            <a:endParaRPr lang="en-US" sz="2000" b="0" u="none" strike="noStrike">
              <a:solidFill>
                <a:srgbClr val="000000"/>
              </a:solidFill>
              <a:effectLst/>
              <a:uFillTx/>
              <a:latin typeface="Arial"/>
            </a:endParaRPr>
          </a:p>
        </p:txBody>
      </p:sp>
      <p:sp>
        <p:nvSpPr>
          <p:cNvPr id="388" name="PlaceHolder 3"/>
          <p:cNvSpPr>
            <a:spLocks noGrp="1"/>
          </p:cNvSpPr>
          <p:nvPr>
            <p:ph type="sldNum" idx="4"/>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83D3B699-B3A9-4D32-969C-CEB4C9ECAADC}"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9" name="PlaceHolder 1"/>
          <p:cNvSpPr>
            <a:spLocks noGrp="1"/>
          </p:cNvSpPr>
          <p:nvPr>
            <p:ph type="sldImg"/>
          </p:nvPr>
        </p:nvSpPr>
        <p:spPr>
          <a:xfrm>
            <a:off x="0" y="0"/>
            <a:ext cx="0" cy="0"/>
          </a:xfrm>
          <a:prstGeom prst="rect">
            <a:avLst/>
          </a:prstGeom>
          <a:ln w="0">
            <a:noFill/>
          </a:ln>
        </p:spPr>
      </p:sp>
      <p:sp>
        <p:nvSpPr>
          <p:cNvPr id="39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2. Connected components</a:t>
            </a:r>
            <a:r>
              <a:rPr lang="ko-KR" sz="2000" b="0" u="none" strike="noStrike">
                <a:solidFill>
                  <a:srgbClr val="000000"/>
                </a:solidFill>
                <a:effectLst/>
                <a:uFillTx/>
                <a:latin typeface="Arial"/>
              </a:rPr>
              <a:t>의 정확한 출력</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입력은 </a:t>
            </a:r>
            <a:r>
              <a:rPr lang="en-US" sz="2000" b="0" u="none" strike="noStrike">
                <a:solidFill>
                  <a:srgbClr val="000000"/>
                </a:solidFill>
                <a:effectLst/>
                <a:uFillTx/>
                <a:latin typeface="Arial"/>
              </a:rPr>
              <a:t>totally ordered vertex IDs</a:t>
            </a:r>
            <a:r>
              <a:rPr lang="ko-KR" sz="2000" b="0" u="none" strike="noStrike">
                <a:solidFill>
                  <a:srgbClr val="000000"/>
                </a:solidFill>
                <a:effectLst/>
                <a:uFillTx/>
                <a:latin typeface="Arial"/>
              </a:rPr>
              <a:t>를 가진 </a:t>
            </a:r>
            <a:r>
              <a:rPr lang="en-US" sz="2000" b="0" u="none" strike="noStrike">
                <a:solidFill>
                  <a:srgbClr val="000000"/>
                </a:solidFill>
                <a:effectLst/>
                <a:uFillTx/>
                <a:latin typeface="Arial"/>
              </a:rPr>
              <a:t>undirected graph</a:t>
            </a:r>
            <a:r>
              <a:rPr lang="ko-KR" sz="2000" b="0" u="none" strike="noStrike">
                <a:solidFill>
                  <a:srgbClr val="000000"/>
                </a:solidFill>
                <a:effectLst/>
                <a:uFillTx/>
                <a:latin typeface="Arial"/>
              </a:rPr>
              <a:t>입니다</a:t>
            </a:r>
            <a:r>
              <a:rPr lang="en-US" sz="2000" b="0" u="none" strike="noStrike">
                <a:solidFill>
                  <a:srgbClr val="000000"/>
                </a:solidFill>
                <a:effectLst/>
                <a:uFillTx/>
                <a:latin typeface="Arial"/>
              </a:rPr>
              <a:t>. Edge</a:t>
            </a:r>
            <a:r>
              <a:rPr lang="ko-KR" sz="2000" b="0" u="none" strike="noStrike">
                <a:solidFill>
                  <a:srgbClr val="000000"/>
                </a:solidFill>
                <a:effectLst/>
                <a:uFillTx/>
                <a:latin typeface="Arial"/>
              </a:rPr>
              <a:t>는 큰 </a:t>
            </a:r>
            <a:r>
              <a:rPr lang="en-US" sz="2000" b="0" u="none" strike="noStrike">
                <a:solidFill>
                  <a:srgbClr val="000000"/>
                </a:solidFill>
                <a:effectLst/>
                <a:uFillTx/>
                <a:latin typeface="Arial"/>
              </a:rPr>
              <a:t>ID</a:t>
            </a:r>
            <a:r>
              <a:rPr lang="ko-KR" sz="2000" b="0" u="none" strike="noStrike">
                <a:solidFill>
                  <a:srgbClr val="000000"/>
                </a:solidFill>
                <a:effectLst/>
                <a:uFillTx/>
                <a:latin typeface="Arial"/>
              </a:rPr>
              <a:t>가 먼저 오도록 </a:t>
            </a:r>
            <a:r>
              <a:rPr lang="en-US" sz="2000" b="0" u="none" strike="noStrike">
                <a:solidFill>
                  <a:srgbClr val="000000"/>
                </a:solidFill>
                <a:effectLst/>
                <a:uFillTx/>
                <a:latin typeface="Arial"/>
              </a:rPr>
              <a:t>ordered pair</a:t>
            </a:r>
            <a:r>
              <a:rPr lang="ko-KR" sz="2000" b="0" u="none" strike="noStrike">
                <a:solidFill>
                  <a:srgbClr val="000000"/>
                </a:solidFill>
                <a:effectLst/>
                <a:uFillTx/>
                <a:latin typeface="Arial"/>
              </a:rPr>
              <a:t>로 기록합니다</a:t>
            </a:r>
            <a:r>
              <a:rPr lang="en-US" sz="2000" b="0" u="none" strike="noStrike">
                <a:solidFill>
                  <a:srgbClr val="000000"/>
                </a:solidFill>
                <a:effectLst/>
                <a:uFillTx/>
                <a:latin typeface="Arial"/>
              </a:rPr>
              <a:t>. CC output</a:t>
            </a:r>
            <a:r>
              <a:rPr lang="ko-KR" sz="2000" b="0" u="none" strike="noStrike">
                <a:solidFill>
                  <a:srgbClr val="000000"/>
                </a:solidFill>
                <a:effectLst/>
                <a:uFillTx/>
                <a:latin typeface="Arial"/>
              </a:rPr>
              <a:t>은 각 </a:t>
            </a:r>
            <a:r>
              <a:rPr lang="en-US" sz="2000" b="0" u="none" strike="noStrike">
                <a:solidFill>
                  <a:srgbClr val="000000"/>
                </a:solidFill>
                <a:effectLst/>
                <a:uFillTx/>
                <a:latin typeface="Arial"/>
              </a:rPr>
              <a:t>vertex u</a:t>
            </a:r>
            <a:r>
              <a:rPr lang="ko-KR" sz="2000" b="0" u="none" strike="noStrike">
                <a:solidFill>
                  <a:srgbClr val="000000"/>
                </a:solidFill>
                <a:effectLst/>
                <a:uFillTx/>
                <a:latin typeface="Arial"/>
              </a:rPr>
              <a:t>를 </a:t>
            </a:r>
            <a:r>
              <a:rPr lang="en-US" sz="2000" b="0" u="none" strike="noStrike">
                <a:solidFill>
                  <a:srgbClr val="000000"/>
                </a:solidFill>
                <a:effectLst/>
                <a:uFillTx/>
                <a:latin typeface="Arial"/>
              </a:rPr>
              <a:t>component Lambda of u</a:t>
            </a:r>
            <a:r>
              <a:rPr lang="ko-KR" sz="2000" b="0" u="none" strike="noStrike">
                <a:solidFill>
                  <a:srgbClr val="000000"/>
                </a:solidFill>
                <a:effectLst/>
                <a:uFillTx/>
                <a:latin typeface="Arial"/>
              </a:rPr>
              <a:t>의 가장 </a:t>
            </a:r>
            <a:r>
              <a:rPr lang="en-US" sz="2000" b="0" u="none" strike="noStrike">
                <a:solidFill>
                  <a:srgbClr val="000000"/>
                </a:solidFill>
                <a:effectLst/>
                <a:uFillTx/>
                <a:latin typeface="Arial"/>
              </a:rPr>
              <a:t>preceding vertex, </a:t>
            </a:r>
            <a:r>
              <a:rPr lang="ko-KR" sz="2000" b="0" u="none" strike="noStrike">
                <a:solidFill>
                  <a:srgbClr val="000000"/>
                </a:solidFill>
                <a:effectLst/>
                <a:uFillTx/>
                <a:latin typeface="Arial"/>
              </a:rPr>
              <a:t>즉 </a:t>
            </a:r>
            <a:r>
              <a:rPr lang="en-US" sz="2000" b="0" u="none" strike="noStrike">
                <a:solidFill>
                  <a:srgbClr val="000000"/>
                </a:solidFill>
                <a:effectLst/>
                <a:uFillTx/>
                <a:latin typeface="Arial"/>
              </a:rPr>
              <a:t>minimum ID</a:t>
            </a:r>
            <a:r>
              <a:rPr lang="ko-KR" sz="2000" b="0" u="none" strike="noStrike">
                <a:solidFill>
                  <a:srgbClr val="000000"/>
                </a:solidFill>
                <a:effectLst/>
                <a:uFillTx/>
                <a:latin typeface="Arial"/>
              </a:rPr>
              <a:t>에 </a:t>
            </a:r>
            <a:r>
              <a:rPr lang="en-US" sz="2000" b="0" u="none" strike="noStrike">
                <a:solidFill>
                  <a:srgbClr val="000000"/>
                </a:solidFill>
                <a:effectLst/>
                <a:uFillTx/>
                <a:latin typeface="Arial"/>
              </a:rPr>
              <a:t>mapping</a:t>
            </a:r>
            <a:r>
              <a:rPr lang="ko-KR" sz="2000" b="0" u="none" strike="noStrike">
                <a:solidFill>
                  <a:srgbClr val="000000"/>
                </a:solidFill>
                <a:effectLst/>
                <a:uFillTx/>
                <a:latin typeface="Arial"/>
              </a:rPr>
              <a:t>하는 것입니다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예시에서는 </a:t>
            </a:r>
            <a:r>
              <a:rPr lang="en-US" sz="2000" b="0" u="none" strike="noStrike">
                <a:solidFill>
                  <a:srgbClr val="000000"/>
                </a:solidFill>
                <a:effectLst/>
                <a:uFillTx/>
                <a:latin typeface="Arial"/>
              </a:rPr>
              <a:t>1, 4, 6</a:t>
            </a:r>
            <a:r>
              <a:rPr lang="ko-KR" sz="2000" b="0" u="none" strike="noStrike">
                <a:solidFill>
                  <a:srgbClr val="000000"/>
                </a:solidFill>
                <a:effectLst/>
                <a:uFillTx/>
                <a:latin typeface="Arial"/>
              </a:rPr>
              <a:t>이 같은 </a:t>
            </a:r>
            <a:r>
              <a:rPr lang="en-US" sz="2000" b="0" u="none" strike="noStrike">
                <a:solidFill>
                  <a:srgbClr val="000000"/>
                </a:solidFill>
                <a:effectLst/>
                <a:uFillTx/>
                <a:latin typeface="Arial"/>
              </a:rPr>
              <a:t>component</a:t>
            </a:r>
            <a:r>
              <a:rPr lang="ko-KR" sz="2000" b="0" u="none" strike="noStrike">
                <a:solidFill>
                  <a:srgbClr val="000000"/>
                </a:solidFill>
                <a:effectLst/>
                <a:uFillTx/>
                <a:latin typeface="Arial"/>
              </a:rPr>
              <a:t>라 모두 </a:t>
            </a:r>
            <a:r>
              <a:rPr lang="en-US" sz="2000" b="0" u="none" strike="noStrike">
                <a:solidFill>
                  <a:srgbClr val="000000"/>
                </a:solidFill>
                <a:effectLst/>
                <a:uFillTx/>
                <a:latin typeface="Arial"/>
              </a:rPr>
              <a:t>1</a:t>
            </a:r>
            <a:r>
              <a:rPr lang="ko-KR" sz="2000" b="0" u="none" strike="noStrike">
                <a:solidFill>
                  <a:srgbClr val="000000"/>
                </a:solidFill>
                <a:effectLst/>
                <a:uFillTx/>
                <a:latin typeface="Arial"/>
              </a:rPr>
              <a:t>에 </a:t>
            </a:r>
            <a:r>
              <a:rPr lang="en-US" sz="2000" b="0" u="none" strike="noStrike">
                <a:solidFill>
                  <a:srgbClr val="000000"/>
                </a:solidFill>
                <a:effectLst/>
                <a:uFillTx/>
                <a:latin typeface="Arial"/>
              </a:rPr>
              <a:t>mapping</a:t>
            </a:r>
            <a:r>
              <a:rPr lang="ko-KR" sz="2000" b="0" u="none" strike="noStrike">
                <a:solidFill>
                  <a:srgbClr val="000000"/>
                </a:solidFill>
                <a:effectLst/>
                <a:uFillTx/>
                <a:latin typeface="Arial"/>
              </a:rPr>
              <a:t>되고</a:t>
            </a:r>
            <a:r>
              <a:rPr lang="en-US" sz="2000" b="0" u="none" strike="noStrike">
                <a:solidFill>
                  <a:srgbClr val="000000"/>
                </a:solidFill>
                <a:effectLst/>
                <a:uFillTx/>
                <a:latin typeface="Arial"/>
              </a:rPr>
              <a:t>, 2</a:t>
            </a:r>
            <a:r>
              <a:rPr lang="ko-KR" sz="2000" b="0" u="none" strike="noStrike">
                <a:solidFill>
                  <a:srgbClr val="000000"/>
                </a:solidFill>
                <a:effectLst/>
                <a:uFillTx/>
                <a:latin typeface="Arial"/>
              </a:rPr>
              <a:t>와 </a:t>
            </a:r>
            <a:r>
              <a:rPr lang="en-US" sz="2000" b="0" u="none" strike="noStrike">
                <a:solidFill>
                  <a:srgbClr val="000000"/>
                </a:solidFill>
                <a:effectLst/>
                <a:uFillTx/>
                <a:latin typeface="Arial"/>
              </a:rPr>
              <a:t>9</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2</a:t>
            </a:r>
            <a:r>
              <a:rPr lang="ko-KR" sz="2000" b="0" u="none" strike="noStrike">
                <a:solidFill>
                  <a:srgbClr val="000000"/>
                </a:solidFill>
                <a:effectLst/>
                <a:uFillTx/>
                <a:latin typeface="Arial"/>
              </a:rPr>
              <a:t>에 </a:t>
            </a:r>
            <a:r>
              <a:rPr lang="en-US" sz="2000" b="0" u="none" strike="noStrike">
                <a:solidFill>
                  <a:srgbClr val="000000"/>
                </a:solidFill>
                <a:effectLst/>
                <a:uFillTx/>
                <a:latin typeface="Arial"/>
              </a:rPr>
              <a:t>mapping</a:t>
            </a:r>
            <a:r>
              <a:rPr lang="ko-KR" sz="2000" b="0" u="none" strike="noStrike">
                <a:solidFill>
                  <a:srgbClr val="000000"/>
                </a:solidFill>
                <a:effectLst/>
                <a:uFillTx/>
                <a:latin typeface="Arial"/>
              </a:rPr>
              <a:t>됩니다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unicon-paper | pp. 4-5, Table 1 and Definition 1</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 PLOS ONE 17(11): e0277527</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https://journals.plos.org/plosone/article?id=10.1371/journal.pone.0277527</a:t>
            </a:r>
            <a:endParaRPr lang="en-US" sz="2000" b="0" u="none" strike="noStrike">
              <a:solidFill>
                <a:srgbClr val="000000"/>
              </a:solidFill>
              <a:effectLst/>
              <a:uFillTx/>
              <a:latin typeface="Arial"/>
            </a:endParaRPr>
          </a:p>
        </p:txBody>
      </p:sp>
      <p:sp>
        <p:nvSpPr>
          <p:cNvPr id="391" name="PlaceHolder 3"/>
          <p:cNvSpPr>
            <a:spLocks noGrp="1"/>
          </p:cNvSpPr>
          <p:nvPr>
            <p:ph type="sldNum" idx="5"/>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3B7B7DD9-E87A-4CC2-9BB6-73B8B1479D75}"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2" name="PlaceHolder 1"/>
          <p:cNvSpPr>
            <a:spLocks noGrp="1"/>
          </p:cNvSpPr>
          <p:nvPr>
            <p:ph type="sldImg"/>
          </p:nvPr>
        </p:nvSpPr>
        <p:spPr>
          <a:xfrm>
            <a:off x="0" y="0"/>
            <a:ext cx="0" cy="0"/>
          </a:xfrm>
          <a:prstGeom prst="rect">
            <a:avLst/>
          </a:prstGeom>
          <a:ln w="0">
            <a:noFill/>
          </a:ln>
        </p:spPr>
      </p:sp>
      <p:sp>
        <p:nvSpPr>
          <p:cNvPr id="39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3. </a:t>
            </a:r>
            <a:r>
              <a:rPr lang="ko-KR" sz="2000" b="0" u="none" strike="noStrike">
                <a:solidFill>
                  <a:srgbClr val="000000"/>
                </a:solidFill>
                <a:effectLst/>
                <a:uFillTx/>
                <a:latin typeface="Arial"/>
              </a:rPr>
              <a:t>기호와 상태의 의미</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rho</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partition count</a:t>
            </a:r>
            <a:r>
              <a:rPr lang="ko-KR" sz="2000" b="0" u="none" strike="noStrike">
                <a:solidFill>
                  <a:srgbClr val="000000"/>
                </a:solidFill>
                <a:effectLst/>
                <a:uFillTx/>
                <a:latin typeface="Arial"/>
              </a:rPr>
              <a:t>이고 </a:t>
            </a:r>
            <a:r>
              <a:rPr lang="en-US" sz="2000" b="0" u="none" strike="noStrike">
                <a:solidFill>
                  <a:srgbClr val="000000"/>
                </a:solidFill>
                <a:effectLst/>
                <a:uFillTx/>
                <a:latin typeface="Arial"/>
              </a:rPr>
              <a:t>xi</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vertex</a:t>
            </a:r>
            <a:r>
              <a:rPr lang="ko-KR" sz="2000" b="0" u="none" strike="noStrike">
                <a:solidFill>
                  <a:srgbClr val="000000"/>
                </a:solidFill>
                <a:effectLst/>
                <a:uFillTx/>
                <a:latin typeface="Arial"/>
              </a:rPr>
              <a:t>를 </a:t>
            </a:r>
            <a:r>
              <a:rPr lang="en-US" sz="2000" b="0" u="none" strike="noStrike">
                <a:solidFill>
                  <a:srgbClr val="000000"/>
                </a:solidFill>
                <a:effectLst/>
                <a:uFillTx/>
                <a:latin typeface="Arial"/>
              </a:rPr>
              <a:t>partition ID</a:t>
            </a:r>
            <a:r>
              <a:rPr lang="ko-KR" sz="2000" b="0" u="none" strike="noStrike">
                <a:solidFill>
                  <a:srgbClr val="000000"/>
                </a:solidFill>
                <a:effectLst/>
                <a:uFillTx/>
                <a:latin typeface="Arial"/>
              </a:rPr>
              <a:t>로 보내는 </a:t>
            </a:r>
            <a:r>
              <a:rPr lang="en-US" sz="2000" b="0" u="none" strike="noStrike">
                <a:solidFill>
                  <a:srgbClr val="000000"/>
                </a:solidFill>
                <a:effectLst/>
                <a:uFillTx/>
                <a:latin typeface="Arial"/>
              </a:rPr>
              <a:t>random hash</a:t>
            </a:r>
            <a:r>
              <a:rPr lang="ko-KR" sz="2000" b="0" u="none" strike="noStrike">
                <a:solidFill>
                  <a:srgbClr val="000000"/>
                </a:solidFill>
                <a:effectLst/>
                <a:uFillTx/>
                <a:latin typeface="Arial"/>
              </a:rPr>
              <a:t>입니다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이 </a:t>
            </a:r>
            <a:r>
              <a:rPr lang="en-US" sz="2000" b="0" u="none" strike="noStrike">
                <a:solidFill>
                  <a:srgbClr val="000000"/>
                </a:solidFill>
                <a:effectLst/>
                <a:uFillTx/>
                <a:latin typeface="Arial"/>
              </a:rPr>
              <a:t>color label</a:t>
            </a:r>
            <a:r>
              <a:rPr lang="ko-KR" sz="2000" b="0" u="none" strike="noStrike">
                <a:solidFill>
                  <a:srgbClr val="000000"/>
                </a:solidFill>
                <a:effectLst/>
                <a:uFillTx/>
                <a:latin typeface="Arial"/>
              </a:rPr>
              <a:t>은 작업 분할에 쓰이며 </a:t>
            </a:r>
            <a:r>
              <a:rPr lang="en-US" sz="2000" b="0" u="none" strike="noStrike">
                <a:solidFill>
                  <a:srgbClr val="000000"/>
                </a:solidFill>
                <a:effectLst/>
                <a:uFillTx/>
                <a:latin typeface="Arial"/>
              </a:rPr>
              <a:t>component </a:t>
            </a:r>
            <a:r>
              <a:rPr lang="ko-KR" sz="2000" b="0" u="none" strike="noStrike">
                <a:solidFill>
                  <a:srgbClr val="000000"/>
                </a:solidFill>
                <a:effectLst/>
                <a:uFillTx/>
                <a:latin typeface="Arial"/>
              </a:rPr>
              <a:t>결과가 아닙니다</a:t>
            </a:r>
            <a:r>
              <a:rPr lang="en-US" sz="2000" b="0" u="none" strike="noStrike">
                <a:solidFill>
                  <a:srgbClr val="000000"/>
                </a:solidFill>
                <a:effectLst/>
                <a:uFillTx/>
                <a:latin typeface="Arial"/>
              </a:rPr>
              <a:t>. tau</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remaining edge count</a:t>
            </a:r>
            <a:r>
              <a:rPr lang="ko-KR" sz="2000" b="0" u="none" strike="noStrike">
                <a:solidFill>
                  <a:srgbClr val="000000"/>
                </a:solidFill>
                <a:effectLst/>
                <a:uFillTx/>
                <a:latin typeface="Arial"/>
              </a:rPr>
              <a:t>가 충분히 작아졌을 때 </a:t>
            </a:r>
            <a:r>
              <a:rPr lang="en-US" sz="2000" b="0" u="none" strike="noStrike">
                <a:solidFill>
                  <a:srgbClr val="000000"/>
                </a:solidFill>
                <a:effectLst/>
                <a:uFillTx/>
                <a:latin typeface="Arial"/>
              </a:rPr>
              <a:t>distributed UniStar </a:t>
            </a:r>
            <a:r>
              <a:rPr lang="ko-KR" sz="2000" b="0" u="none" strike="noStrike">
                <a:solidFill>
                  <a:srgbClr val="000000"/>
                </a:solidFill>
                <a:effectLst/>
                <a:uFillTx/>
                <a:latin typeface="Arial"/>
              </a:rPr>
              <a:t>대신 </a:t>
            </a:r>
            <a:r>
              <a:rPr lang="en-US" sz="2000" b="0" u="none" strike="noStrike">
                <a:solidFill>
                  <a:srgbClr val="000000"/>
                </a:solidFill>
                <a:effectLst/>
                <a:uFillTx/>
                <a:latin typeface="Arial"/>
              </a:rPr>
              <a:t>single-machine Rem</a:t>
            </a:r>
            <a:r>
              <a:rPr lang="ko-KR" sz="2000" b="0" u="none" strike="noStrike">
                <a:solidFill>
                  <a:srgbClr val="000000"/>
                </a:solidFill>
                <a:effectLst/>
                <a:uFillTx/>
                <a:latin typeface="Arial"/>
              </a:rPr>
              <a:t>으로 전환하는 </a:t>
            </a:r>
            <a:r>
              <a:rPr lang="en-US" sz="2000" b="0" u="none" strike="noStrike">
                <a:solidFill>
                  <a:srgbClr val="000000"/>
                </a:solidFill>
                <a:effectLst/>
                <a:uFillTx/>
                <a:latin typeface="Arial"/>
              </a:rPr>
              <a:t>threshold</a:t>
            </a:r>
            <a:r>
              <a:rPr lang="ko-KR" sz="2000" b="0" u="none" strike="noStrike">
                <a:solidFill>
                  <a:srgbClr val="000000"/>
                </a:solidFill>
                <a:effectLst/>
                <a:uFillTx/>
                <a:latin typeface="Arial"/>
              </a:rPr>
              <a:t>입니다</a:t>
            </a:r>
            <a:r>
              <a:rPr lang="en-US" sz="2000" b="0" u="none" strike="noStrike">
                <a:solidFill>
                  <a:srgbClr val="000000"/>
                </a:solidFill>
                <a:effectLst/>
                <a:uFillTx/>
                <a:latin typeface="Arial"/>
              </a:rPr>
              <a:t>. F</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filtering case one</a:t>
            </a:r>
            <a:r>
              <a:rPr lang="ko-KR" sz="2000" b="0" u="none" strike="noStrike">
                <a:solidFill>
                  <a:srgbClr val="000000"/>
                </a:solidFill>
                <a:effectLst/>
                <a:uFillTx/>
                <a:latin typeface="Arial"/>
              </a:rPr>
              <a:t>과 </a:t>
            </a:r>
            <a:r>
              <a:rPr lang="en-US" sz="2000" b="0" u="none" strike="noStrike">
                <a:solidFill>
                  <a:srgbClr val="000000"/>
                </a:solidFill>
                <a:effectLst/>
                <a:uFillTx/>
                <a:latin typeface="Arial"/>
              </a:rPr>
              <a:t>two</a:t>
            </a:r>
            <a:r>
              <a:rPr lang="ko-KR" sz="2000" b="0" u="none" strike="noStrike">
                <a:solidFill>
                  <a:srgbClr val="000000"/>
                </a:solidFill>
                <a:effectLst/>
                <a:uFillTx/>
                <a:latin typeface="Arial"/>
              </a:rPr>
              <a:t>에서 </a:t>
            </a:r>
            <a:r>
              <a:rPr lang="en-US" sz="2000" b="0" u="none" strike="noStrike">
                <a:solidFill>
                  <a:srgbClr val="000000"/>
                </a:solidFill>
                <a:effectLst/>
                <a:uFillTx/>
                <a:latin typeface="Arial"/>
              </a:rPr>
              <a:t>sep</a:t>
            </a:r>
            <a:r>
              <a:rPr lang="ko-KR" sz="2000" b="0" u="none" strike="noStrike">
                <a:solidFill>
                  <a:srgbClr val="000000"/>
                </a:solidFill>
                <a:effectLst/>
                <a:uFillTx/>
                <a:latin typeface="Arial"/>
              </a:rPr>
              <a:t>로 분리한 </a:t>
            </a:r>
            <a:r>
              <a:rPr lang="en-US" sz="2000" b="0" u="none" strike="noStrike">
                <a:solidFill>
                  <a:srgbClr val="000000"/>
                </a:solidFill>
                <a:effectLst/>
                <a:uFillTx/>
                <a:latin typeface="Arial"/>
              </a:rPr>
              <a:t>edges</a:t>
            </a:r>
            <a:r>
              <a:rPr lang="ko-KR" sz="2000" b="0" u="none" strike="noStrike">
                <a:solidFill>
                  <a:srgbClr val="000000"/>
                </a:solidFill>
                <a:effectLst/>
                <a:uFillTx/>
                <a:latin typeface="Arial"/>
              </a:rPr>
              <a:t>를 누적하며 </a:t>
            </a:r>
            <a:r>
              <a:rPr lang="en-US" sz="2000" b="0" u="none" strike="noStrike">
                <a:solidFill>
                  <a:srgbClr val="000000"/>
                </a:solidFill>
                <a:effectLst/>
                <a:uFillTx/>
                <a:latin typeface="Arial"/>
              </a:rPr>
              <a:t>final finishing</a:t>
            </a:r>
            <a:r>
              <a:rPr lang="ko-KR" sz="2000" b="0" u="none" strike="noStrike">
                <a:solidFill>
                  <a:srgbClr val="000000"/>
                </a:solidFill>
                <a:effectLst/>
                <a:uFillTx/>
                <a:latin typeface="Arial"/>
              </a:rPr>
              <a:t>에 다시 사용합니다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unicon-paper | pp. 4-6, Table 1 and Algorithm 1</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 PLOS ONE 17(11): e0277527</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https://journals.plos.org/plosone/article?id=10.1371/journal.pone.0277527</a:t>
            </a:r>
            <a:endParaRPr lang="en-US" sz="2000" b="0" u="none" strike="noStrike">
              <a:solidFill>
                <a:srgbClr val="000000"/>
              </a:solidFill>
              <a:effectLst/>
              <a:uFillTx/>
              <a:latin typeface="Arial"/>
            </a:endParaRPr>
          </a:p>
        </p:txBody>
      </p:sp>
      <p:sp>
        <p:nvSpPr>
          <p:cNvPr id="394" name="PlaceHolder 3"/>
          <p:cNvSpPr>
            <a:spLocks noGrp="1"/>
          </p:cNvSpPr>
          <p:nvPr>
            <p:ph type="sldNum" idx="6"/>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774E02BA-737E-40A6-AA04-D4E6CC6443A6}"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5" name="PlaceHolder 1"/>
          <p:cNvSpPr>
            <a:spLocks noGrp="1"/>
          </p:cNvSpPr>
          <p:nvPr>
            <p:ph type="sldImg"/>
          </p:nvPr>
        </p:nvSpPr>
        <p:spPr>
          <a:xfrm>
            <a:off x="0" y="0"/>
            <a:ext cx="0" cy="0"/>
          </a:xfrm>
          <a:prstGeom prst="rect">
            <a:avLst/>
          </a:prstGeom>
          <a:ln w="0">
            <a:noFill/>
          </a:ln>
        </p:spPr>
      </p:sp>
      <p:sp>
        <p:nvSpPr>
          <p:cNvPr id="39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4. </a:t>
            </a:r>
            <a:r>
              <a:rPr lang="ko-KR" sz="2000" b="0" u="none" strike="noStrike">
                <a:solidFill>
                  <a:srgbClr val="000000"/>
                </a:solidFill>
                <a:effectLst/>
                <a:uFillTx/>
                <a:latin typeface="Arial"/>
              </a:rPr>
              <a:t>대규모 </a:t>
            </a:r>
            <a:r>
              <a:rPr lang="en-US" sz="2000" b="0" u="none" strike="noStrike">
                <a:solidFill>
                  <a:srgbClr val="000000"/>
                </a:solidFill>
                <a:effectLst/>
                <a:uFillTx/>
                <a:latin typeface="Arial"/>
              </a:rPr>
              <a:t>CC</a:t>
            </a:r>
            <a:r>
              <a:rPr lang="ko-KR" sz="2000" b="0" u="none" strike="noStrike">
                <a:solidFill>
                  <a:srgbClr val="000000"/>
                </a:solidFill>
                <a:effectLst/>
                <a:uFillTx/>
                <a:latin typeface="Arial"/>
              </a:rPr>
              <a:t>에서 </a:t>
            </a:r>
            <a:r>
              <a:rPr lang="en-US" sz="2000" b="0" u="none" strike="noStrike">
                <a:solidFill>
                  <a:srgbClr val="000000"/>
                </a:solidFill>
                <a:effectLst/>
                <a:uFillTx/>
                <a:latin typeface="Arial"/>
              </a:rPr>
              <a:t>memory</a:t>
            </a:r>
            <a:r>
              <a:rPr lang="ko-KR" sz="2000" b="0" u="none" strike="noStrike">
                <a:solidFill>
                  <a:srgbClr val="000000"/>
                </a:solidFill>
                <a:effectLst/>
                <a:uFillTx/>
                <a:latin typeface="Arial"/>
              </a:rPr>
              <a:t>와 </a:t>
            </a:r>
            <a:r>
              <a:rPr lang="en-US" sz="2000" b="0" u="none" strike="noStrike">
                <a:solidFill>
                  <a:srgbClr val="000000"/>
                </a:solidFill>
                <a:effectLst/>
                <a:uFillTx/>
                <a:latin typeface="Arial"/>
              </a:rPr>
              <a:t>I/O</a:t>
            </a:r>
            <a:r>
              <a:rPr lang="ko-KR" sz="2000" b="0" u="none" strike="noStrike">
                <a:solidFill>
                  <a:srgbClr val="000000"/>
                </a:solidFill>
                <a:effectLst/>
                <a:uFillTx/>
                <a:latin typeface="Arial"/>
              </a:rPr>
              <a:t>가 함께 문제다</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Distributed-memory algorithms</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input graph</a:t>
            </a:r>
            <a:r>
              <a:rPr lang="ko-KR" sz="2000" b="0" u="none" strike="noStrike">
                <a:solidFill>
                  <a:srgbClr val="000000"/>
                </a:solidFill>
                <a:effectLst/>
                <a:uFillTx/>
                <a:latin typeface="Arial"/>
              </a:rPr>
              <a:t>와 </a:t>
            </a:r>
            <a:r>
              <a:rPr lang="en-US" sz="2000" b="0" u="none" strike="noStrike">
                <a:solidFill>
                  <a:srgbClr val="000000"/>
                </a:solidFill>
                <a:effectLst/>
                <a:uFillTx/>
                <a:latin typeface="Arial"/>
              </a:rPr>
              <a:t>processing state</a:t>
            </a:r>
            <a:r>
              <a:rPr lang="ko-KR" sz="2000" b="0" u="none" strike="noStrike">
                <a:solidFill>
                  <a:srgbClr val="000000"/>
                </a:solidFill>
                <a:effectLst/>
                <a:uFillTx/>
                <a:latin typeface="Arial"/>
              </a:rPr>
              <a:t>를 </a:t>
            </a:r>
            <a:r>
              <a:rPr lang="en-US" sz="2000" b="0" u="none" strike="noStrike">
                <a:solidFill>
                  <a:srgbClr val="000000"/>
                </a:solidFill>
                <a:effectLst/>
                <a:uFillTx/>
                <a:latin typeface="Arial"/>
              </a:rPr>
              <a:t>aggregate RAM</a:t>
            </a:r>
            <a:r>
              <a:rPr lang="ko-KR" sz="2000" b="0" u="none" strike="noStrike">
                <a:solidFill>
                  <a:srgbClr val="000000"/>
                </a:solidFill>
                <a:effectLst/>
                <a:uFillTx/>
                <a:latin typeface="Arial"/>
              </a:rPr>
              <a:t>에 올려야 하므로 </a:t>
            </a:r>
            <a:r>
              <a:rPr lang="en-US" sz="2000" b="0" u="none" strike="noStrike">
                <a:solidFill>
                  <a:srgbClr val="000000"/>
                </a:solidFill>
                <a:effectLst/>
                <a:uFillTx/>
                <a:latin typeface="Arial"/>
              </a:rPr>
              <a:t>commodity cluster</a:t>
            </a:r>
            <a:r>
              <a:rPr lang="ko-KR" sz="2000" b="0" u="none" strike="noStrike">
                <a:solidFill>
                  <a:srgbClr val="000000"/>
                </a:solidFill>
                <a:effectLst/>
                <a:uFillTx/>
                <a:latin typeface="Arial"/>
              </a:rPr>
              <a:t>에서 </a:t>
            </a:r>
            <a:r>
              <a:rPr lang="en-US" sz="2000" b="0" u="none" strike="noStrike">
                <a:solidFill>
                  <a:srgbClr val="000000"/>
                </a:solidFill>
                <a:effectLst/>
                <a:uFillTx/>
                <a:latin typeface="Arial"/>
              </a:rPr>
              <a:t>OOM</a:t>
            </a:r>
            <a:r>
              <a:rPr lang="ko-KR" sz="2000" b="0" u="none" strike="noStrike">
                <a:solidFill>
                  <a:srgbClr val="000000"/>
                </a:solidFill>
                <a:effectLst/>
                <a:uFillTx/>
                <a:latin typeface="Arial"/>
              </a:rPr>
              <a:t>이 날 수 있습니다</a:t>
            </a:r>
            <a:r>
              <a:rPr lang="en-US" sz="2000" b="0" u="none" strike="noStrike">
                <a:solidFill>
                  <a:srgbClr val="000000"/>
                </a:solidFill>
                <a:effectLst/>
                <a:uFillTx/>
                <a:latin typeface="Arial"/>
              </a:rPr>
              <a:t>. MapReduce</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distributed storage</a:t>
            </a:r>
            <a:r>
              <a:rPr lang="ko-KR" sz="2000" b="0" u="none" strike="noStrike">
                <a:solidFill>
                  <a:srgbClr val="000000"/>
                </a:solidFill>
                <a:effectLst/>
                <a:uFillTx/>
                <a:latin typeface="Arial"/>
              </a:rPr>
              <a:t>를 사용해 이 조건을 완화하지만 각 </a:t>
            </a:r>
            <a:r>
              <a:rPr lang="en-US" sz="2000" b="0" u="none" strike="noStrike">
                <a:solidFill>
                  <a:srgbClr val="000000"/>
                </a:solidFill>
                <a:effectLst/>
                <a:uFillTx/>
                <a:latin typeface="Arial"/>
              </a:rPr>
              <a:t>round</a:t>
            </a:r>
            <a:r>
              <a:rPr lang="ko-KR" sz="2000" b="0" u="none" strike="noStrike">
                <a:solidFill>
                  <a:srgbClr val="000000"/>
                </a:solidFill>
                <a:effectLst/>
                <a:uFillTx/>
                <a:latin typeface="Arial"/>
              </a:rPr>
              <a:t>의 </a:t>
            </a:r>
            <a:r>
              <a:rPr lang="en-US" sz="2000" b="0" u="none" strike="noStrike">
                <a:solidFill>
                  <a:srgbClr val="000000"/>
                </a:solidFill>
                <a:effectLst/>
                <a:uFillTx/>
                <a:latin typeface="Arial"/>
              </a:rPr>
              <a:t>records</a:t>
            </a:r>
            <a:r>
              <a:rPr lang="ko-KR" sz="2000" b="0" u="none" strike="noStrike">
                <a:solidFill>
                  <a:srgbClr val="000000"/>
                </a:solidFill>
                <a:effectLst/>
                <a:uFillTx/>
                <a:latin typeface="Arial"/>
              </a:rPr>
              <a:t>를 </a:t>
            </a:r>
            <a:r>
              <a:rPr lang="en-US" sz="2000" b="0" u="none" strike="noStrike">
                <a:solidFill>
                  <a:srgbClr val="000000"/>
                </a:solidFill>
                <a:effectLst/>
                <a:uFillTx/>
                <a:latin typeface="Arial"/>
              </a:rPr>
              <a:t>disk</a:t>
            </a:r>
            <a:r>
              <a:rPr lang="ko-KR" sz="2000" b="0" u="none" strike="noStrike">
                <a:solidFill>
                  <a:srgbClr val="000000"/>
                </a:solidFill>
                <a:effectLst/>
                <a:uFillTx/>
                <a:latin typeface="Arial"/>
              </a:rPr>
              <a:t>에 쓰고 </a:t>
            </a:r>
            <a:r>
              <a:rPr lang="en-US" sz="2000" b="0" u="none" strike="noStrike">
                <a:solidFill>
                  <a:srgbClr val="000000"/>
                </a:solidFill>
                <a:effectLst/>
                <a:uFillTx/>
                <a:latin typeface="Arial"/>
              </a:rPr>
              <a:t>network</a:t>
            </a:r>
            <a:r>
              <a:rPr lang="ko-KR" sz="2000" b="0" u="none" strike="noStrike">
                <a:solidFill>
                  <a:srgbClr val="000000"/>
                </a:solidFill>
                <a:effectLst/>
                <a:uFillTx/>
                <a:latin typeface="Arial"/>
              </a:rPr>
              <a:t>로 </a:t>
            </a:r>
            <a:r>
              <a:rPr lang="en-US" sz="2000" b="0" u="none" strike="noStrike">
                <a:solidFill>
                  <a:srgbClr val="000000"/>
                </a:solidFill>
                <a:effectLst/>
                <a:uFillTx/>
                <a:latin typeface="Arial"/>
              </a:rPr>
              <a:t>shuffle</a:t>
            </a:r>
            <a:r>
              <a:rPr lang="ko-KR" sz="2000" b="0" u="none" strike="noStrike">
                <a:solidFill>
                  <a:srgbClr val="000000"/>
                </a:solidFill>
                <a:effectLst/>
                <a:uFillTx/>
                <a:latin typeface="Arial"/>
              </a:rPr>
              <a:t>합니다</a:t>
            </a:r>
            <a:r>
              <a:rPr lang="en-US" sz="2000" b="0" u="none" strike="noStrike">
                <a:solidFill>
                  <a:srgbClr val="000000"/>
                </a:solidFill>
                <a:effectLst/>
                <a:uFillTx/>
                <a:latin typeface="Arial"/>
              </a:rPr>
              <a:t>. UniCon</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I/O</a:t>
            </a:r>
            <a:r>
              <a:rPr lang="ko-KR" sz="2000" b="0" u="none" strike="noStrike">
                <a:solidFill>
                  <a:srgbClr val="000000"/>
                </a:solidFill>
                <a:effectLst/>
                <a:uFillTx/>
                <a:latin typeface="Arial"/>
              </a:rPr>
              <a:t>를 없애지 않습니다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대신 </a:t>
            </a:r>
            <a:r>
              <a:rPr lang="en-US" sz="2000" b="0" u="none" strike="noStrike">
                <a:solidFill>
                  <a:srgbClr val="000000"/>
                </a:solidFill>
                <a:effectLst/>
                <a:uFillTx/>
                <a:latin typeface="Arial"/>
              </a:rPr>
              <a:t>star operations</a:t>
            </a:r>
            <a:r>
              <a:rPr lang="ko-KR" sz="2000" b="0" u="none" strike="noStrike">
                <a:solidFill>
                  <a:srgbClr val="000000"/>
                </a:solidFill>
                <a:effectLst/>
                <a:uFillTx/>
                <a:latin typeface="Arial"/>
              </a:rPr>
              <a:t>가 만드는 </a:t>
            </a:r>
            <a:r>
              <a:rPr lang="en-US" sz="2000" b="0" u="none" strike="noStrike">
                <a:solidFill>
                  <a:srgbClr val="000000"/>
                </a:solidFill>
                <a:effectLst/>
                <a:uFillTx/>
                <a:latin typeface="Arial"/>
              </a:rPr>
              <a:t>intermediate edges</a:t>
            </a:r>
            <a:r>
              <a:rPr lang="ko-KR" sz="2000" b="0" u="none" strike="noStrike">
                <a:solidFill>
                  <a:srgbClr val="000000"/>
                </a:solidFill>
                <a:effectLst/>
                <a:uFillTx/>
                <a:latin typeface="Arial"/>
              </a:rPr>
              <a:t>와 불필요한 </a:t>
            </a:r>
            <a:r>
              <a:rPr lang="en-US" sz="2000" b="0" u="none" strike="noStrike">
                <a:solidFill>
                  <a:srgbClr val="000000"/>
                </a:solidFill>
                <a:effectLst/>
                <a:uFillTx/>
                <a:latin typeface="Arial"/>
              </a:rPr>
              <a:t>next-round inputs</a:t>
            </a:r>
            <a:r>
              <a:rPr lang="ko-KR" sz="2000" b="0" u="none" strike="noStrike">
                <a:solidFill>
                  <a:srgbClr val="000000"/>
                </a:solidFill>
                <a:effectLst/>
                <a:uFillTx/>
                <a:latin typeface="Arial"/>
              </a:rPr>
              <a:t>를 줄입니다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unicon-paper | pp. 1-3</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 PLOS ONE 17(11): e0277527</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https://journals.plos.org/plosone/article?id=10.1371/journal.pone.0277527</a:t>
            </a:r>
            <a:endParaRPr lang="en-US" sz="2000" b="0" u="none" strike="noStrike">
              <a:solidFill>
                <a:srgbClr val="000000"/>
              </a:solidFill>
              <a:effectLst/>
              <a:uFillTx/>
              <a:latin typeface="Arial"/>
            </a:endParaRPr>
          </a:p>
        </p:txBody>
      </p:sp>
      <p:sp>
        <p:nvSpPr>
          <p:cNvPr id="397" name="PlaceHolder 3"/>
          <p:cNvSpPr>
            <a:spLocks noGrp="1"/>
          </p:cNvSpPr>
          <p:nvPr>
            <p:ph type="sldNum" idx="7"/>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AC247CA2-7204-410C-ACE8-41BF17477957}"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8" name="PlaceHolder 1"/>
          <p:cNvSpPr>
            <a:spLocks noGrp="1"/>
          </p:cNvSpPr>
          <p:nvPr>
            <p:ph type="sldImg"/>
          </p:nvPr>
        </p:nvSpPr>
        <p:spPr>
          <a:xfrm>
            <a:off x="0" y="0"/>
            <a:ext cx="0" cy="0"/>
          </a:xfrm>
          <a:prstGeom prst="rect">
            <a:avLst/>
          </a:prstGeom>
          <a:ln w="0">
            <a:noFill/>
          </a:ln>
        </p:spPr>
      </p:sp>
      <p:sp>
        <p:nvSpPr>
          <p:cNvPr id="39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5. Alternating, PACC, UniCon</a:t>
            </a:r>
            <a:r>
              <a:rPr lang="ko-KR" sz="2000" b="0" u="none" strike="noStrike">
                <a:solidFill>
                  <a:srgbClr val="000000"/>
                </a:solidFill>
                <a:effectLst/>
                <a:uFillTx/>
                <a:latin typeface="Arial"/>
              </a:rPr>
              <a:t>의 차이</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Alternating algorithm</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large-star</a:t>
            </a:r>
            <a:r>
              <a:rPr lang="ko-KR" sz="2000" b="0" u="none" strike="noStrike">
                <a:solidFill>
                  <a:srgbClr val="000000"/>
                </a:solidFill>
                <a:effectLst/>
                <a:uFillTx/>
                <a:latin typeface="Arial"/>
              </a:rPr>
              <a:t>와 </a:t>
            </a:r>
            <a:r>
              <a:rPr lang="en-US" sz="2000" b="0" u="none" strike="noStrike">
                <a:solidFill>
                  <a:srgbClr val="000000"/>
                </a:solidFill>
                <a:effectLst/>
                <a:uFillTx/>
                <a:latin typeface="Arial"/>
              </a:rPr>
              <a:t>small-star</a:t>
            </a:r>
            <a:r>
              <a:rPr lang="ko-KR" sz="2000" b="0" u="none" strike="noStrike">
                <a:solidFill>
                  <a:srgbClr val="000000"/>
                </a:solidFill>
                <a:effectLst/>
                <a:uFillTx/>
                <a:latin typeface="Arial"/>
              </a:rPr>
              <a:t>를 번갈아 실행합니다</a:t>
            </a:r>
            <a:r>
              <a:rPr lang="en-US" sz="2000" b="0" u="none" strike="noStrike">
                <a:solidFill>
                  <a:srgbClr val="000000"/>
                </a:solidFill>
                <a:effectLst/>
                <a:uFillTx/>
                <a:latin typeface="Arial"/>
              </a:rPr>
              <a:t>. PACC</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partition-aware versions</a:t>
            </a:r>
            <a:r>
              <a:rPr lang="ko-KR" sz="2000" b="0" u="none" strike="noStrike">
                <a:solidFill>
                  <a:srgbClr val="000000"/>
                </a:solidFill>
                <a:effectLst/>
                <a:uFillTx/>
                <a:latin typeface="Arial"/>
              </a:rPr>
              <a:t>로 </a:t>
            </a:r>
            <a:r>
              <a:rPr lang="en-US" sz="2000" b="0" u="none" strike="noStrike">
                <a:solidFill>
                  <a:srgbClr val="000000"/>
                </a:solidFill>
                <a:effectLst/>
                <a:uFillTx/>
                <a:latin typeface="Arial"/>
              </a:rPr>
              <a:t>reducer concentration</a:t>
            </a:r>
            <a:r>
              <a:rPr lang="ko-KR" sz="2000" b="0" u="none" strike="noStrike">
                <a:solidFill>
                  <a:srgbClr val="000000"/>
                </a:solidFill>
                <a:effectLst/>
                <a:uFillTx/>
                <a:latin typeface="Arial"/>
              </a:rPr>
              <a:t>을 줄였지만 두 </a:t>
            </a:r>
            <a:r>
              <a:rPr lang="en-US" sz="2000" b="0" u="none" strike="noStrike">
                <a:solidFill>
                  <a:srgbClr val="000000"/>
                </a:solidFill>
                <a:effectLst/>
                <a:uFillTx/>
                <a:latin typeface="Arial"/>
              </a:rPr>
              <a:t>operations</a:t>
            </a:r>
            <a:r>
              <a:rPr lang="ko-KR" sz="2000" b="0" u="none" strike="noStrike">
                <a:solidFill>
                  <a:srgbClr val="000000"/>
                </a:solidFill>
                <a:effectLst/>
                <a:uFillTx/>
                <a:latin typeface="Arial"/>
              </a:rPr>
              <a:t>를 계속 교대하며 </a:t>
            </a:r>
            <a:r>
              <a:rPr lang="en-US" sz="2000" b="0" u="none" strike="noStrike">
                <a:solidFill>
                  <a:srgbClr val="000000"/>
                </a:solidFill>
                <a:effectLst/>
                <a:uFillTx/>
                <a:latin typeface="Arial"/>
              </a:rPr>
              <a:t>intermediate data</a:t>
            </a:r>
            <a:r>
              <a:rPr lang="ko-KR" sz="2000" b="0" u="none" strike="noStrike">
                <a:solidFill>
                  <a:srgbClr val="000000"/>
                </a:solidFill>
                <a:effectLst/>
                <a:uFillTx/>
                <a:latin typeface="Arial"/>
              </a:rPr>
              <a:t>를 옮깁니다</a:t>
            </a:r>
            <a:r>
              <a:rPr lang="en-US" sz="2000" b="0" u="none" strike="noStrike">
                <a:solidFill>
                  <a:srgbClr val="000000"/>
                </a:solidFill>
                <a:effectLst/>
                <a:uFillTx/>
                <a:latin typeface="Arial"/>
              </a:rPr>
              <a:t>. UniCon</a:t>
            </a:r>
            <a:r>
              <a:rPr lang="ko-KR" sz="2000" b="0" u="none" strike="noStrike">
                <a:solidFill>
                  <a:srgbClr val="000000"/>
                </a:solidFill>
                <a:effectLst/>
                <a:uFillTx/>
                <a:latin typeface="Arial"/>
              </a:rPr>
              <a:t>은 두 </a:t>
            </a:r>
            <a:r>
              <a:rPr lang="en-US" sz="2000" b="0" u="none" strike="noStrike">
                <a:solidFill>
                  <a:srgbClr val="000000"/>
                </a:solidFill>
                <a:effectLst/>
                <a:uFillTx/>
                <a:latin typeface="Arial"/>
              </a:rPr>
              <a:t>operations</a:t>
            </a:r>
            <a:r>
              <a:rPr lang="ko-KR" sz="2000" b="0" u="none" strike="noStrike">
                <a:solidFill>
                  <a:srgbClr val="000000"/>
                </a:solidFill>
                <a:effectLst/>
                <a:uFillTx/>
                <a:latin typeface="Arial"/>
              </a:rPr>
              <a:t>를 단순히 합치지 않고</a:t>
            </a:r>
            <a:r>
              <a:rPr lang="en-US" sz="2000" b="0" u="none" strike="noStrike">
                <a:solidFill>
                  <a:srgbClr val="000000"/>
                </a:solidFill>
                <a:effectLst/>
                <a:uFillTx/>
                <a:latin typeface="Arial"/>
              </a:rPr>
              <a:t>, overlapping partition subgraph</a:t>
            </a:r>
            <a:r>
              <a:rPr lang="ko-KR" sz="2000" b="0" u="none" strike="noStrike">
                <a:solidFill>
                  <a:srgbClr val="000000"/>
                </a:solidFill>
                <a:effectLst/>
                <a:uFillTx/>
                <a:latin typeface="Arial"/>
              </a:rPr>
              <a:t>에서 </a:t>
            </a:r>
            <a:r>
              <a:rPr lang="en-US" sz="2000" b="0" u="none" strike="noStrike">
                <a:solidFill>
                  <a:srgbClr val="000000"/>
                </a:solidFill>
                <a:effectLst/>
                <a:uFillTx/>
                <a:latin typeface="Arial"/>
              </a:rPr>
              <a:t>local CC</a:t>
            </a:r>
            <a:r>
              <a:rPr lang="ko-KR" sz="2000" b="0" u="none" strike="noStrike">
                <a:solidFill>
                  <a:srgbClr val="000000"/>
                </a:solidFill>
                <a:effectLst/>
                <a:uFillTx/>
                <a:latin typeface="Arial"/>
              </a:rPr>
              <a:t>를 계산하는 </a:t>
            </a:r>
            <a:r>
              <a:rPr lang="en-US" sz="2000" b="0" u="none" strike="noStrike">
                <a:solidFill>
                  <a:srgbClr val="000000"/>
                </a:solidFill>
                <a:effectLst/>
                <a:uFillTx/>
                <a:latin typeface="Arial"/>
              </a:rPr>
              <a:t>UniStar</a:t>
            </a:r>
            <a:r>
              <a:rPr lang="ko-KR" sz="2000" b="0" u="none" strike="noStrike">
                <a:solidFill>
                  <a:srgbClr val="000000"/>
                </a:solidFill>
                <a:effectLst/>
                <a:uFillTx/>
                <a:latin typeface="Arial"/>
              </a:rPr>
              <a:t>를 도입합니다</a:t>
            </a:r>
            <a:r>
              <a:rPr lang="en-US" sz="2000" b="0" u="none" strike="noStrike">
                <a:solidFill>
                  <a:srgbClr val="000000"/>
                </a:solidFill>
                <a:effectLst/>
                <a:uFillTx/>
                <a:latin typeface="Arial"/>
              </a:rPr>
              <a:t>. DSP-CC</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external memory</a:t>
            </a:r>
            <a:r>
              <a:rPr lang="ko-KR" sz="2000" b="0" u="none" strike="noStrike">
                <a:solidFill>
                  <a:srgbClr val="000000"/>
                </a:solidFill>
                <a:effectLst/>
                <a:uFillTx/>
                <a:latin typeface="Arial"/>
              </a:rPr>
              <a:t>를 쓰는 </a:t>
            </a:r>
            <a:r>
              <a:rPr lang="en-US" sz="2000" b="0" u="none" strike="noStrike">
                <a:solidFill>
                  <a:srgbClr val="000000"/>
                </a:solidFill>
                <a:effectLst/>
                <a:uFillTx/>
                <a:latin typeface="Arial"/>
              </a:rPr>
              <a:t>separate single-machine algorithm</a:t>
            </a:r>
            <a:r>
              <a:rPr lang="ko-KR" sz="2000" b="0" u="none" strike="noStrike">
                <a:solidFill>
                  <a:srgbClr val="000000"/>
                </a:solidFill>
                <a:effectLst/>
                <a:uFillTx/>
                <a:latin typeface="Arial"/>
              </a:rPr>
              <a:t>이라 </a:t>
            </a:r>
            <a:r>
              <a:rPr lang="en-US" sz="2000" b="0" u="none" strike="noStrike">
                <a:solidFill>
                  <a:srgbClr val="000000"/>
                </a:solidFill>
                <a:effectLst/>
                <a:uFillTx/>
                <a:latin typeface="Arial"/>
              </a:rPr>
              <a:t>UniCon</a:t>
            </a:r>
            <a:r>
              <a:rPr lang="ko-KR" sz="2000" b="0" u="none" strike="noStrike">
                <a:solidFill>
                  <a:srgbClr val="000000"/>
                </a:solidFill>
                <a:effectLst/>
                <a:uFillTx/>
                <a:latin typeface="Arial"/>
              </a:rPr>
              <a:t>을 그 분산판으로 부르면 안 됩니다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unicon-paper | pp. 3-6</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 PLOS ONE 17(11): e0277527</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https://journals.plos.org/plosone/article?id=10.1371/journal.pone.0277527</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pacc-paper | pp. 6-15</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PACC: Large Scale Connected Component Computation on Hadoop and Spark</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https://journals.plos.org/plosone/article?id=10.1371/journal.pone.0229936</a:t>
            </a:r>
            <a:endParaRPr lang="en-US" sz="2000" b="0" u="none" strike="noStrike">
              <a:solidFill>
                <a:srgbClr val="000000"/>
              </a:solidFill>
              <a:effectLst/>
              <a:uFillTx/>
              <a:latin typeface="Arial"/>
            </a:endParaRPr>
          </a:p>
        </p:txBody>
      </p:sp>
      <p:sp>
        <p:nvSpPr>
          <p:cNvPr id="400" name="PlaceHolder 3"/>
          <p:cNvSpPr>
            <a:spLocks noGrp="1"/>
          </p:cNvSpPr>
          <p:nvPr>
            <p:ph type="sldNum" idx="8"/>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15662C70-87A2-4DFB-ABB9-170A2BE18AD5}"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1" name="PlaceHolder 1"/>
          <p:cNvSpPr>
            <a:spLocks noGrp="1"/>
          </p:cNvSpPr>
          <p:nvPr>
            <p:ph type="sldImg"/>
          </p:nvPr>
        </p:nvSpPr>
        <p:spPr>
          <a:xfrm>
            <a:off x="0" y="0"/>
            <a:ext cx="0" cy="0"/>
          </a:xfrm>
          <a:prstGeom prst="rect">
            <a:avLst/>
          </a:prstGeom>
          <a:ln w="0">
            <a:noFill/>
          </a:ln>
        </p:spPr>
      </p:sp>
      <p:sp>
        <p:nvSpPr>
          <p:cNvPr id="40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6. UniStar-naive</a:t>
            </a:r>
            <a:r>
              <a:rPr lang="ko-KR" sz="2000" b="0" u="none" strike="noStrike">
                <a:solidFill>
                  <a:srgbClr val="000000"/>
                </a:solidFill>
                <a:effectLst/>
                <a:uFillTx/>
                <a:latin typeface="Arial"/>
              </a:rPr>
              <a:t>의 </a:t>
            </a:r>
            <a:r>
              <a:rPr lang="en-US" sz="2000" b="0" u="none" strike="noStrike">
                <a:solidFill>
                  <a:srgbClr val="000000"/>
                </a:solidFill>
                <a:effectLst/>
                <a:uFillTx/>
                <a:latin typeface="Arial"/>
              </a:rPr>
              <a:t>data explosion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Figure 2</a:t>
            </a:r>
            <a:r>
              <a:rPr lang="ko-KR" sz="2000" b="0" u="none" strike="noStrike">
                <a:solidFill>
                  <a:srgbClr val="000000"/>
                </a:solidFill>
                <a:effectLst/>
                <a:uFillTx/>
                <a:latin typeface="Arial"/>
              </a:rPr>
              <a:t>의 </a:t>
            </a:r>
            <a:r>
              <a:rPr lang="en-US" sz="2000" b="0" u="none" strike="noStrike">
                <a:solidFill>
                  <a:srgbClr val="000000"/>
                </a:solidFill>
                <a:effectLst/>
                <a:uFillTx/>
                <a:latin typeface="Arial"/>
              </a:rPr>
              <a:t>input</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14 edges</a:t>
            </a:r>
            <a:r>
              <a:rPr lang="ko-KR" sz="2000" b="0" u="none" strike="noStrike">
                <a:solidFill>
                  <a:srgbClr val="000000"/>
                </a:solidFill>
                <a:effectLst/>
                <a:uFillTx/>
                <a:latin typeface="Arial"/>
              </a:rPr>
              <a:t>인데 </a:t>
            </a:r>
            <a:r>
              <a:rPr lang="en-US" sz="2000" b="0" u="none" strike="noStrike">
                <a:solidFill>
                  <a:srgbClr val="000000"/>
                </a:solidFill>
                <a:effectLst/>
                <a:uFillTx/>
                <a:latin typeface="Arial"/>
              </a:rPr>
              <a:t>naïve round one</a:t>
            </a:r>
            <a:r>
              <a:rPr lang="ko-KR" sz="2000" b="0" u="none" strike="noStrike">
                <a:solidFill>
                  <a:srgbClr val="000000"/>
                </a:solidFill>
                <a:effectLst/>
                <a:uFillTx/>
                <a:latin typeface="Arial"/>
              </a:rPr>
              <a:t>에서 </a:t>
            </a:r>
            <a:r>
              <a:rPr lang="en-US" sz="2000" b="0" u="none" strike="noStrike">
                <a:solidFill>
                  <a:srgbClr val="000000"/>
                </a:solidFill>
                <a:effectLst/>
                <a:uFillTx/>
                <a:latin typeface="Arial"/>
              </a:rPr>
              <a:t>25, round two</a:t>
            </a:r>
            <a:r>
              <a:rPr lang="ko-KR" sz="2000" b="0" u="none" strike="noStrike">
                <a:solidFill>
                  <a:srgbClr val="000000"/>
                </a:solidFill>
                <a:effectLst/>
                <a:uFillTx/>
                <a:latin typeface="Arial"/>
              </a:rPr>
              <a:t>에서 </a:t>
            </a:r>
            <a:r>
              <a:rPr lang="en-US" sz="2000" b="0" u="none" strike="noStrike">
                <a:solidFill>
                  <a:srgbClr val="000000"/>
                </a:solidFill>
                <a:effectLst/>
                <a:uFillTx/>
                <a:latin typeface="Arial"/>
              </a:rPr>
              <a:t>29</a:t>
            </a:r>
            <a:r>
              <a:rPr lang="ko-KR" sz="2000" b="0" u="none" strike="noStrike">
                <a:solidFill>
                  <a:srgbClr val="000000"/>
                </a:solidFill>
                <a:effectLst/>
                <a:uFillTx/>
                <a:latin typeface="Arial"/>
              </a:rPr>
              <a:t>로 늘어납니다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원문은 </a:t>
            </a:r>
            <a:r>
              <a:rPr lang="en-US" sz="2000" b="0" u="none" strike="noStrike">
                <a:solidFill>
                  <a:srgbClr val="000000"/>
                </a:solidFill>
                <a:effectLst/>
                <a:uFillTx/>
                <a:latin typeface="Arial"/>
              </a:rPr>
              <a:t>edge 17 comma 16</a:t>
            </a:r>
            <a:r>
              <a:rPr lang="ko-KR" sz="2000" b="0" u="none" strike="noStrike">
                <a:solidFill>
                  <a:srgbClr val="000000"/>
                </a:solidFill>
                <a:effectLst/>
                <a:uFillTx/>
                <a:latin typeface="Arial"/>
              </a:rPr>
              <a:t>을 예로 듭니다</a:t>
            </a:r>
            <a:r>
              <a:rPr lang="en-US" sz="2000" b="0" u="none" strike="noStrike">
                <a:solidFill>
                  <a:srgbClr val="000000"/>
                </a:solidFill>
                <a:effectLst/>
                <a:uFillTx/>
                <a:latin typeface="Arial"/>
              </a:rPr>
              <a:t>. Endpoint 16 </a:t>
            </a:r>
            <a:r>
              <a:rPr lang="ko-KR" sz="2000" b="0" u="none" strike="noStrike">
                <a:solidFill>
                  <a:srgbClr val="000000"/>
                </a:solidFill>
                <a:effectLst/>
                <a:uFillTx/>
                <a:latin typeface="Arial"/>
              </a:rPr>
              <a:t>관점의 </a:t>
            </a:r>
            <a:r>
              <a:rPr lang="en-US" sz="2000" b="0" u="none" strike="noStrike">
                <a:solidFill>
                  <a:srgbClr val="000000"/>
                </a:solidFill>
                <a:effectLst/>
                <a:uFillTx/>
                <a:latin typeface="Arial"/>
              </a:rPr>
              <a:t>minimum</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12</a:t>
            </a:r>
            <a:r>
              <a:rPr lang="ko-KR" sz="2000" b="0" u="none" strike="noStrike">
                <a:solidFill>
                  <a:srgbClr val="000000"/>
                </a:solidFill>
                <a:effectLst/>
                <a:uFillTx/>
                <a:latin typeface="Arial"/>
              </a:rPr>
              <a:t>이고 </a:t>
            </a:r>
            <a:r>
              <a:rPr lang="en-US" sz="2000" b="0" u="none" strike="noStrike">
                <a:solidFill>
                  <a:srgbClr val="000000"/>
                </a:solidFill>
                <a:effectLst/>
                <a:uFillTx/>
                <a:latin typeface="Arial"/>
              </a:rPr>
              <a:t>endpoint 17 </a:t>
            </a:r>
            <a:r>
              <a:rPr lang="ko-KR" sz="2000" b="0" u="none" strike="noStrike">
                <a:solidFill>
                  <a:srgbClr val="000000"/>
                </a:solidFill>
                <a:effectLst/>
                <a:uFillTx/>
                <a:latin typeface="Arial"/>
              </a:rPr>
              <a:t>관점의 </a:t>
            </a:r>
            <a:r>
              <a:rPr lang="en-US" sz="2000" b="0" u="none" strike="noStrike">
                <a:solidFill>
                  <a:srgbClr val="000000"/>
                </a:solidFill>
                <a:effectLst/>
                <a:uFillTx/>
                <a:latin typeface="Arial"/>
              </a:rPr>
              <a:t>minimum</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16</a:t>
            </a:r>
            <a:r>
              <a:rPr lang="ko-KR" sz="2000" b="0" u="none" strike="noStrike">
                <a:solidFill>
                  <a:srgbClr val="000000"/>
                </a:solidFill>
                <a:effectLst/>
                <a:uFillTx/>
                <a:latin typeface="Arial"/>
              </a:rPr>
              <a:t>이라 </a:t>
            </a:r>
            <a:r>
              <a:rPr lang="en-US" sz="2000" b="0" u="none" strike="noStrike">
                <a:solidFill>
                  <a:srgbClr val="000000"/>
                </a:solidFill>
                <a:effectLst/>
                <a:uFillTx/>
                <a:latin typeface="Arial"/>
              </a:rPr>
              <a:t>round one</a:t>
            </a:r>
            <a:r>
              <a:rPr lang="ko-KR" sz="2000" b="0" u="none" strike="noStrike">
                <a:solidFill>
                  <a:srgbClr val="000000"/>
                </a:solidFill>
                <a:effectLst/>
                <a:uFillTx/>
                <a:latin typeface="Arial"/>
              </a:rPr>
              <a:t>에서 </a:t>
            </a:r>
            <a:r>
              <a:rPr lang="en-US" sz="2000" b="0" u="none" strike="noStrike">
                <a:solidFill>
                  <a:srgbClr val="000000"/>
                </a:solidFill>
                <a:effectLst/>
                <a:uFillTx/>
                <a:latin typeface="Arial"/>
              </a:rPr>
              <a:t>17 comma 12</a:t>
            </a:r>
            <a:r>
              <a:rPr lang="ko-KR" sz="2000" b="0" u="none" strike="noStrike">
                <a:solidFill>
                  <a:srgbClr val="000000"/>
                </a:solidFill>
                <a:effectLst/>
                <a:uFillTx/>
                <a:latin typeface="Arial"/>
              </a:rPr>
              <a:t>와 </a:t>
            </a:r>
            <a:r>
              <a:rPr lang="en-US" sz="2000" b="0" u="none" strike="noStrike">
                <a:solidFill>
                  <a:srgbClr val="000000"/>
                </a:solidFill>
                <a:effectLst/>
                <a:uFillTx/>
                <a:latin typeface="Arial"/>
              </a:rPr>
              <a:t>17 comma 16</a:t>
            </a:r>
            <a:r>
              <a:rPr lang="ko-KR" sz="2000" b="0" u="none" strike="noStrike">
                <a:solidFill>
                  <a:srgbClr val="000000"/>
                </a:solidFill>
                <a:effectLst/>
                <a:uFillTx/>
                <a:latin typeface="Arial"/>
              </a:rPr>
              <a:t>으로 </a:t>
            </a:r>
            <a:r>
              <a:rPr lang="en-US" sz="2000" b="0" u="none" strike="noStrike">
                <a:solidFill>
                  <a:srgbClr val="000000"/>
                </a:solidFill>
                <a:effectLst/>
                <a:uFillTx/>
                <a:latin typeface="Arial"/>
              </a:rPr>
              <a:t>copy</a:t>
            </a:r>
            <a:r>
              <a:rPr lang="ko-KR" sz="2000" b="0" u="none" strike="noStrike">
                <a:solidFill>
                  <a:srgbClr val="000000"/>
                </a:solidFill>
                <a:effectLst/>
                <a:uFillTx/>
                <a:latin typeface="Arial"/>
              </a:rPr>
              <a:t>됩니다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이 </a:t>
            </a:r>
            <a:r>
              <a:rPr lang="en-US" sz="2000" b="0" u="none" strike="noStrike">
                <a:solidFill>
                  <a:srgbClr val="000000"/>
                </a:solidFill>
                <a:effectLst/>
                <a:uFillTx/>
                <a:latin typeface="Arial"/>
              </a:rPr>
              <a:t>copies</a:t>
            </a:r>
            <a:r>
              <a:rPr lang="ko-KR" sz="2000" b="0" u="none" strike="noStrike">
                <a:solidFill>
                  <a:srgbClr val="000000"/>
                </a:solidFill>
                <a:effectLst/>
                <a:uFillTx/>
                <a:latin typeface="Arial"/>
              </a:rPr>
              <a:t>가 이후 </a:t>
            </a:r>
            <a:r>
              <a:rPr lang="en-US" sz="2000" b="0" u="none" strike="noStrike">
                <a:solidFill>
                  <a:srgbClr val="000000"/>
                </a:solidFill>
                <a:effectLst/>
                <a:uFillTx/>
                <a:latin typeface="Arial"/>
              </a:rPr>
              <a:t>round</a:t>
            </a:r>
            <a:r>
              <a:rPr lang="ko-KR" sz="2000" b="0" u="none" strike="noStrike">
                <a:solidFill>
                  <a:srgbClr val="000000"/>
                </a:solidFill>
                <a:effectLst/>
                <a:uFillTx/>
                <a:latin typeface="Arial"/>
              </a:rPr>
              <a:t>에서 다시 처리되어 </a:t>
            </a:r>
            <a:r>
              <a:rPr lang="en-US" sz="2000" b="0" u="none" strike="noStrike">
                <a:solidFill>
                  <a:srgbClr val="000000"/>
                </a:solidFill>
                <a:effectLst/>
                <a:uFillTx/>
                <a:latin typeface="Arial"/>
              </a:rPr>
              <a:t>data explosion</a:t>
            </a:r>
            <a:r>
              <a:rPr lang="ko-KR" sz="2000" b="0" u="none" strike="noStrike">
                <a:solidFill>
                  <a:srgbClr val="000000"/>
                </a:solidFill>
                <a:effectLst/>
                <a:uFillTx/>
                <a:latin typeface="Arial"/>
              </a:rPr>
              <a:t>이 이어집니다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unicon-paper | pp. 6-7, Fig. 2</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 PLOS ONE 17(11): e0277527</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https://journals.plos.org/plosone/article?id=10.1371/journal.pone.0277527</a:t>
            </a:r>
            <a:endParaRPr lang="en-US" sz="2000" b="0" u="none" strike="noStrike">
              <a:solidFill>
                <a:srgbClr val="000000"/>
              </a:solidFill>
              <a:effectLst/>
              <a:uFillTx/>
              <a:latin typeface="Arial"/>
            </a:endParaRPr>
          </a:p>
        </p:txBody>
      </p:sp>
      <p:sp>
        <p:nvSpPr>
          <p:cNvPr id="403" name="PlaceHolder 3"/>
          <p:cNvSpPr>
            <a:spLocks noGrp="1"/>
          </p:cNvSpPr>
          <p:nvPr>
            <p:ph type="sldNum" idx="9"/>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33E61E11-E82D-479B-BEF3-2559023C1CE5}"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4" name="PlaceHolder 1"/>
          <p:cNvSpPr>
            <a:spLocks noGrp="1"/>
          </p:cNvSpPr>
          <p:nvPr>
            <p:ph type="sldImg"/>
          </p:nvPr>
        </p:nvSpPr>
        <p:spPr>
          <a:xfrm>
            <a:off x="0" y="0"/>
            <a:ext cx="0" cy="0"/>
          </a:xfrm>
          <a:prstGeom prst="rect">
            <a:avLst/>
          </a:prstGeom>
          <a:ln w="0">
            <a:noFill/>
          </a:ln>
        </p:spPr>
      </p:sp>
      <p:sp>
        <p:nvSpPr>
          <p:cNvPr id="40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7. UniCon</a:t>
            </a:r>
            <a:r>
              <a:rPr lang="ko-KR" sz="2000" b="0" u="none" strike="noStrike">
                <a:solidFill>
                  <a:srgbClr val="000000"/>
                </a:solidFill>
                <a:effectLst/>
                <a:uFillTx/>
                <a:latin typeface="Arial"/>
              </a:rPr>
              <a:t>의 전체 </a:t>
            </a:r>
            <a:r>
              <a:rPr lang="en-US" sz="2000" b="0" u="none" strike="noStrike">
                <a:solidFill>
                  <a:srgbClr val="000000"/>
                </a:solidFill>
                <a:effectLst/>
                <a:uFillTx/>
                <a:latin typeface="Arial"/>
              </a:rPr>
              <a:t>pipeline</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Algorithm 1</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sketching, partitioning, finishing</a:t>
            </a:r>
            <a:r>
              <a:rPr lang="ko-KR" sz="2000" b="0" u="none" strike="noStrike">
                <a:solidFill>
                  <a:srgbClr val="000000"/>
                </a:solidFill>
                <a:effectLst/>
                <a:uFillTx/>
                <a:latin typeface="Arial"/>
              </a:rPr>
              <a:t>의 세 </a:t>
            </a:r>
            <a:r>
              <a:rPr lang="en-US" sz="2000" b="0" u="none" strike="noStrike">
                <a:solidFill>
                  <a:srgbClr val="000000"/>
                </a:solidFill>
                <a:effectLst/>
                <a:uFillTx/>
                <a:latin typeface="Arial"/>
              </a:rPr>
              <a:t>phases</a:t>
            </a:r>
            <a:r>
              <a:rPr lang="ko-KR" sz="2000" b="0" u="none" strike="noStrike">
                <a:solidFill>
                  <a:srgbClr val="000000"/>
                </a:solidFill>
                <a:effectLst/>
                <a:uFillTx/>
                <a:latin typeface="Arial"/>
              </a:rPr>
              <a:t>로 구성됩니다</a:t>
            </a:r>
            <a:r>
              <a:rPr lang="en-US" sz="2000" b="0" u="none" strike="noStrike">
                <a:solidFill>
                  <a:srgbClr val="000000"/>
                </a:solidFill>
                <a:effectLst/>
                <a:uFillTx/>
                <a:latin typeface="Arial"/>
              </a:rPr>
              <a:t>. Sketching</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PACC</a:t>
            </a:r>
            <a:r>
              <a:rPr lang="ko-KR" sz="2000" b="0" u="none" strike="noStrike">
                <a:solidFill>
                  <a:srgbClr val="000000"/>
                </a:solidFill>
                <a:effectLst/>
                <a:uFillTx/>
                <a:latin typeface="Arial"/>
              </a:rPr>
              <a:t>에서 가져온 </a:t>
            </a:r>
            <a:r>
              <a:rPr lang="en-US" sz="2000" b="0" u="none" strike="noStrike">
                <a:solidFill>
                  <a:srgbClr val="000000"/>
                </a:solidFill>
                <a:effectLst/>
                <a:uFillTx/>
                <a:latin typeface="Arial"/>
              </a:rPr>
              <a:t>input reduction</a:t>
            </a:r>
            <a:r>
              <a:rPr lang="ko-KR" sz="2000" b="0" u="none" strike="noStrike">
                <a:solidFill>
                  <a:srgbClr val="000000"/>
                </a:solidFill>
                <a:effectLst/>
                <a:uFillTx/>
                <a:latin typeface="Arial"/>
              </a:rPr>
              <a:t>과 </a:t>
            </a:r>
            <a:r>
              <a:rPr lang="en-US" sz="2000" b="0" u="none" strike="noStrike">
                <a:solidFill>
                  <a:srgbClr val="000000"/>
                </a:solidFill>
                <a:effectLst/>
                <a:uFillTx/>
                <a:latin typeface="Arial"/>
              </a:rPr>
              <a:t>load-balancing step</a:t>
            </a:r>
            <a:r>
              <a:rPr lang="ko-KR" sz="2000" b="0" u="none" strike="noStrike">
                <a:solidFill>
                  <a:srgbClr val="000000"/>
                </a:solidFill>
                <a:effectLst/>
                <a:uFillTx/>
                <a:latin typeface="Arial"/>
              </a:rPr>
              <a:t>입니다</a:t>
            </a:r>
            <a:r>
              <a:rPr lang="en-US" sz="2000" b="0" u="none" strike="noStrike">
                <a:solidFill>
                  <a:srgbClr val="000000"/>
                </a:solidFill>
                <a:effectLst/>
                <a:uFillTx/>
                <a:latin typeface="Arial"/>
              </a:rPr>
              <a:t>. Partitioning</a:t>
            </a:r>
            <a:r>
              <a:rPr lang="ko-KR" sz="2000" b="0" u="none" strike="noStrike">
                <a:solidFill>
                  <a:srgbClr val="000000"/>
                </a:solidFill>
                <a:effectLst/>
                <a:uFillTx/>
                <a:latin typeface="Arial"/>
              </a:rPr>
              <a:t>에서는 </a:t>
            </a:r>
            <a:r>
              <a:rPr lang="en-US" sz="2000" b="0" u="none" strike="noStrike">
                <a:solidFill>
                  <a:srgbClr val="000000"/>
                </a:solidFill>
                <a:effectLst/>
                <a:uFillTx/>
                <a:latin typeface="Arial"/>
              </a:rPr>
              <a:t>edge count</a:t>
            </a:r>
            <a:r>
              <a:rPr lang="ko-KR" sz="2000" b="0" u="none" strike="noStrike">
                <a:solidFill>
                  <a:srgbClr val="000000"/>
                </a:solidFill>
                <a:effectLst/>
                <a:uFillTx/>
                <a:latin typeface="Arial"/>
              </a:rPr>
              <a:t>가 </a:t>
            </a:r>
            <a:r>
              <a:rPr lang="en-US" sz="2000" b="0" u="none" strike="noStrike">
                <a:solidFill>
                  <a:srgbClr val="000000"/>
                </a:solidFill>
                <a:effectLst/>
                <a:uFillTx/>
                <a:latin typeface="Arial"/>
              </a:rPr>
              <a:t>tau</a:t>
            </a:r>
            <a:r>
              <a:rPr lang="ko-KR" sz="2000" b="0" u="none" strike="noStrike">
                <a:solidFill>
                  <a:srgbClr val="000000"/>
                </a:solidFill>
                <a:effectLst/>
                <a:uFillTx/>
                <a:latin typeface="Arial"/>
              </a:rPr>
              <a:t>보다 크면 </a:t>
            </a:r>
            <a:r>
              <a:rPr lang="en-US" sz="2000" b="0" u="none" strike="noStrike">
                <a:solidFill>
                  <a:srgbClr val="000000"/>
                </a:solidFill>
                <a:effectLst/>
                <a:uFillTx/>
                <a:latin typeface="Arial"/>
              </a:rPr>
              <a:t>UniStar-opt</a:t>
            </a:r>
            <a:r>
              <a:rPr lang="ko-KR" sz="2000" b="0" u="none" strike="noStrike">
                <a:solidFill>
                  <a:srgbClr val="000000"/>
                </a:solidFill>
                <a:effectLst/>
                <a:uFillTx/>
                <a:latin typeface="Arial"/>
              </a:rPr>
              <a:t>를 반복하고 </a:t>
            </a:r>
            <a:r>
              <a:rPr lang="en-US" sz="2000" b="0" u="none" strike="noStrike">
                <a:solidFill>
                  <a:srgbClr val="000000"/>
                </a:solidFill>
                <a:effectLst/>
                <a:uFillTx/>
                <a:latin typeface="Arial"/>
              </a:rPr>
              <a:t>case one</a:t>
            </a:r>
            <a:r>
              <a:rPr lang="ko-KR" sz="2000" b="0" u="none" strike="noStrike">
                <a:solidFill>
                  <a:srgbClr val="000000"/>
                </a:solidFill>
                <a:effectLst/>
                <a:uFillTx/>
                <a:latin typeface="Arial"/>
              </a:rPr>
              <a:t>과 </a:t>
            </a:r>
            <a:r>
              <a:rPr lang="en-US" sz="2000" b="0" u="none" strike="noStrike">
                <a:solidFill>
                  <a:srgbClr val="000000"/>
                </a:solidFill>
                <a:effectLst/>
                <a:uFillTx/>
                <a:latin typeface="Arial"/>
              </a:rPr>
              <a:t>two sep edges</a:t>
            </a:r>
            <a:r>
              <a:rPr lang="ko-KR" sz="2000" b="0" u="none" strike="noStrike">
                <a:solidFill>
                  <a:srgbClr val="000000"/>
                </a:solidFill>
                <a:effectLst/>
                <a:uFillTx/>
                <a:latin typeface="Arial"/>
              </a:rPr>
              <a:t>를 </a:t>
            </a:r>
            <a:r>
              <a:rPr lang="en-US" sz="2000" b="0" u="none" strike="noStrike">
                <a:solidFill>
                  <a:srgbClr val="000000"/>
                </a:solidFill>
                <a:effectLst/>
                <a:uFillTx/>
                <a:latin typeface="Arial"/>
              </a:rPr>
              <a:t>F</a:t>
            </a:r>
            <a:r>
              <a:rPr lang="ko-KR" sz="2000" b="0" u="none" strike="noStrike">
                <a:solidFill>
                  <a:srgbClr val="000000"/>
                </a:solidFill>
                <a:effectLst/>
                <a:uFillTx/>
                <a:latin typeface="Arial"/>
              </a:rPr>
              <a:t>에 누적합니다</a:t>
            </a:r>
            <a:r>
              <a:rPr lang="en-US" sz="2000" b="0" u="none" strike="noStrike">
                <a:solidFill>
                  <a:srgbClr val="000000"/>
                </a:solidFill>
                <a:effectLst/>
                <a:uFillTx/>
                <a:latin typeface="Arial"/>
              </a:rPr>
              <a:t>. Edge count</a:t>
            </a:r>
            <a:r>
              <a:rPr lang="ko-KR" sz="2000" b="0" u="none" strike="noStrike">
                <a:solidFill>
                  <a:srgbClr val="000000"/>
                </a:solidFill>
                <a:effectLst/>
                <a:uFillTx/>
                <a:latin typeface="Arial"/>
              </a:rPr>
              <a:t>가 </a:t>
            </a:r>
            <a:r>
              <a:rPr lang="en-US" sz="2000" b="0" u="none" strike="noStrike">
                <a:solidFill>
                  <a:srgbClr val="000000"/>
                </a:solidFill>
                <a:effectLst/>
                <a:uFillTx/>
                <a:latin typeface="Arial"/>
              </a:rPr>
              <a:t>threshold </a:t>
            </a:r>
            <a:r>
              <a:rPr lang="ko-KR" sz="2000" b="0" u="none" strike="noStrike">
                <a:solidFill>
                  <a:srgbClr val="000000"/>
                </a:solidFill>
                <a:effectLst/>
                <a:uFillTx/>
                <a:latin typeface="Arial"/>
              </a:rPr>
              <a:t>이하이면 </a:t>
            </a:r>
            <a:r>
              <a:rPr lang="en-US" sz="2000" b="0" u="none" strike="noStrike">
                <a:solidFill>
                  <a:srgbClr val="000000"/>
                </a:solidFill>
                <a:effectLst/>
                <a:uFillTx/>
                <a:latin typeface="Arial"/>
              </a:rPr>
              <a:t>Rem</a:t>
            </a:r>
            <a:r>
              <a:rPr lang="ko-KR" sz="2000" b="0" u="none" strike="noStrike">
                <a:solidFill>
                  <a:srgbClr val="000000"/>
                </a:solidFill>
                <a:effectLst/>
                <a:uFillTx/>
                <a:latin typeface="Arial"/>
              </a:rPr>
              <a:t>을 사용합니다</a:t>
            </a:r>
            <a:r>
              <a:rPr lang="en-US" sz="2000" b="0" u="none" strike="noStrike">
                <a:solidFill>
                  <a:srgbClr val="000000"/>
                </a:solidFill>
                <a:effectLst/>
                <a:uFillTx/>
                <a:latin typeface="Arial"/>
              </a:rPr>
              <a:t>. Finishing</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remaining E</a:t>
            </a:r>
            <a:r>
              <a:rPr lang="ko-KR" sz="2000" b="0" u="none" strike="noStrike">
                <a:solidFill>
                  <a:srgbClr val="000000"/>
                </a:solidFill>
                <a:effectLst/>
                <a:uFillTx/>
                <a:latin typeface="Arial"/>
              </a:rPr>
              <a:t>와 </a:t>
            </a:r>
            <a:r>
              <a:rPr lang="en-US" sz="2000" b="0" u="none" strike="noStrike">
                <a:solidFill>
                  <a:srgbClr val="000000"/>
                </a:solidFill>
                <a:effectLst/>
                <a:uFillTx/>
                <a:latin typeface="Arial"/>
              </a:rPr>
              <a:t>F</a:t>
            </a:r>
            <a:r>
              <a:rPr lang="ko-KR" sz="2000" b="0" u="none" strike="noStrike">
                <a:solidFill>
                  <a:srgbClr val="000000"/>
                </a:solidFill>
                <a:effectLst/>
                <a:uFillTx/>
                <a:latin typeface="Arial"/>
              </a:rPr>
              <a:t>를 함께 사용해 </a:t>
            </a:r>
            <a:r>
              <a:rPr lang="en-US" sz="2000" b="0" u="none" strike="noStrike">
                <a:solidFill>
                  <a:srgbClr val="000000"/>
                </a:solidFill>
                <a:effectLst/>
                <a:uFillTx/>
                <a:latin typeface="Arial"/>
              </a:rPr>
              <a:t>final representative mapping</a:t>
            </a:r>
            <a:r>
              <a:rPr lang="ko-KR" sz="2000" b="0" u="none" strike="noStrike">
                <a:solidFill>
                  <a:srgbClr val="000000"/>
                </a:solidFill>
                <a:effectLst/>
                <a:uFillTx/>
                <a:latin typeface="Arial"/>
              </a:rPr>
              <a:t>을 만듭니다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unicon-paper | pp. 5-6, Algorithm 1 and Fig. 1</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 PLOS ONE 17(11): e0277527</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https://journals.plos.org/plosone/article?id=10.1371/journal.pone.0277527</a:t>
            </a:r>
            <a:endParaRPr lang="en-US" sz="2000" b="0" u="none" strike="noStrike">
              <a:solidFill>
                <a:srgbClr val="000000"/>
              </a:solidFill>
              <a:effectLst/>
              <a:uFillTx/>
              <a:latin typeface="Arial"/>
            </a:endParaRPr>
          </a:p>
        </p:txBody>
      </p:sp>
      <p:sp>
        <p:nvSpPr>
          <p:cNvPr id="406" name="PlaceHolder 3"/>
          <p:cNvSpPr>
            <a:spLocks noGrp="1"/>
          </p:cNvSpPr>
          <p:nvPr>
            <p:ph type="sldNum" idx="10"/>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76258A2F-EE2C-4E01-B7F4-23701D622C75}"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7" name="PlaceHolder 1"/>
          <p:cNvSpPr>
            <a:spLocks noGrp="1"/>
          </p:cNvSpPr>
          <p:nvPr>
            <p:ph type="sldImg"/>
          </p:nvPr>
        </p:nvSpPr>
        <p:spPr>
          <a:xfrm>
            <a:off x="0" y="0"/>
            <a:ext cx="0" cy="0"/>
          </a:xfrm>
          <a:prstGeom prst="rect">
            <a:avLst/>
          </a:prstGeom>
          <a:ln w="0">
            <a:noFill/>
          </a:ln>
        </p:spPr>
      </p:sp>
      <p:sp>
        <p:nvSpPr>
          <p:cNvPr id="40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8. Partition</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disjoint output group</a:t>
            </a:r>
            <a:r>
              <a:rPr lang="ko-KR" sz="2000" b="0" u="none" strike="noStrike">
                <a:solidFill>
                  <a:srgbClr val="000000"/>
                </a:solidFill>
                <a:effectLst/>
                <a:uFillTx/>
                <a:latin typeface="Arial"/>
              </a:rPr>
              <a:t>이 아니다</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UniStar</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vertices</a:t>
            </a:r>
            <a:r>
              <a:rPr lang="ko-KR" sz="2000" b="0" u="none" strike="noStrike">
                <a:solidFill>
                  <a:srgbClr val="000000"/>
                </a:solidFill>
                <a:effectLst/>
                <a:uFillTx/>
                <a:latin typeface="Arial"/>
              </a:rPr>
              <a:t>를 </a:t>
            </a:r>
            <a:r>
              <a:rPr lang="en-US" sz="2000" b="0" u="none" strike="noStrike">
                <a:solidFill>
                  <a:srgbClr val="000000"/>
                </a:solidFill>
                <a:effectLst/>
                <a:uFillTx/>
                <a:latin typeface="Arial"/>
              </a:rPr>
              <a:t>random hash</a:t>
            </a:r>
            <a:r>
              <a:rPr lang="ko-KR" sz="2000" b="0" u="none" strike="noStrike">
                <a:solidFill>
                  <a:srgbClr val="000000"/>
                </a:solidFill>
                <a:effectLst/>
                <a:uFillTx/>
                <a:latin typeface="Arial"/>
              </a:rPr>
              <a:t>로 </a:t>
            </a:r>
            <a:r>
              <a:rPr lang="en-US" sz="2000" b="0" u="none" strike="noStrike">
                <a:solidFill>
                  <a:srgbClr val="000000"/>
                </a:solidFill>
                <a:effectLst/>
                <a:uFillTx/>
                <a:latin typeface="Arial"/>
              </a:rPr>
              <a:t>partitions</a:t>
            </a:r>
            <a:r>
              <a:rPr lang="ko-KR" sz="2000" b="0" u="none" strike="noStrike">
                <a:solidFill>
                  <a:srgbClr val="000000"/>
                </a:solidFill>
                <a:effectLst/>
                <a:uFillTx/>
                <a:latin typeface="Arial"/>
              </a:rPr>
              <a:t>에 배정합니다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하지만 </a:t>
            </a:r>
            <a:r>
              <a:rPr lang="en-US" sz="2000" b="0" u="none" strike="noStrike">
                <a:solidFill>
                  <a:srgbClr val="000000"/>
                </a:solidFill>
                <a:effectLst/>
                <a:uFillTx/>
                <a:latin typeface="Arial"/>
              </a:rPr>
              <a:t>partition subgraph G_i</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vertex shard</a:t>
            </a:r>
            <a:r>
              <a:rPr lang="ko-KR" sz="2000" b="0" u="none" strike="noStrike">
                <a:solidFill>
                  <a:srgbClr val="000000"/>
                </a:solidFill>
                <a:effectLst/>
                <a:uFillTx/>
                <a:latin typeface="Arial"/>
              </a:rPr>
              <a:t>만 보는 것이 아니라 그 </a:t>
            </a:r>
            <a:r>
              <a:rPr lang="en-US" sz="2000" b="0" u="none" strike="noStrike">
                <a:solidFill>
                  <a:srgbClr val="000000"/>
                </a:solidFill>
                <a:effectLst/>
                <a:uFillTx/>
                <a:latin typeface="Arial"/>
              </a:rPr>
              <a:t>partition vertices</a:t>
            </a:r>
            <a:r>
              <a:rPr lang="ko-KR" sz="2000" b="0" u="none" strike="noStrike">
                <a:solidFill>
                  <a:srgbClr val="000000"/>
                </a:solidFill>
                <a:effectLst/>
                <a:uFillTx/>
                <a:latin typeface="Arial"/>
              </a:rPr>
              <a:t>에 </a:t>
            </a:r>
            <a:r>
              <a:rPr lang="en-US" sz="2000" b="0" u="none" strike="noStrike">
                <a:solidFill>
                  <a:srgbClr val="000000"/>
                </a:solidFill>
                <a:effectLst/>
                <a:uFillTx/>
                <a:latin typeface="Arial"/>
              </a:rPr>
              <a:t>incident</a:t>
            </a:r>
            <a:r>
              <a:rPr lang="ko-KR" sz="2000" b="0" u="none" strike="noStrike">
                <a:solidFill>
                  <a:srgbClr val="000000"/>
                </a:solidFill>
                <a:effectLst/>
                <a:uFillTx/>
                <a:latin typeface="Arial"/>
              </a:rPr>
              <a:t>한 </a:t>
            </a:r>
            <a:r>
              <a:rPr lang="en-US" sz="2000" b="0" u="none" strike="noStrike">
                <a:solidFill>
                  <a:srgbClr val="000000"/>
                </a:solidFill>
                <a:effectLst/>
                <a:uFillTx/>
                <a:latin typeface="Arial"/>
              </a:rPr>
              <a:t>edges</a:t>
            </a:r>
            <a:r>
              <a:rPr lang="ko-KR" sz="2000" b="0" u="none" strike="noStrike">
                <a:solidFill>
                  <a:srgbClr val="000000"/>
                </a:solidFill>
                <a:effectLst/>
                <a:uFillTx/>
                <a:latin typeface="Arial"/>
              </a:rPr>
              <a:t>를 모두 받습니다</a:t>
            </a:r>
            <a:r>
              <a:rPr lang="en-US" sz="2000" b="0" u="none" strike="noStrike">
                <a:solidFill>
                  <a:srgbClr val="000000"/>
                </a:solidFill>
                <a:effectLst/>
                <a:uFillTx/>
                <a:latin typeface="Arial"/>
              </a:rPr>
              <a:t>. Cross edge</a:t>
            </a:r>
            <a:r>
              <a:rPr lang="ko-KR" sz="2000" b="0" u="none" strike="noStrike">
                <a:solidFill>
                  <a:srgbClr val="000000"/>
                </a:solidFill>
                <a:effectLst/>
                <a:uFillTx/>
                <a:latin typeface="Arial"/>
              </a:rPr>
              <a:t>는 양 </a:t>
            </a:r>
            <a:r>
              <a:rPr lang="en-US" sz="2000" b="0" u="none" strike="noStrike">
                <a:solidFill>
                  <a:srgbClr val="000000"/>
                </a:solidFill>
                <a:effectLst/>
                <a:uFillTx/>
                <a:latin typeface="Arial"/>
              </a:rPr>
              <a:t>endpoint partitions</a:t>
            </a:r>
            <a:r>
              <a:rPr lang="ko-KR" sz="2000" b="0" u="none" strike="noStrike">
                <a:solidFill>
                  <a:srgbClr val="000000"/>
                </a:solidFill>
                <a:effectLst/>
                <a:uFillTx/>
                <a:latin typeface="Arial"/>
              </a:rPr>
              <a:t>의 </a:t>
            </a:r>
            <a:r>
              <a:rPr lang="en-US" sz="2000" b="0" u="none" strike="noStrike">
                <a:solidFill>
                  <a:srgbClr val="000000"/>
                </a:solidFill>
                <a:effectLst/>
                <a:uFillTx/>
                <a:latin typeface="Arial"/>
              </a:rPr>
              <a:t>local views</a:t>
            </a:r>
            <a:r>
              <a:rPr lang="ko-KR" sz="2000" b="0" u="none" strike="noStrike">
                <a:solidFill>
                  <a:srgbClr val="000000"/>
                </a:solidFill>
                <a:effectLst/>
                <a:uFillTx/>
                <a:latin typeface="Arial"/>
              </a:rPr>
              <a:t>에 들어갈 수 있습니다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이 </a:t>
            </a:r>
            <a:r>
              <a:rPr lang="en-US" sz="2000" b="0" u="none" strike="noStrike">
                <a:solidFill>
                  <a:srgbClr val="000000"/>
                </a:solidFill>
                <a:effectLst/>
                <a:uFillTx/>
                <a:latin typeface="Arial"/>
              </a:rPr>
              <a:t>overlap</a:t>
            </a:r>
            <a:r>
              <a:rPr lang="ko-KR" sz="2000" b="0" u="none" strike="noStrike">
                <a:solidFill>
                  <a:srgbClr val="000000"/>
                </a:solidFill>
                <a:effectLst/>
                <a:uFillTx/>
                <a:latin typeface="Arial"/>
              </a:rPr>
              <a:t>을 제거한 </a:t>
            </a:r>
            <a:r>
              <a:rPr lang="en-US" sz="2000" b="0" u="none" strike="noStrike">
                <a:solidFill>
                  <a:srgbClr val="000000"/>
                </a:solidFill>
                <a:effectLst/>
                <a:uFillTx/>
                <a:latin typeface="Arial"/>
              </a:rPr>
              <a:t>disjoint sharding</a:t>
            </a:r>
            <a:r>
              <a:rPr lang="ko-KR" sz="2000" b="0" u="none" strike="noStrike">
                <a:solidFill>
                  <a:srgbClr val="000000"/>
                </a:solidFill>
                <a:effectLst/>
                <a:uFillTx/>
                <a:latin typeface="Arial"/>
              </a:rPr>
              <a:t>으로 바꾸어 설명하면 </a:t>
            </a:r>
            <a:r>
              <a:rPr lang="en-US" sz="2000" b="0" u="none" strike="noStrike">
                <a:solidFill>
                  <a:srgbClr val="000000"/>
                </a:solidFill>
                <a:effectLst/>
                <a:uFillTx/>
                <a:latin typeface="Arial"/>
              </a:rPr>
              <a:t>Theorem 1</a:t>
            </a:r>
            <a:r>
              <a:rPr lang="ko-KR" sz="2000" b="0" u="none" strike="noStrike">
                <a:solidFill>
                  <a:srgbClr val="000000"/>
                </a:solidFill>
                <a:effectLst/>
                <a:uFillTx/>
                <a:latin typeface="Arial"/>
              </a:rPr>
              <a:t>의 </a:t>
            </a:r>
            <a:r>
              <a:rPr lang="en-US" sz="2000" b="0" u="none" strike="noStrike">
                <a:solidFill>
                  <a:srgbClr val="000000"/>
                </a:solidFill>
                <a:effectLst/>
                <a:uFillTx/>
                <a:latin typeface="Arial"/>
              </a:rPr>
              <a:t>connectivity-preservation </a:t>
            </a:r>
            <a:r>
              <a:rPr lang="ko-KR" sz="2000" b="0" u="none" strike="noStrike">
                <a:solidFill>
                  <a:srgbClr val="000000"/>
                </a:solidFill>
                <a:effectLst/>
                <a:uFillTx/>
                <a:latin typeface="Arial"/>
              </a:rPr>
              <a:t>논리와 </a:t>
            </a:r>
            <a:r>
              <a:rPr lang="en-US" sz="2000" b="0" u="none" strike="noStrike">
                <a:solidFill>
                  <a:srgbClr val="000000"/>
                </a:solidFill>
                <a:effectLst/>
                <a:uFillTx/>
                <a:latin typeface="Arial"/>
              </a:rPr>
              <a:t>intact-edge optimization</a:t>
            </a:r>
            <a:r>
              <a:rPr lang="ko-KR" sz="2000" b="0" u="none" strike="noStrike">
                <a:solidFill>
                  <a:srgbClr val="000000"/>
                </a:solidFill>
                <a:effectLst/>
                <a:uFillTx/>
                <a:latin typeface="Arial"/>
              </a:rPr>
              <a:t>을 모두 왜곡합니다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unicon-paper | pp. 5 and 7, Fig. 3</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 PLOS ONE 17(11): e0277527</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https://journals.plos.org/plosone/article?id=10.1371/journal.pone.0277527</a:t>
            </a:r>
            <a:endParaRPr lang="en-US" sz="2000" b="0" u="none" strike="noStrike">
              <a:solidFill>
                <a:srgbClr val="000000"/>
              </a:solidFill>
              <a:effectLst/>
              <a:uFillTx/>
              <a:latin typeface="Arial"/>
            </a:endParaRPr>
          </a:p>
        </p:txBody>
      </p:sp>
      <p:sp>
        <p:nvSpPr>
          <p:cNvPr id="409" name="PlaceHolder 3"/>
          <p:cNvSpPr>
            <a:spLocks noGrp="1"/>
          </p:cNvSpPr>
          <p:nvPr>
            <p:ph type="sldNum" idx="11"/>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1C0FD9D1-FBAC-4185-9B6D-1CFAA1D97FDC}"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0" name="PlaceHolder 1"/>
          <p:cNvSpPr>
            <a:spLocks noGrp="1"/>
          </p:cNvSpPr>
          <p:nvPr>
            <p:ph type="sldImg"/>
          </p:nvPr>
        </p:nvSpPr>
        <p:spPr>
          <a:xfrm>
            <a:off x="0" y="0"/>
            <a:ext cx="0" cy="0"/>
          </a:xfrm>
          <a:prstGeom prst="rect">
            <a:avLst/>
          </a:prstGeom>
          <a:ln w="0">
            <a:noFill/>
          </a:ln>
        </p:spPr>
      </p:sp>
      <p:sp>
        <p:nvSpPr>
          <p:cNvPr id="41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9. </a:t>
            </a:r>
            <a:r>
              <a:rPr lang="ko-KR" sz="2000" b="0" u="none" strike="noStrike">
                <a:solidFill>
                  <a:srgbClr val="000000"/>
                </a:solidFill>
                <a:effectLst/>
                <a:uFillTx/>
                <a:latin typeface="Arial"/>
              </a:rPr>
              <a:t>작은 </a:t>
            </a:r>
            <a:r>
              <a:rPr lang="en-US" sz="2000" b="0" u="none" strike="noStrike">
                <a:solidFill>
                  <a:srgbClr val="000000"/>
                </a:solidFill>
                <a:effectLst/>
                <a:uFillTx/>
                <a:latin typeface="Arial"/>
              </a:rPr>
              <a:t>path</a:t>
            </a:r>
            <a:r>
              <a:rPr lang="ko-KR" sz="2000" b="0" u="none" strike="noStrike">
                <a:solidFill>
                  <a:srgbClr val="000000"/>
                </a:solidFill>
                <a:effectLst/>
                <a:uFillTx/>
                <a:latin typeface="Arial"/>
              </a:rPr>
              <a:t>에서 </a:t>
            </a:r>
            <a:r>
              <a:rPr lang="en-US" sz="2000" b="0" u="none" strike="noStrike">
                <a:solidFill>
                  <a:srgbClr val="000000"/>
                </a:solidFill>
                <a:effectLst/>
                <a:uFillTx/>
                <a:latin typeface="Arial"/>
              </a:rPr>
              <a:t>overlap</a:t>
            </a:r>
            <a:r>
              <a:rPr lang="ko-KR" sz="2000" b="0" u="none" strike="noStrike">
                <a:solidFill>
                  <a:srgbClr val="000000"/>
                </a:solidFill>
                <a:effectLst/>
                <a:uFillTx/>
                <a:latin typeface="Arial"/>
              </a:rPr>
              <a:t>과 </a:t>
            </a:r>
            <a:r>
              <a:rPr lang="en-US" sz="2000" b="0" u="none" strike="noStrike">
                <a:solidFill>
                  <a:srgbClr val="000000"/>
                </a:solidFill>
                <a:effectLst/>
                <a:uFillTx/>
                <a:latin typeface="Arial"/>
              </a:rPr>
              <a:t>Rem </a:t>
            </a:r>
            <a:r>
              <a:rPr lang="ko-KR" sz="2000" b="0" u="none" strike="noStrike">
                <a:solidFill>
                  <a:srgbClr val="000000"/>
                </a:solidFill>
                <a:effectLst/>
                <a:uFillTx/>
                <a:latin typeface="Arial"/>
              </a:rPr>
              <a:t>따라가기</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Vertex 1</a:t>
            </a:r>
            <a:r>
              <a:rPr lang="ko-KR" sz="2000" b="0" u="none" strike="noStrike">
                <a:solidFill>
                  <a:srgbClr val="000000"/>
                </a:solidFill>
                <a:effectLst/>
                <a:uFillTx/>
                <a:latin typeface="Arial"/>
              </a:rPr>
              <a:t>과 </a:t>
            </a:r>
            <a:r>
              <a:rPr lang="en-US" sz="2000" b="0" u="none" strike="noStrike">
                <a:solidFill>
                  <a:srgbClr val="000000"/>
                </a:solidFill>
                <a:effectLst/>
                <a:uFillTx/>
                <a:latin typeface="Arial"/>
              </a:rPr>
              <a:t>6</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partition zero, vertex 4</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partition one</a:t>
            </a:r>
            <a:r>
              <a:rPr lang="ko-KR" sz="2000" b="0" u="none" strike="noStrike">
                <a:solidFill>
                  <a:srgbClr val="000000"/>
                </a:solidFill>
                <a:effectLst/>
                <a:uFillTx/>
                <a:latin typeface="Arial"/>
              </a:rPr>
              <a:t>입니다</a:t>
            </a:r>
            <a:r>
              <a:rPr lang="en-US" sz="2000" b="0" u="none" strike="noStrike">
                <a:solidFill>
                  <a:srgbClr val="000000"/>
                </a:solidFill>
                <a:effectLst/>
                <a:uFillTx/>
                <a:latin typeface="Arial"/>
              </a:rPr>
              <a:t>. G zero</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vertices 1</a:t>
            </a:r>
            <a:r>
              <a:rPr lang="ko-KR" sz="2000" b="0" u="none" strike="noStrike">
                <a:solidFill>
                  <a:srgbClr val="000000"/>
                </a:solidFill>
                <a:effectLst/>
                <a:uFillTx/>
                <a:latin typeface="Arial"/>
              </a:rPr>
              <a:t>과 </a:t>
            </a:r>
            <a:r>
              <a:rPr lang="en-US" sz="2000" b="0" u="none" strike="noStrike">
                <a:solidFill>
                  <a:srgbClr val="000000"/>
                </a:solidFill>
                <a:effectLst/>
                <a:uFillTx/>
                <a:latin typeface="Arial"/>
              </a:rPr>
              <a:t>6</a:t>
            </a:r>
            <a:r>
              <a:rPr lang="ko-KR" sz="2000" b="0" u="none" strike="noStrike">
                <a:solidFill>
                  <a:srgbClr val="000000"/>
                </a:solidFill>
                <a:effectLst/>
                <a:uFillTx/>
                <a:latin typeface="Arial"/>
              </a:rPr>
              <a:t>에 </a:t>
            </a:r>
            <a:r>
              <a:rPr lang="en-US" sz="2000" b="0" u="none" strike="noStrike">
                <a:solidFill>
                  <a:srgbClr val="000000"/>
                </a:solidFill>
                <a:effectLst/>
                <a:uFillTx/>
                <a:latin typeface="Arial"/>
              </a:rPr>
              <a:t>incident</a:t>
            </a:r>
            <a:r>
              <a:rPr lang="ko-KR" sz="2000" b="0" u="none" strike="noStrike">
                <a:solidFill>
                  <a:srgbClr val="000000"/>
                </a:solidFill>
                <a:effectLst/>
                <a:uFillTx/>
                <a:latin typeface="Arial"/>
              </a:rPr>
              <a:t>한 두 </a:t>
            </a:r>
            <a:r>
              <a:rPr lang="en-US" sz="2000" b="0" u="none" strike="noStrike">
                <a:solidFill>
                  <a:srgbClr val="000000"/>
                </a:solidFill>
                <a:effectLst/>
                <a:uFillTx/>
                <a:latin typeface="Arial"/>
              </a:rPr>
              <a:t>edges</a:t>
            </a:r>
            <a:r>
              <a:rPr lang="ko-KR" sz="2000" b="0" u="none" strike="noStrike">
                <a:solidFill>
                  <a:srgbClr val="000000"/>
                </a:solidFill>
                <a:effectLst/>
                <a:uFillTx/>
                <a:latin typeface="Arial"/>
              </a:rPr>
              <a:t>를 모두 포함합니다</a:t>
            </a:r>
            <a:r>
              <a:rPr lang="en-US" sz="2000" b="0" u="none" strike="noStrike">
                <a:solidFill>
                  <a:srgbClr val="000000"/>
                </a:solidFill>
                <a:effectLst/>
                <a:uFillTx/>
                <a:latin typeface="Arial"/>
              </a:rPr>
              <a:t>. G one</a:t>
            </a:r>
            <a:r>
              <a:rPr lang="ko-KR" sz="2000" b="0" u="none" strike="noStrike">
                <a:solidFill>
                  <a:srgbClr val="000000"/>
                </a:solidFill>
                <a:effectLst/>
                <a:uFillTx/>
                <a:latin typeface="Arial"/>
              </a:rPr>
              <a:t>도 </a:t>
            </a:r>
            <a:r>
              <a:rPr lang="en-US" sz="2000" b="0" u="none" strike="noStrike">
                <a:solidFill>
                  <a:srgbClr val="000000"/>
                </a:solidFill>
                <a:effectLst/>
                <a:uFillTx/>
                <a:latin typeface="Arial"/>
              </a:rPr>
              <a:t>vertex 4</a:t>
            </a:r>
            <a:r>
              <a:rPr lang="ko-KR" sz="2000" b="0" u="none" strike="noStrike">
                <a:solidFill>
                  <a:srgbClr val="000000"/>
                </a:solidFill>
                <a:effectLst/>
                <a:uFillTx/>
                <a:latin typeface="Arial"/>
              </a:rPr>
              <a:t>에 </a:t>
            </a:r>
            <a:r>
              <a:rPr lang="en-US" sz="2000" b="0" u="none" strike="noStrike">
                <a:solidFill>
                  <a:srgbClr val="000000"/>
                </a:solidFill>
                <a:effectLst/>
                <a:uFillTx/>
                <a:latin typeface="Arial"/>
              </a:rPr>
              <a:t>incident</a:t>
            </a:r>
            <a:r>
              <a:rPr lang="ko-KR" sz="2000" b="0" u="none" strike="noStrike">
                <a:solidFill>
                  <a:srgbClr val="000000"/>
                </a:solidFill>
                <a:effectLst/>
                <a:uFillTx/>
                <a:latin typeface="Arial"/>
              </a:rPr>
              <a:t>한 두 </a:t>
            </a:r>
            <a:r>
              <a:rPr lang="en-US" sz="2000" b="0" u="none" strike="noStrike">
                <a:solidFill>
                  <a:srgbClr val="000000"/>
                </a:solidFill>
                <a:effectLst/>
                <a:uFillTx/>
                <a:latin typeface="Arial"/>
              </a:rPr>
              <a:t>edges</a:t>
            </a:r>
            <a:r>
              <a:rPr lang="ko-KR" sz="2000" b="0" u="none" strike="noStrike">
                <a:solidFill>
                  <a:srgbClr val="000000"/>
                </a:solidFill>
                <a:effectLst/>
                <a:uFillTx/>
                <a:latin typeface="Arial"/>
              </a:rPr>
              <a:t>를 모두 포함합니다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따라서 </a:t>
            </a:r>
            <a:r>
              <a:rPr lang="en-US" sz="2000" b="0" u="none" strike="noStrike">
                <a:solidFill>
                  <a:srgbClr val="000000"/>
                </a:solidFill>
                <a:effectLst/>
                <a:uFillTx/>
                <a:latin typeface="Arial"/>
              </a:rPr>
              <a:t>local graph</a:t>
            </a:r>
            <a:r>
              <a:rPr lang="ko-KR" sz="2000" b="0" u="none" strike="noStrike">
                <a:solidFill>
                  <a:srgbClr val="000000"/>
                </a:solidFill>
                <a:effectLst/>
                <a:uFillTx/>
                <a:latin typeface="Arial"/>
              </a:rPr>
              <a:t>는 두 </a:t>
            </a:r>
            <a:r>
              <a:rPr lang="en-US" sz="2000" b="0" u="none" strike="noStrike">
                <a:solidFill>
                  <a:srgbClr val="000000"/>
                </a:solidFill>
                <a:effectLst/>
                <a:uFillTx/>
                <a:latin typeface="Arial"/>
              </a:rPr>
              <a:t>views</a:t>
            </a:r>
            <a:r>
              <a:rPr lang="ko-KR" sz="2000" b="0" u="none" strike="noStrike">
                <a:solidFill>
                  <a:srgbClr val="000000"/>
                </a:solidFill>
                <a:effectLst/>
                <a:uFillTx/>
                <a:latin typeface="Arial"/>
              </a:rPr>
              <a:t>에서 같고 </a:t>
            </a:r>
            <a:r>
              <a:rPr lang="en-US" sz="2000" b="0" u="none" strike="noStrike">
                <a:solidFill>
                  <a:srgbClr val="000000"/>
                </a:solidFill>
                <a:effectLst/>
                <a:uFillTx/>
                <a:latin typeface="Arial"/>
              </a:rPr>
              <a:t>Rem</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parent mapping one to one, four to one, six to one</a:t>
            </a:r>
            <a:r>
              <a:rPr lang="ko-KR" sz="2000" b="0" u="none" strike="noStrike">
                <a:solidFill>
                  <a:srgbClr val="000000"/>
                </a:solidFill>
                <a:effectLst/>
                <a:uFillTx/>
                <a:latin typeface="Arial"/>
              </a:rPr>
              <a:t>을 계산합니다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이 예시는 </a:t>
            </a:r>
            <a:r>
              <a:rPr lang="en-US" sz="2000" b="0" u="none" strike="noStrike">
                <a:solidFill>
                  <a:srgbClr val="000000"/>
                </a:solidFill>
                <a:effectLst/>
                <a:uFillTx/>
                <a:latin typeface="Arial"/>
              </a:rPr>
              <a:t>overlap semantics</a:t>
            </a:r>
            <a:r>
              <a:rPr lang="ko-KR" sz="2000" b="0" u="none" strike="noStrike">
                <a:solidFill>
                  <a:srgbClr val="000000"/>
                </a:solidFill>
                <a:effectLst/>
                <a:uFillTx/>
                <a:latin typeface="Arial"/>
              </a:rPr>
              <a:t>를 설명하며 각 </a:t>
            </a:r>
            <a:r>
              <a:rPr lang="en-US" sz="2000" b="0" u="none" strike="noStrike">
                <a:solidFill>
                  <a:srgbClr val="000000"/>
                </a:solidFill>
                <a:effectLst/>
                <a:uFillTx/>
                <a:latin typeface="Arial"/>
              </a:rPr>
              <a:t>edge</a:t>
            </a:r>
            <a:r>
              <a:rPr lang="ko-KR" sz="2000" b="0" u="none" strike="noStrike">
                <a:solidFill>
                  <a:srgbClr val="000000"/>
                </a:solidFill>
                <a:effectLst/>
                <a:uFillTx/>
                <a:latin typeface="Arial"/>
              </a:rPr>
              <a:t>를 </a:t>
            </a:r>
            <a:r>
              <a:rPr lang="en-US" sz="2000" b="0" u="none" strike="noStrike">
                <a:solidFill>
                  <a:srgbClr val="000000"/>
                </a:solidFill>
                <a:effectLst/>
                <a:uFillTx/>
                <a:latin typeface="Arial"/>
              </a:rPr>
              <a:t>exactly one worker</a:t>
            </a:r>
            <a:r>
              <a:rPr lang="ko-KR" sz="2000" b="0" u="none" strike="noStrike">
                <a:solidFill>
                  <a:srgbClr val="000000"/>
                </a:solidFill>
                <a:effectLst/>
                <a:uFillTx/>
                <a:latin typeface="Arial"/>
              </a:rPr>
              <a:t>에서만 처리한다는 뜻이 아닙니다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unicon-paper | pp. 7-8, Fig. 3 and Theorem 1; values illustrative</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 PLOS ONE 17(11): e0277527</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https://journals.plos.org/plosone/article?id=10.1371/journal.pone.0277527</a:t>
            </a:r>
            <a:endParaRPr lang="en-US" sz="2000" b="0" u="none" strike="noStrike">
              <a:solidFill>
                <a:srgbClr val="000000"/>
              </a:solidFill>
              <a:effectLst/>
              <a:uFillTx/>
              <a:latin typeface="Arial"/>
            </a:endParaRPr>
          </a:p>
        </p:txBody>
      </p:sp>
      <p:sp>
        <p:nvSpPr>
          <p:cNvPr id="412" name="PlaceHolder 3"/>
          <p:cNvSpPr>
            <a:spLocks noGrp="1"/>
          </p:cNvSpPr>
          <p:nvPr>
            <p:ph type="sldNum" idx="12"/>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2BAE367D-F7F8-4305-9BEB-3A0121B7D05D}"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3" name="PlaceHolder 1"/>
          <p:cNvSpPr>
            <a:spLocks noGrp="1"/>
          </p:cNvSpPr>
          <p:nvPr>
            <p:ph type="sldImg"/>
          </p:nvPr>
        </p:nvSpPr>
        <p:spPr>
          <a:xfrm>
            <a:off x="0" y="0"/>
            <a:ext cx="0" cy="0"/>
          </a:xfrm>
          <a:prstGeom prst="rect">
            <a:avLst/>
          </a:prstGeom>
          <a:ln w="0">
            <a:noFill/>
          </a:ln>
        </p:spPr>
      </p:sp>
      <p:sp>
        <p:nvSpPr>
          <p:cNvPr id="41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10. Parent mapping</a:t>
            </a:r>
            <a:r>
              <a:rPr lang="ko-KR" sz="2000" b="0" u="none" strike="noStrike">
                <a:solidFill>
                  <a:srgbClr val="000000"/>
                </a:solidFill>
                <a:effectLst/>
                <a:uFillTx/>
                <a:latin typeface="Arial"/>
              </a:rPr>
              <a:t>에서 </a:t>
            </a:r>
            <a:r>
              <a:rPr lang="en-US" sz="2000" b="0" u="none" strike="noStrike">
                <a:solidFill>
                  <a:srgbClr val="000000"/>
                </a:solidFill>
                <a:effectLst/>
                <a:uFillTx/>
                <a:latin typeface="Arial"/>
              </a:rPr>
              <a:t>output edge</a:t>
            </a:r>
            <a:r>
              <a:rPr lang="ko-KR" sz="2000" b="0" u="none" strike="noStrike">
                <a:solidFill>
                  <a:srgbClr val="000000"/>
                </a:solidFill>
                <a:effectLst/>
                <a:uFillTx/>
                <a:latin typeface="Arial"/>
              </a:rPr>
              <a:t>까지</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Input edge set</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path one to four to six</a:t>
            </a:r>
            <a:r>
              <a:rPr lang="ko-KR" sz="2000" b="0" u="none" strike="noStrike">
                <a:solidFill>
                  <a:srgbClr val="000000"/>
                </a:solidFill>
                <a:effectLst/>
                <a:uFillTx/>
                <a:latin typeface="Arial"/>
              </a:rPr>
              <a:t>입니다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각 </a:t>
            </a:r>
            <a:r>
              <a:rPr lang="en-US" sz="2000" b="0" u="none" strike="noStrike">
                <a:solidFill>
                  <a:srgbClr val="000000"/>
                </a:solidFill>
                <a:effectLst/>
                <a:uFillTx/>
                <a:latin typeface="Arial"/>
              </a:rPr>
              <a:t>local Rem parent</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all vertices</a:t>
            </a:r>
            <a:r>
              <a:rPr lang="ko-KR" sz="2000" b="0" u="none" strike="noStrike">
                <a:solidFill>
                  <a:srgbClr val="000000"/>
                </a:solidFill>
                <a:effectLst/>
                <a:uFillTx/>
                <a:latin typeface="Arial"/>
              </a:rPr>
              <a:t>를 </a:t>
            </a:r>
            <a:r>
              <a:rPr lang="en-US" sz="2000" b="0" u="none" strike="noStrike">
                <a:solidFill>
                  <a:srgbClr val="000000"/>
                </a:solidFill>
                <a:effectLst/>
                <a:uFillTx/>
                <a:latin typeface="Arial"/>
              </a:rPr>
              <a:t>one</a:t>
            </a:r>
            <a:r>
              <a:rPr lang="ko-KR" sz="2000" b="0" u="none" strike="noStrike">
                <a:solidFill>
                  <a:srgbClr val="000000"/>
                </a:solidFill>
                <a:effectLst/>
                <a:uFillTx/>
                <a:latin typeface="Arial"/>
              </a:rPr>
              <a:t>에 </a:t>
            </a:r>
            <a:r>
              <a:rPr lang="en-US" sz="2000" b="0" u="none" strike="noStrike">
                <a:solidFill>
                  <a:srgbClr val="000000"/>
                </a:solidFill>
                <a:effectLst/>
                <a:uFillTx/>
                <a:latin typeface="Arial"/>
              </a:rPr>
              <a:t>mapping</a:t>
            </a:r>
            <a:r>
              <a:rPr lang="ko-KR" sz="2000" b="0" u="none" strike="noStrike">
                <a:solidFill>
                  <a:srgbClr val="000000"/>
                </a:solidFill>
                <a:effectLst/>
                <a:uFillTx/>
                <a:latin typeface="Arial"/>
              </a:rPr>
              <a:t>합니다</a:t>
            </a:r>
            <a:r>
              <a:rPr lang="en-US" sz="2000" b="0" u="none" strike="noStrike">
                <a:solidFill>
                  <a:srgbClr val="000000"/>
                </a:solidFill>
                <a:effectLst/>
                <a:uFillTx/>
                <a:latin typeface="Arial"/>
              </a:rPr>
              <a:t>. UniStar output</a:t>
            </a:r>
            <a:r>
              <a:rPr lang="ko-KR" sz="2000" b="0" u="none" strike="noStrike">
                <a:solidFill>
                  <a:srgbClr val="000000"/>
                </a:solidFill>
                <a:effectLst/>
                <a:uFillTx/>
                <a:latin typeface="Arial"/>
              </a:rPr>
              <a:t>을 </a:t>
            </a:r>
            <a:r>
              <a:rPr lang="en-US" sz="2000" b="0" u="none" strike="noStrike">
                <a:solidFill>
                  <a:srgbClr val="000000"/>
                </a:solidFill>
                <a:effectLst/>
                <a:uFillTx/>
                <a:latin typeface="Arial"/>
              </a:rPr>
              <a:t>set union</a:t>
            </a:r>
            <a:r>
              <a:rPr lang="ko-KR" sz="2000" b="0" u="none" strike="noStrike">
                <a:solidFill>
                  <a:srgbClr val="000000"/>
                </a:solidFill>
                <a:effectLst/>
                <a:uFillTx/>
                <a:latin typeface="Arial"/>
              </a:rPr>
              <a:t>하고 </a:t>
            </a:r>
            <a:r>
              <a:rPr lang="en-US" sz="2000" b="0" u="none" strike="noStrike">
                <a:solidFill>
                  <a:srgbClr val="000000"/>
                </a:solidFill>
                <a:effectLst/>
                <a:uFillTx/>
                <a:latin typeface="Arial"/>
              </a:rPr>
              <a:t>duplicates</a:t>
            </a:r>
            <a:r>
              <a:rPr lang="ko-KR" sz="2000" b="0" u="none" strike="noStrike">
                <a:solidFill>
                  <a:srgbClr val="000000"/>
                </a:solidFill>
                <a:effectLst/>
                <a:uFillTx/>
                <a:latin typeface="Arial"/>
              </a:rPr>
              <a:t>를 제거하면 </a:t>
            </a:r>
            <a:r>
              <a:rPr lang="en-US" sz="2000" b="0" u="none" strike="noStrike">
                <a:solidFill>
                  <a:srgbClr val="000000"/>
                </a:solidFill>
                <a:effectLst/>
                <a:uFillTx/>
                <a:latin typeface="Arial"/>
              </a:rPr>
              <a:t>four to one</a:t>
            </a:r>
            <a:r>
              <a:rPr lang="ko-KR" sz="2000" b="0" u="none" strike="noStrike">
                <a:solidFill>
                  <a:srgbClr val="000000"/>
                </a:solidFill>
                <a:effectLst/>
                <a:uFillTx/>
                <a:latin typeface="Arial"/>
              </a:rPr>
              <a:t>과 </a:t>
            </a:r>
            <a:r>
              <a:rPr lang="en-US" sz="2000" b="0" u="none" strike="noStrike">
                <a:solidFill>
                  <a:srgbClr val="000000"/>
                </a:solidFill>
                <a:effectLst/>
                <a:uFillTx/>
                <a:latin typeface="Arial"/>
              </a:rPr>
              <a:t>six to one</a:t>
            </a:r>
            <a:r>
              <a:rPr lang="ko-KR" sz="2000" b="0" u="none" strike="noStrike">
                <a:solidFill>
                  <a:srgbClr val="000000"/>
                </a:solidFill>
                <a:effectLst/>
                <a:uFillTx/>
                <a:latin typeface="Arial"/>
              </a:rPr>
              <a:t>이 남습니다</a:t>
            </a:r>
            <a:r>
              <a:rPr lang="en-US" sz="2000" b="0" u="none" strike="noStrike">
                <a:solidFill>
                  <a:srgbClr val="000000"/>
                </a:solidFill>
                <a:effectLst/>
                <a:uFillTx/>
                <a:latin typeface="Arial"/>
              </a:rPr>
              <a:t>. Input</a:t>
            </a:r>
            <a:r>
              <a:rPr lang="ko-KR" sz="2000" b="0" u="none" strike="noStrike">
                <a:solidFill>
                  <a:srgbClr val="000000"/>
                </a:solidFill>
                <a:effectLst/>
                <a:uFillTx/>
                <a:latin typeface="Arial"/>
              </a:rPr>
              <a:t>과 </a:t>
            </a:r>
            <a:r>
              <a:rPr lang="en-US" sz="2000" b="0" u="none" strike="noStrike">
                <a:solidFill>
                  <a:srgbClr val="000000"/>
                </a:solidFill>
                <a:effectLst/>
                <a:uFillTx/>
                <a:latin typeface="Arial"/>
              </a:rPr>
              <a:t>output graph</a:t>
            </a:r>
            <a:r>
              <a:rPr lang="ko-KR" sz="2000" b="0" u="none" strike="noStrike">
                <a:solidFill>
                  <a:srgbClr val="000000"/>
                </a:solidFill>
                <a:effectLst/>
                <a:uFillTx/>
                <a:latin typeface="Arial"/>
              </a:rPr>
              <a:t>의 </a:t>
            </a:r>
            <a:r>
              <a:rPr lang="en-US" sz="2000" b="0" u="none" strike="noStrike">
                <a:solidFill>
                  <a:srgbClr val="000000"/>
                </a:solidFill>
                <a:effectLst/>
                <a:uFillTx/>
                <a:latin typeface="Arial"/>
              </a:rPr>
              <a:t>edge topology</a:t>
            </a:r>
            <a:r>
              <a:rPr lang="ko-KR" sz="2000" b="0" u="none" strike="noStrike">
                <a:solidFill>
                  <a:srgbClr val="000000"/>
                </a:solidFill>
                <a:effectLst/>
                <a:uFillTx/>
                <a:latin typeface="Arial"/>
              </a:rPr>
              <a:t>는 다르지만 </a:t>
            </a:r>
            <a:r>
              <a:rPr lang="en-US" sz="2000" b="0" u="none" strike="noStrike">
                <a:solidFill>
                  <a:srgbClr val="000000"/>
                </a:solidFill>
                <a:effectLst/>
                <a:uFillTx/>
                <a:latin typeface="Arial"/>
              </a:rPr>
              <a:t>connected component</a:t>
            </a:r>
            <a:r>
              <a:rPr lang="ko-KR" sz="2000" b="0" u="none" strike="noStrike">
                <a:solidFill>
                  <a:srgbClr val="000000"/>
                </a:solidFill>
                <a:effectLst/>
                <a:uFillTx/>
                <a:latin typeface="Arial"/>
              </a:rPr>
              <a:t>는 같습니다</a:t>
            </a:r>
            <a:r>
              <a:rPr lang="en-US" sz="2000" b="0" u="none" strike="noStrike">
                <a:solidFill>
                  <a:srgbClr val="000000"/>
                </a:solidFill>
                <a:effectLst/>
                <a:uFillTx/>
                <a:latin typeface="Arial"/>
              </a:rPr>
              <a:t>. Theorem 1</a:t>
            </a:r>
            <a:r>
              <a:rPr lang="ko-KR" sz="2000" b="0" u="none" strike="noStrike">
                <a:solidFill>
                  <a:srgbClr val="000000"/>
                </a:solidFill>
                <a:effectLst/>
                <a:uFillTx/>
                <a:latin typeface="Arial"/>
              </a:rPr>
              <a:t>은 각 </a:t>
            </a:r>
            <a:r>
              <a:rPr lang="en-US" sz="2000" b="0" u="none" strike="noStrike">
                <a:solidFill>
                  <a:srgbClr val="000000"/>
                </a:solidFill>
                <a:effectLst/>
                <a:uFillTx/>
                <a:latin typeface="Arial"/>
              </a:rPr>
              <a:t>local path</a:t>
            </a:r>
            <a:r>
              <a:rPr lang="ko-KR" sz="2000" b="0" u="none" strike="noStrike">
                <a:solidFill>
                  <a:srgbClr val="000000"/>
                </a:solidFill>
                <a:effectLst/>
                <a:uFillTx/>
                <a:latin typeface="Arial"/>
              </a:rPr>
              <a:t>를 </a:t>
            </a:r>
            <a:r>
              <a:rPr lang="en-US" sz="2000" b="0" u="none" strike="noStrike">
                <a:solidFill>
                  <a:srgbClr val="000000"/>
                </a:solidFill>
                <a:effectLst/>
                <a:uFillTx/>
                <a:latin typeface="Arial"/>
              </a:rPr>
              <a:t>direct </a:t>
            </a:r>
            <a:r>
              <a:rPr lang="ko-KR" sz="2000" b="0" u="none" strike="noStrike">
                <a:solidFill>
                  <a:srgbClr val="000000"/>
                </a:solidFill>
                <a:effectLst/>
                <a:uFillTx/>
                <a:latin typeface="Arial"/>
              </a:rPr>
              <a:t>또는 </a:t>
            </a:r>
            <a:r>
              <a:rPr lang="en-US" sz="2000" b="0" u="none" strike="noStrike">
                <a:solidFill>
                  <a:srgbClr val="000000"/>
                </a:solidFill>
                <a:effectLst/>
                <a:uFillTx/>
                <a:latin typeface="Arial"/>
              </a:rPr>
              <a:t>two-hop path</a:t>
            </a:r>
            <a:r>
              <a:rPr lang="ko-KR" sz="2000" b="0" u="none" strike="noStrike">
                <a:solidFill>
                  <a:srgbClr val="000000"/>
                </a:solidFill>
                <a:effectLst/>
                <a:uFillTx/>
                <a:latin typeface="Arial"/>
              </a:rPr>
              <a:t>로 대체해 이 </a:t>
            </a:r>
            <a:r>
              <a:rPr lang="en-US" sz="2000" b="0" u="none" strike="noStrike">
                <a:solidFill>
                  <a:srgbClr val="000000"/>
                </a:solidFill>
                <a:effectLst/>
                <a:uFillTx/>
                <a:latin typeface="Arial"/>
              </a:rPr>
              <a:t>connectivity</a:t>
            </a:r>
            <a:r>
              <a:rPr lang="ko-KR" sz="2000" b="0" u="none" strike="noStrike">
                <a:solidFill>
                  <a:srgbClr val="000000"/>
                </a:solidFill>
                <a:effectLst/>
                <a:uFillTx/>
                <a:latin typeface="Arial"/>
              </a:rPr>
              <a:t>를 보존함을 보입니다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unicon-paper | pp. 7-8, Theorem 1; values illustrative</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 PLOS ONE 17(11): e0277527</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https://journals.plos.org/plosone/article?id=10.1371/journal.pone.0277527</a:t>
            </a:r>
            <a:endParaRPr lang="en-US" sz="2000" b="0" u="none" strike="noStrike">
              <a:solidFill>
                <a:srgbClr val="000000"/>
              </a:solidFill>
              <a:effectLst/>
              <a:uFillTx/>
              <a:latin typeface="Arial"/>
            </a:endParaRPr>
          </a:p>
        </p:txBody>
      </p:sp>
      <p:sp>
        <p:nvSpPr>
          <p:cNvPr id="415" name="PlaceHolder 3"/>
          <p:cNvSpPr>
            <a:spLocks noGrp="1"/>
          </p:cNvSpPr>
          <p:nvPr>
            <p:ph type="sldNum" idx="13"/>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3C845018-D5B6-434F-88B8-C6D5BE242D88}"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6" name="PlaceHolder 1"/>
          <p:cNvSpPr>
            <a:spLocks noGrp="1"/>
          </p:cNvSpPr>
          <p:nvPr>
            <p:ph type="sldImg"/>
          </p:nvPr>
        </p:nvSpPr>
        <p:spPr>
          <a:xfrm>
            <a:off x="0" y="0"/>
            <a:ext cx="0" cy="0"/>
          </a:xfrm>
          <a:prstGeom prst="rect">
            <a:avLst/>
          </a:prstGeom>
          <a:ln w="0">
            <a:noFill/>
          </a:ln>
        </p:spPr>
      </p:sp>
      <p:sp>
        <p:nvSpPr>
          <p:cNvPr id="41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11. UniStar </a:t>
            </a:r>
            <a:r>
              <a:rPr lang="ko-KR" sz="2000" b="0" u="none" strike="noStrike">
                <a:solidFill>
                  <a:srgbClr val="000000"/>
                </a:solidFill>
                <a:effectLst/>
                <a:uFillTx/>
                <a:latin typeface="Arial"/>
              </a:rPr>
              <a:t>한 </a:t>
            </a:r>
            <a:r>
              <a:rPr lang="en-US" sz="2000" b="0" u="none" strike="noStrike">
                <a:solidFill>
                  <a:srgbClr val="000000"/>
                </a:solidFill>
                <a:effectLst/>
                <a:uFillTx/>
                <a:latin typeface="Arial"/>
              </a:rPr>
              <a:t>round</a:t>
            </a:r>
            <a:r>
              <a:rPr lang="ko-KR" sz="2000" b="0" u="none" strike="noStrike">
                <a:solidFill>
                  <a:srgbClr val="000000"/>
                </a:solidFill>
                <a:effectLst/>
                <a:uFillTx/>
                <a:latin typeface="Arial"/>
              </a:rPr>
              <a:t>의 실제 계산</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각 </a:t>
            </a:r>
            <a:r>
              <a:rPr lang="en-US" sz="2000" b="0" u="none" strike="noStrike">
                <a:solidFill>
                  <a:srgbClr val="000000"/>
                </a:solidFill>
                <a:effectLst/>
                <a:uFillTx/>
                <a:latin typeface="Arial"/>
              </a:rPr>
              <a:t>G_i</a:t>
            </a:r>
            <a:r>
              <a:rPr lang="ko-KR" sz="2000" b="0" u="none" strike="noStrike">
                <a:solidFill>
                  <a:srgbClr val="000000"/>
                </a:solidFill>
                <a:effectLst/>
                <a:uFillTx/>
                <a:latin typeface="Arial"/>
              </a:rPr>
              <a:t>에서 </a:t>
            </a:r>
            <a:r>
              <a:rPr lang="en-US" sz="2000" b="0" u="none" strike="noStrike">
                <a:solidFill>
                  <a:srgbClr val="000000"/>
                </a:solidFill>
                <a:effectLst/>
                <a:uFillTx/>
                <a:latin typeface="Arial"/>
              </a:rPr>
              <a:t>Rem</a:t>
            </a:r>
            <a:r>
              <a:rPr lang="ko-KR" sz="2000" b="0" u="none" strike="noStrike">
                <a:solidFill>
                  <a:srgbClr val="000000"/>
                </a:solidFill>
                <a:effectLst/>
                <a:uFillTx/>
                <a:latin typeface="Arial"/>
              </a:rPr>
              <a:t>이 </a:t>
            </a:r>
            <a:r>
              <a:rPr lang="en-US" sz="2000" b="0" u="none" strike="noStrike">
                <a:solidFill>
                  <a:srgbClr val="000000"/>
                </a:solidFill>
                <a:effectLst/>
                <a:uFillTx/>
                <a:latin typeface="Arial"/>
              </a:rPr>
              <a:t>local component minimum p of u</a:t>
            </a:r>
            <a:r>
              <a:rPr lang="ko-KR" sz="2000" b="0" u="none" strike="noStrike">
                <a:solidFill>
                  <a:srgbClr val="000000"/>
                </a:solidFill>
                <a:effectLst/>
                <a:uFillTx/>
                <a:latin typeface="Arial"/>
              </a:rPr>
              <a:t>를 계산합니다</a:t>
            </a:r>
            <a:r>
              <a:rPr lang="en-US" sz="2000" b="0" u="none" strike="noStrike">
                <a:solidFill>
                  <a:srgbClr val="000000"/>
                </a:solidFill>
                <a:effectLst/>
                <a:uFillTx/>
                <a:latin typeface="Arial"/>
              </a:rPr>
              <a:t>. Node u</a:t>
            </a:r>
            <a:r>
              <a:rPr lang="ko-KR" sz="2000" b="0" u="none" strike="noStrike">
                <a:solidFill>
                  <a:srgbClr val="000000"/>
                </a:solidFill>
                <a:effectLst/>
                <a:uFillTx/>
                <a:latin typeface="Arial"/>
              </a:rPr>
              <a:t>가 자기 </a:t>
            </a:r>
            <a:r>
              <a:rPr lang="en-US" sz="2000" b="0" u="none" strike="noStrike">
                <a:solidFill>
                  <a:srgbClr val="000000"/>
                </a:solidFill>
                <a:effectLst/>
                <a:uFillTx/>
                <a:latin typeface="Arial"/>
              </a:rPr>
              <a:t>hash partition subset</a:t>
            </a:r>
            <a:r>
              <a:rPr lang="ko-KR" sz="2000" b="0" u="none" strike="noStrike">
                <a:solidFill>
                  <a:srgbClr val="000000"/>
                </a:solidFill>
                <a:effectLst/>
                <a:uFillTx/>
                <a:latin typeface="Arial"/>
              </a:rPr>
              <a:t>의 </a:t>
            </a:r>
            <a:r>
              <a:rPr lang="en-US" sz="2000" b="0" u="none" strike="noStrike">
                <a:solidFill>
                  <a:srgbClr val="000000"/>
                </a:solidFill>
                <a:effectLst/>
                <a:uFillTx/>
                <a:latin typeface="Arial"/>
              </a:rPr>
              <a:t>minimum</a:t>
            </a:r>
            <a:r>
              <a:rPr lang="ko-KR" sz="2000" b="0" u="none" strike="noStrike">
                <a:solidFill>
                  <a:srgbClr val="000000"/>
                </a:solidFill>
                <a:effectLst/>
                <a:uFillTx/>
                <a:latin typeface="Arial"/>
              </a:rPr>
              <a:t>이 아니면 먼저 그 </a:t>
            </a:r>
            <a:r>
              <a:rPr lang="en-US" sz="2000" b="0" u="none" strike="noStrike">
                <a:solidFill>
                  <a:srgbClr val="000000"/>
                </a:solidFill>
                <a:effectLst/>
                <a:uFillTx/>
                <a:latin typeface="Arial"/>
              </a:rPr>
              <a:t>subset minimum</a:t>
            </a:r>
            <a:r>
              <a:rPr lang="ko-KR" sz="2000" b="0" u="none" strike="noStrike">
                <a:solidFill>
                  <a:srgbClr val="000000"/>
                </a:solidFill>
                <a:effectLst/>
                <a:uFillTx/>
                <a:latin typeface="Arial"/>
              </a:rPr>
              <a:t>에 연결되고</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그 </a:t>
            </a:r>
            <a:r>
              <a:rPr lang="en-US" sz="2000" b="0" u="none" strike="noStrike">
                <a:solidFill>
                  <a:srgbClr val="000000"/>
                </a:solidFill>
                <a:effectLst/>
                <a:uFillTx/>
                <a:latin typeface="Arial"/>
              </a:rPr>
              <a:t>local minimum</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p of u</a:t>
            </a:r>
            <a:r>
              <a:rPr lang="ko-KR" sz="2000" b="0" u="none" strike="noStrike">
                <a:solidFill>
                  <a:srgbClr val="000000"/>
                </a:solidFill>
                <a:effectLst/>
                <a:uFillTx/>
                <a:latin typeface="Arial"/>
              </a:rPr>
              <a:t>에 연결됩니다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이 </a:t>
            </a:r>
            <a:r>
              <a:rPr lang="en-US" sz="2000" b="0" u="none" strike="noStrike">
                <a:solidFill>
                  <a:srgbClr val="000000"/>
                </a:solidFill>
                <a:effectLst/>
                <a:uFillTx/>
                <a:latin typeface="Arial"/>
              </a:rPr>
              <a:t>two-hop structure</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load concentration</a:t>
            </a:r>
            <a:r>
              <a:rPr lang="ko-KR" sz="2000" b="0" u="none" strike="noStrike">
                <a:solidFill>
                  <a:srgbClr val="000000"/>
                </a:solidFill>
                <a:effectLst/>
                <a:uFillTx/>
                <a:latin typeface="Arial"/>
              </a:rPr>
              <a:t>을 줄이면서 </a:t>
            </a:r>
            <a:r>
              <a:rPr lang="en-US" sz="2000" b="0" u="none" strike="noStrike">
                <a:solidFill>
                  <a:srgbClr val="000000"/>
                </a:solidFill>
                <a:effectLst/>
                <a:uFillTx/>
                <a:latin typeface="Arial"/>
              </a:rPr>
              <a:t>local component connectivity</a:t>
            </a:r>
            <a:r>
              <a:rPr lang="ko-KR" sz="2000" b="0" u="none" strike="noStrike">
                <a:solidFill>
                  <a:srgbClr val="000000"/>
                </a:solidFill>
                <a:effectLst/>
                <a:uFillTx/>
                <a:latin typeface="Arial"/>
              </a:rPr>
              <a:t>를 유지합니다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모든 </a:t>
            </a:r>
            <a:r>
              <a:rPr lang="en-US" sz="2000" b="0" u="none" strike="noStrike">
                <a:solidFill>
                  <a:srgbClr val="000000"/>
                </a:solidFill>
                <a:effectLst/>
                <a:uFillTx/>
                <a:latin typeface="Arial"/>
              </a:rPr>
              <a:t>local output edge sets</a:t>
            </a:r>
            <a:r>
              <a:rPr lang="ko-KR" sz="2000" b="0" u="none" strike="noStrike">
                <a:solidFill>
                  <a:srgbClr val="000000"/>
                </a:solidFill>
                <a:effectLst/>
                <a:uFillTx/>
                <a:latin typeface="Arial"/>
              </a:rPr>
              <a:t>를 </a:t>
            </a:r>
            <a:r>
              <a:rPr lang="en-US" sz="2000" b="0" u="none" strike="noStrike">
                <a:solidFill>
                  <a:srgbClr val="000000"/>
                </a:solidFill>
                <a:effectLst/>
                <a:uFillTx/>
                <a:latin typeface="Arial"/>
              </a:rPr>
              <a:t>union</a:t>
            </a:r>
            <a:r>
              <a:rPr lang="ko-KR" sz="2000" b="0" u="none" strike="noStrike">
                <a:solidFill>
                  <a:srgbClr val="000000"/>
                </a:solidFill>
                <a:effectLst/>
                <a:uFillTx/>
                <a:latin typeface="Arial"/>
              </a:rPr>
              <a:t>해 </a:t>
            </a:r>
            <a:r>
              <a:rPr lang="en-US" sz="2000" b="0" u="none" strike="noStrike">
                <a:solidFill>
                  <a:srgbClr val="000000"/>
                </a:solidFill>
                <a:effectLst/>
                <a:uFillTx/>
                <a:latin typeface="Arial"/>
              </a:rPr>
              <a:t>next graph</a:t>
            </a:r>
            <a:r>
              <a:rPr lang="ko-KR" sz="2000" b="0" u="none" strike="noStrike">
                <a:solidFill>
                  <a:srgbClr val="000000"/>
                </a:solidFill>
                <a:effectLst/>
                <a:uFillTx/>
                <a:latin typeface="Arial"/>
              </a:rPr>
              <a:t>를 만듭니다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unicon-paper | pp. 7-8, Fig. 3 and Theorem 1</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 PLOS ONE 17(11): e0277527</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https://journals.plos.org/plosone/article?id=10.1371/journal.pone.0277527</a:t>
            </a:r>
            <a:endParaRPr lang="en-US" sz="2000" b="0" u="none" strike="noStrike">
              <a:solidFill>
                <a:srgbClr val="000000"/>
              </a:solidFill>
              <a:effectLst/>
              <a:uFillTx/>
              <a:latin typeface="Arial"/>
            </a:endParaRPr>
          </a:p>
        </p:txBody>
      </p:sp>
      <p:sp>
        <p:nvSpPr>
          <p:cNvPr id="418" name="PlaceHolder 3"/>
          <p:cNvSpPr>
            <a:spLocks noGrp="1"/>
          </p:cNvSpPr>
          <p:nvPr>
            <p:ph type="sldNum" idx="14"/>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B7267F90-66D4-41B5-96F2-16EA284A72C5}"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9" name="PlaceHolder 1"/>
          <p:cNvSpPr>
            <a:spLocks noGrp="1"/>
          </p:cNvSpPr>
          <p:nvPr>
            <p:ph type="sldImg"/>
          </p:nvPr>
        </p:nvSpPr>
        <p:spPr>
          <a:xfrm>
            <a:off x="0" y="0"/>
            <a:ext cx="0" cy="0"/>
          </a:xfrm>
          <a:prstGeom prst="rect">
            <a:avLst/>
          </a:prstGeom>
          <a:ln w="0">
            <a:noFill/>
          </a:ln>
        </p:spPr>
      </p:sp>
      <p:sp>
        <p:nvSpPr>
          <p:cNvPr id="42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12. Intact tag</a:t>
            </a:r>
            <a:r>
              <a:rPr lang="ko-KR" sz="2000" b="0" u="none" strike="noStrike">
                <a:solidFill>
                  <a:srgbClr val="000000"/>
                </a:solidFill>
                <a:effectLst/>
                <a:uFillTx/>
                <a:latin typeface="Arial"/>
              </a:rPr>
              <a:t>가 </a:t>
            </a:r>
            <a:r>
              <a:rPr lang="en-US" sz="2000" b="0" u="none" strike="noStrike">
                <a:solidFill>
                  <a:srgbClr val="000000"/>
                </a:solidFill>
                <a:effectLst/>
                <a:uFillTx/>
                <a:latin typeface="Arial"/>
              </a:rPr>
              <a:t>duplicate input</a:t>
            </a:r>
            <a:r>
              <a:rPr lang="ko-KR" sz="2000" b="0" u="none" strike="noStrike">
                <a:solidFill>
                  <a:srgbClr val="000000"/>
                </a:solidFill>
                <a:effectLst/>
                <a:uFillTx/>
                <a:latin typeface="Arial"/>
              </a:rPr>
              <a:t>을 줄인다</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일반 </a:t>
            </a:r>
            <a:r>
              <a:rPr lang="en-US" sz="2000" b="0" u="none" strike="noStrike">
                <a:solidFill>
                  <a:srgbClr val="000000"/>
                </a:solidFill>
                <a:effectLst/>
                <a:uFillTx/>
                <a:latin typeface="Arial"/>
              </a:rPr>
              <a:t>cross-partition edge</a:t>
            </a:r>
            <a:r>
              <a:rPr lang="ko-KR" sz="2000" b="0" u="none" strike="noStrike">
                <a:solidFill>
                  <a:srgbClr val="000000"/>
                </a:solidFill>
                <a:effectLst/>
                <a:uFillTx/>
                <a:latin typeface="Arial"/>
              </a:rPr>
              <a:t>는 두 </a:t>
            </a:r>
            <a:r>
              <a:rPr lang="en-US" sz="2000" b="0" u="none" strike="noStrike">
                <a:solidFill>
                  <a:srgbClr val="000000"/>
                </a:solidFill>
                <a:effectLst/>
                <a:uFillTx/>
                <a:latin typeface="Arial"/>
              </a:rPr>
              <a:t>endpoint partition keys</a:t>
            </a:r>
            <a:r>
              <a:rPr lang="ko-KR" sz="2000" b="0" u="none" strike="noStrike">
                <a:solidFill>
                  <a:srgbClr val="000000"/>
                </a:solidFill>
                <a:effectLst/>
                <a:uFillTx/>
                <a:latin typeface="Arial"/>
              </a:rPr>
              <a:t>로 </a:t>
            </a:r>
            <a:r>
              <a:rPr lang="en-US" sz="2000" b="0" u="none" strike="noStrike">
                <a:solidFill>
                  <a:srgbClr val="000000"/>
                </a:solidFill>
                <a:effectLst/>
                <a:uFillTx/>
                <a:latin typeface="Arial"/>
              </a:rPr>
              <a:t>emit</a:t>
            </a:r>
            <a:r>
              <a:rPr lang="ko-KR" sz="2000" b="0" u="none" strike="noStrike">
                <a:solidFill>
                  <a:srgbClr val="000000"/>
                </a:solidFill>
                <a:effectLst/>
                <a:uFillTx/>
                <a:latin typeface="Arial"/>
              </a:rPr>
              <a:t>됩니다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이전 </a:t>
            </a:r>
            <a:r>
              <a:rPr lang="en-US" sz="2000" b="0" u="none" strike="noStrike">
                <a:solidFill>
                  <a:srgbClr val="000000"/>
                </a:solidFill>
                <a:effectLst/>
                <a:uFillTx/>
                <a:latin typeface="Arial"/>
              </a:rPr>
              <a:t>round</a:t>
            </a:r>
            <a:r>
              <a:rPr lang="ko-KR" sz="2000" b="0" u="none" strike="noStrike">
                <a:solidFill>
                  <a:srgbClr val="000000"/>
                </a:solidFill>
                <a:effectLst/>
                <a:uFillTx/>
                <a:latin typeface="Arial"/>
              </a:rPr>
              <a:t>에서 </a:t>
            </a:r>
            <a:r>
              <a:rPr lang="en-US" sz="2000" b="0" u="none" strike="noStrike">
                <a:solidFill>
                  <a:srgbClr val="000000"/>
                </a:solidFill>
                <a:effectLst/>
                <a:uFillTx/>
                <a:latin typeface="Arial"/>
              </a:rPr>
              <a:t>partition i</a:t>
            </a:r>
            <a:r>
              <a:rPr lang="ko-KR" sz="2000" b="0" u="none" strike="noStrike">
                <a:solidFill>
                  <a:srgbClr val="000000"/>
                </a:solidFill>
                <a:effectLst/>
                <a:uFillTx/>
                <a:latin typeface="Arial"/>
              </a:rPr>
              <a:t>의 </a:t>
            </a:r>
            <a:r>
              <a:rPr lang="en-US" sz="2000" b="0" u="none" strike="noStrike">
                <a:solidFill>
                  <a:srgbClr val="000000"/>
                </a:solidFill>
                <a:effectLst/>
                <a:uFillTx/>
                <a:latin typeface="Arial"/>
              </a:rPr>
              <a:t>output edge</a:t>
            </a:r>
            <a:r>
              <a:rPr lang="ko-KR" sz="2000" b="0" u="none" strike="noStrike">
                <a:solidFill>
                  <a:srgbClr val="000000"/>
                </a:solidFill>
                <a:effectLst/>
                <a:uFillTx/>
                <a:latin typeface="Arial"/>
              </a:rPr>
              <a:t>가 </a:t>
            </a:r>
            <a:r>
              <a:rPr lang="en-US" sz="2000" b="0" u="none" strike="noStrike">
                <a:solidFill>
                  <a:srgbClr val="000000"/>
                </a:solidFill>
                <a:effectLst/>
                <a:uFillTx/>
                <a:latin typeface="Arial"/>
              </a:rPr>
              <a:t>unchanged</a:t>
            </a:r>
            <a:r>
              <a:rPr lang="ko-KR" sz="2000" b="0" u="none" strike="noStrike">
                <a:solidFill>
                  <a:srgbClr val="000000"/>
                </a:solidFill>
                <a:effectLst/>
                <a:uFillTx/>
                <a:latin typeface="Arial"/>
              </a:rPr>
              <a:t>라 </a:t>
            </a:r>
            <a:r>
              <a:rPr lang="en-US" sz="2000" b="0" u="none" strike="noStrike">
                <a:solidFill>
                  <a:srgbClr val="000000"/>
                </a:solidFill>
                <a:effectLst/>
                <a:uFillTx/>
                <a:latin typeface="Arial"/>
              </a:rPr>
              <a:t>intact tag</a:t>
            </a:r>
            <a:r>
              <a:rPr lang="ko-KR" sz="2000" b="0" u="none" strike="noStrike">
                <a:solidFill>
                  <a:srgbClr val="000000"/>
                </a:solidFill>
                <a:effectLst/>
                <a:uFillTx/>
                <a:latin typeface="Arial"/>
              </a:rPr>
              <a:t>를 받으면 다음 </a:t>
            </a:r>
            <a:r>
              <a:rPr lang="en-US" sz="2000" b="0" u="none" strike="noStrike">
                <a:solidFill>
                  <a:srgbClr val="000000"/>
                </a:solidFill>
                <a:effectLst/>
                <a:uFillTx/>
                <a:latin typeface="Arial"/>
              </a:rPr>
              <a:t>round</a:t>
            </a:r>
            <a:r>
              <a:rPr lang="ko-KR" sz="2000" b="0" u="none" strike="noStrike">
                <a:solidFill>
                  <a:srgbClr val="000000"/>
                </a:solidFill>
                <a:effectLst/>
                <a:uFillTx/>
                <a:latin typeface="Arial"/>
              </a:rPr>
              <a:t>에서 그 </a:t>
            </a:r>
            <a:r>
              <a:rPr lang="en-US" sz="2000" b="0" u="none" strike="noStrike">
                <a:solidFill>
                  <a:srgbClr val="000000"/>
                </a:solidFill>
                <a:effectLst/>
                <a:uFillTx/>
                <a:latin typeface="Arial"/>
              </a:rPr>
              <a:t>edge</a:t>
            </a:r>
            <a:r>
              <a:rPr lang="ko-KR" sz="2000" b="0" u="none" strike="noStrike">
                <a:solidFill>
                  <a:srgbClr val="000000"/>
                </a:solidFill>
                <a:effectLst/>
                <a:uFillTx/>
                <a:latin typeface="Arial"/>
              </a:rPr>
              <a:t>를 다른 </a:t>
            </a:r>
            <a:r>
              <a:rPr lang="en-US" sz="2000" b="0" u="none" strike="noStrike">
                <a:solidFill>
                  <a:srgbClr val="000000"/>
                </a:solidFill>
                <a:effectLst/>
                <a:uFillTx/>
                <a:latin typeface="Arial"/>
              </a:rPr>
              <a:t>local subgraph</a:t>
            </a:r>
            <a:r>
              <a:rPr lang="ko-KR" sz="2000" b="0" u="none" strike="noStrike">
                <a:solidFill>
                  <a:srgbClr val="000000"/>
                </a:solidFill>
                <a:effectLst/>
                <a:uFillTx/>
                <a:latin typeface="Arial"/>
              </a:rPr>
              <a:t>에 다시 복제하지 않습니다</a:t>
            </a:r>
            <a:r>
              <a:rPr lang="en-US" sz="2000" b="0" u="none" strike="noStrike">
                <a:solidFill>
                  <a:srgbClr val="000000"/>
                </a:solidFill>
                <a:effectLst/>
                <a:uFillTx/>
                <a:latin typeface="Arial"/>
              </a:rPr>
              <a:t>. Figure 4</a:t>
            </a:r>
            <a:r>
              <a:rPr lang="ko-KR" sz="2000" b="0" u="none" strike="noStrike">
                <a:solidFill>
                  <a:srgbClr val="000000"/>
                </a:solidFill>
                <a:effectLst/>
                <a:uFillTx/>
                <a:latin typeface="Arial"/>
              </a:rPr>
              <a:t>의 </a:t>
            </a:r>
            <a:r>
              <a:rPr lang="en-US" sz="2000" b="0" u="none" strike="noStrike">
                <a:solidFill>
                  <a:srgbClr val="000000"/>
                </a:solidFill>
                <a:effectLst/>
                <a:uFillTx/>
                <a:latin typeface="Arial"/>
              </a:rPr>
              <a:t>edge 4 comma 1</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one view</a:t>
            </a:r>
            <a:r>
              <a:rPr lang="ko-KR" sz="2000" b="0" u="none" strike="noStrike">
                <a:solidFill>
                  <a:srgbClr val="000000"/>
                </a:solidFill>
                <a:effectLst/>
                <a:uFillTx/>
                <a:latin typeface="Arial"/>
              </a:rPr>
              <a:t>에만 남습니다</a:t>
            </a:r>
            <a:r>
              <a:rPr lang="en-US" sz="2000" b="0" u="none" strike="noStrike">
                <a:solidFill>
                  <a:srgbClr val="000000"/>
                </a:solidFill>
                <a:effectLst/>
                <a:uFillTx/>
                <a:latin typeface="Arial"/>
              </a:rPr>
              <a:t>. Reduce</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tags</a:t>
            </a:r>
            <a:r>
              <a:rPr lang="ko-KR" sz="2000" b="0" u="none" strike="noStrike">
                <a:solidFill>
                  <a:srgbClr val="000000"/>
                </a:solidFill>
                <a:effectLst/>
                <a:uFillTx/>
                <a:latin typeface="Arial"/>
              </a:rPr>
              <a:t>를 </a:t>
            </a:r>
            <a:r>
              <a:rPr lang="en-US" sz="2000" b="0" u="none" strike="noStrike">
                <a:solidFill>
                  <a:srgbClr val="000000"/>
                </a:solidFill>
                <a:effectLst/>
                <a:uFillTx/>
                <a:latin typeface="Arial"/>
              </a:rPr>
              <a:t>clear</a:t>
            </a:r>
            <a:r>
              <a:rPr lang="ko-KR" sz="2000" b="0" u="none" strike="noStrike">
                <a:solidFill>
                  <a:srgbClr val="000000"/>
                </a:solidFill>
                <a:effectLst/>
                <a:uFillTx/>
                <a:latin typeface="Arial"/>
              </a:rPr>
              <a:t>한 뒤 이번 </a:t>
            </a:r>
            <a:r>
              <a:rPr lang="en-US" sz="2000" b="0" u="none" strike="noStrike">
                <a:solidFill>
                  <a:srgbClr val="000000"/>
                </a:solidFill>
                <a:effectLst/>
                <a:uFillTx/>
                <a:latin typeface="Arial"/>
              </a:rPr>
              <a:t>round</a:t>
            </a:r>
            <a:r>
              <a:rPr lang="ko-KR" sz="2000" b="0" u="none" strike="noStrike">
                <a:solidFill>
                  <a:srgbClr val="000000"/>
                </a:solidFill>
                <a:effectLst/>
                <a:uFillTx/>
                <a:latin typeface="Arial"/>
              </a:rPr>
              <a:t>의 </a:t>
            </a:r>
            <a:r>
              <a:rPr lang="en-US" sz="2000" b="0" u="none" strike="noStrike">
                <a:solidFill>
                  <a:srgbClr val="000000"/>
                </a:solidFill>
                <a:effectLst/>
                <a:uFillTx/>
                <a:latin typeface="Arial"/>
              </a:rPr>
              <a:t>changed set</a:t>
            </a:r>
            <a:r>
              <a:rPr lang="ko-KR" sz="2000" b="0" u="none" strike="noStrike">
                <a:solidFill>
                  <a:srgbClr val="000000"/>
                </a:solidFill>
                <a:effectLst/>
                <a:uFillTx/>
                <a:latin typeface="Arial"/>
              </a:rPr>
              <a:t>을 기준으로 새 </a:t>
            </a:r>
            <a:r>
              <a:rPr lang="en-US" sz="2000" b="0" u="none" strike="noStrike">
                <a:solidFill>
                  <a:srgbClr val="000000"/>
                </a:solidFill>
                <a:effectLst/>
                <a:uFillTx/>
                <a:latin typeface="Arial"/>
              </a:rPr>
              <a:t>tags</a:t>
            </a:r>
            <a:r>
              <a:rPr lang="ko-KR" sz="2000" b="0" u="none" strike="noStrike">
                <a:solidFill>
                  <a:srgbClr val="000000"/>
                </a:solidFill>
                <a:effectLst/>
                <a:uFillTx/>
                <a:latin typeface="Arial"/>
              </a:rPr>
              <a:t>를 붙입니다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unicon-paper | pp. 8-9, Fig. 4 and Algorithm 2 lines 1-4</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 PLOS ONE 17(11): e0277527</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https://journals.plos.org/plosone/article?id=10.1371/journal.pone.0277527</a:t>
            </a:r>
            <a:endParaRPr lang="en-US" sz="2000" b="0" u="none" strike="noStrike">
              <a:solidFill>
                <a:srgbClr val="000000"/>
              </a:solidFill>
              <a:effectLst/>
              <a:uFillTx/>
              <a:latin typeface="Arial"/>
            </a:endParaRPr>
          </a:p>
        </p:txBody>
      </p:sp>
      <p:sp>
        <p:nvSpPr>
          <p:cNvPr id="421" name="PlaceHolder 3"/>
          <p:cNvSpPr>
            <a:spLocks noGrp="1"/>
          </p:cNvSpPr>
          <p:nvPr>
            <p:ph type="sldNum" idx="15"/>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B52FB780-0C89-4364-8CE4-829C06D90859}"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2" name="PlaceHolder 1"/>
          <p:cNvSpPr>
            <a:spLocks noGrp="1"/>
          </p:cNvSpPr>
          <p:nvPr>
            <p:ph type="sldImg"/>
          </p:nvPr>
        </p:nvSpPr>
        <p:spPr>
          <a:xfrm>
            <a:off x="0" y="0"/>
            <a:ext cx="0" cy="0"/>
          </a:xfrm>
          <a:prstGeom prst="rect">
            <a:avLst/>
          </a:prstGeom>
          <a:ln w="0">
            <a:noFill/>
          </a:ln>
        </p:spPr>
      </p:sp>
      <p:sp>
        <p:nvSpPr>
          <p:cNvPr id="42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13. UniStar-opt</a:t>
            </a:r>
            <a:r>
              <a:rPr lang="ko-KR" sz="2000" b="0" u="none" strike="noStrike">
                <a:solidFill>
                  <a:srgbClr val="000000"/>
                </a:solidFill>
                <a:effectLst/>
                <a:uFillTx/>
                <a:latin typeface="Arial"/>
              </a:rPr>
              <a:t>의 세 </a:t>
            </a:r>
            <a:r>
              <a:rPr lang="en-US" sz="2000" b="0" u="none" strike="noStrike">
                <a:solidFill>
                  <a:srgbClr val="000000"/>
                </a:solidFill>
                <a:effectLst/>
                <a:uFillTx/>
                <a:latin typeface="Arial"/>
              </a:rPr>
              <a:t>filtering cases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Case one</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same-partition edge</a:t>
            </a:r>
            <a:r>
              <a:rPr lang="ko-KR" sz="2000" b="0" u="none" strike="noStrike">
                <a:solidFill>
                  <a:srgbClr val="000000"/>
                </a:solidFill>
                <a:effectLst/>
                <a:uFillTx/>
                <a:latin typeface="Arial"/>
              </a:rPr>
              <a:t>에서 </a:t>
            </a:r>
            <a:r>
              <a:rPr lang="en-US" sz="2000" b="0" u="none" strike="noStrike">
                <a:solidFill>
                  <a:srgbClr val="000000"/>
                </a:solidFill>
                <a:effectLst/>
                <a:uFillTx/>
                <a:latin typeface="Arial"/>
              </a:rPr>
              <a:t>u</a:t>
            </a:r>
            <a:r>
              <a:rPr lang="ko-KR" sz="2000" b="0" u="none" strike="noStrike">
                <a:solidFill>
                  <a:srgbClr val="000000"/>
                </a:solidFill>
                <a:effectLst/>
                <a:uFillTx/>
                <a:latin typeface="Arial"/>
              </a:rPr>
              <a:t>에게 </a:t>
            </a:r>
            <a:r>
              <a:rPr lang="en-US" sz="2000" b="0" u="none" strike="noStrike">
                <a:solidFill>
                  <a:srgbClr val="000000"/>
                </a:solidFill>
                <a:effectLst/>
                <a:uFillTx/>
                <a:latin typeface="Arial"/>
              </a:rPr>
              <a:t>following neighbor</a:t>
            </a:r>
            <a:r>
              <a:rPr lang="ko-KR" sz="2000" b="0" u="none" strike="noStrike">
                <a:solidFill>
                  <a:srgbClr val="000000"/>
                </a:solidFill>
                <a:effectLst/>
                <a:uFillTx/>
                <a:latin typeface="Arial"/>
              </a:rPr>
              <a:t>가 없는 경우입니다</a:t>
            </a:r>
            <a:r>
              <a:rPr lang="en-US" sz="2000" b="0" u="none" strike="noStrike">
                <a:solidFill>
                  <a:srgbClr val="000000"/>
                </a:solidFill>
                <a:effectLst/>
                <a:uFillTx/>
                <a:latin typeface="Arial"/>
              </a:rPr>
              <a:t>. Case two</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xi(v)=i, </a:t>
            </a:r>
            <a:r>
              <a:rPr lang="ko-KR" sz="2000" b="0" u="none" strike="noStrike">
                <a:solidFill>
                  <a:srgbClr val="000000"/>
                </a:solidFill>
                <a:effectLst/>
                <a:uFillTx/>
                <a:latin typeface="Arial"/>
              </a:rPr>
              <a:t>즉 </a:t>
            </a:r>
            <a:r>
              <a:rPr lang="en-US" sz="2000" b="0" u="none" strike="noStrike">
                <a:solidFill>
                  <a:srgbClr val="000000"/>
                </a:solidFill>
                <a:effectLst/>
                <a:uFillTx/>
                <a:latin typeface="Arial"/>
              </a:rPr>
              <a:t>v</a:t>
            </a:r>
            <a:r>
              <a:rPr lang="ko-KR" sz="2000" b="0" u="none" strike="noStrike">
                <a:solidFill>
                  <a:srgbClr val="000000"/>
                </a:solidFill>
                <a:effectLst/>
                <a:uFillTx/>
                <a:latin typeface="Arial"/>
              </a:rPr>
              <a:t>가 </a:t>
            </a:r>
            <a:r>
              <a:rPr lang="en-US" sz="2000" b="0" u="none" strike="noStrike">
                <a:solidFill>
                  <a:srgbClr val="000000"/>
                </a:solidFill>
                <a:effectLst/>
                <a:uFillTx/>
                <a:latin typeface="Arial"/>
              </a:rPr>
              <a:t>partition i</a:t>
            </a:r>
            <a:r>
              <a:rPr lang="ko-KR" sz="2000" b="0" u="none" strike="noStrike">
                <a:solidFill>
                  <a:srgbClr val="000000"/>
                </a:solidFill>
                <a:effectLst/>
                <a:uFillTx/>
                <a:latin typeface="Arial"/>
              </a:rPr>
              <a:t>에 속하고 </a:t>
            </a:r>
            <a:r>
              <a:rPr lang="en-US" sz="2000" b="0" u="none" strike="noStrike">
                <a:solidFill>
                  <a:srgbClr val="000000"/>
                </a:solidFill>
                <a:effectLst/>
                <a:uFillTx/>
                <a:latin typeface="Arial"/>
              </a:rPr>
              <a:t>G_i</a:t>
            </a:r>
            <a:r>
              <a:rPr lang="ko-KR" sz="2000" b="0" u="none" strike="noStrike">
                <a:solidFill>
                  <a:srgbClr val="000000"/>
                </a:solidFill>
                <a:effectLst/>
                <a:uFillTx/>
                <a:latin typeface="Arial"/>
              </a:rPr>
              <a:t>에서 </a:t>
            </a:r>
            <a:r>
              <a:rPr lang="en-US" sz="2000" b="0" u="none" strike="noStrike">
                <a:solidFill>
                  <a:srgbClr val="000000"/>
                </a:solidFill>
                <a:effectLst/>
                <a:uFillTx/>
                <a:latin typeface="Arial"/>
              </a:rPr>
              <a:t>v</a:t>
            </a:r>
            <a:r>
              <a:rPr lang="ko-KR" sz="2000" b="0" u="none" strike="noStrike">
                <a:solidFill>
                  <a:srgbClr val="000000"/>
                </a:solidFill>
                <a:effectLst/>
                <a:uFillTx/>
                <a:latin typeface="Arial"/>
              </a:rPr>
              <a:t>의 모든 </a:t>
            </a:r>
            <a:r>
              <a:rPr lang="en-US" sz="2000" b="0" u="none" strike="noStrike">
                <a:solidFill>
                  <a:srgbClr val="000000"/>
                </a:solidFill>
                <a:effectLst/>
                <a:uFillTx/>
                <a:latin typeface="Arial"/>
              </a:rPr>
              <a:t>incident edges</a:t>
            </a:r>
            <a:r>
              <a:rPr lang="ko-KR" sz="2000" b="0" u="none" strike="noStrike">
                <a:solidFill>
                  <a:srgbClr val="000000"/>
                </a:solidFill>
                <a:effectLst/>
                <a:uFillTx/>
                <a:latin typeface="Arial"/>
              </a:rPr>
              <a:t>가 </a:t>
            </a:r>
            <a:r>
              <a:rPr lang="en-US" sz="2000" b="0" u="none" strike="noStrike">
                <a:solidFill>
                  <a:srgbClr val="000000"/>
                </a:solidFill>
                <a:effectLst/>
                <a:uFillTx/>
                <a:latin typeface="Arial"/>
              </a:rPr>
              <a:t>intact</a:t>
            </a:r>
            <a:r>
              <a:rPr lang="ko-KR" sz="2000" b="0" u="none" strike="noStrike">
                <a:solidFill>
                  <a:srgbClr val="000000"/>
                </a:solidFill>
                <a:effectLst/>
                <a:uFillTx/>
                <a:latin typeface="Arial"/>
              </a:rPr>
              <a:t>인 경우입니다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두 </a:t>
            </a:r>
            <a:r>
              <a:rPr lang="en-US" sz="2000" b="0" u="none" strike="noStrike">
                <a:solidFill>
                  <a:srgbClr val="000000"/>
                </a:solidFill>
                <a:effectLst/>
                <a:uFillTx/>
                <a:latin typeface="Arial"/>
              </a:rPr>
              <a:t>cases</a:t>
            </a:r>
            <a:r>
              <a:rPr lang="ko-KR" sz="2000" b="0" u="none" strike="noStrike">
                <a:solidFill>
                  <a:srgbClr val="000000"/>
                </a:solidFill>
                <a:effectLst/>
                <a:uFillTx/>
                <a:latin typeface="Arial"/>
              </a:rPr>
              <a:t>의 </a:t>
            </a:r>
            <a:r>
              <a:rPr lang="en-US" sz="2000" b="0" u="none" strike="noStrike">
                <a:solidFill>
                  <a:srgbClr val="000000"/>
                </a:solidFill>
                <a:effectLst/>
                <a:uFillTx/>
                <a:latin typeface="Arial"/>
              </a:rPr>
              <a:t>edges</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subsequent rounds</a:t>
            </a:r>
            <a:r>
              <a:rPr lang="ko-KR" sz="2000" b="0" u="none" strike="noStrike">
                <a:solidFill>
                  <a:srgbClr val="000000"/>
                </a:solidFill>
                <a:effectLst/>
                <a:uFillTx/>
                <a:latin typeface="Arial"/>
              </a:rPr>
              <a:t>에서 빼지만 </a:t>
            </a:r>
            <a:r>
              <a:rPr lang="en-US" sz="2000" b="0" u="none" strike="noStrike">
                <a:solidFill>
                  <a:srgbClr val="000000"/>
                </a:solidFill>
                <a:effectLst/>
                <a:uFillTx/>
                <a:latin typeface="Arial"/>
              </a:rPr>
              <a:t>sep</a:t>
            </a:r>
            <a:r>
              <a:rPr lang="ko-KR" sz="2000" b="0" u="none" strike="noStrike">
                <a:solidFill>
                  <a:srgbClr val="000000"/>
                </a:solidFill>
                <a:effectLst/>
                <a:uFillTx/>
                <a:latin typeface="Arial"/>
              </a:rPr>
              <a:t>로 </a:t>
            </a:r>
            <a:r>
              <a:rPr lang="en-US" sz="2000" b="0" u="none" strike="noStrike">
                <a:solidFill>
                  <a:srgbClr val="000000"/>
                </a:solidFill>
                <a:effectLst/>
                <a:uFillTx/>
                <a:latin typeface="Arial"/>
              </a:rPr>
              <a:t>F</a:t>
            </a:r>
            <a:r>
              <a:rPr lang="ko-KR" sz="2000" b="0" u="none" strike="noStrike">
                <a:solidFill>
                  <a:srgbClr val="000000"/>
                </a:solidFill>
                <a:effectLst/>
                <a:uFillTx/>
                <a:latin typeface="Arial"/>
              </a:rPr>
              <a:t>에 축적해 </a:t>
            </a:r>
            <a:r>
              <a:rPr lang="en-US" sz="2000" b="0" u="none" strike="noStrike">
                <a:solidFill>
                  <a:srgbClr val="000000"/>
                </a:solidFill>
                <a:effectLst/>
                <a:uFillTx/>
                <a:latin typeface="Arial"/>
              </a:rPr>
              <a:t>finishing input</a:t>
            </a:r>
            <a:r>
              <a:rPr lang="ko-KR" sz="2000" b="0" u="none" strike="noStrike">
                <a:solidFill>
                  <a:srgbClr val="000000"/>
                </a:solidFill>
                <a:effectLst/>
                <a:uFillTx/>
                <a:latin typeface="Arial"/>
              </a:rPr>
              <a:t>에 다시 넣습니다</a:t>
            </a:r>
            <a:r>
              <a:rPr lang="en-US" sz="2000" b="0" u="none" strike="noStrike">
                <a:solidFill>
                  <a:srgbClr val="000000"/>
                </a:solidFill>
                <a:effectLst/>
                <a:uFillTx/>
                <a:latin typeface="Arial"/>
              </a:rPr>
              <a:t>. Case three</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xi(u)=i</a:t>
            </a:r>
            <a:r>
              <a:rPr lang="ko-KR" sz="2000" b="0" u="none" strike="noStrike">
                <a:solidFill>
                  <a:srgbClr val="000000"/>
                </a:solidFill>
                <a:effectLst/>
                <a:uFillTx/>
                <a:latin typeface="Arial"/>
              </a:rPr>
              <a:t>이며 </a:t>
            </a:r>
            <a:r>
              <a:rPr lang="en-US" sz="2000" b="0" u="none" strike="noStrike">
                <a:solidFill>
                  <a:srgbClr val="000000"/>
                </a:solidFill>
                <a:effectLst/>
                <a:uFillTx/>
                <a:latin typeface="Arial"/>
              </a:rPr>
              <a:t>(u,v)</a:t>
            </a:r>
            <a:r>
              <a:rPr lang="ko-KR" sz="2000" b="0" u="none" strike="noStrike">
                <a:solidFill>
                  <a:srgbClr val="000000"/>
                </a:solidFill>
                <a:effectLst/>
                <a:uFillTx/>
                <a:latin typeface="Arial"/>
              </a:rPr>
              <a:t>가 </a:t>
            </a:r>
            <a:r>
              <a:rPr lang="en-US" sz="2000" b="0" u="none" strike="noStrike">
                <a:solidFill>
                  <a:srgbClr val="000000"/>
                </a:solidFill>
                <a:effectLst/>
                <a:uFillTx/>
                <a:latin typeface="Arial"/>
              </a:rPr>
              <a:t>G_i</a:t>
            </a:r>
            <a:r>
              <a:rPr lang="ko-KR" sz="2000" b="0" u="none" strike="noStrike">
                <a:solidFill>
                  <a:srgbClr val="000000"/>
                </a:solidFill>
                <a:effectLst/>
                <a:uFillTx/>
                <a:latin typeface="Arial"/>
              </a:rPr>
              <a:t>에서 </a:t>
            </a:r>
            <a:r>
              <a:rPr lang="en-US" sz="2000" b="0" u="none" strike="noStrike">
                <a:solidFill>
                  <a:srgbClr val="000000"/>
                </a:solidFill>
                <a:effectLst/>
                <a:uFillTx/>
                <a:latin typeface="Arial"/>
              </a:rPr>
              <a:t>u</a:t>
            </a:r>
            <a:r>
              <a:rPr lang="ko-KR" sz="2000" b="0" u="none" strike="noStrike">
                <a:solidFill>
                  <a:srgbClr val="000000"/>
                </a:solidFill>
                <a:effectLst/>
                <a:uFillTx/>
                <a:latin typeface="Arial"/>
              </a:rPr>
              <a:t>의 유일한 </a:t>
            </a:r>
            <a:r>
              <a:rPr lang="en-US" sz="2000" b="0" u="none" strike="noStrike">
                <a:solidFill>
                  <a:srgbClr val="000000"/>
                </a:solidFill>
                <a:effectLst/>
                <a:uFillTx/>
                <a:latin typeface="Arial"/>
              </a:rPr>
              <a:t>incident edge</a:t>
            </a:r>
            <a:r>
              <a:rPr lang="ko-KR" sz="2000" b="0" u="none" strike="noStrike">
                <a:solidFill>
                  <a:srgbClr val="000000"/>
                </a:solidFill>
                <a:effectLst/>
                <a:uFillTx/>
                <a:latin typeface="Arial"/>
              </a:rPr>
              <a:t>이고 그 </a:t>
            </a:r>
            <a:r>
              <a:rPr lang="en-US" sz="2000" b="0" u="none" strike="noStrike">
                <a:solidFill>
                  <a:srgbClr val="000000"/>
                </a:solidFill>
                <a:effectLst/>
                <a:uFillTx/>
                <a:latin typeface="Arial"/>
              </a:rPr>
              <a:t>edge</a:t>
            </a:r>
            <a:r>
              <a:rPr lang="ko-KR" sz="2000" b="0" u="none" strike="noStrike">
                <a:solidFill>
                  <a:srgbClr val="000000"/>
                </a:solidFill>
                <a:effectLst/>
                <a:uFillTx/>
                <a:latin typeface="Arial"/>
              </a:rPr>
              <a:t>가 </a:t>
            </a:r>
            <a:r>
              <a:rPr lang="en-US" sz="2000" b="0" u="none" strike="noStrike">
                <a:solidFill>
                  <a:srgbClr val="000000"/>
                </a:solidFill>
                <a:effectLst/>
                <a:uFillTx/>
                <a:latin typeface="Arial"/>
              </a:rPr>
              <a:t>intact</a:t>
            </a:r>
            <a:r>
              <a:rPr lang="ko-KR" sz="2000" b="0" u="none" strike="noStrike">
                <a:solidFill>
                  <a:srgbClr val="000000"/>
                </a:solidFill>
                <a:effectLst/>
                <a:uFillTx/>
                <a:latin typeface="Arial"/>
              </a:rPr>
              <a:t>인 경우입니다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단지 </a:t>
            </a:r>
            <a:r>
              <a:rPr lang="en-US" sz="2000" b="0" u="none" strike="noStrike">
                <a:solidFill>
                  <a:srgbClr val="000000"/>
                </a:solidFill>
                <a:effectLst/>
                <a:uFillTx/>
                <a:latin typeface="Arial"/>
              </a:rPr>
              <a:t>intact edge</a:t>
            </a:r>
            <a:r>
              <a:rPr lang="ko-KR" sz="2000" b="0" u="none" strike="noStrike">
                <a:solidFill>
                  <a:srgbClr val="000000"/>
                </a:solidFill>
                <a:effectLst/>
                <a:uFillTx/>
                <a:latin typeface="Arial"/>
              </a:rPr>
              <a:t>가 하나라는 조건이 아닙니다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반대 </a:t>
            </a:r>
            <a:r>
              <a:rPr lang="en-US" sz="2000" b="0" u="none" strike="noStrike">
                <a:solidFill>
                  <a:srgbClr val="000000"/>
                </a:solidFill>
                <a:effectLst/>
                <a:uFillTx/>
                <a:latin typeface="Arial"/>
              </a:rPr>
              <a:t>partition</a:t>
            </a:r>
            <a:r>
              <a:rPr lang="ko-KR" sz="2000" b="0" u="none" strike="noStrike">
                <a:solidFill>
                  <a:srgbClr val="000000"/>
                </a:solidFill>
                <a:effectLst/>
                <a:uFillTx/>
                <a:latin typeface="Arial"/>
              </a:rPr>
              <a:t>의 </a:t>
            </a:r>
            <a:r>
              <a:rPr lang="en-US" sz="2000" b="0" u="none" strike="noStrike">
                <a:solidFill>
                  <a:srgbClr val="000000"/>
                </a:solidFill>
                <a:effectLst/>
                <a:uFillTx/>
                <a:latin typeface="Arial"/>
              </a:rPr>
              <a:t>copy </a:t>
            </a:r>
            <a:r>
              <a:rPr lang="ko-KR" sz="2000" b="0" u="none" strike="noStrike">
                <a:solidFill>
                  <a:srgbClr val="000000"/>
                </a:solidFill>
                <a:effectLst/>
                <a:uFillTx/>
                <a:latin typeface="Arial"/>
              </a:rPr>
              <a:t>또는 </a:t>
            </a:r>
            <a:r>
              <a:rPr lang="en-US" sz="2000" b="0" u="none" strike="noStrike">
                <a:solidFill>
                  <a:srgbClr val="000000"/>
                </a:solidFill>
                <a:effectLst/>
                <a:uFillTx/>
                <a:latin typeface="Arial"/>
              </a:rPr>
              <a:t>replacement edge</a:t>
            </a:r>
            <a:r>
              <a:rPr lang="ko-KR" sz="2000" b="0" u="none" strike="noStrike">
                <a:solidFill>
                  <a:srgbClr val="000000"/>
                </a:solidFill>
                <a:effectLst/>
                <a:uFillTx/>
                <a:latin typeface="Arial"/>
              </a:rPr>
              <a:t>가 남으므로 </a:t>
            </a:r>
            <a:r>
              <a:rPr lang="en-US" sz="2000" b="0" u="none" strike="noStrike">
                <a:solidFill>
                  <a:srgbClr val="000000"/>
                </a:solidFill>
                <a:effectLst/>
                <a:uFillTx/>
                <a:latin typeface="Arial"/>
              </a:rPr>
              <a:t>sep </a:t>
            </a:r>
            <a:r>
              <a:rPr lang="ko-KR" sz="2000" b="0" u="none" strike="noStrike">
                <a:solidFill>
                  <a:srgbClr val="000000"/>
                </a:solidFill>
                <a:effectLst/>
                <a:uFillTx/>
                <a:latin typeface="Arial"/>
              </a:rPr>
              <a:t>없이 </a:t>
            </a:r>
            <a:r>
              <a:rPr lang="en-US" sz="2000" b="0" u="none" strike="noStrike">
                <a:solidFill>
                  <a:srgbClr val="000000"/>
                </a:solidFill>
                <a:effectLst/>
                <a:uFillTx/>
                <a:latin typeface="Arial"/>
              </a:rPr>
              <a:t>discard</a:t>
            </a:r>
            <a:r>
              <a:rPr lang="ko-KR" sz="2000" b="0" u="none" strike="noStrike">
                <a:solidFill>
                  <a:srgbClr val="000000"/>
                </a:solidFill>
                <a:effectLst/>
                <a:uFillTx/>
                <a:latin typeface="Arial"/>
              </a:rPr>
              <a:t>합니다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unicon-paper | pp. 9-10, Algorithm 2 and Fig. 5</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 PLOS ONE 17(11): e0277527</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https://journals.plos.org/plosone/article?id=10.1371/journal.pone.0277527</a:t>
            </a:r>
            <a:endParaRPr lang="en-US" sz="2000" b="0" u="none" strike="noStrike">
              <a:solidFill>
                <a:srgbClr val="000000"/>
              </a:solidFill>
              <a:effectLst/>
              <a:uFillTx/>
              <a:latin typeface="Arial"/>
            </a:endParaRPr>
          </a:p>
        </p:txBody>
      </p:sp>
      <p:sp>
        <p:nvSpPr>
          <p:cNvPr id="424" name="PlaceHolder 3"/>
          <p:cNvSpPr>
            <a:spLocks noGrp="1"/>
          </p:cNvSpPr>
          <p:nvPr>
            <p:ph type="sldNum" idx="16"/>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B7115C7F-986B-4359-9799-48E257931267}"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5" name="PlaceHolder 1"/>
          <p:cNvSpPr>
            <a:spLocks noGrp="1"/>
          </p:cNvSpPr>
          <p:nvPr>
            <p:ph type="sldImg"/>
          </p:nvPr>
        </p:nvSpPr>
        <p:spPr>
          <a:xfrm>
            <a:off x="0" y="0"/>
            <a:ext cx="0" cy="0"/>
          </a:xfrm>
          <a:prstGeom prst="rect">
            <a:avLst/>
          </a:prstGeom>
          <a:ln w="0">
            <a:noFill/>
          </a:ln>
        </p:spPr>
      </p:sp>
      <p:sp>
        <p:nvSpPr>
          <p:cNvPr id="42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14. Filtered edge</a:t>
            </a:r>
            <a:r>
              <a:rPr lang="ko-KR" sz="2000" b="0" u="none" strike="noStrike">
                <a:solidFill>
                  <a:srgbClr val="000000"/>
                </a:solidFill>
                <a:effectLst/>
                <a:uFillTx/>
                <a:latin typeface="Arial"/>
              </a:rPr>
              <a:t>의 </a:t>
            </a:r>
            <a:r>
              <a:rPr lang="en-US" sz="2000" b="0" u="none" strike="noStrike">
                <a:solidFill>
                  <a:srgbClr val="000000"/>
                </a:solidFill>
                <a:effectLst/>
                <a:uFillTx/>
                <a:latin typeface="Arial"/>
              </a:rPr>
              <a:t>state </a:t>
            </a:r>
            <a:r>
              <a:rPr lang="ko-KR" sz="2000" b="0" u="none" strike="noStrike">
                <a:solidFill>
                  <a:srgbClr val="000000"/>
                </a:solidFill>
                <a:effectLst/>
                <a:uFillTx/>
                <a:latin typeface="Arial"/>
              </a:rPr>
              <a:t>변화</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Algorithm 1</a:t>
            </a:r>
            <a:r>
              <a:rPr lang="ko-KR" sz="2000" b="0" u="none" strike="noStrike">
                <a:solidFill>
                  <a:srgbClr val="000000"/>
                </a:solidFill>
                <a:effectLst/>
                <a:uFillTx/>
                <a:latin typeface="Arial"/>
              </a:rPr>
              <a:t>에서 </a:t>
            </a:r>
            <a:r>
              <a:rPr lang="en-US" sz="2000" b="0" u="none" strike="noStrike">
                <a:solidFill>
                  <a:srgbClr val="000000"/>
                </a:solidFill>
                <a:effectLst/>
                <a:uFillTx/>
                <a:latin typeface="Arial"/>
              </a:rPr>
              <a:t>F</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initially empty</a:t>
            </a:r>
            <a:r>
              <a:rPr lang="ko-KR" sz="2000" b="0" u="none" strike="noStrike">
                <a:solidFill>
                  <a:srgbClr val="000000"/>
                </a:solidFill>
                <a:effectLst/>
                <a:uFillTx/>
                <a:latin typeface="Arial"/>
              </a:rPr>
              <a:t>입니다</a:t>
            </a:r>
            <a:r>
              <a:rPr lang="en-US" sz="2000" b="0" u="none" strike="noStrike">
                <a:solidFill>
                  <a:srgbClr val="000000"/>
                </a:solidFill>
                <a:effectLst/>
                <a:uFillTx/>
                <a:latin typeface="Arial"/>
              </a:rPr>
              <a:t>. UniStar-opt</a:t>
            </a:r>
            <a:r>
              <a:rPr lang="ko-KR" sz="2000" b="0" u="none" strike="noStrike">
                <a:solidFill>
                  <a:srgbClr val="000000"/>
                </a:solidFill>
                <a:effectLst/>
                <a:uFillTx/>
                <a:latin typeface="Arial"/>
              </a:rPr>
              <a:t>가 </a:t>
            </a:r>
            <a:r>
              <a:rPr lang="en-US" sz="2000" b="0" u="none" strike="noStrike">
                <a:solidFill>
                  <a:srgbClr val="000000"/>
                </a:solidFill>
                <a:effectLst/>
                <a:uFillTx/>
                <a:latin typeface="Arial"/>
              </a:rPr>
              <a:t>case one</a:t>
            </a:r>
            <a:r>
              <a:rPr lang="ko-KR" sz="2000" b="0" u="none" strike="noStrike">
                <a:solidFill>
                  <a:srgbClr val="000000"/>
                </a:solidFill>
                <a:effectLst/>
                <a:uFillTx/>
                <a:latin typeface="Arial"/>
              </a:rPr>
              <a:t>과 </a:t>
            </a:r>
            <a:r>
              <a:rPr lang="en-US" sz="2000" b="0" u="none" strike="noStrike">
                <a:solidFill>
                  <a:srgbClr val="000000"/>
                </a:solidFill>
                <a:effectLst/>
                <a:uFillTx/>
                <a:latin typeface="Arial"/>
              </a:rPr>
              <a:t>two edges</a:t>
            </a:r>
            <a:r>
              <a:rPr lang="ko-KR" sz="2000" b="0" u="none" strike="noStrike">
                <a:solidFill>
                  <a:srgbClr val="000000"/>
                </a:solidFill>
                <a:effectLst/>
                <a:uFillTx/>
                <a:latin typeface="Arial"/>
              </a:rPr>
              <a:t>를 </a:t>
            </a:r>
            <a:r>
              <a:rPr lang="en-US" sz="2000" b="0" u="none" strike="noStrike">
                <a:solidFill>
                  <a:srgbClr val="000000"/>
                </a:solidFill>
                <a:effectLst/>
                <a:uFillTx/>
                <a:latin typeface="Arial"/>
              </a:rPr>
              <a:t>sep</a:t>
            </a:r>
            <a:r>
              <a:rPr lang="ko-KR" sz="2000" b="0" u="none" strike="noStrike">
                <a:solidFill>
                  <a:srgbClr val="000000"/>
                </a:solidFill>
                <a:effectLst/>
                <a:uFillTx/>
                <a:latin typeface="Arial"/>
              </a:rPr>
              <a:t>로 내보낼 때마다 </a:t>
            </a:r>
            <a:r>
              <a:rPr lang="en-US" sz="2000" b="0" u="none" strike="noStrike">
                <a:solidFill>
                  <a:srgbClr val="000000"/>
                </a:solidFill>
                <a:effectLst/>
                <a:uFillTx/>
                <a:latin typeface="Arial"/>
              </a:rPr>
              <a:t>F</a:t>
            </a:r>
            <a:r>
              <a:rPr lang="ko-KR" sz="2000" b="0" u="none" strike="noStrike">
                <a:solidFill>
                  <a:srgbClr val="000000"/>
                </a:solidFill>
                <a:effectLst/>
                <a:uFillTx/>
                <a:latin typeface="Arial"/>
              </a:rPr>
              <a:t>와 </a:t>
            </a:r>
            <a:r>
              <a:rPr lang="en-US" sz="2000" b="0" u="none" strike="noStrike">
                <a:solidFill>
                  <a:srgbClr val="000000"/>
                </a:solidFill>
                <a:effectLst/>
                <a:uFillTx/>
                <a:latin typeface="Arial"/>
              </a:rPr>
              <a:t>union</a:t>
            </a:r>
            <a:r>
              <a:rPr lang="ko-KR" sz="2000" b="0" u="none" strike="noStrike">
                <a:solidFill>
                  <a:srgbClr val="000000"/>
                </a:solidFill>
                <a:effectLst/>
                <a:uFillTx/>
                <a:latin typeface="Arial"/>
              </a:rPr>
              <a:t>합니다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이 </a:t>
            </a:r>
            <a:r>
              <a:rPr lang="en-US" sz="2000" b="0" u="none" strike="noStrike">
                <a:solidFill>
                  <a:srgbClr val="000000"/>
                </a:solidFill>
                <a:effectLst/>
                <a:uFillTx/>
                <a:latin typeface="Arial"/>
              </a:rPr>
              <a:t>edges</a:t>
            </a:r>
            <a:r>
              <a:rPr lang="ko-KR" sz="2000" b="0" u="none" strike="noStrike">
                <a:solidFill>
                  <a:srgbClr val="000000"/>
                </a:solidFill>
                <a:effectLst/>
                <a:uFillTx/>
                <a:latin typeface="Arial"/>
              </a:rPr>
              <a:t>는 반복 </a:t>
            </a:r>
            <a:r>
              <a:rPr lang="en-US" sz="2000" b="0" u="none" strike="noStrike">
                <a:solidFill>
                  <a:srgbClr val="000000"/>
                </a:solidFill>
                <a:effectLst/>
                <a:uFillTx/>
                <a:latin typeface="Arial"/>
              </a:rPr>
              <a:t>input</a:t>
            </a:r>
            <a:r>
              <a:rPr lang="ko-KR" sz="2000" b="0" u="none" strike="noStrike">
                <a:solidFill>
                  <a:srgbClr val="000000"/>
                </a:solidFill>
                <a:effectLst/>
                <a:uFillTx/>
                <a:latin typeface="Arial"/>
              </a:rPr>
              <a:t>에서만 제외됩니다</a:t>
            </a:r>
            <a:r>
              <a:rPr lang="en-US" sz="2000" b="0" u="none" strike="noStrike">
                <a:solidFill>
                  <a:srgbClr val="000000"/>
                </a:solidFill>
                <a:effectLst/>
                <a:uFillTx/>
                <a:latin typeface="Arial"/>
              </a:rPr>
              <a:t>. Remaining E</a:t>
            </a:r>
            <a:r>
              <a:rPr lang="ko-KR" sz="2000" b="0" u="none" strike="noStrike">
                <a:solidFill>
                  <a:srgbClr val="000000"/>
                </a:solidFill>
                <a:effectLst/>
                <a:uFillTx/>
                <a:latin typeface="Arial"/>
              </a:rPr>
              <a:t>가 작아지면 </a:t>
            </a:r>
            <a:r>
              <a:rPr lang="en-US" sz="2000" b="0" u="none" strike="noStrike">
                <a:solidFill>
                  <a:srgbClr val="000000"/>
                </a:solidFill>
                <a:effectLst/>
                <a:uFillTx/>
                <a:latin typeface="Arial"/>
              </a:rPr>
              <a:t>Rem</a:t>
            </a:r>
            <a:r>
              <a:rPr lang="ko-KR" sz="2000" b="0" u="none" strike="noStrike">
                <a:solidFill>
                  <a:srgbClr val="000000"/>
                </a:solidFill>
                <a:effectLst/>
                <a:uFillTx/>
                <a:latin typeface="Arial"/>
              </a:rPr>
              <a:t>을 실행하고</a:t>
            </a:r>
            <a:r>
              <a:rPr lang="en-US" sz="2000" b="0" u="none" strike="noStrike">
                <a:solidFill>
                  <a:srgbClr val="000000"/>
                </a:solidFill>
                <a:effectLst/>
                <a:uFillTx/>
                <a:latin typeface="Arial"/>
              </a:rPr>
              <a:t>, final finishing</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Rem output</a:t>
            </a:r>
            <a:r>
              <a:rPr lang="ko-KR" sz="2000" b="0" u="none" strike="noStrike">
                <a:solidFill>
                  <a:srgbClr val="000000"/>
                </a:solidFill>
                <a:effectLst/>
                <a:uFillTx/>
                <a:latin typeface="Arial"/>
              </a:rPr>
              <a:t>과 </a:t>
            </a:r>
            <a:r>
              <a:rPr lang="en-US" sz="2000" b="0" u="none" strike="noStrike">
                <a:solidFill>
                  <a:srgbClr val="000000"/>
                </a:solidFill>
                <a:effectLst/>
                <a:uFillTx/>
                <a:latin typeface="Arial"/>
              </a:rPr>
              <a:t>F</a:t>
            </a:r>
            <a:r>
              <a:rPr lang="ko-KR" sz="2000" b="0" u="none" strike="noStrike">
                <a:solidFill>
                  <a:srgbClr val="000000"/>
                </a:solidFill>
                <a:effectLst/>
                <a:uFillTx/>
                <a:latin typeface="Arial"/>
              </a:rPr>
              <a:t>를 함께 사용합니다</a:t>
            </a:r>
            <a:r>
              <a:rPr lang="en-US" sz="2000" b="0" u="none" strike="noStrike">
                <a:solidFill>
                  <a:srgbClr val="000000"/>
                </a:solidFill>
                <a:effectLst/>
                <a:uFillTx/>
                <a:latin typeface="Arial"/>
              </a:rPr>
              <a:t>. Case three</a:t>
            </a:r>
            <a:r>
              <a:rPr lang="ko-KR" sz="2000" b="0" u="none" strike="noStrike">
                <a:solidFill>
                  <a:srgbClr val="000000"/>
                </a:solidFill>
                <a:effectLst/>
                <a:uFillTx/>
                <a:latin typeface="Arial"/>
              </a:rPr>
              <a:t>는 이 </a:t>
            </a:r>
            <a:r>
              <a:rPr lang="en-US" sz="2000" b="0" u="none" strike="noStrike">
                <a:solidFill>
                  <a:srgbClr val="000000"/>
                </a:solidFill>
                <a:effectLst/>
                <a:uFillTx/>
                <a:latin typeface="Arial"/>
              </a:rPr>
              <a:t>route</a:t>
            </a:r>
            <a:r>
              <a:rPr lang="ko-KR" sz="2000" b="0" u="none" strike="noStrike">
                <a:solidFill>
                  <a:srgbClr val="000000"/>
                </a:solidFill>
                <a:effectLst/>
                <a:uFillTx/>
                <a:latin typeface="Arial"/>
              </a:rPr>
              <a:t>에 들어가지 않으며 </a:t>
            </a:r>
            <a:r>
              <a:rPr lang="en-US" sz="2000" b="0" u="none" strike="noStrike">
                <a:solidFill>
                  <a:srgbClr val="000000"/>
                </a:solidFill>
                <a:effectLst/>
                <a:uFillTx/>
                <a:latin typeface="Arial"/>
              </a:rPr>
              <a:t>Theorem 2</a:t>
            </a:r>
            <a:r>
              <a:rPr lang="ko-KR" sz="2000" b="0" u="none" strike="noStrike">
                <a:solidFill>
                  <a:srgbClr val="000000"/>
                </a:solidFill>
                <a:effectLst/>
                <a:uFillTx/>
                <a:latin typeface="Arial"/>
              </a:rPr>
              <a:t>가 </a:t>
            </a:r>
            <a:r>
              <a:rPr lang="en-US" sz="2000" b="0" u="none" strike="noStrike">
                <a:solidFill>
                  <a:srgbClr val="000000"/>
                </a:solidFill>
                <a:effectLst/>
                <a:uFillTx/>
                <a:latin typeface="Arial"/>
              </a:rPr>
              <a:t>counterpart preservation</a:t>
            </a:r>
            <a:r>
              <a:rPr lang="ko-KR" sz="2000" b="0" u="none" strike="noStrike">
                <a:solidFill>
                  <a:srgbClr val="000000"/>
                </a:solidFill>
                <a:effectLst/>
                <a:uFillTx/>
                <a:latin typeface="Arial"/>
              </a:rPr>
              <a:t>을 뒷받침합니다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unicon-paper | pp. 5-6 and 9-10, Algorithms 1-2</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 PLOS ONE 17(11): e0277527</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https://journals.plos.org/plosone/article?id=10.1371/journal.pone.0277527</a:t>
            </a:r>
            <a:endParaRPr lang="en-US" sz="2000" b="0" u="none" strike="noStrike">
              <a:solidFill>
                <a:srgbClr val="000000"/>
              </a:solidFill>
              <a:effectLst/>
              <a:uFillTx/>
              <a:latin typeface="Arial"/>
            </a:endParaRPr>
          </a:p>
        </p:txBody>
      </p:sp>
      <p:sp>
        <p:nvSpPr>
          <p:cNvPr id="427" name="PlaceHolder 3"/>
          <p:cNvSpPr>
            <a:spLocks noGrp="1"/>
          </p:cNvSpPr>
          <p:nvPr>
            <p:ph type="sldNum" idx="17"/>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1B2D5E99-E93C-4542-8E6A-490A41705BC7}"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8" name="PlaceHolder 1"/>
          <p:cNvSpPr>
            <a:spLocks noGrp="1"/>
          </p:cNvSpPr>
          <p:nvPr>
            <p:ph type="sldImg"/>
          </p:nvPr>
        </p:nvSpPr>
        <p:spPr>
          <a:xfrm>
            <a:off x="0" y="0"/>
            <a:ext cx="0" cy="0"/>
          </a:xfrm>
          <a:prstGeom prst="rect">
            <a:avLst/>
          </a:prstGeom>
          <a:ln w="0">
            <a:noFill/>
          </a:ln>
        </p:spPr>
      </p:sp>
      <p:sp>
        <p:nvSpPr>
          <p:cNvPr id="42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15. Case 3 discard</a:t>
            </a:r>
            <a:r>
              <a:rPr lang="ko-KR" sz="2000" b="0" u="none" strike="noStrike">
                <a:solidFill>
                  <a:srgbClr val="000000"/>
                </a:solidFill>
                <a:effectLst/>
                <a:uFillTx/>
                <a:latin typeface="Arial"/>
              </a:rPr>
              <a:t>의 보존 조건</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Theorem 2</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cross edge (u,v)</a:t>
            </a:r>
            <a:r>
              <a:rPr lang="ko-KR" sz="2000" b="0" u="none" strike="noStrike">
                <a:solidFill>
                  <a:srgbClr val="000000"/>
                </a:solidFill>
                <a:effectLst/>
                <a:uFillTx/>
                <a:latin typeface="Arial"/>
              </a:rPr>
              <a:t>가 </a:t>
            </a:r>
            <a:r>
              <a:rPr lang="en-US" sz="2000" b="0" u="none" strike="noStrike">
                <a:solidFill>
                  <a:srgbClr val="000000"/>
                </a:solidFill>
                <a:effectLst/>
                <a:uFillTx/>
                <a:latin typeface="Arial"/>
              </a:rPr>
              <a:t>xi(u)=i</a:t>
            </a:r>
            <a:r>
              <a:rPr lang="ko-KR" sz="2000" b="0" u="none" strike="noStrike">
                <a:solidFill>
                  <a:srgbClr val="000000"/>
                </a:solidFill>
                <a:effectLst/>
                <a:uFillTx/>
                <a:latin typeface="Arial"/>
              </a:rPr>
              <a:t>인 </a:t>
            </a:r>
            <a:r>
              <a:rPr lang="en-US" sz="2000" b="0" u="none" strike="noStrike">
                <a:solidFill>
                  <a:srgbClr val="000000"/>
                </a:solidFill>
                <a:effectLst/>
                <a:uFillTx/>
                <a:latin typeface="Arial"/>
              </a:rPr>
              <a:t>G_i</a:t>
            </a:r>
            <a:r>
              <a:rPr lang="ko-KR" sz="2000" b="0" u="none" strike="noStrike">
                <a:solidFill>
                  <a:srgbClr val="000000"/>
                </a:solidFill>
                <a:effectLst/>
                <a:uFillTx/>
                <a:latin typeface="Arial"/>
              </a:rPr>
              <a:t>에서 </a:t>
            </a:r>
            <a:r>
              <a:rPr lang="en-US" sz="2000" b="0" u="none" strike="noStrike">
                <a:solidFill>
                  <a:srgbClr val="000000"/>
                </a:solidFill>
                <a:effectLst/>
                <a:uFillTx/>
                <a:latin typeface="Arial"/>
              </a:rPr>
              <a:t>u</a:t>
            </a:r>
            <a:r>
              <a:rPr lang="ko-KR" sz="2000" b="0" u="none" strike="noStrike">
                <a:solidFill>
                  <a:srgbClr val="000000"/>
                </a:solidFill>
                <a:effectLst/>
                <a:uFillTx/>
                <a:latin typeface="Arial"/>
              </a:rPr>
              <a:t>의 유일한 </a:t>
            </a:r>
            <a:r>
              <a:rPr lang="en-US" sz="2000" b="0" u="none" strike="noStrike">
                <a:solidFill>
                  <a:srgbClr val="000000"/>
                </a:solidFill>
                <a:effectLst/>
                <a:uFillTx/>
                <a:latin typeface="Arial"/>
              </a:rPr>
              <a:t>incident edge</a:t>
            </a:r>
            <a:r>
              <a:rPr lang="ko-KR" sz="2000" b="0" u="none" strike="noStrike">
                <a:solidFill>
                  <a:srgbClr val="000000"/>
                </a:solidFill>
                <a:effectLst/>
                <a:uFillTx/>
                <a:latin typeface="Arial"/>
              </a:rPr>
              <a:t>일 때 반대 </a:t>
            </a:r>
            <a:r>
              <a:rPr lang="en-US" sz="2000" b="0" u="none" strike="noStrike">
                <a:solidFill>
                  <a:srgbClr val="000000"/>
                </a:solidFill>
                <a:effectLst/>
                <a:uFillTx/>
                <a:latin typeface="Arial"/>
              </a:rPr>
              <a:t>partition</a:t>
            </a:r>
            <a:r>
              <a:rPr lang="ko-KR" sz="2000" b="0" u="none" strike="noStrike">
                <a:solidFill>
                  <a:srgbClr val="000000"/>
                </a:solidFill>
                <a:effectLst/>
                <a:uFillTx/>
                <a:latin typeface="Arial"/>
              </a:rPr>
              <a:t>에도 해당 </a:t>
            </a:r>
            <a:r>
              <a:rPr lang="en-US" sz="2000" b="0" u="none" strike="noStrike">
                <a:solidFill>
                  <a:srgbClr val="000000"/>
                </a:solidFill>
                <a:effectLst/>
                <a:uFillTx/>
                <a:latin typeface="Arial"/>
              </a:rPr>
              <a:t>edge</a:t>
            </a:r>
            <a:r>
              <a:rPr lang="ko-KR" sz="2000" b="0" u="none" strike="noStrike">
                <a:solidFill>
                  <a:srgbClr val="000000"/>
                </a:solidFill>
                <a:effectLst/>
                <a:uFillTx/>
                <a:latin typeface="Arial"/>
              </a:rPr>
              <a:t>가 있음을 보입니다</a:t>
            </a:r>
            <a:r>
              <a:rPr lang="en-US" sz="2000" b="0" u="none" strike="noStrike">
                <a:solidFill>
                  <a:srgbClr val="000000"/>
                </a:solidFill>
                <a:effectLst/>
                <a:uFillTx/>
                <a:latin typeface="Arial"/>
              </a:rPr>
              <a:t>. Case three</a:t>
            </a:r>
            <a:r>
              <a:rPr lang="ko-KR" sz="2000" b="0" u="none" strike="noStrike">
                <a:solidFill>
                  <a:srgbClr val="000000"/>
                </a:solidFill>
                <a:effectLst/>
                <a:uFillTx/>
                <a:latin typeface="Arial"/>
              </a:rPr>
              <a:t>는 이 유일 </a:t>
            </a:r>
            <a:r>
              <a:rPr lang="en-US" sz="2000" b="0" u="none" strike="noStrike">
                <a:solidFill>
                  <a:srgbClr val="000000"/>
                </a:solidFill>
                <a:effectLst/>
                <a:uFillTx/>
                <a:latin typeface="Arial"/>
              </a:rPr>
              <a:t>edge</a:t>
            </a:r>
            <a:r>
              <a:rPr lang="ko-KR" sz="2000" b="0" u="none" strike="noStrike">
                <a:solidFill>
                  <a:srgbClr val="000000"/>
                </a:solidFill>
                <a:effectLst/>
                <a:uFillTx/>
                <a:latin typeface="Arial"/>
              </a:rPr>
              <a:t>가 </a:t>
            </a:r>
            <a:r>
              <a:rPr lang="en-US" sz="2000" b="0" u="none" strike="noStrike">
                <a:solidFill>
                  <a:srgbClr val="000000"/>
                </a:solidFill>
                <a:effectLst/>
                <a:uFillTx/>
                <a:latin typeface="Arial"/>
              </a:rPr>
              <a:t>intact</a:t>
            </a:r>
            <a:r>
              <a:rPr lang="ko-KR" sz="2000" b="0" u="none" strike="noStrike">
                <a:solidFill>
                  <a:srgbClr val="000000"/>
                </a:solidFill>
                <a:effectLst/>
                <a:uFillTx/>
                <a:latin typeface="Arial"/>
              </a:rPr>
              <a:t>라는 조건도 요구합니다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다른 </a:t>
            </a:r>
            <a:r>
              <a:rPr lang="en-US" sz="2000" b="0" u="none" strike="noStrike">
                <a:solidFill>
                  <a:srgbClr val="000000"/>
                </a:solidFill>
                <a:effectLst/>
                <a:uFillTx/>
                <a:latin typeface="Arial"/>
              </a:rPr>
              <a:t>non-intact incident edge</a:t>
            </a:r>
            <a:r>
              <a:rPr lang="ko-KR" sz="2000" b="0" u="none" strike="noStrike">
                <a:solidFill>
                  <a:srgbClr val="000000"/>
                </a:solidFill>
                <a:effectLst/>
                <a:uFillTx/>
                <a:latin typeface="Arial"/>
              </a:rPr>
              <a:t>가 있는데 </a:t>
            </a:r>
            <a:r>
              <a:rPr lang="en-US" sz="2000" b="0" u="none" strike="noStrike">
                <a:solidFill>
                  <a:srgbClr val="000000"/>
                </a:solidFill>
                <a:effectLst/>
                <a:uFillTx/>
                <a:latin typeface="Arial"/>
              </a:rPr>
              <a:t>intact edge</a:t>
            </a:r>
            <a:r>
              <a:rPr lang="ko-KR" sz="2000" b="0" u="none" strike="noStrike">
                <a:solidFill>
                  <a:srgbClr val="000000"/>
                </a:solidFill>
                <a:effectLst/>
                <a:uFillTx/>
                <a:latin typeface="Arial"/>
              </a:rPr>
              <a:t>만 하나인 경우는 여기에 해당하지 않습니다</a:t>
            </a:r>
            <a:r>
              <a:rPr lang="en-US" sz="2000" b="0" u="none" strike="noStrike">
                <a:solidFill>
                  <a:srgbClr val="000000"/>
                </a:solidFill>
                <a:effectLst/>
                <a:uFillTx/>
                <a:latin typeface="Arial"/>
              </a:rPr>
              <a:t>. Non-intact edge</a:t>
            </a:r>
            <a:r>
              <a:rPr lang="ko-KR" sz="2000" b="0" u="none" strike="noStrike">
                <a:solidFill>
                  <a:srgbClr val="000000"/>
                </a:solidFill>
                <a:effectLst/>
                <a:uFillTx/>
                <a:latin typeface="Arial"/>
              </a:rPr>
              <a:t>는 두 </a:t>
            </a:r>
            <a:r>
              <a:rPr lang="en-US" sz="2000" b="0" u="none" strike="noStrike">
                <a:solidFill>
                  <a:srgbClr val="000000"/>
                </a:solidFill>
                <a:effectLst/>
                <a:uFillTx/>
                <a:latin typeface="Arial"/>
              </a:rPr>
              <a:t>views</a:t>
            </a:r>
            <a:r>
              <a:rPr lang="ko-KR" sz="2000" b="0" u="none" strike="noStrike">
                <a:solidFill>
                  <a:srgbClr val="000000"/>
                </a:solidFill>
                <a:effectLst/>
                <a:uFillTx/>
                <a:latin typeface="Arial"/>
              </a:rPr>
              <a:t>에 기본적으로 복제됩니다</a:t>
            </a:r>
            <a:r>
              <a:rPr lang="en-US" sz="2000" b="0" u="none" strike="noStrike">
                <a:solidFill>
                  <a:srgbClr val="000000"/>
                </a:solidFill>
                <a:effectLst/>
                <a:uFillTx/>
                <a:latin typeface="Arial"/>
              </a:rPr>
              <a:t>. Opposite view</a:t>
            </a:r>
            <a:r>
              <a:rPr lang="ko-KR" sz="2000" b="0" u="none" strike="noStrike">
                <a:solidFill>
                  <a:srgbClr val="000000"/>
                </a:solidFill>
                <a:effectLst/>
                <a:uFillTx/>
                <a:latin typeface="Arial"/>
              </a:rPr>
              <a:t>가 그대로 </a:t>
            </a:r>
            <a:r>
              <a:rPr lang="en-US" sz="2000" b="0" u="none" strike="noStrike">
                <a:solidFill>
                  <a:srgbClr val="000000"/>
                </a:solidFill>
                <a:effectLst/>
                <a:uFillTx/>
                <a:latin typeface="Arial"/>
              </a:rPr>
              <a:t>emit</a:t>
            </a:r>
            <a:r>
              <a:rPr lang="ko-KR" sz="2000" b="0" u="none" strike="noStrike">
                <a:solidFill>
                  <a:srgbClr val="000000"/>
                </a:solidFill>
                <a:effectLst/>
                <a:uFillTx/>
                <a:latin typeface="Arial"/>
              </a:rPr>
              <a:t>하면 </a:t>
            </a:r>
            <a:r>
              <a:rPr lang="en-US" sz="2000" b="0" u="none" strike="noStrike">
                <a:solidFill>
                  <a:srgbClr val="000000"/>
                </a:solidFill>
                <a:effectLst/>
                <a:uFillTx/>
                <a:latin typeface="Arial"/>
              </a:rPr>
              <a:t>copy</a:t>
            </a:r>
            <a:r>
              <a:rPr lang="ko-KR" sz="2000" b="0" u="none" strike="noStrike">
                <a:solidFill>
                  <a:srgbClr val="000000"/>
                </a:solidFill>
                <a:effectLst/>
                <a:uFillTx/>
                <a:latin typeface="Arial"/>
              </a:rPr>
              <a:t>가 남고</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바꾸면 </a:t>
            </a:r>
            <a:r>
              <a:rPr lang="en-US" sz="2000" b="0" u="none" strike="noStrike">
                <a:solidFill>
                  <a:srgbClr val="000000"/>
                </a:solidFill>
                <a:effectLst/>
                <a:uFillTx/>
                <a:latin typeface="Arial"/>
              </a:rPr>
              <a:t>u</a:t>
            </a:r>
            <a:r>
              <a:rPr lang="ko-KR" sz="2000" b="0" u="none" strike="noStrike">
                <a:solidFill>
                  <a:srgbClr val="000000"/>
                </a:solidFill>
                <a:effectLst/>
                <a:uFillTx/>
                <a:latin typeface="Arial"/>
              </a:rPr>
              <a:t>를 다른 </a:t>
            </a:r>
            <a:r>
              <a:rPr lang="en-US" sz="2000" b="0" u="none" strike="noStrike">
                <a:solidFill>
                  <a:srgbClr val="000000"/>
                </a:solidFill>
                <a:effectLst/>
                <a:uFillTx/>
                <a:latin typeface="Arial"/>
              </a:rPr>
              <a:t>node</a:t>
            </a:r>
            <a:r>
              <a:rPr lang="ko-KR" sz="2000" b="0" u="none" strike="noStrike">
                <a:solidFill>
                  <a:srgbClr val="000000"/>
                </a:solidFill>
                <a:effectLst/>
                <a:uFillTx/>
                <a:latin typeface="Arial"/>
              </a:rPr>
              <a:t>와 잇는 </a:t>
            </a:r>
            <a:r>
              <a:rPr lang="en-US" sz="2000" b="0" u="none" strike="noStrike">
                <a:solidFill>
                  <a:srgbClr val="000000"/>
                </a:solidFill>
                <a:effectLst/>
                <a:uFillTx/>
                <a:latin typeface="Arial"/>
              </a:rPr>
              <a:t>replacement edge</a:t>
            </a:r>
            <a:r>
              <a:rPr lang="ko-KR" sz="2000" b="0" u="none" strike="noStrike">
                <a:solidFill>
                  <a:srgbClr val="000000"/>
                </a:solidFill>
                <a:effectLst/>
                <a:uFillTx/>
                <a:latin typeface="Arial"/>
              </a:rPr>
              <a:t>가 생깁니다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이 조건이 있으므로 </a:t>
            </a:r>
            <a:r>
              <a:rPr lang="en-US" sz="2000" b="0" u="none" strike="noStrike">
                <a:solidFill>
                  <a:srgbClr val="000000"/>
                </a:solidFill>
                <a:effectLst/>
                <a:uFillTx/>
                <a:latin typeface="Arial"/>
              </a:rPr>
              <a:t>u-side duplicate</a:t>
            </a:r>
            <a:r>
              <a:rPr lang="ko-KR" sz="2000" b="0" u="none" strike="noStrike">
                <a:solidFill>
                  <a:srgbClr val="000000"/>
                </a:solidFill>
                <a:effectLst/>
                <a:uFillTx/>
                <a:latin typeface="Arial"/>
              </a:rPr>
              <a:t>를 </a:t>
            </a:r>
            <a:r>
              <a:rPr lang="en-US" sz="2000" b="0" u="none" strike="noStrike">
                <a:solidFill>
                  <a:srgbClr val="000000"/>
                </a:solidFill>
                <a:effectLst/>
                <a:uFillTx/>
                <a:latin typeface="Arial"/>
              </a:rPr>
              <a:t>sep </a:t>
            </a:r>
            <a:r>
              <a:rPr lang="ko-KR" sz="2000" b="0" u="none" strike="noStrike">
                <a:solidFill>
                  <a:srgbClr val="000000"/>
                </a:solidFill>
                <a:effectLst/>
                <a:uFillTx/>
                <a:latin typeface="Arial"/>
              </a:rPr>
              <a:t>없이 </a:t>
            </a:r>
            <a:r>
              <a:rPr lang="en-US" sz="2000" b="0" u="none" strike="noStrike">
                <a:solidFill>
                  <a:srgbClr val="000000"/>
                </a:solidFill>
                <a:effectLst/>
                <a:uFillTx/>
                <a:latin typeface="Arial"/>
              </a:rPr>
              <a:t>discard</a:t>
            </a:r>
            <a:r>
              <a:rPr lang="ko-KR" sz="2000" b="0" u="none" strike="noStrike">
                <a:solidFill>
                  <a:srgbClr val="000000"/>
                </a:solidFill>
                <a:effectLst/>
                <a:uFillTx/>
                <a:latin typeface="Arial"/>
              </a:rPr>
              <a:t>할 수 있습니다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unicon-paper | p. 10, Theorem 2</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 PLOS ONE 17(11): e0277527</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https://journals.plos.org/plosone/article?id=10.1371/journal.pone.0277527</a:t>
            </a:r>
            <a:endParaRPr lang="en-US" sz="2000" b="0" u="none" strike="noStrike">
              <a:solidFill>
                <a:srgbClr val="000000"/>
              </a:solidFill>
              <a:effectLst/>
              <a:uFillTx/>
              <a:latin typeface="Arial"/>
            </a:endParaRPr>
          </a:p>
        </p:txBody>
      </p:sp>
      <p:sp>
        <p:nvSpPr>
          <p:cNvPr id="430" name="PlaceHolder 3"/>
          <p:cNvSpPr>
            <a:spLocks noGrp="1"/>
          </p:cNvSpPr>
          <p:nvPr>
            <p:ph type="sldNum" idx="18"/>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2028EA3E-5BA8-42FB-AD76-3F03E3C58A22}"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1" name="PlaceHolder 1"/>
          <p:cNvSpPr>
            <a:spLocks noGrp="1"/>
          </p:cNvSpPr>
          <p:nvPr>
            <p:ph type="sldImg"/>
          </p:nvPr>
        </p:nvSpPr>
        <p:spPr>
          <a:xfrm>
            <a:off x="0" y="0"/>
            <a:ext cx="0" cy="0"/>
          </a:xfrm>
          <a:prstGeom prst="rect">
            <a:avLst/>
          </a:prstGeom>
          <a:ln w="0">
            <a:noFill/>
          </a:ln>
        </p:spPr>
      </p:sp>
      <p:sp>
        <p:nvSpPr>
          <p:cNvPr id="43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16. Threshold tau</a:t>
            </a:r>
            <a:r>
              <a:rPr lang="ko-KR" sz="2000" b="0" u="none" strike="noStrike">
                <a:solidFill>
                  <a:srgbClr val="000000"/>
                </a:solidFill>
                <a:effectLst/>
                <a:uFillTx/>
                <a:latin typeface="Arial"/>
              </a:rPr>
              <a:t>와 </a:t>
            </a:r>
            <a:r>
              <a:rPr lang="en-US" sz="2000" b="0" u="none" strike="noStrike">
                <a:solidFill>
                  <a:srgbClr val="000000"/>
                </a:solidFill>
                <a:effectLst/>
                <a:uFillTx/>
                <a:latin typeface="Arial"/>
              </a:rPr>
              <a:t>Rem </a:t>
            </a:r>
            <a:r>
              <a:rPr lang="ko-KR" sz="2000" b="0" u="none" strike="noStrike">
                <a:solidFill>
                  <a:srgbClr val="000000"/>
                </a:solidFill>
                <a:effectLst/>
                <a:uFillTx/>
                <a:latin typeface="Arial"/>
              </a:rPr>
              <a:t>전환</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remaining edge count</a:t>
            </a:r>
            <a:r>
              <a:rPr lang="ko-KR" sz="2000" b="0" u="none" strike="noStrike">
                <a:solidFill>
                  <a:srgbClr val="000000"/>
                </a:solidFill>
                <a:effectLst/>
                <a:uFillTx/>
                <a:latin typeface="Arial"/>
              </a:rPr>
              <a:t>가 </a:t>
            </a:r>
            <a:r>
              <a:rPr lang="en-US" sz="2000" b="0" u="none" strike="noStrike">
                <a:solidFill>
                  <a:srgbClr val="000000"/>
                </a:solidFill>
                <a:effectLst/>
                <a:uFillTx/>
                <a:latin typeface="Arial"/>
              </a:rPr>
              <a:t>tau </a:t>
            </a:r>
            <a:r>
              <a:rPr lang="ko-KR" sz="2000" b="0" u="none" strike="noStrike">
                <a:solidFill>
                  <a:srgbClr val="000000"/>
                </a:solidFill>
                <a:effectLst/>
                <a:uFillTx/>
                <a:latin typeface="Arial"/>
              </a:rPr>
              <a:t>이하가 되면 </a:t>
            </a:r>
            <a:r>
              <a:rPr lang="en-US" sz="2000" b="0" u="none" strike="noStrike">
                <a:solidFill>
                  <a:srgbClr val="000000"/>
                </a:solidFill>
                <a:effectLst/>
                <a:uFillTx/>
                <a:latin typeface="Arial"/>
              </a:rPr>
              <a:t>Rem</a:t>
            </a:r>
            <a:r>
              <a:rPr lang="ko-KR" sz="2000" b="0" u="none" strike="noStrike">
                <a:solidFill>
                  <a:srgbClr val="000000"/>
                </a:solidFill>
                <a:effectLst/>
                <a:uFillTx/>
                <a:latin typeface="Arial"/>
              </a:rPr>
              <a:t>으로 전환합니다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이 </a:t>
            </a:r>
            <a:r>
              <a:rPr lang="en-US" sz="2000" b="0" u="none" strike="noStrike">
                <a:solidFill>
                  <a:srgbClr val="000000"/>
                </a:solidFill>
                <a:effectLst/>
                <a:uFillTx/>
                <a:latin typeface="Arial"/>
              </a:rPr>
              <a:t>choice</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correctness</a:t>
            </a:r>
            <a:r>
              <a:rPr lang="ko-KR" sz="2000" b="0" u="none" strike="noStrike">
                <a:solidFill>
                  <a:srgbClr val="000000"/>
                </a:solidFill>
                <a:effectLst/>
                <a:uFillTx/>
                <a:latin typeface="Arial"/>
              </a:rPr>
              <a:t>를 바꾸는 </a:t>
            </a:r>
            <a:r>
              <a:rPr lang="en-US" sz="2000" b="0" u="none" strike="noStrike">
                <a:solidFill>
                  <a:srgbClr val="000000"/>
                </a:solidFill>
                <a:effectLst/>
                <a:uFillTx/>
                <a:latin typeface="Arial"/>
              </a:rPr>
              <a:t>constant</a:t>
            </a:r>
            <a:r>
              <a:rPr lang="ko-KR" sz="2000" b="0" u="none" strike="noStrike">
                <a:solidFill>
                  <a:srgbClr val="000000"/>
                </a:solidFill>
                <a:effectLst/>
                <a:uFillTx/>
                <a:latin typeface="Arial"/>
              </a:rPr>
              <a:t>가 아니라 </a:t>
            </a:r>
            <a:r>
              <a:rPr lang="en-US" sz="2000" b="0" u="none" strike="noStrike">
                <a:solidFill>
                  <a:srgbClr val="000000"/>
                </a:solidFill>
                <a:effectLst/>
                <a:uFillTx/>
                <a:latin typeface="Arial"/>
              </a:rPr>
              <a:t>performance tuning</a:t>
            </a:r>
            <a:r>
              <a:rPr lang="ko-KR" sz="2000" b="0" u="none" strike="noStrike">
                <a:solidFill>
                  <a:srgbClr val="000000"/>
                </a:solidFill>
                <a:effectLst/>
                <a:uFillTx/>
                <a:latin typeface="Arial"/>
              </a:rPr>
              <a:t>입니다</a:t>
            </a:r>
            <a:r>
              <a:rPr lang="en-US" sz="2000" b="0" u="none" strike="noStrike">
                <a:solidFill>
                  <a:srgbClr val="000000"/>
                </a:solidFill>
                <a:effectLst/>
                <a:uFillTx/>
                <a:latin typeface="Arial"/>
              </a:rPr>
              <a:t>. Experiment</a:t>
            </a:r>
            <a:r>
              <a:rPr lang="ko-KR" sz="2000" b="0" u="none" strike="noStrike">
                <a:solidFill>
                  <a:srgbClr val="000000"/>
                </a:solidFill>
                <a:effectLst/>
                <a:uFillTx/>
                <a:latin typeface="Arial"/>
              </a:rPr>
              <a:t>에서 </a:t>
            </a:r>
            <a:r>
              <a:rPr lang="en-US" sz="2000" b="0" u="none" strike="noStrike">
                <a:solidFill>
                  <a:srgbClr val="000000"/>
                </a:solidFill>
                <a:effectLst/>
                <a:uFillTx/>
                <a:latin typeface="Arial"/>
              </a:rPr>
              <a:t>tau equals two thousand million</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GSH, CW, HL</a:t>
            </a:r>
            <a:r>
              <a:rPr lang="ko-KR" sz="2000" b="0" u="none" strike="noStrike">
                <a:solidFill>
                  <a:srgbClr val="000000"/>
                </a:solidFill>
                <a:effectLst/>
                <a:uFillTx/>
                <a:latin typeface="Arial"/>
              </a:rPr>
              <a:t>을 </a:t>
            </a:r>
            <a:r>
              <a:rPr lang="en-US" sz="2000" b="0" u="none" strike="noStrike">
                <a:solidFill>
                  <a:srgbClr val="000000"/>
                </a:solidFill>
                <a:effectLst/>
                <a:uFillTx/>
                <a:latin typeface="Arial"/>
              </a:rPr>
              <a:t>single machine</a:t>
            </a:r>
            <a:r>
              <a:rPr lang="ko-KR" sz="2000" b="0" u="none" strike="noStrike">
                <a:solidFill>
                  <a:srgbClr val="000000"/>
                </a:solidFill>
                <a:effectLst/>
                <a:uFillTx/>
                <a:latin typeface="Arial"/>
              </a:rPr>
              <a:t>으로 처리하려다 </a:t>
            </a:r>
            <a:r>
              <a:rPr lang="en-US" sz="2000" b="0" u="none" strike="noStrike">
                <a:solidFill>
                  <a:srgbClr val="000000"/>
                </a:solidFill>
                <a:effectLst/>
                <a:uFillTx/>
                <a:latin typeface="Arial"/>
              </a:rPr>
              <a:t>OOM</a:t>
            </a:r>
            <a:r>
              <a:rPr lang="ko-KR" sz="2000" b="0" u="none" strike="noStrike">
                <a:solidFill>
                  <a:srgbClr val="000000"/>
                </a:solidFill>
                <a:effectLst/>
                <a:uFillTx/>
                <a:latin typeface="Arial"/>
              </a:rPr>
              <a:t>을 냈습니다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논문은 각 </a:t>
            </a:r>
            <a:r>
              <a:rPr lang="en-US" sz="2000" b="0" u="none" strike="noStrike">
                <a:solidFill>
                  <a:srgbClr val="000000"/>
                </a:solidFill>
                <a:effectLst/>
                <a:uFillTx/>
                <a:latin typeface="Arial"/>
              </a:rPr>
              <a:t>dataset</a:t>
            </a:r>
            <a:r>
              <a:rPr lang="ko-KR" sz="2000" b="0" u="none" strike="noStrike">
                <a:solidFill>
                  <a:srgbClr val="000000"/>
                </a:solidFill>
                <a:effectLst/>
                <a:uFillTx/>
                <a:latin typeface="Arial"/>
              </a:rPr>
              <a:t>에 </a:t>
            </a:r>
            <a:r>
              <a:rPr lang="en-US" sz="2000" b="0" u="none" strike="noStrike">
                <a:solidFill>
                  <a:srgbClr val="000000"/>
                </a:solidFill>
                <a:effectLst/>
                <a:uFillTx/>
                <a:latin typeface="Arial"/>
              </a:rPr>
              <a:t>optimal tau</a:t>
            </a:r>
            <a:r>
              <a:rPr lang="ko-KR" sz="2000" b="0" u="none" strike="noStrike">
                <a:solidFill>
                  <a:srgbClr val="000000"/>
                </a:solidFill>
                <a:effectLst/>
                <a:uFillTx/>
                <a:latin typeface="Arial"/>
              </a:rPr>
              <a:t>를 사용했으므로 하나의 </a:t>
            </a:r>
            <a:r>
              <a:rPr lang="en-US" sz="2000" b="0" u="none" strike="noStrike">
                <a:solidFill>
                  <a:srgbClr val="000000"/>
                </a:solidFill>
                <a:effectLst/>
                <a:uFillTx/>
                <a:latin typeface="Arial"/>
              </a:rPr>
              <a:t>tau</a:t>
            </a:r>
            <a:r>
              <a:rPr lang="ko-KR" sz="2000" b="0" u="none" strike="noStrike">
                <a:solidFill>
                  <a:srgbClr val="000000"/>
                </a:solidFill>
                <a:effectLst/>
                <a:uFillTx/>
                <a:latin typeface="Arial"/>
              </a:rPr>
              <a:t>를 모든 </a:t>
            </a:r>
            <a:r>
              <a:rPr lang="en-US" sz="2000" b="0" u="none" strike="noStrike">
                <a:solidFill>
                  <a:srgbClr val="000000"/>
                </a:solidFill>
                <a:effectLst/>
                <a:uFillTx/>
                <a:latin typeface="Arial"/>
              </a:rPr>
              <a:t>hardware</a:t>
            </a:r>
            <a:r>
              <a:rPr lang="ko-KR" sz="2000" b="0" u="none" strike="noStrike">
                <a:solidFill>
                  <a:srgbClr val="000000"/>
                </a:solidFill>
                <a:effectLst/>
                <a:uFillTx/>
                <a:latin typeface="Arial"/>
              </a:rPr>
              <a:t>에 권장할 수 없습니다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unicon-paper | pp. 5-6 and 12, Algorithm 1 and Fig. 6</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 PLOS ONE 17(11): e0277527</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https://journals.plos.org/plosone/article?id=10.1371/journal.pone.0277527</a:t>
            </a:r>
            <a:endParaRPr lang="en-US" sz="2000" b="0" u="none" strike="noStrike">
              <a:solidFill>
                <a:srgbClr val="000000"/>
              </a:solidFill>
              <a:effectLst/>
              <a:uFillTx/>
              <a:latin typeface="Arial"/>
            </a:endParaRPr>
          </a:p>
        </p:txBody>
      </p:sp>
      <p:sp>
        <p:nvSpPr>
          <p:cNvPr id="433" name="PlaceHolder 3"/>
          <p:cNvSpPr>
            <a:spLocks noGrp="1"/>
          </p:cNvSpPr>
          <p:nvPr>
            <p:ph type="sldNum" idx="19"/>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EA3D1E32-3CA3-4974-83CF-B08C51BE7944}"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4" name="PlaceHolder 1"/>
          <p:cNvSpPr>
            <a:spLocks noGrp="1"/>
          </p:cNvSpPr>
          <p:nvPr>
            <p:ph type="sldImg"/>
          </p:nvPr>
        </p:nvSpPr>
        <p:spPr>
          <a:xfrm>
            <a:off x="0" y="0"/>
            <a:ext cx="0" cy="0"/>
          </a:xfrm>
          <a:prstGeom prst="rect">
            <a:avLst/>
          </a:prstGeom>
          <a:ln w="0">
            <a:noFill/>
          </a:ln>
        </p:spPr>
      </p:sp>
      <p:sp>
        <p:nvSpPr>
          <p:cNvPr id="43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17. HybridMap</a:t>
            </a:r>
            <a:r>
              <a:rPr lang="ko-KR" sz="2000" b="0" u="none" strike="noStrike">
                <a:solidFill>
                  <a:srgbClr val="000000"/>
                </a:solidFill>
                <a:effectLst/>
                <a:uFillTx/>
                <a:latin typeface="Arial"/>
              </a:rPr>
              <a:t>이 </a:t>
            </a:r>
            <a:r>
              <a:rPr lang="en-US" sz="2000" b="0" u="none" strike="noStrike">
                <a:solidFill>
                  <a:srgbClr val="000000"/>
                </a:solidFill>
                <a:effectLst/>
                <a:uFillTx/>
                <a:latin typeface="Arial"/>
              </a:rPr>
              <a:t>worker RAM</a:t>
            </a:r>
            <a:r>
              <a:rPr lang="ko-KR" sz="2000" b="0" u="none" strike="noStrike">
                <a:solidFill>
                  <a:srgbClr val="000000"/>
                </a:solidFill>
                <a:effectLst/>
                <a:uFillTx/>
                <a:latin typeface="Arial"/>
              </a:rPr>
              <a:t>을 구성하는 방법</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Rem</a:t>
            </a:r>
            <a:r>
              <a:rPr lang="ko-KR" sz="2000" b="0" u="none" strike="noStrike">
                <a:solidFill>
                  <a:srgbClr val="000000"/>
                </a:solidFill>
                <a:effectLst/>
                <a:uFillTx/>
                <a:latin typeface="Arial"/>
              </a:rPr>
              <a:t>의 </a:t>
            </a:r>
            <a:r>
              <a:rPr lang="en-US" sz="2000" b="0" u="none" strike="noStrike">
                <a:solidFill>
                  <a:srgbClr val="000000"/>
                </a:solidFill>
                <a:effectLst/>
                <a:uFillTx/>
                <a:latin typeface="Arial"/>
              </a:rPr>
              <a:t>parent map p</a:t>
            </a:r>
            <a:r>
              <a:rPr lang="ko-KR" sz="2000" b="0" u="none" strike="noStrike">
                <a:solidFill>
                  <a:srgbClr val="000000"/>
                </a:solidFill>
                <a:effectLst/>
                <a:uFillTx/>
                <a:latin typeface="Arial"/>
              </a:rPr>
              <a:t>를 </a:t>
            </a:r>
            <a:r>
              <a:rPr lang="en-US" sz="2000" b="0" u="none" strike="noStrike">
                <a:solidFill>
                  <a:srgbClr val="000000"/>
                </a:solidFill>
                <a:effectLst/>
                <a:uFillTx/>
                <a:latin typeface="Arial"/>
              </a:rPr>
              <a:t>universe-size array</a:t>
            </a:r>
            <a:r>
              <a:rPr lang="ko-KR" sz="2000" b="0" u="none" strike="noStrike">
                <a:solidFill>
                  <a:srgbClr val="000000"/>
                </a:solidFill>
                <a:effectLst/>
                <a:uFillTx/>
                <a:latin typeface="Arial"/>
              </a:rPr>
              <a:t>로 만들면 </a:t>
            </a:r>
            <a:r>
              <a:rPr lang="en-US" sz="2000" b="0" u="none" strike="noStrike">
                <a:solidFill>
                  <a:srgbClr val="000000"/>
                </a:solidFill>
                <a:effectLst/>
                <a:uFillTx/>
                <a:latin typeface="Arial"/>
              </a:rPr>
              <a:t>each worker</a:t>
            </a:r>
            <a:r>
              <a:rPr lang="ko-KR" sz="2000" b="0" u="none" strike="noStrike">
                <a:solidFill>
                  <a:srgbClr val="000000"/>
                </a:solidFill>
                <a:effectLst/>
                <a:uFillTx/>
                <a:latin typeface="Arial"/>
              </a:rPr>
              <a:t>가 </a:t>
            </a:r>
            <a:r>
              <a:rPr lang="en-US" sz="2000" b="0" u="none" strike="noStrike">
                <a:solidFill>
                  <a:srgbClr val="000000"/>
                </a:solidFill>
                <a:effectLst/>
                <a:uFillTx/>
                <a:latin typeface="Arial"/>
              </a:rPr>
              <a:t>total vertex count size</a:t>
            </a:r>
            <a:r>
              <a:rPr lang="ko-KR" sz="2000" b="0" u="none" strike="noStrike">
                <a:solidFill>
                  <a:srgbClr val="000000"/>
                </a:solidFill>
                <a:effectLst/>
                <a:uFillTx/>
                <a:latin typeface="Arial"/>
              </a:rPr>
              <a:t>를 부담합니다</a:t>
            </a:r>
            <a:r>
              <a:rPr lang="en-US" sz="2000" b="0" u="none" strike="noStrike">
                <a:solidFill>
                  <a:srgbClr val="000000"/>
                </a:solidFill>
                <a:effectLst/>
                <a:uFillTx/>
                <a:latin typeface="Arial"/>
              </a:rPr>
              <a:t>. HybridMap</a:t>
            </a:r>
            <a:r>
              <a:rPr lang="ko-KR" sz="2000" b="0" u="none" strike="noStrike">
                <a:solidFill>
                  <a:srgbClr val="000000"/>
                </a:solidFill>
                <a:effectLst/>
                <a:uFillTx/>
                <a:latin typeface="Arial"/>
              </a:rPr>
              <a:t>은 자기 </a:t>
            </a:r>
            <a:r>
              <a:rPr lang="en-US" sz="2000" b="0" u="none" strike="noStrike">
                <a:solidFill>
                  <a:srgbClr val="000000"/>
                </a:solidFill>
                <a:effectLst/>
                <a:uFillTx/>
                <a:latin typeface="Arial"/>
              </a:rPr>
              <a:t>partition vertex range</a:t>
            </a:r>
            <a:r>
              <a:rPr lang="ko-KR" sz="2000" b="0" u="none" strike="noStrike">
                <a:solidFill>
                  <a:srgbClr val="000000"/>
                </a:solidFill>
                <a:effectLst/>
                <a:uFillTx/>
                <a:latin typeface="Arial"/>
              </a:rPr>
              <a:t>를 </a:t>
            </a:r>
            <a:r>
              <a:rPr lang="en-US" sz="2000" b="0" u="none" strike="noStrike">
                <a:solidFill>
                  <a:srgbClr val="000000"/>
                </a:solidFill>
                <a:effectLst/>
                <a:uFillTx/>
                <a:latin typeface="Arial"/>
              </a:rPr>
              <a:t>compact array</a:t>
            </a:r>
            <a:r>
              <a:rPr lang="ko-KR" sz="2000" b="0" u="none" strike="noStrike">
                <a:solidFill>
                  <a:srgbClr val="000000"/>
                </a:solidFill>
                <a:effectLst/>
                <a:uFillTx/>
                <a:latin typeface="Arial"/>
              </a:rPr>
              <a:t>에 두고</a:t>
            </a:r>
            <a:r>
              <a:rPr lang="en-US" sz="2000" b="0" u="none" strike="noStrike">
                <a:solidFill>
                  <a:srgbClr val="000000"/>
                </a:solidFill>
                <a:effectLst/>
                <a:uFillTx/>
                <a:latin typeface="Arial"/>
              </a:rPr>
              <a:t>, local subgraph</a:t>
            </a:r>
            <a:r>
              <a:rPr lang="ko-KR" sz="2000" b="0" u="none" strike="noStrike">
                <a:solidFill>
                  <a:srgbClr val="000000"/>
                </a:solidFill>
                <a:effectLst/>
                <a:uFillTx/>
                <a:latin typeface="Arial"/>
              </a:rPr>
              <a:t>에 </a:t>
            </a:r>
            <a:r>
              <a:rPr lang="en-US" sz="2000" b="0" u="none" strike="noStrike">
                <a:solidFill>
                  <a:srgbClr val="000000"/>
                </a:solidFill>
                <a:effectLst/>
                <a:uFillTx/>
                <a:latin typeface="Arial"/>
              </a:rPr>
              <a:t>incident</a:t>
            </a:r>
            <a:r>
              <a:rPr lang="ko-KR" sz="2000" b="0" u="none" strike="noStrike">
                <a:solidFill>
                  <a:srgbClr val="000000"/>
                </a:solidFill>
                <a:effectLst/>
                <a:uFillTx/>
                <a:latin typeface="Arial"/>
              </a:rPr>
              <a:t>하지만 </a:t>
            </a:r>
            <a:r>
              <a:rPr lang="en-US" sz="2000" b="0" u="none" strike="noStrike">
                <a:solidFill>
                  <a:srgbClr val="000000"/>
                </a:solidFill>
                <a:effectLst/>
                <a:uFillTx/>
                <a:latin typeface="Arial"/>
              </a:rPr>
              <a:t>partition </a:t>
            </a:r>
            <a:r>
              <a:rPr lang="ko-KR" sz="2000" b="0" u="none" strike="noStrike">
                <a:solidFill>
                  <a:srgbClr val="000000"/>
                </a:solidFill>
                <a:effectLst/>
                <a:uFillTx/>
                <a:latin typeface="Arial"/>
              </a:rPr>
              <a:t>밖인 </a:t>
            </a:r>
            <a:r>
              <a:rPr lang="en-US" sz="2000" b="0" u="none" strike="noStrike">
                <a:solidFill>
                  <a:srgbClr val="000000"/>
                </a:solidFill>
                <a:effectLst/>
                <a:uFillTx/>
                <a:latin typeface="Arial"/>
              </a:rPr>
              <a:t>vertices</a:t>
            </a:r>
            <a:r>
              <a:rPr lang="ko-KR" sz="2000" b="0" u="none" strike="noStrike">
                <a:solidFill>
                  <a:srgbClr val="000000"/>
                </a:solidFill>
                <a:effectLst/>
                <a:uFillTx/>
                <a:latin typeface="Arial"/>
              </a:rPr>
              <a:t>만 </a:t>
            </a:r>
            <a:r>
              <a:rPr lang="en-US" sz="2000" b="0" u="none" strike="noStrike">
                <a:solidFill>
                  <a:srgbClr val="000000"/>
                </a:solidFill>
                <a:effectLst/>
                <a:uFillTx/>
                <a:latin typeface="Arial"/>
              </a:rPr>
              <a:t>hash table</a:t>
            </a:r>
            <a:r>
              <a:rPr lang="ko-KR" sz="2000" b="0" u="none" strike="noStrike">
                <a:solidFill>
                  <a:srgbClr val="000000"/>
                </a:solidFill>
                <a:effectLst/>
                <a:uFillTx/>
                <a:latin typeface="Arial"/>
              </a:rPr>
              <a:t>에 둡니다</a:t>
            </a:r>
            <a:r>
              <a:rPr lang="en-US" sz="2000" b="0" u="none" strike="noStrike">
                <a:solidFill>
                  <a:srgbClr val="000000"/>
                </a:solidFill>
                <a:effectLst/>
                <a:uFillTx/>
                <a:latin typeface="Arial"/>
              </a:rPr>
              <a:t>. Local keys</a:t>
            </a:r>
            <a:r>
              <a:rPr lang="ko-KR" sz="2000" b="0" u="none" strike="noStrike">
                <a:solidFill>
                  <a:srgbClr val="000000"/>
                </a:solidFill>
                <a:effectLst/>
                <a:uFillTx/>
                <a:latin typeface="Arial"/>
              </a:rPr>
              <a:t>가 대부분 </a:t>
            </a:r>
            <a:r>
              <a:rPr lang="en-US" sz="2000" b="0" u="none" strike="noStrike">
                <a:solidFill>
                  <a:srgbClr val="000000"/>
                </a:solidFill>
                <a:effectLst/>
                <a:uFillTx/>
                <a:latin typeface="Arial"/>
              </a:rPr>
              <a:t>array</a:t>
            </a:r>
            <a:r>
              <a:rPr lang="ko-KR" sz="2000" b="0" u="none" strike="noStrike">
                <a:solidFill>
                  <a:srgbClr val="000000"/>
                </a:solidFill>
                <a:effectLst/>
                <a:uFillTx/>
                <a:latin typeface="Arial"/>
              </a:rPr>
              <a:t>에 있으므로 </a:t>
            </a:r>
            <a:r>
              <a:rPr lang="en-US" sz="2000" b="0" u="none" strike="noStrike">
                <a:solidFill>
                  <a:srgbClr val="000000"/>
                </a:solidFill>
                <a:effectLst/>
                <a:uFillTx/>
                <a:latin typeface="Arial"/>
              </a:rPr>
              <a:t>all-hash</a:t>
            </a:r>
            <a:r>
              <a:rPr lang="ko-KR" sz="2000" b="0" u="none" strike="noStrike">
                <a:solidFill>
                  <a:srgbClr val="000000"/>
                </a:solidFill>
                <a:effectLst/>
                <a:uFillTx/>
                <a:latin typeface="Arial"/>
              </a:rPr>
              <a:t>보다 </a:t>
            </a:r>
            <a:r>
              <a:rPr lang="en-US" sz="2000" b="0" u="none" strike="noStrike">
                <a:solidFill>
                  <a:srgbClr val="000000"/>
                </a:solidFill>
                <a:effectLst/>
                <a:uFillTx/>
                <a:latin typeface="Arial"/>
              </a:rPr>
              <a:t>lookup</a:t>
            </a:r>
            <a:r>
              <a:rPr lang="ko-KR" sz="2000" b="0" u="none" strike="noStrike">
                <a:solidFill>
                  <a:srgbClr val="000000"/>
                </a:solidFill>
                <a:effectLst/>
                <a:uFillTx/>
                <a:latin typeface="Arial"/>
              </a:rPr>
              <a:t>을 줄이고</a:t>
            </a:r>
            <a:r>
              <a:rPr lang="en-US" sz="2000" b="0" u="none" strike="noStrike">
                <a:solidFill>
                  <a:srgbClr val="000000"/>
                </a:solidFill>
                <a:effectLst/>
                <a:uFillTx/>
                <a:latin typeface="Arial"/>
              </a:rPr>
              <a:t>, full array</a:t>
            </a:r>
            <a:r>
              <a:rPr lang="ko-KR" sz="2000" b="0" u="none" strike="noStrike">
                <a:solidFill>
                  <a:srgbClr val="000000"/>
                </a:solidFill>
                <a:effectLst/>
                <a:uFillTx/>
                <a:latin typeface="Arial"/>
              </a:rPr>
              <a:t>보다 </a:t>
            </a:r>
            <a:r>
              <a:rPr lang="en-US" sz="2000" b="0" u="none" strike="noStrike">
                <a:solidFill>
                  <a:srgbClr val="000000"/>
                </a:solidFill>
                <a:effectLst/>
                <a:uFillTx/>
                <a:latin typeface="Arial"/>
              </a:rPr>
              <a:t>memory</a:t>
            </a:r>
            <a:r>
              <a:rPr lang="ko-KR" sz="2000" b="0" u="none" strike="noStrike">
                <a:solidFill>
                  <a:srgbClr val="000000"/>
                </a:solidFill>
                <a:effectLst/>
                <a:uFillTx/>
                <a:latin typeface="Arial"/>
              </a:rPr>
              <a:t>를 크게 낮춥니다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unicon-paper | p. 11, HybridMap section</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 PLOS ONE 17(11): e0277527</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https://journals.plos.org/plosone/article?id=10.1371/journal.pone.0277527</a:t>
            </a:r>
            <a:endParaRPr lang="en-US" sz="2000" b="0" u="none" strike="noStrike">
              <a:solidFill>
                <a:srgbClr val="000000"/>
              </a:solidFill>
              <a:effectLst/>
              <a:uFillTx/>
              <a:latin typeface="Arial"/>
            </a:endParaRPr>
          </a:p>
        </p:txBody>
      </p:sp>
      <p:sp>
        <p:nvSpPr>
          <p:cNvPr id="436" name="PlaceHolder 3"/>
          <p:cNvSpPr>
            <a:spLocks noGrp="1"/>
          </p:cNvSpPr>
          <p:nvPr>
            <p:ph type="sldNum" idx="20"/>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0B478795-DB6D-46F0-9078-82C4FFA1FAF5}"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7" name="PlaceHolder 1"/>
          <p:cNvSpPr>
            <a:spLocks noGrp="1"/>
          </p:cNvSpPr>
          <p:nvPr>
            <p:ph type="sldImg"/>
          </p:nvPr>
        </p:nvSpPr>
        <p:spPr>
          <a:xfrm>
            <a:off x="0" y="0"/>
            <a:ext cx="0" cy="0"/>
          </a:xfrm>
          <a:prstGeom prst="rect">
            <a:avLst/>
          </a:prstGeom>
          <a:ln w="0">
            <a:noFill/>
          </a:ln>
        </p:spPr>
      </p:sp>
      <p:sp>
        <p:nvSpPr>
          <p:cNvPr id="43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18. Theorem 3</a:t>
            </a:r>
            <a:r>
              <a:rPr lang="ko-KR" sz="2000" b="0" u="none" strike="noStrike">
                <a:solidFill>
                  <a:srgbClr val="000000"/>
                </a:solidFill>
                <a:effectLst/>
                <a:uFillTx/>
                <a:latin typeface="Arial"/>
              </a:rPr>
              <a:t>의 </a:t>
            </a:r>
            <a:r>
              <a:rPr lang="en-US" sz="2000" b="0" u="none" strike="noStrike">
                <a:solidFill>
                  <a:srgbClr val="000000"/>
                </a:solidFill>
                <a:effectLst/>
                <a:uFillTx/>
                <a:latin typeface="Arial"/>
              </a:rPr>
              <a:t>expected memory bound</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Theorem 3 assumes random vertex partition and evenly distributed edges. Expected local vertex count is V over rho, and expected edge-view count is two E over rho because a cross edge can enter two subgraphs. </a:t>
            </a:r>
            <a:r>
              <a:rPr lang="ko-KR" sz="2000" b="0" u="none" strike="noStrike">
                <a:solidFill>
                  <a:srgbClr val="000000"/>
                </a:solidFill>
                <a:effectLst/>
                <a:uFillTx/>
                <a:latin typeface="Arial"/>
              </a:rPr>
              <a:t>따라서 </a:t>
            </a:r>
            <a:r>
              <a:rPr lang="en-US" sz="2000" b="0" u="none" strike="noStrike">
                <a:solidFill>
                  <a:srgbClr val="000000"/>
                </a:solidFill>
                <a:effectLst/>
                <a:uFillTx/>
                <a:latin typeface="Arial"/>
              </a:rPr>
              <a:t>HybridMap memory</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expected O of V plus E over rho</a:t>
            </a:r>
            <a:r>
              <a:rPr lang="ko-KR" sz="2000" b="0" u="none" strike="noStrike">
                <a:solidFill>
                  <a:srgbClr val="000000"/>
                </a:solidFill>
                <a:effectLst/>
                <a:uFillTx/>
                <a:latin typeface="Arial"/>
              </a:rPr>
              <a:t>입니다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논문은 </a:t>
            </a:r>
            <a:r>
              <a:rPr lang="en-US" sz="2000" b="0" u="none" strike="noStrike">
                <a:solidFill>
                  <a:srgbClr val="000000"/>
                </a:solidFill>
                <a:effectLst/>
                <a:uFillTx/>
                <a:latin typeface="Arial"/>
              </a:rPr>
              <a:t>high-probability concentration</a:t>
            </a:r>
            <a:r>
              <a:rPr lang="ko-KR" sz="2000" b="0" u="none" strike="noStrike">
                <a:solidFill>
                  <a:srgbClr val="000000"/>
                </a:solidFill>
                <a:effectLst/>
                <a:uFillTx/>
                <a:latin typeface="Arial"/>
              </a:rPr>
              <a:t>이나 </a:t>
            </a:r>
            <a:r>
              <a:rPr lang="en-US" sz="2000" b="0" u="none" strike="noStrike">
                <a:solidFill>
                  <a:srgbClr val="000000"/>
                </a:solidFill>
                <a:effectLst/>
                <a:uFillTx/>
                <a:latin typeface="Arial"/>
              </a:rPr>
              <a:t>deterministic byte limit</a:t>
            </a:r>
            <a:r>
              <a:rPr lang="ko-KR" sz="2000" b="0" u="none" strike="noStrike">
                <a:solidFill>
                  <a:srgbClr val="000000"/>
                </a:solidFill>
                <a:effectLst/>
                <a:uFillTx/>
                <a:latin typeface="Arial"/>
              </a:rPr>
              <a:t>을 제공하지 않습니다</a:t>
            </a:r>
            <a:r>
              <a:rPr lang="en-US" sz="2000" b="0" u="none" strike="noStrike">
                <a:solidFill>
                  <a:srgbClr val="000000"/>
                </a:solidFill>
                <a:effectLst/>
                <a:uFillTx/>
                <a:latin typeface="Arial"/>
              </a:rPr>
              <a:t>. Rho</a:t>
            </a:r>
            <a:r>
              <a:rPr lang="ko-KR" sz="2000" b="0" u="none" strike="noStrike">
                <a:solidFill>
                  <a:srgbClr val="000000"/>
                </a:solidFill>
                <a:effectLst/>
                <a:uFillTx/>
                <a:latin typeface="Arial"/>
              </a:rPr>
              <a:t>를 늘리면 </a:t>
            </a:r>
            <a:r>
              <a:rPr lang="en-US" sz="2000" b="0" u="none" strike="noStrike">
                <a:solidFill>
                  <a:srgbClr val="000000"/>
                </a:solidFill>
                <a:effectLst/>
                <a:uFillTx/>
                <a:latin typeface="Arial"/>
              </a:rPr>
              <a:t>memory</a:t>
            </a:r>
            <a:r>
              <a:rPr lang="ko-KR" sz="2000" b="0" u="none" strike="noStrike">
                <a:solidFill>
                  <a:srgbClr val="000000"/>
                </a:solidFill>
                <a:effectLst/>
                <a:uFillTx/>
                <a:latin typeface="Arial"/>
              </a:rPr>
              <a:t>는 줄지만 </a:t>
            </a:r>
            <a:r>
              <a:rPr lang="en-US" sz="2000" b="0" u="none" strike="noStrike">
                <a:solidFill>
                  <a:srgbClr val="000000"/>
                </a:solidFill>
                <a:effectLst/>
                <a:uFillTx/>
                <a:latin typeface="Arial"/>
              </a:rPr>
              <a:t>partition-aware benefit</a:t>
            </a:r>
            <a:r>
              <a:rPr lang="ko-KR" sz="2000" b="0" u="none" strike="noStrike">
                <a:solidFill>
                  <a:srgbClr val="000000"/>
                </a:solidFill>
                <a:effectLst/>
                <a:uFillTx/>
                <a:latin typeface="Arial"/>
              </a:rPr>
              <a:t>와 </a:t>
            </a:r>
            <a:r>
              <a:rPr lang="en-US" sz="2000" b="0" u="none" strike="noStrike">
                <a:solidFill>
                  <a:srgbClr val="000000"/>
                </a:solidFill>
                <a:effectLst/>
                <a:uFillTx/>
                <a:latin typeface="Arial"/>
              </a:rPr>
              <a:t>performance</a:t>
            </a:r>
            <a:r>
              <a:rPr lang="ko-KR" sz="2000" b="0" u="none" strike="noStrike">
                <a:solidFill>
                  <a:srgbClr val="000000"/>
                </a:solidFill>
                <a:effectLst/>
                <a:uFillTx/>
                <a:latin typeface="Arial"/>
              </a:rPr>
              <a:t>가 약해질 수 있습니다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unicon-paper | p. 11, Theorem 3 and Fig. 7</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 PLOS ONE 17(11): e0277527</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https://journals.plos.org/plosone/article?id=10.1371/journal.pone.0277527</a:t>
            </a:r>
            <a:endParaRPr lang="en-US" sz="2000" b="0" u="none" strike="noStrike">
              <a:solidFill>
                <a:srgbClr val="000000"/>
              </a:solidFill>
              <a:effectLst/>
              <a:uFillTx/>
              <a:latin typeface="Arial"/>
            </a:endParaRPr>
          </a:p>
        </p:txBody>
      </p:sp>
      <p:sp>
        <p:nvSpPr>
          <p:cNvPr id="439" name="PlaceHolder 3"/>
          <p:cNvSpPr>
            <a:spLocks noGrp="1"/>
          </p:cNvSpPr>
          <p:nvPr>
            <p:ph type="sldNum" idx="21"/>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132A67FC-D878-4D0C-B53D-F383D8F4DDE3}"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0" name="PlaceHolder 1"/>
          <p:cNvSpPr>
            <a:spLocks noGrp="1"/>
          </p:cNvSpPr>
          <p:nvPr>
            <p:ph type="sldImg"/>
          </p:nvPr>
        </p:nvSpPr>
        <p:spPr>
          <a:xfrm>
            <a:off x="0" y="0"/>
            <a:ext cx="0" cy="0"/>
          </a:xfrm>
          <a:prstGeom prst="rect">
            <a:avLst/>
          </a:prstGeom>
          <a:ln w="0">
            <a:noFill/>
          </a:ln>
        </p:spPr>
      </p:sp>
      <p:sp>
        <p:nvSpPr>
          <p:cNvPr id="44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19. </a:t>
            </a:r>
            <a:r>
              <a:rPr lang="ko-KR" sz="2000" b="0" u="none" strike="noStrike">
                <a:solidFill>
                  <a:srgbClr val="000000"/>
                </a:solidFill>
                <a:effectLst/>
                <a:uFillTx/>
                <a:latin typeface="Arial"/>
              </a:rPr>
              <a:t>증명과 측정을 구분하는 기준</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Theorem one is a connectivity correctness result. Theorem two supports case-three filtering under its structural condition. Theorem three is an expected asymptotic memory result. In contrast, input reduction, intermediate-data reduction, speedups and maximum processable sizes are measurements. Edge record count</a:t>
            </a:r>
            <a:r>
              <a:rPr lang="ko-KR" sz="2000" b="0" u="none" strike="noStrike">
                <a:solidFill>
                  <a:srgbClr val="000000"/>
                </a:solidFill>
                <a:effectLst/>
                <a:uFillTx/>
                <a:latin typeface="Arial"/>
              </a:rPr>
              <a:t>가 줄어도 </a:t>
            </a:r>
            <a:r>
              <a:rPr lang="en-US" sz="2000" b="0" u="none" strike="noStrike">
                <a:solidFill>
                  <a:srgbClr val="000000"/>
                </a:solidFill>
                <a:effectLst/>
                <a:uFillTx/>
                <a:latin typeface="Arial"/>
              </a:rPr>
              <a:t>compression, sort spill, network bytes, JVM overhead</a:t>
            </a:r>
            <a:r>
              <a:rPr lang="ko-KR" sz="2000" b="0" u="none" strike="noStrike">
                <a:solidFill>
                  <a:srgbClr val="000000"/>
                </a:solidFill>
                <a:effectLst/>
                <a:uFillTx/>
                <a:latin typeface="Arial"/>
              </a:rPr>
              <a:t>가 같은 비율로 줄어든다는 </a:t>
            </a:r>
            <a:r>
              <a:rPr lang="en-US" sz="2000" b="0" u="none" strike="noStrike">
                <a:solidFill>
                  <a:srgbClr val="000000"/>
                </a:solidFill>
                <a:effectLst/>
                <a:uFillTx/>
                <a:latin typeface="Arial"/>
              </a:rPr>
              <a:t>theorem</a:t>
            </a:r>
            <a:r>
              <a:rPr lang="ko-KR" sz="2000" b="0" u="none" strike="noStrike">
                <a:solidFill>
                  <a:srgbClr val="000000"/>
                </a:solidFill>
                <a:effectLst/>
                <a:uFillTx/>
                <a:latin typeface="Arial"/>
              </a:rPr>
              <a:t>은 없습니다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unicon-paper | pp. 8-11, Theorems 1-3; pp. 14-18</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 PLOS ONE 17(11): e0277527</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https://journals.plos.org/plosone/article?id=10.1371/journal.pone.0277527</a:t>
            </a:r>
            <a:endParaRPr lang="en-US" sz="2000" b="0" u="none" strike="noStrike">
              <a:solidFill>
                <a:srgbClr val="000000"/>
              </a:solidFill>
              <a:effectLst/>
              <a:uFillTx/>
              <a:latin typeface="Arial"/>
            </a:endParaRPr>
          </a:p>
        </p:txBody>
      </p:sp>
      <p:sp>
        <p:nvSpPr>
          <p:cNvPr id="442" name="PlaceHolder 3"/>
          <p:cNvSpPr>
            <a:spLocks noGrp="1"/>
          </p:cNvSpPr>
          <p:nvPr>
            <p:ph type="sldNum" idx="22"/>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78252346-1610-4AEA-800B-813EABA8F310}"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3" name="PlaceHolder 1"/>
          <p:cNvSpPr>
            <a:spLocks noGrp="1"/>
          </p:cNvSpPr>
          <p:nvPr>
            <p:ph type="sldImg"/>
          </p:nvPr>
        </p:nvSpPr>
        <p:spPr>
          <a:xfrm>
            <a:off x="0" y="0"/>
            <a:ext cx="0" cy="0"/>
          </a:xfrm>
          <a:prstGeom prst="rect">
            <a:avLst/>
          </a:prstGeom>
          <a:ln w="0">
            <a:noFill/>
          </a:ln>
        </p:spPr>
      </p:sp>
      <p:sp>
        <p:nvSpPr>
          <p:cNvPr id="44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20. Experiment hardware</a:t>
            </a:r>
            <a:r>
              <a:rPr lang="ko-KR" sz="2000" b="0" u="none" strike="noStrike">
                <a:solidFill>
                  <a:srgbClr val="000000"/>
                </a:solidFill>
                <a:effectLst/>
                <a:uFillTx/>
                <a:latin typeface="Arial"/>
              </a:rPr>
              <a:t>와 </a:t>
            </a:r>
            <a:r>
              <a:rPr lang="en-US" sz="2000" b="0" u="none" strike="noStrike">
                <a:solidFill>
                  <a:srgbClr val="000000"/>
                </a:solidFill>
                <a:effectLst/>
                <a:uFillTx/>
                <a:latin typeface="Arial"/>
              </a:rPr>
              <a:t>software </a:t>
            </a:r>
            <a:r>
              <a:rPr lang="ko-KR" sz="2000" b="0" u="none" strike="noStrike">
                <a:solidFill>
                  <a:srgbClr val="000000"/>
                </a:solidFill>
                <a:effectLst/>
                <a:uFillTx/>
                <a:latin typeface="Arial"/>
              </a:rPr>
              <a:t>조건</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실험 </a:t>
            </a:r>
            <a:r>
              <a:rPr lang="en-US" sz="2000" b="0" u="none" strike="noStrike">
                <a:solidFill>
                  <a:srgbClr val="000000"/>
                </a:solidFill>
                <a:effectLst/>
                <a:uFillTx/>
                <a:latin typeface="Arial"/>
              </a:rPr>
              <a:t>cluster</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10 machines</a:t>
            </a:r>
            <a:r>
              <a:rPr lang="ko-KR" sz="2000" b="0" u="none" strike="noStrike">
                <a:solidFill>
                  <a:srgbClr val="000000"/>
                </a:solidFill>
                <a:effectLst/>
                <a:uFillTx/>
                <a:latin typeface="Arial"/>
              </a:rPr>
              <a:t>로 구성됩니다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각 </a:t>
            </a:r>
            <a:r>
              <a:rPr lang="en-US" sz="2000" b="0" u="none" strike="noStrike">
                <a:solidFill>
                  <a:srgbClr val="000000"/>
                </a:solidFill>
                <a:effectLst/>
                <a:uFillTx/>
                <a:latin typeface="Arial"/>
              </a:rPr>
              <a:t>machine</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four-core Intel Xeon E3-1220 at 3.10 gigahertz, 16 gigabytes RAM, two one-terabyte SSDs</a:t>
            </a:r>
            <a:r>
              <a:rPr lang="ko-KR" sz="2000" b="0" u="none" strike="noStrike">
                <a:solidFill>
                  <a:srgbClr val="000000"/>
                </a:solidFill>
                <a:effectLst/>
                <a:uFillTx/>
                <a:latin typeface="Arial"/>
              </a:rPr>
              <a:t>를 갖습니다</a:t>
            </a:r>
            <a:r>
              <a:rPr lang="en-US" sz="2000" b="0" u="none" strike="noStrike">
                <a:solidFill>
                  <a:srgbClr val="000000"/>
                </a:solidFill>
                <a:effectLst/>
                <a:uFillTx/>
                <a:latin typeface="Arial"/>
              </a:rPr>
              <a:t>. Hadoop 3.2.1, Spark 3.0.1, MPICH 3.3</a:t>
            </a:r>
            <a:r>
              <a:rPr lang="ko-KR" sz="2000" b="0" u="none" strike="noStrike">
                <a:solidFill>
                  <a:srgbClr val="000000"/>
                </a:solidFill>
                <a:effectLst/>
                <a:uFillTx/>
                <a:latin typeface="Arial"/>
              </a:rPr>
              <a:t>을 사용했고 </a:t>
            </a:r>
            <a:r>
              <a:rPr lang="en-US" sz="2000" b="0" u="none" strike="noStrike">
                <a:solidFill>
                  <a:srgbClr val="000000"/>
                </a:solidFill>
                <a:effectLst/>
                <a:uFillTx/>
                <a:latin typeface="Arial"/>
              </a:rPr>
              <a:t>master</a:t>
            </a:r>
            <a:r>
              <a:rPr lang="ko-KR" sz="2000" b="0" u="none" strike="noStrike">
                <a:solidFill>
                  <a:srgbClr val="000000"/>
                </a:solidFill>
                <a:effectLst/>
                <a:uFillTx/>
                <a:latin typeface="Arial"/>
              </a:rPr>
              <a:t>도 </a:t>
            </a:r>
            <a:r>
              <a:rPr lang="en-US" sz="2000" b="0" u="none" strike="noStrike">
                <a:solidFill>
                  <a:srgbClr val="000000"/>
                </a:solidFill>
                <a:effectLst/>
                <a:uFillTx/>
                <a:latin typeface="Arial"/>
              </a:rPr>
              <a:t>worker</a:t>
            </a:r>
            <a:r>
              <a:rPr lang="ko-KR" sz="2000" b="0" u="none" strike="noStrike">
                <a:solidFill>
                  <a:srgbClr val="000000"/>
                </a:solidFill>
                <a:effectLst/>
                <a:uFillTx/>
                <a:latin typeface="Arial"/>
              </a:rPr>
              <a:t>로 참여했습니다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비교 </a:t>
            </a:r>
            <a:r>
              <a:rPr lang="en-US" sz="2000" b="0" u="none" strike="noStrike">
                <a:solidFill>
                  <a:srgbClr val="000000"/>
                </a:solidFill>
                <a:effectLst/>
                <a:uFillTx/>
                <a:latin typeface="Arial"/>
              </a:rPr>
              <a:t>algorithm</a:t>
            </a:r>
            <a:r>
              <a:rPr lang="ko-KR" sz="2000" b="0" u="none" strike="noStrike">
                <a:solidFill>
                  <a:srgbClr val="000000"/>
                </a:solidFill>
                <a:effectLst/>
                <a:uFillTx/>
                <a:latin typeface="Arial"/>
              </a:rPr>
              <a:t>은 원 저자 </a:t>
            </a:r>
            <a:r>
              <a:rPr lang="en-US" sz="2000" b="0" u="none" strike="noStrike">
                <a:solidFill>
                  <a:srgbClr val="000000"/>
                </a:solidFill>
                <a:effectLst/>
                <a:uFillTx/>
                <a:latin typeface="Arial"/>
              </a:rPr>
              <a:t>code</a:t>
            </a:r>
            <a:r>
              <a:rPr lang="ko-KR" sz="2000" b="0" u="none" strike="noStrike">
                <a:solidFill>
                  <a:srgbClr val="000000"/>
                </a:solidFill>
                <a:effectLst/>
                <a:uFillTx/>
                <a:latin typeface="Arial"/>
              </a:rPr>
              <a:t>를 사용했으며 </a:t>
            </a:r>
            <a:r>
              <a:rPr lang="en-US" sz="2000" b="0" u="none" strike="noStrike">
                <a:solidFill>
                  <a:srgbClr val="000000"/>
                </a:solidFill>
                <a:effectLst/>
                <a:uFillTx/>
                <a:latin typeface="Arial"/>
              </a:rPr>
              <a:t>Rem</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C plus plus eleven</a:t>
            </a:r>
            <a:r>
              <a:rPr lang="ko-KR" sz="2000" b="0" u="none" strike="noStrike">
                <a:solidFill>
                  <a:srgbClr val="000000"/>
                </a:solidFill>
                <a:effectLst/>
                <a:uFillTx/>
                <a:latin typeface="Arial"/>
              </a:rPr>
              <a:t>으로 구현했습니다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unicon-paper | p. 12, Experimental settings</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 PLOS ONE 17(11): e0277527</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https://journals.plos.org/plosone/article?id=10.1371/journal.pone.0277527</a:t>
            </a:r>
            <a:endParaRPr lang="en-US" sz="2000" b="0" u="none" strike="noStrike">
              <a:solidFill>
                <a:srgbClr val="000000"/>
              </a:solidFill>
              <a:effectLst/>
              <a:uFillTx/>
              <a:latin typeface="Arial"/>
            </a:endParaRPr>
          </a:p>
        </p:txBody>
      </p:sp>
      <p:sp>
        <p:nvSpPr>
          <p:cNvPr id="445" name="PlaceHolder 3"/>
          <p:cNvSpPr>
            <a:spLocks noGrp="1"/>
          </p:cNvSpPr>
          <p:nvPr>
            <p:ph type="sldNum" idx="23"/>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81D73F67-307A-4F59-BADC-E9625899F5A0}"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6" name="PlaceHolder 1"/>
          <p:cNvSpPr>
            <a:spLocks noGrp="1"/>
          </p:cNvSpPr>
          <p:nvPr>
            <p:ph type="sldImg"/>
          </p:nvPr>
        </p:nvSpPr>
        <p:spPr>
          <a:xfrm>
            <a:off x="0" y="0"/>
            <a:ext cx="0" cy="0"/>
          </a:xfrm>
          <a:prstGeom prst="rect">
            <a:avLst/>
          </a:prstGeom>
          <a:ln w="0">
            <a:noFill/>
          </a:ln>
        </p:spPr>
      </p:sp>
      <p:sp>
        <p:nvSpPr>
          <p:cNvPr id="44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21. UniStar</a:t>
            </a:r>
            <a:r>
              <a:rPr lang="ko-KR" sz="2000" b="0" u="none" strike="noStrike">
                <a:solidFill>
                  <a:srgbClr val="000000"/>
                </a:solidFill>
                <a:effectLst/>
                <a:uFillTx/>
                <a:latin typeface="Arial"/>
              </a:rPr>
              <a:t>와 </a:t>
            </a:r>
            <a:r>
              <a:rPr lang="en-US" sz="2000" b="0" u="none" strike="noStrike">
                <a:solidFill>
                  <a:srgbClr val="000000"/>
                </a:solidFill>
                <a:effectLst/>
                <a:uFillTx/>
                <a:latin typeface="Arial"/>
              </a:rPr>
              <a:t>naive </a:t>
            </a:r>
            <a:r>
              <a:rPr lang="ko-KR" sz="2000" b="0" u="none" strike="noStrike">
                <a:solidFill>
                  <a:srgbClr val="000000"/>
                </a:solidFill>
                <a:effectLst/>
                <a:uFillTx/>
                <a:latin typeface="Arial"/>
              </a:rPr>
              <a:t>통합의 비교</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Figure 8</a:t>
            </a:r>
            <a:r>
              <a:rPr lang="ko-KR" sz="2000" b="0" u="none" strike="noStrike">
                <a:solidFill>
                  <a:srgbClr val="000000"/>
                </a:solidFill>
                <a:effectLst/>
                <a:uFillTx/>
                <a:latin typeface="Arial"/>
              </a:rPr>
              <a:t>에서 </a:t>
            </a:r>
            <a:r>
              <a:rPr lang="en-US" sz="2000" b="0" u="none" strike="noStrike">
                <a:solidFill>
                  <a:srgbClr val="000000"/>
                </a:solidFill>
                <a:effectLst/>
                <a:uFillTx/>
                <a:latin typeface="Arial"/>
              </a:rPr>
              <a:t>UniStar</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UniStar-naive</a:t>
            </a:r>
            <a:r>
              <a:rPr lang="ko-KR" sz="2000" b="0" u="none" strike="noStrike">
                <a:solidFill>
                  <a:srgbClr val="000000"/>
                </a:solidFill>
                <a:effectLst/>
                <a:uFillTx/>
                <a:latin typeface="Arial"/>
              </a:rPr>
              <a:t>보다 </a:t>
            </a:r>
            <a:r>
              <a:rPr lang="en-US" sz="2000" b="0" u="none" strike="noStrike">
                <a:solidFill>
                  <a:srgbClr val="000000"/>
                </a:solidFill>
                <a:effectLst/>
                <a:uFillTx/>
                <a:latin typeface="Arial"/>
              </a:rPr>
              <a:t>input data</a:t>
            </a:r>
            <a:r>
              <a:rPr lang="ko-KR" sz="2000" b="0" u="none" strike="noStrike">
                <a:solidFill>
                  <a:srgbClr val="000000"/>
                </a:solidFill>
                <a:effectLst/>
                <a:uFillTx/>
                <a:latin typeface="Arial"/>
              </a:rPr>
              <a:t>를 </a:t>
            </a:r>
            <a:r>
              <a:rPr lang="en-US" sz="2000" b="0" u="none" strike="noStrike">
                <a:solidFill>
                  <a:srgbClr val="000000"/>
                </a:solidFill>
                <a:effectLst/>
                <a:uFillTx/>
                <a:latin typeface="Arial"/>
              </a:rPr>
              <a:t>up to four times, Map output intermediate data</a:t>
            </a:r>
            <a:r>
              <a:rPr lang="ko-KR" sz="2000" b="0" u="none" strike="noStrike">
                <a:solidFill>
                  <a:srgbClr val="000000"/>
                </a:solidFill>
                <a:effectLst/>
                <a:uFillTx/>
                <a:latin typeface="Arial"/>
              </a:rPr>
              <a:t>를 </a:t>
            </a:r>
            <a:r>
              <a:rPr lang="en-US" sz="2000" b="0" u="none" strike="noStrike">
                <a:solidFill>
                  <a:srgbClr val="000000"/>
                </a:solidFill>
                <a:effectLst/>
                <a:uFillTx/>
                <a:latin typeface="Arial"/>
              </a:rPr>
              <a:t>up to eight times </a:t>
            </a:r>
            <a:r>
              <a:rPr lang="ko-KR" sz="2000" b="0" u="none" strike="noStrike">
                <a:solidFill>
                  <a:srgbClr val="000000"/>
                </a:solidFill>
                <a:effectLst/>
                <a:uFillTx/>
                <a:latin typeface="Arial"/>
              </a:rPr>
              <a:t>줄였습니다</a:t>
            </a:r>
            <a:r>
              <a:rPr lang="en-US" sz="2000" b="0" u="none" strike="noStrike">
                <a:solidFill>
                  <a:srgbClr val="000000"/>
                </a:solidFill>
                <a:effectLst/>
                <a:uFillTx/>
                <a:latin typeface="Arial"/>
              </a:rPr>
              <a:t>. Figure 9</a:t>
            </a:r>
            <a:r>
              <a:rPr lang="ko-KR" sz="2000" b="0" u="none" strike="noStrike">
                <a:solidFill>
                  <a:srgbClr val="000000"/>
                </a:solidFill>
                <a:effectLst/>
                <a:uFillTx/>
                <a:latin typeface="Arial"/>
              </a:rPr>
              <a:t>에서 </a:t>
            </a:r>
            <a:r>
              <a:rPr lang="en-US" sz="2000" b="0" u="none" strike="noStrike">
                <a:solidFill>
                  <a:srgbClr val="000000"/>
                </a:solidFill>
                <a:effectLst/>
                <a:uFillTx/>
                <a:latin typeface="Arial"/>
              </a:rPr>
              <a:t>single UniStar operation</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two to five times faster</a:t>
            </a:r>
            <a:r>
              <a:rPr lang="ko-KR" sz="2000" b="0" u="none" strike="noStrike">
                <a:solidFill>
                  <a:srgbClr val="000000"/>
                </a:solidFill>
                <a:effectLst/>
                <a:uFillTx/>
                <a:latin typeface="Arial"/>
              </a:rPr>
              <a:t>였고</a:t>
            </a:r>
            <a:r>
              <a:rPr lang="en-US" sz="2000" b="0" u="none" strike="noStrike">
                <a:solidFill>
                  <a:srgbClr val="000000"/>
                </a:solidFill>
                <a:effectLst/>
                <a:uFillTx/>
                <a:latin typeface="Arial"/>
              </a:rPr>
              <a:t>, UniCon-base</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rounds</a:t>
            </a:r>
            <a:r>
              <a:rPr lang="ko-KR" sz="2000" b="0" u="none" strike="noStrike">
                <a:solidFill>
                  <a:srgbClr val="000000"/>
                </a:solidFill>
                <a:effectLst/>
                <a:uFillTx/>
                <a:latin typeface="Arial"/>
              </a:rPr>
              <a:t>도 줄어 </a:t>
            </a:r>
            <a:r>
              <a:rPr lang="en-US" sz="2000" b="0" u="none" strike="noStrike">
                <a:solidFill>
                  <a:srgbClr val="000000"/>
                </a:solidFill>
                <a:effectLst/>
                <a:uFillTx/>
                <a:latin typeface="Arial"/>
              </a:rPr>
              <a:t>total runtime</a:t>
            </a:r>
            <a:r>
              <a:rPr lang="ko-KR" sz="2000" b="0" u="none" strike="noStrike">
                <a:solidFill>
                  <a:srgbClr val="000000"/>
                </a:solidFill>
                <a:effectLst/>
                <a:uFillTx/>
                <a:latin typeface="Arial"/>
              </a:rPr>
              <a:t>을 </a:t>
            </a:r>
            <a:r>
              <a:rPr lang="en-US" sz="2000" b="0" u="none" strike="noStrike">
                <a:solidFill>
                  <a:srgbClr val="000000"/>
                </a:solidFill>
                <a:effectLst/>
                <a:uFillTx/>
                <a:latin typeface="Arial"/>
              </a:rPr>
              <a:t>up to 4.3 times </a:t>
            </a:r>
            <a:r>
              <a:rPr lang="ko-KR" sz="2000" b="0" u="none" strike="noStrike">
                <a:solidFill>
                  <a:srgbClr val="000000"/>
                </a:solidFill>
                <a:effectLst/>
                <a:uFillTx/>
                <a:latin typeface="Arial"/>
              </a:rPr>
              <a:t>낮췄습니다</a:t>
            </a:r>
            <a:r>
              <a:rPr lang="en-US" sz="2000" b="0" u="none" strike="noStrike">
                <a:solidFill>
                  <a:srgbClr val="000000"/>
                </a:solidFill>
                <a:effectLst/>
                <a:uFillTx/>
                <a:latin typeface="Arial"/>
              </a:rPr>
              <a:t>. These are reported maxima across experiment conditions, not fixed constants for all graphs.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unicon-paper | pp. 14-15, Figs. 8-9</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 PLOS ONE 17(11): e0277527</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https://journals.plos.org/plosone/article?id=10.1371/journal.pone.0277527</a:t>
            </a:r>
            <a:endParaRPr lang="en-US" sz="2000" b="0" u="none" strike="noStrike">
              <a:solidFill>
                <a:srgbClr val="000000"/>
              </a:solidFill>
              <a:effectLst/>
              <a:uFillTx/>
              <a:latin typeface="Arial"/>
            </a:endParaRPr>
          </a:p>
        </p:txBody>
      </p:sp>
      <p:sp>
        <p:nvSpPr>
          <p:cNvPr id="448" name="PlaceHolder 3"/>
          <p:cNvSpPr>
            <a:spLocks noGrp="1"/>
          </p:cNvSpPr>
          <p:nvPr>
            <p:ph type="sldNum" idx="24"/>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B8C79500-7B09-4150-AFAC-E8C86079BE72}"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9" name="PlaceHolder 1"/>
          <p:cNvSpPr>
            <a:spLocks noGrp="1"/>
          </p:cNvSpPr>
          <p:nvPr>
            <p:ph type="sldImg"/>
          </p:nvPr>
        </p:nvSpPr>
        <p:spPr>
          <a:xfrm>
            <a:off x="0" y="0"/>
            <a:ext cx="0" cy="0"/>
          </a:xfrm>
          <a:prstGeom prst="rect">
            <a:avLst/>
          </a:prstGeom>
          <a:ln w="0">
            <a:noFill/>
          </a:ln>
        </p:spPr>
      </p:sp>
      <p:sp>
        <p:nvSpPr>
          <p:cNvPr id="45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22. Filtering</a:t>
            </a:r>
            <a:r>
              <a:rPr lang="ko-KR" sz="2000" b="0" u="none" strike="noStrike">
                <a:solidFill>
                  <a:srgbClr val="000000"/>
                </a:solidFill>
                <a:effectLst/>
                <a:uFillTx/>
                <a:latin typeface="Arial"/>
              </a:rPr>
              <a:t>과 </a:t>
            </a:r>
            <a:r>
              <a:rPr lang="en-US" sz="2000" b="0" u="none" strike="noStrike">
                <a:solidFill>
                  <a:srgbClr val="000000"/>
                </a:solidFill>
                <a:effectLst/>
                <a:uFillTx/>
                <a:latin typeface="Arial"/>
              </a:rPr>
              <a:t>HybridMap</a:t>
            </a:r>
            <a:r>
              <a:rPr lang="ko-KR" sz="2000" b="0" u="none" strike="noStrike">
                <a:solidFill>
                  <a:srgbClr val="000000"/>
                </a:solidFill>
                <a:effectLst/>
                <a:uFillTx/>
                <a:latin typeface="Arial"/>
              </a:rPr>
              <a:t>의 </a:t>
            </a:r>
            <a:r>
              <a:rPr lang="en-US" sz="2000" b="0" u="none" strike="noStrike">
                <a:solidFill>
                  <a:srgbClr val="000000"/>
                </a:solidFill>
                <a:effectLst/>
                <a:uFillTx/>
                <a:latin typeface="Arial"/>
              </a:rPr>
              <a:t>measured effects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Figure 10</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filtering </a:t>
            </a:r>
            <a:r>
              <a:rPr lang="ko-KR" sz="2000" b="0" u="none" strike="noStrike">
                <a:solidFill>
                  <a:srgbClr val="000000"/>
                </a:solidFill>
                <a:effectLst/>
                <a:uFillTx/>
                <a:latin typeface="Arial"/>
              </a:rPr>
              <a:t>효과를 분리하려고 </a:t>
            </a:r>
            <a:r>
              <a:rPr lang="en-US" sz="2000" b="0" u="none" strike="noStrike">
                <a:solidFill>
                  <a:srgbClr val="000000"/>
                </a:solidFill>
                <a:effectLst/>
                <a:uFillTx/>
                <a:latin typeface="Arial"/>
              </a:rPr>
              <a:t>tau</a:t>
            </a:r>
            <a:r>
              <a:rPr lang="ko-KR" sz="2000" b="0" u="none" strike="noStrike">
                <a:solidFill>
                  <a:srgbClr val="000000"/>
                </a:solidFill>
                <a:effectLst/>
                <a:uFillTx/>
                <a:latin typeface="Arial"/>
              </a:rPr>
              <a:t>를 </a:t>
            </a:r>
            <a:r>
              <a:rPr lang="en-US" sz="2000" b="0" u="none" strike="noStrike">
                <a:solidFill>
                  <a:srgbClr val="000000"/>
                </a:solidFill>
                <a:effectLst/>
                <a:uFillTx/>
                <a:latin typeface="Arial"/>
              </a:rPr>
              <a:t>zero</a:t>
            </a:r>
            <a:r>
              <a:rPr lang="ko-KR" sz="2000" b="0" u="none" strike="noStrike">
                <a:solidFill>
                  <a:srgbClr val="000000"/>
                </a:solidFill>
                <a:effectLst/>
                <a:uFillTx/>
                <a:latin typeface="Arial"/>
              </a:rPr>
              <a:t>로 고정합니다</a:t>
            </a:r>
            <a:r>
              <a:rPr lang="en-US" sz="2000" b="0" u="none" strike="noStrike">
                <a:solidFill>
                  <a:srgbClr val="000000"/>
                </a:solidFill>
                <a:effectLst/>
                <a:uFillTx/>
                <a:latin typeface="Arial"/>
              </a:rPr>
              <a:t>. CW</a:t>
            </a:r>
            <a:r>
              <a:rPr lang="ko-KR" sz="2000" b="0" u="none" strike="noStrike">
                <a:solidFill>
                  <a:srgbClr val="000000"/>
                </a:solidFill>
                <a:effectLst/>
                <a:uFillTx/>
                <a:latin typeface="Arial"/>
              </a:rPr>
              <a:t>에서 </a:t>
            </a:r>
            <a:r>
              <a:rPr lang="en-US" sz="2000" b="0" u="none" strike="noStrike">
                <a:solidFill>
                  <a:srgbClr val="000000"/>
                </a:solidFill>
                <a:effectLst/>
                <a:uFillTx/>
                <a:latin typeface="Arial"/>
              </a:rPr>
              <a:t>UniCon-opt</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round</a:t>
            </a:r>
            <a:r>
              <a:rPr lang="ko-KR" sz="2000" b="0" u="none" strike="noStrike">
                <a:solidFill>
                  <a:srgbClr val="000000"/>
                </a:solidFill>
                <a:effectLst/>
                <a:uFillTx/>
                <a:latin typeface="Arial"/>
              </a:rPr>
              <a:t>당 </a:t>
            </a:r>
            <a:r>
              <a:rPr lang="en-US" sz="2000" b="0" u="none" strike="noStrike">
                <a:solidFill>
                  <a:srgbClr val="000000"/>
                </a:solidFill>
                <a:effectLst/>
                <a:uFillTx/>
                <a:latin typeface="Arial"/>
              </a:rPr>
              <a:t>input size</a:t>
            </a:r>
            <a:r>
              <a:rPr lang="ko-KR" sz="2000" b="0" u="none" strike="noStrike">
                <a:solidFill>
                  <a:srgbClr val="000000"/>
                </a:solidFill>
                <a:effectLst/>
                <a:uFillTx/>
                <a:latin typeface="Arial"/>
              </a:rPr>
              <a:t>를 평균 </a:t>
            </a:r>
            <a:r>
              <a:rPr lang="en-US" sz="2000" b="0" u="none" strike="noStrike">
                <a:solidFill>
                  <a:srgbClr val="000000"/>
                </a:solidFill>
                <a:effectLst/>
                <a:uFillTx/>
                <a:latin typeface="Arial"/>
              </a:rPr>
              <a:t>80.4 percent </a:t>
            </a:r>
            <a:r>
              <a:rPr lang="ko-KR" sz="2000" b="0" u="none" strike="noStrike">
                <a:solidFill>
                  <a:srgbClr val="000000"/>
                </a:solidFill>
                <a:effectLst/>
                <a:uFillTx/>
                <a:latin typeface="Arial"/>
              </a:rPr>
              <a:t>줄였습니다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마지막 </a:t>
            </a:r>
            <a:r>
              <a:rPr lang="en-US" sz="2000" b="0" u="none" strike="noStrike">
                <a:solidFill>
                  <a:srgbClr val="000000"/>
                </a:solidFill>
                <a:effectLst/>
                <a:uFillTx/>
                <a:latin typeface="Arial"/>
              </a:rPr>
              <a:t>input</a:t>
            </a:r>
            <a:r>
              <a:rPr lang="ko-KR" sz="2000" b="0" u="none" strike="noStrike">
                <a:solidFill>
                  <a:srgbClr val="000000"/>
                </a:solidFill>
                <a:effectLst/>
                <a:uFillTx/>
                <a:latin typeface="Arial"/>
              </a:rPr>
              <a:t>이 다시 늘어나는 이유는 </a:t>
            </a:r>
            <a:r>
              <a:rPr lang="en-US" sz="2000" b="0" u="none" strike="noStrike">
                <a:solidFill>
                  <a:srgbClr val="000000"/>
                </a:solidFill>
                <a:effectLst/>
                <a:uFillTx/>
                <a:latin typeface="Arial"/>
              </a:rPr>
              <a:t>finishing</a:t>
            </a:r>
            <a:r>
              <a:rPr lang="ko-KR" sz="2000" b="0" u="none" strike="noStrike">
                <a:solidFill>
                  <a:srgbClr val="000000"/>
                </a:solidFill>
                <a:effectLst/>
                <a:uFillTx/>
                <a:latin typeface="Arial"/>
              </a:rPr>
              <a:t>이 </a:t>
            </a:r>
            <a:r>
              <a:rPr lang="en-US" sz="2000" b="0" u="none" strike="noStrike">
                <a:solidFill>
                  <a:srgbClr val="000000"/>
                </a:solidFill>
                <a:effectLst/>
                <a:uFillTx/>
                <a:latin typeface="Arial"/>
              </a:rPr>
              <a:t>case one</a:t>
            </a:r>
            <a:r>
              <a:rPr lang="ko-KR" sz="2000" b="0" u="none" strike="noStrike">
                <a:solidFill>
                  <a:srgbClr val="000000"/>
                </a:solidFill>
                <a:effectLst/>
                <a:uFillTx/>
                <a:latin typeface="Arial"/>
              </a:rPr>
              <a:t>과 </a:t>
            </a:r>
            <a:r>
              <a:rPr lang="en-US" sz="2000" b="0" u="none" strike="noStrike">
                <a:solidFill>
                  <a:srgbClr val="000000"/>
                </a:solidFill>
                <a:effectLst/>
                <a:uFillTx/>
                <a:latin typeface="Arial"/>
              </a:rPr>
              <a:t>two edges</a:t>
            </a:r>
            <a:r>
              <a:rPr lang="ko-KR" sz="2000" b="0" u="none" strike="noStrike">
                <a:solidFill>
                  <a:srgbClr val="000000"/>
                </a:solidFill>
                <a:effectLst/>
                <a:uFillTx/>
                <a:latin typeface="Arial"/>
              </a:rPr>
              <a:t>를 되돌려 받기 때문입니다</a:t>
            </a:r>
            <a:r>
              <a:rPr lang="en-US" sz="2000" b="0" u="none" strike="noStrike">
                <a:solidFill>
                  <a:srgbClr val="000000"/>
                </a:solidFill>
                <a:effectLst/>
                <a:uFillTx/>
                <a:latin typeface="Arial"/>
              </a:rPr>
              <a:t>. Figure 13</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CW</a:t>
            </a:r>
            <a:r>
              <a:rPr lang="ko-KR" sz="2000" b="0" u="none" strike="noStrike">
                <a:solidFill>
                  <a:srgbClr val="000000"/>
                </a:solidFill>
                <a:effectLst/>
                <a:uFillTx/>
                <a:latin typeface="Arial"/>
              </a:rPr>
              <a:t>에서 </a:t>
            </a:r>
            <a:r>
              <a:rPr lang="en-US" sz="2000" b="0" u="none" strike="noStrike">
                <a:solidFill>
                  <a:srgbClr val="000000"/>
                </a:solidFill>
                <a:effectLst/>
                <a:uFillTx/>
                <a:latin typeface="Arial"/>
              </a:rPr>
              <a:t>HybridMap runtime</a:t>
            </a:r>
            <a:r>
              <a:rPr lang="ko-KR" sz="2000" b="0" u="none" strike="noStrike">
                <a:solidFill>
                  <a:srgbClr val="000000"/>
                </a:solidFill>
                <a:effectLst/>
                <a:uFillTx/>
                <a:latin typeface="Arial"/>
              </a:rPr>
              <a:t>이 </a:t>
            </a:r>
            <a:r>
              <a:rPr lang="en-US" sz="2000" b="0" u="none" strike="noStrike">
                <a:solidFill>
                  <a:srgbClr val="000000"/>
                </a:solidFill>
                <a:effectLst/>
                <a:uFillTx/>
                <a:latin typeface="Arial"/>
              </a:rPr>
              <a:t>all-hash</a:t>
            </a:r>
            <a:r>
              <a:rPr lang="ko-KR" sz="2000" b="0" u="none" strike="noStrike">
                <a:solidFill>
                  <a:srgbClr val="000000"/>
                </a:solidFill>
                <a:effectLst/>
                <a:uFillTx/>
                <a:latin typeface="Arial"/>
              </a:rPr>
              <a:t>보다 </a:t>
            </a:r>
            <a:r>
              <a:rPr lang="en-US" sz="2000" b="0" u="none" strike="noStrike">
                <a:solidFill>
                  <a:srgbClr val="000000"/>
                </a:solidFill>
                <a:effectLst/>
                <a:uFillTx/>
                <a:latin typeface="Arial"/>
              </a:rPr>
              <a:t>22.7 percent </a:t>
            </a:r>
            <a:r>
              <a:rPr lang="ko-KR" sz="2000" b="0" u="none" strike="noStrike">
                <a:solidFill>
                  <a:srgbClr val="000000"/>
                </a:solidFill>
                <a:effectLst/>
                <a:uFillTx/>
                <a:latin typeface="Arial"/>
              </a:rPr>
              <a:t>낮다고 보고합니다</a:t>
            </a:r>
            <a:r>
              <a:rPr lang="en-US" sz="2000" b="0" u="none" strike="noStrike">
                <a:solidFill>
                  <a:srgbClr val="000000"/>
                </a:solidFill>
                <a:effectLst/>
                <a:uFillTx/>
                <a:latin typeface="Arial"/>
              </a:rPr>
              <a:t>. Array-only</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worker</a:t>
            </a:r>
            <a:r>
              <a:rPr lang="ko-KR" sz="2000" b="0" u="none" strike="noStrike">
                <a:solidFill>
                  <a:srgbClr val="000000"/>
                </a:solidFill>
                <a:effectLst/>
                <a:uFillTx/>
                <a:latin typeface="Arial"/>
              </a:rPr>
              <a:t>마다 </a:t>
            </a:r>
            <a:r>
              <a:rPr lang="en-US" sz="2000" b="0" u="none" strike="noStrike">
                <a:solidFill>
                  <a:srgbClr val="000000"/>
                </a:solidFill>
                <a:effectLst/>
                <a:uFillTx/>
                <a:latin typeface="Arial"/>
              </a:rPr>
              <a:t>V-size array</a:t>
            </a:r>
            <a:r>
              <a:rPr lang="ko-KR" sz="2000" b="0" u="none" strike="noStrike">
                <a:solidFill>
                  <a:srgbClr val="000000"/>
                </a:solidFill>
                <a:effectLst/>
                <a:uFillTx/>
                <a:latin typeface="Arial"/>
              </a:rPr>
              <a:t>를 할당해 </a:t>
            </a:r>
            <a:r>
              <a:rPr lang="en-US" sz="2000" b="0" u="none" strike="noStrike">
                <a:solidFill>
                  <a:srgbClr val="000000"/>
                </a:solidFill>
                <a:effectLst/>
                <a:uFillTx/>
                <a:latin typeface="Arial"/>
              </a:rPr>
              <a:t>GSH, CW, HL</a:t>
            </a:r>
            <a:r>
              <a:rPr lang="ko-KR" sz="2000" b="0" u="none" strike="noStrike">
                <a:solidFill>
                  <a:srgbClr val="000000"/>
                </a:solidFill>
                <a:effectLst/>
                <a:uFillTx/>
                <a:latin typeface="Arial"/>
              </a:rPr>
              <a:t>에서 실패했습니다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unicon-paper | pp. 15-17, Figs. 10 and 12-13</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 PLOS ONE 17(11): e0277527</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https://journals.plos.org/plosone/article?id=10.1371/journal.pone.0277527</a:t>
            </a:r>
            <a:endParaRPr lang="en-US" sz="2000" b="0" u="none" strike="noStrike">
              <a:solidFill>
                <a:srgbClr val="000000"/>
              </a:solidFill>
              <a:effectLst/>
              <a:uFillTx/>
              <a:latin typeface="Arial"/>
            </a:endParaRPr>
          </a:p>
        </p:txBody>
      </p:sp>
      <p:sp>
        <p:nvSpPr>
          <p:cNvPr id="451" name="PlaceHolder 3"/>
          <p:cNvSpPr>
            <a:spLocks noGrp="1"/>
          </p:cNvSpPr>
          <p:nvPr>
            <p:ph type="sldNum" idx="25"/>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D154775F-45A9-4017-AF7D-CC348F95D30E}" type="slidenum">
              <a:rPr lang="en-US" sz="1800" b="0" u="none" strike="noStrike">
                <a:solidFill>
                  <a:schemeClr val="dk1"/>
                </a:solidFill>
                <a:effectLst/>
                <a:uFillTx/>
                <a:latin typeface="+mn-lt"/>
                <a:ea typeface="+mn-ea"/>
              </a:rPr>
              <a:t>1</a:t>
            </a:fld>
            <a:endParaRPr lang="en-US" sz="1800" b="0" u="none" strike="noStrike">
              <a:solidFill>
                <a:srgbClr val="000000"/>
              </a:solidFill>
              <a:effectLst/>
              <a:uFillTx/>
              <a:latin typeface="Noto Sans CJK KR"/>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2" name="PlaceHolder 1"/>
          <p:cNvSpPr>
            <a:spLocks noGrp="1"/>
          </p:cNvSpPr>
          <p:nvPr>
            <p:ph type="sldImg"/>
          </p:nvPr>
        </p:nvSpPr>
        <p:spPr>
          <a:xfrm>
            <a:off x="0" y="0"/>
            <a:ext cx="0" cy="0"/>
          </a:xfrm>
          <a:prstGeom prst="rect">
            <a:avLst/>
          </a:prstGeom>
          <a:ln w="0">
            <a:noFill/>
          </a:ln>
        </p:spPr>
      </p:sp>
      <p:sp>
        <p:nvSpPr>
          <p:cNvPr id="45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23. Scale </a:t>
            </a:r>
            <a:r>
              <a:rPr lang="ko-KR" sz="2000" b="0" u="none" strike="noStrike">
                <a:solidFill>
                  <a:srgbClr val="000000"/>
                </a:solidFill>
                <a:effectLst/>
                <a:uFillTx/>
                <a:latin typeface="Arial"/>
              </a:rPr>
              <a:t>결과의 조건과 범위</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Figure 14 reports that UniCon handles up to 4096 times larger RMAT graphs than LACC and FastSV on this cluster because competitors hit OOM earlier. HL has 3,443,082,324 vertices and 128,736,914,167 edges. On CW only UniCon and PACC succeed. Figure 15 expresses UniCon-opt speed as 143 percent of PACC, corresponding to PACC runtime divided by UniCon-opt runtime of 1.43. </a:t>
            </a:r>
            <a:r>
              <a:rPr lang="ko-KR" sz="2000" b="0" u="none" strike="noStrike">
                <a:solidFill>
                  <a:srgbClr val="000000"/>
                </a:solidFill>
                <a:effectLst/>
                <a:uFillTx/>
                <a:latin typeface="Arial"/>
              </a:rPr>
              <a:t>이를 </a:t>
            </a:r>
            <a:r>
              <a:rPr lang="en-US" sz="2000" b="0" u="none" strike="noStrike">
                <a:solidFill>
                  <a:srgbClr val="000000"/>
                </a:solidFill>
                <a:effectLst/>
                <a:uFillTx/>
                <a:latin typeface="Arial"/>
              </a:rPr>
              <a:t>143 percent faster</a:t>
            </a:r>
            <a:r>
              <a:rPr lang="ko-KR" sz="2000" b="0" u="none" strike="noStrike">
                <a:solidFill>
                  <a:srgbClr val="000000"/>
                </a:solidFill>
                <a:effectLst/>
                <a:uFillTx/>
                <a:latin typeface="Arial"/>
              </a:rPr>
              <a:t>라고 바꾸면 안 됩니다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unicon-paper | pp. 12-13 and 17-18, Table 2 and Figs. 14-15</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 PLOS ONE 17(11): e0277527</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https://journals.plos.org/plosone/article?id=10.1371/journal.pone.0277527</a:t>
            </a:r>
            <a:endParaRPr lang="en-US" sz="2000" b="0" u="none" strike="noStrike">
              <a:solidFill>
                <a:srgbClr val="000000"/>
              </a:solidFill>
              <a:effectLst/>
              <a:uFillTx/>
              <a:latin typeface="Arial"/>
            </a:endParaRPr>
          </a:p>
        </p:txBody>
      </p:sp>
      <p:sp>
        <p:nvSpPr>
          <p:cNvPr id="454" name="PlaceHolder 3"/>
          <p:cNvSpPr>
            <a:spLocks noGrp="1"/>
          </p:cNvSpPr>
          <p:nvPr>
            <p:ph type="sldNum" idx="26"/>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DCE01754-78D2-4AB2-8BB8-81E5EC313326}" type="slidenum">
              <a:rPr lang="en-US" sz="1800" b="0" u="none" strike="noStrike">
                <a:solidFill>
                  <a:schemeClr val="dk1"/>
                </a:solidFill>
                <a:effectLst/>
                <a:uFillTx/>
                <a:latin typeface="+mn-lt"/>
                <a:ea typeface="+mn-ea"/>
              </a:rPr>
              <a:t>&lt;number&gt;</a:t>
            </a:fld>
            <a:endParaRPr lang="en-US" sz="1800" b="0" u="none" strike="noStrike">
              <a:solidFill>
                <a:srgbClr val="000000"/>
              </a:solidFill>
              <a:effectLst/>
              <a:uFillTx/>
              <a:latin typeface="Noto Sans CJK KR"/>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5" name="PlaceHolder 1"/>
          <p:cNvSpPr>
            <a:spLocks noGrp="1"/>
          </p:cNvSpPr>
          <p:nvPr>
            <p:ph type="sldImg"/>
          </p:nvPr>
        </p:nvSpPr>
        <p:spPr>
          <a:xfrm>
            <a:off x="0" y="0"/>
            <a:ext cx="0" cy="0"/>
          </a:xfrm>
          <a:prstGeom prst="rect">
            <a:avLst/>
          </a:prstGeom>
          <a:ln w="0">
            <a:noFill/>
          </a:ln>
        </p:spPr>
      </p:sp>
      <p:sp>
        <p:nvSpPr>
          <p:cNvPr id="45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24. UniCon </a:t>
            </a:r>
            <a:r>
              <a:rPr lang="ko-KR" sz="2000" b="0" u="none" strike="noStrike">
                <a:solidFill>
                  <a:srgbClr val="000000"/>
                </a:solidFill>
                <a:effectLst/>
                <a:uFillTx/>
                <a:latin typeface="Arial"/>
              </a:rPr>
              <a:t>결과의 적용 한계</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Connectivity preservation</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algorithm semantics</a:t>
            </a:r>
            <a:r>
              <a:rPr lang="ko-KR" sz="2000" b="0" u="none" strike="noStrike">
                <a:solidFill>
                  <a:srgbClr val="000000"/>
                </a:solidFill>
                <a:effectLst/>
                <a:uFillTx/>
                <a:latin typeface="Arial"/>
              </a:rPr>
              <a:t>에 대한 </a:t>
            </a:r>
            <a:r>
              <a:rPr lang="en-US" sz="2000" b="0" u="none" strike="noStrike">
                <a:solidFill>
                  <a:srgbClr val="000000"/>
                </a:solidFill>
                <a:effectLst/>
                <a:uFillTx/>
                <a:latin typeface="Arial"/>
              </a:rPr>
              <a:t>theorem</a:t>
            </a:r>
            <a:r>
              <a:rPr lang="ko-KR" sz="2000" b="0" u="none" strike="noStrike">
                <a:solidFill>
                  <a:srgbClr val="000000"/>
                </a:solidFill>
                <a:effectLst/>
                <a:uFillTx/>
                <a:latin typeface="Arial"/>
              </a:rPr>
              <a:t>이지만 </a:t>
            </a:r>
            <a:r>
              <a:rPr lang="en-US" sz="2000" b="0" u="none" strike="noStrike">
                <a:solidFill>
                  <a:srgbClr val="000000"/>
                </a:solidFill>
                <a:effectLst/>
                <a:uFillTx/>
                <a:latin typeface="Arial"/>
              </a:rPr>
              <a:t>performance claims</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system-dependent</a:t>
            </a:r>
            <a:r>
              <a:rPr lang="ko-KR" sz="2000" b="0" u="none" strike="noStrike">
                <a:solidFill>
                  <a:srgbClr val="000000"/>
                </a:solidFill>
                <a:effectLst/>
                <a:uFillTx/>
                <a:latin typeface="Arial"/>
              </a:rPr>
              <a:t>입니다</a:t>
            </a:r>
            <a:r>
              <a:rPr lang="en-US" sz="2000" b="0" u="none" strike="noStrike">
                <a:solidFill>
                  <a:srgbClr val="000000"/>
                </a:solidFill>
                <a:effectLst/>
                <a:uFillTx/>
                <a:latin typeface="Arial"/>
              </a:rPr>
              <a:t>. Expected memory bound</a:t>
            </a:r>
            <a:r>
              <a:rPr lang="ko-KR" sz="2000" b="0" u="none" strike="noStrike">
                <a:solidFill>
                  <a:srgbClr val="000000"/>
                </a:solidFill>
                <a:effectLst/>
                <a:uFillTx/>
                <a:latin typeface="Arial"/>
              </a:rPr>
              <a:t>를 </a:t>
            </a:r>
            <a:r>
              <a:rPr lang="en-US" sz="2000" b="0" u="none" strike="noStrike">
                <a:solidFill>
                  <a:srgbClr val="000000"/>
                </a:solidFill>
                <a:effectLst/>
                <a:uFillTx/>
                <a:latin typeface="Arial"/>
              </a:rPr>
              <a:t>worst-case 16-gigabyte guarantee</a:t>
            </a:r>
            <a:r>
              <a:rPr lang="ko-KR" sz="2000" b="0" u="none" strike="noStrike">
                <a:solidFill>
                  <a:srgbClr val="000000"/>
                </a:solidFill>
                <a:effectLst/>
                <a:uFillTx/>
                <a:latin typeface="Arial"/>
              </a:rPr>
              <a:t>로 바꿀 수 없습니다</a:t>
            </a:r>
            <a:r>
              <a:rPr lang="en-US" sz="2000" b="0" u="none" strike="noStrike">
                <a:solidFill>
                  <a:srgbClr val="000000"/>
                </a:solidFill>
                <a:effectLst/>
                <a:uFillTx/>
                <a:latin typeface="Arial"/>
              </a:rPr>
              <a:t>. Record reduction</a:t>
            </a:r>
            <a:r>
              <a:rPr lang="ko-KR" sz="2000" b="0" u="none" strike="noStrike">
                <a:solidFill>
                  <a:srgbClr val="000000"/>
                </a:solidFill>
                <a:effectLst/>
                <a:uFillTx/>
                <a:latin typeface="Arial"/>
              </a:rPr>
              <a:t>과 </a:t>
            </a:r>
            <a:r>
              <a:rPr lang="en-US" sz="2000" b="0" u="none" strike="noStrike">
                <a:solidFill>
                  <a:srgbClr val="000000"/>
                </a:solidFill>
                <a:effectLst/>
                <a:uFillTx/>
                <a:latin typeface="Arial"/>
              </a:rPr>
              <a:t>physical bytes reduction</a:t>
            </a:r>
            <a:r>
              <a:rPr lang="ko-KR" sz="2000" b="0" u="none" strike="noStrike">
                <a:solidFill>
                  <a:srgbClr val="000000"/>
                </a:solidFill>
                <a:effectLst/>
                <a:uFillTx/>
                <a:latin typeface="Arial"/>
              </a:rPr>
              <a:t>도 </a:t>
            </a:r>
            <a:r>
              <a:rPr lang="en-US" sz="2000" b="0" u="none" strike="noStrike">
                <a:solidFill>
                  <a:srgbClr val="000000"/>
                </a:solidFill>
                <a:effectLst/>
                <a:uFillTx/>
                <a:latin typeface="Arial"/>
              </a:rPr>
              <a:t>identical</a:t>
            </a:r>
            <a:r>
              <a:rPr lang="ko-KR" sz="2000" b="0" u="none" strike="noStrike">
                <a:solidFill>
                  <a:srgbClr val="000000"/>
                </a:solidFill>
                <a:effectLst/>
                <a:uFillTx/>
                <a:latin typeface="Arial"/>
              </a:rPr>
              <a:t>하지 않습니다</a:t>
            </a:r>
            <a:r>
              <a:rPr lang="en-US" sz="2000" b="0" u="none" strike="noStrike">
                <a:solidFill>
                  <a:srgbClr val="000000"/>
                </a:solidFill>
                <a:effectLst/>
                <a:uFillTx/>
                <a:latin typeface="Arial"/>
              </a:rPr>
              <a:t>. Tau</a:t>
            </a:r>
            <a:r>
              <a:rPr lang="ko-KR" sz="2000" b="0" u="none" strike="noStrike">
                <a:solidFill>
                  <a:srgbClr val="000000"/>
                </a:solidFill>
                <a:effectLst/>
                <a:uFillTx/>
                <a:latin typeface="Arial"/>
              </a:rPr>
              <a:t>와 </a:t>
            </a:r>
            <a:r>
              <a:rPr lang="en-US" sz="2000" b="0" u="none" strike="noStrike">
                <a:solidFill>
                  <a:srgbClr val="000000"/>
                </a:solidFill>
                <a:effectLst/>
                <a:uFillTx/>
                <a:latin typeface="Arial"/>
              </a:rPr>
              <a:t>rho tuning</a:t>
            </a:r>
            <a:r>
              <a:rPr lang="ko-KR" sz="2000" b="0" u="none" strike="noStrike">
                <a:solidFill>
                  <a:srgbClr val="000000"/>
                </a:solidFill>
                <a:effectLst/>
                <a:uFillTx/>
                <a:latin typeface="Arial"/>
              </a:rPr>
              <a:t>이 결과에 영향을 주며</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이 </a:t>
            </a:r>
            <a:r>
              <a:rPr lang="en-US" sz="2000" b="0" u="none" strike="noStrike">
                <a:solidFill>
                  <a:srgbClr val="000000"/>
                </a:solidFill>
                <a:effectLst/>
                <a:uFillTx/>
                <a:latin typeface="Arial"/>
              </a:rPr>
              <a:t>paper</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connected components</a:t>
            </a:r>
            <a:r>
              <a:rPr lang="ko-KR" sz="2000" b="0" u="none" strike="noStrike">
                <a:solidFill>
                  <a:srgbClr val="000000"/>
                </a:solidFill>
                <a:effectLst/>
                <a:uFillTx/>
                <a:latin typeface="Arial"/>
              </a:rPr>
              <a:t>만 다룹니다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다른 </a:t>
            </a:r>
            <a:r>
              <a:rPr lang="en-US" sz="2000" b="0" u="none" strike="noStrike">
                <a:solidFill>
                  <a:srgbClr val="000000"/>
                </a:solidFill>
                <a:effectLst/>
                <a:uFillTx/>
                <a:latin typeface="Arial"/>
              </a:rPr>
              <a:t>graph algorithms</a:t>
            </a:r>
            <a:r>
              <a:rPr lang="ko-KR" sz="2000" b="0" u="none" strike="noStrike">
                <a:solidFill>
                  <a:srgbClr val="000000"/>
                </a:solidFill>
                <a:effectLst/>
                <a:uFillTx/>
                <a:latin typeface="Arial"/>
              </a:rPr>
              <a:t>나 </a:t>
            </a:r>
            <a:r>
              <a:rPr lang="en-US" sz="2000" b="0" u="none" strike="noStrike">
                <a:solidFill>
                  <a:srgbClr val="000000"/>
                </a:solidFill>
                <a:effectLst/>
                <a:uFillTx/>
                <a:latin typeface="Arial"/>
              </a:rPr>
              <a:t>current clusters</a:t>
            </a:r>
            <a:r>
              <a:rPr lang="ko-KR" sz="2000" b="0" u="none" strike="noStrike">
                <a:solidFill>
                  <a:srgbClr val="000000"/>
                </a:solidFill>
                <a:effectLst/>
                <a:uFillTx/>
                <a:latin typeface="Arial"/>
              </a:rPr>
              <a:t>에는 별도 </a:t>
            </a:r>
            <a:r>
              <a:rPr lang="en-US" sz="2000" b="0" u="none" strike="noStrike">
                <a:solidFill>
                  <a:srgbClr val="000000"/>
                </a:solidFill>
                <a:effectLst/>
                <a:uFillTx/>
                <a:latin typeface="Arial"/>
              </a:rPr>
              <a:t>evidence</a:t>
            </a:r>
            <a:r>
              <a:rPr lang="ko-KR" sz="2000" b="0" u="none" strike="noStrike">
                <a:solidFill>
                  <a:srgbClr val="000000"/>
                </a:solidFill>
                <a:effectLst/>
                <a:uFillTx/>
                <a:latin typeface="Arial"/>
              </a:rPr>
              <a:t>가 필요합니다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unicon-paper | pp. 11-19</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 PLOS ONE 17(11): e0277527</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https://journals.plos.org/plosone/article?id=10.1371/journal.pone.0277527</a:t>
            </a:r>
            <a:endParaRPr lang="en-US" sz="2000" b="0" u="none" strike="noStrike">
              <a:solidFill>
                <a:srgbClr val="000000"/>
              </a:solidFill>
              <a:effectLst/>
              <a:uFillTx/>
              <a:latin typeface="Arial"/>
            </a:endParaRPr>
          </a:p>
        </p:txBody>
      </p:sp>
      <p:sp>
        <p:nvSpPr>
          <p:cNvPr id="457" name="PlaceHolder 3"/>
          <p:cNvSpPr>
            <a:spLocks noGrp="1"/>
          </p:cNvSpPr>
          <p:nvPr>
            <p:ph type="sldNum" idx="27"/>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78163258-C81C-4891-9BB7-D136650A3B2C}" type="slidenum">
              <a:rPr lang="en-US" sz="1800" b="0" u="none" strike="noStrike">
                <a:solidFill>
                  <a:schemeClr val="dk1"/>
                </a:solidFill>
                <a:effectLst/>
                <a:uFillTx/>
                <a:latin typeface="+mn-lt"/>
                <a:ea typeface="+mn-ea"/>
              </a:rPr>
              <a:t>&lt;number&gt;</a:t>
            </a:fld>
            <a:endParaRPr lang="en-US" sz="1800" b="0" u="none" strike="noStrike">
              <a:solidFill>
                <a:srgbClr val="000000"/>
              </a:solidFill>
              <a:effectLst/>
              <a:uFillTx/>
              <a:latin typeface="Noto Sans CJK KR"/>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8" name="PlaceHolder 1"/>
          <p:cNvSpPr>
            <a:spLocks noGrp="1"/>
          </p:cNvSpPr>
          <p:nvPr>
            <p:ph type="sldImg"/>
          </p:nvPr>
        </p:nvSpPr>
        <p:spPr>
          <a:xfrm>
            <a:off x="0" y="0"/>
            <a:ext cx="0" cy="0"/>
          </a:xfrm>
          <a:prstGeom prst="rect">
            <a:avLst/>
          </a:prstGeom>
          <a:ln w="0">
            <a:noFill/>
          </a:ln>
        </p:spPr>
      </p:sp>
      <p:sp>
        <p:nvSpPr>
          <p:cNvPr id="45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25. UniCon</a:t>
            </a:r>
            <a:r>
              <a:rPr lang="ko-KR" sz="2000" b="0" u="none" strike="noStrike">
                <a:solidFill>
                  <a:srgbClr val="000000"/>
                </a:solidFill>
                <a:effectLst/>
                <a:uFillTx/>
                <a:latin typeface="Arial"/>
              </a:rPr>
              <a:t>의 기여를 이루는 네 요소</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UniStar alone</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overlapping partitions</a:t>
            </a:r>
            <a:r>
              <a:rPr lang="ko-KR" sz="2000" b="0" u="none" strike="noStrike">
                <a:solidFill>
                  <a:srgbClr val="000000"/>
                </a:solidFill>
                <a:effectLst/>
                <a:uFillTx/>
                <a:latin typeface="Arial"/>
              </a:rPr>
              <a:t>에서 </a:t>
            </a:r>
            <a:r>
              <a:rPr lang="en-US" sz="2000" b="0" u="none" strike="noStrike">
                <a:solidFill>
                  <a:srgbClr val="000000"/>
                </a:solidFill>
                <a:effectLst/>
                <a:uFillTx/>
                <a:latin typeface="Arial"/>
              </a:rPr>
              <a:t>local connectivity</a:t>
            </a:r>
            <a:r>
              <a:rPr lang="ko-KR" sz="2000" b="0" u="none" strike="noStrike">
                <a:solidFill>
                  <a:srgbClr val="000000"/>
                </a:solidFill>
                <a:effectLst/>
                <a:uFillTx/>
                <a:latin typeface="Arial"/>
              </a:rPr>
              <a:t>를 빠르게 압축합니다</a:t>
            </a:r>
            <a:r>
              <a:rPr lang="en-US" sz="2000" b="0" u="none" strike="noStrike">
                <a:solidFill>
                  <a:srgbClr val="000000"/>
                </a:solidFill>
                <a:effectLst/>
                <a:uFillTx/>
                <a:latin typeface="Arial"/>
              </a:rPr>
              <a:t>. Intact tag</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stable cross edge</a:t>
            </a:r>
            <a:r>
              <a:rPr lang="ko-KR" sz="2000" b="0" u="none" strike="noStrike">
                <a:solidFill>
                  <a:srgbClr val="000000"/>
                </a:solidFill>
                <a:effectLst/>
                <a:uFillTx/>
                <a:latin typeface="Arial"/>
              </a:rPr>
              <a:t>의 </a:t>
            </a:r>
            <a:r>
              <a:rPr lang="en-US" sz="2000" b="0" u="none" strike="noStrike">
                <a:solidFill>
                  <a:srgbClr val="000000"/>
                </a:solidFill>
                <a:effectLst/>
                <a:uFillTx/>
                <a:latin typeface="Arial"/>
              </a:rPr>
              <a:t>duplicate copy</a:t>
            </a:r>
            <a:r>
              <a:rPr lang="ko-KR" sz="2000" b="0" u="none" strike="noStrike">
                <a:solidFill>
                  <a:srgbClr val="000000"/>
                </a:solidFill>
                <a:effectLst/>
                <a:uFillTx/>
                <a:latin typeface="Arial"/>
              </a:rPr>
              <a:t>를 줄입니다</a:t>
            </a:r>
            <a:r>
              <a:rPr lang="en-US" sz="2000" b="0" u="none" strike="noStrike">
                <a:solidFill>
                  <a:srgbClr val="000000"/>
                </a:solidFill>
                <a:effectLst/>
                <a:uFillTx/>
                <a:latin typeface="Arial"/>
              </a:rPr>
              <a:t>. Filtering</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completed structures</a:t>
            </a:r>
            <a:r>
              <a:rPr lang="ko-KR" sz="2000" b="0" u="none" strike="noStrike">
                <a:solidFill>
                  <a:srgbClr val="000000"/>
                </a:solidFill>
                <a:effectLst/>
                <a:uFillTx/>
                <a:latin typeface="Arial"/>
              </a:rPr>
              <a:t>를 </a:t>
            </a:r>
            <a:r>
              <a:rPr lang="en-US" sz="2000" b="0" u="none" strike="noStrike">
                <a:solidFill>
                  <a:srgbClr val="000000"/>
                </a:solidFill>
                <a:effectLst/>
                <a:uFillTx/>
                <a:latin typeface="Arial"/>
              </a:rPr>
              <a:t>next rounds</a:t>
            </a:r>
            <a:r>
              <a:rPr lang="ko-KR" sz="2000" b="0" u="none" strike="noStrike">
                <a:solidFill>
                  <a:srgbClr val="000000"/>
                </a:solidFill>
                <a:effectLst/>
                <a:uFillTx/>
                <a:latin typeface="Arial"/>
              </a:rPr>
              <a:t>에서 제외하되 </a:t>
            </a:r>
            <a:r>
              <a:rPr lang="en-US" sz="2000" b="0" u="none" strike="noStrike">
                <a:solidFill>
                  <a:srgbClr val="000000"/>
                </a:solidFill>
                <a:effectLst/>
                <a:uFillTx/>
                <a:latin typeface="Arial"/>
              </a:rPr>
              <a:t>case one and two edges</a:t>
            </a:r>
            <a:r>
              <a:rPr lang="ko-KR" sz="2000" b="0" u="none" strike="noStrike">
                <a:solidFill>
                  <a:srgbClr val="000000"/>
                </a:solidFill>
                <a:effectLst/>
                <a:uFillTx/>
                <a:latin typeface="Arial"/>
              </a:rPr>
              <a:t>를 </a:t>
            </a:r>
            <a:r>
              <a:rPr lang="en-US" sz="2000" b="0" u="none" strike="noStrike">
                <a:solidFill>
                  <a:srgbClr val="000000"/>
                </a:solidFill>
                <a:effectLst/>
                <a:uFillTx/>
                <a:latin typeface="Arial"/>
              </a:rPr>
              <a:t>F</a:t>
            </a:r>
            <a:r>
              <a:rPr lang="ko-KR" sz="2000" b="0" u="none" strike="noStrike">
                <a:solidFill>
                  <a:srgbClr val="000000"/>
                </a:solidFill>
                <a:effectLst/>
                <a:uFillTx/>
                <a:latin typeface="Arial"/>
              </a:rPr>
              <a:t>에 보존합니다</a:t>
            </a:r>
            <a:r>
              <a:rPr lang="en-US" sz="2000" b="0" u="none" strike="noStrike">
                <a:solidFill>
                  <a:srgbClr val="000000"/>
                </a:solidFill>
                <a:effectLst/>
                <a:uFillTx/>
                <a:latin typeface="Arial"/>
              </a:rPr>
              <a:t>. HybridMap</a:t>
            </a:r>
            <a:r>
              <a:rPr lang="ko-KR" sz="2000" b="0" u="none" strike="noStrike">
                <a:solidFill>
                  <a:srgbClr val="000000"/>
                </a:solidFill>
                <a:effectLst/>
                <a:uFillTx/>
                <a:latin typeface="Arial"/>
              </a:rPr>
              <a:t>은 </a:t>
            </a:r>
            <a:r>
              <a:rPr lang="en-US" sz="2000" b="0" u="none" strike="noStrike">
                <a:solidFill>
                  <a:srgbClr val="000000"/>
                </a:solidFill>
                <a:effectLst/>
                <a:uFillTx/>
                <a:latin typeface="Arial"/>
              </a:rPr>
              <a:t>each worker</a:t>
            </a:r>
            <a:r>
              <a:rPr lang="ko-KR" sz="2000" b="0" u="none" strike="noStrike">
                <a:solidFill>
                  <a:srgbClr val="000000"/>
                </a:solidFill>
                <a:effectLst/>
                <a:uFillTx/>
                <a:latin typeface="Arial"/>
              </a:rPr>
              <a:t>의 </a:t>
            </a:r>
            <a:r>
              <a:rPr lang="en-US" sz="2000" b="0" u="none" strike="noStrike">
                <a:solidFill>
                  <a:srgbClr val="000000"/>
                </a:solidFill>
                <a:effectLst/>
                <a:uFillTx/>
                <a:latin typeface="Arial"/>
              </a:rPr>
              <a:t>parent state</a:t>
            </a:r>
            <a:r>
              <a:rPr lang="ko-KR" sz="2000" b="0" u="none" strike="noStrike">
                <a:solidFill>
                  <a:srgbClr val="000000"/>
                </a:solidFill>
                <a:effectLst/>
                <a:uFillTx/>
                <a:latin typeface="Arial"/>
              </a:rPr>
              <a:t>를 </a:t>
            </a:r>
            <a:r>
              <a:rPr lang="en-US" sz="2000" b="0" u="none" strike="noStrike">
                <a:solidFill>
                  <a:srgbClr val="000000"/>
                </a:solidFill>
                <a:effectLst/>
                <a:uFillTx/>
                <a:latin typeface="Arial"/>
              </a:rPr>
              <a:t>compact</a:t>
            </a:r>
            <a:r>
              <a:rPr lang="ko-KR" sz="2000" b="0" u="none" strike="noStrike">
                <a:solidFill>
                  <a:srgbClr val="000000"/>
                </a:solidFill>
                <a:effectLst/>
                <a:uFillTx/>
                <a:latin typeface="Arial"/>
              </a:rPr>
              <a:t>하게 유지합니다</a:t>
            </a:r>
            <a:r>
              <a:rPr lang="en-US" sz="2000" b="0" u="none" strike="noStrike">
                <a:solidFill>
                  <a:srgbClr val="000000"/>
                </a:solidFill>
                <a:effectLst/>
                <a:uFillTx/>
                <a:latin typeface="Arial"/>
              </a:rPr>
              <a:t>. </a:t>
            </a:r>
            <a:r>
              <a:rPr lang="ko-KR" sz="2000" b="0" u="none" strike="noStrike">
                <a:solidFill>
                  <a:srgbClr val="000000"/>
                </a:solidFill>
                <a:effectLst/>
                <a:uFillTx/>
                <a:latin typeface="Arial"/>
              </a:rPr>
              <a:t>이 네 요소가 함께 </a:t>
            </a:r>
            <a:r>
              <a:rPr lang="en-US" sz="2000" b="0" u="none" strike="noStrike">
                <a:solidFill>
                  <a:srgbClr val="000000"/>
                </a:solidFill>
                <a:effectLst/>
                <a:uFillTx/>
                <a:latin typeface="Arial"/>
              </a:rPr>
              <a:t>commodity-cluster CC scalability</a:t>
            </a:r>
            <a:r>
              <a:rPr lang="ko-KR" sz="2000" b="0" u="none" strike="noStrike">
                <a:solidFill>
                  <a:srgbClr val="000000"/>
                </a:solidFill>
                <a:effectLst/>
                <a:uFillTx/>
                <a:latin typeface="Arial"/>
              </a:rPr>
              <a:t>를 목표로 합니다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unicon-paper | pp. 5-11 and p. 19</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 PLOS ONE 17(11): e0277527</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https://journals.plos.org/plosone/article?id=10.1371/journal.pone.0277527</a:t>
            </a:r>
            <a:endParaRPr lang="en-US" sz="2000" b="0" u="none" strike="noStrike">
              <a:solidFill>
                <a:srgbClr val="000000"/>
              </a:solidFill>
              <a:effectLst/>
              <a:uFillTx/>
              <a:latin typeface="Arial"/>
            </a:endParaRPr>
          </a:p>
        </p:txBody>
      </p:sp>
      <p:sp>
        <p:nvSpPr>
          <p:cNvPr id="460" name="PlaceHolder 3"/>
          <p:cNvSpPr>
            <a:spLocks noGrp="1"/>
          </p:cNvSpPr>
          <p:nvPr>
            <p:ph type="sldNum" idx="28"/>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D84941D0-6293-435C-BCF9-6B9782186B7E}" type="slidenum">
              <a:rPr lang="en-US" sz="1800" b="0" u="none" strike="noStrike">
                <a:solidFill>
                  <a:schemeClr val="dk1"/>
                </a:solidFill>
                <a:effectLst/>
                <a:uFillTx/>
                <a:latin typeface="+mn-lt"/>
                <a:ea typeface="+mn-ea"/>
              </a:rPr>
              <a:t>&lt;number&gt;</a:t>
            </a:fld>
            <a:endParaRPr lang="en-US" sz="1800" b="0" u="none" strike="noStrike">
              <a:solidFill>
                <a:srgbClr val="000000"/>
              </a:solidFill>
              <a:effectLst/>
              <a:uFillTx/>
              <a:latin typeface="Noto Sans CJK KR"/>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1" name="PlaceHolder 1"/>
          <p:cNvSpPr>
            <a:spLocks noGrp="1"/>
          </p:cNvSpPr>
          <p:nvPr>
            <p:ph type="sldImg"/>
          </p:nvPr>
        </p:nvSpPr>
        <p:spPr>
          <a:xfrm>
            <a:off x="0" y="0"/>
            <a:ext cx="0" cy="0"/>
          </a:xfrm>
          <a:prstGeom prst="rect">
            <a:avLst/>
          </a:prstGeom>
          <a:ln w="0">
            <a:noFill/>
          </a:ln>
        </p:spPr>
      </p:sp>
      <p:sp>
        <p:nvSpPr>
          <p:cNvPr id="46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en-US" sz="2000" b="0" u="none" strike="noStrike">
                <a:solidFill>
                  <a:srgbClr val="000000"/>
                </a:solidFill>
                <a:effectLst/>
                <a:uFillTx/>
                <a:latin typeface="Arial"/>
              </a:rPr>
              <a:t>26. </a:t>
            </a:r>
            <a:r>
              <a:rPr lang="ko-KR" sz="2000" b="0" u="none" strike="noStrike">
                <a:solidFill>
                  <a:srgbClr val="000000"/>
                </a:solidFill>
                <a:effectLst/>
                <a:uFillTx/>
                <a:latin typeface="Arial"/>
              </a:rPr>
              <a:t>정확한 </a:t>
            </a:r>
            <a:r>
              <a:rPr lang="en-US" sz="2000" b="0" u="none" strike="noStrike">
                <a:solidFill>
                  <a:srgbClr val="000000"/>
                </a:solidFill>
                <a:effectLst/>
                <a:uFillTx/>
                <a:latin typeface="Arial"/>
              </a:rPr>
              <a:t>UniCon </a:t>
            </a:r>
            <a:r>
              <a:rPr lang="ko-KR" sz="2000" b="0" u="none" strike="noStrike">
                <a:solidFill>
                  <a:srgbClr val="000000"/>
                </a:solidFill>
                <a:effectLst/>
                <a:uFillTx/>
                <a:latin typeface="Arial"/>
              </a:rPr>
              <a:t>설명</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발표 대본</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a:t>
            </a:r>
            <a:r>
              <a:rPr lang="ko-KR" sz="2000" b="0" u="none" strike="noStrike">
                <a:solidFill>
                  <a:srgbClr val="000000"/>
                </a:solidFill>
                <a:effectLst/>
                <a:uFillTx/>
                <a:latin typeface="Arial"/>
              </a:rPr>
              <a:t>을 요약하면 다음과 같습니다</a:t>
            </a:r>
            <a:r>
              <a:rPr lang="en-US" sz="2000" b="0" u="none" strike="noStrike">
                <a:solidFill>
                  <a:srgbClr val="000000"/>
                </a:solidFill>
                <a:effectLst/>
                <a:uFillTx/>
                <a:latin typeface="Arial"/>
              </a:rPr>
              <a:t>. Overlapping partition subgraphs</a:t>
            </a:r>
            <a:r>
              <a:rPr lang="ko-KR" sz="2000" b="0" u="none" strike="noStrike">
                <a:solidFill>
                  <a:srgbClr val="000000"/>
                </a:solidFill>
                <a:effectLst/>
                <a:uFillTx/>
                <a:latin typeface="Arial"/>
              </a:rPr>
              <a:t>에서 </a:t>
            </a:r>
            <a:r>
              <a:rPr lang="en-US" sz="2000" b="0" u="none" strike="noStrike">
                <a:solidFill>
                  <a:srgbClr val="000000"/>
                </a:solidFill>
                <a:effectLst/>
                <a:uFillTx/>
                <a:latin typeface="Arial"/>
              </a:rPr>
              <a:t>local connected components</a:t>
            </a:r>
            <a:r>
              <a:rPr lang="ko-KR" sz="2000" b="0" u="none" strike="noStrike">
                <a:solidFill>
                  <a:srgbClr val="000000"/>
                </a:solidFill>
                <a:effectLst/>
                <a:uFillTx/>
                <a:latin typeface="Arial"/>
              </a:rPr>
              <a:t>를 계산해 </a:t>
            </a:r>
            <a:r>
              <a:rPr lang="en-US" sz="2000" b="0" u="none" strike="noStrike">
                <a:solidFill>
                  <a:srgbClr val="000000"/>
                </a:solidFill>
                <a:effectLst/>
                <a:uFillTx/>
                <a:latin typeface="Arial"/>
              </a:rPr>
              <a:t>unified star output</a:t>
            </a:r>
            <a:r>
              <a:rPr lang="ko-KR" sz="2000" b="0" u="none" strike="noStrike">
                <a:solidFill>
                  <a:srgbClr val="000000"/>
                </a:solidFill>
                <a:effectLst/>
                <a:uFillTx/>
                <a:latin typeface="Arial"/>
              </a:rPr>
              <a:t>을 만들고</a:t>
            </a:r>
            <a:r>
              <a:rPr lang="en-US" sz="2000" b="0" u="none" strike="noStrike">
                <a:solidFill>
                  <a:srgbClr val="000000"/>
                </a:solidFill>
                <a:effectLst/>
                <a:uFillTx/>
                <a:latin typeface="Arial"/>
              </a:rPr>
              <a:t>, intact duplicate</a:t>
            </a:r>
            <a:r>
              <a:rPr lang="ko-KR" sz="2000" b="0" u="none" strike="noStrike">
                <a:solidFill>
                  <a:srgbClr val="000000"/>
                </a:solidFill>
                <a:effectLst/>
                <a:uFillTx/>
                <a:latin typeface="Arial"/>
              </a:rPr>
              <a:t>와 </a:t>
            </a:r>
            <a:r>
              <a:rPr lang="en-US" sz="2000" b="0" u="none" strike="noStrike">
                <a:solidFill>
                  <a:srgbClr val="000000"/>
                </a:solidFill>
                <a:effectLst/>
                <a:uFillTx/>
                <a:latin typeface="Arial"/>
              </a:rPr>
              <a:t>completed edges</a:t>
            </a:r>
            <a:r>
              <a:rPr lang="ko-KR" sz="2000" b="0" u="none" strike="noStrike">
                <a:solidFill>
                  <a:srgbClr val="000000"/>
                </a:solidFill>
                <a:effectLst/>
                <a:uFillTx/>
                <a:latin typeface="Arial"/>
              </a:rPr>
              <a:t>를 구분해 </a:t>
            </a:r>
            <a:r>
              <a:rPr lang="en-US" sz="2000" b="0" u="none" strike="noStrike">
                <a:solidFill>
                  <a:srgbClr val="000000"/>
                </a:solidFill>
                <a:effectLst/>
                <a:uFillTx/>
                <a:latin typeface="Arial"/>
              </a:rPr>
              <a:t>next-round records</a:t>
            </a:r>
            <a:r>
              <a:rPr lang="ko-KR" sz="2000" b="0" u="none" strike="noStrike">
                <a:solidFill>
                  <a:srgbClr val="000000"/>
                </a:solidFill>
                <a:effectLst/>
                <a:uFillTx/>
                <a:latin typeface="Arial"/>
              </a:rPr>
              <a:t>를 줄입니다</a:t>
            </a:r>
            <a:r>
              <a:rPr lang="en-US" sz="2000" b="0" u="none" strike="noStrike">
                <a:solidFill>
                  <a:srgbClr val="000000"/>
                </a:solidFill>
                <a:effectLst/>
                <a:uFillTx/>
                <a:latin typeface="Arial"/>
              </a:rPr>
              <a:t>. Case one and two evidence</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F</a:t>
            </a:r>
            <a:r>
              <a:rPr lang="ko-KR" sz="2000" b="0" u="none" strike="noStrike">
                <a:solidFill>
                  <a:srgbClr val="000000"/>
                </a:solidFill>
                <a:effectLst/>
                <a:uFillTx/>
                <a:latin typeface="Arial"/>
              </a:rPr>
              <a:t>에 보존하고 </a:t>
            </a:r>
            <a:r>
              <a:rPr lang="en-US" sz="2000" b="0" u="none" strike="noStrike">
                <a:solidFill>
                  <a:srgbClr val="000000"/>
                </a:solidFill>
                <a:effectLst/>
                <a:uFillTx/>
                <a:latin typeface="Arial"/>
              </a:rPr>
              <a:t>HybridMap</a:t>
            </a:r>
            <a:r>
              <a:rPr lang="ko-KR" sz="2000" b="0" u="none" strike="noStrike">
                <a:solidFill>
                  <a:srgbClr val="000000"/>
                </a:solidFill>
                <a:effectLst/>
                <a:uFillTx/>
                <a:latin typeface="Arial"/>
              </a:rPr>
              <a:t>으로 </a:t>
            </a:r>
            <a:r>
              <a:rPr lang="en-US" sz="2000" b="0" u="none" strike="noStrike">
                <a:solidFill>
                  <a:srgbClr val="000000"/>
                </a:solidFill>
                <a:effectLst/>
                <a:uFillTx/>
                <a:latin typeface="Arial"/>
              </a:rPr>
              <a:t>worker memory</a:t>
            </a:r>
            <a:r>
              <a:rPr lang="ko-KR" sz="2000" b="0" u="none" strike="noStrike">
                <a:solidFill>
                  <a:srgbClr val="000000"/>
                </a:solidFill>
                <a:effectLst/>
                <a:uFillTx/>
                <a:latin typeface="Arial"/>
              </a:rPr>
              <a:t>를 제한합니다</a:t>
            </a:r>
            <a:r>
              <a:rPr lang="en-US" sz="2000" b="0" u="none" strike="noStrike">
                <a:solidFill>
                  <a:srgbClr val="000000"/>
                </a:solidFill>
                <a:effectLst/>
                <a:uFillTx/>
                <a:latin typeface="Arial"/>
              </a:rPr>
              <a:t>. Reported scale results</a:t>
            </a:r>
            <a:r>
              <a:rPr lang="ko-KR" sz="2000" b="0" u="none" strike="noStrike">
                <a:solidFill>
                  <a:srgbClr val="000000"/>
                </a:solidFill>
                <a:effectLst/>
                <a:uFillTx/>
                <a:latin typeface="Arial"/>
              </a:rPr>
              <a:t>는 </a:t>
            </a:r>
            <a:r>
              <a:rPr lang="en-US" sz="2000" b="0" u="none" strike="noStrike">
                <a:solidFill>
                  <a:srgbClr val="000000"/>
                </a:solidFill>
                <a:effectLst/>
                <a:uFillTx/>
                <a:latin typeface="Arial"/>
              </a:rPr>
              <a:t>2022</a:t>
            </a:r>
            <a:r>
              <a:rPr lang="ko-KR" sz="2000" b="0" u="none" strike="noStrike">
                <a:solidFill>
                  <a:srgbClr val="000000"/>
                </a:solidFill>
                <a:effectLst/>
                <a:uFillTx/>
                <a:latin typeface="Arial"/>
              </a:rPr>
              <a:t>년 </a:t>
            </a:r>
            <a:r>
              <a:rPr lang="en-US" sz="2000" b="0" u="none" strike="noStrike">
                <a:solidFill>
                  <a:srgbClr val="000000"/>
                </a:solidFill>
                <a:effectLst/>
                <a:uFillTx/>
                <a:latin typeface="Arial"/>
              </a:rPr>
              <a:t>10-machine configuration</a:t>
            </a:r>
            <a:r>
              <a:rPr lang="ko-KR" sz="2000" b="0" u="none" strike="noStrike">
                <a:solidFill>
                  <a:srgbClr val="000000"/>
                </a:solidFill>
                <a:effectLst/>
                <a:uFillTx/>
                <a:latin typeface="Arial"/>
              </a:rPr>
              <a:t>에 조건부입니다</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ko-KR" sz="2000" b="0" u="none" strike="noStrike">
                <a:solidFill>
                  <a:srgbClr val="000000"/>
                </a:solidFill>
                <a:effectLst/>
                <a:uFillTx/>
                <a:latin typeface="Arial"/>
              </a:rPr>
              <a:t>공개 출처</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unicon-paper | pp. 4-19</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UniCon, PLOS ONE 17(11): e0277527</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https://journals.plos.org/plosone/article?id=10.1371/journal.pone.0277527</a:t>
            </a:r>
            <a:endParaRPr lang="en-US" sz="2000" b="0" u="none" strike="noStrike">
              <a:solidFill>
                <a:srgbClr val="000000"/>
              </a:solidFill>
              <a:effectLst/>
              <a:uFillTx/>
              <a:latin typeface="Arial"/>
            </a:endParaRPr>
          </a:p>
        </p:txBody>
      </p:sp>
      <p:sp>
        <p:nvSpPr>
          <p:cNvPr id="463" name="PlaceHolder 3"/>
          <p:cNvSpPr>
            <a:spLocks noGrp="1"/>
          </p:cNvSpPr>
          <p:nvPr>
            <p:ph type="sldNum" idx="29"/>
          </p:nvPr>
        </p:nvSpPr>
        <p:spPr>
          <a:xfrm>
            <a:off x="0" y="0"/>
            <a:ext cx="0" cy="0"/>
          </a:xfrm>
          <a:prstGeom prst="rect">
            <a:avLst/>
          </a:prstGeom>
          <a:noFill/>
          <a:ln w="0">
            <a:noFill/>
          </a:ln>
        </p:spPr>
        <p:txBody>
          <a:bodyPr lIns="90000" tIns="-45000" rIns="90000" bIns="-45000" anchor="t">
            <a:noAutofit/>
          </a:bodyPr>
          <a:lstStyle>
            <a:lvl1pPr indent="0" algn="l" defTabSz="914400">
              <a:lnSpc>
                <a:spcPct val="100000"/>
              </a:lnSpc>
              <a:buNone/>
              <a:defRPr lang="en-US" sz="1800" b="0" u="none" strike="noStrike">
                <a:solidFill>
                  <a:schemeClr val="dk1"/>
                </a:solidFill>
                <a:effectLst/>
                <a:uFillTx/>
                <a:latin typeface="+mn-lt"/>
                <a:ea typeface="+mn-ea"/>
              </a:defRPr>
            </a:lvl1pPr>
          </a:lstStyle>
          <a:p>
            <a:pPr indent="0" algn="l" defTabSz="914400">
              <a:lnSpc>
                <a:spcPct val="100000"/>
              </a:lnSpc>
              <a:buNone/>
            </a:pPr>
            <a:fld id="{E1FB5FE2-5519-4118-9B5E-9DCD165E6EDE}" type="slidenum">
              <a:rPr lang="en-US" sz="1800" b="0" u="none" strike="noStrike">
                <a:solidFill>
                  <a:schemeClr val="dk1"/>
                </a:solidFill>
                <a:effectLst/>
                <a:uFillTx/>
                <a:latin typeface="+mn-lt"/>
                <a:ea typeface="+mn-ea"/>
              </a:rPr>
              <a:t>&lt;number&gt;</a:t>
            </a:fld>
            <a:endParaRPr lang="en-US" sz="1800" b="0" u="none" strike="noStrike">
              <a:solidFill>
                <a:srgbClr val="000000"/>
              </a:solidFill>
              <a:effectLst/>
              <a:uFillTx/>
              <a:latin typeface="Noto Sans CJK KR"/>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en-US" sz="1800" b="0" u="none" strike="noStrike">
                <a:solidFill>
                  <a:schemeClr val="dk1"/>
                </a:solidFill>
                <a:effectLst/>
                <a:uFillTx/>
                <a:latin typeface="AppleGothic"/>
              </a:defRPr>
            </a:lvl1pPr>
          </a:lstStyle>
          <a:p>
            <a:pPr indent="0" algn="l">
              <a:buNone/>
            </a:pPr>
            <a:r>
              <a:rPr lang="en-US" sz="1800" b="0" u="none" strike="noStrike">
                <a:solidFill>
                  <a:schemeClr val="dk1"/>
                </a:solidFill>
                <a:effectLst/>
                <a:uFillTx/>
                <a:latin typeface="AppleGothic"/>
              </a:rPr>
              <a:t>Click to edit the title text format</a:t>
            </a:r>
            <a:endParaRPr lang="en-US" sz="1800" b="0" u="none" strike="noStrike">
              <a:solidFill>
                <a:schemeClr val="dk1"/>
              </a:solidFill>
              <a:effectLst/>
              <a:uFillTx/>
              <a:latin typeface="AppleGothic"/>
            </a:endParaRP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chemeClr val="dk1"/>
                </a:solidFill>
                <a:effectLst/>
                <a:uFillTx/>
                <a:latin typeface="AppleGothic"/>
              </a:defRPr>
            </a:lvl1pPr>
            <a:lvl2pPr lvl="1" algn="l">
              <a:spcBef>
                <a:spcPts val="1134"/>
              </a:spcBef>
              <a:buClr>
                <a:srgbClr val="000000"/>
              </a:buClr>
              <a:buSzPct val="75000"/>
              <a:buFont typeface="Symbol" charset="2"/>
              <a:buChar char=""/>
              <a:defRPr lang="en-US" sz="2400" b="0" u="none" strike="noStrike">
                <a:solidFill>
                  <a:schemeClr val="dk1"/>
                </a:solidFill>
                <a:effectLst/>
                <a:uFillTx/>
                <a:latin typeface="AppleGothic"/>
              </a:defRPr>
            </a:lvl2pPr>
            <a:lvl3pPr lvl="2" algn="l">
              <a:spcBef>
                <a:spcPts val="850"/>
              </a:spcBef>
              <a:buClr>
                <a:srgbClr val="000000"/>
              </a:buClr>
              <a:buSzPct val="45000"/>
              <a:buFont typeface="Wingdings" charset="2"/>
              <a:buChar char=""/>
              <a:defRPr lang="en-US" sz="2000" b="0" u="none" strike="noStrike">
                <a:solidFill>
                  <a:schemeClr val="dk1"/>
                </a:solidFill>
                <a:effectLst/>
                <a:uFillTx/>
                <a:latin typeface="AppleGothic"/>
              </a:defRPr>
            </a:lvl3pPr>
            <a:lvl4pPr lvl="3" algn="l">
              <a:spcBef>
                <a:spcPts val="567"/>
              </a:spcBef>
              <a:buClr>
                <a:srgbClr val="000000"/>
              </a:buClr>
              <a:buSzPct val="75000"/>
              <a:buFont typeface="Symbol" charset="2"/>
              <a:buChar char=""/>
              <a:defRPr lang="en-US" sz="2000" b="0" u="none" strike="noStrike">
                <a:solidFill>
                  <a:schemeClr val="dk1"/>
                </a:solidFill>
                <a:effectLst/>
                <a:uFillTx/>
                <a:latin typeface="AppleGothic"/>
              </a:defRPr>
            </a:lvl4pPr>
            <a:lvl5pPr lvl="4" algn="l">
              <a:spcBef>
                <a:spcPts val="283"/>
              </a:spcBef>
              <a:buClr>
                <a:srgbClr val="000000"/>
              </a:buClr>
              <a:buSzPct val="45000"/>
              <a:buFont typeface="Wingdings" charset="2"/>
              <a:buChar char=""/>
              <a:defRPr lang="en-US" sz="2000" b="0" u="none" strike="noStrike">
                <a:solidFill>
                  <a:schemeClr val="dk1"/>
                </a:solidFill>
                <a:effectLst/>
                <a:uFillTx/>
                <a:latin typeface="AppleGothic"/>
              </a:defRPr>
            </a:lvl5pPr>
            <a:lvl6pPr lvl="5" algn="l">
              <a:spcBef>
                <a:spcPts val="283"/>
              </a:spcBef>
              <a:buClr>
                <a:srgbClr val="000000"/>
              </a:buClr>
              <a:buSzPct val="45000"/>
              <a:buFont typeface="Wingdings" charset="2"/>
              <a:buChar char=""/>
              <a:defRPr lang="en-US" sz="2000" b="0" u="none" strike="noStrike">
                <a:solidFill>
                  <a:schemeClr val="dk1"/>
                </a:solidFill>
                <a:effectLst/>
                <a:uFillTx/>
                <a:latin typeface="AppleGothic"/>
              </a:defRPr>
            </a:lvl6pPr>
            <a:lvl7pPr lvl="6" algn="l">
              <a:spcBef>
                <a:spcPts val="283"/>
              </a:spcBef>
              <a:buClr>
                <a:srgbClr val="000000"/>
              </a:buClr>
              <a:buSzPct val="45000"/>
              <a:buFont typeface="Wingdings" charset="2"/>
              <a:buChar char=""/>
              <a:defRPr lang="en-US" sz="2000" b="0" u="none" strike="noStrike">
                <a:solidFill>
                  <a:schemeClr val="dk1"/>
                </a:solidFill>
                <a:effectLst/>
                <a:uFillTx/>
                <a:latin typeface="AppleGothic"/>
              </a:defRPr>
            </a:lvl7pPr>
          </a:lstStyle>
          <a:p>
            <a:pPr marL="432000" indent="-324000" algn="l">
              <a:spcBef>
                <a:spcPts val="1417"/>
              </a:spcBef>
              <a:buClr>
                <a:srgbClr val="000000"/>
              </a:buClr>
              <a:buSzPct val="45000"/>
              <a:buFont typeface="Wingdings" charset="2"/>
              <a:buChar char=""/>
            </a:pPr>
            <a:r>
              <a:rPr lang="en-US" sz="3200" b="0" u="none" strike="noStrike">
                <a:solidFill>
                  <a:schemeClr val="dk1"/>
                </a:solidFill>
                <a:effectLst/>
                <a:uFillTx/>
                <a:latin typeface="AppleGothic"/>
              </a:rPr>
              <a:t>Click to edit the outline text format</a:t>
            </a:r>
            <a:endParaRPr lang="en-US" sz="3200" b="0" u="none" strike="noStrike">
              <a:solidFill>
                <a:schemeClr val="dk1"/>
              </a:solidFill>
              <a:effectLst/>
              <a:uFillTx/>
              <a:latin typeface="AppleGothic"/>
            </a:endParaRPr>
          </a:p>
          <a:p>
            <a:pPr marL="864000" lvl="1" indent="-324000" algn="l">
              <a:spcBef>
                <a:spcPts val="1134"/>
              </a:spcBef>
              <a:buClr>
                <a:srgbClr val="000000"/>
              </a:buClr>
              <a:buSzPct val="75000"/>
              <a:buFont typeface="Symbol" charset="2"/>
              <a:buChar char=""/>
            </a:pPr>
            <a:r>
              <a:rPr lang="en-US" sz="2400" b="0" u="none" strike="noStrike">
                <a:solidFill>
                  <a:schemeClr val="dk1"/>
                </a:solidFill>
                <a:effectLst/>
                <a:uFillTx/>
                <a:latin typeface="AppleGothic"/>
              </a:rPr>
              <a:t>Second Outline Level</a:t>
            </a:r>
            <a:endParaRPr lang="en-US" sz="2400" b="0" u="none" strike="noStrike">
              <a:solidFill>
                <a:schemeClr val="dk1"/>
              </a:solidFill>
              <a:effectLst/>
              <a:uFillTx/>
              <a:latin typeface="AppleGothic"/>
            </a:endParaRPr>
          </a:p>
          <a:p>
            <a:pPr marL="1296000" lvl="2" indent="-288000" algn="l">
              <a:spcBef>
                <a:spcPts val="850"/>
              </a:spcBef>
              <a:buClr>
                <a:srgbClr val="000000"/>
              </a:buClr>
              <a:buSzPct val="45000"/>
              <a:buFont typeface="Wingdings" charset="2"/>
              <a:buChar char=""/>
            </a:pPr>
            <a:r>
              <a:rPr lang="en-US" sz="2000" b="0" u="none" strike="noStrike">
                <a:solidFill>
                  <a:schemeClr val="dk1"/>
                </a:solidFill>
                <a:effectLst/>
                <a:uFillTx/>
                <a:latin typeface="AppleGothic"/>
              </a:rPr>
              <a:t>Third Outline Level</a:t>
            </a:r>
            <a:endParaRPr lang="en-US" sz="2000" b="0" u="none" strike="noStrike">
              <a:solidFill>
                <a:schemeClr val="dk1"/>
              </a:solidFill>
              <a:effectLst/>
              <a:uFillTx/>
              <a:latin typeface="AppleGothic"/>
            </a:endParaRPr>
          </a:p>
          <a:p>
            <a:pPr marL="1728000" lvl="3" indent="-216000" algn="l">
              <a:spcBef>
                <a:spcPts val="567"/>
              </a:spcBef>
              <a:buClr>
                <a:srgbClr val="000000"/>
              </a:buClr>
              <a:buSzPct val="75000"/>
              <a:buFont typeface="Symbol" charset="2"/>
              <a:buChar char=""/>
            </a:pPr>
            <a:r>
              <a:rPr lang="en-US" sz="2000" b="0" u="none" strike="noStrike">
                <a:solidFill>
                  <a:schemeClr val="dk1"/>
                </a:solidFill>
                <a:effectLst/>
                <a:uFillTx/>
                <a:latin typeface="AppleGothic"/>
              </a:rPr>
              <a:t>Fourth Outline Level</a:t>
            </a:r>
            <a:endParaRPr lang="en-US" sz="2000" b="0" u="none" strike="noStrike">
              <a:solidFill>
                <a:schemeClr val="dk1"/>
              </a:solidFill>
              <a:effectLst/>
              <a:uFillTx/>
              <a:latin typeface="AppleGothic"/>
            </a:endParaRPr>
          </a:p>
          <a:p>
            <a:pPr marL="2160000" lvl="4"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pleGothic"/>
              </a:rPr>
              <a:t>Fifth Outline Level</a:t>
            </a:r>
            <a:endParaRPr lang="en-US" sz="2000" b="0" u="none" strike="noStrike">
              <a:solidFill>
                <a:schemeClr val="dk1"/>
              </a:solidFill>
              <a:effectLst/>
              <a:uFillTx/>
              <a:latin typeface="AppleGothic"/>
            </a:endParaRPr>
          </a:p>
          <a:p>
            <a:pPr marL="2592000" lvl="5"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pleGothic"/>
              </a:rPr>
              <a:t>Sixth Outline Level</a:t>
            </a:r>
            <a:endParaRPr lang="en-US" sz="2000" b="0" u="none" strike="noStrike">
              <a:solidFill>
                <a:schemeClr val="dk1"/>
              </a:solidFill>
              <a:effectLst/>
              <a:uFillTx/>
              <a:latin typeface="AppleGothic"/>
            </a:endParaRPr>
          </a:p>
          <a:p>
            <a:pPr marL="3024000" lvl="6"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pleGothic"/>
              </a:rPr>
              <a:t>Seventh Outline Level</a:t>
            </a:r>
            <a:endParaRPr lang="en-US" sz="2000" b="0" u="none" strike="noStrike">
              <a:solidFill>
                <a:schemeClr val="dk1"/>
              </a:solidFill>
              <a:effectLst/>
              <a:uFillTx/>
              <a:latin typeface="AppleGothic"/>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 name="Shape 0"/>
          <p:cNvSpPr/>
          <p:nvPr/>
        </p:nvSpPr>
        <p:spPr>
          <a:xfrm>
            <a:off x="0" y="0"/>
            <a:ext cx="215640" cy="6857640"/>
          </a:xfrm>
          <a:prstGeom prst="rect">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1" name="Text 1"/>
          <p:cNvSpPr/>
          <p:nvPr/>
        </p:nvSpPr>
        <p:spPr>
          <a:xfrm>
            <a:off x="888840" y="888840"/>
            <a:ext cx="8762760" cy="1345680"/>
          </a:xfrm>
          <a:prstGeom prst="rect">
            <a:avLst/>
          </a:prstGeom>
          <a:noFill/>
          <a:ln w="0">
            <a:noFill/>
          </a:ln>
        </p:spPr>
        <p:style>
          <a:lnRef idx="0"/>
          <a:fillRef idx="0"/>
          <a:effectRef idx="0"/>
          <a:fontRef idx="minor"/>
        </p:style>
        <p:txBody>
          <a:bodyPr lIns="0" tIns="0" rIns="0" bIns="0" anchor="t">
            <a:noAutofit/>
          </a:bodyPr>
          <a:p>
            <a:pPr defTabSz="914400">
              <a:lnSpc>
                <a:spcPct val="115000"/>
              </a:lnSpc>
              <a:tabLst>
                <a:tab pos="0" algn="l"/>
              </a:tabLst>
            </a:pPr>
            <a:r>
              <a:rPr lang="en-US" sz="4000" b="1" u="none" strike="noStrike">
                <a:solidFill>
                  <a:srgbClr val="0D685C"/>
                </a:solidFill>
                <a:effectLst/>
                <a:uFillTx/>
                <a:latin typeface="AppleGothic"/>
                <a:ea typeface="AppleGothic"/>
              </a:rPr>
              <a:t>UniCon: </a:t>
            </a:r>
            <a:r>
              <a:rPr lang="ko-KR" sz="4000" b="1" u="none" strike="noStrike">
                <a:solidFill>
                  <a:srgbClr val="0D685C"/>
                </a:solidFill>
                <a:effectLst/>
                <a:uFillTx/>
                <a:latin typeface="AppleGothic"/>
                <a:ea typeface="AppleGothic"/>
              </a:rPr>
              <a:t>범용 클러스터의 연결 요소 계산</a:t>
            </a:r>
            <a:endParaRPr lang="en-US" sz="4000" b="0" u="none" strike="noStrike">
              <a:solidFill>
                <a:srgbClr val="000000"/>
              </a:solidFill>
              <a:effectLst/>
              <a:uFillTx/>
              <a:latin typeface="Arial"/>
            </a:endParaRPr>
          </a:p>
        </p:txBody>
      </p:sp>
      <p:sp>
        <p:nvSpPr>
          <p:cNvPr id="12" name="Text 2"/>
          <p:cNvSpPr/>
          <p:nvPr/>
        </p:nvSpPr>
        <p:spPr>
          <a:xfrm>
            <a:off x="888840" y="2413080"/>
            <a:ext cx="9651600" cy="13330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2200" b="0" u="none" strike="noStrike">
                <a:solidFill>
                  <a:srgbClr val="173C37"/>
                </a:solidFill>
                <a:effectLst/>
                <a:uFillTx/>
                <a:latin typeface="AppleGothic"/>
                <a:ea typeface="AppleGothic"/>
              </a:rPr>
              <a:t>UniCon: A Unified Star-Operation to Efficiently Find Connected Components on a Cluster of Commodity Hardware</a:t>
            </a:r>
            <a:endParaRPr lang="en-US" sz="2200" b="0" u="none" strike="noStrike">
              <a:solidFill>
                <a:srgbClr val="000000"/>
              </a:solidFill>
              <a:effectLst/>
              <a:uFillTx/>
              <a:latin typeface="Arial"/>
            </a:endParaRPr>
          </a:p>
        </p:txBody>
      </p:sp>
      <p:sp>
        <p:nvSpPr>
          <p:cNvPr id="13" name="Shape 3"/>
          <p:cNvSpPr/>
          <p:nvPr/>
        </p:nvSpPr>
        <p:spPr>
          <a:xfrm>
            <a:off x="888840" y="4076640"/>
            <a:ext cx="965196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4" name="Text 4"/>
          <p:cNvSpPr/>
          <p:nvPr/>
        </p:nvSpPr>
        <p:spPr>
          <a:xfrm>
            <a:off x="888840" y="4368960"/>
            <a:ext cx="9651600" cy="68544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0" u="none" strike="noStrike">
                <a:solidFill>
                  <a:srgbClr val="5E6D69"/>
                </a:solidFill>
                <a:effectLst/>
                <a:uFillTx/>
                <a:latin typeface="AppleGothic"/>
                <a:ea typeface="AppleGothic"/>
              </a:rPr>
              <a:t>Chaeeun Kim, Changhun Han, and Ha-Myung Park (2022)</a:t>
            </a:r>
            <a:endParaRPr lang="en-US" sz="1750" b="0" u="none" strike="noStrike">
              <a:solidFill>
                <a:srgbClr val="000000"/>
              </a:solidFill>
              <a:effectLst/>
              <a:uFillTx/>
              <a:latin typeface="Arial"/>
            </a:endParaRPr>
          </a:p>
        </p:txBody>
      </p:sp>
      <p:sp>
        <p:nvSpPr>
          <p:cNvPr id="15" name="Text 5"/>
          <p:cNvSpPr/>
          <p:nvPr/>
        </p:nvSpPr>
        <p:spPr>
          <a:xfrm>
            <a:off x="888840" y="5245200"/>
            <a:ext cx="9651600" cy="57132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0" u="none" strike="noStrike">
                <a:solidFill>
                  <a:srgbClr val="0D685C"/>
                </a:solidFill>
                <a:effectLst/>
                <a:uFillTx/>
                <a:latin typeface="AppleGothic"/>
                <a:ea typeface="AppleGothic"/>
              </a:rPr>
              <a:t>Unified star, overlap partition, edge filtering, HybridMap</a:t>
            </a:r>
            <a:r>
              <a:rPr lang="ko-KR" sz="1750" b="0" u="none" strike="noStrike">
                <a:solidFill>
                  <a:srgbClr val="0D685C"/>
                </a:solidFill>
                <a:effectLst/>
                <a:uFillTx/>
                <a:latin typeface="AppleGothic"/>
                <a:ea typeface="AppleGothic"/>
              </a:rPr>
              <a:t>을 하나의 정확한 흐름으로 읽는다</a:t>
            </a:r>
            <a:endParaRPr lang="en-US" sz="1750" b="0" u="none" strike="noStrike">
              <a:solidFill>
                <a:srgbClr val="000000"/>
              </a:solidFill>
              <a:effectLst/>
              <a:uFillTx/>
              <a:latin typeface="Arial"/>
            </a:endParaRPr>
          </a:p>
        </p:txBody>
      </p:sp>
      <p:sp>
        <p:nvSpPr>
          <p:cNvPr id="16" name="Shape 6"/>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7" name="Text 7"/>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unicon-paper title and abstract</a:t>
            </a:r>
            <a:endParaRPr lang="en-US" sz="1050" b="0" u="none" strike="noStrike">
              <a:solidFill>
                <a:srgbClr val="000000"/>
              </a:solidFill>
              <a:effectLst/>
              <a:uFillTx/>
              <a:latin typeface="Arial"/>
            </a:endParaRPr>
          </a:p>
        </p:txBody>
      </p:sp>
      <p:sp>
        <p:nvSpPr>
          <p:cNvPr id="18" name="Text 8"/>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01</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Connected components</a:t>
            </a:r>
            <a:r>
              <a:rPr lang="ko-KR" sz="3100" b="1" u="none" strike="noStrike">
                <a:solidFill>
                  <a:srgbClr val="173C37"/>
                </a:solidFill>
                <a:effectLst/>
                <a:uFillTx/>
                <a:latin typeface="AppleGothic"/>
                <a:ea typeface="AppleGothic"/>
              </a:rPr>
              <a:t>의 정확한 출력</a:t>
            </a:r>
            <a:endParaRPr lang="en-US" sz="3100" b="0" u="none" strike="noStrike">
              <a:solidFill>
                <a:srgbClr val="000000"/>
              </a:solidFill>
              <a:effectLst/>
              <a:uFillTx/>
              <a:latin typeface="Arial"/>
            </a:endParaRPr>
          </a:p>
        </p:txBody>
      </p:sp>
      <p:sp>
        <p:nvSpPr>
          <p:cNvPr id="20"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900" b="0" u="none" strike="noStrike">
                <a:solidFill>
                  <a:srgbClr val="0D685C"/>
                </a:solidFill>
                <a:effectLst/>
                <a:uFillTx/>
                <a:latin typeface="AppleGothic"/>
                <a:ea typeface="AppleGothic"/>
              </a:rPr>
              <a:t>각 </a:t>
            </a:r>
            <a:r>
              <a:rPr lang="en-US" sz="1900" b="0" u="none" strike="noStrike">
                <a:solidFill>
                  <a:srgbClr val="0D685C"/>
                </a:solidFill>
                <a:effectLst/>
                <a:uFillTx/>
                <a:latin typeface="AppleGothic"/>
                <a:ea typeface="AppleGothic"/>
              </a:rPr>
              <a:t>vertex u</a:t>
            </a:r>
            <a:r>
              <a:rPr lang="ko-KR" sz="1900" b="0" u="none" strike="noStrike">
                <a:solidFill>
                  <a:srgbClr val="0D685C"/>
                </a:solidFill>
                <a:effectLst/>
                <a:uFillTx/>
                <a:latin typeface="AppleGothic"/>
                <a:ea typeface="AppleGothic"/>
              </a:rPr>
              <a:t>를 같은 </a:t>
            </a:r>
            <a:r>
              <a:rPr lang="en-US" sz="1900" b="0" u="none" strike="noStrike">
                <a:solidFill>
                  <a:srgbClr val="0D685C"/>
                </a:solidFill>
                <a:effectLst/>
                <a:uFillTx/>
                <a:latin typeface="AppleGothic"/>
                <a:ea typeface="AppleGothic"/>
              </a:rPr>
              <a:t>component</a:t>
            </a:r>
            <a:r>
              <a:rPr lang="ko-KR" sz="1900" b="0" u="none" strike="noStrike">
                <a:solidFill>
                  <a:srgbClr val="0D685C"/>
                </a:solidFill>
                <a:effectLst/>
                <a:uFillTx/>
                <a:latin typeface="AppleGothic"/>
                <a:ea typeface="AppleGothic"/>
              </a:rPr>
              <a:t>에서 </a:t>
            </a:r>
            <a:r>
              <a:rPr lang="en-US" sz="1900" b="0" u="none" strike="noStrike">
                <a:solidFill>
                  <a:srgbClr val="0D685C"/>
                </a:solidFill>
                <a:effectLst/>
                <a:uFillTx/>
                <a:latin typeface="AppleGothic"/>
                <a:ea typeface="AppleGothic"/>
              </a:rPr>
              <a:t>ID</a:t>
            </a:r>
            <a:r>
              <a:rPr lang="ko-KR" sz="1900" b="0" u="none" strike="noStrike">
                <a:solidFill>
                  <a:srgbClr val="0D685C"/>
                </a:solidFill>
                <a:effectLst/>
                <a:uFillTx/>
                <a:latin typeface="AppleGothic"/>
                <a:ea typeface="AppleGothic"/>
              </a:rPr>
              <a:t>가 가장 작은 </a:t>
            </a:r>
            <a:r>
              <a:rPr lang="en-US" sz="1900" b="0" u="none" strike="noStrike">
                <a:solidFill>
                  <a:srgbClr val="0D685C"/>
                </a:solidFill>
                <a:effectLst/>
                <a:uFillTx/>
                <a:latin typeface="AppleGothic"/>
                <a:ea typeface="AppleGothic"/>
              </a:rPr>
              <a:t>representative</a:t>
            </a:r>
            <a:r>
              <a:rPr lang="ko-KR" sz="1900" b="0" u="none" strike="noStrike">
                <a:solidFill>
                  <a:srgbClr val="0D685C"/>
                </a:solidFill>
                <a:effectLst/>
                <a:uFillTx/>
                <a:latin typeface="AppleGothic"/>
                <a:ea typeface="AppleGothic"/>
              </a:rPr>
              <a:t>로 </a:t>
            </a:r>
            <a:r>
              <a:rPr lang="en-US" sz="1900" b="0" u="none" strike="noStrike">
                <a:solidFill>
                  <a:srgbClr val="0D685C"/>
                </a:solidFill>
                <a:effectLst/>
                <a:uFillTx/>
                <a:latin typeface="AppleGothic"/>
                <a:ea typeface="AppleGothic"/>
              </a:rPr>
              <a:t>mapping</a:t>
            </a:r>
            <a:r>
              <a:rPr lang="ko-KR" sz="1900" b="0" u="none" strike="noStrike">
                <a:solidFill>
                  <a:srgbClr val="0D685C"/>
                </a:solidFill>
                <a:effectLst/>
                <a:uFillTx/>
                <a:latin typeface="AppleGothic"/>
                <a:ea typeface="AppleGothic"/>
              </a:rPr>
              <a:t>한다</a:t>
            </a:r>
            <a:endParaRPr lang="en-US" sz="1900" b="0" u="none" strike="noStrike">
              <a:solidFill>
                <a:srgbClr val="000000"/>
              </a:solidFill>
              <a:effectLst/>
              <a:uFillTx/>
              <a:latin typeface="Arial"/>
            </a:endParaRPr>
          </a:p>
        </p:txBody>
      </p:sp>
      <p:sp>
        <p:nvSpPr>
          <p:cNvPr id="21" name="mechanism-lane-comp-a"/>
          <p:cNvSpPr/>
          <p:nvPr/>
        </p:nvSpPr>
        <p:spPr>
          <a:xfrm>
            <a:off x="660240" y="2209680"/>
            <a:ext cx="863280" cy="1561680"/>
          </a:xfrm>
          <a:prstGeom prst="rect">
            <a:avLst/>
          </a:prstGeom>
          <a:noFill/>
          <a:ln w="0">
            <a:noFill/>
          </a:ln>
        </p:spPr>
        <p:style>
          <a:lnRef idx="0"/>
          <a:fillRef idx="0"/>
          <a:effectRef idx="0"/>
          <a:fontRef idx="minor"/>
        </p:style>
        <p:txBody>
          <a:bodyPr lIns="0" tIns="0" rIns="0" bIns="0" anchor="ctr">
            <a:noAutofit/>
          </a:bodyPr>
          <a:p>
            <a:pPr algn="ctr" defTabSz="914400">
              <a:lnSpc>
                <a:spcPct val="120000"/>
              </a:lnSpc>
              <a:tabLst>
                <a:tab pos="0" algn="l"/>
              </a:tabLst>
            </a:pPr>
            <a:r>
              <a:rPr lang="en-US" sz="1250" b="1" u="none" strike="noStrike">
                <a:solidFill>
                  <a:srgbClr val="0D685C"/>
                </a:solidFill>
                <a:effectLst/>
                <a:uFillTx/>
                <a:latin typeface="AppleGothic"/>
                <a:ea typeface="AppleGothic"/>
              </a:rPr>
              <a:t>component A</a:t>
            </a:r>
            <a:endParaRPr lang="en-US" sz="1250" b="0" u="none" strike="noStrike">
              <a:solidFill>
                <a:srgbClr val="000000"/>
              </a:solidFill>
              <a:effectLst/>
              <a:uFillTx/>
              <a:latin typeface="Arial"/>
            </a:endParaRPr>
          </a:p>
        </p:txBody>
      </p:sp>
      <p:sp>
        <p:nvSpPr>
          <p:cNvPr id="22" name="mechanism-lane-comp-b"/>
          <p:cNvSpPr/>
          <p:nvPr/>
        </p:nvSpPr>
        <p:spPr>
          <a:xfrm>
            <a:off x="660240" y="3772080"/>
            <a:ext cx="863280" cy="1561680"/>
          </a:xfrm>
          <a:prstGeom prst="rect">
            <a:avLst/>
          </a:prstGeom>
          <a:noFill/>
          <a:ln w="0">
            <a:noFill/>
          </a:ln>
        </p:spPr>
        <p:style>
          <a:lnRef idx="0"/>
          <a:fillRef idx="0"/>
          <a:effectRef idx="0"/>
          <a:fontRef idx="minor"/>
        </p:style>
        <p:txBody>
          <a:bodyPr lIns="0" tIns="0" rIns="0" bIns="0" anchor="ctr">
            <a:noAutofit/>
          </a:bodyPr>
          <a:p>
            <a:pPr algn="ctr" defTabSz="914400">
              <a:lnSpc>
                <a:spcPct val="120000"/>
              </a:lnSpc>
              <a:tabLst>
                <a:tab pos="0" algn="l"/>
              </a:tabLst>
            </a:pPr>
            <a:r>
              <a:rPr lang="en-US" sz="1250" b="1" u="none" strike="noStrike">
                <a:solidFill>
                  <a:srgbClr val="0D685C"/>
                </a:solidFill>
                <a:effectLst/>
                <a:uFillTx/>
                <a:latin typeface="AppleGothic"/>
                <a:ea typeface="AppleGothic"/>
              </a:rPr>
              <a:t>component B</a:t>
            </a:r>
            <a:endParaRPr lang="en-US" sz="1250" b="0" u="none" strike="noStrike">
              <a:solidFill>
                <a:srgbClr val="000000"/>
              </a:solidFill>
              <a:effectLst/>
              <a:uFillTx/>
              <a:latin typeface="Arial"/>
            </a:endParaRPr>
          </a:p>
        </p:txBody>
      </p:sp>
      <p:sp>
        <p:nvSpPr>
          <p:cNvPr id="23" name="mechanism-edge-e-a-set-segment-1"/>
          <p:cNvSpPr/>
          <p:nvPr/>
        </p:nvSpPr>
        <p:spPr>
          <a:xfrm>
            <a:off x="4660560" y="2990520"/>
            <a:ext cx="482760" cy="360"/>
          </a:xfrm>
          <a:prstGeom prst="line">
            <a:avLst/>
          </a:prstGeom>
          <a:ln w="12700">
            <a:solidFill>
              <a:srgbClr val="0D685C"/>
            </a:solidFill>
            <a:round/>
            <a:tailEnd len="med" type="triangle" w="me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4" name="mechanism-edge-e-a-map-segment-1"/>
          <p:cNvSpPr/>
          <p:nvPr/>
        </p:nvSpPr>
        <p:spPr>
          <a:xfrm>
            <a:off x="8064360" y="2990520"/>
            <a:ext cx="482400" cy="360"/>
          </a:xfrm>
          <a:prstGeom prst="line">
            <a:avLst/>
          </a:prstGeom>
          <a:ln w="12700">
            <a:solidFill>
              <a:srgbClr val="0D685C"/>
            </a:solidFill>
            <a:round/>
            <a:tailEnd len="med" type="triangle" w="me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5" name="mechanism-edge-e-b-set-segment-1"/>
          <p:cNvSpPr/>
          <p:nvPr/>
        </p:nvSpPr>
        <p:spPr>
          <a:xfrm>
            <a:off x="4660560" y="4552920"/>
            <a:ext cx="482760" cy="360"/>
          </a:xfrm>
          <a:prstGeom prst="line">
            <a:avLst/>
          </a:prstGeom>
          <a:ln w="12700">
            <a:solidFill>
              <a:srgbClr val="0D685C"/>
            </a:solidFill>
            <a:round/>
            <a:tailEnd len="med" type="triangle" w="me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6" name="mechanism-edge-e-b-map-segment-1"/>
          <p:cNvSpPr/>
          <p:nvPr/>
        </p:nvSpPr>
        <p:spPr>
          <a:xfrm>
            <a:off x="8064360" y="4552920"/>
            <a:ext cx="482400" cy="360"/>
          </a:xfrm>
          <a:prstGeom prst="line">
            <a:avLst/>
          </a:prstGeom>
          <a:ln w="12700">
            <a:solidFill>
              <a:srgbClr val="0D685C"/>
            </a:solidFill>
            <a:round/>
            <a:tailEnd len="med" type="triangle" w="me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7" name="mechanism-node-edges-a"/>
          <p:cNvSpPr/>
          <p:nvPr/>
        </p:nvSpPr>
        <p:spPr>
          <a:xfrm>
            <a:off x="1739880" y="2673360"/>
            <a:ext cx="2920680" cy="228240"/>
          </a:xfrm>
          <a:prstGeom prst="rect">
            <a:avLst/>
          </a:prstGeom>
          <a:noFill/>
          <a:ln w="0">
            <a:noFill/>
          </a:ln>
        </p:spPr>
        <p:style>
          <a:lnRef idx="0"/>
          <a:fillRef idx="0"/>
          <a:effectRef idx="0"/>
          <a:fontRef idx="minor"/>
        </p:style>
        <p:txBody>
          <a:bodyPr lIns="0" tIns="0" rIns="0" bIns="0" anchor="ctr">
            <a:noAutofit/>
          </a:bodyPr>
          <a:p>
            <a:pPr algn="ctr" defTabSz="914400">
              <a:lnSpc>
                <a:spcPct val="120000"/>
              </a:lnSpc>
              <a:tabLst>
                <a:tab pos="0" algn="l"/>
              </a:tabLst>
            </a:pPr>
            <a:r>
              <a:rPr lang="ko-KR" sz="1150" b="1" u="none" strike="noStrike">
                <a:solidFill>
                  <a:srgbClr val="0D685C"/>
                </a:solidFill>
                <a:effectLst/>
                <a:uFillTx/>
                <a:latin typeface="AppleGothic"/>
                <a:ea typeface="AppleGothic"/>
              </a:rPr>
              <a:t>입력 </a:t>
            </a:r>
            <a:r>
              <a:rPr lang="en-US" sz="1150" b="1" u="none" strike="noStrike">
                <a:solidFill>
                  <a:srgbClr val="0D685C"/>
                </a:solidFill>
                <a:effectLst/>
                <a:uFillTx/>
                <a:latin typeface="AppleGothic"/>
                <a:ea typeface="AppleGothic"/>
              </a:rPr>
              <a:t>edges</a:t>
            </a:r>
            <a:endParaRPr lang="en-US" sz="1150" b="0" u="none" strike="noStrike">
              <a:solidFill>
                <a:srgbClr val="000000"/>
              </a:solidFill>
              <a:effectLst/>
              <a:uFillTx/>
              <a:latin typeface="Arial"/>
            </a:endParaRPr>
          </a:p>
        </p:txBody>
      </p:sp>
      <p:sp>
        <p:nvSpPr>
          <p:cNvPr id="28" name="mechanism-node-edges-a-queue-1"/>
          <p:cNvSpPr/>
          <p:nvPr/>
        </p:nvSpPr>
        <p:spPr>
          <a:xfrm>
            <a:off x="1739880" y="2927520"/>
            <a:ext cx="2920680" cy="190080"/>
          </a:xfrm>
          <a:prstGeom prst="rect">
            <a:avLst/>
          </a:prstGeom>
          <a:solidFill>
            <a:srgbClr val="FFFFFF"/>
          </a:solidFill>
          <a:ln w="0">
            <a:solidFill>
              <a:srgbClr val="0D685C"/>
            </a:solidFill>
          </a:ln>
        </p:spPr>
        <p:style>
          <a:lnRef idx="0"/>
          <a:fillRef idx="0"/>
          <a:effectRef idx="0"/>
          <a:fontRef idx="minor"/>
        </p:style>
        <p:txBody>
          <a:bodyPr lIns="12600" tIns="12600" rIns="12600" bIns="12600" anchor="ctr">
            <a:noAutofit/>
          </a:bodyPr>
          <a:p>
            <a:pPr algn="ctr" defTabSz="914400">
              <a:lnSpc>
                <a:spcPct val="100000"/>
              </a:lnSpc>
              <a:tabLst>
                <a:tab pos="0" algn="l"/>
              </a:tabLst>
            </a:pPr>
            <a:r>
              <a:rPr lang="en-US" sz="950" b="0" u="none" strike="noStrike">
                <a:solidFill>
                  <a:srgbClr val="173C37"/>
                </a:solidFill>
                <a:effectLst/>
                <a:uFillTx/>
                <a:latin typeface="AppleGothic"/>
                <a:ea typeface="AppleGothic"/>
              </a:rPr>
              <a:t>(4,1)</a:t>
            </a:r>
            <a:endParaRPr lang="en-US" sz="950" b="0" u="none" strike="noStrike">
              <a:solidFill>
                <a:srgbClr val="000000"/>
              </a:solidFill>
              <a:effectLst/>
              <a:uFillTx/>
              <a:latin typeface="Arial"/>
            </a:endParaRPr>
          </a:p>
        </p:txBody>
      </p:sp>
      <p:sp>
        <p:nvSpPr>
          <p:cNvPr id="29" name="mechanism-node-edges-a-queue-2"/>
          <p:cNvSpPr/>
          <p:nvPr/>
        </p:nvSpPr>
        <p:spPr>
          <a:xfrm>
            <a:off x="1739880" y="3117960"/>
            <a:ext cx="2920680" cy="190080"/>
          </a:xfrm>
          <a:prstGeom prst="rect">
            <a:avLst/>
          </a:prstGeom>
          <a:solidFill>
            <a:srgbClr val="FFFFFF"/>
          </a:solidFill>
          <a:ln w="0">
            <a:solidFill>
              <a:srgbClr val="0D685C"/>
            </a:solidFill>
          </a:ln>
        </p:spPr>
        <p:style>
          <a:lnRef idx="0"/>
          <a:fillRef idx="0"/>
          <a:effectRef idx="0"/>
          <a:fontRef idx="minor"/>
        </p:style>
        <p:txBody>
          <a:bodyPr lIns="12600" tIns="12600" rIns="12600" bIns="12600" anchor="ctr">
            <a:noAutofit/>
          </a:bodyPr>
          <a:p>
            <a:pPr algn="ctr" defTabSz="914400">
              <a:lnSpc>
                <a:spcPct val="100000"/>
              </a:lnSpc>
              <a:tabLst>
                <a:tab pos="0" algn="l"/>
              </a:tabLst>
            </a:pPr>
            <a:r>
              <a:rPr lang="en-US" sz="950" b="0" u="none" strike="noStrike">
                <a:solidFill>
                  <a:srgbClr val="173C37"/>
                </a:solidFill>
                <a:effectLst/>
                <a:uFillTx/>
                <a:latin typeface="AppleGothic"/>
                <a:ea typeface="AppleGothic"/>
              </a:rPr>
              <a:t>(6,4)</a:t>
            </a:r>
            <a:endParaRPr lang="en-US" sz="950" b="0" u="none" strike="noStrike">
              <a:solidFill>
                <a:srgbClr val="000000"/>
              </a:solidFill>
              <a:effectLst/>
              <a:uFillTx/>
              <a:latin typeface="Arial"/>
            </a:endParaRPr>
          </a:p>
        </p:txBody>
      </p:sp>
      <p:sp>
        <p:nvSpPr>
          <p:cNvPr id="30" name="mechanism-node-set-a"/>
          <p:cNvSpPr/>
          <p:nvPr/>
        </p:nvSpPr>
        <p:spPr>
          <a:xfrm>
            <a:off x="5143680" y="2660760"/>
            <a:ext cx="2920680" cy="659880"/>
          </a:xfrm>
          <a:prstGeom prst="roundRect">
            <a:avLst>
              <a:gd name="adj" fmla="val 16667"/>
            </a:avLst>
          </a:prstGeom>
          <a:solidFill>
            <a:srgbClr val="E8F1EE"/>
          </a:solidFill>
          <a:ln w="0">
            <a:solidFill>
              <a:srgbClr val="0D685C"/>
            </a:solidFill>
          </a:ln>
        </p:spPr>
        <p:style>
          <a:lnRef idx="0"/>
          <a:fillRef idx="0"/>
          <a:effectRef idx="0"/>
          <a:fontRef idx="minor"/>
        </p:style>
        <p:txBody>
          <a:bodyPr lIns="50760" tIns="50760" rIns="50760" bIns="50760" anchor="ctr">
            <a:noAutofit/>
          </a:bodyPr>
          <a:p>
            <a:pPr algn="ctr" defTabSz="914400">
              <a:lnSpc>
                <a:spcPct val="100000"/>
              </a:lnSpc>
              <a:tabLst>
                <a:tab pos="0" algn="l"/>
              </a:tabLst>
            </a:pPr>
            <a:r>
              <a:rPr lang="ko-KR" sz="1150" b="1" u="none" strike="noStrike">
                <a:solidFill>
                  <a:srgbClr val="0D685C"/>
                </a:solidFill>
                <a:effectLst/>
                <a:uFillTx/>
                <a:latin typeface="AppleGothic"/>
                <a:ea typeface="AppleGothic"/>
              </a:rPr>
              <a:t>연결 집합</a:t>
            </a:r>
            <a:endParaRPr lang="en-US" sz="1150" b="0" u="none" strike="noStrike">
              <a:solidFill>
                <a:srgbClr val="000000"/>
              </a:solidFill>
              <a:effectLst/>
              <a:uFillTx/>
              <a:latin typeface="Arial"/>
            </a:endParaRPr>
          </a:p>
          <a:p>
            <a:pPr algn="ctr" defTabSz="914400">
              <a:lnSpc>
                <a:spcPct val="100000"/>
              </a:lnSpc>
              <a:tabLst>
                <a:tab pos="0" algn="l"/>
              </a:tabLst>
            </a:pPr>
            <a:r>
              <a:rPr lang="en-US" sz="1150" b="0" u="none" strike="noStrike">
                <a:solidFill>
                  <a:srgbClr val="173C37"/>
                </a:solidFill>
                <a:effectLst/>
                <a:uFillTx/>
                <a:latin typeface="AppleGothic"/>
                <a:ea typeface="AppleGothic"/>
              </a:rPr>
              <a:t>{1,4,6}, min=1</a:t>
            </a:r>
            <a:endParaRPr lang="en-US" sz="1150" b="0" u="none" strike="noStrike">
              <a:solidFill>
                <a:srgbClr val="000000"/>
              </a:solidFill>
              <a:effectLst/>
              <a:uFillTx/>
              <a:latin typeface="Arial"/>
            </a:endParaRPr>
          </a:p>
        </p:txBody>
      </p:sp>
      <p:sp>
        <p:nvSpPr>
          <p:cNvPr id="31" name="mechanism-node-map-a"/>
          <p:cNvSpPr/>
          <p:nvPr/>
        </p:nvSpPr>
        <p:spPr>
          <a:xfrm>
            <a:off x="8547120" y="2577960"/>
            <a:ext cx="2920680" cy="228240"/>
          </a:xfrm>
          <a:prstGeom prst="rect">
            <a:avLst/>
          </a:prstGeom>
          <a:noFill/>
          <a:ln w="0">
            <a:noFill/>
          </a:ln>
        </p:spPr>
        <p:style>
          <a:lnRef idx="0"/>
          <a:fillRef idx="0"/>
          <a:effectRef idx="0"/>
          <a:fontRef idx="minor"/>
        </p:style>
        <p:txBody>
          <a:bodyPr lIns="0" tIns="0" rIns="0" bIns="0" anchor="ctr">
            <a:noAutofit/>
          </a:bodyPr>
          <a:p>
            <a:pPr algn="ctr" defTabSz="914400">
              <a:lnSpc>
                <a:spcPct val="120000"/>
              </a:lnSpc>
              <a:tabLst>
                <a:tab pos="0" algn="l"/>
              </a:tabLst>
            </a:pPr>
            <a:r>
              <a:rPr lang="ko-KR" sz="1150" b="1" u="none" strike="noStrike">
                <a:solidFill>
                  <a:srgbClr val="0D685C"/>
                </a:solidFill>
                <a:effectLst/>
                <a:uFillTx/>
                <a:latin typeface="AppleGothic"/>
                <a:ea typeface="AppleGothic"/>
              </a:rPr>
              <a:t>대표 </a:t>
            </a:r>
            <a:r>
              <a:rPr lang="en-US" sz="1150" b="1" u="none" strike="noStrike">
                <a:solidFill>
                  <a:srgbClr val="0D685C"/>
                </a:solidFill>
                <a:effectLst/>
                <a:uFillTx/>
                <a:latin typeface="AppleGothic"/>
                <a:ea typeface="AppleGothic"/>
              </a:rPr>
              <a:t>mapping</a:t>
            </a:r>
            <a:endParaRPr lang="en-US" sz="1150" b="0" u="none" strike="noStrike">
              <a:solidFill>
                <a:srgbClr val="000000"/>
              </a:solidFill>
              <a:effectLst/>
              <a:uFillTx/>
              <a:latin typeface="Arial"/>
            </a:endParaRPr>
          </a:p>
        </p:txBody>
      </p:sp>
      <p:sp>
        <p:nvSpPr>
          <p:cNvPr id="32" name="mechanism-node-map-a-queue-1"/>
          <p:cNvSpPr/>
          <p:nvPr/>
        </p:nvSpPr>
        <p:spPr>
          <a:xfrm>
            <a:off x="8547120" y="2832120"/>
            <a:ext cx="2920680" cy="190080"/>
          </a:xfrm>
          <a:prstGeom prst="rect">
            <a:avLst/>
          </a:prstGeom>
          <a:solidFill>
            <a:srgbClr val="FFFFFF"/>
          </a:solidFill>
          <a:ln w="0">
            <a:solidFill>
              <a:srgbClr val="0D685C"/>
            </a:solidFill>
          </a:ln>
        </p:spPr>
        <p:style>
          <a:lnRef idx="0"/>
          <a:fillRef idx="0"/>
          <a:effectRef idx="0"/>
          <a:fontRef idx="minor"/>
        </p:style>
        <p:txBody>
          <a:bodyPr lIns="12600" tIns="12600" rIns="12600" bIns="12600" anchor="ctr">
            <a:noAutofit/>
          </a:bodyPr>
          <a:p>
            <a:pPr algn="ctr" defTabSz="914400">
              <a:lnSpc>
                <a:spcPct val="100000"/>
              </a:lnSpc>
              <a:tabLst>
                <a:tab pos="0" algn="l"/>
              </a:tabLst>
            </a:pPr>
            <a:r>
              <a:rPr lang="en-US" sz="950" b="0" u="none" strike="noStrike">
                <a:solidFill>
                  <a:srgbClr val="173C37"/>
                </a:solidFill>
                <a:effectLst/>
                <a:uFillTx/>
                <a:latin typeface="AppleGothic"/>
                <a:ea typeface="AppleGothic"/>
              </a:rPr>
              <a:t>1:1</a:t>
            </a:r>
            <a:endParaRPr lang="en-US" sz="950" b="0" u="none" strike="noStrike">
              <a:solidFill>
                <a:srgbClr val="000000"/>
              </a:solidFill>
              <a:effectLst/>
              <a:uFillTx/>
              <a:latin typeface="Arial"/>
            </a:endParaRPr>
          </a:p>
        </p:txBody>
      </p:sp>
      <p:sp>
        <p:nvSpPr>
          <p:cNvPr id="33" name="mechanism-node-map-a-queue-2"/>
          <p:cNvSpPr/>
          <p:nvPr/>
        </p:nvSpPr>
        <p:spPr>
          <a:xfrm>
            <a:off x="8547120" y="3022560"/>
            <a:ext cx="2920680" cy="190080"/>
          </a:xfrm>
          <a:prstGeom prst="rect">
            <a:avLst/>
          </a:prstGeom>
          <a:solidFill>
            <a:srgbClr val="FFFFFF"/>
          </a:solidFill>
          <a:ln w="0">
            <a:solidFill>
              <a:srgbClr val="0D685C"/>
            </a:solidFill>
          </a:ln>
        </p:spPr>
        <p:style>
          <a:lnRef idx="0"/>
          <a:fillRef idx="0"/>
          <a:effectRef idx="0"/>
          <a:fontRef idx="minor"/>
        </p:style>
        <p:txBody>
          <a:bodyPr lIns="12600" tIns="12600" rIns="12600" bIns="12600" anchor="ctr">
            <a:noAutofit/>
          </a:bodyPr>
          <a:p>
            <a:pPr algn="ctr" defTabSz="914400">
              <a:lnSpc>
                <a:spcPct val="100000"/>
              </a:lnSpc>
              <a:tabLst>
                <a:tab pos="0" algn="l"/>
              </a:tabLst>
            </a:pPr>
            <a:r>
              <a:rPr lang="en-US" sz="950" b="0" u="none" strike="noStrike">
                <a:solidFill>
                  <a:srgbClr val="173C37"/>
                </a:solidFill>
                <a:effectLst/>
                <a:uFillTx/>
                <a:latin typeface="AppleGothic"/>
                <a:ea typeface="AppleGothic"/>
              </a:rPr>
              <a:t>4:1</a:t>
            </a:r>
            <a:endParaRPr lang="en-US" sz="950" b="0" u="none" strike="noStrike">
              <a:solidFill>
                <a:srgbClr val="000000"/>
              </a:solidFill>
              <a:effectLst/>
              <a:uFillTx/>
              <a:latin typeface="Arial"/>
            </a:endParaRPr>
          </a:p>
        </p:txBody>
      </p:sp>
      <p:sp>
        <p:nvSpPr>
          <p:cNvPr id="34" name="mechanism-node-map-a-queue-3"/>
          <p:cNvSpPr/>
          <p:nvPr/>
        </p:nvSpPr>
        <p:spPr>
          <a:xfrm>
            <a:off x="8547120" y="3213000"/>
            <a:ext cx="2920680" cy="190080"/>
          </a:xfrm>
          <a:prstGeom prst="rect">
            <a:avLst/>
          </a:prstGeom>
          <a:solidFill>
            <a:srgbClr val="FFFFFF"/>
          </a:solidFill>
          <a:ln w="0">
            <a:solidFill>
              <a:srgbClr val="0D685C"/>
            </a:solidFill>
          </a:ln>
        </p:spPr>
        <p:style>
          <a:lnRef idx="0"/>
          <a:fillRef idx="0"/>
          <a:effectRef idx="0"/>
          <a:fontRef idx="minor"/>
        </p:style>
        <p:txBody>
          <a:bodyPr lIns="12600" tIns="12600" rIns="12600" bIns="12600" anchor="ctr">
            <a:noAutofit/>
          </a:bodyPr>
          <a:p>
            <a:pPr algn="ctr" defTabSz="914400">
              <a:lnSpc>
                <a:spcPct val="100000"/>
              </a:lnSpc>
              <a:tabLst>
                <a:tab pos="0" algn="l"/>
              </a:tabLst>
            </a:pPr>
            <a:r>
              <a:rPr lang="en-US" sz="950" b="0" u="none" strike="noStrike">
                <a:solidFill>
                  <a:srgbClr val="173C37"/>
                </a:solidFill>
                <a:effectLst/>
                <a:uFillTx/>
                <a:latin typeface="AppleGothic"/>
                <a:ea typeface="AppleGothic"/>
              </a:rPr>
              <a:t>6:1</a:t>
            </a:r>
            <a:endParaRPr lang="en-US" sz="950" b="0" u="none" strike="noStrike">
              <a:solidFill>
                <a:srgbClr val="000000"/>
              </a:solidFill>
              <a:effectLst/>
              <a:uFillTx/>
              <a:latin typeface="Arial"/>
            </a:endParaRPr>
          </a:p>
        </p:txBody>
      </p:sp>
      <p:sp>
        <p:nvSpPr>
          <p:cNvPr id="35" name="mechanism-node-edges-b"/>
          <p:cNvSpPr/>
          <p:nvPr/>
        </p:nvSpPr>
        <p:spPr>
          <a:xfrm>
            <a:off x="1739880" y="4330800"/>
            <a:ext cx="2920680" cy="228240"/>
          </a:xfrm>
          <a:prstGeom prst="rect">
            <a:avLst/>
          </a:prstGeom>
          <a:noFill/>
          <a:ln w="0">
            <a:noFill/>
          </a:ln>
        </p:spPr>
        <p:style>
          <a:lnRef idx="0"/>
          <a:fillRef idx="0"/>
          <a:effectRef idx="0"/>
          <a:fontRef idx="minor"/>
        </p:style>
        <p:txBody>
          <a:bodyPr lIns="0" tIns="0" rIns="0" bIns="0" anchor="ctr">
            <a:noAutofit/>
          </a:bodyPr>
          <a:p>
            <a:pPr algn="ctr" defTabSz="914400">
              <a:lnSpc>
                <a:spcPct val="120000"/>
              </a:lnSpc>
              <a:tabLst>
                <a:tab pos="0" algn="l"/>
              </a:tabLst>
            </a:pPr>
            <a:r>
              <a:rPr lang="ko-KR" sz="1150" b="1" u="none" strike="noStrike">
                <a:solidFill>
                  <a:srgbClr val="0D685C"/>
                </a:solidFill>
                <a:effectLst/>
                <a:uFillTx/>
                <a:latin typeface="AppleGothic"/>
                <a:ea typeface="AppleGothic"/>
              </a:rPr>
              <a:t>입력 </a:t>
            </a:r>
            <a:r>
              <a:rPr lang="en-US" sz="1150" b="1" u="none" strike="noStrike">
                <a:solidFill>
                  <a:srgbClr val="0D685C"/>
                </a:solidFill>
                <a:effectLst/>
                <a:uFillTx/>
                <a:latin typeface="AppleGothic"/>
                <a:ea typeface="AppleGothic"/>
              </a:rPr>
              <a:t>edge</a:t>
            </a:r>
            <a:endParaRPr lang="en-US" sz="1150" b="0" u="none" strike="noStrike">
              <a:solidFill>
                <a:srgbClr val="000000"/>
              </a:solidFill>
              <a:effectLst/>
              <a:uFillTx/>
              <a:latin typeface="Arial"/>
            </a:endParaRPr>
          </a:p>
        </p:txBody>
      </p:sp>
      <p:sp>
        <p:nvSpPr>
          <p:cNvPr id="36" name="mechanism-node-edges-b-queue-1"/>
          <p:cNvSpPr/>
          <p:nvPr/>
        </p:nvSpPr>
        <p:spPr>
          <a:xfrm>
            <a:off x="1739880" y="4584600"/>
            <a:ext cx="2920680" cy="190080"/>
          </a:xfrm>
          <a:prstGeom prst="rect">
            <a:avLst/>
          </a:prstGeom>
          <a:solidFill>
            <a:srgbClr val="FFFFFF"/>
          </a:solidFill>
          <a:ln w="0">
            <a:solidFill>
              <a:srgbClr val="0D685C"/>
            </a:solidFill>
          </a:ln>
        </p:spPr>
        <p:style>
          <a:lnRef idx="0"/>
          <a:fillRef idx="0"/>
          <a:effectRef idx="0"/>
          <a:fontRef idx="minor"/>
        </p:style>
        <p:txBody>
          <a:bodyPr lIns="12600" tIns="12600" rIns="12600" bIns="12600" anchor="ctr">
            <a:noAutofit/>
          </a:bodyPr>
          <a:p>
            <a:pPr algn="ctr" defTabSz="914400">
              <a:lnSpc>
                <a:spcPct val="100000"/>
              </a:lnSpc>
              <a:tabLst>
                <a:tab pos="0" algn="l"/>
              </a:tabLst>
            </a:pPr>
            <a:r>
              <a:rPr lang="en-US" sz="950" b="0" u="none" strike="noStrike">
                <a:solidFill>
                  <a:srgbClr val="173C37"/>
                </a:solidFill>
                <a:effectLst/>
                <a:uFillTx/>
                <a:latin typeface="AppleGothic"/>
                <a:ea typeface="AppleGothic"/>
              </a:rPr>
              <a:t>(9,2)</a:t>
            </a:r>
            <a:endParaRPr lang="en-US" sz="950" b="0" u="none" strike="noStrike">
              <a:solidFill>
                <a:srgbClr val="000000"/>
              </a:solidFill>
              <a:effectLst/>
              <a:uFillTx/>
              <a:latin typeface="Arial"/>
            </a:endParaRPr>
          </a:p>
        </p:txBody>
      </p:sp>
      <p:sp>
        <p:nvSpPr>
          <p:cNvPr id="37" name="mechanism-node-set-b"/>
          <p:cNvSpPr/>
          <p:nvPr/>
        </p:nvSpPr>
        <p:spPr>
          <a:xfrm>
            <a:off x="5143680" y="4222800"/>
            <a:ext cx="2920680" cy="659880"/>
          </a:xfrm>
          <a:prstGeom prst="roundRect">
            <a:avLst>
              <a:gd name="adj" fmla="val 16667"/>
            </a:avLst>
          </a:prstGeom>
          <a:solidFill>
            <a:srgbClr val="E8F1EE"/>
          </a:solidFill>
          <a:ln w="0">
            <a:solidFill>
              <a:srgbClr val="0D685C"/>
            </a:solidFill>
          </a:ln>
        </p:spPr>
        <p:style>
          <a:lnRef idx="0"/>
          <a:fillRef idx="0"/>
          <a:effectRef idx="0"/>
          <a:fontRef idx="minor"/>
        </p:style>
        <p:txBody>
          <a:bodyPr lIns="50760" tIns="50760" rIns="50760" bIns="50760" anchor="ctr">
            <a:noAutofit/>
          </a:bodyPr>
          <a:p>
            <a:pPr algn="ctr" defTabSz="914400">
              <a:lnSpc>
                <a:spcPct val="100000"/>
              </a:lnSpc>
              <a:tabLst>
                <a:tab pos="0" algn="l"/>
              </a:tabLst>
            </a:pPr>
            <a:r>
              <a:rPr lang="ko-KR" sz="1150" b="1" u="none" strike="noStrike">
                <a:solidFill>
                  <a:srgbClr val="0D685C"/>
                </a:solidFill>
                <a:effectLst/>
                <a:uFillTx/>
                <a:latin typeface="AppleGothic"/>
                <a:ea typeface="AppleGothic"/>
              </a:rPr>
              <a:t>연결 집합</a:t>
            </a:r>
            <a:endParaRPr lang="en-US" sz="1150" b="0" u="none" strike="noStrike">
              <a:solidFill>
                <a:srgbClr val="000000"/>
              </a:solidFill>
              <a:effectLst/>
              <a:uFillTx/>
              <a:latin typeface="Arial"/>
            </a:endParaRPr>
          </a:p>
          <a:p>
            <a:pPr algn="ctr" defTabSz="914400">
              <a:lnSpc>
                <a:spcPct val="100000"/>
              </a:lnSpc>
              <a:tabLst>
                <a:tab pos="0" algn="l"/>
              </a:tabLst>
            </a:pPr>
            <a:r>
              <a:rPr lang="en-US" sz="1150" b="0" u="none" strike="noStrike">
                <a:solidFill>
                  <a:srgbClr val="173C37"/>
                </a:solidFill>
                <a:effectLst/>
                <a:uFillTx/>
                <a:latin typeface="AppleGothic"/>
                <a:ea typeface="AppleGothic"/>
              </a:rPr>
              <a:t>{2,9}, min=2</a:t>
            </a:r>
            <a:endParaRPr lang="en-US" sz="1150" b="0" u="none" strike="noStrike">
              <a:solidFill>
                <a:srgbClr val="000000"/>
              </a:solidFill>
              <a:effectLst/>
              <a:uFillTx/>
              <a:latin typeface="Arial"/>
            </a:endParaRPr>
          </a:p>
        </p:txBody>
      </p:sp>
      <p:sp>
        <p:nvSpPr>
          <p:cNvPr id="38" name="mechanism-node-map-b"/>
          <p:cNvSpPr/>
          <p:nvPr/>
        </p:nvSpPr>
        <p:spPr>
          <a:xfrm>
            <a:off x="8547120" y="4235400"/>
            <a:ext cx="2920680" cy="228240"/>
          </a:xfrm>
          <a:prstGeom prst="rect">
            <a:avLst/>
          </a:prstGeom>
          <a:noFill/>
          <a:ln w="0">
            <a:noFill/>
          </a:ln>
        </p:spPr>
        <p:style>
          <a:lnRef idx="0"/>
          <a:fillRef idx="0"/>
          <a:effectRef idx="0"/>
          <a:fontRef idx="minor"/>
        </p:style>
        <p:txBody>
          <a:bodyPr lIns="0" tIns="0" rIns="0" bIns="0" anchor="ctr">
            <a:noAutofit/>
          </a:bodyPr>
          <a:p>
            <a:pPr algn="ctr" defTabSz="914400">
              <a:lnSpc>
                <a:spcPct val="120000"/>
              </a:lnSpc>
              <a:tabLst>
                <a:tab pos="0" algn="l"/>
              </a:tabLst>
            </a:pPr>
            <a:r>
              <a:rPr lang="ko-KR" sz="1150" b="1" u="none" strike="noStrike">
                <a:solidFill>
                  <a:srgbClr val="0D685C"/>
                </a:solidFill>
                <a:effectLst/>
                <a:uFillTx/>
                <a:latin typeface="AppleGothic"/>
                <a:ea typeface="AppleGothic"/>
              </a:rPr>
              <a:t>대표 </a:t>
            </a:r>
            <a:r>
              <a:rPr lang="en-US" sz="1150" b="1" u="none" strike="noStrike">
                <a:solidFill>
                  <a:srgbClr val="0D685C"/>
                </a:solidFill>
                <a:effectLst/>
                <a:uFillTx/>
                <a:latin typeface="AppleGothic"/>
                <a:ea typeface="AppleGothic"/>
              </a:rPr>
              <a:t>mapping</a:t>
            </a:r>
            <a:endParaRPr lang="en-US" sz="1150" b="0" u="none" strike="noStrike">
              <a:solidFill>
                <a:srgbClr val="000000"/>
              </a:solidFill>
              <a:effectLst/>
              <a:uFillTx/>
              <a:latin typeface="Arial"/>
            </a:endParaRPr>
          </a:p>
        </p:txBody>
      </p:sp>
      <p:sp>
        <p:nvSpPr>
          <p:cNvPr id="39" name="mechanism-node-map-b-queue-1"/>
          <p:cNvSpPr/>
          <p:nvPr/>
        </p:nvSpPr>
        <p:spPr>
          <a:xfrm>
            <a:off x="8547120" y="4489560"/>
            <a:ext cx="2920680" cy="190080"/>
          </a:xfrm>
          <a:prstGeom prst="rect">
            <a:avLst/>
          </a:prstGeom>
          <a:solidFill>
            <a:srgbClr val="FFFFFF"/>
          </a:solidFill>
          <a:ln w="0">
            <a:solidFill>
              <a:srgbClr val="0D685C"/>
            </a:solidFill>
          </a:ln>
        </p:spPr>
        <p:style>
          <a:lnRef idx="0"/>
          <a:fillRef idx="0"/>
          <a:effectRef idx="0"/>
          <a:fontRef idx="minor"/>
        </p:style>
        <p:txBody>
          <a:bodyPr lIns="12600" tIns="12600" rIns="12600" bIns="12600" anchor="ctr">
            <a:noAutofit/>
          </a:bodyPr>
          <a:p>
            <a:pPr algn="ctr" defTabSz="914400">
              <a:lnSpc>
                <a:spcPct val="100000"/>
              </a:lnSpc>
              <a:tabLst>
                <a:tab pos="0" algn="l"/>
              </a:tabLst>
            </a:pPr>
            <a:r>
              <a:rPr lang="en-US" sz="950" b="0" u="none" strike="noStrike">
                <a:solidFill>
                  <a:srgbClr val="173C37"/>
                </a:solidFill>
                <a:effectLst/>
                <a:uFillTx/>
                <a:latin typeface="AppleGothic"/>
                <a:ea typeface="AppleGothic"/>
              </a:rPr>
              <a:t>2:2</a:t>
            </a:r>
            <a:endParaRPr lang="en-US" sz="950" b="0" u="none" strike="noStrike">
              <a:solidFill>
                <a:srgbClr val="000000"/>
              </a:solidFill>
              <a:effectLst/>
              <a:uFillTx/>
              <a:latin typeface="Arial"/>
            </a:endParaRPr>
          </a:p>
        </p:txBody>
      </p:sp>
      <p:sp>
        <p:nvSpPr>
          <p:cNvPr id="40" name="mechanism-node-map-b-queue-2"/>
          <p:cNvSpPr/>
          <p:nvPr/>
        </p:nvSpPr>
        <p:spPr>
          <a:xfrm>
            <a:off x="8547120" y="4680000"/>
            <a:ext cx="2920680" cy="190080"/>
          </a:xfrm>
          <a:prstGeom prst="rect">
            <a:avLst/>
          </a:prstGeom>
          <a:solidFill>
            <a:srgbClr val="FFFFFF"/>
          </a:solidFill>
          <a:ln w="0">
            <a:solidFill>
              <a:srgbClr val="0D685C"/>
            </a:solidFill>
          </a:ln>
        </p:spPr>
        <p:style>
          <a:lnRef idx="0"/>
          <a:fillRef idx="0"/>
          <a:effectRef idx="0"/>
          <a:fontRef idx="minor"/>
        </p:style>
        <p:txBody>
          <a:bodyPr lIns="12600" tIns="12600" rIns="12600" bIns="12600" anchor="ctr">
            <a:noAutofit/>
          </a:bodyPr>
          <a:p>
            <a:pPr algn="ctr" defTabSz="914400">
              <a:lnSpc>
                <a:spcPct val="100000"/>
              </a:lnSpc>
              <a:tabLst>
                <a:tab pos="0" algn="l"/>
              </a:tabLst>
            </a:pPr>
            <a:r>
              <a:rPr lang="en-US" sz="950" b="0" u="none" strike="noStrike">
                <a:solidFill>
                  <a:srgbClr val="173C37"/>
                </a:solidFill>
                <a:effectLst/>
                <a:uFillTx/>
                <a:latin typeface="AppleGothic"/>
                <a:ea typeface="AppleGothic"/>
              </a:rPr>
              <a:t>9:2</a:t>
            </a:r>
            <a:endParaRPr lang="en-US" sz="950" b="0" u="none" strike="noStrike">
              <a:solidFill>
                <a:srgbClr val="000000"/>
              </a:solidFill>
              <a:effectLst/>
              <a:uFillTx/>
              <a:latin typeface="Arial"/>
            </a:endParaRPr>
          </a:p>
        </p:txBody>
      </p:sp>
      <p:sp>
        <p:nvSpPr>
          <p:cNvPr id="41" name="Shape 22"/>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42" name="Text 23"/>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UniCon</a:t>
            </a:r>
            <a:r>
              <a:rPr lang="ko-KR" sz="1750" b="1" u="none" strike="noStrike">
                <a:solidFill>
                  <a:srgbClr val="173C37"/>
                </a:solidFill>
                <a:effectLst/>
                <a:uFillTx/>
                <a:latin typeface="AppleGothic"/>
                <a:ea typeface="AppleGothic"/>
              </a:rPr>
              <a:t>의 </a:t>
            </a:r>
            <a:r>
              <a:rPr lang="en-US" sz="1750" b="1" u="none" strike="noStrike">
                <a:solidFill>
                  <a:srgbClr val="173C37"/>
                </a:solidFill>
                <a:effectLst/>
                <a:uFillTx/>
                <a:latin typeface="AppleGothic"/>
                <a:ea typeface="AppleGothic"/>
              </a:rPr>
              <a:t>representative</a:t>
            </a:r>
            <a:r>
              <a:rPr lang="ko-KR" sz="1750" b="1" u="none" strike="noStrike">
                <a:solidFill>
                  <a:srgbClr val="173C37"/>
                </a:solidFill>
                <a:effectLst/>
                <a:uFillTx/>
                <a:latin typeface="AppleGothic"/>
                <a:ea typeface="AppleGothic"/>
              </a:rPr>
              <a:t>는 임의 </a:t>
            </a:r>
            <a:r>
              <a:rPr lang="en-US" sz="1750" b="1" u="none" strike="noStrike">
                <a:solidFill>
                  <a:srgbClr val="173C37"/>
                </a:solidFill>
                <a:effectLst/>
                <a:uFillTx/>
                <a:latin typeface="AppleGothic"/>
                <a:ea typeface="AppleGothic"/>
              </a:rPr>
              <a:t>label</a:t>
            </a:r>
            <a:r>
              <a:rPr lang="ko-KR" sz="1750" b="1" u="none" strike="noStrike">
                <a:solidFill>
                  <a:srgbClr val="173C37"/>
                </a:solidFill>
                <a:effectLst/>
                <a:uFillTx/>
                <a:latin typeface="AppleGothic"/>
                <a:ea typeface="AppleGothic"/>
              </a:rPr>
              <a:t>이 아니라 </a:t>
            </a:r>
            <a:r>
              <a:rPr lang="en-US" sz="1750" b="1" u="none" strike="noStrike">
                <a:solidFill>
                  <a:srgbClr val="173C37"/>
                </a:solidFill>
                <a:effectLst/>
                <a:uFillTx/>
                <a:latin typeface="AppleGothic"/>
                <a:ea typeface="AppleGothic"/>
              </a:rPr>
              <a:t>component</a:t>
            </a:r>
            <a:r>
              <a:rPr lang="ko-KR" sz="1750" b="1" u="none" strike="noStrike">
                <a:solidFill>
                  <a:srgbClr val="173C37"/>
                </a:solidFill>
                <a:effectLst/>
                <a:uFillTx/>
                <a:latin typeface="AppleGothic"/>
                <a:ea typeface="AppleGothic"/>
              </a:rPr>
              <a:t>의 </a:t>
            </a:r>
            <a:r>
              <a:rPr lang="en-US" sz="1750" b="1" u="none" strike="noStrike">
                <a:solidFill>
                  <a:srgbClr val="173C37"/>
                </a:solidFill>
                <a:effectLst/>
                <a:uFillTx/>
                <a:latin typeface="AppleGothic"/>
                <a:ea typeface="AppleGothic"/>
              </a:rPr>
              <a:t>minimum vertex ID</a:t>
            </a:r>
            <a:r>
              <a:rPr lang="ko-KR" sz="1750" b="1" u="none" strike="noStrike">
                <a:solidFill>
                  <a:srgbClr val="173C37"/>
                </a:solidFill>
                <a:effectLst/>
                <a:uFillTx/>
                <a:latin typeface="AppleGothic"/>
                <a:ea typeface="AppleGothic"/>
              </a:rPr>
              <a:t>다</a:t>
            </a:r>
            <a:endParaRPr lang="en-US" sz="1750" b="0" u="none" strike="noStrike">
              <a:solidFill>
                <a:srgbClr val="000000"/>
              </a:solidFill>
              <a:effectLst/>
              <a:uFillTx/>
              <a:latin typeface="Arial"/>
            </a:endParaRPr>
          </a:p>
        </p:txBody>
      </p:sp>
      <p:sp>
        <p:nvSpPr>
          <p:cNvPr id="43" name="Shape 24"/>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44" name="Text 25"/>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unicon-paper pp. 4-5, Table 1 and Definition 1</a:t>
            </a:r>
            <a:endParaRPr lang="en-US" sz="1050" b="0" u="none" strike="noStrike">
              <a:solidFill>
                <a:srgbClr val="000000"/>
              </a:solidFill>
              <a:effectLst/>
              <a:uFillTx/>
              <a:latin typeface="Arial"/>
            </a:endParaRPr>
          </a:p>
        </p:txBody>
      </p:sp>
      <p:sp>
        <p:nvSpPr>
          <p:cNvPr id="45" name="Text 26"/>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02</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6"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3100" b="1" u="none" strike="noStrike">
                <a:solidFill>
                  <a:srgbClr val="173C37"/>
                </a:solidFill>
                <a:effectLst/>
                <a:uFillTx/>
                <a:latin typeface="AppleGothic"/>
                <a:ea typeface="AppleGothic"/>
              </a:rPr>
              <a:t>기호와 상태의 의미</a:t>
            </a:r>
            <a:endParaRPr lang="en-US" sz="3100" b="0" u="none" strike="noStrike">
              <a:solidFill>
                <a:srgbClr val="000000"/>
              </a:solidFill>
              <a:effectLst/>
              <a:uFillTx/>
              <a:latin typeface="Arial"/>
            </a:endParaRPr>
          </a:p>
        </p:txBody>
      </p:sp>
      <p:sp>
        <p:nvSpPr>
          <p:cNvPr id="47"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900" b="0" u="none" strike="noStrike">
                <a:solidFill>
                  <a:srgbClr val="0D685C"/>
                </a:solidFill>
                <a:effectLst/>
                <a:uFillTx/>
                <a:latin typeface="AppleGothic"/>
                <a:ea typeface="AppleGothic"/>
              </a:rPr>
              <a:t>Formula</a:t>
            </a:r>
            <a:r>
              <a:rPr lang="ko-KR" sz="1900" b="0" u="none" strike="noStrike">
                <a:solidFill>
                  <a:srgbClr val="0D685C"/>
                </a:solidFill>
                <a:effectLst/>
                <a:uFillTx/>
                <a:latin typeface="AppleGothic"/>
                <a:ea typeface="AppleGothic"/>
              </a:rPr>
              <a:t>보다 먼저 </a:t>
            </a:r>
            <a:r>
              <a:rPr lang="en-US" sz="1900" b="0" u="none" strike="noStrike">
                <a:solidFill>
                  <a:srgbClr val="0D685C"/>
                </a:solidFill>
                <a:effectLst/>
                <a:uFillTx/>
                <a:latin typeface="AppleGothic"/>
                <a:ea typeface="AppleGothic"/>
              </a:rPr>
              <a:t>graph, partition, threshold, </a:t>
            </a:r>
            <a:r>
              <a:rPr lang="ko-KR" sz="1900" b="0" u="none" strike="noStrike">
                <a:solidFill>
                  <a:srgbClr val="0D685C"/>
                </a:solidFill>
                <a:effectLst/>
                <a:uFillTx/>
                <a:latin typeface="AppleGothic"/>
                <a:ea typeface="AppleGothic"/>
              </a:rPr>
              <a:t>보관 </a:t>
            </a:r>
            <a:r>
              <a:rPr lang="en-US" sz="1900" b="0" u="none" strike="noStrike">
                <a:solidFill>
                  <a:srgbClr val="0D685C"/>
                </a:solidFill>
                <a:effectLst/>
                <a:uFillTx/>
                <a:latin typeface="AppleGothic"/>
                <a:ea typeface="AppleGothic"/>
              </a:rPr>
              <a:t>edge</a:t>
            </a:r>
            <a:r>
              <a:rPr lang="ko-KR" sz="1900" b="0" u="none" strike="noStrike">
                <a:solidFill>
                  <a:srgbClr val="0D685C"/>
                </a:solidFill>
                <a:effectLst/>
                <a:uFillTx/>
                <a:latin typeface="AppleGothic"/>
                <a:ea typeface="AppleGothic"/>
              </a:rPr>
              <a:t>를 정의한다</a:t>
            </a:r>
            <a:endParaRPr lang="en-US" sz="1900" b="0" u="none" strike="noStrike">
              <a:solidFill>
                <a:srgbClr val="000000"/>
              </a:solidFill>
              <a:effectLst/>
              <a:uFillTx/>
              <a:latin typeface="Arial"/>
            </a:endParaRPr>
          </a:p>
        </p:txBody>
      </p:sp>
      <p:graphicFrame>
        <p:nvGraphicFramePr>
          <p:cNvPr id="48" name="Table 0"/>
          <p:cNvGraphicFramePr/>
          <p:nvPr/>
        </p:nvGraphicFramePr>
        <p:xfrm>
          <a:off x="660240" y="2082960"/>
          <a:ext cx="10870920" cy="3314520"/>
        </p:xfrm>
        <a:graphic>
          <a:graphicData uri="http://schemas.openxmlformats.org/drawingml/2006/table">
            <a:tbl>
              <a:tblPr/>
              <a:tblGrid>
                <a:gridCol w="1956600"/>
                <a:gridCol w="5000400"/>
                <a:gridCol w="3913560"/>
              </a:tblGrid>
              <a:tr h="495000">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기호</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정의</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발표에서의 역할</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r>
              <a:tr h="56376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G=(V,E)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Vertex set V</a:t>
                      </a:r>
                      <a:r>
                        <a:rPr lang="ko-KR" sz="1550" b="0" u="none" strike="noStrike">
                          <a:solidFill>
                            <a:srgbClr val="173C37"/>
                          </a:solidFill>
                          <a:effectLst/>
                          <a:uFillTx/>
                          <a:latin typeface="AppleGothic"/>
                          <a:ea typeface="AppleGothic"/>
                        </a:rPr>
                        <a:t>와 </a:t>
                      </a:r>
                      <a:r>
                        <a:rPr lang="en-US" sz="1550" b="0" u="none" strike="noStrike">
                          <a:solidFill>
                            <a:srgbClr val="173C37"/>
                          </a:solidFill>
                          <a:effectLst/>
                          <a:uFillTx/>
                          <a:latin typeface="AppleGothic"/>
                          <a:ea typeface="AppleGothic"/>
                        </a:rPr>
                        <a:t>undirected edge set 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현재 </a:t>
                      </a:r>
                      <a:r>
                        <a:rPr lang="en-US" sz="1550" b="0" u="none" strike="noStrike">
                          <a:solidFill>
                            <a:srgbClr val="173C37"/>
                          </a:solidFill>
                          <a:effectLst/>
                          <a:uFillTx/>
                          <a:latin typeface="AppleGothic"/>
                          <a:ea typeface="AppleGothic"/>
                        </a:rPr>
                        <a:t>graph</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56376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rho</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Partition </a:t>
                      </a:r>
                      <a:r>
                        <a:rPr lang="ko-KR" sz="1550" b="0" u="none" strike="noStrike">
                          <a:solidFill>
                            <a:srgbClr val="173C37"/>
                          </a:solidFill>
                          <a:effectLst/>
                          <a:uFillTx/>
                          <a:latin typeface="AppleGothic"/>
                          <a:ea typeface="AppleGothic"/>
                        </a:rPr>
                        <a:t>개수</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Worker-local view </a:t>
                      </a:r>
                      <a:r>
                        <a:rPr lang="ko-KR" sz="1550" b="0" u="none" strike="noStrike">
                          <a:solidFill>
                            <a:srgbClr val="173C37"/>
                          </a:solidFill>
                          <a:effectLst/>
                          <a:uFillTx/>
                          <a:latin typeface="AppleGothic"/>
                          <a:ea typeface="AppleGothic"/>
                        </a:rPr>
                        <a:t>수</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56376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xi(u)</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Vertex u</a:t>
                      </a:r>
                      <a:r>
                        <a:rPr lang="ko-KR" sz="1550" b="0" u="none" strike="noStrike">
                          <a:solidFill>
                            <a:srgbClr val="173C37"/>
                          </a:solidFill>
                          <a:effectLst/>
                          <a:uFillTx/>
                          <a:latin typeface="AppleGothic"/>
                          <a:ea typeface="AppleGothic"/>
                        </a:rPr>
                        <a:t>의 </a:t>
                      </a:r>
                      <a:r>
                        <a:rPr lang="en-US" sz="1550" b="0" u="none" strike="noStrike">
                          <a:solidFill>
                            <a:srgbClr val="173C37"/>
                          </a:solidFill>
                          <a:effectLst/>
                          <a:uFillTx/>
                          <a:latin typeface="AppleGothic"/>
                          <a:ea typeface="AppleGothic"/>
                        </a:rPr>
                        <a:t>random hash partition ID</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Component label</a:t>
                      </a:r>
                      <a:r>
                        <a:rPr lang="ko-KR" sz="1550" b="0" u="none" strike="noStrike">
                          <a:solidFill>
                            <a:srgbClr val="173C37"/>
                          </a:solidFill>
                          <a:effectLst/>
                          <a:uFillTx/>
                          <a:latin typeface="AppleGothic"/>
                          <a:ea typeface="AppleGothic"/>
                        </a:rPr>
                        <a:t>이 아님</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56376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tau</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Single-machine Rem </a:t>
                      </a:r>
                      <a:r>
                        <a:rPr lang="ko-KR" sz="1550" b="0" u="none" strike="noStrike">
                          <a:solidFill>
                            <a:srgbClr val="173C37"/>
                          </a:solidFill>
                          <a:effectLst/>
                          <a:uFillTx/>
                          <a:latin typeface="AppleGothic"/>
                          <a:ea typeface="AppleGothic"/>
                        </a:rPr>
                        <a:t>전환 </a:t>
                      </a:r>
                      <a:r>
                        <a:rPr lang="en-US" sz="1550" b="0" u="none" strike="noStrike">
                          <a:solidFill>
                            <a:srgbClr val="173C37"/>
                          </a:solidFill>
                          <a:effectLst/>
                          <a:uFillTx/>
                          <a:latin typeface="AppleGothic"/>
                          <a:ea typeface="AppleGothic"/>
                        </a:rPr>
                        <a:t>threshold</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Hardware</a:t>
                      </a:r>
                      <a:r>
                        <a:rPr lang="ko-KR" sz="1550" b="0" u="none" strike="noStrike">
                          <a:solidFill>
                            <a:srgbClr val="173C37"/>
                          </a:solidFill>
                          <a:effectLst/>
                          <a:uFillTx/>
                          <a:latin typeface="AppleGothic"/>
                          <a:ea typeface="AppleGothic"/>
                        </a:rPr>
                        <a:t>별 </a:t>
                      </a:r>
                      <a:r>
                        <a:rPr lang="en-US" sz="1550" b="0" u="none" strike="noStrike">
                          <a:solidFill>
                            <a:srgbClr val="173C37"/>
                          </a:solidFill>
                          <a:effectLst/>
                          <a:uFillTx/>
                          <a:latin typeface="AppleGothic"/>
                          <a:ea typeface="AppleGothic"/>
                        </a:rPr>
                        <a:t>tuning</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56376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F</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case 1/2</a:t>
                      </a:r>
                      <a:r>
                        <a:rPr lang="ko-KR" sz="1550" b="0" u="none" strike="noStrike">
                          <a:solidFill>
                            <a:srgbClr val="173C37"/>
                          </a:solidFill>
                          <a:effectLst/>
                          <a:uFillTx/>
                          <a:latin typeface="AppleGothic"/>
                          <a:ea typeface="AppleGothic"/>
                        </a:rPr>
                        <a:t>의 </a:t>
                      </a:r>
                      <a:r>
                        <a:rPr lang="en-US" sz="1550" b="0" u="none" strike="noStrike">
                          <a:solidFill>
                            <a:srgbClr val="173C37"/>
                          </a:solidFill>
                          <a:effectLst/>
                          <a:uFillTx/>
                          <a:latin typeface="AppleGothic"/>
                          <a:ea typeface="AppleGothic"/>
                        </a:rPr>
                        <a:t>sep edge </a:t>
                      </a:r>
                      <a:r>
                        <a:rPr lang="ko-KR" sz="1550" b="0" u="none" strike="noStrike">
                          <a:solidFill>
                            <a:srgbClr val="173C37"/>
                          </a:solidFill>
                          <a:effectLst/>
                          <a:uFillTx/>
                          <a:latin typeface="AppleGothic"/>
                          <a:ea typeface="AppleGothic"/>
                        </a:rPr>
                        <a:t>누적 </a:t>
                      </a:r>
                      <a:r>
                        <a:rPr lang="en-US" sz="1550" b="0" u="none" strike="noStrike">
                          <a:solidFill>
                            <a:srgbClr val="173C37"/>
                          </a:solidFill>
                          <a:effectLst/>
                          <a:uFillTx/>
                          <a:latin typeface="AppleGothic"/>
                          <a:ea typeface="AppleGothic"/>
                        </a:rPr>
                        <a:t>set</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Finishing</a:t>
                      </a:r>
                      <a:r>
                        <a:rPr lang="ko-KR" sz="1550" b="0" u="none" strike="noStrike">
                          <a:solidFill>
                            <a:srgbClr val="173C37"/>
                          </a:solidFill>
                          <a:effectLst/>
                          <a:uFillTx/>
                          <a:latin typeface="AppleGothic"/>
                          <a:ea typeface="AppleGothic"/>
                        </a:rPr>
                        <a:t>에서 복원</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bl>
          </a:graphicData>
        </a:graphic>
      </p:graphicFrame>
      <p:sp>
        <p:nvSpPr>
          <p:cNvPr id="49" name="Shape 2"/>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50" name="Text 3"/>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Partition ID</a:t>
            </a:r>
            <a:r>
              <a:rPr lang="ko-KR" sz="1750" b="1" u="none" strike="noStrike">
                <a:solidFill>
                  <a:srgbClr val="173C37"/>
                </a:solidFill>
                <a:effectLst/>
                <a:uFillTx/>
                <a:latin typeface="AppleGothic"/>
                <a:ea typeface="AppleGothic"/>
              </a:rPr>
              <a:t>와 </a:t>
            </a:r>
            <a:r>
              <a:rPr lang="en-US" sz="1750" b="1" u="none" strike="noStrike">
                <a:solidFill>
                  <a:srgbClr val="173C37"/>
                </a:solidFill>
                <a:effectLst/>
                <a:uFillTx/>
                <a:latin typeface="AppleGothic"/>
                <a:ea typeface="AppleGothic"/>
              </a:rPr>
              <a:t>component representative</a:t>
            </a:r>
            <a:r>
              <a:rPr lang="ko-KR" sz="1750" b="1" u="none" strike="noStrike">
                <a:solidFill>
                  <a:srgbClr val="173C37"/>
                </a:solidFill>
                <a:effectLst/>
                <a:uFillTx/>
                <a:latin typeface="AppleGothic"/>
                <a:ea typeface="AppleGothic"/>
              </a:rPr>
              <a:t>는 서로 다른 </a:t>
            </a:r>
            <a:r>
              <a:rPr lang="en-US" sz="1750" b="1" u="none" strike="noStrike">
                <a:solidFill>
                  <a:srgbClr val="173C37"/>
                </a:solidFill>
                <a:effectLst/>
                <a:uFillTx/>
                <a:latin typeface="AppleGothic"/>
                <a:ea typeface="AppleGothic"/>
              </a:rPr>
              <a:t>label</a:t>
            </a:r>
            <a:r>
              <a:rPr lang="ko-KR" sz="1750" b="1" u="none" strike="noStrike">
                <a:solidFill>
                  <a:srgbClr val="173C37"/>
                </a:solidFill>
                <a:effectLst/>
                <a:uFillTx/>
                <a:latin typeface="AppleGothic"/>
                <a:ea typeface="AppleGothic"/>
              </a:rPr>
              <a:t>이다</a:t>
            </a:r>
            <a:endParaRPr lang="en-US" sz="1750" b="0" u="none" strike="noStrike">
              <a:solidFill>
                <a:srgbClr val="000000"/>
              </a:solidFill>
              <a:effectLst/>
              <a:uFillTx/>
              <a:latin typeface="Arial"/>
            </a:endParaRPr>
          </a:p>
        </p:txBody>
      </p:sp>
      <p:sp>
        <p:nvSpPr>
          <p:cNvPr id="51" name="Shape 4"/>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52" name="Text 5"/>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unicon-paper pp. 4-6, Table 1 and Algorithm 1</a:t>
            </a:r>
            <a:endParaRPr lang="en-US" sz="1050" b="0" u="none" strike="noStrike">
              <a:solidFill>
                <a:srgbClr val="000000"/>
              </a:solidFill>
              <a:effectLst/>
              <a:uFillTx/>
              <a:latin typeface="Arial"/>
            </a:endParaRPr>
          </a:p>
        </p:txBody>
      </p:sp>
      <p:sp>
        <p:nvSpPr>
          <p:cNvPr id="53" name="Text 6"/>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03</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4"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3100" b="1" u="none" strike="noStrike">
                <a:solidFill>
                  <a:srgbClr val="173C37"/>
                </a:solidFill>
                <a:effectLst/>
                <a:uFillTx/>
                <a:latin typeface="AppleGothic"/>
                <a:ea typeface="AppleGothic"/>
              </a:rPr>
              <a:t>대규모 </a:t>
            </a:r>
            <a:r>
              <a:rPr lang="en-US" sz="3100" b="1" u="none" strike="noStrike">
                <a:solidFill>
                  <a:srgbClr val="173C37"/>
                </a:solidFill>
                <a:effectLst/>
                <a:uFillTx/>
                <a:latin typeface="AppleGothic"/>
                <a:ea typeface="AppleGothic"/>
              </a:rPr>
              <a:t>CC</a:t>
            </a:r>
            <a:r>
              <a:rPr lang="ko-KR" sz="3100" b="1" u="none" strike="noStrike">
                <a:solidFill>
                  <a:srgbClr val="173C37"/>
                </a:solidFill>
                <a:effectLst/>
                <a:uFillTx/>
                <a:latin typeface="AppleGothic"/>
                <a:ea typeface="AppleGothic"/>
              </a:rPr>
              <a:t>에서 </a:t>
            </a:r>
            <a:r>
              <a:rPr lang="en-US" sz="3100" b="1" u="none" strike="noStrike">
                <a:solidFill>
                  <a:srgbClr val="173C37"/>
                </a:solidFill>
                <a:effectLst/>
                <a:uFillTx/>
                <a:latin typeface="AppleGothic"/>
                <a:ea typeface="AppleGothic"/>
              </a:rPr>
              <a:t>memory</a:t>
            </a:r>
            <a:r>
              <a:rPr lang="ko-KR" sz="3100" b="1" u="none" strike="noStrike">
                <a:solidFill>
                  <a:srgbClr val="173C37"/>
                </a:solidFill>
                <a:effectLst/>
                <a:uFillTx/>
                <a:latin typeface="AppleGothic"/>
                <a:ea typeface="AppleGothic"/>
              </a:rPr>
              <a:t>와 </a:t>
            </a:r>
            <a:r>
              <a:rPr lang="en-US" sz="3100" b="1" u="none" strike="noStrike">
                <a:solidFill>
                  <a:srgbClr val="173C37"/>
                </a:solidFill>
                <a:effectLst/>
                <a:uFillTx/>
                <a:latin typeface="AppleGothic"/>
                <a:ea typeface="AppleGothic"/>
              </a:rPr>
              <a:t>I/O</a:t>
            </a:r>
            <a:r>
              <a:rPr lang="ko-KR" sz="3100" b="1" u="none" strike="noStrike">
                <a:solidFill>
                  <a:srgbClr val="173C37"/>
                </a:solidFill>
                <a:effectLst/>
                <a:uFillTx/>
                <a:latin typeface="AppleGothic"/>
                <a:ea typeface="AppleGothic"/>
              </a:rPr>
              <a:t>가 함께 문제다</a:t>
            </a:r>
            <a:endParaRPr lang="en-US" sz="3100" b="0" u="none" strike="noStrike">
              <a:solidFill>
                <a:srgbClr val="000000"/>
              </a:solidFill>
              <a:effectLst/>
              <a:uFillTx/>
              <a:latin typeface="Arial"/>
            </a:endParaRPr>
          </a:p>
        </p:txBody>
      </p:sp>
      <p:sp>
        <p:nvSpPr>
          <p:cNvPr id="55"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900" b="0" u="none" strike="noStrike">
                <a:solidFill>
                  <a:srgbClr val="0D685C"/>
                </a:solidFill>
                <a:effectLst/>
                <a:uFillTx/>
                <a:latin typeface="AppleGothic"/>
                <a:ea typeface="AppleGothic"/>
              </a:rPr>
              <a:t>Input graph</a:t>
            </a:r>
            <a:r>
              <a:rPr lang="ko-KR" sz="1900" b="0" u="none" strike="noStrike">
                <a:solidFill>
                  <a:srgbClr val="0D685C"/>
                </a:solidFill>
                <a:effectLst/>
                <a:uFillTx/>
                <a:latin typeface="AppleGothic"/>
                <a:ea typeface="AppleGothic"/>
              </a:rPr>
              <a:t>뿐 아니라 반복 중 생성되는 </a:t>
            </a:r>
            <a:r>
              <a:rPr lang="en-US" sz="1900" b="0" u="none" strike="noStrike">
                <a:solidFill>
                  <a:srgbClr val="0D685C"/>
                </a:solidFill>
                <a:effectLst/>
                <a:uFillTx/>
                <a:latin typeface="AppleGothic"/>
                <a:ea typeface="AppleGothic"/>
              </a:rPr>
              <a:t>records</a:t>
            </a:r>
            <a:r>
              <a:rPr lang="ko-KR" sz="1900" b="0" u="none" strike="noStrike">
                <a:solidFill>
                  <a:srgbClr val="0D685C"/>
                </a:solidFill>
                <a:effectLst/>
                <a:uFillTx/>
                <a:latin typeface="AppleGothic"/>
                <a:ea typeface="AppleGothic"/>
              </a:rPr>
              <a:t>도 저장하고 이동해야 한다</a:t>
            </a:r>
            <a:endParaRPr lang="en-US" sz="1900" b="0" u="none" strike="noStrike">
              <a:solidFill>
                <a:srgbClr val="000000"/>
              </a:solidFill>
              <a:effectLst/>
              <a:uFillTx/>
              <a:latin typeface="Arial"/>
            </a:endParaRPr>
          </a:p>
        </p:txBody>
      </p:sp>
      <p:graphicFrame>
        <p:nvGraphicFramePr>
          <p:cNvPr id="56" name="Table 0"/>
          <p:cNvGraphicFramePr/>
          <p:nvPr/>
        </p:nvGraphicFramePr>
        <p:xfrm>
          <a:off x="660240" y="2082960"/>
          <a:ext cx="10870920" cy="3314520"/>
        </p:xfrm>
        <a:graphic>
          <a:graphicData uri="http://schemas.openxmlformats.org/drawingml/2006/table">
            <a:tbl>
              <a:tblPr/>
              <a:tblGrid>
                <a:gridCol w="2174040"/>
                <a:gridCol w="2826360"/>
                <a:gridCol w="2935080"/>
                <a:gridCol w="2935080"/>
              </a:tblGrid>
              <a:tr h="495000">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방식</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주 저장 위치</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Scale </a:t>
                      </a:r>
                      <a:r>
                        <a:rPr lang="ko-KR" sz="1600" b="1" u="none" strike="noStrike">
                          <a:solidFill>
                            <a:srgbClr val="0D685C"/>
                          </a:solidFill>
                          <a:effectLst/>
                          <a:uFillTx/>
                          <a:latin typeface="AppleGothic"/>
                          <a:ea typeface="AppleGothic"/>
                        </a:rPr>
                        <a:t>한계</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남는 비용</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Single machine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한 </a:t>
                      </a:r>
                      <a:r>
                        <a:rPr lang="en-US" sz="1550" b="0" u="none" strike="noStrike">
                          <a:solidFill>
                            <a:srgbClr val="173C37"/>
                          </a:solidFill>
                          <a:effectLst/>
                          <a:uFillTx/>
                          <a:latin typeface="AppleGothic"/>
                          <a:ea typeface="AppleGothic"/>
                        </a:rPr>
                        <a:t>machine</a:t>
                      </a:r>
                      <a:r>
                        <a:rPr lang="ko-KR" sz="1550" b="0" u="none" strike="noStrike">
                          <a:solidFill>
                            <a:srgbClr val="173C37"/>
                          </a:solidFill>
                          <a:effectLst/>
                          <a:uFillTx/>
                          <a:latin typeface="AppleGothic"/>
                          <a:ea typeface="AppleGothic"/>
                        </a:rPr>
                        <a:t>의 </a:t>
                      </a:r>
                      <a:r>
                        <a:rPr lang="en-US" sz="1550" b="0" u="none" strike="noStrike">
                          <a:solidFill>
                            <a:srgbClr val="173C37"/>
                          </a:solidFill>
                          <a:effectLst/>
                          <a:uFillTx/>
                          <a:latin typeface="AppleGothic"/>
                          <a:ea typeface="AppleGothic"/>
                        </a:rPr>
                        <a:t>RAM</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RAM </a:t>
                      </a:r>
                      <a:r>
                        <a:rPr lang="ko-KR" sz="1550" b="0" u="none" strike="noStrike">
                          <a:solidFill>
                            <a:srgbClr val="173C37"/>
                          </a:solidFill>
                          <a:effectLst/>
                          <a:uFillTx/>
                          <a:latin typeface="AppleGothic"/>
                          <a:ea typeface="AppleGothic"/>
                        </a:rPr>
                        <a:t>초과 시 </a:t>
                      </a:r>
                      <a:r>
                        <a:rPr lang="en-US" sz="1550" b="0" u="none" strike="noStrike">
                          <a:solidFill>
                            <a:srgbClr val="173C37"/>
                          </a:solidFill>
                          <a:effectLst/>
                          <a:uFillTx/>
                          <a:latin typeface="AppleGothic"/>
                          <a:ea typeface="AppleGothic"/>
                        </a:rPr>
                        <a:t>OOM</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외부 저장 </a:t>
                      </a:r>
                      <a:r>
                        <a:rPr lang="en-US" sz="1550" b="0" u="none" strike="noStrike">
                          <a:solidFill>
                            <a:srgbClr val="173C37"/>
                          </a:solidFill>
                          <a:effectLst/>
                          <a:uFillTx/>
                          <a:latin typeface="AppleGothic"/>
                          <a:ea typeface="AppleGothic"/>
                        </a:rPr>
                        <a:t>algorithm </a:t>
                      </a:r>
                      <a:r>
                        <a:rPr lang="ko-KR" sz="1550" b="0" u="none" strike="noStrike">
                          <a:solidFill>
                            <a:srgbClr val="173C37"/>
                          </a:solidFill>
                          <a:effectLst/>
                          <a:uFillTx/>
                          <a:latin typeface="AppleGothic"/>
                          <a:ea typeface="AppleGothic"/>
                        </a:rPr>
                        <a:t>필요</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Distributed memory</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여러 </a:t>
                      </a:r>
                      <a:r>
                        <a:rPr lang="en-US" sz="1550" b="0" u="none" strike="noStrike">
                          <a:solidFill>
                            <a:srgbClr val="173C37"/>
                          </a:solidFill>
                          <a:effectLst/>
                          <a:uFillTx/>
                          <a:latin typeface="AppleGothic"/>
                          <a:ea typeface="AppleGothic"/>
                        </a:rPr>
                        <a:t>worker</a:t>
                      </a:r>
                      <a:r>
                        <a:rPr lang="ko-KR" sz="1550" b="0" u="none" strike="noStrike">
                          <a:solidFill>
                            <a:srgbClr val="173C37"/>
                          </a:solidFill>
                          <a:effectLst/>
                          <a:uFillTx/>
                          <a:latin typeface="AppleGothic"/>
                          <a:ea typeface="AppleGothic"/>
                        </a:rPr>
                        <a:t>의 </a:t>
                      </a:r>
                      <a:r>
                        <a:rPr lang="en-US" sz="1550" b="0" u="none" strike="noStrike">
                          <a:solidFill>
                            <a:srgbClr val="173C37"/>
                          </a:solidFill>
                          <a:effectLst/>
                          <a:uFillTx/>
                          <a:latin typeface="AppleGothic"/>
                          <a:ea typeface="AppleGothic"/>
                        </a:rPr>
                        <a:t>RAM</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전체 </a:t>
                      </a:r>
                      <a:r>
                        <a:rPr lang="en-US" sz="1550" b="0" u="none" strike="noStrike">
                          <a:solidFill>
                            <a:srgbClr val="173C37"/>
                          </a:solidFill>
                          <a:effectLst/>
                          <a:uFillTx/>
                          <a:latin typeface="AppleGothic"/>
                          <a:ea typeface="AppleGothic"/>
                        </a:rPr>
                        <a:t>graph</a:t>
                      </a:r>
                      <a:r>
                        <a:rPr lang="ko-KR" sz="1550" b="0" u="none" strike="noStrike">
                          <a:solidFill>
                            <a:srgbClr val="173C37"/>
                          </a:solidFill>
                          <a:effectLst/>
                          <a:uFillTx/>
                          <a:latin typeface="AppleGothic"/>
                          <a:ea typeface="AppleGothic"/>
                        </a:rPr>
                        <a:t>와 </a:t>
                      </a:r>
                      <a:r>
                        <a:rPr lang="en-US" sz="1550" b="0" u="none" strike="noStrike">
                          <a:solidFill>
                            <a:srgbClr val="173C37"/>
                          </a:solidFill>
                          <a:effectLst/>
                          <a:uFillTx/>
                          <a:latin typeface="AppleGothic"/>
                          <a:ea typeface="AppleGothic"/>
                        </a:rPr>
                        <a:t>state</a:t>
                      </a:r>
                      <a:r>
                        <a:rPr lang="ko-KR" sz="1550" b="0" u="none" strike="noStrike">
                          <a:solidFill>
                            <a:srgbClr val="173C37"/>
                          </a:solidFill>
                          <a:effectLst/>
                          <a:uFillTx/>
                          <a:latin typeface="AppleGothic"/>
                          <a:ea typeface="AppleGothic"/>
                        </a:rPr>
                        <a:t>가 </a:t>
                      </a:r>
                      <a:r>
                        <a:rPr lang="en-US" sz="1550" b="0" u="none" strike="noStrike">
                          <a:solidFill>
                            <a:srgbClr val="173C37"/>
                          </a:solidFill>
                          <a:effectLst/>
                          <a:uFillTx/>
                          <a:latin typeface="AppleGothic"/>
                          <a:ea typeface="AppleGothic"/>
                        </a:rPr>
                        <a:t>RAM </a:t>
                      </a:r>
                      <a:r>
                        <a:rPr lang="ko-KR" sz="1550" b="0" u="none" strike="noStrike">
                          <a:solidFill>
                            <a:srgbClr val="173C37"/>
                          </a:solidFill>
                          <a:effectLst/>
                          <a:uFillTx/>
                          <a:latin typeface="AppleGothic"/>
                          <a:ea typeface="AppleGothic"/>
                        </a:rPr>
                        <a:t>초과</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Machine </a:t>
                      </a:r>
                      <a:r>
                        <a:rPr lang="ko-KR" sz="1550" b="0" u="none" strike="noStrike">
                          <a:solidFill>
                            <a:srgbClr val="173C37"/>
                          </a:solidFill>
                          <a:effectLst/>
                          <a:uFillTx/>
                          <a:latin typeface="AppleGothic"/>
                          <a:ea typeface="AppleGothic"/>
                        </a:rPr>
                        <a:t>수와 </a:t>
                      </a:r>
                      <a:r>
                        <a:rPr lang="en-US" sz="1550" b="0" u="none" strike="noStrike">
                          <a:solidFill>
                            <a:srgbClr val="173C37"/>
                          </a:solidFill>
                          <a:effectLst/>
                          <a:uFillTx/>
                          <a:latin typeface="AppleGothic"/>
                          <a:ea typeface="AppleGothic"/>
                        </a:rPr>
                        <a:t>memory </a:t>
                      </a:r>
                      <a:r>
                        <a:rPr lang="ko-KR" sz="1550" b="0" u="none" strike="noStrike">
                          <a:solidFill>
                            <a:srgbClr val="173C37"/>
                          </a:solidFill>
                          <a:effectLst/>
                          <a:uFillTx/>
                          <a:latin typeface="AppleGothic"/>
                          <a:ea typeface="AppleGothic"/>
                        </a:rPr>
                        <a:t>의존</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MapReduce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Distributed storage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RAM </a:t>
                      </a:r>
                      <a:r>
                        <a:rPr lang="ko-KR" sz="1550" b="0" u="none" strike="noStrike">
                          <a:solidFill>
                            <a:srgbClr val="173C37"/>
                          </a:solidFill>
                          <a:effectLst/>
                          <a:uFillTx/>
                          <a:latin typeface="AppleGothic"/>
                          <a:ea typeface="AppleGothic"/>
                        </a:rPr>
                        <a:t>한계 완화</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Disk, sort, network I/O</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UniCon </a:t>
                      </a:r>
                      <a:r>
                        <a:rPr lang="ko-KR" sz="1550" b="0" u="none" strike="noStrike">
                          <a:solidFill>
                            <a:srgbClr val="173C37"/>
                          </a:solidFill>
                          <a:effectLst/>
                          <a:uFillTx/>
                          <a:latin typeface="AppleGothic"/>
                          <a:ea typeface="AppleGothic"/>
                        </a:rPr>
                        <a:t>목표</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Storage</a:t>
                      </a:r>
                      <a:r>
                        <a:rPr lang="ko-KR" sz="1550" b="0" u="none" strike="noStrike">
                          <a:solidFill>
                            <a:srgbClr val="173C37"/>
                          </a:solidFill>
                          <a:effectLst/>
                          <a:uFillTx/>
                          <a:latin typeface="AppleGothic"/>
                          <a:ea typeface="AppleGothic"/>
                        </a:rPr>
                        <a:t>와 </a:t>
                      </a:r>
                      <a:r>
                        <a:rPr lang="en-US" sz="1550" b="0" u="none" strike="noStrike">
                          <a:solidFill>
                            <a:srgbClr val="173C37"/>
                          </a:solidFill>
                          <a:effectLst/>
                          <a:uFillTx/>
                          <a:latin typeface="AppleGothic"/>
                          <a:ea typeface="AppleGothic"/>
                        </a:rPr>
                        <a:t>local RAM </a:t>
                      </a:r>
                      <a:r>
                        <a:rPr lang="ko-KR" sz="1550" b="0" u="none" strike="noStrike">
                          <a:solidFill>
                            <a:srgbClr val="173C37"/>
                          </a:solidFill>
                          <a:effectLst/>
                          <a:uFillTx/>
                          <a:latin typeface="AppleGothic"/>
                          <a:ea typeface="AppleGothic"/>
                        </a:rPr>
                        <a:t>혼합</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Intermediate records </a:t>
                      </a:r>
                      <a:r>
                        <a:rPr lang="ko-KR" sz="1550" b="0" u="none" strike="noStrike">
                          <a:solidFill>
                            <a:srgbClr val="173C37"/>
                          </a:solidFill>
                          <a:effectLst/>
                          <a:uFillTx/>
                          <a:latin typeface="AppleGothic"/>
                          <a:ea typeface="AppleGothic"/>
                        </a:rPr>
                        <a:t>억제</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I/O </a:t>
                      </a:r>
                      <a:r>
                        <a:rPr lang="ko-KR" sz="1550" b="0" u="none" strike="noStrike">
                          <a:solidFill>
                            <a:srgbClr val="173C37"/>
                          </a:solidFill>
                          <a:effectLst/>
                          <a:uFillTx/>
                          <a:latin typeface="AppleGothic"/>
                          <a:ea typeface="AppleGothic"/>
                        </a:rPr>
                        <a:t>자체는 남음</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bl>
          </a:graphicData>
        </a:graphic>
      </p:graphicFrame>
      <p:sp>
        <p:nvSpPr>
          <p:cNvPr id="57" name="Shape 2"/>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58" name="Text 3"/>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Distributed storage</a:t>
            </a:r>
            <a:r>
              <a:rPr lang="ko-KR" sz="1750" b="1" u="none" strike="noStrike">
                <a:solidFill>
                  <a:srgbClr val="173C37"/>
                </a:solidFill>
                <a:effectLst/>
                <a:uFillTx/>
                <a:latin typeface="AppleGothic"/>
                <a:ea typeface="AppleGothic"/>
              </a:rPr>
              <a:t>를 쓰면 </a:t>
            </a:r>
            <a:r>
              <a:rPr lang="en-US" sz="1750" b="1" u="none" strike="noStrike">
                <a:solidFill>
                  <a:srgbClr val="173C37"/>
                </a:solidFill>
                <a:effectLst/>
                <a:uFillTx/>
                <a:latin typeface="AppleGothic"/>
                <a:ea typeface="AppleGothic"/>
              </a:rPr>
              <a:t>OOM </a:t>
            </a:r>
            <a:r>
              <a:rPr lang="ko-KR" sz="1750" b="1" u="none" strike="noStrike">
                <a:solidFill>
                  <a:srgbClr val="173C37"/>
                </a:solidFill>
                <a:effectLst/>
                <a:uFillTx/>
                <a:latin typeface="AppleGothic"/>
                <a:ea typeface="AppleGothic"/>
              </a:rPr>
              <a:t>위험은 줄지만 </a:t>
            </a:r>
            <a:r>
              <a:rPr lang="en-US" sz="1750" b="1" u="none" strike="noStrike">
                <a:solidFill>
                  <a:srgbClr val="173C37"/>
                </a:solidFill>
                <a:effectLst/>
                <a:uFillTx/>
                <a:latin typeface="AppleGothic"/>
                <a:ea typeface="AppleGothic"/>
              </a:rPr>
              <a:t>intermediate-data I/O</a:t>
            </a:r>
            <a:r>
              <a:rPr lang="ko-KR" sz="1750" b="1" u="none" strike="noStrike">
                <a:solidFill>
                  <a:srgbClr val="173C37"/>
                </a:solidFill>
                <a:effectLst/>
                <a:uFillTx/>
                <a:latin typeface="AppleGothic"/>
                <a:ea typeface="AppleGothic"/>
              </a:rPr>
              <a:t>가 병목이 된다</a:t>
            </a:r>
            <a:endParaRPr lang="en-US" sz="1750" b="0" u="none" strike="noStrike">
              <a:solidFill>
                <a:srgbClr val="000000"/>
              </a:solidFill>
              <a:effectLst/>
              <a:uFillTx/>
              <a:latin typeface="Arial"/>
            </a:endParaRPr>
          </a:p>
        </p:txBody>
      </p:sp>
      <p:sp>
        <p:nvSpPr>
          <p:cNvPr id="59" name="Shape 4"/>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60" name="Text 5"/>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unicon-paper pp. 1-3</a:t>
            </a:r>
            <a:endParaRPr lang="en-US" sz="1050" b="0" u="none" strike="noStrike">
              <a:solidFill>
                <a:srgbClr val="000000"/>
              </a:solidFill>
              <a:effectLst/>
              <a:uFillTx/>
              <a:latin typeface="Arial"/>
            </a:endParaRPr>
          </a:p>
        </p:txBody>
      </p:sp>
      <p:sp>
        <p:nvSpPr>
          <p:cNvPr id="61" name="Text 6"/>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04</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2"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Alternating, PACC, UniCon</a:t>
            </a:r>
            <a:r>
              <a:rPr lang="ko-KR" sz="3100" b="1" u="none" strike="noStrike">
                <a:solidFill>
                  <a:srgbClr val="173C37"/>
                </a:solidFill>
                <a:effectLst/>
                <a:uFillTx/>
                <a:latin typeface="AppleGothic"/>
                <a:ea typeface="AppleGothic"/>
              </a:rPr>
              <a:t>의 차이</a:t>
            </a:r>
            <a:endParaRPr lang="en-US" sz="3100" b="0" u="none" strike="noStrike">
              <a:solidFill>
                <a:srgbClr val="000000"/>
              </a:solidFill>
              <a:effectLst/>
              <a:uFillTx/>
              <a:latin typeface="Arial"/>
            </a:endParaRPr>
          </a:p>
        </p:txBody>
      </p:sp>
      <p:sp>
        <p:nvSpPr>
          <p:cNvPr id="63"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900" b="0" u="none" strike="noStrike">
                <a:solidFill>
                  <a:srgbClr val="0D685C"/>
                </a:solidFill>
                <a:effectLst/>
                <a:uFillTx/>
                <a:latin typeface="AppleGothic"/>
                <a:ea typeface="AppleGothic"/>
              </a:rPr>
              <a:t>세 방법은 같은 </a:t>
            </a:r>
            <a:r>
              <a:rPr lang="en-US" sz="1900" b="0" u="none" strike="noStrike">
                <a:solidFill>
                  <a:srgbClr val="0D685C"/>
                </a:solidFill>
                <a:effectLst/>
                <a:uFillTx/>
                <a:latin typeface="AppleGothic"/>
                <a:ea typeface="AppleGothic"/>
              </a:rPr>
              <a:t>star operation</a:t>
            </a:r>
            <a:r>
              <a:rPr lang="ko-KR" sz="1900" b="0" u="none" strike="noStrike">
                <a:solidFill>
                  <a:srgbClr val="0D685C"/>
                </a:solidFill>
                <a:effectLst/>
                <a:uFillTx/>
                <a:latin typeface="AppleGothic"/>
                <a:ea typeface="AppleGothic"/>
              </a:rPr>
              <a:t>을 다른 이름으로 부르는 관계가 아니다</a:t>
            </a:r>
            <a:endParaRPr lang="en-US" sz="1900" b="0" u="none" strike="noStrike">
              <a:solidFill>
                <a:srgbClr val="000000"/>
              </a:solidFill>
              <a:effectLst/>
              <a:uFillTx/>
              <a:latin typeface="Arial"/>
            </a:endParaRPr>
          </a:p>
        </p:txBody>
      </p:sp>
      <p:graphicFrame>
        <p:nvGraphicFramePr>
          <p:cNvPr id="64" name="Table 0"/>
          <p:cNvGraphicFramePr/>
          <p:nvPr/>
        </p:nvGraphicFramePr>
        <p:xfrm>
          <a:off x="660240" y="2082960"/>
          <a:ext cx="10870920" cy="3314520"/>
        </p:xfrm>
        <a:graphic>
          <a:graphicData uri="http://schemas.openxmlformats.org/drawingml/2006/table">
            <a:tbl>
              <a:tblPr/>
              <a:tblGrid>
                <a:gridCol w="1847880"/>
                <a:gridCol w="3369960"/>
                <a:gridCol w="2500200"/>
                <a:gridCol w="3152520"/>
              </a:tblGrid>
              <a:tr h="495000">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Method</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반복 </a:t>
                      </a:r>
                      <a:r>
                        <a:rPr lang="en-US" sz="1600" b="1" u="none" strike="noStrike">
                          <a:solidFill>
                            <a:srgbClr val="0D685C"/>
                          </a:solidFill>
                          <a:effectLst/>
                          <a:uFillTx/>
                          <a:latin typeface="AppleGothic"/>
                          <a:ea typeface="AppleGothic"/>
                        </a:rPr>
                        <a:t>operation</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Partition awareness</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핵심 한계 또는 변화</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Alternating</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Large-star</a:t>
                      </a:r>
                      <a:r>
                        <a:rPr lang="ko-KR" sz="1550" b="0" u="none" strike="noStrike">
                          <a:solidFill>
                            <a:srgbClr val="173C37"/>
                          </a:solidFill>
                          <a:effectLst/>
                          <a:uFillTx/>
                          <a:latin typeface="AppleGothic"/>
                          <a:ea typeface="AppleGothic"/>
                        </a:rPr>
                        <a:t>와 </a:t>
                      </a:r>
                      <a:r>
                        <a:rPr lang="en-US" sz="1550" b="0" u="none" strike="noStrike">
                          <a:solidFill>
                            <a:srgbClr val="173C37"/>
                          </a:solidFill>
                          <a:effectLst/>
                          <a:uFillTx/>
                          <a:latin typeface="AppleGothic"/>
                          <a:ea typeface="AppleGothic"/>
                        </a:rPr>
                        <a:t>small-star </a:t>
                      </a:r>
                      <a:r>
                        <a:rPr lang="ko-KR" sz="1550" b="0" u="none" strike="noStrike">
                          <a:solidFill>
                            <a:srgbClr val="173C37"/>
                          </a:solidFill>
                          <a:effectLst/>
                          <a:uFillTx/>
                          <a:latin typeface="AppleGothic"/>
                          <a:ea typeface="AppleGothic"/>
                        </a:rPr>
                        <a:t>교대</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없음</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두 </a:t>
                      </a:r>
                      <a:r>
                        <a:rPr lang="en-US" sz="1550" b="0" u="none" strike="noStrike">
                          <a:solidFill>
                            <a:srgbClr val="173C37"/>
                          </a:solidFill>
                          <a:effectLst/>
                          <a:uFillTx/>
                          <a:latin typeface="AppleGothic"/>
                          <a:ea typeface="AppleGothic"/>
                        </a:rPr>
                        <a:t>distributed rounds </a:t>
                      </a:r>
                      <a:r>
                        <a:rPr lang="ko-KR" sz="1550" b="0" u="none" strike="noStrike">
                          <a:solidFill>
                            <a:srgbClr val="173C37"/>
                          </a:solidFill>
                          <a:effectLst/>
                          <a:uFillTx/>
                          <a:latin typeface="AppleGothic"/>
                          <a:ea typeface="AppleGothic"/>
                        </a:rPr>
                        <a:t>반복</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PACC</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PA-large-star</a:t>
                      </a:r>
                      <a:r>
                        <a:rPr lang="ko-KR" sz="1550" b="0" u="none" strike="noStrike">
                          <a:solidFill>
                            <a:srgbClr val="173C37"/>
                          </a:solidFill>
                          <a:effectLst/>
                          <a:uFillTx/>
                          <a:latin typeface="AppleGothic"/>
                          <a:ea typeface="AppleGothic"/>
                        </a:rPr>
                        <a:t>와 </a:t>
                      </a:r>
                      <a:r>
                        <a:rPr lang="en-US" sz="1550" b="0" u="none" strike="noStrike">
                          <a:solidFill>
                            <a:srgbClr val="173C37"/>
                          </a:solidFill>
                          <a:effectLst/>
                          <a:uFillTx/>
                          <a:latin typeface="AppleGothic"/>
                          <a:ea typeface="AppleGothic"/>
                        </a:rPr>
                        <a:t>PA-small-star </a:t>
                      </a:r>
                      <a:r>
                        <a:rPr lang="ko-KR" sz="1550" b="0" u="none" strike="noStrike">
                          <a:solidFill>
                            <a:srgbClr val="173C37"/>
                          </a:solidFill>
                          <a:effectLst/>
                          <a:uFillTx/>
                          <a:latin typeface="AppleGothic"/>
                          <a:ea typeface="AppleGothic"/>
                        </a:rPr>
                        <a:t>교대</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있음</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Load balance </a:t>
                      </a:r>
                      <a:r>
                        <a:rPr lang="ko-KR" sz="1550" b="0" u="none" strike="noStrike">
                          <a:solidFill>
                            <a:srgbClr val="173C37"/>
                          </a:solidFill>
                          <a:effectLst/>
                          <a:uFillTx/>
                          <a:latin typeface="AppleGothic"/>
                          <a:ea typeface="AppleGothic"/>
                        </a:rPr>
                        <a:t>개선</a:t>
                      </a:r>
                      <a:r>
                        <a:rPr lang="en-US" sz="1550" b="0" u="none" strike="noStrike">
                          <a:solidFill>
                            <a:srgbClr val="173C37"/>
                          </a:solidFill>
                          <a:effectLst/>
                          <a:uFillTx/>
                          <a:latin typeface="AppleGothic"/>
                          <a:ea typeface="AppleGothic"/>
                        </a:rPr>
                        <a:t>, data </a:t>
                      </a:r>
                      <a:r>
                        <a:rPr lang="ko-KR" sz="1550" b="0" u="none" strike="noStrike">
                          <a:solidFill>
                            <a:srgbClr val="173C37"/>
                          </a:solidFill>
                          <a:effectLst/>
                          <a:uFillTx/>
                          <a:latin typeface="AppleGothic"/>
                          <a:ea typeface="AppleGothic"/>
                        </a:rPr>
                        <a:t>이동 지속</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UniCon</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UniStar </a:t>
                      </a:r>
                      <a:r>
                        <a:rPr lang="ko-KR" sz="1550" b="0" u="none" strike="noStrike">
                          <a:solidFill>
                            <a:srgbClr val="173C37"/>
                          </a:solidFill>
                          <a:effectLst/>
                          <a:uFillTx/>
                          <a:latin typeface="AppleGothic"/>
                          <a:ea typeface="AppleGothic"/>
                        </a:rPr>
                        <a:t>하나를 반복</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Overlap subgraph</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Local CC</a:t>
                      </a:r>
                      <a:r>
                        <a:rPr lang="ko-KR" sz="1550" b="0" u="none" strike="noStrike">
                          <a:solidFill>
                            <a:srgbClr val="173C37"/>
                          </a:solidFill>
                          <a:effectLst/>
                          <a:uFillTx/>
                          <a:latin typeface="AppleGothic"/>
                          <a:ea typeface="AppleGothic"/>
                        </a:rPr>
                        <a:t>와 중복 억제 결합</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DSP-CC</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External-memory Union-Find </a:t>
                      </a:r>
                      <a:r>
                        <a:rPr lang="ko-KR" sz="1550" b="0" u="none" strike="noStrike">
                          <a:solidFill>
                            <a:srgbClr val="173C37"/>
                          </a:solidFill>
                          <a:effectLst/>
                          <a:uFillTx/>
                          <a:latin typeface="AppleGothic"/>
                          <a:ea typeface="AppleGothic"/>
                        </a:rPr>
                        <a:t>계열</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해당 없음</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별도 </a:t>
                      </a:r>
                      <a:r>
                        <a:rPr lang="en-US" sz="1550" b="0" u="none" strike="noStrike">
                          <a:solidFill>
                            <a:srgbClr val="173C37"/>
                          </a:solidFill>
                          <a:effectLst/>
                          <a:uFillTx/>
                          <a:latin typeface="AppleGothic"/>
                          <a:ea typeface="AppleGothic"/>
                        </a:rPr>
                        <a:t>single-machine method</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bl>
          </a:graphicData>
        </a:graphic>
      </p:graphicFrame>
      <p:sp>
        <p:nvSpPr>
          <p:cNvPr id="65" name="Shape 2"/>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66" name="Text 3"/>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UniCon</a:t>
            </a:r>
            <a:r>
              <a:rPr lang="ko-KR" sz="1750" b="1" u="none" strike="noStrike">
                <a:solidFill>
                  <a:srgbClr val="173C37"/>
                </a:solidFill>
                <a:effectLst/>
                <a:uFillTx/>
                <a:latin typeface="AppleGothic"/>
                <a:ea typeface="AppleGothic"/>
              </a:rPr>
              <a:t>은 </a:t>
            </a:r>
            <a:r>
              <a:rPr lang="en-US" sz="1750" b="1" u="none" strike="noStrike">
                <a:solidFill>
                  <a:srgbClr val="173C37"/>
                </a:solidFill>
                <a:effectLst/>
                <a:uFillTx/>
                <a:latin typeface="AppleGothic"/>
                <a:ea typeface="AppleGothic"/>
              </a:rPr>
              <a:t>PACC sketching</a:t>
            </a:r>
            <a:r>
              <a:rPr lang="ko-KR" sz="1750" b="1" u="none" strike="noStrike">
                <a:solidFill>
                  <a:srgbClr val="173C37"/>
                </a:solidFill>
                <a:effectLst/>
                <a:uFillTx/>
                <a:latin typeface="AppleGothic"/>
                <a:ea typeface="AppleGothic"/>
              </a:rPr>
              <a:t>을 쓰지만 </a:t>
            </a:r>
            <a:r>
              <a:rPr lang="en-US" sz="1750" b="1" u="none" strike="noStrike">
                <a:solidFill>
                  <a:srgbClr val="173C37"/>
                </a:solidFill>
                <a:effectLst/>
                <a:uFillTx/>
                <a:latin typeface="AppleGothic"/>
                <a:ea typeface="AppleGothic"/>
              </a:rPr>
              <a:t>partitioning</a:t>
            </a:r>
            <a:r>
              <a:rPr lang="ko-KR" sz="1750" b="1" u="none" strike="noStrike">
                <a:solidFill>
                  <a:srgbClr val="173C37"/>
                </a:solidFill>
                <a:effectLst/>
                <a:uFillTx/>
                <a:latin typeface="AppleGothic"/>
                <a:ea typeface="AppleGothic"/>
              </a:rPr>
              <a:t>의 </a:t>
            </a:r>
            <a:r>
              <a:rPr lang="en-US" sz="1750" b="1" u="none" strike="noStrike">
                <a:solidFill>
                  <a:srgbClr val="173C37"/>
                </a:solidFill>
                <a:effectLst/>
                <a:uFillTx/>
                <a:latin typeface="AppleGothic"/>
                <a:ea typeface="AppleGothic"/>
              </a:rPr>
              <a:t>star semantics</a:t>
            </a:r>
            <a:r>
              <a:rPr lang="ko-KR" sz="1750" b="1" u="none" strike="noStrike">
                <a:solidFill>
                  <a:srgbClr val="173C37"/>
                </a:solidFill>
                <a:effectLst/>
                <a:uFillTx/>
                <a:latin typeface="AppleGothic"/>
                <a:ea typeface="AppleGothic"/>
              </a:rPr>
              <a:t>를 새로 정의한다</a:t>
            </a:r>
            <a:endParaRPr lang="en-US" sz="1750" b="0" u="none" strike="noStrike">
              <a:solidFill>
                <a:srgbClr val="000000"/>
              </a:solidFill>
              <a:effectLst/>
              <a:uFillTx/>
              <a:latin typeface="Arial"/>
            </a:endParaRPr>
          </a:p>
        </p:txBody>
      </p:sp>
      <p:sp>
        <p:nvSpPr>
          <p:cNvPr id="67" name="Shape 4"/>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68" name="Text 5"/>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unicon-paper pp. 3-6; pacc-paper pp. 6-15</a:t>
            </a:r>
            <a:endParaRPr lang="en-US" sz="1050" b="0" u="none" strike="noStrike">
              <a:solidFill>
                <a:srgbClr val="000000"/>
              </a:solidFill>
              <a:effectLst/>
              <a:uFillTx/>
              <a:latin typeface="Arial"/>
            </a:endParaRPr>
          </a:p>
        </p:txBody>
      </p:sp>
      <p:sp>
        <p:nvSpPr>
          <p:cNvPr id="69" name="Text 6"/>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05</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0"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UniStar-naive</a:t>
            </a:r>
            <a:r>
              <a:rPr lang="ko-KR" sz="3100" b="1" u="none" strike="noStrike">
                <a:solidFill>
                  <a:srgbClr val="173C37"/>
                </a:solidFill>
                <a:effectLst/>
                <a:uFillTx/>
                <a:latin typeface="AppleGothic"/>
                <a:ea typeface="AppleGothic"/>
              </a:rPr>
              <a:t>의 </a:t>
            </a:r>
            <a:r>
              <a:rPr lang="en-US" sz="3100" b="1" u="none" strike="noStrike">
                <a:solidFill>
                  <a:srgbClr val="173C37"/>
                </a:solidFill>
                <a:effectLst/>
                <a:uFillTx/>
                <a:latin typeface="AppleGothic"/>
                <a:ea typeface="AppleGothic"/>
              </a:rPr>
              <a:t>data explosion</a:t>
            </a:r>
            <a:endParaRPr lang="en-US" sz="3100" b="0" u="none" strike="noStrike">
              <a:solidFill>
                <a:srgbClr val="000000"/>
              </a:solidFill>
              <a:effectLst/>
              <a:uFillTx/>
              <a:latin typeface="Arial"/>
            </a:endParaRPr>
          </a:p>
        </p:txBody>
      </p:sp>
      <p:sp>
        <p:nvSpPr>
          <p:cNvPr id="71"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900" b="0" u="none" strike="noStrike">
                <a:solidFill>
                  <a:srgbClr val="0D685C"/>
                </a:solidFill>
                <a:effectLst/>
                <a:uFillTx/>
                <a:latin typeface="AppleGothic"/>
                <a:ea typeface="AppleGothic"/>
              </a:rPr>
              <a:t>같은 </a:t>
            </a:r>
            <a:r>
              <a:rPr lang="en-US" sz="1900" b="0" u="none" strike="noStrike">
                <a:solidFill>
                  <a:srgbClr val="0D685C"/>
                </a:solidFill>
                <a:effectLst/>
                <a:uFillTx/>
                <a:latin typeface="AppleGothic"/>
                <a:ea typeface="AppleGothic"/>
              </a:rPr>
              <a:t>edge</a:t>
            </a:r>
            <a:r>
              <a:rPr lang="ko-KR" sz="1900" b="0" u="none" strike="noStrike">
                <a:solidFill>
                  <a:srgbClr val="0D685C"/>
                </a:solidFill>
                <a:effectLst/>
                <a:uFillTx/>
                <a:latin typeface="AppleGothic"/>
                <a:ea typeface="AppleGothic"/>
              </a:rPr>
              <a:t>를 양 </a:t>
            </a:r>
            <a:r>
              <a:rPr lang="en-US" sz="1900" b="0" u="none" strike="noStrike">
                <a:solidFill>
                  <a:srgbClr val="0D685C"/>
                </a:solidFill>
                <a:effectLst/>
                <a:uFillTx/>
                <a:latin typeface="AppleGothic"/>
                <a:ea typeface="AppleGothic"/>
              </a:rPr>
              <a:t>endpoint </a:t>
            </a:r>
            <a:r>
              <a:rPr lang="ko-KR" sz="1900" b="0" u="none" strike="noStrike">
                <a:solidFill>
                  <a:srgbClr val="0D685C"/>
                </a:solidFill>
                <a:effectLst/>
                <a:uFillTx/>
                <a:latin typeface="AppleGothic"/>
                <a:ea typeface="AppleGothic"/>
              </a:rPr>
              <a:t>관점에서 다시 만들면 다음 </a:t>
            </a:r>
            <a:r>
              <a:rPr lang="en-US" sz="1900" b="0" u="none" strike="noStrike">
                <a:solidFill>
                  <a:srgbClr val="0D685C"/>
                </a:solidFill>
                <a:effectLst/>
                <a:uFillTx/>
                <a:latin typeface="AppleGothic"/>
                <a:ea typeface="AppleGothic"/>
              </a:rPr>
              <a:t>round</a:t>
            </a:r>
            <a:r>
              <a:rPr lang="ko-KR" sz="1900" b="0" u="none" strike="noStrike">
                <a:solidFill>
                  <a:srgbClr val="0D685C"/>
                </a:solidFill>
                <a:effectLst/>
                <a:uFillTx/>
                <a:latin typeface="AppleGothic"/>
                <a:ea typeface="AppleGothic"/>
              </a:rPr>
              <a:t>에서 그 </a:t>
            </a:r>
            <a:r>
              <a:rPr lang="en-US" sz="1900" b="0" u="none" strike="noStrike">
                <a:solidFill>
                  <a:srgbClr val="0D685C"/>
                </a:solidFill>
                <a:effectLst/>
                <a:uFillTx/>
                <a:latin typeface="AppleGothic"/>
                <a:ea typeface="AppleGothic"/>
              </a:rPr>
              <a:t>copies</a:t>
            </a:r>
            <a:r>
              <a:rPr lang="ko-KR" sz="1900" b="0" u="none" strike="noStrike">
                <a:solidFill>
                  <a:srgbClr val="0D685C"/>
                </a:solidFill>
                <a:effectLst/>
                <a:uFillTx/>
                <a:latin typeface="AppleGothic"/>
                <a:ea typeface="AppleGothic"/>
              </a:rPr>
              <a:t>가 또 복제된다</a:t>
            </a:r>
            <a:endParaRPr lang="en-US" sz="1900" b="0" u="none" strike="noStrike">
              <a:solidFill>
                <a:srgbClr val="000000"/>
              </a:solidFill>
              <a:effectLst/>
              <a:uFillTx/>
              <a:latin typeface="Arial"/>
            </a:endParaRPr>
          </a:p>
        </p:txBody>
      </p:sp>
      <p:sp>
        <p:nvSpPr>
          <p:cNvPr id="72" name="Text 2"/>
          <p:cNvSpPr/>
          <p:nvPr/>
        </p:nvSpPr>
        <p:spPr>
          <a:xfrm>
            <a:off x="660240" y="2108160"/>
            <a:ext cx="571320" cy="66312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01</a:t>
            </a:r>
            <a:endParaRPr lang="en-US" sz="2200" b="0" u="none" strike="noStrike">
              <a:solidFill>
                <a:srgbClr val="000000"/>
              </a:solidFill>
              <a:effectLst/>
              <a:uFillTx/>
              <a:latin typeface="Arial"/>
            </a:endParaRPr>
          </a:p>
        </p:txBody>
      </p:sp>
      <p:sp>
        <p:nvSpPr>
          <p:cNvPr id="73" name="Text 3"/>
          <p:cNvSpPr/>
          <p:nvPr/>
        </p:nvSpPr>
        <p:spPr>
          <a:xfrm>
            <a:off x="1397160" y="2108160"/>
            <a:ext cx="2603160" cy="66312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Original</a:t>
            </a:r>
            <a:endParaRPr lang="en-US" sz="1900" b="0" u="none" strike="noStrike">
              <a:solidFill>
                <a:srgbClr val="000000"/>
              </a:solidFill>
              <a:effectLst/>
              <a:uFillTx/>
              <a:latin typeface="Arial"/>
            </a:endParaRPr>
          </a:p>
        </p:txBody>
      </p:sp>
      <p:sp>
        <p:nvSpPr>
          <p:cNvPr id="74" name="Text 4"/>
          <p:cNvSpPr/>
          <p:nvPr/>
        </p:nvSpPr>
        <p:spPr>
          <a:xfrm>
            <a:off x="4152960" y="2108160"/>
            <a:ext cx="7378200" cy="66312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|E|=14</a:t>
            </a:r>
            <a:endParaRPr lang="en-US" sz="1650" b="0" u="none" strike="noStrike">
              <a:solidFill>
                <a:srgbClr val="000000"/>
              </a:solidFill>
              <a:effectLst/>
              <a:uFillTx/>
              <a:latin typeface="Arial"/>
            </a:endParaRPr>
          </a:p>
        </p:txBody>
      </p:sp>
      <p:sp>
        <p:nvSpPr>
          <p:cNvPr id="75" name="Shape 5"/>
          <p:cNvSpPr/>
          <p:nvPr/>
        </p:nvSpPr>
        <p:spPr>
          <a:xfrm>
            <a:off x="1396800" y="278424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76" name="Shape 6"/>
          <p:cNvSpPr/>
          <p:nvPr/>
        </p:nvSpPr>
        <p:spPr>
          <a:xfrm>
            <a:off x="851040" y="279720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77" name="Text 7"/>
          <p:cNvSpPr/>
          <p:nvPr/>
        </p:nvSpPr>
        <p:spPr>
          <a:xfrm>
            <a:off x="660240" y="2975040"/>
            <a:ext cx="571320" cy="66312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02</a:t>
            </a:r>
            <a:endParaRPr lang="en-US" sz="2200" b="0" u="none" strike="noStrike">
              <a:solidFill>
                <a:srgbClr val="000000"/>
              </a:solidFill>
              <a:effectLst/>
              <a:uFillTx/>
              <a:latin typeface="Arial"/>
            </a:endParaRPr>
          </a:p>
        </p:txBody>
      </p:sp>
      <p:sp>
        <p:nvSpPr>
          <p:cNvPr id="78" name="Text 8"/>
          <p:cNvSpPr/>
          <p:nvPr/>
        </p:nvSpPr>
        <p:spPr>
          <a:xfrm>
            <a:off x="1397160" y="2975040"/>
            <a:ext cx="2603160" cy="66312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Round 1</a:t>
            </a:r>
            <a:endParaRPr lang="en-US" sz="1900" b="0" u="none" strike="noStrike">
              <a:solidFill>
                <a:srgbClr val="000000"/>
              </a:solidFill>
              <a:effectLst/>
              <a:uFillTx/>
              <a:latin typeface="Arial"/>
            </a:endParaRPr>
          </a:p>
        </p:txBody>
      </p:sp>
      <p:sp>
        <p:nvSpPr>
          <p:cNvPr id="79" name="Text 9"/>
          <p:cNvSpPr/>
          <p:nvPr/>
        </p:nvSpPr>
        <p:spPr>
          <a:xfrm>
            <a:off x="4152960" y="2975040"/>
            <a:ext cx="7378200" cy="66312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|E|=25</a:t>
            </a:r>
            <a:endParaRPr lang="en-US" sz="1650" b="0" u="none" strike="noStrike">
              <a:solidFill>
                <a:srgbClr val="000000"/>
              </a:solidFill>
              <a:effectLst/>
              <a:uFillTx/>
              <a:latin typeface="Arial"/>
            </a:endParaRPr>
          </a:p>
        </p:txBody>
      </p:sp>
      <p:sp>
        <p:nvSpPr>
          <p:cNvPr id="80" name="Shape 10"/>
          <p:cNvSpPr/>
          <p:nvPr/>
        </p:nvSpPr>
        <p:spPr>
          <a:xfrm>
            <a:off x="1396800" y="365112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81" name="Shape 11"/>
          <p:cNvSpPr/>
          <p:nvPr/>
        </p:nvSpPr>
        <p:spPr>
          <a:xfrm>
            <a:off x="851040" y="366408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82" name="Text 12"/>
          <p:cNvSpPr/>
          <p:nvPr/>
        </p:nvSpPr>
        <p:spPr>
          <a:xfrm>
            <a:off x="660240" y="3841920"/>
            <a:ext cx="571320" cy="66312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03</a:t>
            </a:r>
            <a:endParaRPr lang="en-US" sz="2200" b="0" u="none" strike="noStrike">
              <a:solidFill>
                <a:srgbClr val="000000"/>
              </a:solidFill>
              <a:effectLst/>
              <a:uFillTx/>
              <a:latin typeface="Arial"/>
            </a:endParaRPr>
          </a:p>
        </p:txBody>
      </p:sp>
      <p:sp>
        <p:nvSpPr>
          <p:cNvPr id="83" name="Text 13"/>
          <p:cNvSpPr/>
          <p:nvPr/>
        </p:nvSpPr>
        <p:spPr>
          <a:xfrm>
            <a:off x="1397160" y="3841920"/>
            <a:ext cx="2603160" cy="66312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Round 2</a:t>
            </a:r>
            <a:endParaRPr lang="en-US" sz="1900" b="0" u="none" strike="noStrike">
              <a:solidFill>
                <a:srgbClr val="000000"/>
              </a:solidFill>
              <a:effectLst/>
              <a:uFillTx/>
              <a:latin typeface="Arial"/>
            </a:endParaRPr>
          </a:p>
        </p:txBody>
      </p:sp>
      <p:sp>
        <p:nvSpPr>
          <p:cNvPr id="84" name="Text 14"/>
          <p:cNvSpPr/>
          <p:nvPr/>
        </p:nvSpPr>
        <p:spPr>
          <a:xfrm>
            <a:off x="4152960" y="3841920"/>
            <a:ext cx="7378200" cy="66312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|E|=29</a:t>
            </a:r>
            <a:endParaRPr lang="en-US" sz="1650" b="0" u="none" strike="noStrike">
              <a:solidFill>
                <a:srgbClr val="000000"/>
              </a:solidFill>
              <a:effectLst/>
              <a:uFillTx/>
              <a:latin typeface="Arial"/>
            </a:endParaRPr>
          </a:p>
        </p:txBody>
      </p:sp>
      <p:sp>
        <p:nvSpPr>
          <p:cNvPr id="85" name="Shape 15"/>
          <p:cNvSpPr/>
          <p:nvPr/>
        </p:nvSpPr>
        <p:spPr>
          <a:xfrm>
            <a:off x="1396800" y="451800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86" name="Shape 16"/>
          <p:cNvSpPr/>
          <p:nvPr/>
        </p:nvSpPr>
        <p:spPr>
          <a:xfrm>
            <a:off x="851040" y="453060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87" name="Text 17"/>
          <p:cNvSpPr/>
          <p:nvPr/>
        </p:nvSpPr>
        <p:spPr>
          <a:xfrm>
            <a:off x="660240" y="4708440"/>
            <a:ext cx="571320" cy="66312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04</a:t>
            </a:r>
            <a:endParaRPr lang="en-US" sz="2200" b="0" u="none" strike="noStrike">
              <a:solidFill>
                <a:srgbClr val="000000"/>
              </a:solidFill>
              <a:effectLst/>
              <a:uFillTx/>
              <a:latin typeface="Arial"/>
            </a:endParaRPr>
          </a:p>
        </p:txBody>
      </p:sp>
      <p:sp>
        <p:nvSpPr>
          <p:cNvPr id="88" name="Text 18"/>
          <p:cNvSpPr/>
          <p:nvPr/>
        </p:nvSpPr>
        <p:spPr>
          <a:xfrm>
            <a:off x="1397160" y="4708440"/>
            <a:ext cx="2603160" cy="66312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Repeated copies</a:t>
            </a:r>
            <a:endParaRPr lang="en-US" sz="1900" b="0" u="none" strike="noStrike">
              <a:solidFill>
                <a:srgbClr val="000000"/>
              </a:solidFill>
              <a:effectLst/>
              <a:uFillTx/>
              <a:latin typeface="Arial"/>
            </a:endParaRPr>
          </a:p>
        </p:txBody>
      </p:sp>
      <p:sp>
        <p:nvSpPr>
          <p:cNvPr id="89" name="Text 19"/>
          <p:cNvSpPr/>
          <p:nvPr/>
        </p:nvSpPr>
        <p:spPr>
          <a:xfrm>
            <a:off x="4152960" y="4708440"/>
            <a:ext cx="7378200" cy="66312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Edge (17,16)</a:t>
            </a:r>
            <a:r>
              <a:rPr lang="ko-KR" sz="1650" b="0" u="none" strike="noStrike">
                <a:solidFill>
                  <a:srgbClr val="173C37"/>
                </a:solidFill>
                <a:effectLst/>
                <a:uFillTx/>
                <a:latin typeface="AppleGothic"/>
                <a:ea typeface="AppleGothic"/>
              </a:rPr>
              <a:t>이 </a:t>
            </a:r>
            <a:r>
              <a:rPr lang="en-US" sz="1650" b="0" u="none" strike="noStrike">
                <a:solidFill>
                  <a:srgbClr val="173C37"/>
                </a:solidFill>
                <a:effectLst/>
                <a:uFillTx/>
                <a:latin typeface="AppleGothic"/>
                <a:ea typeface="AppleGothic"/>
              </a:rPr>
              <a:t>(17,12)</a:t>
            </a:r>
            <a:r>
              <a:rPr lang="ko-KR" sz="1650" b="0" u="none" strike="noStrike">
                <a:solidFill>
                  <a:srgbClr val="173C37"/>
                </a:solidFill>
                <a:effectLst/>
                <a:uFillTx/>
                <a:latin typeface="AppleGothic"/>
                <a:ea typeface="AppleGothic"/>
              </a:rPr>
              <a:t>와 </a:t>
            </a:r>
            <a:r>
              <a:rPr lang="en-US" sz="1650" b="0" u="none" strike="noStrike">
                <a:solidFill>
                  <a:srgbClr val="173C37"/>
                </a:solidFill>
                <a:effectLst/>
                <a:uFillTx/>
                <a:latin typeface="AppleGothic"/>
                <a:ea typeface="AppleGothic"/>
              </a:rPr>
              <a:t>(17,16)</a:t>
            </a:r>
            <a:r>
              <a:rPr lang="ko-KR" sz="1650" b="0" u="none" strike="noStrike">
                <a:solidFill>
                  <a:srgbClr val="173C37"/>
                </a:solidFill>
                <a:effectLst/>
                <a:uFillTx/>
                <a:latin typeface="AppleGothic"/>
                <a:ea typeface="AppleGothic"/>
              </a:rPr>
              <a:t>으로 재발행</a:t>
            </a:r>
            <a:endParaRPr lang="en-US" sz="1650" b="0" u="none" strike="noStrike">
              <a:solidFill>
                <a:srgbClr val="000000"/>
              </a:solidFill>
              <a:effectLst/>
              <a:uFillTx/>
              <a:latin typeface="Arial"/>
            </a:endParaRPr>
          </a:p>
        </p:txBody>
      </p:sp>
      <p:sp>
        <p:nvSpPr>
          <p:cNvPr id="90" name="Shape 20"/>
          <p:cNvSpPr/>
          <p:nvPr/>
        </p:nvSpPr>
        <p:spPr>
          <a:xfrm>
            <a:off x="1396800" y="538452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91" name="Shape 21"/>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92" name="Text 22"/>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Unified operation </a:t>
            </a:r>
            <a:r>
              <a:rPr lang="ko-KR" sz="1750" b="1" u="none" strike="noStrike">
                <a:solidFill>
                  <a:srgbClr val="173C37"/>
                </a:solidFill>
                <a:effectLst/>
                <a:uFillTx/>
                <a:latin typeface="AppleGothic"/>
                <a:ea typeface="AppleGothic"/>
              </a:rPr>
              <a:t>자체보다 </a:t>
            </a:r>
            <a:r>
              <a:rPr lang="en-US" sz="1750" b="1" u="none" strike="noStrike">
                <a:solidFill>
                  <a:srgbClr val="173C37"/>
                </a:solidFill>
                <a:effectLst/>
                <a:uFillTx/>
                <a:latin typeface="AppleGothic"/>
                <a:ea typeface="AppleGothic"/>
              </a:rPr>
              <a:t>duplicate propagation</a:t>
            </a:r>
            <a:r>
              <a:rPr lang="ko-KR" sz="1750" b="1" u="none" strike="noStrike">
                <a:solidFill>
                  <a:srgbClr val="173C37"/>
                </a:solidFill>
                <a:effectLst/>
                <a:uFillTx/>
                <a:latin typeface="AppleGothic"/>
                <a:ea typeface="AppleGothic"/>
              </a:rPr>
              <a:t>을 막는 </a:t>
            </a:r>
            <a:r>
              <a:rPr lang="en-US" sz="1750" b="1" u="none" strike="noStrike">
                <a:solidFill>
                  <a:srgbClr val="173C37"/>
                </a:solidFill>
                <a:effectLst/>
                <a:uFillTx/>
                <a:latin typeface="AppleGothic"/>
                <a:ea typeface="AppleGothic"/>
              </a:rPr>
              <a:t>semantics</a:t>
            </a:r>
            <a:r>
              <a:rPr lang="ko-KR" sz="1750" b="1" u="none" strike="noStrike">
                <a:solidFill>
                  <a:srgbClr val="173C37"/>
                </a:solidFill>
                <a:effectLst/>
                <a:uFillTx/>
                <a:latin typeface="AppleGothic"/>
                <a:ea typeface="AppleGothic"/>
              </a:rPr>
              <a:t>가 중요하다</a:t>
            </a:r>
            <a:endParaRPr lang="en-US" sz="1750" b="0" u="none" strike="noStrike">
              <a:solidFill>
                <a:srgbClr val="000000"/>
              </a:solidFill>
              <a:effectLst/>
              <a:uFillTx/>
              <a:latin typeface="Arial"/>
            </a:endParaRPr>
          </a:p>
        </p:txBody>
      </p:sp>
      <p:sp>
        <p:nvSpPr>
          <p:cNvPr id="93" name="Shape 23"/>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94" name="Text 24"/>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unicon-paper pp. 6-7, Fig. 2</a:t>
            </a:r>
            <a:endParaRPr lang="en-US" sz="1050" b="0" u="none" strike="noStrike">
              <a:solidFill>
                <a:srgbClr val="000000"/>
              </a:solidFill>
              <a:effectLst/>
              <a:uFillTx/>
              <a:latin typeface="Arial"/>
            </a:endParaRPr>
          </a:p>
        </p:txBody>
      </p:sp>
      <p:sp>
        <p:nvSpPr>
          <p:cNvPr id="95" name="Text 25"/>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06</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6"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UniCon</a:t>
            </a:r>
            <a:r>
              <a:rPr lang="ko-KR" sz="3100" b="1" u="none" strike="noStrike">
                <a:solidFill>
                  <a:srgbClr val="173C37"/>
                </a:solidFill>
                <a:effectLst/>
                <a:uFillTx/>
                <a:latin typeface="AppleGothic"/>
                <a:ea typeface="AppleGothic"/>
              </a:rPr>
              <a:t>의 전체 </a:t>
            </a:r>
            <a:r>
              <a:rPr lang="en-US" sz="3100" b="1" u="none" strike="noStrike">
                <a:solidFill>
                  <a:srgbClr val="173C37"/>
                </a:solidFill>
                <a:effectLst/>
                <a:uFillTx/>
                <a:latin typeface="AppleGothic"/>
                <a:ea typeface="AppleGothic"/>
              </a:rPr>
              <a:t>pipeline</a:t>
            </a:r>
            <a:endParaRPr lang="en-US" sz="3100" b="0" u="none" strike="noStrike">
              <a:solidFill>
                <a:srgbClr val="000000"/>
              </a:solidFill>
              <a:effectLst/>
              <a:uFillTx/>
              <a:latin typeface="Arial"/>
            </a:endParaRPr>
          </a:p>
        </p:txBody>
      </p:sp>
      <p:sp>
        <p:nvSpPr>
          <p:cNvPr id="97"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900" b="0" u="none" strike="noStrike">
                <a:solidFill>
                  <a:srgbClr val="0D685C"/>
                </a:solidFill>
                <a:effectLst/>
                <a:uFillTx/>
                <a:latin typeface="AppleGothic"/>
                <a:ea typeface="AppleGothic"/>
              </a:rPr>
              <a:t>Sketching </a:t>
            </a:r>
            <a:r>
              <a:rPr lang="ko-KR" sz="1900" b="0" u="none" strike="noStrike">
                <a:solidFill>
                  <a:srgbClr val="0D685C"/>
                </a:solidFill>
                <a:effectLst/>
                <a:uFillTx/>
                <a:latin typeface="AppleGothic"/>
                <a:ea typeface="AppleGothic"/>
              </a:rPr>
              <a:t>뒤의 </a:t>
            </a:r>
            <a:r>
              <a:rPr lang="en-US" sz="1900" b="0" u="none" strike="noStrike">
                <a:solidFill>
                  <a:srgbClr val="0D685C"/>
                </a:solidFill>
                <a:effectLst/>
                <a:uFillTx/>
                <a:latin typeface="AppleGothic"/>
                <a:ea typeface="AppleGothic"/>
              </a:rPr>
              <a:t>edge count</a:t>
            </a:r>
            <a:r>
              <a:rPr lang="ko-KR" sz="1900" b="0" u="none" strike="noStrike">
                <a:solidFill>
                  <a:srgbClr val="0D685C"/>
                </a:solidFill>
                <a:effectLst/>
                <a:uFillTx/>
                <a:latin typeface="AppleGothic"/>
                <a:ea typeface="AppleGothic"/>
              </a:rPr>
              <a:t>가 </a:t>
            </a:r>
            <a:r>
              <a:rPr lang="en-US" sz="1900" b="0" u="none" strike="noStrike">
                <a:solidFill>
                  <a:srgbClr val="0D685C"/>
                </a:solidFill>
                <a:effectLst/>
                <a:uFillTx/>
                <a:latin typeface="AppleGothic"/>
                <a:ea typeface="AppleGothic"/>
              </a:rPr>
              <a:t>threshold tau</a:t>
            </a:r>
            <a:r>
              <a:rPr lang="ko-KR" sz="1900" b="0" u="none" strike="noStrike">
                <a:solidFill>
                  <a:srgbClr val="0D685C"/>
                </a:solidFill>
                <a:effectLst/>
                <a:uFillTx/>
                <a:latin typeface="AppleGothic"/>
                <a:ea typeface="AppleGothic"/>
              </a:rPr>
              <a:t>보다 큰지에 따라 </a:t>
            </a:r>
            <a:r>
              <a:rPr lang="en-US" sz="1900" b="0" u="none" strike="noStrike">
                <a:solidFill>
                  <a:srgbClr val="0D685C"/>
                </a:solidFill>
                <a:effectLst/>
                <a:uFillTx/>
                <a:latin typeface="AppleGothic"/>
                <a:ea typeface="AppleGothic"/>
              </a:rPr>
              <a:t>distributed round</a:t>
            </a:r>
            <a:r>
              <a:rPr lang="ko-KR" sz="1900" b="0" u="none" strike="noStrike">
                <a:solidFill>
                  <a:srgbClr val="0D685C"/>
                </a:solidFill>
                <a:effectLst/>
                <a:uFillTx/>
                <a:latin typeface="AppleGothic"/>
                <a:ea typeface="AppleGothic"/>
              </a:rPr>
              <a:t>와 </a:t>
            </a:r>
            <a:r>
              <a:rPr lang="en-US" sz="1900" b="0" u="none" strike="noStrike">
                <a:solidFill>
                  <a:srgbClr val="0D685C"/>
                </a:solidFill>
                <a:effectLst/>
                <a:uFillTx/>
                <a:latin typeface="AppleGothic"/>
                <a:ea typeface="AppleGothic"/>
              </a:rPr>
              <a:t>Rem</a:t>
            </a:r>
            <a:r>
              <a:rPr lang="ko-KR" sz="1900" b="0" u="none" strike="noStrike">
                <a:solidFill>
                  <a:srgbClr val="0D685C"/>
                </a:solidFill>
                <a:effectLst/>
                <a:uFillTx/>
                <a:latin typeface="AppleGothic"/>
                <a:ea typeface="AppleGothic"/>
              </a:rPr>
              <a:t>이 갈린다</a:t>
            </a:r>
            <a:endParaRPr lang="en-US" sz="1900" b="0" u="none" strike="noStrike">
              <a:solidFill>
                <a:srgbClr val="000000"/>
              </a:solidFill>
              <a:effectLst/>
              <a:uFillTx/>
              <a:latin typeface="Arial"/>
            </a:endParaRPr>
          </a:p>
        </p:txBody>
      </p:sp>
      <p:sp>
        <p:nvSpPr>
          <p:cNvPr id="98" name="Shape 2"/>
          <p:cNvSpPr/>
          <p:nvPr/>
        </p:nvSpPr>
        <p:spPr>
          <a:xfrm>
            <a:off x="6095880" y="2705040"/>
            <a:ext cx="360" cy="190440"/>
          </a:xfrm>
          <a:prstGeom prst="line">
            <a:avLst/>
          </a:prstGeom>
          <a:ln w="12700">
            <a:solidFill>
              <a:srgbClr val="0D685C"/>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99" name="Shape 3"/>
          <p:cNvSpPr/>
          <p:nvPr/>
        </p:nvSpPr>
        <p:spPr>
          <a:xfrm>
            <a:off x="3301920" y="2895480"/>
            <a:ext cx="558792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00" name="Shape 4"/>
          <p:cNvSpPr/>
          <p:nvPr/>
        </p:nvSpPr>
        <p:spPr>
          <a:xfrm>
            <a:off x="3301920" y="2895480"/>
            <a:ext cx="360" cy="355680"/>
          </a:xfrm>
          <a:prstGeom prst="line">
            <a:avLst/>
          </a:prstGeom>
          <a:ln w="12700">
            <a:solidFill>
              <a:srgbClr val="0D685C"/>
            </a:solidFill>
            <a:round/>
            <a:tailEnd len="med" type="triangle" w="me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01" name="Shape 5"/>
          <p:cNvSpPr/>
          <p:nvPr/>
        </p:nvSpPr>
        <p:spPr>
          <a:xfrm>
            <a:off x="8889840" y="2895480"/>
            <a:ext cx="360" cy="355680"/>
          </a:xfrm>
          <a:prstGeom prst="line">
            <a:avLst/>
          </a:prstGeom>
          <a:ln w="12700">
            <a:solidFill>
              <a:srgbClr val="0D685C"/>
            </a:solidFill>
            <a:round/>
            <a:tailEnd len="med" type="triangle" w="me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02" name="Shape 6"/>
          <p:cNvSpPr/>
          <p:nvPr/>
        </p:nvSpPr>
        <p:spPr>
          <a:xfrm>
            <a:off x="3301920" y="3962160"/>
            <a:ext cx="360" cy="254160"/>
          </a:xfrm>
          <a:prstGeom prst="line">
            <a:avLst/>
          </a:prstGeom>
          <a:ln w="12700">
            <a:solidFill>
              <a:srgbClr val="0D685C"/>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03" name="Shape 7"/>
          <p:cNvSpPr/>
          <p:nvPr/>
        </p:nvSpPr>
        <p:spPr>
          <a:xfrm>
            <a:off x="3301920" y="4216320"/>
            <a:ext cx="215892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04" name="Shape 8"/>
          <p:cNvSpPr/>
          <p:nvPr/>
        </p:nvSpPr>
        <p:spPr>
          <a:xfrm>
            <a:off x="8889840" y="3962160"/>
            <a:ext cx="360" cy="254160"/>
          </a:xfrm>
          <a:prstGeom prst="line">
            <a:avLst/>
          </a:prstGeom>
          <a:ln w="12700">
            <a:solidFill>
              <a:srgbClr val="0D685C"/>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05" name="Shape 9"/>
          <p:cNvSpPr/>
          <p:nvPr/>
        </p:nvSpPr>
        <p:spPr>
          <a:xfrm>
            <a:off x="6730920" y="4216320"/>
            <a:ext cx="215892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06" name="Shape 10"/>
          <p:cNvSpPr/>
          <p:nvPr/>
        </p:nvSpPr>
        <p:spPr>
          <a:xfrm>
            <a:off x="5460840" y="4216320"/>
            <a:ext cx="360" cy="253800"/>
          </a:xfrm>
          <a:prstGeom prst="line">
            <a:avLst/>
          </a:prstGeom>
          <a:ln w="12700">
            <a:solidFill>
              <a:srgbClr val="0D685C"/>
            </a:solidFill>
            <a:round/>
            <a:tailEnd len="med" type="triangle" w="me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07" name="Shape 11"/>
          <p:cNvSpPr/>
          <p:nvPr/>
        </p:nvSpPr>
        <p:spPr>
          <a:xfrm>
            <a:off x="6730920" y="4216320"/>
            <a:ext cx="360" cy="253800"/>
          </a:xfrm>
          <a:prstGeom prst="line">
            <a:avLst/>
          </a:prstGeom>
          <a:ln w="12700">
            <a:solidFill>
              <a:srgbClr val="0D685C"/>
            </a:solidFill>
            <a:round/>
            <a:tailEnd len="med" type="triangle" w="me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08" name="Shape 12"/>
          <p:cNvSpPr/>
          <p:nvPr/>
        </p:nvSpPr>
        <p:spPr>
          <a:xfrm>
            <a:off x="6095880" y="5181480"/>
            <a:ext cx="360" cy="330120"/>
          </a:xfrm>
          <a:prstGeom prst="line">
            <a:avLst/>
          </a:prstGeom>
          <a:ln w="12700">
            <a:solidFill>
              <a:srgbClr val="0D685C"/>
            </a:solidFill>
            <a:round/>
            <a:tailEnd len="med" type="triangle" w="me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09" name="Text 13"/>
          <p:cNvSpPr/>
          <p:nvPr/>
        </p:nvSpPr>
        <p:spPr>
          <a:xfrm>
            <a:off x="4191120" y="2108160"/>
            <a:ext cx="3809520" cy="26640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750" b="1" u="none" strike="noStrike">
                <a:solidFill>
                  <a:srgbClr val="0D685C"/>
                </a:solidFill>
                <a:effectLst/>
                <a:uFillTx/>
                <a:latin typeface="AppleGothic"/>
                <a:ea typeface="AppleGothic"/>
              </a:rPr>
              <a:t>Sketching</a:t>
            </a:r>
            <a:endParaRPr lang="en-US" sz="1750" b="0" u="none" strike="noStrike">
              <a:solidFill>
                <a:srgbClr val="000000"/>
              </a:solidFill>
              <a:effectLst/>
              <a:uFillTx/>
              <a:latin typeface="Arial"/>
            </a:endParaRPr>
          </a:p>
        </p:txBody>
      </p:sp>
      <p:sp>
        <p:nvSpPr>
          <p:cNvPr id="110" name="Text 14"/>
          <p:cNvSpPr/>
          <p:nvPr/>
        </p:nvSpPr>
        <p:spPr>
          <a:xfrm>
            <a:off x="4191120" y="2387520"/>
            <a:ext cx="3809520" cy="31716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500" b="0" u="none" strike="noStrike">
                <a:solidFill>
                  <a:srgbClr val="173C37"/>
                </a:solidFill>
                <a:effectLst/>
                <a:uFillTx/>
                <a:latin typeface="AppleGothic"/>
                <a:ea typeface="AppleGothic"/>
              </a:rPr>
              <a:t>Edge chunks</a:t>
            </a:r>
            <a:r>
              <a:rPr lang="ko-KR" sz="1500" b="0" u="none" strike="noStrike">
                <a:solidFill>
                  <a:srgbClr val="173C37"/>
                </a:solidFill>
                <a:effectLst/>
                <a:uFillTx/>
                <a:latin typeface="AppleGothic"/>
                <a:ea typeface="AppleGothic"/>
              </a:rPr>
              <a:t>의 </a:t>
            </a:r>
            <a:r>
              <a:rPr lang="en-US" sz="1500" b="0" u="none" strike="noStrike">
                <a:solidFill>
                  <a:srgbClr val="173C37"/>
                </a:solidFill>
                <a:effectLst/>
                <a:uFillTx/>
                <a:latin typeface="AppleGothic"/>
                <a:ea typeface="AppleGothic"/>
              </a:rPr>
              <a:t>local CC</a:t>
            </a:r>
            <a:r>
              <a:rPr lang="ko-KR" sz="1500" b="0" u="none" strike="noStrike">
                <a:solidFill>
                  <a:srgbClr val="173C37"/>
                </a:solidFill>
                <a:effectLst/>
                <a:uFillTx/>
                <a:latin typeface="AppleGothic"/>
                <a:ea typeface="AppleGothic"/>
              </a:rPr>
              <a:t>로 </a:t>
            </a:r>
            <a:r>
              <a:rPr lang="en-US" sz="1500" b="0" u="none" strike="noStrike">
                <a:solidFill>
                  <a:srgbClr val="173C37"/>
                </a:solidFill>
                <a:effectLst/>
                <a:uFillTx/>
                <a:latin typeface="AppleGothic"/>
                <a:ea typeface="AppleGothic"/>
              </a:rPr>
              <a:t>compact E </a:t>
            </a:r>
            <a:r>
              <a:rPr lang="ko-KR" sz="1500" b="0" u="none" strike="noStrike">
                <a:solidFill>
                  <a:srgbClr val="173C37"/>
                </a:solidFill>
                <a:effectLst/>
                <a:uFillTx/>
                <a:latin typeface="AppleGothic"/>
                <a:ea typeface="AppleGothic"/>
              </a:rPr>
              <a:t>생성</a:t>
            </a:r>
            <a:endParaRPr lang="en-US" sz="1500" b="0" u="none" strike="noStrike">
              <a:solidFill>
                <a:srgbClr val="000000"/>
              </a:solidFill>
              <a:effectLst/>
              <a:uFillTx/>
              <a:latin typeface="Arial"/>
            </a:endParaRPr>
          </a:p>
        </p:txBody>
      </p:sp>
      <p:sp>
        <p:nvSpPr>
          <p:cNvPr id="111" name="Text 15"/>
          <p:cNvSpPr/>
          <p:nvPr/>
        </p:nvSpPr>
        <p:spPr>
          <a:xfrm>
            <a:off x="1270080" y="3352680"/>
            <a:ext cx="4063680" cy="26640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750" b="1" u="none" strike="noStrike">
                <a:solidFill>
                  <a:srgbClr val="0D685C"/>
                </a:solidFill>
                <a:effectLst/>
                <a:uFillTx/>
                <a:latin typeface="AppleGothic"/>
                <a:ea typeface="AppleGothic"/>
              </a:rPr>
              <a:t>|E| &gt; tau</a:t>
            </a:r>
            <a:endParaRPr lang="en-US" sz="1750" b="0" u="none" strike="noStrike">
              <a:solidFill>
                <a:srgbClr val="000000"/>
              </a:solidFill>
              <a:effectLst/>
              <a:uFillTx/>
              <a:latin typeface="Arial"/>
            </a:endParaRPr>
          </a:p>
        </p:txBody>
      </p:sp>
      <p:sp>
        <p:nvSpPr>
          <p:cNvPr id="112" name="Text 16"/>
          <p:cNvSpPr/>
          <p:nvPr/>
        </p:nvSpPr>
        <p:spPr>
          <a:xfrm>
            <a:off x="1270080" y="3632040"/>
            <a:ext cx="4063680" cy="31716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500" b="0" u="none" strike="noStrike">
                <a:solidFill>
                  <a:srgbClr val="173C37"/>
                </a:solidFill>
                <a:effectLst/>
                <a:uFillTx/>
                <a:latin typeface="AppleGothic"/>
                <a:ea typeface="AppleGothic"/>
              </a:rPr>
              <a:t>UniStar-opt, sep</a:t>
            </a:r>
            <a:r>
              <a:rPr lang="ko-KR" sz="1500" b="0" u="none" strike="noStrike">
                <a:solidFill>
                  <a:srgbClr val="173C37"/>
                </a:solidFill>
                <a:effectLst/>
                <a:uFillTx/>
                <a:latin typeface="AppleGothic"/>
                <a:ea typeface="AppleGothic"/>
              </a:rPr>
              <a:t>는 </a:t>
            </a:r>
            <a:r>
              <a:rPr lang="en-US" sz="1500" b="0" u="none" strike="noStrike">
                <a:solidFill>
                  <a:srgbClr val="173C37"/>
                </a:solidFill>
                <a:effectLst/>
                <a:uFillTx/>
                <a:latin typeface="AppleGothic"/>
                <a:ea typeface="AppleGothic"/>
              </a:rPr>
              <a:t>F</a:t>
            </a:r>
            <a:r>
              <a:rPr lang="ko-KR" sz="1500" b="0" u="none" strike="noStrike">
                <a:solidFill>
                  <a:srgbClr val="173C37"/>
                </a:solidFill>
                <a:effectLst/>
                <a:uFillTx/>
                <a:latin typeface="AppleGothic"/>
                <a:ea typeface="AppleGothic"/>
              </a:rPr>
              <a:t>에 누적</a:t>
            </a:r>
            <a:endParaRPr lang="en-US" sz="1500" b="0" u="none" strike="noStrike">
              <a:solidFill>
                <a:srgbClr val="000000"/>
              </a:solidFill>
              <a:effectLst/>
              <a:uFillTx/>
              <a:latin typeface="Arial"/>
            </a:endParaRPr>
          </a:p>
        </p:txBody>
      </p:sp>
      <p:sp>
        <p:nvSpPr>
          <p:cNvPr id="113" name="Text 17"/>
          <p:cNvSpPr/>
          <p:nvPr/>
        </p:nvSpPr>
        <p:spPr>
          <a:xfrm>
            <a:off x="6858000" y="3352680"/>
            <a:ext cx="4063680" cy="26640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750" b="1" u="none" strike="noStrike">
                <a:solidFill>
                  <a:srgbClr val="0D685C"/>
                </a:solidFill>
                <a:effectLst/>
                <a:uFillTx/>
                <a:latin typeface="AppleGothic"/>
                <a:ea typeface="AppleGothic"/>
              </a:rPr>
              <a:t>|E| ≤ tau</a:t>
            </a:r>
            <a:endParaRPr lang="en-US" sz="1750" b="0" u="none" strike="noStrike">
              <a:solidFill>
                <a:srgbClr val="000000"/>
              </a:solidFill>
              <a:effectLst/>
              <a:uFillTx/>
              <a:latin typeface="Arial"/>
            </a:endParaRPr>
          </a:p>
        </p:txBody>
      </p:sp>
      <p:sp>
        <p:nvSpPr>
          <p:cNvPr id="114" name="Text 18"/>
          <p:cNvSpPr/>
          <p:nvPr/>
        </p:nvSpPr>
        <p:spPr>
          <a:xfrm>
            <a:off x="6858000" y="3632040"/>
            <a:ext cx="4063680" cy="31716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500" b="0" u="none" strike="noStrike">
                <a:solidFill>
                  <a:srgbClr val="173C37"/>
                </a:solidFill>
                <a:effectLst/>
                <a:uFillTx/>
                <a:latin typeface="AppleGothic"/>
                <a:ea typeface="AppleGothic"/>
              </a:rPr>
              <a:t>Single-machine Rem</a:t>
            </a:r>
            <a:r>
              <a:rPr lang="ko-KR" sz="1500" b="0" u="none" strike="noStrike">
                <a:solidFill>
                  <a:srgbClr val="173C37"/>
                </a:solidFill>
                <a:effectLst/>
                <a:uFillTx/>
                <a:latin typeface="AppleGothic"/>
                <a:ea typeface="AppleGothic"/>
              </a:rPr>
              <a:t>으로 </a:t>
            </a:r>
            <a:r>
              <a:rPr lang="en-US" sz="1500" b="0" u="none" strike="noStrike">
                <a:solidFill>
                  <a:srgbClr val="173C37"/>
                </a:solidFill>
                <a:effectLst/>
                <a:uFillTx/>
                <a:latin typeface="AppleGothic"/>
                <a:ea typeface="AppleGothic"/>
              </a:rPr>
              <a:t>E </a:t>
            </a:r>
            <a:r>
              <a:rPr lang="ko-KR" sz="1500" b="0" u="none" strike="noStrike">
                <a:solidFill>
                  <a:srgbClr val="173C37"/>
                </a:solidFill>
                <a:effectLst/>
                <a:uFillTx/>
                <a:latin typeface="AppleGothic"/>
                <a:ea typeface="AppleGothic"/>
              </a:rPr>
              <a:t>축소</a:t>
            </a:r>
            <a:endParaRPr lang="en-US" sz="1500" b="0" u="none" strike="noStrike">
              <a:solidFill>
                <a:srgbClr val="000000"/>
              </a:solidFill>
              <a:effectLst/>
              <a:uFillTx/>
              <a:latin typeface="Arial"/>
            </a:endParaRPr>
          </a:p>
        </p:txBody>
      </p:sp>
      <p:sp>
        <p:nvSpPr>
          <p:cNvPr id="115" name="Text 19"/>
          <p:cNvSpPr/>
          <p:nvPr/>
        </p:nvSpPr>
        <p:spPr>
          <a:xfrm>
            <a:off x="4191120" y="4572000"/>
            <a:ext cx="3809520" cy="26640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750" b="1" u="none" strike="noStrike">
                <a:solidFill>
                  <a:srgbClr val="0D685C"/>
                </a:solidFill>
                <a:effectLst/>
                <a:uFillTx/>
                <a:latin typeface="AppleGothic"/>
                <a:ea typeface="AppleGothic"/>
              </a:rPr>
              <a:t>Convergence</a:t>
            </a:r>
            <a:endParaRPr lang="en-US" sz="1750" b="0" u="none" strike="noStrike">
              <a:solidFill>
                <a:srgbClr val="000000"/>
              </a:solidFill>
              <a:effectLst/>
              <a:uFillTx/>
              <a:latin typeface="Arial"/>
            </a:endParaRPr>
          </a:p>
        </p:txBody>
      </p:sp>
      <p:sp>
        <p:nvSpPr>
          <p:cNvPr id="116" name="Text 20"/>
          <p:cNvSpPr/>
          <p:nvPr/>
        </p:nvSpPr>
        <p:spPr>
          <a:xfrm>
            <a:off x="4191120" y="4851360"/>
            <a:ext cx="3809520" cy="31716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500" b="0" u="none" strike="noStrike">
                <a:solidFill>
                  <a:srgbClr val="173C37"/>
                </a:solidFill>
                <a:effectLst/>
                <a:uFillTx/>
                <a:latin typeface="AppleGothic"/>
                <a:ea typeface="AppleGothic"/>
              </a:rPr>
              <a:t>Remaining E</a:t>
            </a:r>
            <a:r>
              <a:rPr lang="ko-KR" sz="1500" b="0" u="none" strike="noStrike">
                <a:solidFill>
                  <a:srgbClr val="173C37"/>
                </a:solidFill>
                <a:effectLst/>
                <a:uFillTx/>
                <a:latin typeface="AppleGothic"/>
                <a:ea typeface="AppleGothic"/>
              </a:rPr>
              <a:t>와 </a:t>
            </a:r>
            <a:r>
              <a:rPr lang="en-US" sz="1500" b="0" u="none" strike="noStrike">
                <a:solidFill>
                  <a:srgbClr val="173C37"/>
                </a:solidFill>
                <a:effectLst/>
                <a:uFillTx/>
                <a:latin typeface="AppleGothic"/>
                <a:ea typeface="AppleGothic"/>
              </a:rPr>
              <a:t>F</a:t>
            </a:r>
            <a:r>
              <a:rPr lang="ko-KR" sz="1500" b="0" u="none" strike="noStrike">
                <a:solidFill>
                  <a:srgbClr val="173C37"/>
                </a:solidFill>
                <a:effectLst/>
                <a:uFillTx/>
                <a:latin typeface="AppleGothic"/>
                <a:ea typeface="AppleGothic"/>
              </a:rPr>
              <a:t>를 보존</a:t>
            </a:r>
            <a:endParaRPr lang="en-US" sz="1500" b="0" u="none" strike="noStrike">
              <a:solidFill>
                <a:srgbClr val="000000"/>
              </a:solidFill>
              <a:effectLst/>
              <a:uFillTx/>
              <a:latin typeface="Arial"/>
            </a:endParaRPr>
          </a:p>
        </p:txBody>
      </p:sp>
      <p:sp>
        <p:nvSpPr>
          <p:cNvPr id="117" name="Text 21"/>
          <p:cNvSpPr/>
          <p:nvPr/>
        </p:nvSpPr>
        <p:spPr>
          <a:xfrm>
            <a:off x="4191120" y="5613480"/>
            <a:ext cx="3809520" cy="26640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750" b="1" u="none" strike="noStrike">
                <a:solidFill>
                  <a:srgbClr val="0D685C"/>
                </a:solidFill>
                <a:effectLst/>
                <a:uFillTx/>
                <a:latin typeface="AppleGothic"/>
                <a:ea typeface="AppleGothic"/>
              </a:rPr>
              <a:t>Finishing</a:t>
            </a:r>
            <a:endParaRPr lang="en-US" sz="1750" b="0" u="none" strike="noStrike">
              <a:solidFill>
                <a:srgbClr val="000000"/>
              </a:solidFill>
              <a:effectLst/>
              <a:uFillTx/>
              <a:latin typeface="Arial"/>
            </a:endParaRPr>
          </a:p>
        </p:txBody>
      </p:sp>
      <p:sp>
        <p:nvSpPr>
          <p:cNvPr id="118" name="Text 22"/>
          <p:cNvSpPr/>
          <p:nvPr/>
        </p:nvSpPr>
        <p:spPr>
          <a:xfrm>
            <a:off x="4191120" y="5892840"/>
            <a:ext cx="3809520" cy="266400"/>
          </a:xfrm>
          <a:prstGeom prst="rect">
            <a:avLst/>
          </a:prstGeom>
          <a:noFill/>
          <a:ln w="0">
            <a:noFill/>
          </a:ln>
        </p:spPr>
        <p:style>
          <a:lnRef idx="0"/>
          <a:fillRef idx="0"/>
          <a:effectRef idx="0"/>
          <a:fontRef idx="minor"/>
        </p:style>
        <p:txBody>
          <a:bodyPr lIns="0" tIns="0" rIns="0" bIns="0" anchor="ctr">
            <a:noAutofit/>
          </a:bodyPr>
          <a:p>
            <a:pPr algn="ctr" defTabSz="914400">
              <a:lnSpc>
                <a:spcPct val="125000"/>
              </a:lnSpc>
              <a:tabLst>
                <a:tab pos="0" algn="l"/>
              </a:tabLst>
            </a:pPr>
            <a:r>
              <a:rPr lang="en-US" sz="1500" b="0" u="none" strike="noStrike">
                <a:solidFill>
                  <a:srgbClr val="173C37"/>
                </a:solidFill>
                <a:effectLst/>
                <a:uFillTx/>
                <a:latin typeface="AppleGothic"/>
                <a:ea typeface="AppleGothic"/>
              </a:rPr>
              <a:t>Minimum representative mapping</a:t>
            </a:r>
            <a:endParaRPr lang="en-US" sz="1500" b="0" u="none" strike="noStrike">
              <a:solidFill>
                <a:srgbClr val="000000"/>
              </a:solidFill>
              <a:effectLst/>
              <a:uFillTx/>
              <a:latin typeface="Arial"/>
            </a:endParaRPr>
          </a:p>
        </p:txBody>
      </p:sp>
      <p:sp>
        <p:nvSpPr>
          <p:cNvPr id="119" name="Shape 23"/>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20" name="Text 24"/>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unicon-paper pp. 5-6, Algorithm 1 and Fig. 1</a:t>
            </a:r>
            <a:endParaRPr lang="en-US" sz="1050" b="0" u="none" strike="noStrike">
              <a:solidFill>
                <a:srgbClr val="000000"/>
              </a:solidFill>
              <a:effectLst/>
              <a:uFillTx/>
              <a:latin typeface="Arial"/>
            </a:endParaRPr>
          </a:p>
        </p:txBody>
      </p:sp>
      <p:sp>
        <p:nvSpPr>
          <p:cNvPr id="121" name="Text 25"/>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07</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2"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Partition</a:t>
            </a:r>
            <a:r>
              <a:rPr lang="ko-KR" sz="3100" b="1" u="none" strike="noStrike">
                <a:solidFill>
                  <a:srgbClr val="173C37"/>
                </a:solidFill>
                <a:effectLst/>
                <a:uFillTx/>
                <a:latin typeface="AppleGothic"/>
                <a:ea typeface="AppleGothic"/>
              </a:rPr>
              <a:t>은 </a:t>
            </a:r>
            <a:r>
              <a:rPr lang="en-US" sz="3100" b="1" u="none" strike="noStrike">
                <a:solidFill>
                  <a:srgbClr val="173C37"/>
                </a:solidFill>
                <a:effectLst/>
                <a:uFillTx/>
                <a:latin typeface="AppleGothic"/>
                <a:ea typeface="AppleGothic"/>
              </a:rPr>
              <a:t>disjoint output group</a:t>
            </a:r>
            <a:r>
              <a:rPr lang="ko-KR" sz="3100" b="1" u="none" strike="noStrike">
                <a:solidFill>
                  <a:srgbClr val="173C37"/>
                </a:solidFill>
                <a:effectLst/>
                <a:uFillTx/>
                <a:latin typeface="AppleGothic"/>
                <a:ea typeface="AppleGothic"/>
              </a:rPr>
              <a:t>이 아니다</a:t>
            </a:r>
            <a:endParaRPr lang="en-US" sz="3100" b="0" u="none" strike="noStrike">
              <a:solidFill>
                <a:srgbClr val="000000"/>
              </a:solidFill>
              <a:effectLst/>
              <a:uFillTx/>
              <a:latin typeface="Arial"/>
            </a:endParaRPr>
          </a:p>
        </p:txBody>
      </p:sp>
      <p:sp>
        <p:nvSpPr>
          <p:cNvPr id="123"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900" b="0" u="none" strike="noStrike">
                <a:solidFill>
                  <a:srgbClr val="0D685C"/>
                </a:solidFill>
                <a:effectLst/>
                <a:uFillTx/>
                <a:latin typeface="AppleGothic"/>
                <a:ea typeface="AppleGothic"/>
              </a:rPr>
              <a:t>G_i</a:t>
            </a:r>
            <a:r>
              <a:rPr lang="ko-KR" sz="1900" b="0" u="none" strike="noStrike">
                <a:solidFill>
                  <a:srgbClr val="0D685C"/>
                </a:solidFill>
                <a:effectLst/>
                <a:uFillTx/>
                <a:latin typeface="AppleGothic"/>
                <a:ea typeface="AppleGothic"/>
              </a:rPr>
              <a:t>는 </a:t>
            </a:r>
            <a:r>
              <a:rPr lang="en-US" sz="1900" b="0" u="none" strike="noStrike">
                <a:solidFill>
                  <a:srgbClr val="0D685C"/>
                </a:solidFill>
                <a:effectLst/>
                <a:uFillTx/>
                <a:latin typeface="AppleGothic"/>
                <a:ea typeface="AppleGothic"/>
              </a:rPr>
              <a:t>partition i</a:t>
            </a:r>
            <a:r>
              <a:rPr lang="ko-KR" sz="1900" b="0" u="none" strike="noStrike">
                <a:solidFill>
                  <a:srgbClr val="0D685C"/>
                </a:solidFill>
                <a:effectLst/>
                <a:uFillTx/>
                <a:latin typeface="AppleGothic"/>
                <a:ea typeface="AppleGothic"/>
              </a:rPr>
              <a:t>의 </a:t>
            </a:r>
            <a:r>
              <a:rPr lang="en-US" sz="1900" b="0" u="none" strike="noStrike">
                <a:solidFill>
                  <a:srgbClr val="0D685C"/>
                </a:solidFill>
                <a:effectLst/>
                <a:uFillTx/>
                <a:latin typeface="AppleGothic"/>
                <a:ea typeface="AppleGothic"/>
              </a:rPr>
              <a:t>vertices</a:t>
            </a:r>
            <a:r>
              <a:rPr lang="ko-KR" sz="1900" b="0" u="none" strike="noStrike">
                <a:solidFill>
                  <a:srgbClr val="0D685C"/>
                </a:solidFill>
                <a:effectLst/>
                <a:uFillTx/>
                <a:latin typeface="AppleGothic"/>
                <a:ea typeface="AppleGothic"/>
              </a:rPr>
              <a:t>에 </a:t>
            </a:r>
            <a:r>
              <a:rPr lang="en-US" sz="1900" b="0" u="none" strike="noStrike">
                <a:solidFill>
                  <a:srgbClr val="0D685C"/>
                </a:solidFill>
                <a:effectLst/>
                <a:uFillTx/>
                <a:latin typeface="AppleGothic"/>
                <a:ea typeface="AppleGothic"/>
              </a:rPr>
              <a:t>incident</a:t>
            </a:r>
            <a:r>
              <a:rPr lang="ko-KR" sz="1900" b="0" u="none" strike="noStrike">
                <a:solidFill>
                  <a:srgbClr val="0D685C"/>
                </a:solidFill>
                <a:effectLst/>
                <a:uFillTx/>
                <a:latin typeface="AppleGothic"/>
                <a:ea typeface="AppleGothic"/>
              </a:rPr>
              <a:t>한 </a:t>
            </a:r>
            <a:r>
              <a:rPr lang="en-US" sz="1900" b="0" u="none" strike="noStrike">
                <a:solidFill>
                  <a:srgbClr val="0D685C"/>
                </a:solidFill>
                <a:effectLst/>
                <a:uFillTx/>
                <a:latin typeface="AppleGothic"/>
                <a:ea typeface="AppleGothic"/>
              </a:rPr>
              <a:t>edges</a:t>
            </a:r>
            <a:r>
              <a:rPr lang="ko-KR" sz="1900" b="0" u="none" strike="noStrike">
                <a:solidFill>
                  <a:srgbClr val="0D685C"/>
                </a:solidFill>
                <a:effectLst/>
                <a:uFillTx/>
                <a:latin typeface="AppleGothic"/>
                <a:ea typeface="AppleGothic"/>
              </a:rPr>
              <a:t>로 만든 </a:t>
            </a:r>
            <a:r>
              <a:rPr lang="en-US" sz="1900" b="0" u="none" strike="noStrike">
                <a:solidFill>
                  <a:srgbClr val="0D685C"/>
                </a:solidFill>
                <a:effectLst/>
                <a:uFillTx/>
                <a:latin typeface="AppleGothic"/>
                <a:ea typeface="AppleGothic"/>
              </a:rPr>
              <a:t>local view</a:t>
            </a:r>
            <a:r>
              <a:rPr lang="ko-KR" sz="1900" b="0" u="none" strike="noStrike">
                <a:solidFill>
                  <a:srgbClr val="0D685C"/>
                </a:solidFill>
                <a:effectLst/>
                <a:uFillTx/>
                <a:latin typeface="AppleGothic"/>
                <a:ea typeface="AppleGothic"/>
              </a:rPr>
              <a:t>다</a:t>
            </a:r>
            <a:endParaRPr lang="en-US" sz="1900" b="0" u="none" strike="noStrike">
              <a:solidFill>
                <a:srgbClr val="000000"/>
              </a:solidFill>
              <a:effectLst/>
              <a:uFillTx/>
              <a:latin typeface="Arial"/>
            </a:endParaRPr>
          </a:p>
        </p:txBody>
      </p:sp>
      <p:sp>
        <p:nvSpPr>
          <p:cNvPr id="124" name="Text 2"/>
          <p:cNvSpPr/>
          <p:nvPr/>
        </p:nvSpPr>
        <p:spPr>
          <a:xfrm>
            <a:off x="838080" y="2171880"/>
            <a:ext cx="10693080" cy="685440"/>
          </a:xfrm>
          <a:prstGeom prst="rect">
            <a:avLst/>
          </a:prstGeom>
          <a:noFill/>
          <a:ln w="0">
            <a:noFill/>
          </a:ln>
        </p:spPr>
        <p:style>
          <a:lnRef idx="0"/>
          <a:fillRef idx="0"/>
          <a:effectRef idx="0"/>
          <a:fontRef idx="minor"/>
        </p:style>
        <p:txBody>
          <a:bodyPr lIns="0" tIns="0" rIns="0" bIns="0" anchor="ctr">
            <a:noAutofit/>
          </a:bodyPr>
          <a:p>
            <a:pPr marL="254160" indent="-254160" defTabSz="914400">
              <a:lnSpc>
                <a:spcPct val="125000"/>
              </a:lnSpc>
              <a:buClr>
                <a:srgbClr val="173C37"/>
              </a:buClr>
              <a:buFont typeface="Symbol" charset="2"/>
              <a:buChar char=""/>
            </a:pPr>
            <a:r>
              <a:rPr lang="en-US" sz="2000" b="0" u="none" strike="noStrike">
                <a:solidFill>
                  <a:srgbClr val="173C37"/>
                </a:solidFill>
                <a:effectLst/>
                <a:uFillTx/>
                <a:latin typeface="AppleGothic"/>
                <a:ea typeface="AppleGothic"/>
              </a:rPr>
              <a:t>xi: V to [rho]</a:t>
            </a:r>
            <a:r>
              <a:rPr lang="ko-KR" sz="2000" b="0" u="none" strike="noStrike">
                <a:solidFill>
                  <a:srgbClr val="173C37"/>
                </a:solidFill>
                <a:effectLst/>
                <a:uFillTx/>
                <a:latin typeface="AppleGothic"/>
                <a:ea typeface="AppleGothic"/>
              </a:rPr>
              <a:t>는 </a:t>
            </a:r>
            <a:r>
              <a:rPr lang="en-US" sz="2000" b="0" u="none" strike="noStrike">
                <a:solidFill>
                  <a:srgbClr val="173C37"/>
                </a:solidFill>
                <a:effectLst/>
                <a:uFillTx/>
                <a:latin typeface="AppleGothic"/>
                <a:ea typeface="AppleGothic"/>
              </a:rPr>
              <a:t>random hash</a:t>
            </a:r>
            <a:r>
              <a:rPr lang="ko-KR" sz="2000" b="0" u="none" strike="noStrike">
                <a:solidFill>
                  <a:srgbClr val="173C37"/>
                </a:solidFill>
                <a:effectLst/>
                <a:uFillTx/>
                <a:latin typeface="AppleGothic"/>
                <a:ea typeface="AppleGothic"/>
              </a:rPr>
              <a:t>이며 </a:t>
            </a:r>
            <a:r>
              <a:rPr lang="en-US" sz="2000" b="0" u="none" strike="noStrike">
                <a:solidFill>
                  <a:srgbClr val="173C37"/>
                </a:solidFill>
                <a:effectLst/>
                <a:uFillTx/>
                <a:latin typeface="AppleGothic"/>
                <a:ea typeface="AppleGothic"/>
              </a:rPr>
              <a:t>vertex</a:t>
            </a:r>
            <a:r>
              <a:rPr lang="ko-KR" sz="2000" b="0" u="none" strike="noStrike">
                <a:solidFill>
                  <a:srgbClr val="173C37"/>
                </a:solidFill>
                <a:effectLst/>
                <a:uFillTx/>
                <a:latin typeface="AppleGothic"/>
                <a:ea typeface="AppleGothic"/>
              </a:rPr>
              <a:t>마다 </a:t>
            </a:r>
            <a:r>
              <a:rPr lang="en-US" sz="2000" b="0" u="none" strike="noStrike">
                <a:solidFill>
                  <a:srgbClr val="173C37"/>
                </a:solidFill>
                <a:effectLst/>
                <a:uFillTx/>
                <a:latin typeface="AppleGothic"/>
                <a:ea typeface="AppleGothic"/>
              </a:rPr>
              <a:t>work partition</a:t>
            </a:r>
            <a:r>
              <a:rPr lang="ko-KR" sz="2000" b="0" u="none" strike="noStrike">
                <a:solidFill>
                  <a:srgbClr val="173C37"/>
                </a:solidFill>
                <a:effectLst/>
                <a:uFillTx/>
                <a:latin typeface="AppleGothic"/>
                <a:ea typeface="AppleGothic"/>
              </a:rPr>
              <a:t>을 지정한다</a:t>
            </a:r>
            <a:r>
              <a:rPr lang="en-US" sz="2000" b="0" u="none" strike="noStrike">
                <a:solidFill>
                  <a:srgbClr val="173C37"/>
                </a:solidFill>
                <a:effectLst/>
                <a:uFillTx/>
                <a:latin typeface="AppleGothic"/>
                <a:ea typeface="AppleGothic"/>
              </a:rPr>
              <a:t>.</a:t>
            </a:r>
            <a:endParaRPr lang="en-US" sz="2000" b="0" u="none" strike="noStrike">
              <a:solidFill>
                <a:srgbClr val="000000"/>
              </a:solidFill>
              <a:effectLst/>
              <a:uFillTx/>
              <a:latin typeface="Arial"/>
            </a:endParaRPr>
          </a:p>
        </p:txBody>
      </p:sp>
      <p:sp>
        <p:nvSpPr>
          <p:cNvPr id="125" name="Shape 3"/>
          <p:cNvSpPr/>
          <p:nvPr/>
        </p:nvSpPr>
        <p:spPr>
          <a:xfrm>
            <a:off x="838080" y="2908080"/>
            <a:ext cx="1069344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26" name="Text 4"/>
          <p:cNvSpPr/>
          <p:nvPr/>
        </p:nvSpPr>
        <p:spPr>
          <a:xfrm>
            <a:off x="838080" y="2946240"/>
            <a:ext cx="10693080" cy="685440"/>
          </a:xfrm>
          <a:prstGeom prst="rect">
            <a:avLst/>
          </a:prstGeom>
          <a:noFill/>
          <a:ln w="0">
            <a:noFill/>
          </a:ln>
        </p:spPr>
        <p:style>
          <a:lnRef idx="0"/>
          <a:fillRef idx="0"/>
          <a:effectRef idx="0"/>
          <a:fontRef idx="minor"/>
        </p:style>
        <p:txBody>
          <a:bodyPr lIns="0" tIns="0" rIns="0" bIns="0" anchor="ctr">
            <a:noAutofit/>
          </a:bodyPr>
          <a:p>
            <a:pPr marL="254160" indent="-254160" defTabSz="914400">
              <a:lnSpc>
                <a:spcPct val="125000"/>
              </a:lnSpc>
              <a:buClr>
                <a:srgbClr val="173C37"/>
              </a:buClr>
              <a:buFont typeface="Symbol" charset="2"/>
              <a:buChar char=""/>
            </a:pPr>
            <a:r>
              <a:rPr lang="en-US" sz="2000" b="0" u="none" strike="noStrike">
                <a:solidFill>
                  <a:srgbClr val="173C37"/>
                </a:solidFill>
                <a:effectLst/>
                <a:uFillTx/>
                <a:latin typeface="AppleGothic"/>
                <a:ea typeface="AppleGothic"/>
              </a:rPr>
              <a:t>Partition i</a:t>
            </a:r>
            <a:r>
              <a:rPr lang="ko-KR" sz="2000" b="0" u="none" strike="noStrike">
                <a:solidFill>
                  <a:srgbClr val="173C37"/>
                </a:solidFill>
                <a:effectLst/>
                <a:uFillTx/>
                <a:latin typeface="AppleGothic"/>
                <a:ea typeface="AppleGothic"/>
              </a:rPr>
              <a:t>의 </a:t>
            </a:r>
            <a:r>
              <a:rPr lang="en-US" sz="2000" b="0" u="none" strike="noStrike">
                <a:solidFill>
                  <a:srgbClr val="173C37"/>
                </a:solidFill>
                <a:effectLst/>
                <a:uFillTx/>
                <a:latin typeface="AppleGothic"/>
                <a:ea typeface="AppleGothic"/>
              </a:rPr>
              <a:t>edge set E_i</a:t>
            </a:r>
            <a:r>
              <a:rPr lang="ko-KR" sz="2000" b="0" u="none" strike="noStrike">
                <a:solidFill>
                  <a:srgbClr val="173C37"/>
                </a:solidFill>
                <a:effectLst/>
                <a:uFillTx/>
                <a:latin typeface="AppleGothic"/>
                <a:ea typeface="AppleGothic"/>
              </a:rPr>
              <a:t>는 </a:t>
            </a:r>
            <a:r>
              <a:rPr lang="en-US" sz="2000" b="0" u="none" strike="noStrike">
                <a:solidFill>
                  <a:srgbClr val="173C37"/>
                </a:solidFill>
                <a:effectLst/>
                <a:uFillTx/>
                <a:latin typeface="AppleGothic"/>
                <a:ea typeface="AppleGothic"/>
              </a:rPr>
              <a:t>[V]_i vertices</a:t>
            </a:r>
            <a:r>
              <a:rPr lang="ko-KR" sz="2000" b="0" u="none" strike="noStrike">
                <a:solidFill>
                  <a:srgbClr val="173C37"/>
                </a:solidFill>
                <a:effectLst/>
                <a:uFillTx/>
                <a:latin typeface="AppleGothic"/>
                <a:ea typeface="AppleGothic"/>
              </a:rPr>
              <a:t>에 </a:t>
            </a:r>
            <a:r>
              <a:rPr lang="en-US" sz="2000" b="0" u="none" strike="noStrike">
                <a:solidFill>
                  <a:srgbClr val="173C37"/>
                </a:solidFill>
                <a:effectLst/>
                <a:uFillTx/>
                <a:latin typeface="AppleGothic"/>
                <a:ea typeface="AppleGothic"/>
              </a:rPr>
              <a:t>incident</a:t>
            </a:r>
            <a:r>
              <a:rPr lang="ko-KR" sz="2000" b="0" u="none" strike="noStrike">
                <a:solidFill>
                  <a:srgbClr val="173C37"/>
                </a:solidFill>
                <a:effectLst/>
                <a:uFillTx/>
                <a:latin typeface="AppleGothic"/>
                <a:ea typeface="AppleGothic"/>
              </a:rPr>
              <a:t>한 </a:t>
            </a:r>
            <a:r>
              <a:rPr lang="en-US" sz="2000" b="0" u="none" strike="noStrike">
                <a:solidFill>
                  <a:srgbClr val="173C37"/>
                </a:solidFill>
                <a:effectLst/>
                <a:uFillTx/>
                <a:latin typeface="AppleGothic"/>
                <a:ea typeface="AppleGothic"/>
              </a:rPr>
              <a:t>edges</a:t>
            </a:r>
            <a:r>
              <a:rPr lang="ko-KR" sz="2000" b="0" u="none" strike="noStrike">
                <a:solidFill>
                  <a:srgbClr val="173C37"/>
                </a:solidFill>
                <a:effectLst/>
                <a:uFillTx/>
                <a:latin typeface="AppleGothic"/>
                <a:ea typeface="AppleGothic"/>
              </a:rPr>
              <a:t>를 포함한다</a:t>
            </a:r>
            <a:r>
              <a:rPr lang="en-US" sz="2000" b="0" u="none" strike="noStrike">
                <a:solidFill>
                  <a:srgbClr val="173C37"/>
                </a:solidFill>
                <a:effectLst/>
                <a:uFillTx/>
                <a:latin typeface="AppleGothic"/>
                <a:ea typeface="AppleGothic"/>
              </a:rPr>
              <a:t>.</a:t>
            </a:r>
            <a:endParaRPr lang="en-US" sz="2000" b="0" u="none" strike="noStrike">
              <a:solidFill>
                <a:srgbClr val="000000"/>
              </a:solidFill>
              <a:effectLst/>
              <a:uFillTx/>
              <a:latin typeface="Arial"/>
            </a:endParaRPr>
          </a:p>
        </p:txBody>
      </p:sp>
      <p:sp>
        <p:nvSpPr>
          <p:cNvPr id="127" name="Shape 5"/>
          <p:cNvSpPr/>
          <p:nvPr/>
        </p:nvSpPr>
        <p:spPr>
          <a:xfrm>
            <a:off x="838080" y="3682800"/>
            <a:ext cx="1069344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28" name="Text 6"/>
          <p:cNvSpPr/>
          <p:nvPr/>
        </p:nvSpPr>
        <p:spPr>
          <a:xfrm>
            <a:off x="838080" y="3720960"/>
            <a:ext cx="10693080" cy="685440"/>
          </a:xfrm>
          <a:prstGeom prst="rect">
            <a:avLst/>
          </a:prstGeom>
          <a:noFill/>
          <a:ln w="0">
            <a:noFill/>
          </a:ln>
        </p:spPr>
        <p:style>
          <a:lnRef idx="0"/>
          <a:fillRef idx="0"/>
          <a:effectRef idx="0"/>
          <a:fontRef idx="minor"/>
        </p:style>
        <p:txBody>
          <a:bodyPr lIns="0" tIns="0" rIns="0" bIns="0" anchor="ctr">
            <a:noAutofit/>
          </a:bodyPr>
          <a:p>
            <a:pPr marL="254160" indent="-254160" defTabSz="914400">
              <a:lnSpc>
                <a:spcPct val="125000"/>
              </a:lnSpc>
              <a:buClr>
                <a:srgbClr val="173C37"/>
              </a:buClr>
              <a:buFont typeface="Symbol" charset="2"/>
              <a:buChar char=""/>
            </a:pPr>
            <a:r>
              <a:rPr lang="en-US" sz="2000" b="0" u="none" strike="noStrike">
                <a:solidFill>
                  <a:srgbClr val="173C37"/>
                </a:solidFill>
                <a:effectLst/>
                <a:uFillTx/>
                <a:latin typeface="AppleGothic"/>
                <a:ea typeface="AppleGothic"/>
              </a:rPr>
              <a:t>Cross-partition edge</a:t>
            </a:r>
            <a:r>
              <a:rPr lang="ko-KR" sz="2000" b="0" u="none" strike="noStrike">
                <a:solidFill>
                  <a:srgbClr val="173C37"/>
                </a:solidFill>
                <a:effectLst/>
                <a:uFillTx/>
                <a:latin typeface="AppleGothic"/>
                <a:ea typeface="AppleGothic"/>
              </a:rPr>
              <a:t>는 </a:t>
            </a:r>
            <a:r>
              <a:rPr lang="en-US" sz="2000" b="0" u="none" strike="noStrike">
                <a:solidFill>
                  <a:srgbClr val="173C37"/>
                </a:solidFill>
                <a:effectLst/>
                <a:uFillTx/>
                <a:latin typeface="AppleGothic"/>
                <a:ea typeface="AppleGothic"/>
              </a:rPr>
              <a:t>endpoint</a:t>
            </a:r>
            <a:r>
              <a:rPr lang="ko-KR" sz="2000" b="0" u="none" strike="noStrike">
                <a:solidFill>
                  <a:srgbClr val="173C37"/>
                </a:solidFill>
                <a:effectLst/>
                <a:uFillTx/>
                <a:latin typeface="AppleGothic"/>
                <a:ea typeface="AppleGothic"/>
              </a:rPr>
              <a:t>가 속한 두 </a:t>
            </a:r>
            <a:r>
              <a:rPr lang="en-US" sz="2000" b="0" u="none" strike="noStrike">
                <a:solidFill>
                  <a:srgbClr val="173C37"/>
                </a:solidFill>
                <a:effectLst/>
                <a:uFillTx/>
                <a:latin typeface="AppleGothic"/>
                <a:ea typeface="AppleGothic"/>
              </a:rPr>
              <a:t>subgraph</a:t>
            </a:r>
            <a:r>
              <a:rPr lang="ko-KR" sz="2000" b="0" u="none" strike="noStrike">
                <a:solidFill>
                  <a:srgbClr val="173C37"/>
                </a:solidFill>
                <a:effectLst/>
                <a:uFillTx/>
                <a:latin typeface="AppleGothic"/>
                <a:ea typeface="AppleGothic"/>
              </a:rPr>
              <a:t>에 모두 나타날 수 있다</a:t>
            </a:r>
            <a:r>
              <a:rPr lang="en-US" sz="2000" b="0" u="none" strike="noStrike">
                <a:solidFill>
                  <a:srgbClr val="173C37"/>
                </a:solidFill>
                <a:effectLst/>
                <a:uFillTx/>
                <a:latin typeface="AppleGothic"/>
                <a:ea typeface="AppleGothic"/>
              </a:rPr>
              <a:t>.</a:t>
            </a:r>
            <a:endParaRPr lang="en-US" sz="2000" b="0" u="none" strike="noStrike">
              <a:solidFill>
                <a:srgbClr val="000000"/>
              </a:solidFill>
              <a:effectLst/>
              <a:uFillTx/>
              <a:latin typeface="Arial"/>
            </a:endParaRPr>
          </a:p>
        </p:txBody>
      </p:sp>
      <p:sp>
        <p:nvSpPr>
          <p:cNvPr id="129" name="Shape 7"/>
          <p:cNvSpPr/>
          <p:nvPr/>
        </p:nvSpPr>
        <p:spPr>
          <a:xfrm>
            <a:off x="838080" y="4457520"/>
            <a:ext cx="1069344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30" name="Text 8"/>
          <p:cNvSpPr/>
          <p:nvPr/>
        </p:nvSpPr>
        <p:spPr>
          <a:xfrm>
            <a:off x="838080" y="4495680"/>
            <a:ext cx="10693080" cy="685440"/>
          </a:xfrm>
          <a:prstGeom prst="rect">
            <a:avLst/>
          </a:prstGeom>
          <a:noFill/>
          <a:ln w="0">
            <a:noFill/>
          </a:ln>
        </p:spPr>
        <p:style>
          <a:lnRef idx="0"/>
          <a:fillRef idx="0"/>
          <a:effectRef idx="0"/>
          <a:fontRef idx="minor"/>
        </p:style>
        <p:txBody>
          <a:bodyPr lIns="0" tIns="0" rIns="0" bIns="0" anchor="ctr">
            <a:noAutofit/>
          </a:bodyPr>
          <a:p>
            <a:pPr marL="254160" indent="-254160" defTabSz="914400">
              <a:lnSpc>
                <a:spcPct val="125000"/>
              </a:lnSpc>
              <a:buClr>
                <a:srgbClr val="173C37"/>
              </a:buClr>
              <a:buFont typeface="Symbol" charset="2"/>
              <a:buChar char=""/>
            </a:pPr>
            <a:r>
              <a:rPr lang="ko-KR" sz="2000" b="0" u="none" strike="noStrike">
                <a:solidFill>
                  <a:srgbClr val="173C37"/>
                </a:solidFill>
                <a:effectLst/>
                <a:uFillTx/>
                <a:latin typeface="AppleGothic"/>
                <a:ea typeface="AppleGothic"/>
              </a:rPr>
              <a:t>따라서 </a:t>
            </a:r>
            <a:r>
              <a:rPr lang="en-US" sz="2000" b="0" u="none" strike="noStrike">
                <a:solidFill>
                  <a:srgbClr val="173C37"/>
                </a:solidFill>
                <a:effectLst/>
                <a:uFillTx/>
                <a:latin typeface="AppleGothic"/>
                <a:ea typeface="AppleGothic"/>
              </a:rPr>
              <a:t>G_0, G_1, ...</a:t>
            </a:r>
            <a:r>
              <a:rPr lang="ko-KR" sz="2000" b="0" u="none" strike="noStrike">
                <a:solidFill>
                  <a:srgbClr val="173C37"/>
                </a:solidFill>
                <a:effectLst/>
                <a:uFillTx/>
                <a:latin typeface="AppleGothic"/>
                <a:ea typeface="AppleGothic"/>
              </a:rPr>
              <a:t>은 서로 겹치는 </a:t>
            </a:r>
            <a:r>
              <a:rPr lang="en-US" sz="2000" b="0" u="none" strike="noStrike">
                <a:solidFill>
                  <a:srgbClr val="173C37"/>
                </a:solidFill>
                <a:effectLst/>
                <a:uFillTx/>
                <a:latin typeface="AppleGothic"/>
                <a:ea typeface="AppleGothic"/>
              </a:rPr>
              <a:t>subgraphs</a:t>
            </a:r>
            <a:r>
              <a:rPr lang="ko-KR" sz="2000" b="0" u="none" strike="noStrike">
                <a:solidFill>
                  <a:srgbClr val="173C37"/>
                </a:solidFill>
                <a:effectLst/>
                <a:uFillTx/>
                <a:latin typeface="AppleGothic"/>
                <a:ea typeface="AppleGothic"/>
              </a:rPr>
              <a:t>이며 </a:t>
            </a:r>
            <a:r>
              <a:rPr lang="en-US" sz="2000" b="0" u="none" strike="noStrike">
                <a:solidFill>
                  <a:srgbClr val="173C37"/>
                </a:solidFill>
                <a:effectLst/>
                <a:uFillTx/>
                <a:latin typeface="AppleGothic"/>
                <a:ea typeface="AppleGothic"/>
              </a:rPr>
              <a:t>component partition</a:t>
            </a:r>
            <a:r>
              <a:rPr lang="ko-KR" sz="2000" b="0" u="none" strike="noStrike">
                <a:solidFill>
                  <a:srgbClr val="173C37"/>
                </a:solidFill>
                <a:effectLst/>
                <a:uFillTx/>
                <a:latin typeface="AppleGothic"/>
                <a:ea typeface="AppleGothic"/>
              </a:rPr>
              <a:t>이 아니다</a:t>
            </a:r>
            <a:r>
              <a:rPr lang="en-US" sz="2000" b="0" u="none" strike="noStrike">
                <a:solidFill>
                  <a:srgbClr val="173C37"/>
                </a:solidFill>
                <a:effectLst/>
                <a:uFillTx/>
                <a:latin typeface="AppleGothic"/>
                <a:ea typeface="AppleGothic"/>
              </a:rPr>
              <a:t>.</a:t>
            </a:r>
            <a:endParaRPr lang="en-US" sz="2000" b="0" u="none" strike="noStrike">
              <a:solidFill>
                <a:srgbClr val="000000"/>
              </a:solidFill>
              <a:effectLst/>
              <a:uFillTx/>
              <a:latin typeface="Arial"/>
            </a:endParaRPr>
          </a:p>
        </p:txBody>
      </p:sp>
      <p:sp>
        <p:nvSpPr>
          <p:cNvPr id="131" name="Shape 9"/>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32" name="Text 10"/>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Overlap</a:t>
            </a:r>
            <a:r>
              <a:rPr lang="ko-KR" sz="1750" b="1" u="none" strike="noStrike">
                <a:solidFill>
                  <a:srgbClr val="173C37"/>
                </a:solidFill>
                <a:effectLst/>
                <a:uFillTx/>
                <a:latin typeface="AppleGothic"/>
                <a:ea typeface="AppleGothic"/>
              </a:rPr>
              <a:t>은 중복 비용의 원인이면서 </a:t>
            </a:r>
            <a:r>
              <a:rPr lang="en-US" sz="1750" b="1" u="none" strike="noStrike">
                <a:solidFill>
                  <a:srgbClr val="173C37"/>
                </a:solidFill>
                <a:effectLst/>
                <a:uFillTx/>
                <a:latin typeface="AppleGothic"/>
                <a:ea typeface="AppleGothic"/>
              </a:rPr>
              <a:t>cross-partition connectivity</a:t>
            </a:r>
            <a:r>
              <a:rPr lang="ko-KR" sz="1750" b="1" u="none" strike="noStrike">
                <a:solidFill>
                  <a:srgbClr val="173C37"/>
                </a:solidFill>
                <a:effectLst/>
                <a:uFillTx/>
                <a:latin typeface="AppleGothic"/>
                <a:ea typeface="AppleGothic"/>
              </a:rPr>
              <a:t>를 보존하는 재료다</a:t>
            </a:r>
            <a:endParaRPr lang="en-US" sz="1750" b="0" u="none" strike="noStrike">
              <a:solidFill>
                <a:srgbClr val="000000"/>
              </a:solidFill>
              <a:effectLst/>
              <a:uFillTx/>
              <a:latin typeface="Arial"/>
            </a:endParaRPr>
          </a:p>
        </p:txBody>
      </p:sp>
      <p:sp>
        <p:nvSpPr>
          <p:cNvPr id="133" name="Shape 11"/>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34" name="Text 12"/>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unicon-paper pp. 5 and 7, Fig. 3</a:t>
            </a:r>
            <a:endParaRPr lang="en-US" sz="1050" b="0" u="none" strike="noStrike">
              <a:solidFill>
                <a:srgbClr val="000000"/>
              </a:solidFill>
              <a:effectLst/>
              <a:uFillTx/>
              <a:latin typeface="Arial"/>
            </a:endParaRPr>
          </a:p>
        </p:txBody>
      </p:sp>
      <p:sp>
        <p:nvSpPr>
          <p:cNvPr id="135" name="Text 13"/>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08</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6"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3100" b="1" u="none" strike="noStrike">
                <a:solidFill>
                  <a:srgbClr val="173C37"/>
                </a:solidFill>
                <a:effectLst/>
                <a:uFillTx/>
                <a:latin typeface="AppleGothic"/>
                <a:ea typeface="AppleGothic"/>
              </a:rPr>
              <a:t>작은 </a:t>
            </a:r>
            <a:r>
              <a:rPr lang="en-US" sz="3100" b="1" u="none" strike="noStrike">
                <a:solidFill>
                  <a:srgbClr val="173C37"/>
                </a:solidFill>
                <a:effectLst/>
                <a:uFillTx/>
                <a:latin typeface="AppleGothic"/>
                <a:ea typeface="AppleGothic"/>
              </a:rPr>
              <a:t>path</a:t>
            </a:r>
            <a:r>
              <a:rPr lang="ko-KR" sz="3100" b="1" u="none" strike="noStrike">
                <a:solidFill>
                  <a:srgbClr val="173C37"/>
                </a:solidFill>
                <a:effectLst/>
                <a:uFillTx/>
                <a:latin typeface="AppleGothic"/>
                <a:ea typeface="AppleGothic"/>
              </a:rPr>
              <a:t>에서 </a:t>
            </a:r>
            <a:r>
              <a:rPr lang="en-US" sz="3100" b="1" u="none" strike="noStrike">
                <a:solidFill>
                  <a:srgbClr val="173C37"/>
                </a:solidFill>
                <a:effectLst/>
                <a:uFillTx/>
                <a:latin typeface="AppleGothic"/>
                <a:ea typeface="AppleGothic"/>
              </a:rPr>
              <a:t>overlap</a:t>
            </a:r>
            <a:r>
              <a:rPr lang="ko-KR" sz="3100" b="1" u="none" strike="noStrike">
                <a:solidFill>
                  <a:srgbClr val="173C37"/>
                </a:solidFill>
                <a:effectLst/>
                <a:uFillTx/>
                <a:latin typeface="AppleGothic"/>
                <a:ea typeface="AppleGothic"/>
              </a:rPr>
              <a:t>과 </a:t>
            </a:r>
            <a:r>
              <a:rPr lang="en-US" sz="3100" b="1" u="none" strike="noStrike">
                <a:solidFill>
                  <a:srgbClr val="173C37"/>
                </a:solidFill>
                <a:effectLst/>
                <a:uFillTx/>
                <a:latin typeface="AppleGothic"/>
                <a:ea typeface="AppleGothic"/>
              </a:rPr>
              <a:t>Rem </a:t>
            </a:r>
            <a:r>
              <a:rPr lang="ko-KR" sz="3100" b="1" u="none" strike="noStrike">
                <a:solidFill>
                  <a:srgbClr val="173C37"/>
                </a:solidFill>
                <a:effectLst/>
                <a:uFillTx/>
                <a:latin typeface="AppleGothic"/>
                <a:ea typeface="AppleGothic"/>
              </a:rPr>
              <a:t>따라가기</a:t>
            </a:r>
            <a:endParaRPr lang="en-US" sz="3100" b="0" u="none" strike="noStrike">
              <a:solidFill>
                <a:srgbClr val="000000"/>
              </a:solidFill>
              <a:effectLst/>
              <a:uFillTx/>
              <a:latin typeface="Arial"/>
            </a:endParaRPr>
          </a:p>
        </p:txBody>
      </p:sp>
      <p:sp>
        <p:nvSpPr>
          <p:cNvPr id="137"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900" b="0" u="none" strike="noStrike">
                <a:solidFill>
                  <a:srgbClr val="0D685C"/>
                </a:solidFill>
                <a:effectLst/>
                <a:uFillTx/>
                <a:latin typeface="AppleGothic"/>
                <a:ea typeface="AppleGothic"/>
              </a:rPr>
              <a:t>입력 </a:t>
            </a:r>
            <a:r>
              <a:rPr lang="en-US" sz="1900" b="0" u="none" strike="noStrike">
                <a:solidFill>
                  <a:srgbClr val="0D685C"/>
                </a:solidFill>
                <a:effectLst/>
                <a:uFillTx/>
                <a:latin typeface="AppleGothic"/>
                <a:ea typeface="AppleGothic"/>
              </a:rPr>
              <a:t>E={(4,1),(6,4)}, rho=2, xi(1)=0, xi(4)=1, xi(6)=0</a:t>
            </a:r>
            <a:r>
              <a:rPr lang="ko-KR" sz="1900" b="0" u="none" strike="noStrike">
                <a:solidFill>
                  <a:srgbClr val="0D685C"/>
                </a:solidFill>
                <a:effectLst/>
                <a:uFillTx/>
                <a:latin typeface="AppleGothic"/>
                <a:ea typeface="AppleGothic"/>
              </a:rPr>
              <a:t>인 교육용 계산</a:t>
            </a:r>
            <a:endParaRPr lang="en-US" sz="1900" b="0" u="none" strike="noStrike">
              <a:solidFill>
                <a:srgbClr val="000000"/>
              </a:solidFill>
              <a:effectLst/>
              <a:uFillTx/>
              <a:latin typeface="Arial"/>
            </a:endParaRPr>
          </a:p>
        </p:txBody>
      </p:sp>
      <p:sp>
        <p:nvSpPr>
          <p:cNvPr id="138" name="mechanism-lane-g0"/>
          <p:cNvSpPr/>
          <p:nvPr/>
        </p:nvSpPr>
        <p:spPr>
          <a:xfrm>
            <a:off x="660240" y="2209680"/>
            <a:ext cx="863280" cy="1561680"/>
          </a:xfrm>
          <a:prstGeom prst="rect">
            <a:avLst/>
          </a:prstGeom>
          <a:noFill/>
          <a:ln w="0">
            <a:noFill/>
          </a:ln>
        </p:spPr>
        <p:style>
          <a:lnRef idx="0"/>
          <a:fillRef idx="0"/>
          <a:effectRef idx="0"/>
          <a:fontRef idx="minor"/>
        </p:style>
        <p:txBody>
          <a:bodyPr lIns="0" tIns="0" rIns="0" bIns="0" anchor="ctr">
            <a:noAutofit/>
          </a:bodyPr>
          <a:p>
            <a:pPr algn="ctr" defTabSz="914400">
              <a:lnSpc>
                <a:spcPct val="120000"/>
              </a:lnSpc>
              <a:tabLst>
                <a:tab pos="0" algn="l"/>
              </a:tabLst>
            </a:pPr>
            <a:r>
              <a:rPr lang="en-US" sz="1250" b="1" u="none" strike="noStrike">
                <a:solidFill>
                  <a:srgbClr val="0D685C"/>
                </a:solidFill>
                <a:effectLst/>
                <a:uFillTx/>
                <a:latin typeface="AppleGothic"/>
                <a:ea typeface="AppleGothic"/>
              </a:rPr>
              <a:t>G_0 view</a:t>
            </a:r>
            <a:endParaRPr lang="en-US" sz="1250" b="0" u="none" strike="noStrike">
              <a:solidFill>
                <a:srgbClr val="000000"/>
              </a:solidFill>
              <a:effectLst/>
              <a:uFillTx/>
              <a:latin typeface="Arial"/>
            </a:endParaRPr>
          </a:p>
        </p:txBody>
      </p:sp>
      <p:sp>
        <p:nvSpPr>
          <p:cNvPr id="139" name="mechanism-lane-g1"/>
          <p:cNvSpPr/>
          <p:nvPr/>
        </p:nvSpPr>
        <p:spPr>
          <a:xfrm>
            <a:off x="660240" y="3772080"/>
            <a:ext cx="863280" cy="1561680"/>
          </a:xfrm>
          <a:prstGeom prst="rect">
            <a:avLst/>
          </a:prstGeom>
          <a:noFill/>
          <a:ln w="0">
            <a:noFill/>
          </a:ln>
        </p:spPr>
        <p:style>
          <a:lnRef idx="0"/>
          <a:fillRef idx="0"/>
          <a:effectRef idx="0"/>
          <a:fontRef idx="minor"/>
        </p:style>
        <p:txBody>
          <a:bodyPr lIns="0" tIns="0" rIns="0" bIns="0" anchor="ctr">
            <a:noAutofit/>
          </a:bodyPr>
          <a:p>
            <a:pPr algn="ctr" defTabSz="914400">
              <a:lnSpc>
                <a:spcPct val="120000"/>
              </a:lnSpc>
              <a:tabLst>
                <a:tab pos="0" algn="l"/>
              </a:tabLst>
            </a:pPr>
            <a:r>
              <a:rPr lang="en-US" sz="1250" b="1" u="none" strike="noStrike">
                <a:solidFill>
                  <a:srgbClr val="0D685C"/>
                </a:solidFill>
                <a:effectLst/>
                <a:uFillTx/>
                <a:latin typeface="AppleGothic"/>
                <a:ea typeface="AppleGothic"/>
              </a:rPr>
              <a:t>G_1 view</a:t>
            </a:r>
            <a:endParaRPr lang="en-US" sz="1250" b="0" u="none" strike="noStrike">
              <a:solidFill>
                <a:srgbClr val="000000"/>
              </a:solidFill>
              <a:effectLst/>
              <a:uFillTx/>
              <a:latin typeface="Arial"/>
            </a:endParaRPr>
          </a:p>
        </p:txBody>
      </p:sp>
      <p:sp>
        <p:nvSpPr>
          <p:cNvPr id="140" name="mechanism-edge-e-input-v0-segment-1"/>
          <p:cNvSpPr/>
          <p:nvPr/>
        </p:nvSpPr>
        <p:spPr>
          <a:xfrm>
            <a:off x="3809880" y="2800080"/>
            <a:ext cx="32184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41" name="mechanism-edge-e-input-v0-segment-2"/>
          <p:cNvSpPr/>
          <p:nvPr/>
        </p:nvSpPr>
        <p:spPr>
          <a:xfrm>
            <a:off x="4131720" y="2800080"/>
            <a:ext cx="360" cy="190440"/>
          </a:xfrm>
          <a:prstGeom prst="line">
            <a:avLst/>
          </a:prstGeom>
          <a:ln w="12700">
            <a:solidFill>
              <a:srgbClr val="0D685C"/>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42" name="mechanism-edge-e-input-v0-segment-3"/>
          <p:cNvSpPr/>
          <p:nvPr/>
        </p:nvSpPr>
        <p:spPr>
          <a:xfrm>
            <a:off x="4131720" y="2990520"/>
            <a:ext cx="160560" cy="360"/>
          </a:xfrm>
          <a:prstGeom prst="line">
            <a:avLst/>
          </a:prstGeom>
          <a:ln w="12700">
            <a:solidFill>
              <a:srgbClr val="0D685C"/>
            </a:solidFill>
            <a:round/>
            <a:tailEnd len="med" type="triangle" w="me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43" name="mechanism-edge-e-input-v1-segment-1"/>
          <p:cNvSpPr/>
          <p:nvPr/>
        </p:nvSpPr>
        <p:spPr>
          <a:xfrm>
            <a:off x="3809880" y="3181320"/>
            <a:ext cx="16092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44" name="mechanism-edge-e-input-v1-segment-2"/>
          <p:cNvSpPr/>
          <p:nvPr/>
        </p:nvSpPr>
        <p:spPr>
          <a:xfrm>
            <a:off x="3970800" y="3181320"/>
            <a:ext cx="360" cy="1371600"/>
          </a:xfrm>
          <a:prstGeom prst="line">
            <a:avLst/>
          </a:prstGeom>
          <a:ln w="12700">
            <a:solidFill>
              <a:srgbClr val="0D685C"/>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45" name="mechanism-edge-e-input-v1-segment-3"/>
          <p:cNvSpPr/>
          <p:nvPr/>
        </p:nvSpPr>
        <p:spPr>
          <a:xfrm>
            <a:off x="3970800" y="4552920"/>
            <a:ext cx="321480" cy="360"/>
          </a:xfrm>
          <a:prstGeom prst="line">
            <a:avLst/>
          </a:prstGeom>
          <a:ln w="12700">
            <a:solidFill>
              <a:srgbClr val="0D685C"/>
            </a:solidFill>
            <a:round/>
            <a:tailEnd len="med" type="triangle" w="me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46" name="mechanism-edge-e-v0-rem0-segment-1"/>
          <p:cNvSpPr/>
          <p:nvPr/>
        </p:nvSpPr>
        <p:spPr>
          <a:xfrm>
            <a:off x="6362640" y="2990520"/>
            <a:ext cx="482400" cy="360"/>
          </a:xfrm>
          <a:prstGeom prst="line">
            <a:avLst/>
          </a:prstGeom>
          <a:ln w="12700">
            <a:solidFill>
              <a:srgbClr val="0D685C"/>
            </a:solidFill>
            <a:round/>
            <a:tailEnd len="med" type="triangle" w="me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47" name="mechanism-edge-e-rem0-p0-segment-1"/>
          <p:cNvSpPr/>
          <p:nvPr/>
        </p:nvSpPr>
        <p:spPr>
          <a:xfrm>
            <a:off x="8915400" y="2990520"/>
            <a:ext cx="482400" cy="360"/>
          </a:xfrm>
          <a:prstGeom prst="line">
            <a:avLst/>
          </a:prstGeom>
          <a:ln w="12700">
            <a:solidFill>
              <a:srgbClr val="0D685C"/>
            </a:solidFill>
            <a:round/>
            <a:tailEnd len="med" type="triangle" w="me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48" name="mechanism-edge-e-v1-rem1-segment-1"/>
          <p:cNvSpPr/>
          <p:nvPr/>
        </p:nvSpPr>
        <p:spPr>
          <a:xfrm>
            <a:off x="6362640" y="4552920"/>
            <a:ext cx="482400" cy="360"/>
          </a:xfrm>
          <a:prstGeom prst="line">
            <a:avLst/>
          </a:prstGeom>
          <a:ln w="12700">
            <a:solidFill>
              <a:srgbClr val="0D685C"/>
            </a:solidFill>
            <a:round/>
            <a:tailEnd len="med" type="triangle" w="me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49" name="mechanism-edge-e-rem1-p1-segment-1"/>
          <p:cNvSpPr/>
          <p:nvPr/>
        </p:nvSpPr>
        <p:spPr>
          <a:xfrm>
            <a:off x="8915400" y="4552920"/>
            <a:ext cx="482400" cy="360"/>
          </a:xfrm>
          <a:prstGeom prst="line">
            <a:avLst/>
          </a:prstGeom>
          <a:ln w="12700">
            <a:solidFill>
              <a:srgbClr val="0D685C"/>
            </a:solidFill>
            <a:round/>
            <a:tailEnd len="med" type="triangle" w="me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50" name="mechanism-node-input"/>
          <p:cNvSpPr/>
          <p:nvPr/>
        </p:nvSpPr>
        <p:spPr>
          <a:xfrm>
            <a:off x="1739880" y="2673360"/>
            <a:ext cx="2069640" cy="228240"/>
          </a:xfrm>
          <a:prstGeom prst="rect">
            <a:avLst/>
          </a:prstGeom>
          <a:noFill/>
          <a:ln w="0">
            <a:noFill/>
          </a:ln>
        </p:spPr>
        <p:style>
          <a:lnRef idx="0"/>
          <a:fillRef idx="0"/>
          <a:effectRef idx="0"/>
          <a:fontRef idx="minor"/>
        </p:style>
        <p:txBody>
          <a:bodyPr lIns="0" tIns="0" rIns="0" bIns="0" anchor="ctr">
            <a:noAutofit/>
          </a:bodyPr>
          <a:p>
            <a:pPr algn="ctr" defTabSz="914400">
              <a:lnSpc>
                <a:spcPct val="120000"/>
              </a:lnSpc>
              <a:tabLst>
                <a:tab pos="0" algn="l"/>
              </a:tabLst>
            </a:pPr>
            <a:r>
              <a:rPr lang="en-US" sz="1150" b="1" u="none" strike="noStrike">
                <a:solidFill>
                  <a:srgbClr val="0D685C"/>
                </a:solidFill>
                <a:effectLst/>
                <a:uFillTx/>
                <a:latin typeface="AppleGothic"/>
                <a:ea typeface="AppleGothic"/>
              </a:rPr>
              <a:t>Input E</a:t>
            </a:r>
            <a:endParaRPr lang="en-US" sz="1150" b="0" u="none" strike="noStrike">
              <a:solidFill>
                <a:srgbClr val="000000"/>
              </a:solidFill>
              <a:effectLst/>
              <a:uFillTx/>
              <a:latin typeface="Arial"/>
            </a:endParaRPr>
          </a:p>
        </p:txBody>
      </p:sp>
      <p:sp>
        <p:nvSpPr>
          <p:cNvPr id="151" name="mechanism-node-input-queue-1"/>
          <p:cNvSpPr/>
          <p:nvPr/>
        </p:nvSpPr>
        <p:spPr>
          <a:xfrm>
            <a:off x="1739880" y="2927520"/>
            <a:ext cx="2069640" cy="190080"/>
          </a:xfrm>
          <a:prstGeom prst="rect">
            <a:avLst/>
          </a:prstGeom>
          <a:solidFill>
            <a:srgbClr val="FFFFFF"/>
          </a:solidFill>
          <a:ln w="0">
            <a:solidFill>
              <a:srgbClr val="0D685C"/>
            </a:solidFill>
          </a:ln>
        </p:spPr>
        <p:style>
          <a:lnRef idx="0"/>
          <a:fillRef idx="0"/>
          <a:effectRef idx="0"/>
          <a:fontRef idx="minor"/>
        </p:style>
        <p:txBody>
          <a:bodyPr lIns="12600" tIns="12600" rIns="12600" bIns="12600" anchor="ctr">
            <a:noAutofit/>
          </a:bodyPr>
          <a:p>
            <a:pPr algn="ctr" defTabSz="914400">
              <a:lnSpc>
                <a:spcPct val="100000"/>
              </a:lnSpc>
              <a:tabLst>
                <a:tab pos="0" algn="l"/>
              </a:tabLst>
            </a:pPr>
            <a:r>
              <a:rPr lang="en-US" sz="950" b="0" u="none" strike="noStrike">
                <a:solidFill>
                  <a:srgbClr val="173C37"/>
                </a:solidFill>
                <a:effectLst/>
                <a:uFillTx/>
                <a:latin typeface="AppleGothic"/>
                <a:ea typeface="AppleGothic"/>
              </a:rPr>
              <a:t>(4,1)</a:t>
            </a:r>
            <a:endParaRPr lang="en-US" sz="950" b="0" u="none" strike="noStrike">
              <a:solidFill>
                <a:srgbClr val="000000"/>
              </a:solidFill>
              <a:effectLst/>
              <a:uFillTx/>
              <a:latin typeface="Arial"/>
            </a:endParaRPr>
          </a:p>
        </p:txBody>
      </p:sp>
      <p:sp>
        <p:nvSpPr>
          <p:cNvPr id="152" name="mechanism-node-input-queue-2"/>
          <p:cNvSpPr/>
          <p:nvPr/>
        </p:nvSpPr>
        <p:spPr>
          <a:xfrm>
            <a:off x="1739880" y="3117960"/>
            <a:ext cx="2069640" cy="190080"/>
          </a:xfrm>
          <a:prstGeom prst="rect">
            <a:avLst/>
          </a:prstGeom>
          <a:solidFill>
            <a:srgbClr val="FFFFFF"/>
          </a:solidFill>
          <a:ln w="0">
            <a:solidFill>
              <a:srgbClr val="0D685C"/>
            </a:solidFill>
          </a:ln>
        </p:spPr>
        <p:style>
          <a:lnRef idx="0"/>
          <a:fillRef idx="0"/>
          <a:effectRef idx="0"/>
          <a:fontRef idx="minor"/>
        </p:style>
        <p:txBody>
          <a:bodyPr lIns="12600" tIns="12600" rIns="12600" bIns="12600" anchor="ctr">
            <a:noAutofit/>
          </a:bodyPr>
          <a:p>
            <a:pPr algn="ctr" defTabSz="914400">
              <a:lnSpc>
                <a:spcPct val="100000"/>
              </a:lnSpc>
              <a:tabLst>
                <a:tab pos="0" algn="l"/>
              </a:tabLst>
            </a:pPr>
            <a:r>
              <a:rPr lang="en-US" sz="950" b="0" u="none" strike="noStrike">
                <a:solidFill>
                  <a:srgbClr val="173C37"/>
                </a:solidFill>
                <a:effectLst/>
                <a:uFillTx/>
                <a:latin typeface="AppleGothic"/>
                <a:ea typeface="AppleGothic"/>
              </a:rPr>
              <a:t>(6,4)</a:t>
            </a:r>
            <a:endParaRPr lang="en-US" sz="950" b="0" u="none" strike="noStrike">
              <a:solidFill>
                <a:srgbClr val="000000"/>
              </a:solidFill>
              <a:effectLst/>
              <a:uFillTx/>
              <a:latin typeface="Arial"/>
            </a:endParaRPr>
          </a:p>
        </p:txBody>
      </p:sp>
      <p:sp>
        <p:nvSpPr>
          <p:cNvPr id="153" name="mechanism-node-view0"/>
          <p:cNvSpPr/>
          <p:nvPr/>
        </p:nvSpPr>
        <p:spPr>
          <a:xfrm>
            <a:off x="4292640" y="2673360"/>
            <a:ext cx="2069640" cy="228240"/>
          </a:xfrm>
          <a:prstGeom prst="rect">
            <a:avLst/>
          </a:prstGeom>
          <a:noFill/>
          <a:ln w="0">
            <a:noFill/>
          </a:ln>
        </p:spPr>
        <p:style>
          <a:lnRef idx="0"/>
          <a:fillRef idx="0"/>
          <a:effectRef idx="0"/>
          <a:fontRef idx="minor"/>
        </p:style>
        <p:txBody>
          <a:bodyPr lIns="0" tIns="0" rIns="0" bIns="0" anchor="ctr">
            <a:noAutofit/>
          </a:bodyPr>
          <a:p>
            <a:pPr algn="ctr" defTabSz="914400">
              <a:lnSpc>
                <a:spcPct val="120000"/>
              </a:lnSpc>
              <a:tabLst>
                <a:tab pos="0" algn="l"/>
              </a:tabLst>
            </a:pPr>
            <a:r>
              <a:rPr lang="en-US" sz="1150" b="1" u="none" strike="noStrike">
                <a:solidFill>
                  <a:srgbClr val="0D685C"/>
                </a:solidFill>
                <a:effectLst/>
                <a:uFillTx/>
                <a:latin typeface="AppleGothic"/>
                <a:ea typeface="AppleGothic"/>
              </a:rPr>
              <a:t>Incident edges</a:t>
            </a:r>
            <a:endParaRPr lang="en-US" sz="1150" b="0" u="none" strike="noStrike">
              <a:solidFill>
                <a:srgbClr val="000000"/>
              </a:solidFill>
              <a:effectLst/>
              <a:uFillTx/>
              <a:latin typeface="Arial"/>
            </a:endParaRPr>
          </a:p>
        </p:txBody>
      </p:sp>
      <p:sp>
        <p:nvSpPr>
          <p:cNvPr id="154" name="mechanism-node-view0-queue-1"/>
          <p:cNvSpPr/>
          <p:nvPr/>
        </p:nvSpPr>
        <p:spPr>
          <a:xfrm>
            <a:off x="4292640" y="2927520"/>
            <a:ext cx="2069640" cy="190080"/>
          </a:xfrm>
          <a:prstGeom prst="rect">
            <a:avLst/>
          </a:prstGeom>
          <a:solidFill>
            <a:srgbClr val="FFFFFF"/>
          </a:solidFill>
          <a:ln w="0">
            <a:solidFill>
              <a:srgbClr val="0D685C"/>
            </a:solidFill>
          </a:ln>
        </p:spPr>
        <p:style>
          <a:lnRef idx="0"/>
          <a:fillRef idx="0"/>
          <a:effectRef idx="0"/>
          <a:fontRef idx="minor"/>
        </p:style>
        <p:txBody>
          <a:bodyPr lIns="12600" tIns="12600" rIns="12600" bIns="12600" anchor="ctr">
            <a:noAutofit/>
          </a:bodyPr>
          <a:p>
            <a:pPr algn="ctr" defTabSz="914400">
              <a:lnSpc>
                <a:spcPct val="100000"/>
              </a:lnSpc>
              <a:tabLst>
                <a:tab pos="0" algn="l"/>
              </a:tabLst>
            </a:pPr>
            <a:r>
              <a:rPr lang="en-US" sz="950" b="0" u="none" strike="noStrike">
                <a:solidFill>
                  <a:srgbClr val="173C37"/>
                </a:solidFill>
                <a:effectLst/>
                <a:uFillTx/>
                <a:latin typeface="AppleGothic"/>
                <a:ea typeface="AppleGothic"/>
              </a:rPr>
              <a:t>(4,1)</a:t>
            </a:r>
            <a:endParaRPr lang="en-US" sz="950" b="0" u="none" strike="noStrike">
              <a:solidFill>
                <a:srgbClr val="000000"/>
              </a:solidFill>
              <a:effectLst/>
              <a:uFillTx/>
              <a:latin typeface="Arial"/>
            </a:endParaRPr>
          </a:p>
        </p:txBody>
      </p:sp>
      <p:sp>
        <p:nvSpPr>
          <p:cNvPr id="155" name="mechanism-node-view0-queue-2"/>
          <p:cNvSpPr/>
          <p:nvPr/>
        </p:nvSpPr>
        <p:spPr>
          <a:xfrm>
            <a:off x="4292640" y="3117960"/>
            <a:ext cx="2069640" cy="190080"/>
          </a:xfrm>
          <a:prstGeom prst="rect">
            <a:avLst/>
          </a:prstGeom>
          <a:solidFill>
            <a:srgbClr val="FFFFFF"/>
          </a:solidFill>
          <a:ln w="0">
            <a:solidFill>
              <a:srgbClr val="0D685C"/>
            </a:solidFill>
          </a:ln>
        </p:spPr>
        <p:style>
          <a:lnRef idx="0"/>
          <a:fillRef idx="0"/>
          <a:effectRef idx="0"/>
          <a:fontRef idx="minor"/>
        </p:style>
        <p:txBody>
          <a:bodyPr lIns="12600" tIns="12600" rIns="12600" bIns="12600" anchor="ctr">
            <a:noAutofit/>
          </a:bodyPr>
          <a:p>
            <a:pPr algn="ctr" defTabSz="914400">
              <a:lnSpc>
                <a:spcPct val="100000"/>
              </a:lnSpc>
              <a:tabLst>
                <a:tab pos="0" algn="l"/>
              </a:tabLst>
            </a:pPr>
            <a:r>
              <a:rPr lang="en-US" sz="950" b="0" u="none" strike="noStrike">
                <a:solidFill>
                  <a:srgbClr val="173C37"/>
                </a:solidFill>
                <a:effectLst/>
                <a:uFillTx/>
                <a:latin typeface="AppleGothic"/>
                <a:ea typeface="AppleGothic"/>
              </a:rPr>
              <a:t>(6,4)</a:t>
            </a:r>
            <a:endParaRPr lang="en-US" sz="950" b="0" u="none" strike="noStrike">
              <a:solidFill>
                <a:srgbClr val="000000"/>
              </a:solidFill>
              <a:effectLst/>
              <a:uFillTx/>
              <a:latin typeface="Arial"/>
            </a:endParaRPr>
          </a:p>
        </p:txBody>
      </p:sp>
      <p:sp>
        <p:nvSpPr>
          <p:cNvPr id="156" name="mechanism-node-rem0"/>
          <p:cNvSpPr/>
          <p:nvPr/>
        </p:nvSpPr>
        <p:spPr>
          <a:xfrm>
            <a:off x="6845400" y="2660760"/>
            <a:ext cx="2069640" cy="659880"/>
          </a:xfrm>
          <a:prstGeom prst="roundRect">
            <a:avLst>
              <a:gd name="adj" fmla="val 16667"/>
            </a:avLst>
          </a:prstGeom>
          <a:solidFill>
            <a:srgbClr val="E8F1EE"/>
          </a:solidFill>
          <a:ln w="0">
            <a:solidFill>
              <a:srgbClr val="0D685C"/>
            </a:solidFill>
          </a:ln>
        </p:spPr>
        <p:style>
          <a:lnRef idx="0"/>
          <a:fillRef idx="0"/>
          <a:effectRef idx="0"/>
          <a:fontRef idx="minor"/>
        </p:style>
        <p:txBody>
          <a:bodyPr lIns="50760" tIns="50760" rIns="50760" bIns="50760" anchor="ctr">
            <a:noAutofit/>
          </a:bodyPr>
          <a:p>
            <a:pPr algn="ctr" defTabSz="914400">
              <a:lnSpc>
                <a:spcPct val="100000"/>
              </a:lnSpc>
              <a:tabLst>
                <a:tab pos="0" algn="l"/>
              </a:tabLst>
            </a:pPr>
            <a:r>
              <a:rPr lang="en-US" sz="1150" b="1" u="none" strike="noStrike">
                <a:solidFill>
                  <a:srgbClr val="0D685C"/>
                </a:solidFill>
                <a:effectLst/>
                <a:uFillTx/>
                <a:latin typeface="AppleGothic"/>
                <a:ea typeface="AppleGothic"/>
              </a:rPr>
              <a:t>Rem on G_0</a:t>
            </a:r>
            <a:endParaRPr lang="en-US" sz="1150" b="0" u="none" strike="noStrike">
              <a:solidFill>
                <a:srgbClr val="000000"/>
              </a:solidFill>
              <a:effectLst/>
              <a:uFillTx/>
              <a:latin typeface="Arial"/>
            </a:endParaRPr>
          </a:p>
          <a:p>
            <a:pPr algn="ctr" defTabSz="914400">
              <a:lnSpc>
                <a:spcPct val="100000"/>
              </a:lnSpc>
              <a:tabLst>
                <a:tab pos="0" algn="l"/>
              </a:tabLst>
            </a:pPr>
            <a:r>
              <a:rPr lang="en-US" sz="1150" b="0" u="none" strike="noStrike">
                <a:solidFill>
                  <a:srgbClr val="173C37"/>
                </a:solidFill>
                <a:effectLst/>
                <a:uFillTx/>
                <a:latin typeface="AppleGothic"/>
                <a:ea typeface="AppleGothic"/>
              </a:rPr>
              <a:t>Local CC min=1</a:t>
            </a:r>
            <a:endParaRPr lang="en-US" sz="1150" b="0" u="none" strike="noStrike">
              <a:solidFill>
                <a:srgbClr val="000000"/>
              </a:solidFill>
              <a:effectLst/>
              <a:uFillTx/>
              <a:latin typeface="Arial"/>
            </a:endParaRPr>
          </a:p>
        </p:txBody>
      </p:sp>
      <p:sp>
        <p:nvSpPr>
          <p:cNvPr id="157" name="mechanism-node-parent0"/>
          <p:cNvSpPr/>
          <p:nvPr/>
        </p:nvSpPr>
        <p:spPr>
          <a:xfrm>
            <a:off x="9398160" y="2577960"/>
            <a:ext cx="2069640" cy="228240"/>
          </a:xfrm>
          <a:prstGeom prst="rect">
            <a:avLst/>
          </a:prstGeom>
          <a:noFill/>
          <a:ln w="0">
            <a:noFill/>
          </a:ln>
        </p:spPr>
        <p:style>
          <a:lnRef idx="0"/>
          <a:fillRef idx="0"/>
          <a:effectRef idx="0"/>
          <a:fontRef idx="minor"/>
        </p:style>
        <p:txBody>
          <a:bodyPr lIns="0" tIns="0" rIns="0" bIns="0" anchor="ctr">
            <a:noAutofit/>
          </a:bodyPr>
          <a:p>
            <a:pPr algn="ctr" defTabSz="914400">
              <a:lnSpc>
                <a:spcPct val="120000"/>
              </a:lnSpc>
              <a:tabLst>
                <a:tab pos="0" algn="l"/>
              </a:tabLst>
            </a:pPr>
            <a:r>
              <a:rPr lang="en-US" sz="1150" b="1" u="none" strike="noStrike">
                <a:solidFill>
                  <a:srgbClr val="0D685C"/>
                </a:solidFill>
                <a:effectLst/>
                <a:uFillTx/>
                <a:latin typeface="AppleGothic"/>
                <a:ea typeface="AppleGothic"/>
              </a:rPr>
              <a:t>Parent p_0</a:t>
            </a:r>
            <a:endParaRPr lang="en-US" sz="1150" b="0" u="none" strike="noStrike">
              <a:solidFill>
                <a:srgbClr val="000000"/>
              </a:solidFill>
              <a:effectLst/>
              <a:uFillTx/>
              <a:latin typeface="Arial"/>
            </a:endParaRPr>
          </a:p>
        </p:txBody>
      </p:sp>
      <p:sp>
        <p:nvSpPr>
          <p:cNvPr id="158" name="mechanism-node-parent0-queue-1"/>
          <p:cNvSpPr/>
          <p:nvPr/>
        </p:nvSpPr>
        <p:spPr>
          <a:xfrm>
            <a:off x="9398160" y="2832120"/>
            <a:ext cx="2069640" cy="190080"/>
          </a:xfrm>
          <a:prstGeom prst="rect">
            <a:avLst/>
          </a:prstGeom>
          <a:solidFill>
            <a:srgbClr val="FFFFFF"/>
          </a:solidFill>
          <a:ln w="0">
            <a:solidFill>
              <a:srgbClr val="0D685C"/>
            </a:solidFill>
          </a:ln>
        </p:spPr>
        <p:style>
          <a:lnRef idx="0"/>
          <a:fillRef idx="0"/>
          <a:effectRef idx="0"/>
          <a:fontRef idx="minor"/>
        </p:style>
        <p:txBody>
          <a:bodyPr lIns="12600" tIns="12600" rIns="12600" bIns="12600" anchor="ctr">
            <a:noAutofit/>
          </a:bodyPr>
          <a:p>
            <a:pPr algn="ctr" defTabSz="914400">
              <a:lnSpc>
                <a:spcPct val="100000"/>
              </a:lnSpc>
              <a:tabLst>
                <a:tab pos="0" algn="l"/>
              </a:tabLst>
            </a:pPr>
            <a:r>
              <a:rPr lang="en-US" sz="950" b="0" u="none" strike="noStrike">
                <a:solidFill>
                  <a:srgbClr val="173C37"/>
                </a:solidFill>
                <a:effectLst/>
                <a:uFillTx/>
                <a:latin typeface="AppleGothic"/>
                <a:ea typeface="AppleGothic"/>
              </a:rPr>
              <a:t>1:1</a:t>
            </a:r>
            <a:endParaRPr lang="en-US" sz="950" b="0" u="none" strike="noStrike">
              <a:solidFill>
                <a:srgbClr val="000000"/>
              </a:solidFill>
              <a:effectLst/>
              <a:uFillTx/>
              <a:latin typeface="Arial"/>
            </a:endParaRPr>
          </a:p>
        </p:txBody>
      </p:sp>
      <p:sp>
        <p:nvSpPr>
          <p:cNvPr id="159" name="mechanism-node-parent0-queue-2"/>
          <p:cNvSpPr/>
          <p:nvPr/>
        </p:nvSpPr>
        <p:spPr>
          <a:xfrm>
            <a:off x="9398160" y="3022560"/>
            <a:ext cx="2069640" cy="190080"/>
          </a:xfrm>
          <a:prstGeom prst="rect">
            <a:avLst/>
          </a:prstGeom>
          <a:solidFill>
            <a:srgbClr val="FFFFFF"/>
          </a:solidFill>
          <a:ln w="0">
            <a:solidFill>
              <a:srgbClr val="0D685C"/>
            </a:solidFill>
          </a:ln>
        </p:spPr>
        <p:style>
          <a:lnRef idx="0"/>
          <a:fillRef idx="0"/>
          <a:effectRef idx="0"/>
          <a:fontRef idx="minor"/>
        </p:style>
        <p:txBody>
          <a:bodyPr lIns="12600" tIns="12600" rIns="12600" bIns="12600" anchor="ctr">
            <a:noAutofit/>
          </a:bodyPr>
          <a:p>
            <a:pPr algn="ctr" defTabSz="914400">
              <a:lnSpc>
                <a:spcPct val="100000"/>
              </a:lnSpc>
              <a:tabLst>
                <a:tab pos="0" algn="l"/>
              </a:tabLst>
            </a:pPr>
            <a:r>
              <a:rPr lang="en-US" sz="950" b="0" u="none" strike="noStrike">
                <a:solidFill>
                  <a:srgbClr val="173C37"/>
                </a:solidFill>
                <a:effectLst/>
                <a:uFillTx/>
                <a:latin typeface="AppleGothic"/>
                <a:ea typeface="AppleGothic"/>
              </a:rPr>
              <a:t>4:1</a:t>
            </a:r>
            <a:endParaRPr lang="en-US" sz="950" b="0" u="none" strike="noStrike">
              <a:solidFill>
                <a:srgbClr val="000000"/>
              </a:solidFill>
              <a:effectLst/>
              <a:uFillTx/>
              <a:latin typeface="Arial"/>
            </a:endParaRPr>
          </a:p>
        </p:txBody>
      </p:sp>
      <p:sp>
        <p:nvSpPr>
          <p:cNvPr id="160" name="mechanism-node-parent0-queue-3"/>
          <p:cNvSpPr/>
          <p:nvPr/>
        </p:nvSpPr>
        <p:spPr>
          <a:xfrm>
            <a:off x="9398160" y="3213000"/>
            <a:ext cx="2069640" cy="190080"/>
          </a:xfrm>
          <a:prstGeom prst="rect">
            <a:avLst/>
          </a:prstGeom>
          <a:solidFill>
            <a:srgbClr val="FFFFFF"/>
          </a:solidFill>
          <a:ln w="0">
            <a:solidFill>
              <a:srgbClr val="0D685C"/>
            </a:solidFill>
          </a:ln>
        </p:spPr>
        <p:style>
          <a:lnRef idx="0"/>
          <a:fillRef idx="0"/>
          <a:effectRef idx="0"/>
          <a:fontRef idx="minor"/>
        </p:style>
        <p:txBody>
          <a:bodyPr lIns="12600" tIns="12600" rIns="12600" bIns="12600" anchor="ctr">
            <a:noAutofit/>
          </a:bodyPr>
          <a:p>
            <a:pPr algn="ctr" defTabSz="914400">
              <a:lnSpc>
                <a:spcPct val="100000"/>
              </a:lnSpc>
              <a:tabLst>
                <a:tab pos="0" algn="l"/>
              </a:tabLst>
            </a:pPr>
            <a:r>
              <a:rPr lang="en-US" sz="950" b="0" u="none" strike="noStrike">
                <a:solidFill>
                  <a:srgbClr val="173C37"/>
                </a:solidFill>
                <a:effectLst/>
                <a:uFillTx/>
                <a:latin typeface="AppleGothic"/>
                <a:ea typeface="AppleGothic"/>
              </a:rPr>
              <a:t>6:1</a:t>
            </a:r>
            <a:endParaRPr lang="en-US" sz="950" b="0" u="none" strike="noStrike">
              <a:solidFill>
                <a:srgbClr val="000000"/>
              </a:solidFill>
              <a:effectLst/>
              <a:uFillTx/>
              <a:latin typeface="Arial"/>
            </a:endParaRPr>
          </a:p>
        </p:txBody>
      </p:sp>
      <p:sp>
        <p:nvSpPr>
          <p:cNvPr id="161" name="mechanism-node-view1"/>
          <p:cNvSpPr/>
          <p:nvPr/>
        </p:nvSpPr>
        <p:spPr>
          <a:xfrm>
            <a:off x="4292640" y="4235400"/>
            <a:ext cx="2069640" cy="228240"/>
          </a:xfrm>
          <a:prstGeom prst="rect">
            <a:avLst/>
          </a:prstGeom>
          <a:noFill/>
          <a:ln w="0">
            <a:noFill/>
          </a:ln>
        </p:spPr>
        <p:style>
          <a:lnRef idx="0"/>
          <a:fillRef idx="0"/>
          <a:effectRef idx="0"/>
          <a:fontRef idx="minor"/>
        </p:style>
        <p:txBody>
          <a:bodyPr lIns="0" tIns="0" rIns="0" bIns="0" anchor="ctr">
            <a:noAutofit/>
          </a:bodyPr>
          <a:p>
            <a:pPr algn="ctr" defTabSz="914400">
              <a:lnSpc>
                <a:spcPct val="120000"/>
              </a:lnSpc>
              <a:tabLst>
                <a:tab pos="0" algn="l"/>
              </a:tabLst>
            </a:pPr>
            <a:r>
              <a:rPr lang="en-US" sz="1150" b="1" u="none" strike="noStrike">
                <a:solidFill>
                  <a:srgbClr val="0D685C"/>
                </a:solidFill>
                <a:effectLst/>
                <a:uFillTx/>
                <a:latin typeface="AppleGothic"/>
                <a:ea typeface="AppleGothic"/>
              </a:rPr>
              <a:t>Incident edges</a:t>
            </a:r>
            <a:endParaRPr lang="en-US" sz="1150" b="0" u="none" strike="noStrike">
              <a:solidFill>
                <a:srgbClr val="000000"/>
              </a:solidFill>
              <a:effectLst/>
              <a:uFillTx/>
              <a:latin typeface="Arial"/>
            </a:endParaRPr>
          </a:p>
        </p:txBody>
      </p:sp>
      <p:sp>
        <p:nvSpPr>
          <p:cNvPr id="162" name="mechanism-node-view1-queue-1"/>
          <p:cNvSpPr/>
          <p:nvPr/>
        </p:nvSpPr>
        <p:spPr>
          <a:xfrm>
            <a:off x="4292640" y="4489560"/>
            <a:ext cx="2069640" cy="190080"/>
          </a:xfrm>
          <a:prstGeom prst="rect">
            <a:avLst/>
          </a:prstGeom>
          <a:solidFill>
            <a:srgbClr val="FFFFFF"/>
          </a:solidFill>
          <a:ln w="0">
            <a:solidFill>
              <a:srgbClr val="0D685C"/>
            </a:solidFill>
          </a:ln>
        </p:spPr>
        <p:style>
          <a:lnRef idx="0"/>
          <a:fillRef idx="0"/>
          <a:effectRef idx="0"/>
          <a:fontRef idx="minor"/>
        </p:style>
        <p:txBody>
          <a:bodyPr lIns="12600" tIns="12600" rIns="12600" bIns="12600" anchor="ctr">
            <a:noAutofit/>
          </a:bodyPr>
          <a:p>
            <a:pPr algn="ctr" defTabSz="914400">
              <a:lnSpc>
                <a:spcPct val="100000"/>
              </a:lnSpc>
              <a:tabLst>
                <a:tab pos="0" algn="l"/>
              </a:tabLst>
            </a:pPr>
            <a:r>
              <a:rPr lang="en-US" sz="950" b="0" u="none" strike="noStrike">
                <a:solidFill>
                  <a:srgbClr val="173C37"/>
                </a:solidFill>
                <a:effectLst/>
                <a:uFillTx/>
                <a:latin typeface="AppleGothic"/>
                <a:ea typeface="AppleGothic"/>
              </a:rPr>
              <a:t>(4,1)</a:t>
            </a:r>
            <a:endParaRPr lang="en-US" sz="950" b="0" u="none" strike="noStrike">
              <a:solidFill>
                <a:srgbClr val="000000"/>
              </a:solidFill>
              <a:effectLst/>
              <a:uFillTx/>
              <a:latin typeface="Arial"/>
            </a:endParaRPr>
          </a:p>
        </p:txBody>
      </p:sp>
      <p:sp>
        <p:nvSpPr>
          <p:cNvPr id="163" name="mechanism-node-view1-queue-2"/>
          <p:cNvSpPr/>
          <p:nvPr/>
        </p:nvSpPr>
        <p:spPr>
          <a:xfrm>
            <a:off x="4292640" y="4680000"/>
            <a:ext cx="2069640" cy="190080"/>
          </a:xfrm>
          <a:prstGeom prst="rect">
            <a:avLst/>
          </a:prstGeom>
          <a:solidFill>
            <a:srgbClr val="FFFFFF"/>
          </a:solidFill>
          <a:ln w="0">
            <a:solidFill>
              <a:srgbClr val="0D685C"/>
            </a:solidFill>
          </a:ln>
        </p:spPr>
        <p:style>
          <a:lnRef idx="0"/>
          <a:fillRef idx="0"/>
          <a:effectRef idx="0"/>
          <a:fontRef idx="minor"/>
        </p:style>
        <p:txBody>
          <a:bodyPr lIns="12600" tIns="12600" rIns="12600" bIns="12600" anchor="ctr">
            <a:noAutofit/>
          </a:bodyPr>
          <a:p>
            <a:pPr algn="ctr" defTabSz="914400">
              <a:lnSpc>
                <a:spcPct val="100000"/>
              </a:lnSpc>
              <a:tabLst>
                <a:tab pos="0" algn="l"/>
              </a:tabLst>
            </a:pPr>
            <a:r>
              <a:rPr lang="en-US" sz="950" b="0" u="none" strike="noStrike">
                <a:solidFill>
                  <a:srgbClr val="173C37"/>
                </a:solidFill>
                <a:effectLst/>
                <a:uFillTx/>
                <a:latin typeface="AppleGothic"/>
                <a:ea typeface="AppleGothic"/>
              </a:rPr>
              <a:t>(6,4)</a:t>
            </a:r>
            <a:endParaRPr lang="en-US" sz="950" b="0" u="none" strike="noStrike">
              <a:solidFill>
                <a:srgbClr val="000000"/>
              </a:solidFill>
              <a:effectLst/>
              <a:uFillTx/>
              <a:latin typeface="Arial"/>
            </a:endParaRPr>
          </a:p>
        </p:txBody>
      </p:sp>
      <p:sp>
        <p:nvSpPr>
          <p:cNvPr id="164" name="mechanism-node-rem1"/>
          <p:cNvSpPr/>
          <p:nvPr/>
        </p:nvSpPr>
        <p:spPr>
          <a:xfrm>
            <a:off x="6845400" y="4222800"/>
            <a:ext cx="2069640" cy="659880"/>
          </a:xfrm>
          <a:prstGeom prst="roundRect">
            <a:avLst>
              <a:gd name="adj" fmla="val 16667"/>
            </a:avLst>
          </a:prstGeom>
          <a:solidFill>
            <a:srgbClr val="E8F1EE"/>
          </a:solidFill>
          <a:ln w="0">
            <a:solidFill>
              <a:srgbClr val="0D685C"/>
            </a:solidFill>
          </a:ln>
        </p:spPr>
        <p:style>
          <a:lnRef idx="0"/>
          <a:fillRef idx="0"/>
          <a:effectRef idx="0"/>
          <a:fontRef idx="minor"/>
        </p:style>
        <p:txBody>
          <a:bodyPr lIns="50760" tIns="50760" rIns="50760" bIns="50760" anchor="ctr">
            <a:noAutofit/>
          </a:bodyPr>
          <a:p>
            <a:pPr algn="ctr" defTabSz="914400">
              <a:lnSpc>
                <a:spcPct val="100000"/>
              </a:lnSpc>
              <a:tabLst>
                <a:tab pos="0" algn="l"/>
              </a:tabLst>
            </a:pPr>
            <a:r>
              <a:rPr lang="en-US" sz="1150" b="1" u="none" strike="noStrike">
                <a:solidFill>
                  <a:srgbClr val="0D685C"/>
                </a:solidFill>
                <a:effectLst/>
                <a:uFillTx/>
                <a:latin typeface="AppleGothic"/>
                <a:ea typeface="AppleGothic"/>
              </a:rPr>
              <a:t>Rem on G_1</a:t>
            </a:r>
            <a:endParaRPr lang="en-US" sz="1150" b="0" u="none" strike="noStrike">
              <a:solidFill>
                <a:srgbClr val="000000"/>
              </a:solidFill>
              <a:effectLst/>
              <a:uFillTx/>
              <a:latin typeface="Arial"/>
            </a:endParaRPr>
          </a:p>
          <a:p>
            <a:pPr algn="ctr" defTabSz="914400">
              <a:lnSpc>
                <a:spcPct val="100000"/>
              </a:lnSpc>
              <a:tabLst>
                <a:tab pos="0" algn="l"/>
              </a:tabLst>
            </a:pPr>
            <a:r>
              <a:rPr lang="en-US" sz="1150" b="0" u="none" strike="noStrike">
                <a:solidFill>
                  <a:srgbClr val="173C37"/>
                </a:solidFill>
                <a:effectLst/>
                <a:uFillTx/>
                <a:latin typeface="AppleGothic"/>
                <a:ea typeface="AppleGothic"/>
              </a:rPr>
              <a:t>Local CC min=1</a:t>
            </a:r>
            <a:endParaRPr lang="en-US" sz="1150" b="0" u="none" strike="noStrike">
              <a:solidFill>
                <a:srgbClr val="000000"/>
              </a:solidFill>
              <a:effectLst/>
              <a:uFillTx/>
              <a:latin typeface="Arial"/>
            </a:endParaRPr>
          </a:p>
        </p:txBody>
      </p:sp>
      <p:sp>
        <p:nvSpPr>
          <p:cNvPr id="165" name="mechanism-node-parent1"/>
          <p:cNvSpPr/>
          <p:nvPr/>
        </p:nvSpPr>
        <p:spPr>
          <a:xfrm>
            <a:off x="9398160" y="4140360"/>
            <a:ext cx="2069640" cy="228240"/>
          </a:xfrm>
          <a:prstGeom prst="rect">
            <a:avLst/>
          </a:prstGeom>
          <a:noFill/>
          <a:ln w="0">
            <a:noFill/>
          </a:ln>
        </p:spPr>
        <p:style>
          <a:lnRef idx="0"/>
          <a:fillRef idx="0"/>
          <a:effectRef idx="0"/>
          <a:fontRef idx="minor"/>
        </p:style>
        <p:txBody>
          <a:bodyPr lIns="0" tIns="0" rIns="0" bIns="0" anchor="ctr">
            <a:noAutofit/>
          </a:bodyPr>
          <a:p>
            <a:pPr algn="ctr" defTabSz="914400">
              <a:lnSpc>
                <a:spcPct val="120000"/>
              </a:lnSpc>
              <a:tabLst>
                <a:tab pos="0" algn="l"/>
              </a:tabLst>
            </a:pPr>
            <a:r>
              <a:rPr lang="en-US" sz="1150" b="1" u="none" strike="noStrike">
                <a:solidFill>
                  <a:srgbClr val="0D685C"/>
                </a:solidFill>
                <a:effectLst/>
                <a:uFillTx/>
                <a:latin typeface="AppleGothic"/>
                <a:ea typeface="AppleGothic"/>
              </a:rPr>
              <a:t>Parent p_1</a:t>
            </a:r>
            <a:endParaRPr lang="en-US" sz="1150" b="0" u="none" strike="noStrike">
              <a:solidFill>
                <a:srgbClr val="000000"/>
              </a:solidFill>
              <a:effectLst/>
              <a:uFillTx/>
              <a:latin typeface="Arial"/>
            </a:endParaRPr>
          </a:p>
        </p:txBody>
      </p:sp>
      <p:sp>
        <p:nvSpPr>
          <p:cNvPr id="166" name="mechanism-node-parent1-queue-1"/>
          <p:cNvSpPr/>
          <p:nvPr/>
        </p:nvSpPr>
        <p:spPr>
          <a:xfrm>
            <a:off x="9398160" y="4394160"/>
            <a:ext cx="2069640" cy="190080"/>
          </a:xfrm>
          <a:prstGeom prst="rect">
            <a:avLst/>
          </a:prstGeom>
          <a:solidFill>
            <a:srgbClr val="FFFFFF"/>
          </a:solidFill>
          <a:ln w="0">
            <a:solidFill>
              <a:srgbClr val="0D685C"/>
            </a:solidFill>
          </a:ln>
        </p:spPr>
        <p:style>
          <a:lnRef idx="0"/>
          <a:fillRef idx="0"/>
          <a:effectRef idx="0"/>
          <a:fontRef idx="minor"/>
        </p:style>
        <p:txBody>
          <a:bodyPr lIns="12600" tIns="12600" rIns="12600" bIns="12600" anchor="ctr">
            <a:noAutofit/>
          </a:bodyPr>
          <a:p>
            <a:pPr algn="ctr" defTabSz="914400">
              <a:lnSpc>
                <a:spcPct val="100000"/>
              </a:lnSpc>
              <a:tabLst>
                <a:tab pos="0" algn="l"/>
              </a:tabLst>
            </a:pPr>
            <a:r>
              <a:rPr lang="en-US" sz="950" b="0" u="none" strike="noStrike">
                <a:solidFill>
                  <a:srgbClr val="173C37"/>
                </a:solidFill>
                <a:effectLst/>
                <a:uFillTx/>
                <a:latin typeface="AppleGothic"/>
                <a:ea typeface="AppleGothic"/>
              </a:rPr>
              <a:t>1:1</a:t>
            </a:r>
            <a:endParaRPr lang="en-US" sz="950" b="0" u="none" strike="noStrike">
              <a:solidFill>
                <a:srgbClr val="000000"/>
              </a:solidFill>
              <a:effectLst/>
              <a:uFillTx/>
              <a:latin typeface="Arial"/>
            </a:endParaRPr>
          </a:p>
        </p:txBody>
      </p:sp>
      <p:sp>
        <p:nvSpPr>
          <p:cNvPr id="167" name="mechanism-node-parent1-queue-2"/>
          <p:cNvSpPr/>
          <p:nvPr/>
        </p:nvSpPr>
        <p:spPr>
          <a:xfrm>
            <a:off x="9398160" y="4584600"/>
            <a:ext cx="2069640" cy="190080"/>
          </a:xfrm>
          <a:prstGeom prst="rect">
            <a:avLst/>
          </a:prstGeom>
          <a:solidFill>
            <a:srgbClr val="FFFFFF"/>
          </a:solidFill>
          <a:ln w="0">
            <a:solidFill>
              <a:srgbClr val="0D685C"/>
            </a:solidFill>
          </a:ln>
        </p:spPr>
        <p:style>
          <a:lnRef idx="0"/>
          <a:fillRef idx="0"/>
          <a:effectRef idx="0"/>
          <a:fontRef idx="minor"/>
        </p:style>
        <p:txBody>
          <a:bodyPr lIns="12600" tIns="12600" rIns="12600" bIns="12600" anchor="ctr">
            <a:noAutofit/>
          </a:bodyPr>
          <a:p>
            <a:pPr algn="ctr" defTabSz="914400">
              <a:lnSpc>
                <a:spcPct val="100000"/>
              </a:lnSpc>
              <a:tabLst>
                <a:tab pos="0" algn="l"/>
              </a:tabLst>
            </a:pPr>
            <a:r>
              <a:rPr lang="en-US" sz="950" b="0" u="none" strike="noStrike">
                <a:solidFill>
                  <a:srgbClr val="173C37"/>
                </a:solidFill>
                <a:effectLst/>
                <a:uFillTx/>
                <a:latin typeface="AppleGothic"/>
                <a:ea typeface="AppleGothic"/>
              </a:rPr>
              <a:t>4:1</a:t>
            </a:r>
            <a:endParaRPr lang="en-US" sz="950" b="0" u="none" strike="noStrike">
              <a:solidFill>
                <a:srgbClr val="000000"/>
              </a:solidFill>
              <a:effectLst/>
              <a:uFillTx/>
              <a:latin typeface="Arial"/>
            </a:endParaRPr>
          </a:p>
        </p:txBody>
      </p:sp>
      <p:sp>
        <p:nvSpPr>
          <p:cNvPr id="168" name="mechanism-node-parent1-queue-3"/>
          <p:cNvSpPr/>
          <p:nvPr/>
        </p:nvSpPr>
        <p:spPr>
          <a:xfrm>
            <a:off x="9398160" y="4775040"/>
            <a:ext cx="2069640" cy="190080"/>
          </a:xfrm>
          <a:prstGeom prst="rect">
            <a:avLst/>
          </a:prstGeom>
          <a:solidFill>
            <a:srgbClr val="FFFFFF"/>
          </a:solidFill>
          <a:ln w="0">
            <a:solidFill>
              <a:srgbClr val="0D685C"/>
            </a:solidFill>
          </a:ln>
        </p:spPr>
        <p:style>
          <a:lnRef idx="0"/>
          <a:fillRef idx="0"/>
          <a:effectRef idx="0"/>
          <a:fontRef idx="minor"/>
        </p:style>
        <p:txBody>
          <a:bodyPr lIns="12600" tIns="12600" rIns="12600" bIns="12600" anchor="ctr">
            <a:noAutofit/>
          </a:bodyPr>
          <a:p>
            <a:pPr algn="ctr" defTabSz="914400">
              <a:lnSpc>
                <a:spcPct val="100000"/>
              </a:lnSpc>
              <a:tabLst>
                <a:tab pos="0" algn="l"/>
              </a:tabLst>
            </a:pPr>
            <a:r>
              <a:rPr lang="en-US" sz="950" b="0" u="none" strike="noStrike">
                <a:solidFill>
                  <a:srgbClr val="173C37"/>
                </a:solidFill>
                <a:effectLst/>
                <a:uFillTx/>
                <a:latin typeface="AppleGothic"/>
                <a:ea typeface="AppleGothic"/>
              </a:rPr>
              <a:t>6:1</a:t>
            </a:r>
            <a:endParaRPr lang="en-US" sz="950" b="0" u="none" strike="noStrike">
              <a:solidFill>
                <a:srgbClr val="000000"/>
              </a:solidFill>
              <a:effectLst/>
              <a:uFillTx/>
              <a:latin typeface="Arial"/>
            </a:endParaRPr>
          </a:p>
        </p:txBody>
      </p:sp>
      <p:sp>
        <p:nvSpPr>
          <p:cNvPr id="169" name="Shape 33"/>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70" name="Text 34"/>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750" b="1" u="none" strike="noStrike">
                <a:solidFill>
                  <a:srgbClr val="173C37"/>
                </a:solidFill>
                <a:effectLst/>
                <a:uFillTx/>
                <a:latin typeface="AppleGothic"/>
                <a:ea typeface="AppleGothic"/>
              </a:rPr>
              <a:t>같은 </a:t>
            </a:r>
            <a:r>
              <a:rPr lang="en-US" sz="1750" b="1" u="none" strike="noStrike">
                <a:solidFill>
                  <a:srgbClr val="173C37"/>
                </a:solidFill>
                <a:effectLst/>
                <a:uFillTx/>
                <a:latin typeface="AppleGothic"/>
                <a:ea typeface="AppleGothic"/>
              </a:rPr>
              <a:t>cross edges</a:t>
            </a:r>
            <a:r>
              <a:rPr lang="ko-KR" sz="1750" b="1" u="none" strike="noStrike">
                <a:solidFill>
                  <a:srgbClr val="173C37"/>
                </a:solidFill>
                <a:effectLst/>
                <a:uFillTx/>
                <a:latin typeface="AppleGothic"/>
                <a:ea typeface="AppleGothic"/>
              </a:rPr>
              <a:t>가 두 </a:t>
            </a:r>
            <a:r>
              <a:rPr lang="en-US" sz="1750" b="1" u="none" strike="noStrike">
                <a:solidFill>
                  <a:srgbClr val="173C37"/>
                </a:solidFill>
                <a:effectLst/>
                <a:uFillTx/>
                <a:latin typeface="AppleGothic"/>
                <a:ea typeface="AppleGothic"/>
              </a:rPr>
              <a:t>local views</a:t>
            </a:r>
            <a:r>
              <a:rPr lang="ko-KR" sz="1750" b="1" u="none" strike="noStrike">
                <a:solidFill>
                  <a:srgbClr val="173C37"/>
                </a:solidFill>
                <a:effectLst/>
                <a:uFillTx/>
                <a:latin typeface="AppleGothic"/>
                <a:ea typeface="AppleGothic"/>
              </a:rPr>
              <a:t>에 존재하며 각 </a:t>
            </a:r>
            <a:r>
              <a:rPr lang="en-US" sz="1750" b="1" u="none" strike="noStrike">
                <a:solidFill>
                  <a:srgbClr val="173C37"/>
                </a:solidFill>
                <a:effectLst/>
                <a:uFillTx/>
                <a:latin typeface="AppleGothic"/>
                <a:ea typeface="AppleGothic"/>
              </a:rPr>
              <a:t>Rem</a:t>
            </a:r>
            <a:r>
              <a:rPr lang="ko-KR" sz="1750" b="1" u="none" strike="noStrike">
                <a:solidFill>
                  <a:srgbClr val="173C37"/>
                </a:solidFill>
                <a:effectLst/>
                <a:uFillTx/>
                <a:latin typeface="AppleGothic"/>
                <a:ea typeface="AppleGothic"/>
              </a:rPr>
              <a:t>은 같은 </a:t>
            </a:r>
            <a:r>
              <a:rPr lang="en-US" sz="1750" b="1" u="none" strike="noStrike">
                <a:solidFill>
                  <a:srgbClr val="173C37"/>
                </a:solidFill>
                <a:effectLst/>
                <a:uFillTx/>
                <a:latin typeface="AppleGothic"/>
                <a:ea typeface="AppleGothic"/>
              </a:rPr>
              <a:t>minimum parent</a:t>
            </a:r>
            <a:r>
              <a:rPr lang="ko-KR" sz="1750" b="1" u="none" strike="noStrike">
                <a:solidFill>
                  <a:srgbClr val="173C37"/>
                </a:solidFill>
                <a:effectLst/>
                <a:uFillTx/>
                <a:latin typeface="AppleGothic"/>
                <a:ea typeface="AppleGothic"/>
              </a:rPr>
              <a:t>를 찾는다</a:t>
            </a:r>
            <a:endParaRPr lang="en-US" sz="1750" b="0" u="none" strike="noStrike">
              <a:solidFill>
                <a:srgbClr val="000000"/>
              </a:solidFill>
              <a:effectLst/>
              <a:uFillTx/>
              <a:latin typeface="Arial"/>
            </a:endParaRPr>
          </a:p>
        </p:txBody>
      </p:sp>
      <p:sp>
        <p:nvSpPr>
          <p:cNvPr id="171" name="Shape 35"/>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72" name="Text 36"/>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unicon-paper pp. 7-8, Fig. 3 and Theorem 1; values illustrative</a:t>
            </a:r>
            <a:endParaRPr lang="en-US" sz="1050" b="0" u="none" strike="noStrike">
              <a:solidFill>
                <a:srgbClr val="000000"/>
              </a:solidFill>
              <a:effectLst/>
              <a:uFillTx/>
              <a:latin typeface="Arial"/>
            </a:endParaRPr>
          </a:p>
        </p:txBody>
      </p:sp>
      <p:sp>
        <p:nvSpPr>
          <p:cNvPr id="173" name="Text 37"/>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09</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4"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Parent mapping</a:t>
            </a:r>
            <a:r>
              <a:rPr lang="ko-KR" sz="3100" b="1" u="none" strike="noStrike">
                <a:solidFill>
                  <a:srgbClr val="173C37"/>
                </a:solidFill>
                <a:effectLst/>
                <a:uFillTx/>
                <a:latin typeface="AppleGothic"/>
                <a:ea typeface="AppleGothic"/>
              </a:rPr>
              <a:t>에서 </a:t>
            </a:r>
            <a:r>
              <a:rPr lang="en-US" sz="3100" b="1" u="none" strike="noStrike">
                <a:solidFill>
                  <a:srgbClr val="173C37"/>
                </a:solidFill>
                <a:effectLst/>
                <a:uFillTx/>
                <a:latin typeface="AppleGothic"/>
                <a:ea typeface="AppleGothic"/>
              </a:rPr>
              <a:t>output edge</a:t>
            </a:r>
            <a:r>
              <a:rPr lang="ko-KR" sz="3100" b="1" u="none" strike="noStrike">
                <a:solidFill>
                  <a:srgbClr val="173C37"/>
                </a:solidFill>
                <a:effectLst/>
                <a:uFillTx/>
                <a:latin typeface="AppleGothic"/>
                <a:ea typeface="AppleGothic"/>
              </a:rPr>
              <a:t>까지</a:t>
            </a:r>
            <a:endParaRPr lang="en-US" sz="3100" b="0" u="none" strike="noStrike">
              <a:solidFill>
                <a:srgbClr val="000000"/>
              </a:solidFill>
              <a:effectLst/>
              <a:uFillTx/>
              <a:latin typeface="Arial"/>
            </a:endParaRPr>
          </a:p>
        </p:txBody>
      </p:sp>
      <p:sp>
        <p:nvSpPr>
          <p:cNvPr id="175"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900" b="0" u="none" strike="noStrike">
                <a:solidFill>
                  <a:srgbClr val="0D685C"/>
                </a:solidFill>
                <a:effectLst/>
                <a:uFillTx/>
                <a:latin typeface="AppleGothic"/>
                <a:ea typeface="AppleGothic"/>
              </a:rPr>
              <a:t>두 </a:t>
            </a:r>
            <a:r>
              <a:rPr lang="en-US" sz="1900" b="0" u="none" strike="noStrike">
                <a:solidFill>
                  <a:srgbClr val="0D685C"/>
                </a:solidFill>
                <a:effectLst/>
                <a:uFillTx/>
                <a:latin typeface="AppleGothic"/>
                <a:ea typeface="AppleGothic"/>
              </a:rPr>
              <a:t>local outputs</a:t>
            </a:r>
            <a:r>
              <a:rPr lang="ko-KR" sz="1900" b="0" u="none" strike="noStrike">
                <a:solidFill>
                  <a:srgbClr val="0D685C"/>
                </a:solidFill>
                <a:effectLst/>
                <a:uFillTx/>
                <a:latin typeface="AppleGothic"/>
                <a:ea typeface="AppleGothic"/>
              </a:rPr>
              <a:t>의 </a:t>
            </a:r>
            <a:r>
              <a:rPr lang="en-US" sz="1900" b="0" u="none" strike="noStrike">
                <a:solidFill>
                  <a:srgbClr val="0D685C"/>
                </a:solidFill>
                <a:effectLst/>
                <a:uFillTx/>
                <a:latin typeface="AppleGothic"/>
                <a:ea typeface="AppleGothic"/>
              </a:rPr>
              <a:t>set union</a:t>
            </a:r>
            <a:r>
              <a:rPr lang="ko-KR" sz="1900" b="0" u="none" strike="noStrike">
                <a:solidFill>
                  <a:srgbClr val="0D685C"/>
                </a:solidFill>
                <a:effectLst/>
                <a:uFillTx/>
                <a:latin typeface="AppleGothic"/>
                <a:ea typeface="AppleGothic"/>
              </a:rPr>
              <a:t>은 </a:t>
            </a:r>
            <a:r>
              <a:rPr lang="en-US" sz="1900" b="0" u="none" strike="noStrike">
                <a:solidFill>
                  <a:srgbClr val="0D685C"/>
                </a:solidFill>
                <a:effectLst/>
                <a:uFillTx/>
                <a:latin typeface="AppleGothic"/>
                <a:ea typeface="AppleGothic"/>
              </a:rPr>
              <a:t>duplicate</a:t>
            </a:r>
            <a:r>
              <a:rPr lang="ko-KR" sz="1900" b="0" u="none" strike="noStrike">
                <a:solidFill>
                  <a:srgbClr val="0D685C"/>
                </a:solidFill>
                <a:effectLst/>
                <a:uFillTx/>
                <a:latin typeface="AppleGothic"/>
                <a:ea typeface="AppleGothic"/>
              </a:rPr>
              <a:t>를 한 번만 남기고 같은 </a:t>
            </a:r>
            <a:r>
              <a:rPr lang="en-US" sz="1900" b="0" u="none" strike="noStrike">
                <a:solidFill>
                  <a:srgbClr val="0D685C"/>
                </a:solidFill>
                <a:effectLst/>
                <a:uFillTx/>
                <a:latin typeface="AppleGothic"/>
                <a:ea typeface="AppleGothic"/>
              </a:rPr>
              <a:t>component</a:t>
            </a:r>
            <a:r>
              <a:rPr lang="ko-KR" sz="1900" b="0" u="none" strike="noStrike">
                <a:solidFill>
                  <a:srgbClr val="0D685C"/>
                </a:solidFill>
                <a:effectLst/>
                <a:uFillTx/>
                <a:latin typeface="AppleGothic"/>
                <a:ea typeface="AppleGothic"/>
              </a:rPr>
              <a:t>를 표현한다</a:t>
            </a:r>
            <a:endParaRPr lang="en-US" sz="1900" b="0" u="none" strike="noStrike">
              <a:solidFill>
                <a:srgbClr val="000000"/>
              </a:solidFill>
              <a:effectLst/>
              <a:uFillTx/>
              <a:latin typeface="Arial"/>
            </a:endParaRPr>
          </a:p>
        </p:txBody>
      </p:sp>
      <p:graphicFrame>
        <p:nvGraphicFramePr>
          <p:cNvPr id="176" name="Table 0"/>
          <p:cNvGraphicFramePr/>
          <p:nvPr/>
        </p:nvGraphicFramePr>
        <p:xfrm>
          <a:off x="660240" y="2082960"/>
          <a:ext cx="10870920" cy="3314520"/>
        </p:xfrm>
        <a:graphic>
          <a:graphicData uri="http://schemas.openxmlformats.org/drawingml/2006/table">
            <a:tbl>
              <a:tblPr/>
              <a:tblGrid>
                <a:gridCol w="1956600"/>
                <a:gridCol w="1739160"/>
                <a:gridCol w="2174040"/>
                <a:gridCol w="1956600"/>
                <a:gridCol w="3043800"/>
              </a:tblGrid>
              <a:tr h="495000">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State</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Vertex 1</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Vertex 4</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Vertex 6</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Edge set</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Input</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self</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adjacent to 1,6</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adjacent to 4</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{(4,1),(6,4)}</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p on G_0</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1</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1</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1</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local CC min=1</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p on G_1</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1</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1</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1</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local CC min=1</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Union output</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representative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4 to 1</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6 to 1</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{(4,1),(6,1)}</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bl>
          </a:graphicData>
        </a:graphic>
      </p:graphicFrame>
      <p:sp>
        <p:nvSpPr>
          <p:cNvPr id="177" name="Shape 2"/>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78" name="Text 3"/>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Input path</a:t>
            </a:r>
            <a:r>
              <a:rPr lang="ko-KR" sz="1750" b="1" u="none" strike="noStrike">
                <a:solidFill>
                  <a:srgbClr val="173C37"/>
                </a:solidFill>
                <a:effectLst/>
                <a:uFillTx/>
                <a:latin typeface="AppleGothic"/>
                <a:ea typeface="AppleGothic"/>
              </a:rPr>
              <a:t>와 </a:t>
            </a:r>
            <a:r>
              <a:rPr lang="en-US" sz="1750" b="1" u="none" strike="noStrike">
                <a:solidFill>
                  <a:srgbClr val="173C37"/>
                </a:solidFill>
                <a:effectLst/>
                <a:uFillTx/>
                <a:latin typeface="AppleGothic"/>
                <a:ea typeface="AppleGothic"/>
              </a:rPr>
              <a:t>output star</a:t>
            </a:r>
            <a:r>
              <a:rPr lang="ko-KR" sz="1750" b="1" u="none" strike="noStrike">
                <a:solidFill>
                  <a:srgbClr val="173C37"/>
                </a:solidFill>
                <a:effectLst/>
                <a:uFillTx/>
                <a:latin typeface="AppleGothic"/>
                <a:ea typeface="AppleGothic"/>
              </a:rPr>
              <a:t>는 </a:t>
            </a:r>
            <a:r>
              <a:rPr lang="en-US" sz="1750" b="1" u="none" strike="noStrike">
                <a:solidFill>
                  <a:srgbClr val="173C37"/>
                </a:solidFill>
                <a:effectLst/>
                <a:uFillTx/>
                <a:latin typeface="AppleGothic"/>
                <a:ea typeface="AppleGothic"/>
              </a:rPr>
              <a:t>edge</a:t>
            </a:r>
            <a:r>
              <a:rPr lang="ko-KR" sz="1750" b="1" u="none" strike="noStrike">
                <a:solidFill>
                  <a:srgbClr val="173C37"/>
                </a:solidFill>
                <a:effectLst/>
                <a:uFillTx/>
                <a:latin typeface="AppleGothic"/>
                <a:ea typeface="AppleGothic"/>
              </a:rPr>
              <a:t>가 달라도 </a:t>
            </a:r>
            <a:r>
              <a:rPr lang="en-US" sz="1750" b="1" u="none" strike="noStrike">
                <a:solidFill>
                  <a:srgbClr val="173C37"/>
                </a:solidFill>
                <a:effectLst/>
                <a:uFillTx/>
                <a:latin typeface="AppleGothic"/>
                <a:ea typeface="AppleGothic"/>
              </a:rPr>
              <a:t>component {1,4,6}</a:t>
            </a:r>
            <a:r>
              <a:rPr lang="ko-KR" sz="1750" b="1" u="none" strike="noStrike">
                <a:solidFill>
                  <a:srgbClr val="173C37"/>
                </a:solidFill>
                <a:effectLst/>
                <a:uFillTx/>
                <a:latin typeface="AppleGothic"/>
                <a:ea typeface="AppleGothic"/>
              </a:rPr>
              <a:t>을 동일하게 보존한다</a:t>
            </a:r>
            <a:endParaRPr lang="en-US" sz="1750" b="0" u="none" strike="noStrike">
              <a:solidFill>
                <a:srgbClr val="000000"/>
              </a:solidFill>
              <a:effectLst/>
              <a:uFillTx/>
              <a:latin typeface="Arial"/>
            </a:endParaRPr>
          </a:p>
        </p:txBody>
      </p:sp>
      <p:sp>
        <p:nvSpPr>
          <p:cNvPr id="179" name="Shape 4"/>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80" name="Text 5"/>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unicon-paper pp. 7-8, Theorem 1; values illustrative</a:t>
            </a:r>
            <a:endParaRPr lang="en-US" sz="1050" b="0" u="none" strike="noStrike">
              <a:solidFill>
                <a:srgbClr val="000000"/>
              </a:solidFill>
              <a:effectLst/>
              <a:uFillTx/>
              <a:latin typeface="Arial"/>
            </a:endParaRPr>
          </a:p>
        </p:txBody>
      </p:sp>
      <p:sp>
        <p:nvSpPr>
          <p:cNvPr id="181" name="Text 6"/>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10</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82"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UniStar </a:t>
            </a:r>
            <a:r>
              <a:rPr lang="ko-KR" sz="3100" b="1" u="none" strike="noStrike">
                <a:solidFill>
                  <a:srgbClr val="173C37"/>
                </a:solidFill>
                <a:effectLst/>
                <a:uFillTx/>
                <a:latin typeface="AppleGothic"/>
                <a:ea typeface="AppleGothic"/>
              </a:rPr>
              <a:t>한 </a:t>
            </a:r>
            <a:r>
              <a:rPr lang="en-US" sz="3100" b="1" u="none" strike="noStrike">
                <a:solidFill>
                  <a:srgbClr val="173C37"/>
                </a:solidFill>
                <a:effectLst/>
                <a:uFillTx/>
                <a:latin typeface="AppleGothic"/>
                <a:ea typeface="AppleGothic"/>
              </a:rPr>
              <a:t>round</a:t>
            </a:r>
            <a:r>
              <a:rPr lang="ko-KR" sz="3100" b="1" u="none" strike="noStrike">
                <a:solidFill>
                  <a:srgbClr val="173C37"/>
                </a:solidFill>
                <a:effectLst/>
                <a:uFillTx/>
                <a:latin typeface="AppleGothic"/>
                <a:ea typeface="AppleGothic"/>
              </a:rPr>
              <a:t>의 실제 계산</a:t>
            </a:r>
            <a:endParaRPr lang="en-US" sz="3100" b="0" u="none" strike="noStrike">
              <a:solidFill>
                <a:srgbClr val="000000"/>
              </a:solidFill>
              <a:effectLst/>
              <a:uFillTx/>
              <a:latin typeface="Arial"/>
            </a:endParaRPr>
          </a:p>
        </p:txBody>
      </p:sp>
      <p:sp>
        <p:nvSpPr>
          <p:cNvPr id="183"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900" b="0" u="none" strike="noStrike">
                <a:solidFill>
                  <a:srgbClr val="0D685C"/>
                </a:solidFill>
                <a:effectLst/>
                <a:uFillTx/>
                <a:latin typeface="AppleGothic"/>
                <a:ea typeface="AppleGothic"/>
              </a:rPr>
              <a:t>Partition-local CC</a:t>
            </a:r>
            <a:r>
              <a:rPr lang="ko-KR" sz="1900" b="0" u="none" strike="noStrike">
                <a:solidFill>
                  <a:srgbClr val="0D685C"/>
                </a:solidFill>
                <a:effectLst/>
                <a:uFillTx/>
                <a:latin typeface="AppleGothic"/>
                <a:ea typeface="AppleGothic"/>
              </a:rPr>
              <a:t>를 먼저 찾고 같은 </a:t>
            </a:r>
            <a:r>
              <a:rPr lang="en-US" sz="1900" b="0" u="none" strike="noStrike">
                <a:solidFill>
                  <a:srgbClr val="0D685C"/>
                </a:solidFill>
                <a:effectLst/>
                <a:uFillTx/>
                <a:latin typeface="AppleGothic"/>
                <a:ea typeface="AppleGothic"/>
              </a:rPr>
              <a:t>hash group</a:t>
            </a:r>
            <a:r>
              <a:rPr lang="ko-KR" sz="1900" b="0" u="none" strike="noStrike">
                <a:solidFill>
                  <a:srgbClr val="0D685C"/>
                </a:solidFill>
                <a:effectLst/>
                <a:uFillTx/>
                <a:latin typeface="AppleGothic"/>
                <a:ea typeface="AppleGothic"/>
              </a:rPr>
              <a:t>의 </a:t>
            </a:r>
            <a:r>
              <a:rPr lang="en-US" sz="1900" b="0" u="none" strike="noStrike">
                <a:solidFill>
                  <a:srgbClr val="0D685C"/>
                </a:solidFill>
                <a:effectLst/>
                <a:uFillTx/>
                <a:latin typeface="AppleGothic"/>
                <a:ea typeface="AppleGothic"/>
              </a:rPr>
              <a:t>local minimum</a:t>
            </a:r>
            <a:r>
              <a:rPr lang="ko-KR" sz="1900" b="0" u="none" strike="noStrike">
                <a:solidFill>
                  <a:srgbClr val="0D685C"/>
                </a:solidFill>
                <a:effectLst/>
                <a:uFillTx/>
                <a:latin typeface="AppleGothic"/>
                <a:ea typeface="AppleGothic"/>
              </a:rPr>
              <a:t>을 경유해 </a:t>
            </a:r>
            <a:r>
              <a:rPr lang="en-US" sz="1900" b="0" u="none" strike="noStrike">
                <a:solidFill>
                  <a:srgbClr val="0D685C"/>
                </a:solidFill>
                <a:effectLst/>
                <a:uFillTx/>
                <a:latin typeface="AppleGothic"/>
                <a:ea typeface="AppleGothic"/>
              </a:rPr>
              <a:t>output edges</a:t>
            </a:r>
            <a:r>
              <a:rPr lang="ko-KR" sz="1900" b="0" u="none" strike="noStrike">
                <a:solidFill>
                  <a:srgbClr val="0D685C"/>
                </a:solidFill>
                <a:effectLst/>
                <a:uFillTx/>
                <a:latin typeface="AppleGothic"/>
                <a:ea typeface="AppleGothic"/>
              </a:rPr>
              <a:t>를 만든다</a:t>
            </a:r>
            <a:endParaRPr lang="en-US" sz="1900" b="0" u="none" strike="noStrike">
              <a:solidFill>
                <a:srgbClr val="000000"/>
              </a:solidFill>
              <a:effectLst/>
              <a:uFillTx/>
              <a:latin typeface="Arial"/>
            </a:endParaRPr>
          </a:p>
        </p:txBody>
      </p:sp>
      <p:sp>
        <p:nvSpPr>
          <p:cNvPr id="184" name="Text 2"/>
          <p:cNvSpPr/>
          <p:nvPr/>
        </p:nvSpPr>
        <p:spPr>
          <a:xfrm>
            <a:off x="660240" y="210816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01</a:t>
            </a:r>
            <a:endParaRPr lang="en-US" sz="2200" b="0" u="none" strike="noStrike">
              <a:solidFill>
                <a:srgbClr val="000000"/>
              </a:solidFill>
              <a:effectLst/>
              <a:uFillTx/>
              <a:latin typeface="Arial"/>
            </a:endParaRPr>
          </a:p>
        </p:txBody>
      </p:sp>
      <p:sp>
        <p:nvSpPr>
          <p:cNvPr id="185" name="Text 3"/>
          <p:cNvSpPr/>
          <p:nvPr/>
        </p:nvSpPr>
        <p:spPr>
          <a:xfrm>
            <a:off x="1397160" y="210816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Hash vertices</a:t>
            </a:r>
            <a:endParaRPr lang="en-US" sz="1900" b="0" u="none" strike="noStrike">
              <a:solidFill>
                <a:srgbClr val="000000"/>
              </a:solidFill>
              <a:effectLst/>
              <a:uFillTx/>
              <a:latin typeface="Arial"/>
            </a:endParaRPr>
          </a:p>
        </p:txBody>
      </p:sp>
      <p:sp>
        <p:nvSpPr>
          <p:cNvPr id="186" name="Text 4"/>
          <p:cNvSpPr/>
          <p:nvPr/>
        </p:nvSpPr>
        <p:spPr>
          <a:xfrm>
            <a:off x="4152960" y="210816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xi(u)</a:t>
            </a:r>
            <a:r>
              <a:rPr lang="ko-KR" sz="1650" b="0" u="none" strike="noStrike">
                <a:solidFill>
                  <a:srgbClr val="173C37"/>
                </a:solidFill>
                <a:effectLst/>
                <a:uFillTx/>
                <a:latin typeface="AppleGothic"/>
                <a:ea typeface="AppleGothic"/>
              </a:rPr>
              <a:t>로 </a:t>
            </a:r>
            <a:r>
              <a:rPr lang="en-US" sz="1650" b="0" u="none" strike="noStrike">
                <a:solidFill>
                  <a:srgbClr val="173C37"/>
                </a:solidFill>
                <a:effectLst/>
                <a:uFillTx/>
                <a:latin typeface="AppleGothic"/>
                <a:ea typeface="AppleGothic"/>
              </a:rPr>
              <a:t>rho partitions </a:t>
            </a:r>
            <a:r>
              <a:rPr lang="ko-KR" sz="1650" b="0" u="none" strike="noStrike">
                <a:solidFill>
                  <a:srgbClr val="173C37"/>
                </a:solidFill>
                <a:effectLst/>
                <a:uFillTx/>
                <a:latin typeface="AppleGothic"/>
                <a:ea typeface="AppleGothic"/>
              </a:rPr>
              <a:t>지정</a:t>
            </a:r>
            <a:endParaRPr lang="en-US" sz="1650" b="0" u="none" strike="noStrike">
              <a:solidFill>
                <a:srgbClr val="000000"/>
              </a:solidFill>
              <a:effectLst/>
              <a:uFillTx/>
              <a:latin typeface="Arial"/>
            </a:endParaRPr>
          </a:p>
        </p:txBody>
      </p:sp>
      <p:sp>
        <p:nvSpPr>
          <p:cNvPr id="187" name="Shape 5"/>
          <p:cNvSpPr/>
          <p:nvPr/>
        </p:nvSpPr>
        <p:spPr>
          <a:xfrm>
            <a:off x="1396800" y="261108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88" name="Shape 6"/>
          <p:cNvSpPr/>
          <p:nvPr/>
        </p:nvSpPr>
        <p:spPr>
          <a:xfrm>
            <a:off x="851040" y="262368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89" name="Text 7"/>
          <p:cNvSpPr/>
          <p:nvPr/>
        </p:nvSpPr>
        <p:spPr>
          <a:xfrm>
            <a:off x="660240" y="280152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02</a:t>
            </a:r>
            <a:endParaRPr lang="en-US" sz="2200" b="0" u="none" strike="noStrike">
              <a:solidFill>
                <a:srgbClr val="000000"/>
              </a:solidFill>
              <a:effectLst/>
              <a:uFillTx/>
              <a:latin typeface="Arial"/>
            </a:endParaRPr>
          </a:p>
        </p:txBody>
      </p:sp>
      <p:sp>
        <p:nvSpPr>
          <p:cNvPr id="190" name="Text 8"/>
          <p:cNvSpPr/>
          <p:nvPr/>
        </p:nvSpPr>
        <p:spPr>
          <a:xfrm>
            <a:off x="1397160" y="280152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Build G_i</a:t>
            </a:r>
            <a:endParaRPr lang="en-US" sz="1900" b="0" u="none" strike="noStrike">
              <a:solidFill>
                <a:srgbClr val="000000"/>
              </a:solidFill>
              <a:effectLst/>
              <a:uFillTx/>
              <a:latin typeface="Arial"/>
            </a:endParaRPr>
          </a:p>
        </p:txBody>
      </p:sp>
      <p:sp>
        <p:nvSpPr>
          <p:cNvPr id="191" name="Text 9"/>
          <p:cNvSpPr/>
          <p:nvPr/>
        </p:nvSpPr>
        <p:spPr>
          <a:xfrm>
            <a:off x="4152960" y="280152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[V]_i</a:t>
            </a:r>
            <a:r>
              <a:rPr lang="ko-KR" sz="1650" b="0" u="none" strike="noStrike">
                <a:solidFill>
                  <a:srgbClr val="173C37"/>
                </a:solidFill>
                <a:effectLst/>
                <a:uFillTx/>
                <a:latin typeface="AppleGothic"/>
                <a:ea typeface="AppleGothic"/>
              </a:rPr>
              <a:t>에 </a:t>
            </a:r>
            <a:r>
              <a:rPr lang="en-US" sz="1650" b="0" u="none" strike="noStrike">
                <a:solidFill>
                  <a:srgbClr val="173C37"/>
                </a:solidFill>
                <a:effectLst/>
                <a:uFillTx/>
                <a:latin typeface="AppleGothic"/>
                <a:ea typeface="AppleGothic"/>
              </a:rPr>
              <a:t>incident</a:t>
            </a:r>
            <a:r>
              <a:rPr lang="ko-KR" sz="1650" b="0" u="none" strike="noStrike">
                <a:solidFill>
                  <a:srgbClr val="173C37"/>
                </a:solidFill>
                <a:effectLst/>
                <a:uFillTx/>
                <a:latin typeface="AppleGothic"/>
                <a:ea typeface="AppleGothic"/>
              </a:rPr>
              <a:t>한 </a:t>
            </a:r>
            <a:r>
              <a:rPr lang="en-US" sz="1650" b="0" u="none" strike="noStrike">
                <a:solidFill>
                  <a:srgbClr val="173C37"/>
                </a:solidFill>
                <a:effectLst/>
                <a:uFillTx/>
                <a:latin typeface="AppleGothic"/>
                <a:ea typeface="AppleGothic"/>
              </a:rPr>
              <a:t>edges</a:t>
            </a:r>
            <a:r>
              <a:rPr lang="ko-KR" sz="1650" b="0" u="none" strike="noStrike">
                <a:solidFill>
                  <a:srgbClr val="173C37"/>
                </a:solidFill>
                <a:effectLst/>
                <a:uFillTx/>
                <a:latin typeface="AppleGothic"/>
                <a:ea typeface="AppleGothic"/>
              </a:rPr>
              <a:t>를 모아 </a:t>
            </a:r>
            <a:r>
              <a:rPr lang="en-US" sz="1650" b="0" u="none" strike="noStrike">
                <a:solidFill>
                  <a:srgbClr val="173C37"/>
                </a:solidFill>
                <a:effectLst/>
                <a:uFillTx/>
                <a:latin typeface="AppleGothic"/>
                <a:ea typeface="AppleGothic"/>
              </a:rPr>
              <a:t>overlap view </a:t>
            </a:r>
            <a:r>
              <a:rPr lang="ko-KR" sz="1650" b="0" u="none" strike="noStrike">
                <a:solidFill>
                  <a:srgbClr val="173C37"/>
                </a:solidFill>
                <a:effectLst/>
                <a:uFillTx/>
                <a:latin typeface="AppleGothic"/>
                <a:ea typeface="AppleGothic"/>
              </a:rPr>
              <a:t>생성</a:t>
            </a:r>
            <a:endParaRPr lang="en-US" sz="1650" b="0" u="none" strike="noStrike">
              <a:solidFill>
                <a:srgbClr val="000000"/>
              </a:solidFill>
              <a:effectLst/>
              <a:uFillTx/>
              <a:latin typeface="Arial"/>
            </a:endParaRPr>
          </a:p>
        </p:txBody>
      </p:sp>
      <p:sp>
        <p:nvSpPr>
          <p:cNvPr id="192" name="Shape 10"/>
          <p:cNvSpPr/>
          <p:nvPr/>
        </p:nvSpPr>
        <p:spPr>
          <a:xfrm>
            <a:off x="1396800" y="330444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93" name="Shape 11"/>
          <p:cNvSpPr/>
          <p:nvPr/>
        </p:nvSpPr>
        <p:spPr>
          <a:xfrm>
            <a:off x="851040" y="331740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94" name="Text 12"/>
          <p:cNvSpPr/>
          <p:nvPr/>
        </p:nvSpPr>
        <p:spPr>
          <a:xfrm>
            <a:off x="660240" y="349488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03</a:t>
            </a:r>
            <a:endParaRPr lang="en-US" sz="2200" b="0" u="none" strike="noStrike">
              <a:solidFill>
                <a:srgbClr val="000000"/>
              </a:solidFill>
              <a:effectLst/>
              <a:uFillTx/>
              <a:latin typeface="Arial"/>
            </a:endParaRPr>
          </a:p>
        </p:txBody>
      </p:sp>
      <p:sp>
        <p:nvSpPr>
          <p:cNvPr id="195" name="Text 13"/>
          <p:cNvSpPr/>
          <p:nvPr/>
        </p:nvSpPr>
        <p:spPr>
          <a:xfrm>
            <a:off x="1397160" y="349488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Run Rem</a:t>
            </a:r>
            <a:endParaRPr lang="en-US" sz="1900" b="0" u="none" strike="noStrike">
              <a:solidFill>
                <a:srgbClr val="000000"/>
              </a:solidFill>
              <a:effectLst/>
              <a:uFillTx/>
              <a:latin typeface="Arial"/>
            </a:endParaRPr>
          </a:p>
        </p:txBody>
      </p:sp>
      <p:sp>
        <p:nvSpPr>
          <p:cNvPr id="196" name="Text 14"/>
          <p:cNvSpPr/>
          <p:nvPr/>
        </p:nvSpPr>
        <p:spPr>
          <a:xfrm>
            <a:off x="4152960" y="349488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p(u)=minimum of local component </a:t>
            </a:r>
            <a:r>
              <a:rPr lang="ko-KR" sz="1650" b="0" u="none" strike="noStrike">
                <a:solidFill>
                  <a:srgbClr val="173C37"/>
                </a:solidFill>
                <a:effectLst/>
                <a:uFillTx/>
                <a:latin typeface="AppleGothic"/>
                <a:ea typeface="AppleGothic"/>
              </a:rPr>
              <a:t>계산</a:t>
            </a:r>
            <a:endParaRPr lang="en-US" sz="1650" b="0" u="none" strike="noStrike">
              <a:solidFill>
                <a:srgbClr val="000000"/>
              </a:solidFill>
              <a:effectLst/>
              <a:uFillTx/>
              <a:latin typeface="Arial"/>
            </a:endParaRPr>
          </a:p>
        </p:txBody>
      </p:sp>
      <p:sp>
        <p:nvSpPr>
          <p:cNvPr id="197" name="Shape 15"/>
          <p:cNvSpPr/>
          <p:nvPr/>
        </p:nvSpPr>
        <p:spPr>
          <a:xfrm>
            <a:off x="1396800" y="399780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198" name="Shape 16"/>
          <p:cNvSpPr/>
          <p:nvPr/>
        </p:nvSpPr>
        <p:spPr>
          <a:xfrm>
            <a:off x="851040" y="401076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199" name="Text 17"/>
          <p:cNvSpPr/>
          <p:nvPr/>
        </p:nvSpPr>
        <p:spPr>
          <a:xfrm>
            <a:off x="660240" y="418860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04</a:t>
            </a:r>
            <a:endParaRPr lang="en-US" sz="2200" b="0" u="none" strike="noStrike">
              <a:solidFill>
                <a:srgbClr val="000000"/>
              </a:solidFill>
              <a:effectLst/>
              <a:uFillTx/>
              <a:latin typeface="Arial"/>
            </a:endParaRPr>
          </a:p>
        </p:txBody>
      </p:sp>
      <p:sp>
        <p:nvSpPr>
          <p:cNvPr id="200" name="Text 18"/>
          <p:cNvSpPr/>
          <p:nvPr/>
        </p:nvSpPr>
        <p:spPr>
          <a:xfrm>
            <a:off x="1397160" y="418860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Emit local stars</a:t>
            </a:r>
            <a:endParaRPr lang="en-US" sz="1900" b="0" u="none" strike="noStrike">
              <a:solidFill>
                <a:srgbClr val="000000"/>
              </a:solidFill>
              <a:effectLst/>
              <a:uFillTx/>
              <a:latin typeface="Arial"/>
            </a:endParaRPr>
          </a:p>
        </p:txBody>
      </p:sp>
      <p:sp>
        <p:nvSpPr>
          <p:cNvPr id="201" name="Text 19"/>
          <p:cNvSpPr/>
          <p:nvPr/>
        </p:nvSpPr>
        <p:spPr>
          <a:xfrm>
            <a:off x="4152960" y="418860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Partition-local minimum </a:t>
            </a:r>
            <a:r>
              <a:rPr lang="ko-KR" sz="1650" b="0" u="none" strike="noStrike">
                <a:solidFill>
                  <a:srgbClr val="173C37"/>
                </a:solidFill>
                <a:effectLst/>
                <a:uFillTx/>
                <a:latin typeface="AppleGothic"/>
                <a:ea typeface="AppleGothic"/>
              </a:rPr>
              <a:t>또는 </a:t>
            </a:r>
            <a:r>
              <a:rPr lang="en-US" sz="1650" b="0" u="none" strike="noStrike">
                <a:solidFill>
                  <a:srgbClr val="173C37"/>
                </a:solidFill>
                <a:effectLst/>
                <a:uFillTx/>
                <a:latin typeface="AppleGothic"/>
                <a:ea typeface="AppleGothic"/>
              </a:rPr>
              <a:t>p(u)</a:t>
            </a:r>
            <a:r>
              <a:rPr lang="ko-KR" sz="1650" b="0" u="none" strike="noStrike">
                <a:solidFill>
                  <a:srgbClr val="173C37"/>
                </a:solidFill>
                <a:effectLst/>
                <a:uFillTx/>
                <a:latin typeface="AppleGothic"/>
                <a:ea typeface="AppleGothic"/>
              </a:rPr>
              <a:t>에 연결</a:t>
            </a:r>
            <a:endParaRPr lang="en-US" sz="1650" b="0" u="none" strike="noStrike">
              <a:solidFill>
                <a:srgbClr val="000000"/>
              </a:solidFill>
              <a:effectLst/>
              <a:uFillTx/>
              <a:latin typeface="Arial"/>
            </a:endParaRPr>
          </a:p>
        </p:txBody>
      </p:sp>
      <p:sp>
        <p:nvSpPr>
          <p:cNvPr id="202" name="Shape 20"/>
          <p:cNvSpPr/>
          <p:nvPr/>
        </p:nvSpPr>
        <p:spPr>
          <a:xfrm>
            <a:off x="1396800" y="469116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03" name="Shape 21"/>
          <p:cNvSpPr/>
          <p:nvPr/>
        </p:nvSpPr>
        <p:spPr>
          <a:xfrm>
            <a:off x="851040" y="470412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204" name="Text 22"/>
          <p:cNvSpPr/>
          <p:nvPr/>
        </p:nvSpPr>
        <p:spPr>
          <a:xfrm>
            <a:off x="660240" y="488196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05</a:t>
            </a:r>
            <a:endParaRPr lang="en-US" sz="2200" b="0" u="none" strike="noStrike">
              <a:solidFill>
                <a:srgbClr val="000000"/>
              </a:solidFill>
              <a:effectLst/>
              <a:uFillTx/>
              <a:latin typeface="Arial"/>
            </a:endParaRPr>
          </a:p>
        </p:txBody>
      </p:sp>
      <p:sp>
        <p:nvSpPr>
          <p:cNvPr id="205" name="Text 23"/>
          <p:cNvSpPr/>
          <p:nvPr/>
        </p:nvSpPr>
        <p:spPr>
          <a:xfrm>
            <a:off x="1397160" y="488196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Set union</a:t>
            </a:r>
            <a:endParaRPr lang="en-US" sz="1900" b="0" u="none" strike="noStrike">
              <a:solidFill>
                <a:srgbClr val="000000"/>
              </a:solidFill>
              <a:effectLst/>
              <a:uFillTx/>
              <a:latin typeface="Arial"/>
            </a:endParaRPr>
          </a:p>
        </p:txBody>
      </p:sp>
      <p:sp>
        <p:nvSpPr>
          <p:cNvPr id="206" name="Text 24"/>
          <p:cNvSpPr/>
          <p:nvPr/>
        </p:nvSpPr>
        <p:spPr>
          <a:xfrm>
            <a:off x="4152960" y="488196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ko-KR" sz="1650" b="0" u="none" strike="noStrike">
                <a:solidFill>
                  <a:srgbClr val="173C37"/>
                </a:solidFill>
                <a:effectLst/>
                <a:uFillTx/>
                <a:latin typeface="AppleGothic"/>
                <a:ea typeface="AppleGothic"/>
              </a:rPr>
              <a:t>모든 </a:t>
            </a:r>
            <a:r>
              <a:rPr lang="en-US" sz="1650" b="0" u="none" strike="noStrike">
                <a:solidFill>
                  <a:srgbClr val="173C37"/>
                </a:solidFill>
                <a:effectLst/>
                <a:uFillTx/>
                <a:latin typeface="AppleGothic"/>
                <a:ea typeface="AppleGothic"/>
              </a:rPr>
              <a:t>G'_i edges</a:t>
            </a:r>
            <a:r>
              <a:rPr lang="ko-KR" sz="1650" b="0" u="none" strike="noStrike">
                <a:solidFill>
                  <a:srgbClr val="173C37"/>
                </a:solidFill>
                <a:effectLst/>
                <a:uFillTx/>
                <a:latin typeface="AppleGothic"/>
                <a:ea typeface="AppleGothic"/>
              </a:rPr>
              <a:t>를 합치고 </a:t>
            </a:r>
            <a:r>
              <a:rPr lang="en-US" sz="1650" b="0" u="none" strike="noStrike">
                <a:solidFill>
                  <a:srgbClr val="173C37"/>
                </a:solidFill>
                <a:effectLst/>
                <a:uFillTx/>
                <a:latin typeface="AppleGothic"/>
                <a:ea typeface="AppleGothic"/>
              </a:rPr>
              <a:t>duplicate </a:t>
            </a:r>
            <a:r>
              <a:rPr lang="ko-KR" sz="1650" b="0" u="none" strike="noStrike">
                <a:solidFill>
                  <a:srgbClr val="173C37"/>
                </a:solidFill>
                <a:effectLst/>
                <a:uFillTx/>
                <a:latin typeface="AppleGothic"/>
                <a:ea typeface="AppleGothic"/>
              </a:rPr>
              <a:t>제거</a:t>
            </a:r>
            <a:endParaRPr lang="en-US" sz="1650" b="0" u="none" strike="noStrike">
              <a:solidFill>
                <a:srgbClr val="000000"/>
              </a:solidFill>
              <a:effectLst/>
              <a:uFillTx/>
              <a:latin typeface="Arial"/>
            </a:endParaRPr>
          </a:p>
        </p:txBody>
      </p:sp>
      <p:sp>
        <p:nvSpPr>
          <p:cNvPr id="207" name="Shape 25"/>
          <p:cNvSpPr/>
          <p:nvPr/>
        </p:nvSpPr>
        <p:spPr>
          <a:xfrm>
            <a:off x="1396800" y="538452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08" name="Shape 26"/>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09" name="Text 27"/>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Global minimum </a:t>
            </a:r>
            <a:r>
              <a:rPr lang="ko-KR" sz="1750" b="1" u="none" strike="noStrike">
                <a:solidFill>
                  <a:srgbClr val="173C37"/>
                </a:solidFill>
                <a:effectLst/>
                <a:uFillTx/>
                <a:latin typeface="AppleGothic"/>
                <a:ea typeface="AppleGothic"/>
              </a:rPr>
              <a:t>대신 </a:t>
            </a:r>
            <a:r>
              <a:rPr lang="en-US" sz="1750" b="1" u="none" strike="noStrike">
                <a:solidFill>
                  <a:srgbClr val="173C37"/>
                </a:solidFill>
                <a:effectLst/>
                <a:uFillTx/>
                <a:latin typeface="AppleGothic"/>
                <a:ea typeface="AppleGothic"/>
              </a:rPr>
              <a:t>local minimum </a:t>
            </a:r>
            <a:r>
              <a:rPr lang="ko-KR" sz="1750" b="1" u="none" strike="noStrike">
                <a:solidFill>
                  <a:srgbClr val="173C37"/>
                </a:solidFill>
                <a:effectLst/>
                <a:uFillTx/>
                <a:latin typeface="AppleGothic"/>
                <a:ea typeface="AppleGothic"/>
              </a:rPr>
              <a:t>경로로 </a:t>
            </a:r>
            <a:r>
              <a:rPr lang="en-US" sz="1750" b="1" u="none" strike="noStrike">
                <a:solidFill>
                  <a:srgbClr val="173C37"/>
                </a:solidFill>
                <a:effectLst/>
                <a:uFillTx/>
                <a:latin typeface="AppleGothic"/>
                <a:ea typeface="AppleGothic"/>
              </a:rPr>
              <a:t>connectivity</a:t>
            </a:r>
            <a:r>
              <a:rPr lang="ko-KR" sz="1750" b="1" u="none" strike="noStrike">
                <a:solidFill>
                  <a:srgbClr val="173C37"/>
                </a:solidFill>
                <a:effectLst/>
                <a:uFillTx/>
                <a:latin typeface="AppleGothic"/>
                <a:ea typeface="AppleGothic"/>
              </a:rPr>
              <a:t>를 유지한다</a:t>
            </a:r>
            <a:endParaRPr lang="en-US" sz="1750" b="0" u="none" strike="noStrike">
              <a:solidFill>
                <a:srgbClr val="000000"/>
              </a:solidFill>
              <a:effectLst/>
              <a:uFillTx/>
              <a:latin typeface="Arial"/>
            </a:endParaRPr>
          </a:p>
        </p:txBody>
      </p:sp>
      <p:sp>
        <p:nvSpPr>
          <p:cNvPr id="210" name="Shape 28"/>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11" name="Text 29"/>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unicon-paper pp. 7-8, Fig. 3 and Theorem 1</a:t>
            </a:r>
            <a:endParaRPr lang="en-US" sz="1050" b="0" u="none" strike="noStrike">
              <a:solidFill>
                <a:srgbClr val="000000"/>
              </a:solidFill>
              <a:effectLst/>
              <a:uFillTx/>
              <a:latin typeface="Arial"/>
            </a:endParaRPr>
          </a:p>
        </p:txBody>
      </p:sp>
      <p:sp>
        <p:nvSpPr>
          <p:cNvPr id="212" name="Text 30"/>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11</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3"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Intact tag</a:t>
            </a:r>
            <a:r>
              <a:rPr lang="ko-KR" sz="3100" b="1" u="none" strike="noStrike">
                <a:solidFill>
                  <a:srgbClr val="173C37"/>
                </a:solidFill>
                <a:effectLst/>
                <a:uFillTx/>
                <a:latin typeface="AppleGothic"/>
                <a:ea typeface="AppleGothic"/>
              </a:rPr>
              <a:t>가 </a:t>
            </a:r>
            <a:r>
              <a:rPr lang="en-US" sz="3100" b="1" u="none" strike="noStrike">
                <a:solidFill>
                  <a:srgbClr val="173C37"/>
                </a:solidFill>
                <a:effectLst/>
                <a:uFillTx/>
                <a:latin typeface="AppleGothic"/>
                <a:ea typeface="AppleGothic"/>
              </a:rPr>
              <a:t>duplicate input</a:t>
            </a:r>
            <a:r>
              <a:rPr lang="ko-KR" sz="3100" b="1" u="none" strike="noStrike">
                <a:solidFill>
                  <a:srgbClr val="173C37"/>
                </a:solidFill>
                <a:effectLst/>
                <a:uFillTx/>
                <a:latin typeface="AppleGothic"/>
                <a:ea typeface="AppleGothic"/>
              </a:rPr>
              <a:t>을 줄인다</a:t>
            </a:r>
            <a:endParaRPr lang="en-US" sz="3100" b="0" u="none" strike="noStrike">
              <a:solidFill>
                <a:srgbClr val="000000"/>
              </a:solidFill>
              <a:effectLst/>
              <a:uFillTx/>
              <a:latin typeface="Arial"/>
            </a:endParaRPr>
          </a:p>
        </p:txBody>
      </p:sp>
      <p:sp>
        <p:nvSpPr>
          <p:cNvPr id="214"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900" b="0" u="none" strike="noStrike">
                <a:solidFill>
                  <a:srgbClr val="0D685C"/>
                </a:solidFill>
                <a:effectLst/>
                <a:uFillTx/>
                <a:latin typeface="AppleGothic"/>
                <a:ea typeface="AppleGothic"/>
              </a:rPr>
              <a:t>Intact</a:t>
            </a:r>
            <a:r>
              <a:rPr lang="ko-KR" sz="1900" b="0" u="none" strike="noStrike">
                <a:solidFill>
                  <a:srgbClr val="0D685C"/>
                </a:solidFill>
                <a:effectLst/>
                <a:uFillTx/>
                <a:latin typeface="AppleGothic"/>
                <a:ea typeface="AppleGothic"/>
              </a:rPr>
              <a:t>는 한 </a:t>
            </a:r>
            <a:r>
              <a:rPr lang="en-US" sz="1900" b="0" u="none" strike="noStrike">
                <a:solidFill>
                  <a:srgbClr val="0D685C"/>
                </a:solidFill>
                <a:effectLst/>
                <a:uFillTx/>
                <a:latin typeface="AppleGothic"/>
                <a:ea typeface="AppleGothic"/>
              </a:rPr>
              <a:t>partition output</a:t>
            </a:r>
            <a:r>
              <a:rPr lang="ko-KR" sz="1900" b="0" u="none" strike="noStrike">
                <a:solidFill>
                  <a:srgbClr val="0D685C"/>
                </a:solidFill>
                <a:effectLst/>
                <a:uFillTx/>
                <a:latin typeface="AppleGothic"/>
                <a:ea typeface="AppleGothic"/>
              </a:rPr>
              <a:t>에서 </a:t>
            </a:r>
            <a:r>
              <a:rPr lang="en-US" sz="1900" b="0" u="none" strike="noStrike">
                <a:solidFill>
                  <a:srgbClr val="0D685C"/>
                </a:solidFill>
                <a:effectLst/>
                <a:uFillTx/>
                <a:latin typeface="AppleGothic"/>
                <a:ea typeface="AppleGothic"/>
              </a:rPr>
              <a:t>edge</a:t>
            </a:r>
            <a:r>
              <a:rPr lang="ko-KR" sz="1900" b="0" u="none" strike="noStrike">
                <a:solidFill>
                  <a:srgbClr val="0D685C"/>
                </a:solidFill>
                <a:effectLst/>
                <a:uFillTx/>
                <a:latin typeface="AppleGothic"/>
                <a:ea typeface="AppleGothic"/>
              </a:rPr>
              <a:t>가 변하지 않았다는 상태 </a:t>
            </a:r>
            <a:r>
              <a:rPr lang="en-US" sz="1900" b="0" u="none" strike="noStrike">
                <a:solidFill>
                  <a:srgbClr val="0D685C"/>
                </a:solidFill>
                <a:effectLst/>
                <a:uFillTx/>
                <a:latin typeface="AppleGothic"/>
                <a:ea typeface="AppleGothic"/>
              </a:rPr>
              <a:t>tag</a:t>
            </a:r>
            <a:r>
              <a:rPr lang="ko-KR" sz="1900" b="0" u="none" strike="noStrike">
                <a:solidFill>
                  <a:srgbClr val="0D685C"/>
                </a:solidFill>
                <a:effectLst/>
                <a:uFillTx/>
                <a:latin typeface="AppleGothic"/>
                <a:ea typeface="AppleGothic"/>
              </a:rPr>
              <a:t>다</a:t>
            </a:r>
            <a:endParaRPr lang="en-US" sz="1900" b="0" u="none" strike="noStrike">
              <a:solidFill>
                <a:srgbClr val="000000"/>
              </a:solidFill>
              <a:effectLst/>
              <a:uFillTx/>
              <a:latin typeface="Arial"/>
            </a:endParaRPr>
          </a:p>
        </p:txBody>
      </p:sp>
      <p:graphicFrame>
        <p:nvGraphicFramePr>
          <p:cNvPr id="215" name="Table 0"/>
          <p:cNvGraphicFramePr/>
          <p:nvPr/>
        </p:nvGraphicFramePr>
        <p:xfrm>
          <a:off x="660240" y="2082960"/>
          <a:ext cx="10870920" cy="3314520"/>
        </p:xfrm>
        <a:graphic>
          <a:graphicData uri="http://schemas.openxmlformats.org/drawingml/2006/table">
            <a:tbl>
              <a:tblPr/>
              <a:tblGrid>
                <a:gridCol w="3261240"/>
                <a:gridCol w="3696120"/>
                <a:gridCol w="3913560"/>
              </a:tblGrid>
              <a:tr h="495000">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현재 </a:t>
                      </a:r>
                      <a:r>
                        <a:rPr lang="en-US" sz="1600" b="1" u="none" strike="noStrike">
                          <a:solidFill>
                            <a:srgbClr val="0D685C"/>
                          </a:solidFill>
                          <a:effectLst/>
                          <a:uFillTx/>
                          <a:latin typeface="AppleGothic"/>
                          <a:ea typeface="AppleGothic"/>
                        </a:rPr>
                        <a:t>edge </a:t>
                      </a:r>
                      <a:r>
                        <a:rPr lang="ko-KR" sz="1600" b="1" u="none" strike="noStrike">
                          <a:solidFill>
                            <a:srgbClr val="0D685C"/>
                          </a:solidFill>
                          <a:effectLst/>
                          <a:uFillTx/>
                          <a:latin typeface="AppleGothic"/>
                          <a:ea typeface="AppleGothic"/>
                        </a:rPr>
                        <a:t>상태</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Map emission</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다음 </a:t>
                      </a:r>
                      <a:r>
                        <a:rPr lang="en-US" sz="1600" b="1" u="none" strike="noStrike">
                          <a:solidFill>
                            <a:srgbClr val="0D685C"/>
                          </a:solidFill>
                          <a:effectLst/>
                          <a:uFillTx/>
                          <a:latin typeface="AppleGothic"/>
                          <a:ea typeface="AppleGothic"/>
                        </a:rPr>
                        <a:t>round </a:t>
                      </a:r>
                      <a:r>
                        <a:rPr lang="ko-KR" sz="1600" b="1" u="none" strike="noStrike">
                          <a:solidFill>
                            <a:srgbClr val="0D685C"/>
                          </a:solidFill>
                          <a:effectLst/>
                          <a:uFillTx/>
                          <a:latin typeface="AppleGothic"/>
                          <a:ea typeface="AppleGothic"/>
                        </a:rPr>
                        <a:t>의미</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Cross edge, tag </a:t>
                      </a:r>
                      <a:r>
                        <a:rPr lang="ko-KR" sz="1550" b="0" u="none" strike="noStrike">
                          <a:solidFill>
                            <a:srgbClr val="173C37"/>
                          </a:solidFill>
                          <a:effectLst/>
                          <a:uFillTx/>
                          <a:latin typeface="AppleGothic"/>
                          <a:ea typeface="AppleGothic"/>
                        </a:rPr>
                        <a:t>없음</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xi(u)</a:t>
                      </a:r>
                      <a:r>
                        <a:rPr lang="ko-KR" sz="1550" b="0" u="none" strike="noStrike">
                          <a:solidFill>
                            <a:srgbClr val="173C37"/>
                          </a:solidFill>
                          <a:effectLst/>
                          <a:uFillTx/>
                          <a:latin typeface="AppleGothic"/>
                          <a:ea typeface="AppleGothic"/>
                        </a:rPr>
                        <a:t>와 </a:t>
                      </a:r>
                      <a:r>
                        <a:rPr lang="en-US" sz="1550" b="0" u="none" strike="noStrike">
                          <a:solidFill>
                            <a:srgbClr val="173C37"/>
                          </a:solidFill>
                          <a:effectLst/>
                          <a:uFillTx/>
                          <a:latin typeface="AppleGothic"/>
                          <a:ea typeface="AppleGothic"/>
                        </a:rPr>
                        <a:t>xi(v)</a:t>
                      </a:r>
                      <a:r>
                        <a:rPr lang="ko-KR" sz="1550" b="0" u="none" strike="noStrike">
                          <a:solidFill>
                            <a:srgbClr val="173C37"/>
                          </a:solidFill>
                          <a:effectLst/>
                          <a:uFillTx/>
                          <a:latin typeface="AppleGothic"/>
                          <a:ea typeface="AppleGothic"/>
                        </a:rPr>
                        <a:t>에 모두 </a:t>
                      </a:r>
                      <a:r>
                        <a:rPr lang="en-US" sz="1550" b="0" u="none" strike="noStrike">
                          <a:solidFill>
                            <a:srgbClr val="173C37"/>
                          </a:solidFill>
                          <a:effectLst/>
                          <a:uFillTx/>
                          <a:latin typeface="AppleGothic"/>
                          <a:ea typeface="AppleGothic"/>
                        </a:rPr>
                        <a:t>emit</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두 </a:t>
                      </a:r>
                      <a:r>
                        <a:rPr lang="en-US" sz="1550" b="0" u="none" strike="noStrike">
                          <a:solidFill>
                            <a:srgbClr val="173C37"/>
                          </a:solidFill>
                          <a:effectLst/>
                          <a:uFillTx/>
                          <a:latin typeface="AppleGothic"/>
                          <a:ea typeface="AppleGothic"/>
                        </a:rPr>
                        <a:t>overlap views</a:t>
                      </a:r>
                      <a:r>
                        <a:rPr lang="ko-KR" sz="1550" b="0" u="none" strike="noStrike">
                          <a:solidFill>
                            <a:srgbClr val="173C37"/>
                          </a:solidFill>
                          <a:effectLst/>
                          <a:uFillTx/>
                          <a:latin typeface="AppleGothic"/>
                          <a:ea typeface="AppleGothic"/>
                        </a:rPr>
                        <a:t>에 포함</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Partition i</a:t>
                      </a:r>
                      <a:r>
                        <a:rPr lang="ko-KR" sz="1550" b="0" u="none" strike="noStrike">
                          <a:solidFill>
                            <a:srgbClr val="173C37"/>
                          </a:solidFill>
                          <a:effectLst/>
                          <a:uFillTx/>
                          <a:latin typeface="AppleGothic"/>
                          <a:ea typeface="AppleGothic"/>
                        </a:rPr>
                        <a:t>에서 </a:t>
                      </a:r>
                      <a:r>
                        <a:rPr lang="en-US" sz="1550" b="0" u="none" strike="noStrike">
                          <a:solidFill>
                            <a:srgbClr val="173C37"/>
                          </a:solidFill>
                          <a:effectLst/>
                          <a:uFillTx/>
                          <a:latin typeface="AppleGothic"/>
                          <a:ea typeface="AppleGothic"/>
                        </a:rPr>
                        <a:t>intact tag</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반대쪽 </a:t>
                      </a:r>
                      <a:r>
                        <a:rPr lang="en-US" sz="1550" b="0" u="none" strike="noStrike">
                          <a:solidFill>
                            <a:srgbClr val="173C37"/>
                          </a:solidFill>
                          <a:effectLst/>
                          <a:uFillTx/>
                          <a:latin typeface="AppleGothic"/>
                          <a:ea typeface="AppleGothic"/>
                        </a:rPr>
                        <a:t>duplicate emission </a:t>
                      </a:r>
                      <a:r>
                        <a:rPr lang="ko-KR" sz="1550" b="0" u="none" strike="noStrike">
                          <a:solidFill>
                            <a:srgbClr val="173C37"/>
                          </a:solidFill>
                          <a:effectLst/>
                          <a:uFillTx/>
                          <a:latin typeface="AppleGothic"/>
                          <a:ea typeface="AppleGothic"/>
                        </a:rPr>
                        <a:t>생략</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한 </a:t>
                      </a:r>
                      <a:r>
                        <a:rPr lang="en-US" sz="1550" b="0" u="none" strike="noStrike">
                          <a:solidFill>
                            <a:srgbClr val="173C37"/>
                          </a:solidFill>
                          <a:effectLst/>
                          <a:uFillTx/>
                          <a:latin typeface="AppleGothic"/>
                          <a:ea typeface="AppleGothic"/>
                        </a:rPr>
                        <a:t>local view</a:t>
                      </a:r>
                      <a:r>
                        <a:rPr lang="ko-KR" sz="1550" b="0" u="none" strike="noStrike">
                          <a:solidFill>
                            <a:srgbClr val="173C37"/>
                          </a:solidFill>
                          <a:effectLst/>
                          <a:uFillTx/>
                          <a:latin typeface="AppleGothic"/>
                          <a:ea typeface="AppleGothic"/>
                        </a:rPr>
                        <a:t>에서 유지</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Reduce </a:t>
                      </a:r>
                      <a:r>
                        <a:rPr lang="ko-KR" sz="1550" b="0" u="none" strike="noStrike">
                          <a:solidFill>
                            <a:srgbClr val="173C37"/>
                          </a:solidFill>
                          <a:effectLst/>
                          <a:uFillTx/>
                          <a:latin typeface="AppleGothic"/>
                          <a:ea typeface="AppleGothic"/>
                        </a:rPr>
                        <a:t>시작</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이전 </a:t>
                      </a:r>
                      <a:r>
                        <a:rPr lang="en-US" sz="1550" b="0" u="none" strike="noStrike">
                          <a:solidFill>
                            <a:srgbClr val="173C37"/>
                          </a:solidFill>
                          <a:effectLst/>
                          <a:uFillTx/>
                          <a:latin typeface="AppleGothic"/>
                          <a:ea typeface="AppleGothic"/>
                        </a:rPr>
                        <a:t>tags</a:t>
                      </a:r>
                      <a:r>
                        <a:rPr lang="ko-KR" sz="1550" b="0" u="none" strike="noStrike">
                          <a:solidFill>
                            <a:srgbClr val="173C37"/>
                          </a:solidFill>
                          <a:effectLst/>
                          <a:uFillTx/>
                          <a:latin typeface="AppleGothic"/>
                          <a:ea typeface="AppleGothic"/>
                        </a:rPr>
                        <a:t>를 </a:t>
                      </a:r>
                      <a:r>
                        <a:rPr lang="en-US" sz="1550" b="0" u="none" strike="noStrike">
                          <a:solidFill>
                            <a:srgbClr val="173C37"/>
                          </a:solidFill>
                          <a:effectLst/>
                          <a:uFillTx/>
                          <a:latin typeface="AppleGothic"/>
                          <a:ea typeface="AppleGothic"/>
                        </a:rPr>
                        <a:t>clear</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새 </a:t>
                      </a:r>
                      <a:r>
                        <a:rPr lang="en-US" sz="1550" b="0" u="none" strike="noStrike">
                          <a:solidFill>
                            <a:srgbClr val="173C37"/>
                          </a:solidFill>
                          <a:effectLst/>
                          <a:uFillTx/>
                          <a:latin typeface="AppleGothic"/>
                          <a:ea typeface="AppleGothic"/>
                        </a:rPr>
                        <a:t>output </a:t>
                      </a:r>
                      <a:r>
                        <a:rPr lang="ko-KR" sz="1550" b="0" u="none" strike="noStrike">
                          <a:solidFill>
                            <a:srgbClr val="173C37"/>
                          </a:solidFill>
                          <a:effectLst/>
                          <a:uFillTx/>
                          <a:latin typeface="AppleGothic"/>
                          <a:ea typeface="AppleGothic"/>
                        </a:rPr>
                        <a:t>변화로 </a:t>
                      </a:r>
                      <a:r>
                        <a:rPr lang="en-US" sz="1550" b="0" u="none" strike="noStrike">
                          <a:solidFill>
                            <a:srgbClr val="173C37"/>
                          </a:solidFill>
                          <a:effectLst/>
                          <a:uFillTx/>
                          <a:latin typeface="AppleGothic"/>
                          <a:ea typeface="AppleGothic"/>
                        </a:rPr>
                        <a:t>tag </a:t>
                      </a:r>
                      <a:r>
                        <a:rPr lang="ko-KR" sz="1550" b="0" u="none" strike="noStrike">
                          <a:solidFill>
                            <a:srgbClr val="173C37"/>
                          </a:solidFill>
                          <a:effectLst/>
                          <a:uFillTx/>
                          <a:latin typeface="AppleGothic"/>
                          <a:ea typeface="AppleGothic"/>
                        </a:rPr>
                        <a:t>재판정</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Connectivity</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Edge </a:t>
                      </a:r>
                      <a:r>
                        <a:rPr lang="ko-KR" sz="1550" b="0" u="none" strike="noStrike">
                          <a:solidFill>
                            <a:srgbClr val="173C37"/>
                          </a:solidFill>
                          <a:effectLst/>
                          <a:uFillTx/>
                          <a:latin typeface="AppleGothic"/>
                          <a:ea typeface="AppleGothic"/>
                        </a:rPr>
                        <a:t>자체를 모두 제거하지 않음</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중복 </a:t>
                      </a:r>
                      <a:r>
                        <a:rPr lang="en-US" sz="1550" b="0" u="none" strike="noStrike">
                          <a:solidFill>
                            <a:srgbClr val="173C37"/>
                          </a:solidFill>
                          <a:effectLst/>
                          <a:uFillTx/>
                          <a:latin typeface="AppleGothic"/>
                          <a:ea typeface="AppleGothic"/>
                        </a:rPr>
                        <a:t>record</a:t>
                      </a:r>
                      <a:r>
                        <a:rPr lang="ko-KR" sz="1550" b="0" u="none" strike="noStrike">
                          <a:solidFill>
                            <a:srgbClr val="173C37"/>
                          </a:solidFill>
                          <a:effectLst/>
                          <a:uFillTx/>
                          <a:latin typeface="AppleGothic"/>
                          <a:ea typeface="AppleGothic"/>
                        </a:rPr>
                        <a:t>만 제외</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bl>
          </a:graphicData>
        </a:graphic>
      </p:graphicFrame>
      <p:sp>
        <p:nvSpPr>
          <p:cNvPr id="216" name="Shape 2"/>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17" name="Text 3"/>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Intact exclusion</a:t>
            </a:r>
            <a:r>
              <a:rPr lang="ko-KR" sz="1750" b="1" u="none" strike="noStrike">
                <a:solidFill>
                  <a:srgbClr val="173C37"/>
                </a:solidFill>
                <a:effectLst/>
                <a:uFillTx/>
                <a:latin typeface="AppleGothic"/>
                <a:ea typeface="AppleGothic"/>
              </a:rPr>
              <a:t>은 이미 안정된 </a:t>
            </a:r>
            <a:r>
              <a:rPr lang="en-US" sz="1750" b="1" u="none" strike="noStrike">
                <a:solidFill>
                  <a:srgbClr val="173C37"/>
                </a:solidFill>
                <a:effectLst/>
                <a:uFillTx/>
                <a:latin typeface="AppleGothic"/>
                <a:ea typeface="AppleGothic"/>
              </a:rPr>
              <a:t>cross edge</a:t>
            </a:r>
            <a:r>
              <a:rPr lang="ko-KR" sz="1750" b="1" u="none" strike="noStrike">
                <a:solidFill>
                  <a:srgbClr val="173C37"/>
                </a:solidFill>
                <a:effectLst/>
                <a:uFillTx/>
                <a:latin typeface="AppleGothic"/>
                <a:ea typeface="AppleGothic"/>
              </a:rPr>
              <a:t>의 두 번째 </a:t>
            </a:r>
            <a:r>
              <a:rPr lang="en-US" sz="1750" b="1" u="none" strike="noStrike">
                <a:solidFill>
                  <a:srgbClr val="173C37"/>
                </a:solidFill>
                <a:effectLst/>
                <a:uFillTx/>
                <a:latin typeface="AppleGothic"/>
                <a:ea typeface="AppleGothic"/>
              </a:rPr>
              <a:t>copy</a:t>
            </a:r>
            <a:r>
              <a:rPr lang="ko-KR" sz="1750" b="1" u="none" strike="noStrike">
                <a:solidFill>
                  <a:srgbClr val="173C37"/>
                </a:solidFill>
                <a:effectLst/>
                <a:uFillTx/>
                <a:latin typeface="AppleGothic"/>
                <a:ea typeface="AppleGothic"/>
              </a:rPr>
              <a:t>를 생략하는 규칙이다</a:t>
            </a:r>
            <a:endParaRPr lang="en-US" sz="1750" b="0" u="none" strike="noStrike">
              <a:solidFill>
                <a:srgbClr val="000000"/>
              </a:solidFill>
              <a:effectLst/>
              <a:uFillTx/>
              <a:latin typeface="Arial"/>
            </a:endParaRPr>
          </a:p>
        </p:txBody>
      </p:sp>
      <p:sp>
        <p:nvSpPr>
          <p:cNvPr id="218" name="Shape 4"/>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19" name="Text 5"/>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unicon-paper pp. 8-9, Fig. 4 and Algorithm 2 lines 1-4</a:t>
            </a:r>
            <a:endParaRPr lang="en-US" sz="1050" b="0" u="none" strike="noStrike">
              <a:solidFill>
                <a:srgbClr val="000000"/>
              </a:solidFill>
              <a:effectLst/>
              <a:uFillTx/>
              <a:latin typeface="Arial"/>
            </a:endParaRPr>
          </a:p>
        </p:txBody>
      </p:sp>
      <p:sp>
        <p:nvSpPr>
          <p:cNvPr id="220" name="Text 6"/>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12</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21"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UniStar-opt</a:t>
            </a:r>
            <a:r>
              <a:rPr lang="ko-KR" sz="3100" b="1" u="none" strike="noStrike">
                <a:solidFill>
                  <a:srgbClr val="173C37"/>
                </a:solidFill>
                <a:effectLst/>
                <a:uFillTx/>
                <a:latin typeface="AppleGothic"/>
                <a:ea typeface="AppleGothic"/>
              </a:rPr>
              <a:t>의 세 </a:t>
            </a:r>
            <a:r>
              <a:rPr lang="en-US" sz="3100" b="1" u="none" strike="noStrike">
                <a:solidFill>
                  <a:srgbClr val="173C37"/>
                </a:solidFill>
                <a:effectLst/>
                <a:uFillTx/>
                <a:latin typeface="AppleGothic"/>
                <a:ea typeface="AppleGothic"/>
              </a:rPr>
              <a:t>filtering cases</a:t>
            </a:r>
            <a:endParaRPr lang="en-US" sz="3100" b="0" u="none" strike="noStrike">
              <a:solidFill>
                <a:srgbClr val="000000"/>
              </a:solidFill>
              <a:effectLst/>
              <a:uFillTx/>
              <a:latin typeface="Arial"/>
            </a:endParaRPr>
          </a:p>
        </p:txBody>
      </p:sp>
      <p:sp>
        <p:nvSpPr>
          <p:cNvPr id="222"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900" b="0" u="none" strike="noStrike">
                <a:solidFill>
                  <a:srgbClr val="0D685C"/>
                </a:solidFill>
                <a:effectLst/>
                <a:uFillTx/>
                <a:latin typeface="AppleGothic"/>
                <a:ea typeface="AppleGothic"/>
              </a:rPr>
              <a:t>Case 1</a:t>
            </a:r>
            <a:r>
              <a:rPr lang="ko-KR" sz="1900" b="0" u="none" strike="noStrike">
                <a:solidFill>
                  <a:srgbClr val="0D685C"/>
                </a:solidFill>
                <a:effectLst/>
                <a:uFillTx/>
                <a:latin typeface="AppleGothic"/>
                <a:ea typeface="AppleGothic"/>
              </a:rPr>
              <a:t>과 </a:t>
            </a:r>
            <a:r>
              <a:rPr lang="en-US" sz="1900" b="0" u="none" strike="noStrike">
                <a:solidFill>
                  <a:srgbClr val="0D685C"/>
                </a:solidFill>
                <a:effectLst/>
                <a:uFillTx/>
                <a:latin typeface="AppleGothic"/>
                <a:ea typeface="AppleGothic"/>
              </a:rPr>
              <a:t>2</a:t>
            </a:r>
            <a:r>
              <a:rPr lang="ko-KR" sz="1900" b="0" u="none" strike="noStrike">
                <a:solidFill>
                  <a:srgbClr val="0D685C"/>
                </a:solidFill>
                <a:effectLst/>
                <a:uFillTx/>
                <a:latin typeface="AppleGothic"/>
                <a:ea typeface="AppleGothic"/>
              </a:rPr>
              <a:t>는 </a:t>
            </a:r>
            <a:r>
              <a:rPr lang="en-US" sz="1900" b="0" u="none" strike="noStrike">
                <a:solidFill>
                  <a:srgbClr val="0D685C"/>
                </a:solidFill>
                <a:effectLst/>
                <a:uFillTx/>
                <a:latin typeface="AppleGothic"/>
                <a:ea typeface="AppleGothic"/>
              </a:rPr>
              <a:t>sep</a:t>
            </a:r>
            <a:r>
              <a:rPr lang="ko-KR" sz="1900" b="0" u="none" strike="noStrike">
                <a:solidFill>
                  <a:srgbClr val="0D685C"/>
                </a:solidFill>
                <a:effectLst/>
                <a:uFillTx/>
                <a:latin typeface="AppleGothic"/>
                <a:ea typeface="AppleGothic"/>
              </a:rPr>
              <a:t>에 보관하고 </a:t>
            </a:r>
            <a:r>
              <a:rPr lang="en-US" sz="1900" b="0" u="none" strike="noStrike">
                <a:solidFill>
                  <a:srgbClr val="0D685C"/>
                </a:solidFill>
                <a:effectLst/>
                <a:uFillTx/>
                <a:latin typeface="AppleGothic"/>
                <a:ea typeface="AppleGothic"/>
              </a:rPr>
              <a:t>case 3</a:t>
            </a:r>
            <a:r>
              <a:rPr lang="ko-KR" sz="1900" b="0" u="none" strike="noStrike">
                <a:solidFill>
                  <a:srgbClr val="0D685C"/>
                </a:solidFill>
                <a:effectLst/>
                <a:uFillTx/>
                <a:latin typeface="AppleGothic"/>
                <a:ea typeface="AppleGothic"/>
              </a:rPr>
              <a:t>만 </a:t>
            </a:r>
            <a:r>
              <a:rPr lang="en-US" sz="1900" b="0" u="none" strike="noStrike">
                <a:solidFill>
                  <a:srgbClr val="0D685C"/>
                </a:solidFill>
                <a:effectLst/>
                <a:uFillTx/>
                <a:latin typeface="AppleGothic"/>
                <a:ea typeface="AppleGothic"/>
              </a:rPr>
              <a:t>counterpart</a:t>
            </a:r>
            <a:r>
              <a:rPr lang="ko-KR" sz="1900" b="0" u="none" strike="noStrike">
                <a:solidFill>
                  <a:srgbClr val="0D685C"/>
                </a:solidFill>
                <a:effectLst/>
                <a:uFillTx/>
                <a:latin typeface="AppleGothic"/>
                <a:ea typeface="AppleGothic"/>
              </a:rPr>
              <a:t>가 남는 조건에서 </a:t>
            </a:r>
            <a:r>
              <a:rPr lang="en-US" sz="1900" b="0" u="none" strike="noStrike">
                <a:solidFill>
                  <a:srgbClr val="0D685C"/>
                </a:solidFill>
                <a:effectLst/>
                <a:uFillTx/>
                <a:latin typeface="AppleGothic"/>
                <a:ea typeface="AppleGothic"/>
              </a:rPr>
              <a:t>discard</a:t>
            </a:r>
            <a:r>
              <a:rPr lang="ko-KR" sz="1900" b="0" u="none" strike="noStrike">
                <a:solidFill>
                  <a:srgbClr val="0D685C"/>
                </a:solidFill>
                <a:effectLst/>
                <a:uFillTx/>
                <a:latin typeface="AppleGothic"/>
                <a:ea typeface="AppleGothic"/>
              </a:rPr>
              <a:t>한다</a:t>
            </a:r>
            <a:endParaRPr lang="en-US" sz="1900" b="0" u="none" strike="noStrike">
              <a:solidFill>
                <a:srgbClr val="000000"/>
              </a:solidFill>
              <a:effectLst/>
              <a:uFillTx/>
              <a:latin typeface="Arial"/>
            </a:endParaRPr>
          </a:p>
        </p:txBody>
      </p:sp>
      <p:graphicFrame>
        <p:nvGraphicFramePr>
          <p:cNvPr id="223" name="Table 0"/>
          <p:cNvGraphicFramePr/>
          <p:nvPr/>
        </p:nvGraphicFramePr>
        <p:xfrm>
          <a:off x="660240" y="2082960"/>
          <a:ext cx="10870920" cy="3314520"/>
        </p:xfrm>
        <a:graphic>
          <a:graphicData uri="http://schemas.openxmlformats.org/drawingml/2006/table">
            <a:tbl>
              <a:tblPr/>
              <a:tblGrid>
                <a:gridCol w="1304280"/>
                <a:gridCol w="4674600"/>
                <a:gridCol w="2174040"/>
                <a:gridCol w="2717640"/>
              </a:tblGrid>
              <a:tr h="495000">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Case</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판정 핵심</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Next round</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Finishing</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r>
              <a:tr h="93960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1</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Same partition, u</a:t>
                      </a:r>
                      <a:r>
                        <a:rPr lang="ko-KR" sz="1550" b="0" u="none" strike="noStrike">
                          <a:solidFill>
                            <a:srgbClr val="173C37"/>
                          </a:solidFill>
                          <a:effectLst/>
                          <a:uFillTx/>
                          <a:latin typeface="AppleGothic"/>
                          <a:ea typeface="AppleGothic"/>
                        </a:rPr>
                        <a:t>의 </a:t>
                      </a:r>
                      <a:r>
                        <a:rPr lang="en-US" sz="1550" b="0" u="none" strike="noStrike">
                          <a:solidFill>
                            <a:srgbClr val="173C37"/>
                          </a:solidFill>
                          <a:effectLst/>
                          <a:uFillTx/>
                          <a:latin typeface="AppleGothic"/>
                          <a:ea typeface="AppleGothic"/>
                        </a:rPr>
                        <a:t>following neighbor </a:t>
                      </a:r>
                      <a:r>
                        <a:rPr lang="ko-KR" sz="1550" b="0" u="none" strike="noStrike">
                          <a:solidFill>
                            <a:srgbClr val="173C37"/>
                          </a:solidFill>
                          <a:effectLst/>
                          <a:uFillTx/>
                          <a:latin typeface="AppleGothic"/>
                          <a:ea typeface="AppleGothic"/>
                        </a:rPr>
                        <a:t>없음</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제외</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sep to F</a:t>
                      </a:r>
                      <a:r>
                        <a:rPr lang="ko-KR" sz="1550" b="0" u="none" strike="noStrike">
                          <a:solidFill>
                            <a:srgbClr val="173C37"/>
                          </a:solidFill>
                          <a:effectLst/>
                          <a:uFillTx/>
                          <a:latin typeface="AppleGothic"/>
                          <a:ea typeface="AppleGothic"/>
                        </a:rPr>
                        <a:t>로 복원</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93960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2</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xi(v)=i, v</a:t>
                      </a:r>
                      <a:r>
                        <a:rPr lang="ko-KR" sz="1550" b="0" u="none" strike="noStrike">
                          <a:solidFill>
                            <a:srgbClr val="173C37"/>
                          </a:solidFill>
                          <a:effectLst/>
                          <a:uFillTx/>
                          <a:latin typeface="AppleGothic"/>
                          <a:ea typeface="AppleGothic"/>
                        </a:rPr>
                        <a:t>의 모든 </a:t>
                      </a:r>
                      <a:r>
                        <a:rPr lang="en-US" sz="1550" b="0" u="none" strike="noStrike">
                          <a:solidFill>
                            <a:srgbClr val="173C37"/>
                          </a:solidFill>
                          <a:effectLst/>
                          <a:uFillTx/>
                          <a:latin typeface="AppleGothic"/>
                          <a:ea typeface="AppleGothic"/>
                        </a:rPr>
                        <a:t>incident edge</a:t>
                      </a:r>
                      <a:r>
                        <a:rPr lang="ko-KR" sz="1550" b="0" u="none" strike="noStrike">
                          <a:solidFill>
                            <a:srgbClr val="173C37"/>
                          </a:solidFill>
                          <a:effectLst/>
                          <a:uFillTx/>
                          <a:latin typeface="AppleGothic"/>
                          <a:ea typeface="AppleGothic"/>
                        </a:rPr>
                        <a:t>가 </a:t>
                      </a:r>
                      <a:r>
                        <a:rPr lang="en-US" sz="1550" b="0" u="none" strike="noStrike">
                          <a:solidFill>
                            <a:srgbClr val="173C37"/>
                          </a:solidFill>
                          <a:effectLst/>
                          <a:uFillTx/>
                          <a:latin typeface="AppleGothic"/>
                          <a:ea typeface="AppleGothic"/>
                        </a:rPr>
                        <a:t>intact</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제외</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sep to F</a:t>
                      </a:r>
                      <a:r>
                        <a:rPr lang="ko-KR" sz="1550" b="0" u="none" strike="noStrike">
                          <a:solidFill>
                            <a:srgbClr val="173C37"/>
                          </a:solidFill>
                          <a:effectLst/>
                          <a:uFillTx/>
                          <a:latin typeface="AppleGothic"/>
                          <a:ea typeface="AppleGothic"/>
                        </a:rPr>
                        <a:t>로 복원</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93960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3</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xi(u)=i, u</a:t>
                      </a:r>
                      <a:r>
                        <a:rPr lang="ko-KR" sz="1550" b="0" u="none" strike="noStrike">
                          <a:solidFill>
                            <a:srgbClr val="173C37"/>
                          </a:solidFill>
                          <a:effectLst/>
                          <a:uFillTx/>
                          <a:latin typeface="AppleGothic"/>
                          <a:ea typeface="AppleGothic"/>
                        </a:rPr>
                        <a:t>의 유일 </a:t>
                      </a:r>
                      <a:r>
                        <a:rPr lang="en-US" sz="1550" b="0" u="none" strike="noStrike">
                          <a:solidFill>
                            <a:srgbClr val="173C37"/>
                          </a:solidFill>
                          <a:effectLst/>
                          <a:uFillTx/>
                          <a:latin typeface="AppleGothic"/>
                          <a:ea typeface="AppleGothic"/>
                        </a:rPr>
                        <a:t>incident edge</a:t>
                      </a:r>
                      <a:r>
                        <a:rPr lang="ko-KR" sz="1550" b="0" u="none" strike="noStrike">
                          <a:solidFill>
                            <a:srgbClr val="173C37"/>
                          </a:solidFill>
                          <a:effectLst/>
                          <a:uFillTx/>
                          <a:latin typeface="AppleGothic"/>
                          <a:ea typeface="AppleGothic"/>
                        </a:rPr>
                        <a:t>이며 </a:t>
                      </a:r>
                      <a:r>
                        <a:rPr lang="en-US" sz="1550" b="0" u="none" strike="noStrike">
                          <a:solidFill>
                            <a:srgbClr val="173C37"/>
                          </a:solidFill>
                          <a:effectLst/>
                          <a:uFillTx/>
                          <a:latin typeface="AppleGothic"/>
                          <a:ea typeface="AppleGothic"/>
                        </a:rPr>
                        <a:t>intact</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Discard</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복원 불필요</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bl>
          </a:graphicData>
        </a:graphic>
      </p:graphicFrame>
      <p:sp>
        <p:nvSpPr>
          <p:cNvPr id="224" name="Shape 2"/>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25" name="Text 3"/>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Filtering</a:t>
            </a:r>
            <a:r>
              <a:rPr lang="ko-KR" sz="1750" b="1" u="none" strike="noStrike">
                <a:solidFill>
                  <a:srgbClr val="173C37"/>
                </a:solidFill>
                <a:effectLst/>
                <a:uFillTx/>
                <a:latin typeface="AppleGothic"/>
                <a:ea typeface="AppleGothic"/>
              </a:rPr>
              <a:t>은 세 </a:t>
            </a:r>
            <a:r>
              <a:rPr lang="en-US" sz="1750" b="1" u="none" strike="noStrike">
                <a:solidFill>
                  <a:srgbClr val="173C37"/>
                </a:solidFill>
                <a:effectLst/>
                <a:uFillTx/>
                <a:latin typeface="AppleGothic"/>
                <a:ea typeface="AppleGothic"/>
              </a:rPr>
              <a:t>edge</a:t>
            </a:r>
            <a:r>
              <a:rPr lang="ko-KR" sz="1750" b="1" u="none" strike="noStrike">
                <a:solidFill>
                  <a:srgbClr val="173C37"/>
                </a:solidFill>
                <a:effectLst/>
                <a:uFillTx/>
                <a:latin typeface="AppleGothic"/>
                <a:ea typeface="AppleGothic"/>
              </a:rPr>
              <a:t>를 같은 방식으로 삭제하는 </a:t>
            </a:r>
            <a:r>
              <a:rPr lang="en-US" sz="1750" b="1" u="none" strike="noStrike">
                <a:solidFill>
                  <a:srgbClr val="173C37"/>
                </a:solidFill>
                <a:effectLst/>
                <a:uFillTx/>
                <a:latin typeface="AppleGothic"/>
                <a:ea typeface="AppleGothic"/>
              </a:rPr>
              <a:t>optimization</a:t>
            </a:r>
            <a:r>
              <a:rPr lang="ko-KR" sz="1750" b="1" u="none" strike="noStrike">
                <a:solidFill>
                  <a:srgbClr val="173C37"/>
                </a:solidFill>
                <a:effectLst/>
                <a:uFillTx/>
                <a:latin typeface="AppleGothic"/>
                <a:ea typeface="AppleGothic"/>
              </a:rPr>
              <a:t>이 아니다</a:t>
            </a:r>
            <a:endParaRPr lang="en-US" sz="1750" b="0" u="none" strike="noStrike">
              <a:solidFill>
                <a:srgbClr val="000000"/>
              </a:solidFill>
              <a:effectLst/>
              <a:uFillTx/>
              <a:latin typeface="Arial"/>
            </a:endParaRPr>
          </a:p>
        </p:txBody>
      </p:sp>
      <p:sp>
        <p:nvSpPr>
          <p:cNvPr id="226" name="Shape 4"/>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27" name="Text 5"/>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unicon-paper pp. 9-10, Algorithm 2 and Fig. 5</a:t>
            </a:r>
            <a:endParaRPr lang="en-US" sz="1050" b="0" u="none" strike="noStrike">
              <a:solidFill>
                <a:srgbClr val="000000"/>
              </a:solidFill>
              <a:effectLst/>
              <a:uFillTx/>
              <a:latin typeface="Arial"/>
            </a:endParaRPr>
          </a:p>
        </p:txBody>
      </p:sp>
      <p:sp>
        <p:nvSpPr>
          <p:cNvPr id="228" name="Text 6"/>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13</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29"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Filtered edge</a:t>
            </a:r>
            <a:r>
              <a:rPr lang="ko-KR" sz="3100" b="1" u="none" strike="noStrike">
                <a:solidFill>
                  <a:srgbClr val="173C37"/>
                </a:solidFill>
                <a:effectLst/>
                <a:uFillTx/>
                <a:latin typeface="AppleGothic"/>
                <a:ea typeface="AppleGothic"/>
              </a:rPr>
              <a:t>의 </a:t>
            </a:r>
            <a:r>
              <a:rPr lang="en-US" sz="3100" b="1" u="none" strike="noStrike">
                <a:solidFill>
                  <a:srgbClr val="173C37"/>
                </a:solidFill>
                <a:effectLst/>
                <a:uFillTx/>
                <a:latin typeface="AppleGothic"/>
                <a:ea typeface="AppleGothic"/>
              </a:rPr>
              <a:t>state </a:t>
            </a:r>
            <a:r>
              <a:rPr lang="ko-KR" sz="3100" b="1" u="none" strike="noStrike">
                <a:solidFill>
                  <a:srgbClr val="173C37"/>
                </a:solidFill>
                <a:effectLst/>
                <a:uFillTx/>
                <a:latin typeface="AppleGothic"/>
                <a:ea typeface="AppleGothic"/>
              </a:rPr>
              <a:t>변화</a:t>
            </a:r>
            <a:endParaRPr lang="en-US" sz="3100" b="0" u="none" strike="noStrike">
              <a:solidFill>
                <a:srgbClr val="000000"/>
              </a:solidFill>
              <a:effectLst/>
              <a:uFillTx/>
              <a:latin typeface="Arial"/>
            </a:endParaRPr>
          </a:p>
        </p:txBody>
      </p:sp>
      <p:sp>
        <p:nvSpPr>
          <p:cNvPr id="230"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900" b="0" u="none" strike="noStrike">
                <a:solidFill>
                  <a:srgbClr val="0D685C"/>
                </a:solidFill>
                <a:effectLst/>
                <a:uFillTx/>
                <a:latin typeface="AppleGothic"/>
                <a:ea typeface="AppleGothic"/>
              </a:rPr>
              <a:t>다음 </a:t>
            </a:r>
            <a:r>
              <a:rPr lang="en-US" sz="1900" b="0" u="none" strike="noStrike">
                <a:solidFill>
                  <a:srgbClr val="0D685C"/>
                </a:solidFill>
                <a:effectLst/>
                <a:uFillTx/>
                <a:latin typeface="AppleGothic"/>
                <a:ea typeface="AppleGothic"/>
              </a:rPr>
              <a:t>round input</a:t>
            </a:r>
            <a:r>
              <a:rPr lang="ko-KR" sz="1900" b="0" u="none" strike="noStrike">
                <a:solidFill>
                  <a:srgbClr val="0D685C"/>
                </a:solidFill>
                <a:effectLst/>
                <a:uFillTx/>
                <a:latin typeface="AppleGothic"/>
                <a:ea typeface="AppleGothic"/>
              </a:rPr>
              <a:t>에서 빠진다는 사실과 </a:t>
            </a:r>
            <a:r>
              <a:rPr lang="en-US" sz="1900" b="0" u="none" strike="noStrike">
                <a:solidFill>
                  <a:srgbClr val="0D685C"/>
                </a:solidFill>
                <a:effectLst/>
                <a:uFillTx/>
                <a:latin typeface="AppleGothic"/>
                <a:ea typeface="AppleGothic"/>
              </a:rPr>
              <a:t>final result</a:t>
            </a:r>
            <a:r>
              <a:rPr lang="ko-KR" sz="1900" b="0" u="none" strike="noStrike">
                <a:solidFill>
                  <a:srgbClr val="0D685C"/>
                </a:solidFill>
                <a:effectLst/>
                <a:uFillTx/>
                <a:latin typeface="AppleGothic"/>
                <a:ea typeface="AppleGothic"/>
              </a:rPr>
              <a:t>에서 사라진다는 사실은 다르다</a:t>
            </a:r>
            <a:endParaRPr lang="en-US" sz="1900" b="0" u="none" strike="noStrike">
              <a:solidFill>
                <a:srgbClr val="000000"/>
              </a:solidFill>
              <a:effectLst/>
              <a:uFillTx/>
              <a:latin typeface="Arial"/>
            </a:endParaRPr>
          </a:p>
        </p:txBody>
      </p:sp>
      <p:sp>
        <p:nvSpPr>
          <p:cNvPr id="231" name="Text 2"/>
          <p:cNvSpPr/>
          <p:nvPr/>
        </p:nvSpPr>
        <p:spPr>
          <a:xfrm>
            <a:off x="660240" y="210816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01</a:t>
            </a:r>
            <a:endParaRPr lang="en-US" sz="2200" b="0" u="none" strike="noStrike">
              <a:solidFill>
                <a:srgbClr val="000000"/>
              </a:solidFill>
              <a:effectLst/>
              <a:uFillTx/>
              <a:latin typeface="Arial"/>
            </a:endParaRPr>
          </a:p>
        </p:txBody>
      </p:sp>
      <p:sp>
        <p:nvSpPr>
          <p:cNvPr id="232" name="Text 3"/>
          <p:cNvSpPr/>
          <p:nvPr/>
        </p:nvSpPr>
        <p:spPr>
          <a:xfrm>
            <a:off x="1397160" y="210816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UniStar-opt</a:t>
            </a:r>
            <a:endParaRPr lang="en-US" sz="1900" b="0" u="none" strike="noStrike">
              <a:solidFill>
                <a:srgbClr val="000000"/>
              </a:solidFill>
              <a:effectLst/>
              <a:uFillTx/>
              <a:latin typeface="Arial"/>
            </a:endParaRPr>
          </a:p>
        </p:txBody>
      </p:sp>
      <p:sp>
        <p:nvSpPr>
          <p:cNvPr id="233" name="Text 4"/>
          <p:cNvSpPr/>
          <p:nvPr/>
        </p:nvSpPr>
        <p:spPr>
          <a:xfrm>
            <a:off x="4152960" y="210816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Output edge</a:t>
            </a:r>
            <a:r>
              <a:rPr lang="ko-KR" sz="1650" b="0" u="none" strike="noStrike">
                <a:solidFill>
                  <a:srgbClr val="173C37"/>
                </a:solidFill>
                <a:effectLst/>
                <a:uFillTx/>
                <a:latin typeface="AppleGothic"/>
                <a:ea typeface="AppleGothic"/>
              </a:rPr>
              <a:t>의 </a:t>
            </a:r>
            <a:r>
              <a:rPr lang="en-US" sz="1650" b="0" u="none" strike="noStrike">
                <a:solidFill>
                  <a:srgbClr val="173C37"/>
                </a:solidFill>
                <a:effectLst/>
                <a:uFillTx/>
                <a:latin typeface="AppleGothic"/>
                <a:ea typeface="AppleGothic"/>
              </a:rPr>
              <a:t>filtering case </a:t>
            </a:r>
            <a:r>
              <a:rPr lang="ko-KR" sz="1650" b="0" u="none" strike="noStrike">
                <a:solidFill>
                  <a:srgbClr val="173C37"/>
                </a:solidFill>
                <a:effectLst/>
                <a:uFillTx/>
                <a:latin typeface="AppleGothic"/>
                <a:ea typeface="AppleGothic"/>
              </a:rPr>
              <a:t>판정</a:t>
            </a:r>
            <a:endParaRPr lang="en-US" sz="1650" b="0" u="none" strike="noStrike">
              <a:solidFill>
                <a:srgbClr val="000000"/>
              </a:solidFill>
              <a:effectLst/>
              <a:uFillTx/>
              <a:latin typeface="Arial"/>
            </a:endParaRPr>
          </a:p>
        </p:txBody>
      </p:sp>
      <p:sp>
        <p:nvSpPr>
          <p:cNvPr id="234" name="Shape 5"/>
          <p:cNvSpPr/>
          <p:nvPr/>
        </p:nvSpPr>
        <p:spPr>
          <a:xfrm>
            <a:off x="1396800" y="261108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35" name="Shape 6"/>
          <p:cNvSpPr/>
          <p:nvPr/>
        </p:nvSpPr>
        <p:spPr>
          <a:xfrm>
            <a:off x="851040" y="262368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236" name="Text 7"/>
          <p:cNvSpPr/>
          <p:nvPr/>
        </p:nvSpPr>
        <p:spPr>
          <a:xfrm>
            <a:off x="660240" y="280152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02</a:t>
            </a:r>
            <a:endParaRPr lang="en-US" sz="2200" b="0" u="none" strike="noStrike">
              <a:solidFill>
                <a:srgbClr val="000000"/>
              </a:solidFill>
              <a:effectLst/>
              <a:uFillTx/>
              <a:latin typeface="Arial"/>
            </a:endParaRPr>
          </a:p>
        </p:txBody>
      </p:sp>
      <p:sp>
        <p:nvSpPr>
          <p:cNvPr id="237" name="Text 8"/>
          <p:cNvSpPr/>
          <p:nvPr/>
        </p:nvSpPr>
        <p:spPr>
          <a:xfrm>
            <a:off x="1397160" y="280152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Case 1 or 2</a:t>
            </a:r>
            <a:endParaRPr lang="en-US" sz="1900" b="0" u="none" strike="noStrike">
              <a:solidFill>
                <a:srgbClr val="000000"/>
              </a:solidFill>
              <a:effectLst/>
              <a:uFillTx/>
              <a:latin typeface="Arial"/>
            </a:endParaRPr>
          </a:p>
        </p:txBody>
      </p:sp>
      <p:sp>
        <p:nvSpPr>
          <p:cNvPr id="238" name="Text 9"/>
          <p:cNvSpPr/>
          <p:nvPr/>
        </p:nvSpPr>
        <p:spPr>
          <a:xfrm>
            <a:off x="4152960" y="280152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Edge</a:t>
            </a:r>
            <a:r>
              <a:rPr lang="ko-KR" sz="1650" b="0" u="none" strike="noStrike">
                <a:solidFill>
                  <a:srgbClr val="173C37"/>
                </a:solidFill>
                <a:effectLst/>
                <a:uFillTx/>
                <a:latin typeface="AppleGothic"/>
                <a:ea typeface="AppleGothic"/>
              </a:rPr>
              <a:t>를 </a:t>
            </a:r>
            <a:r>
              <a:rPr lang="en-US" sz="1650" b="0" u="none" strike="noStrike">
                <a:solidFill>
                  <a:srgbClr val="173C37"/>
                </a:solidFill>
                <a:effectLst/>
                <a:uFillTx/>
                <a:latin typeface="AppleGothic"/>
                <a:ea typeface="AppleGothic"/>
              </a:rPr>
              <a:t>sep</a:t>
            </a:r>
            <a:r>
              <a:rPr lang="ko-KR" sz="1650" b="0" u="none" strike="noStrike">
                <a:solidFill>
                  <a:srgbClr val="173C37"/>
                </a:solidFill>
                <a:effectLst/>
                <a:uFillTx/>
                <a:latin typeface="AppleGothic"/>
                <a:ea typeface="AppleGothic"/>
              </a:rPr>
              <a:t>로 </a:t>
            </a:r>
            <a:r>
              <a:rPr lang="en-US" sz="1650" b="0" u="none" strike="noStrike">
                <a:solidFill>
                  <a:srgbClr val="173C37"/>
                </a:solidFill>
                <a:effectLst/>
                <a:uFillTx/>
                <a:latin typeface="AppleGothic"/>
                <a:ea typeface="AppleGothic"/>
              </a:rPr>
              <a:t>emit</a:t>
            </a:r>
            <a:endParaRPr lang="en-US" sz="1650" b="0" u="none" strike="noStrike">
              <a:solidFill>
                <a:srgbClr val="000000"/>
              </a:solidFill>
              <a:effectLst/>
              <a:uFillTx/>
              <a:latin typeface="Arial"/>
            </a:endParaRPr>
          </a:p>
        </p:txBody>
      </p:sp>
      <p:sp>
        <p:nvSpPr>
          <p:cNvPr id="239" name="Shape 10"/>
          <p:cNvSpPr/>
          <p:nvPr/>
        </p:nvSpPr>
        <p:spPr>
          <a:xfrm>
            <a:off x="1396800" y="330444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40" name="Shape 11"/>
          <p:cNvSpPr/>
          <p:nvPr/>
        </p:nvSpPr>
        <p:spPr>
          <a:xfrm>
            <a:off x="851040" y="331740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241" name="Text 12"/>
          <p:cNvSpPr/>
          <p:nvPr/>
        </p:nvSpPr>
        <p:spPr>
          <a:xfrm>
            <a:off x="660240" y="349488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03</a:t>
            </a:r>
            <a:endParaRPr lang="en-US" sz="2200" b="0" u="none" strike="noStrike">
              <a:solidFill>
                <a:srgbClr val="000000"/>
              </a:solidFill>
              <a:effectLst/>
              <a:uFillTx/>
              <a:latin typeface="Arial"/>
            </a:endParaRPr>
          </a:p>
        </p:txBody>
      </p:sp>
      <p:sp>
        <p:nvSpPr>
          <p:cNvPr id="242" name="Text 13"/>
          <p:cNvSpPr/>
          <p:nvPr/>
        </p:nvSpPr>
        <p:spPr>
          <a:xfrm>
            <a:off x="1397160" y="349488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Accumulate F</a:t>
            </a:r>
            <a:endParaRPr lang="en-US" sz="1900" b="0" u="none" strike="noStrike">
              <a:solidFill>
                <a:srgbClr val="000000"/>
              </a:solidFill>
              <a:effectLst/>
              <a:uFillTx/>
              <a:latin typeface="Arial"/>
            </a:endParaRPr>
          </a:p>
        </p:txBody>
      </p:sp>
      <p:sp>
        <p:nvSpPr>
          <p:cNvPr id="243" name="Text 14"/>
          <p:cNvSpPr/>
          <p:nvPr/>
        </p:nvSpPr>
        <p:spPr>
          <a:xfrm>
            <a:off x="4152960" y="349488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ko-KR" sz="1650" b="0" u="none" strike="noStrike">
                <a:solidFill>
                  <a:srgbClr val="173C37"/>
                </a:solidFill>
                <a:effectLst/>
                <a:uFillTx/>
                <a:latin typeface="AppleGothic"/>
                <a:ea typeface="AppleGothic"/>
              </a:rPr>
              <a:t>여러 </a:t>
            </a:r>
            <a:r>
              <a:rPr lang="en-US" sz="1650" b="0" u="none" strike="noStrike">
                <a:solidFill>
                  <a:srgbClr val="173C37"/>
                </a:solidFill>
                <a:effectLst/>
                <a:uFillTx/>
                <a:latin typeface="AppleGothic"/>
                <a:ea typeface="AppleGothic"/>
              </a:rPr>
              <a:t>rounds</a:t>
            </a:r>
            <a:r>
              <a:rPr lang="ko-KR" sz="1650" b="0" u="none" strike="noStrike">
                <a:solidFill>
                  <a:srgbClr val="173C37"/>
                </a:solidFill>
                <a:effectLst/>
                <a:uFillTx/>
                <a:latin typeface="AppleGothic"/>
                <a:ea typeface="AppleGothic"/>
              </a:rPr>
              <a:t>의 </a:t>
            </a:r>
            <a:r>
              <a:rPr lang="en-US" sz="1650" b="0" u="none" strike="noStrike">
                <a:solidFill>
                  <a:srgbClr val="173C37"/>
                </a:solidFill>
                <a:effectLst/>
                <a:uFillTx/>
                <a:latin typeface="AppleGothic"/>
                <a:ea typeface="AppleGothic"/>
              </a:rPr>
              <a:t>sep</a:t>
            </a:r>
            <a:r>
              <a:rPr lang="ko-KR" sz="1650" b="0" u="none" strike="noStrike">
                <a:solidFill>
                  <a:srgbClr val="173C37"/>
                </a:solidFill>
                <a:effectLst/>
                <a:uFillTx/>
                <a:latin typeface="AppleGothic"/>
                <a:ea typeface="AppleGothic"/>
              </a:rPr>
              <a:t>를 </a:t>
            </a:r>
            <a:r>
              <a:rPr lang="en-US" sz="1650" b="0" u="none" strike="noStrike">
                <a:solidFill>
                  <a:srgbClr val="173C37"/>
                </a:solidFill>
                <a:effectLst/>
                <a:uFillTx/>
                <a:latin typeface="AppleGothic"/>
                <a:ea typeface="AppleGothic"/>
              </a:rPr>
              <a:t>set union</a:t>
            </a:r>
            <a:endParaRPr lang="en-US" sz="1650" b="0" u="none" strike="noStrike">
              <a:solidFill>
                <a:srgbClr val="000000"/>
              </a:solidFill>
              <a:effectLst/>
              <a:uFillTx/>
              <a:latin typeface="Arial"/>
            </a:endParaRPr>
          </a:p>
        </p:txBody>
      </p:sp>
      <p:sp>
        <p:nvSpPr>
          <p:cNvPr id="244" name="Shape 15"/>
          <p:cNvSpPr/>
          <p:nvPr/>
        </p:nvSpPr>
        <p:spPr>
          <a:xfrm>
            <a:off x="1396800" y="399780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45" name="Shape 16"/>
          <p:cNvSpPr/>
          <p:nvPr/>
        </p:nvSpPr>
        <p:spPr>
          <a:xfrm>
            <a:off x="851040" y="401076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246" name="Text 17"/>
          <p:cNvSpPr/>
          <p:nvPr/>
        </p:nvSpPr>
        <p:spPr>
          <a:xfrm>
            <a:off x="660240" y="418860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04</a:t>
            </a:r>
            <a:endParaRPr lang="en-US" sz="2200" b="0" u="none" strike="noStrike">
              <a:solidFill>
                <a:srgbClr val="000000"/>
              </a:solidFill>
              <a:effectLst/>
              <a:uFillTx/>
              <a:latin typeface="Arial"/>
            </a:endParaRPr>
          </a:p>
        </p:txBody>
      </p:sp>
      <p:sp>
        <p:nvSpPr>
          <p:cNvPr id="247" name="Text 18"/>
          <p:cNvSpPr/>
          <p:nvPr/>
        </p:nvSpPr>
        <p:spPr>
          <a:xfrm>
            <a:off x="1397160" y="418860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Rem on remaining E</a:t>
            </a:r>
            <a:endParaRPr lang="en-US" sz="1900" b="0" u="none" strike="noStrike">
              <a:solidFill>
                <a:srgbClr val="000000"/>
              </a:solidFill>
              <a:effectLst/>
              <a:uFillTx/>
              <a:latin typeface="Arial"/>
            </a:endParaRPr>
          </a:p>
        </p:txBody>
      </p:sp>
      <p:sp>
        <p:nvSpPr>
          <p:cNvPr id="248" name="Text 19"/>
          <p:cNvSpPr/>
          <p:nvPr/>
        </p:nvSpPr>
        <p:spPr>
          <a:xfrm>
            <a:off x="4152960" y="418860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|E|</a:t>
            </a:r>
            <a:r>
              <a:rPr lang="ko-KR" sz="1650" b="0" u="none" strike="noStrike">
                <a:solidFill>
                  <a:srgbClr val="173C37"/>
                </a:solidFill>
                <a:effectLst/>
                <a:uFillTx/>
                <a:latin typeface="AppleGothic"/>
                <a:ea typeface="AppleGothic"/>
              </a:rPr>
              <a:t>가 </a:t>
            </a:r>
            <a:r>
              <a:rPr lang="en-US" sz="1650" b="0" u="none" strike="noStrike">
                <a:solidFill>
                  <a:srgbClr val="173C37"/>
                </a:solidFill>
                <a:effectLst/>
                <a:uFillTx/>
                <a:latin typeface="AppleGothic"/>
                <a:ea typeface="AppleGothic"/>
              </a:rPr>
              <a:t>tau </a:t>
            </a:r>
            <a:r>
              <a:rPr lang="ko-KR" sz="1650" b="0" u="none" strike="noStrike">
                <a:solidFill>
                  <a:srgbClr val="173C37"/>
                </a:solidFill>
                <a:effectLst/>
                <a:uFillTx/>
                <a:latin typeface="AppleGothic"/>
                <a:ea typeface="AppleGothic"/>
              </a:rPr>
              <a:t>이하이면 </a:t>
            </a:r>
            <a:r>
              <a:rPr lang="en-US" sz="1650" b="0" u="none" strike="noStrike">
                <a:solidFill>
                  <a:srgbClr val="173C37"/>
                </a:solidFill>
                <a:effectLst/>
                <a:uFillTx/>
                <a:latin typeface="AppleGothic"/>
                <a:ea typeface="AppleGothic"/>
              </a:rPr>
              <a:t>single-machine Rem</a:t>
            </a:r>
            <a:endParaRPr lang="en-US" sz="1650" b="0" u="none" strike="noStrike">
              <a:solidFill>
                <a:srgbClr val="000000"/>
              </a:solidFill>
              <a:effectLst/>
              <a:uFillTx/>
              <a:latin typeface="Arial"/>
            </a:endParaRPr>
          </a:p>
        </p:txBody>
      </p:sp>
      <p:sp>
        <p:nvSpPr>
          <p:cNvPr id="249" name="Shape 20"/>
          <p:cNvSpPr/>
          <p:nvPr/>
        </p:nvSpPr>
        <p:spPr>
          <a:xfrm>
            <a:off x="1396800" y="469116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50" name="Shape 21"/>
          <p:cNvSpPr/>
          <p:nvPr/>
        </p:nvSpPr>
        <p:spPr>
          <a:xfrm>
            <a:off x="851040" y="470412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251" name="Text 22"/>
          <p:cNvSpPr/>
          <p:nvPr/>
        </p:nvSpPr>
        <p:spPr>
          <a:xfrm>
            <a:off x="660240" y="4881960"/>
            <a:ext cx="57132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05</a:t>
            </a:r>
            <a:endParaRPr lang="en-US" sz="2200" b="0" u="none" strike="noStrike">
              <a:solidFill>
                <a:srgbClr val="000000"/>
              </a:solidFill>
              <a:effectLst/>
              <a:uFillTx/>
              <a:latin typeface="Arial"/>
            </a:endParaRPr>
          </a:p>
        </p:txBody>
      </p:sp>
      <p:sp>
        <p:nvSpPr>
          <p:cNvPr id="252" name="Text 23"/>
          <p:cNvSpPr/>
          <p:nvPr/>
        </p:nvSpPr>
        <p:spPr>
          <a:xfrm>
            <a:off x="1397160" y="4881960"/>
            <a:ext cx="260316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Finishing</a:t>
            </a:r>
            <a:endParaRPr lang="en-US" sz="1900" b="0" u="none" strike="noStrike">
              <a:solidFill>
                <a:srgbClr val="000000"/>
              </a:solidFill>
              <a:effectLst/>
              <a:uFillTx/>
              <a:latin typeface="Arial"/>
            </a:endParaRPr>
          </a:p>
        </p:txBody>
      </p:sp>
      <p:sp>
        <p:nvSpPr>
          <p:cNvPr id="253" name="Text 24"/>
          <p:cNvSpPr/>
          <p:nvPr/>
        </p:nvSpPr>
        <p:spPr>
          <a:xfrm>
            <a:off x="4152960" y="4881960"/>
            <a:ext cx="7378200" cy="48996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Remaining E</a:t>
            </a:r>
            <a:r>
              <a:rPr lang="ko-KR" sz="1650" b="0" u="none" strike="noStrike">
                <a:solidFill>
                  <a:srgbClr val="173C37"/>
                </a:solidFill>
                <a:effectLst/>
                <a:uFillTx/>
                <a:latin typeface="AppleGothic"/>
                <a:ea typeface="AppleGothic"/>
              </a:rPr>
              <a:t>와 </a:t>
            </a:r>
            <a:r>
              <a:rPr lang="en-US" sz="1650" b="0" u="none" strike="noStrike">
                <a:solidFill>
                  <a:srgbClr val="173C37"/>
                </a:solidFill>
                <a:effectLst/>
                <a:uFillTx/>
                <a:latin typeface="AppleGothic"/>
                <a:ea typeface="AppleGothic"/>
              </a:rPr>
              <a:t>F</a:t>
            </a:r>
            <a:r>
              <a:rPr lang="ko-KR" sz="1650" b="0" u="none" strike="noStrike">
                <a:solidFill>
                  <a:srgbClr val="173C37"/>
                </a:solidFill>
                <a:effectLst/>
                <a:uFillTx/>
                <a:latin typeface="AppleGothic"/>
                <a:ea typeface="AppleGothic"/>
              </a:rPr>
              <a:t>로 </a:t>
            </a:r>
            <a:r>
              <a:rPr lang="en-US" sz="1650" b="0" u="none" strike="noStrike">
                <a:solidFill>
                  <a:srgbClr val="173C37"/>
                </a:solidFill>
                <a:effectLst/>
                <a:uFillTx/>
                <a:latin typeface="AppleGothic"/>
                <a:ea typeface="AppleGothic"/>
              </a:rPr>
              <a:t>final mapping </a:t>
            </a:r>
            <a:r>
              <a:rPr lang="ko-KR" sz="1650" b="0" u="none" strike="noStrike">
                <a:solidFill>
                  <a:srgbClr val="173C37"/>
                </a:solidFill>
                <a:effectLst/>
                <a:uFillTx/>
                <a:latin typeface="AppleGothic"/>
                <a:ea typeface="AppleGothic"/>
              </a:rPr>
              <a:t>계산</a:t>
            </a:r>
            <a:endParaRPr lang="en-US" sz="1650" b="0" u="none" strike="noStrike">
              <a:solidFill>
                <a:srgbClr val="000000"/>
              </a:solidFill>
              <a:effectLst/>
              <a:uFillTx/>
              <a:latin typeface="Arial"/>
            </a:endParaRPr>
          </a:p>
        </p:txBody>
      </p:sp>
      <p:sp>
        <p:nvSpPr>
          <p:cNvPr id="254" name="Shape 25"/>
          <p:cNvSpPr/>
          <p:nvPr/>
        </p:nvSpPr>
        <p:spPr>
          <a:xfrm>
            <a:off x="1396800" y="538452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55" name="Shape 26"/>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56" name="Text 27"/>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F</a:t>
            </a:r>
            <a:r>
              <a:rPr lang="ko-KR" sz="1750" b="1" u="none" strike="noStrike">
                <a:solidFill>
                  <a:srgbClr val="173C37"/>
                </a:solidFill>
                <a:effectLst/>
                <a:uFillTx/>
                <a:latin typeface="AppleGothic"/>
                <a:ea typeface="AppleGothic"/>
              </a:rPr>
              <a:t>는 버린 </a:t>
            </a:r>
            <a:r>
              <a:rPr lang="en-US" sz="1750" b="1" u="none" strike="noStrike">
                <a:solidFill>
                  <a:srgbClr val="173C37"/>
                </a:solidFill>
                <a:effectLst/>
                <a:uFillTx/>
                <a:latin typeface="AppleGothic"/>
                <a:ea typeface="AppleGothic"/>
              </a:rPr>
              <a:t>edge </a:t>
            </a:r>
            <a:r>
              <a:rPr lang="ko-KR" sz="1750" b="1" u="none" strike="noStrike">
                <a:solidFill>
                  <a:srgbClr val="173C37"/>
                </a:solidFill>
                <a:effectLst/>
                <a:uFillTx/>
                <a:latin typeface="AppleGothic"/>
                <a:ea typeface="AppleGothic"/>
              </a:rPr>
              <a:t>모음이 아니라 </a:t>
            </a:r>
            <a:r>
              <a:rPr lang="en-US" sz="1750" b="1" u="none" strike="noStrike">
                <a:solidFill>
                  <a:srgbClr val="173C37"/>
                </a:solidFill>
                <a:effectLst/>
                <a:uFillTx/>
                <a:latin typeface="AppleGothic"/>
                <a:ea typeface="AppleGothic"/>
              </a:rPr>
              <a:t>final connectivity</a:t>
            </a:r>
            <a:r>
              <a:rPr lang="ko-KR" sz="1750" b="1" u="none" strike="noStrike">
                <a:solidFill>
                  <a:srgbClr val="173C37"/>
                </a:solidFill>
                <a:effectLst/>
                <a:uFillTx/>
                <a:latin typeface="AppleGothic"/>
                <a:ea typeface="AppleGothic"/>
              </a:rPr>
              <a:t>를 위해 보존한 </a:t>
            </a:r>
            <a:r>
              <a:rPr lang="en-US" sz="1750" b="1" u="none" strike="noStrike">
                <a:solidFill>
                  <a:srgbClr val="173C37"/>
                </a:solidFill>
                <a:effectLst/>
                <a:uFillTx/>
                <a:latin typeface="AppleGothic"/>
                <a:ea typeface="AppleGothic"/>
              </a:rPr>
              <a:t>evidence</a:t>
            </a:r>
            <a:r>
              <a:rPr lang="ko-KR" sz="1750" b="1" u="none" strike="noStrike">
                <a:solidFill>
                  <a:srgbClr val="173C37"/>
                </a:solidFill>
                <a:effectLst/>
                <a:uFillTx/>
                <a:latin typeface="AppleGothic"/>
                <a:ea typeface="AppleGothic"/>
              </a:rPr>
              <a:t>다</a:t>
            </a:r>
            <a:endParaRPr lang="en-US" sz="1750" b="0" u="none" strike="noStrike">
              <a:solidFill>
                <a:srgbClr val="000000"/>
              </a:solidFill>
              <a:effectLst/>
              <a:uFillTx/>
              <a:latin typeface="Arial"/>
            </a:endParaRPr>
          </a:p>
        </p:txBody>
      </p:sp>
      <p:sp>
        <p:nvSpPr>
          <p:cNvPr id="257" name="Shape 28"/>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58" name="Text 29"/>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unicon-paper pp. 5-6 and 9-10, Algorithms 1-2</a:t>
            </a:r>
            <a:endParaRPr lang="en-US" sz="1050" b="0" u="none" strike="noStrike">
              <a:solidFill>
                <a:srgbClr val="000000"/>
              </a:solidFill>
              <a:effectLst/>
              <a:uFillTx/>
              <a:latin typeface="Arial"/>
            </a:endParaRPr>
          </a:p>
        </p:txBody>
      </p:sp>
      <p:sp>
        <p:nvSpPr>
          <p:cNvPr id="259" name="Text 30"/>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14</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60"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Case 3 discard</a:t>
            </a:r>
            <a:r>
              <a:rPr lang="ko-KR" sz="3100" b="1" u="none" strike="noStrike">
                <a:solidFill>
                  <a:srgbClr val="173C37"/>
                </a:solidFill>
                <a:effectLst/>
                <a:uFillTx/>
                <a:latin typeface="AppleGothic"/>
                <a:ea typeface="AppleGothic"/>
              </a:rPr>
              <a:t>의 보존 조건</a:t>
            </a:r>
            <a:endParaRPr lang="en-US" sz="3100" b="0" u="none" strike="noStrike">
              <a:solidFill>
                <a:srgbClr val="000000"/>
              </a:solidFill>
              <a:effectLst/>
              <a:uFillTx/>
              <a:latin typeface="Arial"/>
            </a:endParaRPr>
          </a:p>
        </p:txBody>
      </p:sp>
      <p:sp>
        <p:nvSpPr>
          <p:cNvPr id="261"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900" b="0" u="none" strike="noStrike">
                <a:solidFill>
                  <a:srgbClr val="0D685C"/>
                </a:solidFill>
                <a:effectLst/>
                <a:uFillTx/>
                <a:latin typeface="AppleGothic"/>
                <a:ea typeface="AppleGothic"/>
              </a:rPr>
              <a:t>xi(u)=i</a:t>
            </a:r>
            <a:r>
              <a:rPr lang="ko-KR" sz="1900" b="0" u="none" strike="noStrike">
                <a:solidFill>
                  <a:srgbClr val="0D685C"/>
                </a:solidFill>
                <a:effectLst/>
                <a:uFillTx/>
                <a:latin typeface="AppleGothic"/>
                <a:ea typeface="AppleGothic"/>
              </a:rPr>
              <a:t>에서 </a:t>
            </a:r>
            <a:r>
              <a:rPr lang="en-US" sz="1900" b="0" u="none" strike="noStrike">
                <a:solidFill>
                  <a:srgbClr val="0D685C"/>
                </a:solidFill>
                <a:effectLst/>
                <a:uFillTx/>
                <a:latin typeface="AppleGothic"/>
                <a:ea typeface="AppleGothic"/>
              </a:rPr>
              <a:t>u</a:t>
            </a:r>
            <a:r>
              <a:rPr lang="ko-KR" sz="1900" b="0" u="none" strike="noStrike">
                <a:solidFill>
                  <a:srgbClr val="0D685C"/>
                </a:solidFill>
                <a:effectLst/>
                <a:uFillTx/>
                <a:latin typeface="AppleGothic"/>
                <a:ea typeface="AppleGothic"/>
              </a:rPr>
              <a:t>의 유일 </a:t>
            </a:r>
            <a:r>
              <a:rPr lang="en-US" sz="1900" b="0" u="none" strike="noStrike">
                <a:solidFill>
                  <a:srgbClr val="0D685C"/>
                </a:solidFill>
                <a:effectLst/>
                <a:uFillTx/>
                <a:latin typeface="AppleGothic"/>
                <a:ea typeface="AppleGothic"/>
              </a:rPr>
              <a:t>incident edge</a:t>
            </a:r>
            <a:r>
              <a:rPr lang="ko-KR" sz="1900" b="0" u="none" strike="noStrike">
                <a:solidFill>
                  <a:srgbClr val="0D685C"/>
                </a:solidFill>
                <a:effectLst/>
                <a:uFillTx/>
                <a:latin typeface="AppleGothic"/>
                <a:ea typeface="AppleGothic"/>
              </a:rPr>
              <a:t>가 </a:t>
            </a:r>
            <a:r>
              <a:rPr lang="en-US" sz="1900" b="0" u="none" strike="noStrike">
                <a:solidFill>
                  <a:srgbClr val="0D685C"/>
                </a:solidFill>
                <a:effectLst/>
                <a:uFillTx/>
                <a:latin typeface="AppleGothic"/>
                <a:ea typeface="AppleGothic"/>
              </a:rPr>
              <a:t>intact</a:t>
            </a:r>
            <a:r>
              <a:rPr lang="ko-KR" sz="1900" b="0" u="none" strike="noStrike">
                <a:solidFill>
                  <a:srgbClr val="0D685C"/>
                </a:solidFill>
                <a:effectLst/>
                <a:uFillTx/>
                <a:latin typeface="AppleGothic"/>
                <a:ea typeface="AppleGothic"/>
              </a:rPr>
              <a:t>이면 반대 </a:t>
            </a:r>
            <a:r>
              <a:rPr lang="en-US" sz="1900" b="0" u="none" strike="noStrike">
                <a:solidFill>
                  <a:srgbClr val="0D685C"/>
                </a:solidFill>
                <a:effectLst/>
                <a:uFillTx/>
                <a:latin typeface="AppleGothic"/>
                <a:ea typeface="AppleGothic"/>
              </a:rPr>
              <a:t>partition</a:t>
            </a:r>
            <a:r>
              <a:rPr lang="ko-KR" sz="1900" b="0" u="none" strike="noStrike">
                <a:solidFill>
                  <a:srgbClr val="0D685C"/>
                </a:solidFill>
                <a:effectLst/>
                <a:uFillTx/>
                <a:latin typeface="AppleGothic"/>
                <a:ea typeface="AppleGothic"/>
              </a:rPr>
              <a:t>의 </a:t>
            </a:r>
            <a:r>
              <a:rPr lang="en-US" sz="1900" b="0" u="none" strike="noStrike">
                <a:solidFill>
                  <a:srgbClr val="0D685C"/>
                </a:solidFill>
                <a:effectLst/>
                <a:uFillTx/>
                <a:latin typeface="AppleGothic"/>
                <a:ea typeface="AppleGothic"/>
              </a:rPr>
              <a:t>copy </a:t>
            </a:r>
            <a:r>
              <a:rPr lang="ko-KR" sz="1900" b="0" u="none" strike="noStrike">
                <a:solidFill>
                  <a:srgbClr val="0D685C"/>
                </a:solidFill>
                <a:effectLst/>
                <a:uFillTx/>
                <a:latin typeface="AppleGothic"/>
                <a:ea typeface="AppleGothic"/>
              </a:rPr>
              <a:t>또는 대체 </a:t>
            </a:r>
            <a:r>
              <a:rPr lang="en-US" sz="1900" b="0" u="none" strike="noStrike">
                <a:solidFill>
                  <a:srgbClr val="0D685C"/>
                </a:solidFill>
                <a:effectLst/>
                <a:uFillTx/>
                <a:latin typeface="AppleGothic"/>
                <a:ea typeface="AppleGothic"/>
              </a:rPr>
              <a:t>edge</a:t>
            </a:r>
            <a:r>
              <a:rPr lang="ko-KR" sz="1900" b="0" u="none" strike="noStrike">
                <a:solidFill>
                  <a:srgbClr val="0D685C"/>
                </a:solidFill>
                <a:effectLst/>
                <a:uFillTx/>
                <a:latin typeface="AppleGothic"/>
                <a:ea typeface="AppleGothic"/>
              </a:rPr>
              <a:t>가 남는다</a:t>
            </a:r>
            <a:endParaRPr lang="en-US" sz="1900" b="0" u="none" strike="noStrike">
              <a:solidFill>
                <a:srgbClr val="000000"/>
              </a:solidFill>
              <a:effectLst/>
              <a:uFillTx/>
              <a:latin typeface="Arial"/>
            </a:endParaRPr>
          </a:p>
        </p:txBody>
      </p:sp>
      <p:sp>
        <p:nvSpPr>
          <p:cNvPr id="262" name="Text 2"/>
          <p:cNvSpPr/>
          <p:nvPr/>
        </p:nvSpPr>
        <p:spPr>
          <a:xfrm>
            <a:off x="838080" y="2171880"/>
            <a:ext cx="10693080" cy="685440"/>
          </a:xfrm>
          <a:prstGeom prst="rect">
            <a:avLst/>
          </a:prstGeom>
          <a:noFill/>
          <a:ln w="0">
            <a:noFill/>
          </a:ln>
        </p:spPr>
        <p:style>
          <a:lnRef idx="0"/>
          <a:fillRef idx="0"/>
          <a:effectRef idx="0"/>
          <a:fontRef idx="minor"/>
        </p:style>
        <p:txBody>
          <a:bodyPr lIns="0" tIns="0" rIns="0" bIns="0" anchor="ctr">
            <a:noAutofit/>
          </a:bodyPr>
          <a:p>
            <a:pPr marL="254160" indent="-254160" defTabSz="914400">
              <a:lnSpc>
                <a:spcPct val="125000"/>
              </a:lnSpc>
              <a:buClr>
                <a:srgbClr val="173C37"/>
              </a:buClr>
              <a:buFont typeface="Symbol" charset="2"/>
              <a:buChar char=""/>
            </a:pPr>
            <a:r>
              <a:rPr lang="en-US" sz="2000" b="0" u="none" strike="noStrike">
                <a:solidFill>
                  <a:srgbClr val="173C37"/>
                </a:solidFill>
                <a:effectLst/>
                <a:uFillTx/>
                <a:latin typeface="AppleGothic"/>
                <a:ea typeface="AppleGothic"/>
              </a:rPr>
              <a:t>Original non-intact cross edge</a:t>
            </a:r>
            <a:r>
              <a:rPr lang="ko-KR" sz="2000" b="0" u="none" strike="noStrike">
                <a:solidFill>
                  <a:srgbClr val="173C37"/>
                </a:solidFill>
                <a:effectLst/>
                <a:uFillTx/>
                <a:latin typeface="AppleGothic"/>
                <a:ea typeface="AppleGothic"/>
              </a:rPr>
              <a:t>는 처음에 두 </a:t>
            </a:r>
            <a:r>
              <a:rPr lang="en-US" sz="2000" b="0" u="none" strike="noStrike">
                <a:solidFill>
                  <a:srgbClr val="173C37"/>
                </a:solidFill>
                <a:effectLst/>
                <a:uFillTx/>
                <a:latin typeface="AppleGothic"/>
                <a:ea typeface="AppleGothic"/>
              </a:rPr>
              <a:t>endpoint partitions</a:t>
            </a:r>
            <a:r>
              <a:rPr lang="ko-KR" sz="2000" b="0" u="none" strike="noStrike">
                <a:solidFill>
                  <a:srgbClr val="173C37"/>
                </a:solidFill>
                <a:effectLst/>
                <a:uFillTx/>
                <a:latin typeface="AppleGothic"/>
                <a:ea typeface="AppleGothic"/>
              </a:rPr>
              <a:t>에 존재한다</a:t>
            </a:r>
            <a:r>
              <a:rPr lang="en-US" sz="2000" b="0" u="none" strike="noStrike">
                <a:solidFill>
                  <a:srgbClr val="173C37"/>
                </a:solidFill>
                <a:effectLst/>
                <a:uFillTx/>
                <a:latin typeface="AppleGothic"/>
                <a:ea typeface="AppleGothic"/>
              </a:rPr>
              <a:t>.</a:t>
            </a:r>
            <a:endParaRPr lang="en-US" sz="2000" b="0" u="none" strike="noStrike">
              <a:solidFill>
                <a:srgbClr val="000000"/>
              </a:solidFill>
              <a:effectLst/>
              <a:uFillTx/>
              <a:latin typeface="Arial"/>
            </a:endParaRPr>
          </a:p>
        </p:txBody>
      </p:sp>
      <p:sp>
        <p:nvSpPr>
          <p:cNvPr id="263" name="Shape 3"/>
          <p:cNvSpPr/>
          <p:nvPr/>
        </p:nvSpPr>
        <p:spPr>
          <a:xfrm>
            <a:off x="838080" y="2908080"/>
            <a:ext cx="1069344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64" name="Text 4"/>
          <p:cNvSpPr/>
          <p:nvPr/>
        </p:nvSpPr>
        <p:spPr>
          <a:xfrm>
            <a:off x="838080" y="2946240"/>
            <a:ext cx="10693080" cy="685440"/>
          </a:xfrm>
          <a:prstGeom prst="rect">
            <a:avLst/>
          </a:prstGeom>
          <a:noFill/>
          <a:ln w="0">
            <a:noFill/>
          </a:ln>
        </p:spPr>
        <p:style>
          <a:lnRef idx="0"/>
          <a:fillRef idx="0"/>
          <a:effectRef idx="0"/>
          <a:fontRef idx="minor"/>
        </p:style>
        <p:txBody>
          <a:bodyPr lIns="0" tIns="0" rIns="0" bIns="0" anchor="ctr">
            <a:noAutofit/>
          </a:bodyPr>
          <a:p>
            <a:pPr marL="254160" indent="-254160" defTabSz="914400">
              <a:lnSpc>
                <a:spcPct val="125000"/>
              </a:lnSpc>
              <a:buClr>
                <a:srgbClr val="173C37"/>
              </a:buClr>
              <a:buFont typeface="Symbol" charset="2"/>
              <a:buChar char=""/>
            </a:pPr>
            <a:r>
              <a:rPr lang="ko-KR" sz="2000" b="0" u="none" strike="noStrike">
                <a:solidFill>
                  <a:srgbClr val="173C37"/>
                </a:solidFill>
                <a:effectLst/>
                <a:uFillTx/>
                <a:latin typeface="AppleGothic"/>
                <a:ea typeface="AppleGothic"/>
              </a:rPr>
              <a:t>한 </a:t>
            </a:r>
            <a:r>
              <a:rPr lang="en-US" sz="2000" b="0" u="none" strike="noStrike">
                <a:solidFill>
                  <a:srgbClr val="173C37"/>
                </a:solidFill>
                <a:effectLst/>
                <a:uFillTx/>
                <a:latin typeface="AppleGothic"/>
                <a:ea typeface="AppleGothic"/>
              </a:rPr>
              <a:t>view</a:t>
            </a:r>
            <a:r>
              <a:rPr lang="ko-KR" sz="2000" b="0" u="none" strike="noStrike">
                <a:solidFill>
                  <a:srgbClr val="173C37"/>
                </a:solidFill>
                <a:effectLst/>
                <a:uFillTx/>
                <a:latin typeface="AppleGothic"/>
                <a:ea typeface="AppleGothic"/>
              </a:rPr>
              <a:t>에서 </a:t>
            </a:r>
            <a:r>
              <a:rPr lang="en-US" sz="2000" b="0" u="none" strike="noStrike">
                <a:solidFill>
                  <a:srgbClr val="173C37"/>
                </a:solidFill>
                <a:effectLst/>
                <a:uFillTx/>
                <a:latin typeface="AppleGothic"/>
                <a:ea typeface="AppleGothic"/>
              </a:rPr>
              <a:t>intact</a:t>
            </a:r>
            <a:r>
              <a:rPr lang="ko-KR" sz="2000" b="0" u="none" strike="noStrike">
                <a:solidFill>
                  <a:srgbClr val="173C37"/>
                </a:solidFill>
                <a:effectLst/>
                <a:uFillTx/>
                <a:latin typeface="AppleGothic"/>
                <a:ea typeface="AppleGothic"/>
              </a:rPr>
              <a:t>가 되어 제외되더라도 </a:t>
            </a:r>
            <a:r>
              <a:rPr lang="en-US" sz="2000" b="0" u="none" strike="noStrike">
                <a:solidFill>
                  <a:srgbClr val="173C37"/>
                </a:solidFill>
                <a:effectLst/>
                <a:uFillTx/>
                <a:latin typeface="AppleGothic"/>
                <a:ea typeface="AppleGothic"/>
              </a:rPr>
              <a:t>opposite view</a:t>
            </a:r>
            <a:r>
              <a:rPr lang="ko-KR" sz="2000" b="0" u="none" strike="noStrike">
                <a:solidFill>
                  <a:srgbClr val="173C37"/>
                </a:solidFill>
                <a:effectLst/>
                <a:uFillTx/>
                <a:latin typeface="AppleGothic"/>
                <a:ea typeface="AppleGothic"/>
              </a:rPr>
              <a:t>가 같은 </a:t>
            </a:r>
            <a:r>
              <a:rPr lang="en-US" sz="2000" b="0" u="none" strike="noStrike">
                <a:solidFill>
                  <a:srgbClr val="173C37"/>
                </a:solidFill>
                <a:effectLst/>
                <a:uFillTx/>
                <a:latin typeface="AppleGothic"/>
                <a:ea typeface="AppleGothic"/>
              </a:rPr>
              <a:t>edge</a:t>
            </a:r>
            <a:r>
              <a:rPr lang="ko-KR" sz="2000" b="0" u="none" strike="noStrike">
                <a:solidFill>
                  <a:srgbClr val="173C37"/>
                </a:solidFill>
                <a:effectLst/>
                <a:uFillTx/>
                <a:latin typeface="AppleGothic"/>
                <a:ea typeface="AppleGothic"/>
              </a:rPr>
              <a:t>를 유지할 수 있다</a:t>
            </a:r>
            <a:r>
              <a:rPr lang="en-US" sz="2000" b="0" u="none" strike="noStrike">
                <a:solidFill>
                  <a:srgbClr val="173C37"/>
                </a:solidFill>
                <a:effectLst/>
                <a:uFillTx/>
                <a:latin typeface="AppleGothic"/>
                <a:ea typeface="AppleGothic"/>
              </a:rPr>
              <a:t>.</a:t>
            </a:r>
            <a:endParaRPr lang="en-US" sz="2000" b="0" u="none" strike="noStrike">
              <a:solidFill>
                <a:srgbClr val="000000"/>
              </a:solidFill>
              <a:effectLst/>
              <a:uFillTx/>
              <a:latin typeface="Arial"/>
            </a:endParaRPr>
          </a:p>
        </p:txBody>
      </p:sp>
      <p:sp>
        <p:nvSpPr>
          <p:cNvPr id="265" name="Shape 5"/>
          <p:cNvSpPr/>
          <p:nvPr/>
        </p:nvSpPr>
        <p:spPr>
          <a:xfrm>
            <a:off x="838080" y="3682800"/>
            <a:ext cx="1069344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66" name="Text 6"/>
          <p:cNvSpPr/>
          <p:nvPr/>
        </p:nvSpPr>
        <p:spPr>
          <a:xfrm>
            <a:off x="838080" y="3720960"/>
            <a:ext cx="10693080" cy="685440"/>
          </a:xfrm>
          <a:prstGeom prst="rect">
            <a:avLst/>
          </a:prstGeom>
          <a:noFill/>
          <a:ln w="0">
            <a:noFill/>
          </a:ln>
        </p:spPr>
        <p:style>
          <a:lnRef idx="0"/>
          <a:fillRef idx="0"/>
          <a:effectRef idx="0"/>
          <a:fontRef idx="minor"/>
        </p:style>
        <p:txBody>
          <a:bodyPr lIns="0" tIns="0" rIns="0" bIns="0" anchor="ctr">
            <a:noAutofit/>
          </a:bodyPr>
          <a:p>
            <a:pPr marL="254160" indent="-254160" defTabSz="914400">
              <a:lnSpc>
                <a:spcPct val="125000"/>
              </a:lnSpc>
              <a:buClr>
                <a:srgbClr val="173C37"/>
              </a:buClr>
              <a:buFont typeface="Symbol" charset="2"/>
              <a:buChar char=""/>
            </a:pPr>
            <a:r>
              <a:rPr lang="en-US" sz="2000" b="0" u="none" strike="noStrike">
                <a:solidFill>
                  <a:srgbClr val="173C37"/>
                </a:solidFill>
                <a:effectLst/>
                <a:uFillTx/>
                <a:latin typeface="AppleGothic"/>
                <a:ea typeface="AppleGothic"/>
              </a:rPr>
              <a:t>Opposite view</a:t>
            </a:r>
            <a:r>
              <a:rPr lang="ko-KR" sz="2000" b="0" u="none" strike="noStrike">
                <a:solidFill>
                  <a:srgbClr val="173C37"/>
                </a:solidFill>
                <a:effectLst/>
                <a:uFillTx/>
                <a:latin typeface="AppleGothic"/>
                <a:ea typeface="AppleGothic"/>
              </a:rPr>
              <a:t>가 </a:t>
            </a:r>
            <a:r>
              <a:rPr lang="en-US" sz="2000" b="0" u="none" strike="noStrike">
                <a:solidFill>
                  <a:srgbClr val="173C37"/>
                </a:solidFill>
                <a:effectLst/>
                <a:uFillTx/>
                <a:latin typeface="AppleGothic"/>
                <a:ea typeface="AppleGothic"/>
              </a:rPr>
              <a:t>edge</a:t>
            </a:r>
            <a:r>
              <a:rPr lang="ko-KR" sz="2000" b="0" u="none" strike="noStrike">
                <a:solidFill>
                  <a:srgbClr val="173C37"/>
                </a:solidFill>
                <a:effectLst/>
                <a:uFillTx/>
                <a:latin typeface="AppleGothic"/>
                <a:ea typeface="AppleGothic"/>
              </a:rPr>
              <a:t>를 바꾸면 </a:t>
            </a:r>
            <a:r>
              <a:rPr lang="en-US" sz="2000" b="0" u="none" strike="noStrike">
                <a:solidFill>
                  <a:srgbClr val="173C37"/>
                </a:solidFill>
                <a:effectLst/>
                <a:uFillTx/>
                <a:latin typeface="AppleGothic"/>
                <a:ea typeface="AppleGothic"/>
              </a:rPr>
              <a:t>u</a:t>
            </a:r>
            <a:r>
              <a:rPr lang="ko-KR" sz="2000" b="0" u="none" strike="noStrike">
                <a:solidFill>
                  <a:srgbClr val="173C37"/>
                </a:solidFill>
                <a:effectLst/>
                <a:uFillTx/>
                <a:latin typeface="AppleGothic"/>
                <a:ea typeface="AppleGothic"/>
              </a:rPr>
              <a:t>와 다른 </a:t>
            </a:r>
            <a:r>
              <a:rPr lang="en-US" sz="2000" b="0" u="none" strike="noStrike">
                <a:solidFill>
                  <a:srgbClr val="173C37"/>
                </a:solidFill>
                <a:effectLst/>
                <a:uFillTx/>
                <a:latin typeface="AppleGothic"/>
                <a:ea typeface="AppleGothic"/>
              </a:rPr>
              <a:t>neighbor</a:t>
            </a:r>
            <a:r>
              <a:rPr lang="ko-KR" sz="2000" b="0" u="none" strike="noStrike">
                <a:solidFill>
                  <a:srgbClr val="173C37"/>
                </a:solidFill>
                <a:effectLst/>
                <a:uFillTx/>
                <a:latin typeface="AppleGothic"/>
                <a:ea typeface="AppleGothic"/>
              </a:rPr>
              <a:t>를 잇는 </a:t>
            </a:r>
            <a:r>
              <a:rPr lang="en-US" sz="2000" b="0" u="none" strike="noStrike">
                <a:solidFill>
                  <a:srgbClr val="173C37"/>
                </a:solidFill>
                <a:effectLst/>
                <a:uFillTx/>
                <a:latin typeface="AppleGothic"/>
                <a:ea typeface="AppleGothic"/>
              </a:rPr>
              <a:t>replacement</a:t>
            </a:r>
            <a:r>
              <a:rPr lang="ko-KR" sz="2000" b="0" u="none" strike="noStrike">
                <a:solidFill>
                  <a:srgbClr val="173C37"/>
                </a:solidFill>
                <a:effectLst/>
                <a:uFillTx/>
                <a:latin typeface="AppleGothic"/>
                <a:ea typeface="AppleGothic"/>
              </a:rPr>
              <a:t>가 생긴다</a:t>
            </a:r>
            <a:r>
              <a:rPr lang="en-US" sz="2000" b="0" u="none" strike="noStrike">
                <a:solidFill>
                  <a:srgbClr val="173C37"/>
                </a:solidFill>
                <a:effectLst/>
                <a:uFillTx/>
                <a:latin typeface="AppleGothic"/>
                <a:ea typeface="AppleGothic"/>
              </a:rPr>
              <a:t>.</a:t>
            </a:r>
            <a:endParaRPr lang="en-US" sz="2000" b="0" u="none" strike="noStrike">
              <a:solidFill>
                <a:srgbClr val="000000"/>
              </a:solidFill>
              <a:effectLst/>
              <a:uFillTx/>
              <a:latin typeface="Arial"/>
            </a:endParaRPr>
          </a:p>
        </p:txBody>
      </p:sp>
      <p:sp>
        <p:nvSpPr>
          <p:cNvPr id="267" name="Shape 7"/>
          <p:cNvSpPr/>
          <p:nvPr/>
        </p:nvSpPr>
        <p:spPr>
          <a:xfrm>
            <a:off x="838080" y="4457520"/>
            <a:ext cx="1069344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68" name="Text 8"/>
          <p:cNvSpPr/>
          <p:nvPr/>
        </p:nvSpPr>
        <p:spPr>
          <a:xfrm>
            <a:off x="838080" y="4495680"/>
            <a:ext cx="10693080" cy="685440"/>
          </a:xfrm>
          <a:prstGeom prst="rect">
            <a:avLst/>
          </a:prstGeom>
          <a:noFill/>
          <a:ln w="0">
            <a:noFill/>
          </a:ln>
        </p:spPr>
        <p:style>
          <a:lnRef idx="0"/>
          <a:fillRef idx="0"/>
          <a:effectRef idx="0"/>
          <a:fontRef idx="minor"/>
        </p:style>
        <p:txBody>
          <a:bodyPr lIns="0" tIns="0" rIns="0" bIns="0" anchor="ctr">
            <a:noAutofit/>
          </a:bodyPr>
          <a:p>
            <a:pPr marL="254160" indent="-254160" defTabSz="914400">
              <a:lnSpc>
                <a:spcPct val="125000"/>
              </a:lnSpc>
              <a:buClr>
                <a:srgbClr val="173C37"/>
              </a:buClr>
              <a:buFont typeface="Symbol" charset="2"/>
              <a:buChar char=""/>
            </a:pPr>
            <a:r>
              <a:rPr lang="ko-KR" sz="2000" b="0" u="none" strike="noStrike">
                <a:solidFill>
                  <a:srgbClr val="173C37"/>
                </a:solidFill>
                <a:effectLst/>
                <a:uFillTx/>
                <a:latin typeface="AppleGothic"/>
                <a:ea typeface="AppleGothic"/>
              </a:rPr>
              <a:t>따라서 </a:t>
            </a:r>
            <a:r>
              <a:rPr lang="en-US" sz="2000" b="0" u="none" strike="noStrike">
                <a:solidFill>
                  <a:srgbClr val="173C37"/>
                </a:solidFill>
                <a:effectLst/>
                <a:uFillTx/>
                <a:latin typeface="AppleGothic"/>
                <a:ea typeface="AppleGothic"/>
              </a:rPr>
              <a:t>case 3</a:t>
            </a:r>
            <a:r>
              <a:rPr lang="ko-KR" sz="2000" b="0" u="none" strike="noStrike">
                <a:solidFill>
                  <a:srgbClr val="173C37"/>
                </a:solidFill>
                <a:effectLst/>
                <a:uFillTx/>
                <a:latin typeface="AppleGothic"/>
                <a:ea typeface="AppleGothic"/>
              </a:rPr>
              <a:t>의 </a:t>
            </a:r>
            <a:r>
              <a:rPr lang="en-US" sz="2000" b="0" u="none" strike="noStrike">
                <a:solidFill>
                  <a:srgbClr val="173C37"/>
                </a:solidFill>
                <a:effectLst/>
                <a:uFillTx/>
                <a:latin typeface="AppleGothic"/>
                <a:ea typeface="AppleGothic"/>
              </a:rPr>
              <a:t>local duplicate</a:t>
            </a:r>
            <a:r>
              <a:rPr lang="ko-KR" sz="2000" b="0" u="none" strike="noStrike">
                <a:solidFill>
                  <a:srgbClr val="173C37"/>
                </a:solidFill>
                <a:effectLst/>
                <a:uFillTx/>
                <a:latin typeface="AppleGothic"/>
                <a:ea typeface="AppleGothic"/>
              </a:rPr>
              <a:t>는 </a:t>
            </a:r>
            <a:r>
              <a:rPr lang="en-US" sz="2000" b="0" u="none" strike="noStrike">
                <a:solidFill>
                  <a:srgbClr val="173C37"/>
                </a:solidFill>
                <a:effectLst/>
                <a:uFillTx/>
                <a:latin typeface="AppleGothic"/>
                <a:ea typeface="AppleGothic"/>
              </a:rPr>
              <a:t>final connectivity</a:t>
            </a:r>
            <a:r>
              <a:rPr lang="ko-KR" sz="2000" b="0" u="none" strike="noStrike">
                <a:solidFill>
                  <a:srgbClr val="173C37"/>
                </a:solidFill>
                <a:effectLst/>
                <a:uFillTx/>
                <a:latin typeface="AppleGothic"/>
                <a:ea typeface="AppleGothic"/>
              </a:rPr>
              <a:t>를 끊지 않는다</a:t>
            </a:r>
            <a:r>
              <a:rPr lang="en-US" sz="2000" b="0" u="none" strike="noStrike">
                <a:solidFill>
                  <a:srgbClr val="173C37"/>
                </a:solidFill>
                <a:effectLst/>
                <a:uFillTx/>
                <a:latin typeface="AppleGothic"/>
                <a:ea typeface="AppleGothic"/>
              </a:rPr>
              <a:t>.</a:t>
            </a:r>
            <a:endParaRPr lang="en-US" sz="2000" b="0" u="none" strike="noStrike">
              <a:solidFill>
                <a:srgbClr val="000000"/>
              </a:solidFill>
              <a:effectLst/>
              <a:uFillTx/>
              <a:latin typeface="Arial"/>
            </a:endParaRPr>
          </a:p>
        </p:txBody>
      </p:sp>
      <p:sp>
        <p:nvSpPr>
          <p:cNvPr id="269" name="Shape 9"/>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70" name="Text 10"/>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Case 3</a:t>
            </a:r>
            <a:r>
              <a:rPr lang="ko-KR" sz="1750" b="1" u="none" strike="noStrike">
                <a:solidFill>
                  <a:srgbClr val="173C37"/>
                </a:solidFill>
                <a:effectLst/>
                <a:uFillTx/>
                <a:latin typeface="AppleGothic"/>
                <a:ea typeface="AppleGothic"/>
              </a:rPr>
              <a:t>은 </a:t>
            </a:r>
            <a:r>
              <a:rPr lang="en-US" sz="1750" b="1" u="none" strike="noStrike">
                <a:solidFill>
                  <a:srgbClr val="173C37"/>
                </a:solidFill>
                <a:effectLst/>
                <a:uFillTx/>
                <a:latin typeface="AppleGothic"/>
                <a:ea typeface="AppleGothic"/>
              </a:rPr>
              <a:t>arbitrary deletion</a:t>
            </a:r>
            <a:r>
              <a:rPr lang="ko-KR" sz="1750" b="1" u="none" strike="noStrike">
                <a:solidFill>
                  <a:srgbClr val="173C37"/>
                </a:solidFill>
                <a:effectLst/>
                <a:uFillTx/>
                <a:latin typeface="AppleGothic"/>
                <a:ea typeface="AppleGothic"/>
              </a:rPr>
              <a:t>이 아니라 </a:t>
            </a:r>
            <a:r>
              <a:rPr lang="en-US" sz="1750" b="1" u="none" strike="noStrike">
                <a:solidFill>
                  <a:srgbClr val="173C37"/>
                </a:solidFill>
                <a:effectLst/>
                <a:uFillTx/>
                <a:latin typeface="AppleGothic"/>
                <a:ea typeface="AppleGothic"/>
              </a:rPr>
              <a:t>counterpart </a:t>
            </a:r>
            <a:r>
              <a:rPr lang="ko-KR" sz="1750" b="1" u="none" strike="noStrike">
                <a:solidFill>
                  <a:srgbClr val="173C37"/>
                </a:solidFill>
                <a:effectLst/>
                <a:uFillTx/>
                <a:latin typeface="AppleGothic"/>
                <a:ea typeface="AppleGothic"/>
              </a:rPr>
              <a:t>또는 </a:t>
            </a:r>
            <a:r>
              <a:rPr lang="en-US" sz="1750" b="1" u="none" strike="noStrike">
                <a:solidFill>
                  <a:srgbClr val="173C37"/>
                </a:solidFill>
                <a:effectLst/>
                <a:uFillTx/>
                <a:latin typeface="AppleGothic"/>
                <a:ea typeface="AppleGothic"/>
              </a:rPr>
              <a:t>replacement existence</a:t>
            </a:r>
            <a:r>
              <a:rPr lang="ko-KR" sz="1750" b="1" u="none" strike="noStrike">
                <a:solidFill>
                  <a:srgbClr val="173C37"/>
                </a:solidFill>
                <a:effectLst/>
                <a:uFillTx/>
                <a:latin typeface="AppleGothic"/>
                <a:ea typeface="AppleGothic"/>
              </a:rPr>
              <a:t>에 의존한다</a:t>
            </a:r>
            <a:endParaRPr lang="en-US" sz="1750" b="0" u="none" strike="noStrike">
              <a:solidFill>
                <a:srgbClr val="000000"/>
              </a:solidFill>
              <a:effectLst/>
              <a:uFillTx/>
              <a:latin typeface="Arial"/>
            </a:endParaRPr>
          </a:p>
        </p:txBody>
      </p:sp>
      <p:sp>
        <p:nvSpPr>
          <p:cNvPr id="271" name="Shape 11"/>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72" name="Text 12"/>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unicon-paper p. 10, Theorem 2</a:t>
            </a:r>
            <a:endParaRPr lang="en-US" sz="1050" b="0" u="none" strike="noStrike">
              <a:solidFill>
                <a:srgbClr val="000000"/>
              </a:solidFill>
              <a:effectLst/>
              <a:uFillTx/>
              <a:latin typeface="Arial"/>
            </a:endParaRPr>
          </a:p>
        </p:txBody>
      </p:sp>
      <p:sp>
        <p:nvSpPr>
          <p:cNvPr id="273" name="Text 13"/>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15</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74"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Threshold tau</a:t>
            </a:r>
            <a:r>
              <a:rPr lang="ko-KR" sz="3100" b="1" u="none" strike="noStrike">
                <a:solidFill>
                  <a:srgbClr val="173C37"/>
                </a:solidFill>
                <a:effectLst/>
                <a:uFillTx/>
                <a:latin typeface="AppleGothic"/>
                <a:ea typeface="AppleGothic"/>
              </a:rPr>
              <a:t>와 </a:t>
            </a:r>
            <a:r>
              <a:rPr lang="en-US" sz="3100" b="1" u="none" strike="noStrike">
                <a:solidFill>
                  <a:srgbClr val="173C37"/>
                </a:solidFill>
                <a:effectLst/>
                <a:uFillTx/>
                <a:latin typeface="AppleGothic"/>
                <a:ea typeface="AppleGothic"/>
              </a:rPr>
              <a:t>Rem </a:t>
            </a:r>
            <a:r>
              <a:rPr lang="ko-KR" sz="3100" b="1" u="none" strike="noStrike">
                <a:solidFill>
                  <a:srgbClr val="173C37"/>
                </a:solidFill>
                <a:effectLst/>
                <a:uFillTx/>
                <a:latin typeface="AppleGothic"/>
                <a:ea typeface="AppleGothic"/>
              </a:rPr>
              <a:t>전환</a:t>
            </a:r>
            <a:endParaRPr lang="en-US" sz="3100" b="0" u="none" strike="noStrike">
              <a:solidFill>
                <a:srgbClr val="000000"/>
              </a:solidFill>
              <a:effectLst/>
              <a:uFillTx/>
              <a:latin typeface="Arial"/>
            </a:endParaRPr>
          </a:p>
        </p:txBody>
      </p:sp>
      <p:sp>
        <p:nvSpPr>
          <p:cNvPr id="275"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900" b="0" u="none" strike="noStrike">
                <a:solidFill>
                  <a:srgbClr val="0D685C"/>
                </a:solidFill>
                <a:effectLst/>
                <a:uFillTx/>
                <a:latin typeface="AppleGothic"/>
                <a:ea typeface="AppleGothic"/>
              </a:rPr>
              <a:t>Tau</a:t>
            </a:r>
            <a:r>
              <a:rPr lang="ko-KR" sz="1900" b="0" u="none" strike="noStrike">
                <a:solidFill>
                  <a:srgbClr val="0D685C"/>
                </a:solidFill>
                <a:effectLst/>
                <a:uFillTx/>
                <a:latin typeface="AppleGothic"/>
                <a:ea typeface="AppleGothic"/>
              </a:rPr>
              <a:t>는 </a:t>
            </a:r>
            <a:r>
              <a:rPr lang="en-US" sz="1900" b="0" u="none" strike="noStrike">
                <a:solidFill>
                  <a:srgbClr val="0D685C"/>
                </a:solidFill>
                <a:effectLst/>
                <a:uFillTx/>
                <a:latin typeface="AppleGothic"/>
                <a:ea typeface="AppleGothic"/>
              </a:rPr>
              <a:t>correctness constant</a:t>
            </a:r>
            <a:r>
              <a:rPr lang="ko-KR" sz="1900" b="0" u="none" strike="noStrike">
                <a:solidFill>
                  <a:srgbClr val="0D685C"/>
                </a:solidFill>
                <a:effectLst/>
                <a:uFillTx/>
                <a:latin typeface="AppleGothic"/>
                <a:ea typeface="AppleGothic"/>
              </a:rPr>
              <a:t>가 아니라 </a:t>
            </a:r>
            <a:r>
              <a:rPr lang="en-US" sz="1900" b="0" u="none" strike="noStrike">
                <a:solidFill>
                  <a:srgbClr val="0D685C"/>
                </a:solidFill>
                <a:effectLst/>
                <a:uFillTx/>
                <a:latin typeface="AppleGothic"/>
                <a:ea typeface="AppleGothic"/>
              </a:rPr>
              <a:t>distributed I/O</a:t>
            </a:r>
            <a:r>
              <a:rPr lang="ko-KR" sz="1900" b="0" u="none" strike="noStrike">
                <a:solidFill>
                  <a:srgbClr val="0D685C"/>
                </a:solidFill>
                <a:effectLst/>
                <a:uFillTx/>
                <a:latin typeface="AppleGothic"/>
                <a:ea typeface="AppleGothic"/>
              </a:rPr>
              <a:t>와 </a:t>
            </a:r>
            <a:r>
              <a:rPr lang="en-US" sz="1900" b="0" u="none" strike="noStrike">
                <a:solidFill>
                  <a:srgbClr val="0D685C"/>
                </a:solidFill>
                <a:effectLst/>
                <a:uFillTx/>
                <a:latin typeface="AppleGothic"/>
                <a:ea typeface="AppleGothic"/>
              </a:rPr>
              <a:t>single-machine memory </a:t>
            </a:r>
            <a:r>
              <a:rPr lang="ko-KR" sz="1900" b="0" u="none" strike="noStrike">
                <a:solidFill>
                  <a:srgbClr val="0D685C"/>
                </a:solidFill>
                <a:effectLst/>
                <a:uFillTx/>
                <a:latin typeface="AppleGothic"/>
                <a:ea typeface="AppleGothic"/>
              </a:rPr>
              <a:t>사이의 </a:t>
            </a:r>
            <a:r>
              <a:rPr lang="en-US" sz="1900" b="0" u="none" strike="noStrike">
                <a:solidFill>
                  <a:srgbClr val="0D685C"/>
                </a:solidFill>
                <a:effectLst/>
                <a:uFillTx/>
                <a:latin typeface="AppleGothic"/>
                <a:ea typeface="AppleGothic"/>
              </a:rPr>
              <a:t>tuning parameter</a:t>
            </a:r>
            <a:r>
              <a:rPr lang="ko-KR" sz="1900" b="0" u="none" strike="noStrike">
                <a:solidFill>
                  <a:srgbClr val="0D685C"/>
                </a:solidFill>
                <a:effectLst/>
                <a:uFillTx/>
                <a:latin typeface="AppleGothic"/>
                <a:ea typeface="AppleGothic"/>
              </a:rPr>
              <a:t>다</a:t>
            </a:r>
            <a:endParaRPr lang="en-US" sz="1900" b="0" u="none" strike="noStrike">
              <a:solidFill>
                <a:srgbClr val="000000"/>
              </a:solidFill>
              <a:effectLst/>
              <a:uFillTx/>
              <a:latin typeface="Arial"/>
            </a:endParaRPr>
          </a:p>
        </p:txBody>
      </p:sp>
      <p:graphicFrame>
        <p:nvGraphicFramePr>
          <p:cNvPr id="276" name="Table 0"/>
          <p:cNvGraphicFramePr/>
          <p:nvPr/>
        </p:nvGraphicFramePr>
        <p:xfrm>
          <a:off x="660240" y="2082960"/>
          <a:ext cx="10870920" cy="3314520"/>
        </p:xfrm>
        <a:graphic>
          <a:graphicData uri="http://schemas.openxmlformats.org/drawingml/2006/table">
            <a:tbl>
              <a:tblPr/>
              <a:tblGrid>
                <a:gridCol w="2391480"/>
                <a:gridCol w="2717640"/>
                <a:gridCol w="3152520"/>
                <a:gridCol w="2608920"/>
              </a:tblGrid>
              <a:tr h="495000">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Condition</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실행</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이유</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위험</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|E| &gt; tau</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UniStar-opt</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Distributed reduction </a:t>
                      </a:r>
                      <a:r>
                        <a:rPr lang="ko-KR" sz="1550" b="0" u="none" strike="noStrike">
                          <a:solidFill>
                            <a:srgbClr val="173C37"/>
                          </a:solidFill>
                          <a:effectLst/>
                          <a:uFillTx/>
                          <a:latin typeface="AppleGothic"/>
                          <a:ea typeface="AppleGothic"/>
                        </a:rPr>
                        <a:t>지속</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Round I/O</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|E| ≤ tau</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Rem(E)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추가 </a:t>
                      </a:r>
                      <a:r>
                        <a:rPr lang="en-US" sz="1550" b="0" u="none" strike="noStrike">
                          <a:solidFill>
                            <a:srgbClr val="173C37"/>
                          </a:solidFill>
                          <a:effectLst/>
                          <a:uFillTx/>
                          <a:latin typeface="AppleGothic"/>
                          <a:ea typeface="AppleGothic"/>
                        </a:rPr>
                        <a:t>distributed rounds </a:t>
                      </a:r>
                      <a:r>
                        <a:rPr lang="ko-KR" sz="1550" b="0" u="none" strike="noStrike">
                          <a:solidFill>
                            <a:srgbClr val="173C37"/>
                          </a:solidFill>
                          <a:effectLst/>
                          <a:uFillTx/>
                          <a:latin typeface="AppleGothic"/>
                          <a:ea typeface="AppleGothic"/>
                        </a:rPr>
                        <a:t>절약</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Single-machine OOM</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tau=2000M</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GSH, CW, HL</a:t>
                      </a:r>
                      <a:r>
                        <a:rPr lang="ko-KR" sz="1550" b="0" u="none" strike="noStrike">
                          <a:solidFill>
                            <a:srgbClr val="173C37"/>
                          </a:solidFill>
                          <a:effectLst/>
                          <a:uFillTx/>
                          <a:latin typeface="AppleGothic"/>
                          <a:ea typeface="AppleGothic"/>
                        </a:rPr>
                        <a:t>에서 실패</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Too-early Rem </a:t>
                      </a:r>
                      <a:r>
                        <a:rPr lang="ko-KR" sz="1550" b="0" u="none" strike="noStrike">
                          <a:solidFill>
                            <a:srgbClr val="173C37"/>
                          </a:solidFill>
                          <a:effectLst/>
                          <a:uFillTx/>
                          <a:latin typeface="AppleGothic"/>
                          <a:ea typeface="AppleGothic"/>
                        </a:rPr>
                        <a:t>전환</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한 </a:t>
                      </a:r>
                      <a:r>
                        <a:rPr lang="en-US" sz="1550" b="0" u="none" strike="noStrike">
                          <a:solidFill>
                            <a:srgbClr val="173C37"/>
                          </a:solidFill>
                          <a:effectLst/>
                          <a:uFillTx/>
                          <a:latin typeface="AppleGothic"/>
                          <a:ea typeface="AppleGothic"/>
                        </a:rPr>
                        <a:t>machine memory </a:t>
                      </a:r>
                      <a:r>
                        <a:rPr lang="ko-KR" sz="1550" b="0" u="none" strike="noStrike">
                          <a:solidFill>
                            <a:srgbClr val="173C37"/>
                          </a:solidFill>
                          <a:effectLst/>
                          <a:uFillTx/>
                          <a:latin typeface="AppleGothic"/>
                          <a:ea typeface="AppleGothic"/>
                        </a:rPr>
                        <a:t>초과</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Reported result</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Dataset</a:t>
                      </a:r>
                      <a:r>
                        <a:rPr lang="ko-KR" sz="1550" b="0" u="none" strike="noStrike">
                          <a:solidFill>
                            <a:srgbClr val="173C37"/>
                          </a:solidFill>
                          <a:effectLst/>
                          <a:uFillTx/>
                          <a:latin typeface="AppleGothic"/>
                          <a:ea typeface="AppleGothic"/>
                        </a:rPr>
                        <a:t>별 </a:t>
                      </a:r>
                      <a:r>
                        <a:rPr lang="en-US" sz="1550" b="0" u="none" strike="noStrike">
                          <a:solidFill>
                            <a:srgbClr val="173C37"/>
                          </a:solidFill>
                          <a:effectLst/>
                          <a:uFillTx/>
                          <a:latin typeface="AppleGothic"/>
                          <a:ea typeface="AppleGothic"/>
                        </a:rPr>
                        <a:t>optimal tau</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Measured tuning</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Universal default </a:t>
                      </a:r>
                      <a:r>
                        <a:rPr lang="ko-KR" sz="1550" b="0" u="none" strike="noStrike">
                          <a:solidFill>
                            <a:srgbClr val="173C37"/>
                          </a:solidFill>
                          <a:effectLst/>
                          <a:uFillTx/>
                          <a:latin typeface="AppleGothic"/>
                          <a:ea typeface="AppleGothic"/>
                        </a:rPr>
                        <a:t>아님</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bl>
          </a:graphicData>
        </a:graphic>
      </p:graphicFrame>
      <p:sp>
        <p:nvSpPr>
          <p:cNvPr id="277" name="Shape 2"/>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78" name="Text 3"/>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Tau</a:t>
            </a:r>
            <a:r>
              <a:rPr lang="ko-KR" sz="1750" b="1" u="none" strike="noStrike">
                <a:solidFill>
                  <a:srgbClr val="173C37"/>
                </a:solidFill>
                <a:effectLst/>
                <a:uFillTx/>
                <a:latin typeface="AppleGothic"/>
                <a:ea typeface="AppleGothic"/>
              </a:rPr>
              <a:t>를 크게 잡으면 </a:t>
            </a:r>
            <a:r>
              <a:rPr lang="en-US" sz="1750" b="1" u="none" strike="noStrike">
                <a:solidFill>
                  <a:srgbClr val="173C37"/>
                </a:solidFill>
                <a:effectLst/>
                <a:uFillTx/>
                <a:latin typeface="AppleGothic"/>
                <a:ea typeface="AppleGothic"/>
              </a:rPr>
              <a:t>rounds</a:t>
            </a:r>
            <a:r>
              <a:rPr lang="ko-KR" sz="1750" b="1" u="none" strike="noStrike">
                <a:solidFill>
                  <a:srgbClr val="173C37"/>
                </a:solidFill>
                <a:effectLst/>
                <a:uFillTx/>
                <a:latin typeface="AppleGothic"/>
                <a:ea typeface="AppleGothic"/>
              </a:rPr>
              <a:t>는 줄 수 있지만 </a:t>
            </a:r>
            <a:r>
              <a:rPr lang="en-US" sz="1750" b="1" u="none" strike="noStrike">
                <a:solidFill>
                  <a:srgbClr val="173C37"/>
                </a:solidFill>
                <a:effectLst/>
                <a:uFillTx/>
                <a:latin typeface="AppleGothic"/>
                <a:ea typeface="AppleGothic"/>
              </a:rPr>
              <a:t>remaining graph</a:t>
            </a:r>
            <a:r>
              <a:rPr lang="ko-KR" sz="1750" b="1" u="none" strike="noStrike">
                <a:solidFill>
                  <a:srgbClr val="173C37"/>
                </a:solidFill>
                <a:effectLst/>
                <a:uFillTx/>
                <a:latin typeface="AppleGothic"/>
                <a:ea typeface="AppleGothic"/>
              </a:rPr>
              <a:t>가 한 </a:t>
            </a:r>
            <a:r>
              <a:rPr lang="en-US" sz="1750" b="1" u="none" strike="noStrike">
                <a:solidFill>
                  <a:srgbClr val="173C37"/>
                </a:solidFill>
                <a:effectLst/>
                <a:uFillTx/>
                <a:latin typeface="AppleGothic"/>
                <a:ea typeface="AppleGothic"/>
              </a:rPr>
              <a:t>machine</a:t>
            </a:r>
            <a:r>
              <a:rPr lang="ko-KR" sz="1750" b="1" u="none" strike="noStrike">
                <a:solidFill>
                  <a:srgbClr val="173C37"/>
                </a:solidFill>
                <a:effectLst/>
                <a:uFillTx/>
                <a:latin typeface="AppleGothic"/>
                <a:ea typeface="AppleGothic"/>
              </a:rPr>
              <a:t>에 맞지 않을 수 있다</a:t>
            </a:r>
            <a:endParaRPr lang="en-US" sz="1750" b="0" u="none" strike="noStrike">
              <a:solidFill>
                <a:srgbClr val="000000"/>
              </a:solidFill>
              <a:effectLst/>
              <a:uFillTx/>
              <a:latin typeface="Arial"/>
            </a:endParaRPr>
          </a:p>
        </p:txBody>
      </p:sp>
      <p:sp>
        <p:nvSpPr>
          <p:cNvPr id="279" name="Shape 4"/>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80" name="Text 5"/>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unicon-paper pp. 5-6 and 12, Algorithm 1 and Fig. 6</a:t>
            </a:r>
            <a:endParaRPr lang="en-US" sz="1050" b="0" u="none" strike="noStrike">
              <a:solidFill>
                <a:srgbClr val="000000"/>
              </a:solidFill>
              <a:effectLst/>
              <a:uFillTx/>
              <a:latin typeface="Arial"/>
            </a:endParaRPr>
          </a:p>
        </p:txBody>
      </p:sp>
      <p:sp>
        <p:nvSpPr>
          <p:cNvPr id="281" name="Text 6"/>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16</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2"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HybridMap</a:t>
            </a:r>
            <a:r>
              <a:rPr lang="ko-KR" sz="3100" b="1" u="none" strike="noStrike">
                <a:solidFill>
                  <a:srgbClr val="173C37"/>
                </a:solidFill>
                <a:effectLst/>
                <a:uFillTx/>
                <a:latin typeface="AppleGothic"/>
                <a:ea typeface="AppleGothic"/>
              </a:rPr>
              <a:t>이 </a:t>
            </a:r>
            <a:r>
              <a:rPr lang="en-US" sz="3100" b="1" u="none" strike="noStrike">
                <a:solidFill>
                  <a:srgbClr val="173C37"/>
                </a:solidFill>
                <a:effectLst/>
                <a:uFillTx/>
                <a:latin typeface="AppleGothic"/>
                <a:ea typeface="AppleGothic"/>
              </a:rPr>
              <a:t>worker RAM</a:t>
            </a:r>
            <a:r>
              <a:rPr lang="ko-KR" sz="3100" b="1" u="none" strike="noStrike">
                <a:solidFill>
                  <a:srgbClr val="173C37"/>
                </a:solidFill>
                <a:effectLst/>
                <a:uFillTx/>
                <a:latin typeface="AppleGothic"/>
                <a:ea typeface="AppleGothic"/>
              </a:rPr>
              <a:t>을 구성하는 방법</a:t>
            </a:r>
            <a:endParaRPr lang="en-US" sz="3100" b="0" u="none" strike="noStrike">
              <a:solidFill>
                <a:srgbClr val="000000"/>
              </a:solidFill>
              <a:effectLst/>
              <a:uFillTx/>
              <a:latin typeface="Arial"/>
            </a:endParaRPr>
          </a:p>
        </p:txBody>
      </p:sp>
      <p:sp>
        <p:nvSpPr>
          <p:cNvPr id="283"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900" b="0" u="none" strike="noStrike">
                <a:solidFill>
                  <a:srgbClr val="0D685C"/>
                </a:solidFill>
                <a:effectLst/>
                <a:uFillTx/>
                <a:latin typeface="AppleGothic"/>
                <a:ea typeface="AppleGothic"/>
              </a:rPr>
              <a:t>자기 </a:t>
            </a:r>
            <a:r>
              <a:rPr lang="en-US" sz="1900" b="0" u="none" strike="noStrike">
                <a:solidFill>
                  <a:srgbClr val="0D685C"/>
                </a:solidFill>
                <a:effectLst/>
                <a:uFillTx/>
                <a:latin typeface="AppleGothic"/>
                <a:ea typeface="AppleGothic"/>
              </a:rPr>
              <a:t>partition vertices</a:t>
            </a:r>
            <a:r>
              <a:rPr lang="ko-KR" sz="1900" b="0" u="none" strike="noStrike">
                <a:solidFill>
                  <a:srgbClr val="0D685C"/>
                </a:solidFill>
                <a:effectLst/>
                <a:uFillTx/>
                <a:latin typeface="AppleGothic"/>
                <a:ea typeface="AppleGothic"/>
              </a:rPr>
              <a:t>는 </a:t>
            </a:r>
            <a:r>
              <a:rPr lang="en-US" sz="1900" b="0" u="none" strike="noStrike">
                <a:solidFill>
                  <a:srgbClr val="0D685C"/>
                </a:solidFill>
                <a:effectLst/>
                <a:uFillTx/>
                <a:latin typeface="AppleGothic"/>
                <a:ea typeface="AppleGothic"/>
              </a:rPr>
              <a:t>array</a:t>
            </a:r>
            <a:r>
              <a:rPr lang="ko-KR" sz="1900" b="0" u="none" strike="noStrike">
                <a:solidFill>
                  <a:srgbClr val="0D685C"/>
                </a:solidFill>
                <a:effectLst/>
                <a:uFillTx/>
                <a:latin typeface="AppleGothic"/>
                <a:ea typeface="AppleGothic"/>
              </a:rPr>
              <a:t>에</a:t>
            </a:r>
            <a:r>
              <a:rPr lang="en-US" sz="1900" b="0" u="none" strike="noStrike">
                <a:solidFill>
                  <a:srgbClr val="0D685C"/>
                </a:solidFill>
                <a:effectLst/>
                <a:uFillTx/>
                <a:latin typeface="AppleGothic"/>
                <a:ea typeface="AppleGothic"/>
              </a:rPr>
              <a:t>, </a:t>
            </a:r>
            <a:r>
              <a:rPr lang="ko-KR" sz="1900" b="0" u="none" strike="noStrike">
                <a:solidFill>
                  <a:srgbClr val="0D685C"/>
                </a:solidFill>
                <a:effectLst/>
                <a:uFillTx/>
                <a:latin typeface="AppleGothic"/>
                <a:ea typeface="AppleGothic"/>
              </a:rPr>
              <a:t>외부 </a:t>
            </a:r>
            <a:r>
              <a:rPr lang="en-US" sz="1900" b="0" u="none" strike="noStrike">
                <a:solidFill>
                  <a:srgbClr val="0D685C"/>
                </a:solidFill>
                <a:effectLst/>
                <a:uFillTx/>
                <a:latin typeface="AppleGothic"/>
                <a:ea typeface="AppleGothic"/>
              </a:rPr>
              <a:t>incident vertices</a:t>
            </a:r>
            <a:r>
              <a:rPr lang="ko-KR" sz="1900" b="0" u="none" strike="noStrike">
                <a:solidFill>
                  <a:srgbClr val="0D685C"/>
                </a:solidFill>
                <a:effectLst/>
                <a:uFillTx/>
                <a:latin typeface="AppleGothic"/>
                <a:ea typeface="AppleGothic"/>
              </a:rPr>
              <a:t>는 </a:t>
            </a:r>
            <a:r>
              <a:rPr lang="en-US" sz="1900" b="0" u="none" strike="noStrike">
                <a:solidFill>
                  <a:srgbClr val="0D685C"/>
                </a:solidFill>
                <a:effectLst/>
                <a:uFillTx/>
                <a:latin typeface="AppleGothic"/>
                <a:ea typeface="AppleGothic"/>
              </a:rPr>
              <a:t>hash table</a:t>
            </a:r>
            <a:r>
              <a:rPr lang="ko-KR" sz="1900" b="0" u="none" strike="noStrike">
                <a:solidFill>
                  <a:srgbClr val="0D685C"/>
                </a:solidFill>
                <a:effectLst/>
                <a:uFillTx/>
                <a:latin typeface="AppleGothic"/>
                <a:ea typeface="AppleGothic"/>
              </a:rPr>
              <a:t>에 둔다</a:t>
            </a:r>
            <a:endParaRPr lang="en-US" sz="1900" b="0" u="none" strike="noStrike">
              <a:solidFill>
                <a:srgbClr val="000000"/>
              </a:solidFill>
              <a:effectLst/>
              <a:uFillTx/>
              <a:latin typeface="Arial"/>
            </a:endParaRPr>
          </a:p>
        </p:txBody>
      </p:sp>
      <p:graphicFrame>
        <p:nvGraphicFramePr>
          <p:cNvPr id="284" name="Table 0"/>
          <p:cNvGraphicFramePr/>
          <p:nvPr/>
        </p:nvGraphicFramePr>
        <p:xfrm>
          <a:off x="660240" y="2082960"/>
          <a:ext cx="10870920" cy="3314520"/>
        </p:xfrm>
        <a:graphic>
          <a:graphicData uri="http://schemas.openxmlformats.org/drawingml/2006/table">
            <a:tbl>
              <a:tblPr/>
              <a:tblGrid>
                <a:gridCol w="2391480"/>
                <a:gridCol w="2608920"/>
                <a:gridCol w="2717640"/>
                <a:gridCol w="3152520"/>
              </a:tblGrid>
              <a:tr h="495000">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Node group</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Data structure</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Access </a:t>
                      </a:r>
                      <a:r>
                        <a:rPr lang="ko-KR" sz="1600" b="1" u="none" strike="noStrike">
                          <a:solidFill>
                            <a:srgbClr val="0D685C"/>
                          </a:solidFill>
                          <a:effectLst/>
                          <a:uFillTx/>
                          <a:latin typeface="AppleGothic"/>
                          <a:ea typeface="AppleGothic"/>
                        </a:rPr>
                        <a:t>특성</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Memory role</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[V]_i</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Compact array</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Index access</a:t>
                      </a:r>
                      <a:r>
                        <a:rPr lang="ko-KR" sz="1550" b="0" u="none" strike="noStrike">
                          <a:solidFill>
                            <a:srgbClr val="173C37"/>
                          </a:solidFill>
                          <a:effectLst/>
                          <a:uFillTx/>
                          <a:latin typeface="AppleGothic"/>
                          <a:ea typeface="AppleGothic"/>
                        </a:rPr>
                        <a:t>가 빠름</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Expected |V|/rho</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V_i minus [V]_i</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Hash table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외부 </a:t>
                      </a:r>
                      <a:r>
                        <a:rPr lang="en-US" sz="1550" b="0" u="none" strike="noStrike">
                          <a:solidFill>
                            <a:srgbClr val="173C37"/>
                          </a:solidFill>
                          <a:effectLst/>
                          <a:uFillTx/>
                          <a:latin typeface="AppleGothic"/>
                          <a:ea typeface="AppleGothic"/>
                        </a:rPr>
                        <a:t>key</a:t>
                      </a:r>
                      <a:r>
                        <a:rPr lang="ko-KR" sz="1550" b="0" u="none" strike="noStrike">
                          <a:solidFill>
                            <a:srgbClr val="173C37"/>
                          </a:solidFill>
                          <a:effectLst/>
                          <a:uFillTx/>
                          <a:latin typeface="AppleGothic"/>
                          <a:ea typeface="AppleGothic"/>
                        </a:rPr>
                        <a:t>만 저장</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At most incident-edge scale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Original Rem p</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Universe-size array</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빠른 </a:t>
                      </a:r>
                      <a:r>
                        <a:rPr lang="en-US" sz="1550" b="0" u="none" strike="noStrike">
                          <a:solidFill>
                            <a:srgbClr val="173C37"/>
                          </a:solidFill>
                          <a:effectLst/>
                          <a:uFillTx/>
                          <a:latin typeface="AppleGothic"/>
                          <a:ea typeface="AppleGothic"/>
                        </a:rPr>
                        <a:t>index</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Worker</a:t>
                      </a:r>
                      <a:r>
                        <a:rPr lang="ko-KR" sz="1550" b="0" u="none" strike="noStrike">
                          <a:solidFill>
                            <a:srgbClr val="173C37"/>
                          </a:solidFill>
                          <a:effectLst/>
                          <a:uFillTx/>
                          <a:latin typeface="AppleGothic"/>
                          <a:ea typeface="AppleGothic"/>
                        </a:rPr>
                        <a:t>마다 </a:t>
                      </a:r>
                      <a:r>
                        <a:rPr lang="en-US" sz="1550" b="0" u="none" strike="noStrike">
                          <a:solidFill>
                            <a:srgbClr val="173C37"/>
                          </a:solidFill>
                          <a:effectLst/>
                          <a:uFillTx/>
                          <a:latin typeface="AppleGothic"/>
                          <a:ea typeface="AppleGothic"/>
                        </a:rPr>
                        <a:t>|V|</a:t>
                      </a:r>
                      <a:r>
                        <a:rPr lang="ko-KR" sz="1550" b="0" u="none" strike="noStrike">
                          <a:solidFill>
                            <a:srgbClr val="173C37"/>
                          </a:solidFill>
                          <a:effectLst/>
                          <a:uFillTx/>
                          <a:latin typeface="AppleGothic"/>
                          <a:ea typeface="AppleGothic"/>
                        </a:rPr>
                        <a:t>라 </a:t>
                      </a:r>
                      <a:r>
                        <a:rPr lang="en-US" sz="1550" b="0" u="none" strike="noStrike">
                          <a:solidFill>
                            <a:srgbClr val="173C37"/>
                          </a:solidFill>
                          <a:effectLst/>
                          <a:uFillTx/>
                          <a:latin typeface="AppleGothic"/>
                          <a:ea typeface="AppleGothic"/>
                        </a:rPr>
                        <a:t>OOM </a:t>
                      </a:r>
                      <a:r>
                        <a:rPr lang="ko-KR" sz="1550" b="0" u="none" strike="noStrike">
                          <a:solidFill>
                            <a:srgbClr val="173C37"/>
                          </a:solidFill>
                          <a:effectLst/>
                          <a:uFillTx/>
                          <a:latin typeface="AppleGothic"/>
                          <a:ea typeface="AppleGothic"/>
                        </a:rPr>
                        <a:t>위험</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All-hash alternative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Hash table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O(|V_i|) space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Array</a:t>
                      </a:r>
                      <a:r>
                        <a:rPr lang="ko-KR" sz="1550" b="0" u="none" strike="noStrike">
                          <a:solidFill>
                            <a:srgbClr val="173C37"/>
                          </a:solidFill>
                          <a:effectLst/>
                          <a:uFillTx/>
                          <a:latin typeface="AppleGothic"/>
                          <a:ea typeface="AppleGothic"/>
                        </a:rPr>
                        <a:t>보다 </a:t>
                      </a:r>
                      <a:r>
                        <a:rPr lang="en-US" sz="1550" b="0" u="none" strike="noStrike">
                          <a:solidFill>
                            <a:srgbClr val="173C37"/>
                          </a:solidFill>
                          <a:effectLst/>
                          <a:uFillTx/>
                          <a:latin typeface="AppleGothic"/>
                          <a:ea typeface="AppleGothic"/>
                        </a:rPr>
                        <a:t>lookup </a:t>
                      </a:r>
                      <a:r>
                        <a:rPr lang="ko-KR" sz="1550" b="0" u="none" strike="noStrike">
                          <a:solidFill>
                            <a:srgbClr val="173C37"/>
                          </a:solidFill>
                          <a:effectLst/>
                          <a:uFillTx/>
                          <a:latin typeface="AppleGothic"/>
                          <a:ea typeface="AppleGothic"/>
                        </a:rPr>
                        <a:t>느림</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bl>
          </a:graphicData>
        </a:graphic>
      </p:graphicFrame>
      <p:sp>
        <p:nvSpPr>
          <p:cNvPr id="285" name="Shape 2"/>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86" name="Text 3"/>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HybridMap</a:t>
            </a:r>
            <a:r>
              <a:rPr lang="ko-KR" sz="1750" b="1" u="none" strike="noStrike">
                <a:solidFill>
                  <a:srgbClr val="173C37"/>
                </a:solidFill>
                <a:effectLst/>
                <a:uFillTx/>
                <a:latin typeface="AppleGothic"/>
                <a:ea typeface="AppleGothic"/>
              </a:rPr>
              <a:t>은 </a:t>
            </a:r>
            <a:r>
              <a:rPr lang="en-US" sz="1750" b="1" u="none" strike="noStrike">
                <a:solidFill>
                  <a:srgbClr val="173C37"/>
                </a:solidFill>
                <a:effectLst/>
                <a:uFillTx/>
                <a:latin typeface="AppleGothic"/>
                <a:ea typeface="AppleGothic"/>
              </a:rPr>
              <a:t>full array</a:t>
            </a:r>
            <a:r>
              <a:rPr lang="ko-KR" sz="1750" b="1" u="none" strike="noStrike">
                <a:solidFill>
                  <a:srgbClr val="173C37"/>
                </a:solidFill>
                <a:effectLst/>
                <a:uFillTx/>
                <a:latin typeface="AppleGothic"/>
                <a:ea typeface="AppleGothic"/>
              </a:rPr>
              <a:t>를 피하고 </a:t>
            </a:r>
            <a:r>
              <a:rPr lang="en-US" sz="1750" b="1" u="none" strike="noStrike">
                <a:solidFill>
                  <a:srgbClr val="173C37"/>
                </a:solidFill>
                <a:effectLst/>
                <a:uFillTx/>
                <a:latin typeface="AppleGothic"/>
                <a:ea typeface="AppleGothic"/>
              </a:rPr>
              <a:t>frequent local keys</a:t>
            </a:r>
            <a:r>
              <a:rPr lang="ko-KR" sz="1750" b="1" u="none" strike="noStrike">
                <a:solidFill>
                  <a:srgbClr val="173C37"/>
                </a:solidFill>
                <a:effectLst/>
                <a:uFillTx/>
                <a:latin typeface="AppleGothic"/>
                <a:ea typeface="AppleGothic"/>
              </a:rPr>
              <a:t>에 </a:t>
            </a:r>
            <a:r>
              <a:rPr lang="en-US" sz="1750" b="1" u="none" strike="noStrike">
                <a:solidFill>
                  <a:srgbClr val="173C37"/>
                </a:solidFill>
                <a:effectLst/>
                <a:uFillTx/>
                <a:latin typeface="AppleGothic"/>
                <a:ea typeface="AppleGothic"/>
              </a:rPr>
              <a:t>array speed</a:t>
            </a:r>
            <a:r>
              <a:rPr lang="ko-KR" sz="1750" b="1" u="none" strike="noStrike">
                <a:solidFill>
                  <a:srgbClr val="173C37"/>
                </a:solidFill>
                <a:effectLst/>
                <a:uFillTx/>
                <a:latin typeface="AppleGothic"/>
                <a:ea typeface="AppleGothic"/>
              </a:rPr>
              <a:t>를 쓴다</a:t>
            </a:r>
            <a:endParaRPr lang="en-US" sz="1750" b="0" u="none" strike="noStrike">
              <a:solidFill>
                <a:srgbClr val="000000"/>
              </a:solidFill>
              <a:effectLst/>
              <a:uFillTx/>
              <a:latin typeface="Arial"/>
            </a:endParaRPr>
          </a:p>
        </p:txBody>
      </p:sp>
      <p:sp>
        <p:nvSpPr>
          <p:cNvPr id="287" name="Shape 4"/>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88" name="Text 5"/>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unicon-paper p. 11, HybridMap section</a:t>
            </a:r>
            <a:endParaRPr lang="en-US" sz="1050" b="0" u="none" strike="noStrike">
              <a:solidFill>
                <a:srgbClr val="000000"/>
              </a:solidFill>
              <a:effectLst/>
              <a:uFillTx/>
              <a:latin typeface="Arial"/>
            </a:endParaRPr>
          </a:p>
        </p:txBody>
      </p:sp>
      <p:sp>
        <p:nvSpPr>
          <p:cNvPr id="289" name="Text 6"/>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17</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90"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Theorem 3</a:t>
            </a:r>
            <a:r>
              <a:rPr lang="ko-KR" sz="3100" b="1" u="none" strike="noStrike">
                <a:solidFill>
                  <a:srgbClr val="173C37"/>
                </a:solidFill>
                <a:effectLst/>
                <a:uFillTx/>
                <a:latin typeface="AppleGothic"/>
                <a:ea typeface="AppleGothic"/>
              </a:rPr>
              <a:t>의 </a:t>
            </a:r>
            <a:r>
              <a:rPr lang="en-US" sz="3100" b="1" u="none" strike="noStrike">
                <a:solidFill>
                  <a:srgbClr val="173C37"/>
                </a:solidFill>
                <a:effectLst/>
                <a:uFillTx/>
                <a:latin typeface="AppleGothic"/>
                <a:ea typeface="AppleGothic"/>
              </a:rPr>
              <a:t>expected memory bound</a:t>
            </a:r>
            <a:endParaRPr lang="en-US" sz="3100" b="0" u="none" strike="noStrike">
              <a:solidFill>
                <a:srgbClr val="000000"/>
              </a:solidFill>
              <a:effectLst/>
              <a:uFillTx/>
              <a:latin typeface="Arial"/>
            </a:endParaRPr>
          </a:p>
        </p:txBody>
      </p:sp>
      <p:sp>
        <p:nvSpPr>
          <p:cNvPr id="291"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900" b="0" u="none" strike="noStrike">
                <a:solidFill>
                  <a:srgbClr val="0D685C"/>
                </a:solidFill>
                <a:effectLst/>
                <a:uFillTx/>
                <a:latin typeface="AppleGothic"/>
                <a:ea typeface="AppleGothic"/>
              </a:rPr>
              <a:t>V</a:t>
            </a:r>
            <a:r>
              <a:rPr lang="ko-KR" sz="1900" b="0" u="none" strike="noStrike">
                <a:solidFill>
                  <a:srgbClr val="0D685C"/>
                </a:solidFill>
                <a:effectLst/>
                <a:uFillTx/>
                <a:latin typeface="AppleGothic"/>
                <a:ea typeface="AppleGothic"/>
              </a:rPr>
              <a:t>는 </a:t>
            </a:r>
            <a:r>
              <a:rPr lang="en-US" sz="1900" b="0" u="none" strike="noStrike">
                <a:solidFill>
                  <a:srgbClr val="0D685C"/>
                </a:solidFill>
                <a:effectLst/>
                <a:uFillTx/>
                <a:latin typeface="AppleGothic"/>
                <a:ea typeface="AppleGothic"/>
              </a:rPr>
              <a:t>vertices, E</a:t>
            </a:r>
            <a:r>
              <a:rPr lang="ko-KR" sz="1900" b="0" u="none" strike="noStrike">
                <a:solidFill>
                  <a:srgbClr val="0D685C"/>
                </a:solidFill>
                <a:effectLst/>
                <a:uFillTx/>
                <a:latin typeface="AppleGothic"/>
                <a:ea typeface="AppleGothic"/>
              </a:rPr>
              <a:t>는 </a:t>
            </a:r>
            <a:r>
              <a:rPr lang="en-US" sz="1900" b="0" u="none" strike="noStrike">
                <a:solidFill>
                  <a:srgbClr val="0D685C"/>
                </a:solidFill>
                <a:effectLst/>
                <a:uFillTx/>
                <a:latin typeface="AppleGothic"/>
                <a:ea typeface="AppleGothic"/>
              </a:rPr>
              <a:t>edges, rho</a:t>
            </a:r>
            <a:r>
              <a:rPr lang="ko-KR" sz="1900" b="0" u="none" strike="noStrike">
                <a:solidFill>
                  <a:srgbClr val="0D685C"/>
                </a:solidFill>
                <a:effectLst/>
                <a:uFillTx/>
                <a:latin typeface="AppleGothic"/>
                <a:ea typeface="AppleGothic"/>
              </a:rPr>
              <a:t>는 </a:t>
            </a:r>
            <a:r>
              <a:rPr lang="en-US" sz="1900" b="0" u="none" strike="noStrike">
                <a:solidFill>
                  <a:srgbClr val="0D685C"/>
                </a:solidFill>
                <a:effectLst/>
                <a:uFillTx/>
                <a:latin typeface="AppleGothic"/>
                <a:ea typeface="AppleGothic"/>
              </a:rPr>
              <a:t>partitions</a:t>
            </a:r>
            <a:r>
              <a:rPr lang="ko-KR" sz="1900" b="0" u="none" strike="noStrike">
                <a:solidFill>
                  <a:srgbClr val="0D685C"/>
                </a:solidFill>
                <a:effectLst/>
                <a:uFillTx/>
                <a:latin typeface="AppleGothic"/>
                <a:ea typeface="AppleGothic"/>
              </a:rPr>
              <a:t>이며 </a:t>
            </a:r>
            <a:r>
              <a:rPr lang="en-US" sz="1900" b="0" u="none" strike="noStrike">
                <a:solidFill>
                  <a:srgbClr val="0D685C"/>
                </a:solidFill>
                <a:effectLst/>
                <a:uFillTx/>
                <a:latin typeface="AppleGothic"/>
                <a:ea typeface="AppleGothic"/>
              </a:rPr>
              <a:t>bound</a:t>
            </a:r>
            <a:r>
              <a:rPr lang="ko-KR" sz="1900" b="0" u="none" strike="noStrike">
                <a:solidFill>
                  <a:srgbClr val="0D685C"/>
                </a:solidFill>
                <a:effectLst/>
                <a:uFillTx/>
                <a:latin typeface="AppleGothic"/>
                <a:ea typeface="AppleGothic"/>
              </a:rPr>
              <a:t>는 </a:t>
            </a:r>
            <a:r>
              <a:rPr lang="en-US" sz="1900" b="0" u="none" strike="noStrike">
                <a:solidFill>
                  <a:srgbClr val="0D685C"/>
                </a:solidFill>
                <a:effectLst/>
                <a:uFillTx/>
                <a:latin typeface="AppleGothic"/>
                <a:ea typeface="AppleGothic"/>
              </a:rPr>
              <a:t>random and even hash assumption</a:t>
            </a:r>
            <a:r>
              <a:rPr lang="ko-KR" sz="1900" b="0" u="none" strike="noStrike">
                <a:solidFill>
                  <a:srgbClr val="0D685C"/>
                </a:solidFill>
                <a:effectLst/>
                <a:uFillTx/>
                <a:latin typeface="AppleGothic"/>
                <a:ea typeface="AppleGothic"/>
              </a:rPr>
              <a:t>에 조건부다</a:t>
            </a:r>
            <a:endParaRPr lang="en-US" sz="1900" b="0" u="none" strike="noStrike">
              <a:solidFill>
                <a:srgbClr val="000000"/>
              </a:solidFill>
              <a:effectLst/>
              <a:uFillTx/>
              <a:latin typeface="Arial"/>
            </a:endParaRPr>
          </a:p>
        </p:txBody>
      </p:sp>
      <p:graphicFrame>
        <p:nvGraphicFramePr>
          <p:cNvPr id="292" name="Table 0"/>
          <p:cNvGraphicFramePr/>
          <p:nvPr/>
        </p:nvGraphicFramePr>
        <p:xfrm>
          <a:off x="660240" y="2082960"/>
          <a:ext cx="10870920" cy="3314520"/>
        </p:xfrm>
        <a:graphic>
          <a:graphicData uri="http://schemas.openxmlformats.org/drawingml/2006/table">
            <a:tbl>
              <a:tblPr/>
              <a:tblGrid>
                <a:gridCol w="2391480"/>
                <a:gridCol w="3043800"/>
                <a:gridCol w="2935080"/>
                <a:gridCol w="2500200"/>
              </a:tblGrid>
              <a:tr h="495000">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Term</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Expected worker share</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근거</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보장하지 않는 것</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Local array</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|V|/rho</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Random vertex partition</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Worst-case exact size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Incident edges</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2|E|/rho</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Cross edge</a:t>
                      </a:r>
                      <a:r>
                        <a:rPr lang="ko-KR" sz="1550" b="0" u="none" strike="noStrike">
                          <a:solidFill>
                            <a:srgbClr val="173C37"/>
                          </a:solidFill>
                          <a:effectLst/>
                          <a:uFillTx/>
                          <a:latin typeface="AppleGothic"/>
                          <a:ea typeface="AppleGothic"/>
                        </a:rPr>
                        <a:t>가 두 </a:t>
                      </a:r>
                      <a:r>
                        <a:rPr lang="en-US" sz="1550" b="0" u="none" strike="noStrike">
                          <a:solidFill>
                            <a:srgbClr val="173C37"/>
                          </a:solidFill>
                          <a:effectLst/>
                          <a:uFillTx/>
                          <a:latin typeface="AppleGothic"/>
                          <a:ea typeface="AppleGothic"/>
                        </a:rPr>
                        <a:t>views</a:t>
                      </a:r>
                      <a:r>
                        <a:rPr lang="ko-KR" sz="1550" b="0" u="none" strike="noStrike">
                          <a:solidFill>
                            <a:srgbClr val="173C37"/>
                          </a:solidFill>
                          <a:effectLst/>
                          <a:uFillTx/>
                          <a:latin typeface="AppleGothic"/>
                          <a:ea typeface="AppleGothic"/>
                        </a:rPr>
                        <a:t>에 가능</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Tail concentration</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HybridMap total</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O((|V|+|E|)/rho)</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Array plus external keys</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Fixed byte ceiling</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Increasing rho</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Expected memory </a:t>
                      </a:r>
                      <a:r>
                        <a:rPr lang="ko-KR" sz="1550" b="0" u="none" strike="noStrike">
                          <a:solidFill>
                            <a:srgbClr val="173C37"/>
                          </a:solidFill>
                          <a:effectLst/>
                          <a:uFillTx/>
                          <a:latin typeface="AppleGothic"/>
                          <a:ea typeface="AppleGothic"/>
                        </a:rPr>
                        <a:t>감소</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더 작은 </a:t>
                      </a:r>
                      <a:r>
                        <a:rPr lang="en-US" sz="1550" b="0" u="none" strike="noStrike">
                          <a:solidFill>
                            <a:srgbClr val="173C37"/>
                          </a:solidFill>
                          <a:effectLst/>
                          <a:uFillTx/>
                          <a:latin typeface="AppleGothic"/>
                          <a:ea typeface="AppleGothic"/>
                        </a:rPr>
                        <a:t>local views</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Runtime always </a:t>
                      </a:r>
                      <a:r>
                        <a:rPr lang="ko-KR" sz="1550" b="0" u="none" strike="noStrike">
                          <a:solidFill>
                            <a:srgbClr val="173C37"/>
                          </a:solidFill>
                          <a:effectLst/>
                          <a:uFillTx/>
                          <a:latin typeface="AppleGothic"/>
                          <a:ea typeface="AppleGothic"/>
                        </a:rPr>
                        <a:t>감소</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bl>
          </a:graphicData>
        </a:graphic>
      </p:graphicFrame>
      <p:sp>
        <p:nvSpPr>
          <p:cNvPr id="293" name="Shape 2"/>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94" name="Text 3"/>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Theorem 3</a:t>
            </a:r>
            <a:r>
              <a:rPr lang="ko-KR" sz="1750" b="1" u="none" strike="noStrike">
                <a:solidFill>
                  <a:srgbClr val="173C37"/>
                </a:solidFill>
                <a:effectLst/>
                <a:uFillTx/>
                <a:latin typeface="AppleGothic"/>
                <a:ea typeface="AppleGothic"/>
              </a:rPr>
              <a:t>은 </a:t>
            </a:r>
            <a:r>
              <a:rPr lang="en-US" sz="1750" b="1" u="none" strike="noStrike">
                <a:solidFill>
                  <a:srgbClr val="173C37"/>
                </a:solidFill>
                <a:effectLst/>
                <a:uFillTx/>
                <a:latin typeface="AppleGothic"/>
                <a:ea typeface="AppleGothic"/>
              </a:rPr>
              <a:t>expected asymptotic bound</a:t>
            </a:r>
            <a:r>
              <a:rPr lang="ko-KR" sz="1750" b="1" u="none" strike="noStrike">
                <a:solidFill>
                  <a:srgbClr val="173C37"/>
                </a:solidFill>
                <a:effectLst/>
                <a:uFillTx/>
                <a:latin typeface="AppleGothic"/>
                <a:ea typeface="AppleGothic"/>
              </a:rPr>
              <a:t>이며 </a:t>
            </a:r>
            <a:r>
              <a:rPr lang="en-US" sz="1750" b="1" u="none" strike="noStrike">
                <a:solidFill>
                  <a:srgbClr val="173C37"/>
                </a:solidFill>
                <a:effectLst/>
                <a:uFillTx/>
                <a:latin typeface="AppleGothic"/>
                <a:ea typeface="AppleGothic"/>
              </a:rPr>
              <a:t>16GB worker</a:t>
            </a:r>
            <a:r>
              <a:rPr lang="ko-KR" sz="1750" b="1" u="none" strike="noStrike">
                <a:solidFill>
                  <a:srgbClr val="173C37"/>
                </a:solidFill>
                <a:effectLst/>
                <a:uFillTx/>
                <a:latin typeface="AppleGothic"/>
                <a:ea typeface="AppleGothic"/>
              </a:rPr>
              <a:t>의 </a:t>
            </a:r>
            <a:r>
              <a:rPr lang="en-US" sz="1750" b="1" u="none" strike="noStrike">
                <a:solidFill>
                  <a:srgbClr val="173C37"/>
                </a:solidFill>
                <a:effectLst/>
                <a:uFillTx/>
                <a:latin typeface="AppleGothic"/>
                <a:ea typeface="AppleGothic"/>
              </a:rPr>
              <a:t>worst-case </a:t>
            </a:r>
            <a:r>
              <a:rPr lang="ko-KR" sz="1750" b="1" u="none" strike="noStrike">
                <a:solidFill>
                  <a:srgbClr val="173C37"/>
                </a:solidFill>
                <a:effectLst/>
                <a:uFillTx/>
                <a:latin typeface="AppleGothic"/>
                <a:ea typeface="AppleGothic"/>
              </a:rPr>
              <a:t>안전 증명은 아니다</a:t>
            </a:r>
            <a:endParaRPr lang="en-US" sz="1750" b="0" u="none" strike="noStrike">
              <a:solidFill>
                <a:srgbClr val="000000"/>
              </a:solidFill>
              <a:effectLst/>
              <a:uFillTx/>
              <a:latin typeface="Arial"/>
            </a:endParaRPr>
          </a:p>
        </p:txBody>
      </p:sp>
      <p:sp>
        <p:nvSpPr>
          <p:cNvPr id="295" name="Shape 4"/>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296" name="Text 5"/>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unicon-paper p. 11, Theorem 3 and Fig. 7</a:t>
            </a:r>
            <a:endParaRPr lang="en-US" sz="1050" b="0" u="none" strike="noStrike">
              <a:solidFill>
                <a:srgbClr val="000000"/>
              </a:solidFill>
              <a:effectLst/>
              <a:uFillTx/>
              <a:latin typeface="Arial"/>
            </a:endParaRPr>
          </a:p>
        </p:txBody>
      </p:sp>
      <p:sp>
        <p:nvSpPr>
          <p:cNvPr id="297" name="Text 6"/>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18</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98"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3100" b="1" u="none" strike="noStrike">
                <a:solidFill>
                  <a:srgbClr val="173C37"/>
                </a:solidFill>
                <a:effectLst/>
                <a:uFillTx/>
                <a:latin typeface="AppleGothic"/>
                <a:ea typeface="AppleGothic"/>
              </a:rPr>
              <a:t>증명과 측정을 구분하는 기준</a:t>
            </a:r>
            <a:endParaRPr lang="en-US" sz="3100" b="0" u="none" strike="noStrike">
              <a:solidFill>
                <a:srgbClr val="000000"/>
              </a:solidFill>
              <a:effectLst/>
              <a:uFillTx/>
              <a:latin typeface="Arial"/>
            </a:endParaRPr>
          </a:p>
        </p:txBody>
      </p:sp>
      <p:sp>
        <p:nvSpPr>
          <p:cNvPr id="299"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900" b="0" u="none" strike="noStrike">
                <a:solidFill>
                  <a:srgbClr val="0D685C"/>
                </a:solidFill>
                <a:effectLst/>
                <a:uFillTx/>
                <a:latin typeface="AppleGothic"/>
                <a:ea typeface="AppleGothic"/>
              </a:rPr>
              <a:t>Connectivity theorem, expected memory theorem, empirical speedups</a:t>
            </a:r>
            <a:r>
              <a:rPr lang="ko-KR" sz="1900" b="0" u="none" strike="noStrike">
                <a:solidFill>
                  <a:srgbClr val="0D685C"/>
                </a:solidFill>
                <a:effectLst/>
                <a:uFillTx/>
                <a:latin typeface="AppleGothic"/>
                <a:ea typeface="AppleGothic"/>
              </a:rPr>
              <a:t>는 서로 다른 종류의 </a:t>
            </a:r>
            <a:r>
              <a:rPr lang="en-US" sz="1900" b="0" u="none" strike="noStrike">
                <a:solidFill>
                  <a:srgbClr val="0D685C"/>
                </a:solidFill>
                <a:effectLst/>
                <a:uFillTx/>
                <a:latin typeface="AppleGothic"/>
                <a:ea typeface="AppleGothic"/>
              </a:rPr>
              <a:t>claim</a:t>
            </a:r>
            <a:r>
              <a:rPr lang="ko-KR" sz="1900" b="0" u="none" strike="noStrike">
                <a:solidFill>
                  <a:srgbClr val="0D685C"/>
                </a:solidFill>
                <a:effectLst/>
                <a:uFillTx/>
                <a:latin typeface="AppleGothic"/>
                <a:ea typeface="AppleGothic"/>
              </a:rPr>
              <a:t>이다</a:t>
            </a:r>
            <a:endParaRPr lang="en-US" sz="1900" b="0" u="none" strike="noStrike">
              <a:solidFill>
                <a:srgbClr val="000000"/>
              </a:solidFill>
              <a:effectLst/>
              <a:uFillTx/>
              <a:latin typeface="Arial"/>
            </a:endParaRPr>
          </a:p>
        </p:txBody>
      </p:sp>
      <p:graphicFrame>
        <p:nvGraphicFramePr>
          <p:cNvPr id="300" name="Table 0"/>
          <p:cNvGraphicFramePr/>
          <p:nvPr/>
        </p:nvGraphicFramePr>
        <p:xfrm>
          <a:off x="660240" y="2082960"/>
          <a:ext cx="10870920" cy="3314520"/>
        </p:xfrm>
        <a:graphic>
          <a:graphicData uri="http://schemas.openxmlformats.org/drawingml/2006/table">
            <a:tbl>
              <a:tblPr/>
              <a:tblGrid>
                <a:gridCol w="3478680"/>
                <a:gridCol w="2065320"/>
                <a:gridCol w="3152520"/>
                <a:gridCol w="2174040"/>
              </a:tblGrid>
              <a:tr h="495000">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Claim</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종류</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Condition</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범위</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G</a:t>
                      </a:r>
                      <a:r>
                        <a:rPr lang="ko-KR" sz="1550" b="0" u="none" strike="noStrike">
                          <a:solidFill>
                            <a:srgbClr val="173C37"/>
                          </a:solidFill>
                          <a:effectLst/>
                          <a:uFillTx/>
                          <a:latin typeface="AppleGothic"/>
                          <a:ea typeface="AppleGothic"/>
                        </a:rPr>
                        <a:t>와 </a:t>
                      </a:r>
                      <a:r>
                        <a:rPr lang="en-US" sz="1550" b="0" u="none" strike="noStrike">
                          <a:solidFill>
                            <a:srgbClr val="173C37"/>
                          </a:solidFill>
                          <a:effectLst/>
                          <a:uFillTx/>
                          <a:latin typeface="AppleGothic"/>
                          <a:ea typeface="AppleGothic"/>
                        </a:rPr>
                        <a:t>G'</a:t>
                      </a:r>
                      <a:r>
                        <a:rPr lang="ko-KR" sz="1550" b="0" u="none" strike="noStrike">
                          <a:solidFill>
                            <a:srgbClr val="173C37"/>
                          </a:solidFill>
                          <a:effectLst/>
                          <a:uFillTx/>
                          <a:latin typeface="AppleGothic"/>
                          <a:ea typeface="AppleGothic"/>
                        </a:rPr>
                        <a:t>의 </a:t>
                      </a:r>
                      <a:r>
                        <a:rPr lang="en-US" sz="1550" b="0" u="none" strike="noStrike">
                          <a:solidFill>
                            <a:srgbClr val="173C37"/>
                          </a:solidFill>
                          <a:effectLst/>
                          <a:uFillTx/>
                          <a:latin typeface="AppleGothic"/>
                          <a:ea typeface="AppleGothic"/>
                        </a:rPr>
                        <a:t>same connectivity</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Theorem 1</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UniStar construction</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Correctness</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Case 3 counterpart remains</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Theorem 2</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Cross edge</a:t>
                      </a:r>
                      <a:r>
                        <a:rPr lang="ko-KR" sz="1550" b="0" u="none" strike="noStrike">
                          <a:solidFill>
                            <a:srgbClr val="173C37"/>
                          </a:solidFill>
                          <a:effectLst/>
                          <a:uFillTx/>
                          <a:latin typeface="AppleGothic"/>
                          <a:ea typeface="AppleGothic"/>
                        </a:rPr>
                        <a:t>와 </a:t>
                      </a:r>
                      <a:r>
                        <a:rPr lang="en-US" sz="1550" b="0" u="none" strike="noStrike">
                          <a:solidFill>
                            <a:srgbClr val="173C37"/>
                          </a:solidFill>
                          <a:effectLst/>
                          <a:uFillTx/>
                          <a:latin typeface="AppleGothic"/>
                          <a:ea typeface="AppleGothic"/>
                        </a:rPr>
                        <a:t>only-edge condition</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Safe discard</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Expected memory bound</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Theorem 3</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Random and even hash</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Asymptotic expectation</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4x, 8x, 4096x</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Experiment</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2022 stack and datasets</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Measured comparison</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bl>
          </a:graphicData>
        </a:graphic>
      </p:graphicFrame>
      <p:sp>
        <p:nvSpPr>
          <p:cNvPr id="301" name="Shape 2"/>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02" name="Text 3"/>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750" b="1" u="none" strike="noStrike">
                <a:solidFill>
                  <a:srgbClr val="173C37"/>
                </a:solidFill>
                <a:effectLst/>
                <a:uFillTx/>
                <a:latin typeface="AppleGothic"/>
                <a:ea typeface="AppleGothic"/>
              </a:rPr>
              <a:t>실험 배수는 </a:t>
            </a:r>
            <a:r>
              <a:rPr lang="en-US" sz="1750" b="1" u="none" strike="noStrike">
                <a:solidFill>
                  <a:srgbClr val="173C37"/>
                </a:solidFill>
                <a:effectLst/>
                <a:uFillTx/>
                <a:latin typeface="AppleGothic"/>
                <a:ea typeface="AppleGothic"/>
              </a:rPr>
              <a:t>theorem constant</a:t>
            </a:r>
            <a:r>
              <a:rPr lang="ko-KR" sz="1750" b="1" u="none" strike="noStrike">
                <a:solidFill>
                  <a:srgbClr val="173C37"/>
                </a:solidFill>
                <a:effectLst/>
                <a:uFillTx/>
                <a:latin typeface="AppleGothic"/>
                <a:ea typeface="AppleGothic"/>
              </a:rPr>
              <a:t>가 아니며 </a:t>
            </a:r>
            <a:r>
              <a:rPr lang="en-US" sz="1750" b="1" u="none" strike="noStrike">
                <a:solidFill>
                  <a:srgbClr val="173C37"/>
                </a:solidFill>
                <a:effectLst/>
                <a:uFillTx/>
                <a:latin typeface="AppleGothic"/>
                <a:ea typeface="AppleGothic"/>
              </a:rPr>
              <a:t>record </a:t>
            </a:r>
            <a:r>
              <a:rPr lang="ko-KR" sz="1750" b="1" u="none" strike="noStrike">
                <a:solidFill>
                  <a:srgbClr val="173C37"/>
                </a:solidFill>
                <a:effectLst/>
                <a:uFillTx/>
                <a:latin typeface="AppleGothic"/>
                <a:ea typeface="AppleGothic"/>
              </a:rPr>
              <a:t>감소와 </a:t>
            </a:r>
            <a:r>
              <a:rPr lang="en-US" sz="1750" b="1" u="none" strike="noStrike">
                <a:solidFill>
                  <a:srgbClr val="173C37"/>
                </a:solidFill>
                <a:effectLst/>
                <a:uFillTx/>
                <a:latin typeface="AppleGothic"/>
                <a:ea typeface="AppleGothic"/>
              </a:rPr>
              <a:t>byte </a:t>
            </a:r>
            <a:r>
              <a:rPr lang="ko-KR" sz="1750" b="1" u="none" strike="noStrike">
                <a:solidFill>
                  <a:srgbClr val="173C37"/>
                </a:solidFill>
                <a:effectLst/>
                <a:uFillTx/>
                <a:latin typeface="AppleGothic"/>
                <a:ea typeface="AppleGothic"/>
              </a:rPr>
              <a:t>감소도 다르다</a:t>
            </a:r>
            <a:endParaRPr lang="en-US" sz="1750" b="0" u="none" strike="noStrike">
              <a:solidFill>
                <a:srgbClr val="000000"/>
              </a:solidFill>
              <a:effectLst/>
              <a:uFillTx/>
              <a:latin typeface="Arial"/>
            </a:endParaRPr>
          </a:p>
        </p:txBody>
      </p:sp>
      <p:sp>
        <p:nvSpPr>
          <p:cNvPr id="303" name="Shape 4"/>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04" name="Text 5"/>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unicon-paper pp. 8-11, Theorems 1-3; pp. 14-18</a:t>
            </a:r>
            <a:endParaRPr lang="en-US" sz="1050" b="0" u="none" strike="noStrike">
              <a:solidFill>
                <a:srgbClr val="000000"/>
              </a:solidFill>
              <a:effectLst/>
              <a:uFillTx/>
              <a:latin typeface="Arial"/>
            </a:endParaRPr>
          </a:p>
        </p:txBody>
      </p:sp>
      <p:sp>
        <p:nvSpPr>
          <p:cNvPr id="305" name="Text 6"/>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19</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6"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Experiment hardware</a:t>
            </a:r>
            <a:r>
              <a:rPr lang="ko-KR" sz="3100" b="1" u="none" strike="noStrike">
                <a:solidFill>
                  <a:srgbClr val="173C37"/>
                </a:solidFill>
                <a:effectLst/>
                <a:uFillTx/>
                <a:latin typeface="AppleGothic"/>
                <a:ea typeface="AppleGothic"/>
              </a:rPr>
              <a:t>와 </a:t>
            </a:r>
            <a:r>
              <a:rPr lang="en-US" sz="3100" b="1" u="none" strike="noStrike">
                <a:solidFill>
                  <a:srgbClr val="173C37"/>
                </a:solidFill>
                <a:effectLst/>
                <a:uFillTx/>
                <a:latin typeface="AppleGothic"/>
                <a:ea typeface="AppleGothic"/>
              </a:rPr>
              <a:t>software </a:t>
            </a:r>
            <a:r>
              <a:rPr lang="ko-KR" sz="3100" b="1" u="none" strike="noStrike">
                <a:solidFill>
                  <a:srgbClr val="173C37"/>
                </a:solidFill>
                <a:effectLst/>
                <a:uFillTx/>
                <a:latin typeface="AppleGothic"/>
                <a:ea typeface="AppleGothic"/>
              </a:rPr>
              <a:t>조건</a:t>
            </a:r>
            <a:endParaRPr lang="en-US" sz="3100" b="0" u="none" strike="noStrike">
              <a:solidFill>
                <a:srgbClr val="000000"/>
              </a:solidFill>
              <a:effectLst/>
              <a:uFillTx/>
              <a:latin typeface="Arial"/>
            </a:endParaRPr>
          </a:p>
        </p:txBody>
      </p:sp>
      <p:sp>
        <p:nvSpPr>
          <p:cNvPr id="307"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900" b="0" u="none" strike="noStrike">
                <a:solidFill>
                  <a:srgbClr val="0D685C"/>
                </a:solidFill>
                <a:effectLst/>
                <a:uFillTx/>
                <a:latin typeface="AppleGothic"/>
                <a:ea typeface="AppleGothic"/>
              </a:rPr>
              <a:t>결과는 </a:t>
            </a:r>
            <a:r>
              <a:rPr lang="en-US" sz="1900" b="0" u="none" strike="noStrike">
                <a:solidFill>
                  <a:srgbClr val="0D685C"/>
                </a:solidFill>
                <a:effectLst/>
                <a:uFillTx/>
                <a:latin typeface="AppleGothic"/>
                <a:ea typeface="AppleGothic"/>
              </a:rPr>
              <a:t>10</a:t>
            </a:r>
            <a:r>
              <a:rPr lang="ko-KR" sz="1900" b="0" u="none" strike="noStrike">
                <a:solidFill>
                  <a:srgbClr val="0D685C"/>
                </a:solidFill>
                <a:effectLst/>
                <a:uFillTx/>
                <a:latin typeface="AppleGothic"/>
                <a:ea typeface="AppleGothic"/>
              </a:rPr>
              <a:t>대 </a:t>
            </a:r>
            <a:r>
              <a:rPr lang="en-US" sz="1900" b="0" u="none" strike="noStrike">
                <a:solidFill>
                  <a:srgbClr val="0D685C"/>
                </a:solidFill>
                <a:effectLst/>
                <a:uFillTx/>
                <a:latin typeface="AppleGothic"/>
                <a:ea typeface="AppleGothic"/>
              </a:rPr>
              <a:t>commodity machines</a:t>
            </a:r>
            <a:r>
              <a:rPr lang="ko-KR" sz="1900" b="0" u="none" strike="noStrike">
                <a:solidFill>
                  <a:srgbClr val="0D685C"/>
                </a:solidFill>
                <a:effectLst/>
                <a:uFillTx/>
                <a:latin typeface="AppleGothic"/>
                <a:ea typeface="AppleGothic"/>
              </a:rPr>
              <a:t>와 </a:t>
            </a:r>
            <a:r>
              <a:rPr lang="en-US" sz="1900" b="0" u="none" strike="noStrike">
                <a:solidFill>
                  <a:srgbClr val="0D685C"/>
                </a:solidFill>
                <a:effectLst/>
                <a:uFillTx/>
                <a:latin typeface="AppleGothic"/>
                <a:ea typeface="AppleGothic"/>
              </a:rPr>
              <a:t>2022</a:t>
            </a:r>
            <a:r>
              <a:rPr lang="ko-KR" sz="1900" b="0" u="none" strike="noStrike">
                <a:solidFill>
                  <a:srgbClr val="0D685C"/>
                </a:solidFill>
                <a:effectLst/>
                <a:uFillTx/>
                <a:latin typeface="AppleGothic"/>
                <a:ea typeface="AppleGothic"/>
              </a:rPr>
              <a:t>년 공개 구현 조건에서 측정됐다</a:t>
            </a:r>
            <a:endParaRPr lang="en-US" sz="1900" b="0" u="none" strike="noStrike">
              <a:solidFill>
                <a:srgbClr val="000000"/>
              </a:solidFill>
              <a:effectLst/>
              <a:uFillTx/>
              <a:latin typeface="Arial"/>
            </a:endParaRPr>
          </a:p>
        </p:txBody>
      </p:sp>
      <p:graphicFrame>
        <p:nvGraphicFramePr>
          <p:cNvPr id="308" name="Table 0"/>
          <p:cNvGraphicFramePr/>
          <p:nvPr/>
        </p:nvGraphicFramePr>
        <p:xfrm>
          <a:off x="660240" y="2082960"/>
          <a:ext cx="10870920" cy="3314520"/>
        </p:xfrm>
        <a:graphic>
          <a:graphicData uri="http://schemas.openxmlformats.org/drawingml/2006/table">
            <a:tbl>
              <a:tblPr/>
              <a:tblGrid>
                <a:gridCol w="2391480"/>
                <a:gridCol w="5109120"/>
                <a:gridCol w="3369960"/>
              </a:tblGrid>
              <a:tr h="495000">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Item</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Reported condition</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해석 경계</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r>
              <a:tr h="56376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Cluster</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10 machines, master also worker</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All 10 workers used by default</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56376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Each machine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Xeon E3-1220, 4 cores, 3.10GHz</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CPU generation specific</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56376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Memory and storage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16GB RAM, two 1TB SSDs</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Commodity condition</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56376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Stack</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Hadoop 3.2.1, Spark 3.0.1, MPICH 3.3</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Stack-specific</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56376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Rem</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C++11 implementation</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Single-machine phase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bl>
          </a:graphicData>
        </a:graphic>
      </p:graphicFrame>
      <p:sp>
        <p:nvSpPr>
          <p:cNvPr id="309" name="Shape 2"/>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10" name="Text 3"/>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750" b="1" u="none" strike="noStrike">
                <a:solidFill>
                  <a:srgbClr val="173C37"/>
                </a:solidFill>
                <a:effectLst/>
                <a:uFillTx/>
                <a:latin typeface="AppleGothic"/>
                <a:ea typeface="AppleGothic"/>
              </a:rPr>
              <a:t>성능 배수는 </a:t>
            </a:r>
            <a:r>
              <a:rPr lang="en-US" sz="1750" b="1" u="none" strike="noStrike">
                <a:solidFill>
                  <a:srgbClr val="173C37"/>
                </a:solidFill>
                <a:effectLst/>
                <a:uFillTx/>
                <a:latin typeface="AppleGothic"/>
                <a:ea typeface="AppleGothic"/>
              </a:rPr>
              <a:t>hardware, implementation, tau</a:t>
            </a:r>
            <a:r>
              <a:rPr lang="ko-KR" sz="1750" b="1" u="none" strike="noStrike">
                <a:solidFill>
                  <a:srgbClr val="173C37"/>
                </a:solidFill>
                <a:effectLst/>
                <a:uFillTx/>
                <a:latin typeface="AppleGothic"/>
                <a:ea typeface="AppleGothic"/>
              </a:rPr>
              <a:t>와 </a:t>
            </a:r>
            <a:r>
              <a:rPr lang="en-US" sz="1750" b="1" u="none" strike="noStrike">
                <a:solidFill>
                  <a:srgbClr val="173C37"/>
                </a:solidFill>
                <a:effectLst/>
                <a:uFillTx/>
                <a:latin typeface="AppleGothic"/>
                <a:ea typeface="AppleGothic"/>
              </a:rPr>
              <a:t>rho tuning</a:t>
            </a:r>
            <a:r>
              <a:rPr lang="ko-KR" sz="1750" b="1" u="none" strike="noStrike">
                <a:solidFill>
                  <a:srgbClr val="173C37"/>
                </a:solidFill>
                <a:effectLst/>
                <a:uFillTx/>
                <a:latin typeface="AppleGothic"/>
                <a:ea typeface="AppleGothic"/>
              </a:rPr>
              <a:t>을 함께 적어야 한다</a:t>
            </a:r>
            <a:endParaRPr lang="en-US" sz="1750" b="0" u="none" strike="noStrike">
              <a:solidFill>
                <a:srgbClr val="000000"/>
              </a:solidFill>
              <a:effectLst/>
              <a:uFillTx/>
              <a:latin typeface="Arial"/>
            </a:endParaRPr>
          </a:p>
        </p:txBody>
      </p:sp>
      <p:sp>
        <p:nvSpPr>
          <p:cNvPr id="311" name="Shape 4"/>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12" name="Text 5"/>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unicon-paper p. 12, Experimental settings</a:t>
            </a:r>
            <a:endParaRPr lang="en-US" sz="1050" b="0" u="none" strike="noStrike">
              <a:solidFill>
                <a:srgbClr val="000000"/>
              </a:solidFill>
              <a:effectLst/>
              <a:uFillTx/>
              <a:latin typeface="Arial"/>
            </a:endParaRPr>
          </a:p>
        </p:txBody>
      </p:sp>
      <p:sp>
        <p:nvSpPr>
          <p:cNvPr id="313" name="Text 6"/>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20</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14"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UniStar</a:t>
            </a:r>
            <a:r>
              <a:rPr lang="ko-KR" sz="3100" b="1" u="none" strike="noStrike">
                <a:solidFill>
                  <a:srgbClr val="173C37"/>
                </a:solidFill>
                <a:effectLst/>
                <a:uFillTx/>
                <a:latin typeface="AppleGothic"/>
                <a:ea typeface="AppleGothic"/>
              </a:rPr>
              <a:t>와 </a:t>
            </a:r>
            <a:r>
              <a:rPr lang="en-US" sz="3100" b="1" u="none" strike="noStrike">
                <a:solidFill>
                  <a:srgbClr val="173C37"/>
                </a:solidFill>
                <a:effectLst/>
                <a:uFillTx/>
                <a:latin typeface="AppleGothic"/>
                <a:ea typeface="AppleGothic"/>
              </a:rPr>
              <a:t>naive </a:t>
            </a:r>
            <a:r>
              <a:rPr lang="ko-KR" sz="3100" b="1" u="none" strike="noStrike">
                <a:solidFill>
                  <a:srgbClr val="173C37"/>
                </a:solidFill>
                <a:effectLst/>
                <a:uFillTx/>
                <a:latin typeface="AppleGothic"/>
                <a:ea typeface="AppleGothic"/>
              </a:rPr>
              <a:t>통합의 비교</a:t>
            </a:r>
            <a:endParaRPr lang="en-US" sz="3100" b="0" u="none" strike="noStrike">
              <a:solidFill>
                <a:srgbClr val="000000"/>
              </a:solidFill>
              <a:effectLst/>
              <a:uFillTx/>
              <a:latin typeface="Arial"/>
            </a:endParaRPr>
          </a:p>
        </p:txBody>
      </p:sp>
      <p:sp>
        <p:nvSpPr>
          <p:cNvPr id="315"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900" b="0" u="none" strike="noStrike">
                <a:solidFill>
                  <a:srgbClr val="0D685C"/>
                </a:solidFill>
                <a:effectLst/>
                <a:uFillTx/>
                <a:latin typeface="AppleGothic"/>
                <a:ea typeface="AppleGothic"/>
              </a:rPr>
              <a:t>UniCon-base</a:t>
            </a:r>
            <a:r>
              <a:rPr lang="ko-KR" sz="1900" b="0" u="none" strike="noStrike">
                <a:solidFill>
                  <a:srgbClr val="0D685C"/>
                </a:solidFill>
                <a:effectLst/>
                <a:uFillTx/>
                <a:latin typeface="AppleGothic"/>
                <a:ea typeface="AppleGothic"/>
              </a:rPr>
              <a:t>와 </a:t>
            </a:r>
            <a:r>
              <a:rPr lang="en-US" sz="1900" b="0" u="none" strike="noStrike">
                <a:solidFill>
                  <a:srgbClr val="0D685C"/>
                </a:solidFill>
                <a:effectLst/>
                <a:uFillTx/>
                <a:latin typeface="AppleGothic"/>
                <a:ea typeface="AppleGothic"/>
              </a:rPr>
              <a:t>UniCon-naive</a:t>
            </a:r>
            <a:r>
              <a:rPr lang="ko-KR" sz="1900" b="0" u="none" strike="noStrike">
                <a:solidFill>
                  <a:srgbClr val="0D685C"/>
                </a:solidFill>
                <a:effectLst/>
                <a:uFillTx/>
                <a:latin typeface="AppleGothic"/>
                <a:ea typeface="AppleGothic"/>
              </a:rPr>
              <a:t>를 비교해 </a:t>
            </a:r>
            <a:r>
              <a:rPr lang="en-US" sz="1900" b="0" u="none" strike="noStrike">
                <a:solidFill>
                  <a:srgbClr val="0D685C"/>
                </a:solidFill>
                <a:effectLst/>
                <a:uFillTx/>
                <a:latin typeface="AppleGothic"/>
                <a:ea typeface="AppleGothic"/>
              </a:rPr>
              <a:t>partition-aware processing</a:t>
            </a:r>
            <a:r>
              <a:rPr lang="ko-KR" sz="1900" b="0" u="none" strike="noStrike">
                <a:solidFill>
                  <a:srgbClr val="0D685C"/>
                </a:solidFill>
                <a:effectLst/>
                <a:uFillTx/>
                <a:latin typeface="AppleGothic"/>
                <a:ea typeface="AppleGothic"/>
              </a:rPr>
              <a:t>과 </a:t>
            </a:r>
            <a:r>
              <a:rPr lang="en-US" sz="1900" b="0" u="none" strike="noStrike">
                <a:solidFill>
                  <a:srgbClr val="0D685C"/>
                </a:solidFill>
                <a:effectLst/>
                <a:uFillTx/>
                <a:latin typeface="AppleGothic"/>
                <a:ea typeface="AppleGothic"/>
              </a:rPr>
              <a:t>intact exclusion </a:t>
            </a:r>
            <a:r>
              <a:rPr lang="ko-KR" sz="1900" b="0" u="none" strike="noStrike">
                <a:solidFill>
                  <a:srgbClr val="0D685C"/>
                </a:solidFill>
                <a:effectLst/>
                <a:uFillTx/>
                <a:latin typeface="AppleGothic"/>
                <a:ea typeface="AppleGothic"/>
              </a:rPr>
              <a:t>효과를 측정했다</a:t>
            </a:r>
            <a:endParaRPr lang="en-US" sz="1900" b="0" u="none" strike="noStrike">
              <a:solidFill>
                <a:srgbClr val="000000"/>
              </a:solidFill>
              <a:effectLst/>
              <a:uFillTx/>
              <a:latin typeface="Arial"/>
            </a:endParaRPr>
          </a:p>
        </p:txBody>
      </p:sp>
      <p:graphicFrame>
        <p:nvGraphicFramePr>
          <p:cNvPr id="316" name="Table 0"/>
          <p:cNvGraphicFramePr/>
          <p:nvPr/>
        </p:nvGraphicFramePr>
        <p:xfrm>
          <a:off x="660240" y="2082960"/>
          <a:ext cx="10870920" cy="3314520"/>
        </p:xfrm>
        <a:graphic>
          <a:graphicData uri="http://schemas.openxmlformats.org/drawingml/2006/table">
            <a:tbl>
              <a:tblPr/>
              <a:tblGrid>
                <a:gridCol w="2935080"/>
                <a:gridCol w="2608920"/>
                <a:gridCol w="2717640"/>
                <a:gridCol w="2608920"/>
              </a:tblGrid>
              <a:tr h="495000">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Metric</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Reported maximum</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Comparison</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Source condition</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Round input ratio</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naive / UniStar up to 4x</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Fig. 8 datasets</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Input records</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Map output ratio</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naive / UniStar up to 8x</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Fig. 8 datasets</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Intermediate records</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Operation time ratio</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naive / UniStar = 2 to 5x</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Every reported case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Fig. 9</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Total time ratio</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naive / base up to 4.3x</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Rounds also fewer</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Fig. 9</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bl>
          </a:graphicData>
        </a:graphic>
      </p:graphicFrame>
      <p:sp>
        <p:nvSpPr>
          <p:cNvPr id="317" name="Shape 2"/>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18" name="Text 3"/>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UniStar</a:t>
            </a:r>
            <a:r>
              <a:rPr lang="ko-KR" sz="1750" b="1" u="none" strike="noStrike">
                <a:solidFill>
                  <a:srgbClr val="173C37"/>
                </a:solidFill>
                <a:effectLst/>
                <a:uFillTx/>
                <a:latin typeface="AppleGothic"/>
                <a:ea typeface="AppleGothic"/>
              </a:rPr>
              <a:t>의 효과는 </a:t>
            </a:r>
            <a:r>
              <a:rPr lang="en-US" sz="1750" b="1" u="none" strike="noStrike">
                <a:solidFill>
                  <a:srgbClr val="173C37"/>
                </a:solidFill>
                <a:effectLst/>
                <a:uFillTx/>
                <a:latin typeface="AppleGothic"/>
                <a:ea typeface="AppleGothic"/>
              </a:rPr>
              <a:t>data records </a:t>
            </a:r>
            <a:r>
              <a:rPr lang="ko-KR" sz="1750" b="1" u="none" strike="noStrike">
                <a:solidFill>
                  <a:srgbClr val="173C37"/>
                </a:solidFill>
                <a:effectLst/>
                <a:uFillTx/>
                <a:latin typeface="AppleGothic"/>
                <a:ea typeface="AppleGothic"/>
              </a:rPr>
              <a:t>감소와 </a:t>
            </a:r>
            <a:r>
              <a:rPr lang="en-US" sz="1750" b="1" u="none" strike="noStrike">
                <a:solidFill>
                  <a:srgbClr val="173C37"/>
                </a:solidFill>
                <a:effectLst/>
                <a:uFillTx/>
                <a:latin typeface="AppleGothic"/>
                <a:ea typeface="AppleGothic"/>
              </a:rPr>
              <a:t>fewer rounds</a:t>
            </a:r>
            <a:r>
              <a:rPr lang="ko-KR" sz="1750" b="1" u="none" strike="noStrike">
                <a:solidFill>
                  <a:srgbClr val="173C37"/>
                </a:solidFill>
                <a:effectLst/>
                <a:uFillTx/>
                <a:latin typeface="AppleGothic"/>
                <a:ea typeface="AppleGothic"/>
              </a:rPr>
              <a:t>가 함께 만든 조건부 결과다</a:t>
            </a:r>
            <a:endParaRPr lang="en-US" sz="1750" b="0" u="none" strike="noStrike">
              <a:solidFill>
                <a:srgbClr val="000000"/>
              </a:solidFill>
              <a:effectLst/>
              <a:uFillTx/>
              <a:latin typeface="Arial"/>
            </a:endParaRPr>
          </a:p>
        </p:txBody>
      </p:sp>
      <p:sp>
        <p:nvSpPr>
          <p:cNvPr id="319" name="Shape 4"/>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20" name="Text 5"/>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unicon-paper pp. 14-15, Figs. 8-9</a:t>
            </a:r>
            <a:endParaRPr lang="en-US" sz="1050" b="0" u="none" strike="noStrike">
              <a:solidFill>
                <a:srgbClr val="000000"/>
              </a:solidFill>
              <a:effectLst/>
              <a:uFillTx/>
              <a:latin typeface="Arial"/>
            </a:endParaRPr>
          </a:p>
        </p:txBody>
      </p:sp>
      <p:sp>
        <p:nvSpPr>
          <p:cNvPr id="321" name="Text 6"/>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21</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22"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Filtering</a:t>
            </a:r>
            <a:r>
              <a:rPr lang="ko-KR" sz="3100" b="1" u="none" strike="noStrike">
                <a:solidFill>
                  <a:srgbClr val="173C37"/>
                </a:solidFill>
                <a:effectLst/>
                <a:uFillTx/>
                <a:latin typeface="AppleGothic"/>
                <a:ea typeface="AppleGothic"/>
              </a:rPr>
              <a:t>과 </a:t>
            </a:r>
            <a:r>
              <a:rPr lang="en-US" sz="3100" b="1" u="none" strike="noStrike">
                <a:solidFill>
                  <a:srgbClr val="173C37"/>
                </a:solidFill>
                <a:effectLst/>
                <a:uFillTx/>
                <a:latin typeface="AppleGothic"/>
                <a:ea typeface="AppleGothic"/>
              </a:rPr>
              <a:t>HybridMap</a:t>
            </a:r>
            <a:r>
              <a:rPr lang="ko-KR" sz="3100" b="1" u="none" strike="noStrike">
                <a:solidFill>
                  <a:srgbClr val="173C37"/>
                </a:solidFill>
                <a:effectLst/>
                <a:uFillTx/>
                <a:latin typeface="AppleGothic"/>
                <a:ea typeface="AppleGothic"/>
              </a:rPr>
              <a:t>의 </a:t>
            </a:r>
            <a:r>
              <a:rPr lang="en-US" sz="3100" b="1" u="none" strike="noStrike">
                <a:solidFill>
                  <a:srgbClr val="173C37"/>
                </a:solidFill>
                <a:effectLst/>
                <a:uFillTx/>
                <a:latin typeface="AppleGothic"/>
                <a:ea typeface="AppleGothic"/>
              </a:rPr>
              <a:t>measured effects</a:t>
            </a:r>
            <a:endParaRPr lang="en-US" sz="3100" b="0" u="none" strike="noStrike">
              <a:solidFill>
                <a:srgbClr val="000000"/>
              </a:solidFill>
              <a:effectLst/>
              <a:uFillTx/>
              <a:latin typeface="Arial"/>
            </a:endParaRPr>
          </a:p>
        </p:txBody>
      </p:sp>
      <p:sp>
        <p:nvSpPr>
          <p:cNvPr id="323"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900" b="0" u="none" strike="noStrike">
                <a:solidFill>
                  <a:srgbClr val="0D685C"/>
                </a:solidFill>
                <a:effectLst/>
                <a:uFillTx/>
                <a:latin typeface="AppleGothic"/>
                <a:ea typeface="AppleGothic"/>
              </a:rPr>
              <a:t>두 수치는 </a:t>
            </a:r>
            <a:r>
              <a:rPr lang="en-US" sz="1900" b="0" u="none" strike="noStrike">
                <a:solidFill>
                  <a:srgbClr val="0D685C"/>
                </a:solidFill>
                <a:effectLst/>
                <a:uFillTx/>
                <a:latin typeface="AppleGothic"/>
                <a:ea typeface="AppleGothic"/>
              </a:rPr>
              <a:t>CW graph</a:t>
            </a:r>
            <a:r>
              <a:rPr lang="ko-KR" sz="1900" b="0" u="none" strike="noStrike">
                <a:solidFill>
                  <a:srgbClr val="0D685C"/>
                </a:solidFill>
                <a:effectLst/>
                <a:uFillTx/>
                <a:latin typeface="AppleGothic"/>
                <a:ea typeface="AppleGothic"/>
              </a:rPr>
              <a:t>와 해당 </a:t>
            </a:r>
            <a:r>
              <a:rPr lang="en-US" sz="1900" b="0" u="none" strike="noStrike">
                <a:solidFill>
                  <a:srgbClr val="0D685C"/>
                </a:solidFill>
                <a:effectLst/>
                <a:uFillTx/>
                <a:latin typeface="AppleGothic"/>
                <a:ea typeface="AppleGothic"/>
              </a:rPr>
              <a:t>experiment configuration</a:t>
            </a:r>
            <a:r>
              <a:rPr lang="ko-KR" sz="1900" b="0" u="none" strike="noStrike">
                <a:solidFill>
                  <a:srgbClr val="0D685C"/>
                </a:solidFill>
                <a:effectLst/>
                <a:uFillTx/>
                <a:latin typeface="AppleGothic"/>
                <a:ea typeface="AppleGothic"/>
              </a:rPr>
              <a:t>에 묶여 있다</a:t>
            </a:r>
            <a:endParaRPr lang="en-US" sz="1900" b="0" u="none" strike="noStrike">
              <a:solidFill>
                <a:srgbClr val="000000"/>
              </a:solidFill>
              <a:effectLst/>
              <a:uFillTx/>
              <a:latin typeface="Arial"/>
            </a:endParaRPr>
          </a:p>
        </p:txBody>
      </p:sp>
      <p:graphicFrame>
        <p:nvGraphicFramePr>
          <p:cNvPr id="324" name="Table 0"/>
          <p:cNvGraphicFramePr/>
          <p:nvPr/>
        </p:nvGraphicFramePr>
        <p:xfrm>
          <a:off x="660240" y="2082960"/>
          <a:ext cx="10870920" cy="3314520"/>
        </p:xfrm>
        <a:graphic>
          <a:graphicData uri="http://schemas.openxmlformats.org/drawingml/2006/table">
            <a:tbl>
              <a:tblPr/>
              <a:tblGrid>
                <a:gridCol w="2282760"/>
                <a:gridCol w="3478680"/>
                <a:gridCol w="2500200"/>
                <a:gridCol w="2608920"/>
              </a:tblGrid>
              <a:tr h="495000">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Technique</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Reported result</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Condition</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해석</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Edge filtering</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80.4% average input shrink per round</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CW, tau=0</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Case 1/2 edges return at finishing</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HybridMap</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22.7% lower runtime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CW, vs all-hash</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Array access benefit</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Array-only p</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OOM on GSH, CW, HL</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|V| array per worker</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Universe array bottleneck</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All-hash p</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Memory succeeds</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Hash lookup</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HybridMap</a:t>
                      </a:r>
                      <a:r>
                        <a:rPr lang="ko-KR" sz="1550" b="0" u="none" strike="noStrike">
                          <a:solidFill>
                            <a:srgbClr val="173C37"/>
                          </a:solidFill>
                          <a:effectLst/>
                          <a:uFillTx/>
                          <a:latin typeface="AppleGothic"/>
                          <a:ea typeface="AppleGothic"/>
                        </a:rPr>
                        <a:t>보다 느림 </a:t>
                      </a:r>
                      <a:r>
                        <a:rPr lang="en-US" sz="1550" b="0" u="none" strike="noStrike">
                          <a:solidFill>
                            <a:srgbClr val="173C37"/>
                          </a:solidFill>
                          <a:effectLst/>
                          <a:uFillTx/>
                          <a:latin typeface="AppleGothic"/>
                          <a:ea typeface="AppleGothic"/>
                        </a:rPr>
                        <a:t>on CW</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bl>
          </a:graphicData>
        </a:graphic>
      </p:graphicFrame>
      <p:sp>
        <p:nvSpPr>
          <p:cNvPr id="325" name="Shape 2"/>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26" name="Text 3"/>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80.4%</a:t>
            </a:r>
            <a:r>
              <a:rPr lang="ko-KR" sz="1750" b="1" u="none" strike="noStrike">
                <a:solidFill>
                  <a:srgbClr val="173C37"/>
                </a:solidFill>
                <a:effectLst/>
                <a:uFillTx/>
                <a:latin typeface="AppleGothic"/>
                <a:ea typeface="AppleGothic"/>
              </a:rPr>
              <a:t>와 </a:t>
            </a:r>
            <a:r>
              <a:rPr lang="en-US" sz="1750" b="1" u="none" strike="noStrike">
                <a:solidFill>
                  <a:srgbClr val="173C37"/>
                </a:solidFill>
                <a:effectLst/>
                <a:uFillTx/>
                <a:latin typeface="AppleGothic"/>
                <a:ea typeface="AppleGothic"/>
              </a:rPr>
              <a:t>22.7%</a:t>
            </a:r>
            <a:r>
              <a:rPr lang="ko-KR" sz="1750" b="1" u="none" strike="noStrike">
                <a:solidFill>
                  <a:srgbClr val="173C37"/>
                </a:solidFill>
                <a:effectLst/>
                <a:uFillTx/>
                <a:latin typeface="AppleGothic"/>
                <a:ea typeface="AppleGothic"/>
              </a:rPr>
              <a:t>는 </a:t>
            </a:r>
            <a:r>
              <a:rPr lang="en-US" sz="1750" b="1" u="none" strike="noStrike">
                <a:solidFill>
                  <a:srgbClr val="173C37"/>
                </a:solidFill>
                <a:effectLst/>
                <a:uFillTx/>
                <a:latin typeface="AppleGothic"/>
                <a:ea typeface="AppleGothic"/>
              </a:rPr>
              <a:t>universal constants</a:t>
            </a:r>
            <a:r>
              <a:rPr lang="ko-KR" sz="1750" b="1" u="none" strike="noStrike">
                <a:solidFill>
                  <a:srgbClr val="173C37"/>
                </a:solidFill>
                <a:effectLst/>
                <a:uFillTx/>
                <a:latin typeface="AppleGothic"/>
                <a:ea typeface="AppleGothic"/>
              </a:rPr>
              <a:t>가 아니라 </a:t>
            </a:r>
            <a:r>
              <a:rPr lang="en-US" sz="1750" b="1" u="none" strike="noStrike">
                <a:solidFill>
                  <a:srgbClr val="173C37"/>
                </a:solidFill>
                <a:effectLst/>
                <a:uFillTx/>
                <a:latin typeface="AppleGothic"/>
                <a:ea typeface="AppleGothic"/>
              </a:rPr>
              <a:t>CW</a:t>
            </a:r>
            <a:r>
              <a:rPr lang="ko-KR" sz="1750" b="1" u="none" strike="noStrike">
                <a:solidFill>
                  <a:srgbClr val="173C37"/>
                </a:solidFill>
                <a:effectLst/>
                <a:uFillTx/>
                <a:latin typeface="AppleGothic"/>
                <a:ea typeface="AppleGothic"/>
              </a:rPr>
              <a:t>에서의 </a:t>
            </a:r>
            <a:r>
              <a:rPr lang="en-US" sz="1750" b="1" u="none" strike="noStrike">
                <a:solidFill>
                  <a:srgbClr val="173C37"/>
                </a:solidFill>
                <a:effectLst/>
                <a:uFillTx/>
                <a:latin typeface="AppleGothic"/>
                <a:ea typeface="AppleGothic"/>
              </a:rPr>
              <a:t>measured results</a:t>
            </a:r>
            <a:r>
              <a:rPr lang="ko-KR" sz="1750" b="1" u="none" strike="noStrike">
                <a:solidFill>
                  <a:srgbClr val="173C37"/>
                </a:solidFill>
                <a:effectLst/>
                <a:uFillTx/>
                <a:latin typeface="AppleGothic"/>
                <a:ea typeface="AppleGothic"/>
              </a:rPr>
              <a:t>다</a:t>
            </a:r>
            <a:endParaRPr lang="en-US" sz="1750" b="0" u="none" strike="noStrike">
              <a:solidFill>
                <a:srgbClr val="000000"/>
              </a:solidFill>
              <a:effectLst/>
              <a:uFillTx/>
              <a:latin typeface="Arial"/>
            </a:endParaRPr>
          </a:p>
        </p:txBody>
      </p:sp>
      <p:sp>
        <p:nvSpPr>
          <p:cNvPr id="327" name="Shape 4"/>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28" name="Text 5"/>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unicon-paper pp. 15-17, Figs. 10 and 12-13</a:t>
            </a:r>
            <a:endParaRPr lang="en-US" sz="1050" b="0" u="none" strike="noStrike">
              <a:solidFill>
                <a:srgbClr val="000000"/>
              </a:solidFill>
              <a:effectLst/>
              <a:uFillTx/>
              <a:latin typeface="Arial"/>
            </a:endParaRPr>
          </a:p>
        </p:txBody>
      </p:sp>
      <p:sp>
        <p:nvSpPr>
          <p:cNvPr id="329" name="Text 6"/>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22</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30"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Scale </a:t>
            </a:r>
            <a:r>
              <a:rPr lang="ko-KR" sz="3100" b="1" u="none" strike="noStrike">
                <a:solidFill>
                  <a:srgbClr val="173C37"/>
                </a:solidFill>
                <a:effectLst/>
                <a:uFillTx/>
                <a:latin typeface="AppleGothic"/>
                <a:ea typeface="AppleGothic"/>
              </a:rPr>
              <a:t>결과의 조건과 범위</a:t>
            </a:r>
            <a:endParaRPr lang="en-US" sz="3100" b="0" u="none" strike="noStrike">
              <a:solidFill>
                <a:srgbClr val="000000"/>
              </a:solidFill>
              <a:effectLst/>
              <a:uFillTx/>
              <a:latin typeface="Arial"/>
            </a:endParaRPr>
          </a:p>
        </p:txBody>
      </p:sp>
      <p:sp>
        <p:nvSpPr>
          <p:cNvPr id="331"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900" b="0" u="none" strike="noStrike">
                <a:solidFill>
                  <a:srgbClr val="0D685C"/>
                </a:solidFill>
                <a:effectLst/>
                <a:uFillTx/>
                <a:latin typeface="AppleGothic"/>
                <a:ea typeface="AppleGothic"/>
              </a:rPr>
              <a:t>4096x</a:t>
            </a:r>
            <a:r>
              <a:rPr lang="ko-KR" sz="1900" b="0" u="none" strike="noStrike">
                <a:solidFill>
                  <a:srgbClr val="0D685C"/>
                </a:solidFill>
                <a:effectLst/>
                <a:uFillTx/>
                <a:latin typeface="AppleGothic"/>
                <a:ea typeface="AppleGothic"/>
              </a:rPr>
              <a:t>는 이 </a:t>
            </a:r>
            <a:r>
              <a:rPr lang="en-US" sz="1900" b="0" u="none" strike="noStrike">
                <a:solidFill>
                  <a:srgbClr val="0D685C"/>
                </a:solidFill>
                <a:effectLst/>
                <a:uFillTx/>
                <a:latin typeface="AppleGothic"/>
                <a:ea typeface="AppleGothic"/>
              </a:rPr>
              <a:t>cluster</a:t>
            </a:r>
            <a:r>
              <a:rPr lang="ko-KR" sz="1900" b="0" u="none" strike="noStrike">
                <a:solidFill>
                  <a:srgbClr val="0D685C"/>
                </a:solidFill>
                <a:effectLst/>
                <a:uFillTx/>
                <a:latin typeface="AppleGothic"/>
                <a:ea typeface="AppleGothic"/>
              </a:rPr>
              <a:t>에서 </a:t>
            </a:r>
            <a:r>
              <a:rPr lang="en-US" sz="1900" b="0" u="none" strike="noStrike">
                <a:solidFill>
                  <a:srgbClr val="0D685C"/>
                </a:solidFill>
                <a:effectLst/>
                <a:uFillTx/>
                <a:latin typeface="AppleGothic"/>
                <a:ea typeface="AppleGothic"/>
              </a:rPr>
              <a:t>LACC</a:t>
            </a:r>
            <a:r>
              <a:rPr lang="ko-KR" sz="1900" b="0" u="none" strike="noStrike">
                <a:solidFill>
                  <a:srgbClr val="0D685C"/>
                </a:solidFill>
                <a:effectLst/>
                <a:uFillTx/>
                <a:latin typeface="AppleGothic"/>
                <a:ea typeface="AppleGothic"/>
              </a:rPr>
              <a:t>와 </a:t>
            </a:r>
            <a:r>
              <a:rPr lang="en-US" sz="1900" b="0" u="none" strike="noStrike">
                <a:solidFill>
                  <a:srgbClr val="0D685C"/>
                </a:solidFill>
                <a:effectLst/>
                <a:uFillTx/>
                <a:latin typeface="AppleGothic"/>
                <a:ea typeface="AppleGothic"/>
              </a:rPr>
              <a:t>FastSV</a:t>
            </a:r>
            <a:r>
              <a:rPr lang="ko-KR" sz="1900" b="0" u="none" strike="noStrike">
                <a:solidFill>
                  <a:srgbClr val="0D685C"/>
                </a:solidFill>
                <a:effectLst/>
                <a:uFillTx/>
                <a:latin typeface="AppleGothic"/>
                <a:ea typeface="AppleGothic"/>
              </a:rPr>
              <a:t>가 먼저 </a:t>
            </a:r>
            <a:r>
              <a:rPr lang="en-US" sz="1900" b="0" u="none" strike="noStrike">
                <a:solidFill>
                  <a:srgbClr val="0D685C"/>
                </a:solidFill>
                <a:effectLst/>
                <a:uFillTx/>
                <a:latin typeface="AppleGothic"/>
                <a:ea typeface="AppleGothic"/>
              </a:rPr>
              <a:t>OOM</a:t>
            </a:r>
            <a:r>
              <a:rPr lang="ko-KR" sz="1900" b="0" u="none" strike="noStrike">
                <a:solidFill>
                  <a:srgbClr val="0D685C"/>
                </a:solidFill>
                <a:effectLst/>
                <a:uFillTx/>
                <a:latin typeface="AppleGothic"/>
                <a:ea typeface="AppleGothic"/>
              </a:rPr>
              <a:t>한 </a:t>
            </a:r>
            <a:r>
              <a:rPr lang="en-US" sz="1900" b="0" u="none" strike="noStrike">
                <a:solidFill>
                  <a:srgbClr val="0D685C"/>
                </a:solidFill>
                <a:effectLst/>
                <a:uFillTx/>
                <a:latin typeface="AppleGothic"/>
                <a:ea typeface="AppleGothic"/>
              </a:rPr>
              <a:t>RMAT comparison</a:t>
            </a:r>
            <a:r>
              <a:rPr lang="ko-KR" sz="1900" b="0" u="none" strike="noStrike">
                <a:solidFill>
                  <a:srgbClr val="0D685C"/>
                </a:solidFill>
                <a:effectLst/>
                <a:uFillTx/>
                <a:latin typeface="AppleGothic"/>
                <a:ea typeface="AppleGothic"/>
              </a:rPr>
              <a:t>이다</a:t>
            </a:r>
            <a:endParaRPr lang="en-US" sz="1900" b="0" u="none" strike="noStrike">
              <a:solidFill>
                <a:srgbClr val="000000"/>
              </a:solidFill>
              <a:effectLst/>
              <a:uFillTx/>
              <a:latin typeface="Arial"/>
            </a:endParaRPr>
          </a:p>
        </p:txBody>
      </p:sp>
      <p:graphicFrame>
        <p:nvGraphicFramePr>
          <p:cNvPr id="332" name="Table 0"/>
          <p:cNvGraphicFramePr/>
          <p:nvPr/>
        </p:nvGraphicFramePr>
        <p:xfrm>
          <a:off x="660240" y="2082960"/>
          <a:ext cx="10870920" cy="3314520"/>
        </p:xfrm>
        <a:graphic>
          <a:graphicData uri="http://schemas.openxmlformats.org/drawingml/2006/table">
            <a:tbl>
              <a:tblPr/>
              <a:tblGrid>
                <a:gridCol w="2500200"/>
                <a:gridCol w="2935080"/>
                <a:gridCol w="2935080"/>
                <a:gridCol w="2500200"/>
              </a:tblGrid>
              <a:tr h="495000">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Result</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Reported value</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600" b="1" u="none" strike="noStrike">
                          <a:solidFill>
                            <a:srgbClr val="0D685C"/>
                          </a:solidFill>
                          <a:effectLst/>
                          <a:uFillTx/>
                          <a:latin typeface="AppleGothic"/>
                          <a:ea typeface="AppleGothic"/>
                        </a:rPr>
                        <a:t>Exact context</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일반화 한계</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Largest relative scale</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4096x larger</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Vs LACC and FastSV on RMAT</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Hardware-independent law </a:t>
                      </a:r>
                      <a:r>
                        <a:rPr lang="ko-KR" sz="1550" b="0" u="none" strike="noStrike">
                          <a:solidFill>
                            <a:srgbClr val="173C37"/>
                          </a:solidFill>
                          <a:effectLst/>
                          <a:uFillTx/>
                          <a:latin typeface="AppleGothic"/>
                          <a:ea typeface="AppleGothic"/>
                        </a:rPr>
                        <a:t>아님</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Largest real graph HL</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3.443B vertices, 128.737B edges</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Table 2</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Prepared CC input</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CW success</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Only UniCon and PACC</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10-machine experiment</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다른 </a:t>
                      </a:r>
                      <a:r>
                        <a:rPr lang="en-US" sz="1550" b="0" u="none" strike="noStrike">
                          <a:solidFill>
                            <a:srgbClr val="173C37"/>
                          </a:solidFill>
                          <a:effectLst/>
                          <a:uFillTx/>
                          <a:latin typeface="AppleGothic"/>
                          <a:ea typeface="AppleGothic"/>
                        </a:rPr>
                        <a:t>implementation </a:t>
                      </a:r>
                      <a:r>
                        <a:rPr lang="ko-KR" sz="1550" b="0" u="none" strike="noStrike">
                          <a:solidFill>
                            <a:srgbClr val="173C37"/>
                          </a:solidFill>
                          <a:effectLst/>
                          <a:uFillTx/>
                          <a:latin typeface="AppleGothic"/>
                          <a:ea typeface="AppleGothic"/>
                        </a:rPr>
                        <a:t>조건</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PACC comparison</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PACC time / UniCon-opt time = 1.43</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Real-world set report</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143% faster</a:t>
                      </a:r>
                      <a:r>
                        <a:rPr lang="ko-KR" sz="1550" b="0" u="none" strike="noStrike">
                          <a:solidFill>
                            <a:srgbClr val="173C37"/>
                          </a:solidFill>
                          <a:effectLst/>
                          <a:uFillTx/>
                          <a:latin typeface="AppleGothic"/>
                          <a:ea typeface="AppleGothic"/>
                        </a:rPr>
                        <a:t>로 쓰지 않음</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bl>
          </a:graphicData>
        </a:graphic>
      </p:graphicFrame>
      <p:sp>
        <p:nvSpPr>
          <p:cNvPr id="333" name="Shape 2"/>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34" name="Text 3"/>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4096x</a:t>
            </a:r>
            <a:r>
              <a:rPr lang="ko-KR" sz="1750" b="1" u="none" strike="noStrike">
                <a:solidFill>
                  <a:srgbClr val="173C37"/>
                </a:solidFill>
                <a:effectLst/>
                <a:uFillTx/>
                <a:latin typeface="AppleGothic"/>
                <a:ea typeface="AppleGothic"/>
              </a:rPr>
              <a:t>는 </a:t>
            </a:r>
            <a:r>
              <a:rPr lang="en-US" sz="1750" b="1" u="none" strike="noStrike">
                <a:solidFill>
                  <a:srgbClr val="173C37"/>
                </a:solidFill>
                <a:effectLst/>
                <a:uFillTx/>
                <a:latin typeface="AppleGothic"/>
                <a:ea typeface="AppleGothic"/>
              </a:rPr>
              <a:t>graph size</a:t>
            </a:r>
            <a:r>
              <a:rPr lang="ko-KR" sz="1750" b="1" u="none" strike="noStrike">
                <a:solidFill>
                  <a:srgbClr val="173C37"/>
                </a:solidFill>
                <a:effectLst/>
                <a:uFillTx/>
                <a:latin typeface="AppleGothic"/>
                <a:ea typeface="AppleGothic"/>
              </a:rPr>
              <a:t>의 실험 비교이며 </a:t>
            </a:r>
            <a:r>
              <a:rPr lang="en-US" sz="1750" b="1" u="none" strike="noStrike">
                <a:solidFill>
                  <a:srgbClr val="173C37"/>
                </a:solidFill>
                <a:effectLst/>
                <a:uFillTx/>
                <a:latin typeface="AppleGothic"/>
                <a:ea typeface="AppleGothic"/>
              </a:rPr>
              <a:t>runtime </a:t>
            </a:r>
            <a:r>
              <a:rPr lang="ko-KR" sz="1750" b="1" u="none" strike="noStrike">
                <a:solidFill>
                  <a:srgbClr val="173C37"/>
                </a:solidFill>
                <a:effectLst/>
                <a:uFillTx/>
                <a:latin typeface="AppleGothic"/>
                <a:ea typeface="AppleGothic"/>
              </a:rPr>
              <a:t>배수나 </a:t>
            </a:r>
            <a:r>
              <a:rPr lang="en-US" sz="1750" b="1" u="none" strike="noStrike">
                <a:solidFill>
                  <a:srgbClr val="173C37"/>
                </a:solidFill>
                <a:effectLst/>
                <a:uFillTx/>
                <a:latin typeface="AppleGothic"/>
                <a:ea typeface="AppleGothic"/>
              </a:rPr>
              <a:t>theorem bound</a:t>
            </a:r>
            <a:r>
              <a:rPr lang="ko-KR" sz="1750" b="1" u="none" strike="noStrike">
                <a:solidFill>
                  <a:srgbClr val="173C37"/>
                </a:solidFill>
                <a:effectLst/>
                <a:uFillTx/>
                <a:latin typeface="AppleGothic"/>
                <a:ea typeface="AppleGothic"/>
              </a:rPr>
              <a:t>가 아니다</a:t>
            </a:r>
            <a:endParaRPr lang="en-US" sz="1750" b="0" u="none" strike="noStrike">
              <a:solidFill>
                <a:srgbClr val="000000"/>
              </a:solidFill>
              <a:effectLst/>
              <a:uFillTx/>
              <a:latin typeface="Arial"/>
            </a:endParaRPr>
          </a:p>
        </p:txBody>
      </p:sp>
      <p:sp>
        <p:nvSpPr>
          <p:cNvPr id="335" name="Shape 4"/>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36" name="Text 5"/>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unicon-paper pp. 12-13 and 17-18, Table 2 and Figs. 14-15</a:t>
            </a:r>
            <a:endParaRPr lang="en-US" sz="1050" b="0" u="none" strike="noStrike">
              <a:solidFill>
                <a:srgbClr val="000000"/>
              </a:solidFill>
              <a:effectLst/>
              <a:uFillTx/>
              <a:latin typeface="Arial"/>
            </a:endParaRPr>
          </a:p>
        </p:txBody>
      </p:sp>
      <p:sp>
        <p:nvSpPr>
          <p:cNvPr id="337" name="Text 6"/>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23</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38"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UniCon </a:t>
            </a:r>
            <a:r>
              <a:rPr lang="ko-KR" sz="3100" b="1" u="none" strike="noStrike">
                <a:solidFill>
                  <a:srgbClr val="173C37"/>
                </a:solidFill>
                <a:effectLst/>
                <a:uFillTx/>
                <a:latin typeface="AppleGothic"/>
                <a:ea typeface="AppleGothic"/>
              </a:rPr>
              <a:t>결과의 적용 한계</a:t>
            </a:r>
            <a:endParaRPr lang="en-US" sz="3100" b="0" u="none" strike="noStrike">
              <a:solidFill>
                <a:srgbClr val="000000"/>
              </a:solidFill>
              <a:effectLst/>
              <a:uFillTx/>
              <a:latin typeface="Arial"/>
            </a:endParaRPr>
          </a:p>
        </p:txBody>
      </p:sp>
      <p:sp>
        <p:nvSpPr>
          <p:cNvPr id="339"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900" b="0" u="none" strike="noStrike">
                <a:solidFill>
                  <a:srgbClr val="0D685C"/>
                </a:solidFill>
                <a:effectLst/>
                <a:uFillTx/>
                <a:latin typeface="AppleGothic"/>
                <a:ea typeface="AppleGothic"/>
              </a:rPr>
              <a:t>Correctness</a:t>
            </a:r>
            <a:r>
              <a:rPr lang="ko-KR" sz="1900" b="0" u="none" strike="noStrike">
                <a:solidFill>
                  <a:srgbClr val="0D685C"/>
                </a:solidFill>
                <a:effectLst/>
                <a:uFillTx/>
                <a:latin typeface="AppleGothic"/>
                <a:ea typeface="AppleGothic"/>
              </a:rPr>
              <a:t>와 </a:t>
            </a:r>
            <a:r>
              <a:rPr lang="en-US" sz="1900" b="0" u="none" strike="noStrike">
                <a:solidFill>
                  <a:srgbClr val="0D685C"/>
                </a:solidFill>
                <a:effectLst/>
                <a:uFillTx/>
                <a:latin typeface="AppleGothic"/>
                <a:ea typeface="AppleGothic"/>
              </a:rPr>
              <a:t>measured scalability</a:t>
            </a:r>
            <a:r>
              <a:rPr lang="ko-KR" sz="1900" b="0" u="none" strike="noStrike">
                <a:solidFill>
                  <a:srgbClr val="0D685C"/>
                </a:solidFill>
                <a:effectLst/>
                <a:uFillTx/>
                <a:latin typeface="AppleGothic"/>
                <a:ea typeface="AppleGothic"/>
              </a:rPr>
              <a:t>를 다른 </a:t>
            </a:r>
            <a:r>
              <a:rPr lang="en-US" sz="1900" b="0" u="none" strike="noStrike">
                <a:solidFill>
                  <a:srgbClr val="0D685C"/>
                </a:solidFill>
                <a:effectLst/>
                <a:uFillTx/>
                <a:latin typeface="AppleGothic"/>
                <a:ea typeface="AppleGothic"/>
              </a:rPr>
              <a:t>graph task</a:t>
            </a:r>
            <a:r>
              <a:rPr lang="ko-KR" sz="1900" b="0" u="none" strike="noStrike">
                <a:solidFill>
                  <a:srgbClr val="0D685C"/>
                </a:solidFill>
                <a:effectLst/>
                <a:uFillTx/>
                <a:latin typeface="AppleGothic"/>
                <a:ea typeface="AppleGothic"/>
              </a:rPr>
              <a:t>나 </a:t>
            </a:r>
            <a:r>
              <a:rPr lang="en-US" sz="1900" b="0" u="none" strike="noStrike">
                <a:solidFill>
                  <a:srgbClr val="0D685C"/>
                </a:solidFill>
                <a:effectLst/>
                <a:uFillTx/>
                <a:latin typeface="AppleGothic"/>
                <a:ea typeface="AppleGothic"/>
              </a:rPr>
              <a:t>system stack</a:t>
            </a:r>
            <a:r>
              <a:rPr lang="ko-KR" sz="1900" b="0" u="none" strike="noStrike">
                <a:solidFill>
                  <a:srgbClr val="0D685C"/>
                </a:solidFill>
                <a:effectLst/>
                <a:uFillTx/>
                <a:latin typeface="AppleGothic"/>
                <a:ea typeface="AppleGothic"/>
              </a:rPr>
              <a:t>으로 자동 확장하지 않는다</a:t>
            </a:r>
            <a:endParaRPr lang="en-US" sz="1900" b="0" u="none" strike="noStrike">
              <a:solidFill>
                <a:srgbClr val="000000"/>
              </a:solidFill>
              <a:effectLst/>
              <a:uFillTx/>
              <a:latin typeface="Arial"/>
            </a:endParaRPr>
          </a:p>
        </p:txBody>
      </p:sp>
      <p:sp>
        <p:nvSpPr>
          <p:cNvPr id="340" name="Text 2"/>
          <p:cNvSpPr/>
          <p:nvPr/>
        </p:nvSpPr>
        <p:spPr>
          <a:xfrm>
            <a:off x="838080" y="2171880"/>
            <a:ext cx="10693080" cy="685440"/>
          </a:xfrm>
          <a:prstGeom prst="rect">
            <a:avLst/>
          </a:prstGeom>
          <a:noFill/>
          <a:ln w="0">
            <a:noFill/>
          </a:ln>
        </p:spPr>
        <p:style>
          <a:lnRef idx="0"/>
          <a:fillRef idx="0"/>
          <a:effectRef idx="0"/>
          <a:fontRef idx="minor"/>
        </p:style>
        <p:txBody>
          <a:bodyPr lIns="0" tIns="0" rIns="0" bIns="0" anchor="ctr">
            <a:noAutofit/>
          </a:bodyPr>
          <a:p>
            <a:pPr marL="254160" indent="-254160" defTabSz="914400">
              <a:lnSpc>
                <a:spcPct val="125000"/>
              </a:lnSpc>
              <a:buClr>
                <a:srgbClr val="173C37"/>
              </a:buClr>
              <a:buFont typeface="Symbol" charset="2"/>
              <a:buChar char=""/>
            </a:pPr>
            <a:r>
              <a:rPr lang="en-US" sz="2000" b="0" u="none" strike="noStrike">
                <a:solidFill>
                  <a:srgbClr val="173C37"/>
                </a:solidFill>
                <a:effectLst/>
                <a:uFillTx/>
                <a:latin typeface="AppleGothic"/>
                <a:ea typeface="AppleGothic"/>
              </a:rPr>
              <a:t>Theorem 3</a:t>
            </a:r>
            <a:r>
              <a:rPr lang="ko-KR" sz="2000" b="0" u="none" strike="noStrike">
                <a:solidFill>
                  <a:srgbClr val="173C37"/>
                </a:solidFill>
                <a:effectLst/>
                <a:uFillTx/>
                <a:latin typeface="AppleGothic"/>
                <a:ea typeface="AppleGothic"/>
              </a:rPr>
              <a:t>은 </a:t>
            </a:r>
            <a:r>
              <a:rPr lang="en-US" sz="2000" b="0" u="none" strike="noStrike">
                <a:solidFill>
                  <a:srgbClr val="173C37"/>
                </a:solidFill>
                <a:effectLst/>
                <a:uFillTx/>
                <a:latin typeface="AppleGothic"/>
                <a:ea typeface="AppleGothic"/>
              </a:rPr>
              <a:t>expectation</a:t>
            </a:r>
            <a:r>
              <a:rPr lang="ko-KR" sz="2000" b="0" u="none" strike="noStrike">
                <a:solidFill>
                  <a:srgbClr val="173C37"/>
                </a:solidFill>
                <a:effectLst/>
                <a:uFillTx/>
                <a:latin typeface="AppleGothic"/>
                <a:ea typeface="AppleGothic"/>
              </a:rPr>
              <a:t>이며 </a:t>
            </a:r>
            <a:r>
              <a:rPr lang="en-US" sz="2000" b="0" u="none" strike="noStrike">
                <a:solidFill>
                  <a:srgbClr val="173C37"/>
                </a:solidFill>
                <a:effectLst/>
                <a:uFillTx/>
                <a:latin typeface="AppleGothic"/>
                <a:ea typeface="AppleGothic"/>
              </a:rPr>
              <a:t>reducer</a:t>
            </a:r>
            <a:r>
              <a:rPr lang="ko-KR" sz="2000" b="0" u="none" strike="noStrike">
                <a:solidFill>
                  <a:srgbClr val="173C37"/>
                </a:solidFill>
                <a:effectLst/>
                <a:uFillTx/>
                <a:latin typeface="AppleGothic"/>
                <a:ea typeface="AppleGothic"/>
              </a:rPr>
              <a:t>별 </a:t>
            </a:r>
            <a:r>
              <a:rPr lang="en-US" sz="2000" b="0" u="none" strike="noStrike">
                <a:solidFill>
                  <a:srgbClr val="173C37"/>
                </a:solidFill>
                <a:effectLst/>
                <a:uFillTx/>
                <a:latin typeface="AppleGothic"/>
                <a:ea typeface="AppleGothic"/>
              </a:rPr>
              <a:t>worst-case RAM </a:t>
            </a:r>
            <a:r>
              <a:rPr lang="ko-KR" sz="2000" b="0" u="none" strike="noStrike">
                <a:solidFill>
                  <a:srgbClr val="173C37"/>
                </a:solidFill>
                <a:effectLst/>
                <a:uFillTx/>
                <a:latin typeface="AppleGothic"/>
                <a:ea typeface="AppleGothic"/>
              </a:rPr>
              <a:t>또는 </a:t>
            </a:r>
            <a:r>
              <a:rPr lang="en-US" sz="2000" b="0" u="none" strike="noStrike">
                <a:solidFill>
                  <a:srgbClr val="173C37"/>
                </a:solidFill>
                <a:effectLst/>
                <a:uFillTx/>
                <a:latin typeface="AppleGothic"/>
                <a:ea typeface="AppleGothic"/>
              </a:rPr>
              <a:t>tail bound</a:t>
            </a:r>
            <a:r>
              <a:rPr lang="ko-KR" sz="2000" b="0" u="none" strike="noStrike">
                <a:solidFill>
                  <a:srgbClr val="173C37"/>
                </a:solidFill>
                <a:effectLst/>
                <a:uFillTx/>
                <a:latin typeface="AppleGothic"/>
                <a:ea typeface="AppleGothic"/>
              </a:rPr>
              <a:t>를 주지 않는다</a:t>
            </a:r>
            <a:r>
              <a:rPr lang="en-US" sz="2000" b="0" u="none" strike="noStrike">
                <a:solidFill>
                  <a:srgbClr val="173C37"/>
                </a:solidFill>
                <a:effectLst/>
                <a:uFillTx/>
                <a:latin typeface="AppleGothic"/>
                <a:ea typeface="AppleGothic"/>
              </a:rPr>
              <a:t>.</a:t>
            </a:r>
            <a:endParaRPr lang="en-US" sz="2000" b="0" u="none" strike="noStrike">
              <a:solidFill>
                <a:srgbClr val="000000"/>
              </a:solidFill>
              <a:effectLst/>
              <a:uFillTx/>
              <a:latin typeface="Arial"/>
            </a:endParaRPr>
          </a:p>
        </p:txBody>
      </p:sp>
      <p:sp>
        <p:nvSpPr>
          <p:cNvPr id="341" name="Shape 3"/>
          <p:cNvSpPr/>
          <p:nvPr/>
        </p:nvSpPr>
        <p:spPr>
          <a:xfrm>
            <a:off x="838080" y="2908080"/>
            <a:ext cx="1069344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42" name="Text 4"/>
          <p:cNvSpPr/>
          <p:nvPr/>
        </p:nvSpPr>
        <p:spPr>
          <a:xfrm>
            <a:off x="838080" y="2946240"/>
            <a:ext cx="10693080" cy="685440"/>
          </a:xfrm>
          <a:prstGeom prst="rect">
            <a:avLst/>
          </a:prstGeom>
          <a:noFill/>
          <a:ln w="0">
            <a:noFill/>
          </a:ln>
        </p:spPr>
        <p:style>
          <a:lnRef idx="0"/>
          <a:fillRef idx="0"/>
          <a:effectRef idx="0"/>
          <a:fontRef idx="minor"/>
        </p:style>
        <p:txBody>
          <a:bodyPr lIns="0" tIns="0" rIns="0" bIns="0" anchor="ctr">
            <a:noAutofit/>
          </a:bodyPr>
          <a:p>
            <a:pPr marL="254160" indent="-254160" defTabSz="914400">
              <a:lnSpc>
                <a:spcPct val="125000"/>
              </a:lnSpc>
              <a:buClr>
                <a:srgbClr val="173C37"/>
              </a:buClr>
              <a:buFont typeface="Symbol" charset="2"/>
              <a:buChar char=""/>
            </a:pPr>
            <a:r>
              <a:rPr lang="en-US" sz="2000" b="0" u="none" strike="noStrike">
                <a:solidFill>
                  <a:srgbClr val="173C37"/>
                </a:solidFill>
                <a:effectLst/>
                <a:uFillTx/>
                <a:latin typeface="AppleGothic"/>
                <a:ea typeface="AppleGothic"/>
              </a:rPr>
              <a:t>Record count </a:t>
            </a:r>
            <a:r>
              <a:rPr lang="ko-KR" sz="2000" b="0" u="none" strike="noStrike">
                <a:solidFill>
                  <a:srgbClr val="173C37"/>
                </a:solidFill>
                <a:effectLst/>
                <a:uFillTx/>
                <a:latin typeface="AppleGothic"/>
                <a:ea typeface="AppleGothic"/>
              </a:rPr>
              <a:t>감소는 </a:t>
            </a:r>
            <a:r>
              <a:rPr lang="en-US" sz="2000" b="0" u="none" strike="noStrike">
                <a:solidFill>
                  <a:srgbClr val="173C37"/>
                </a:solidFill>
                <a:effectLst/>
                <a:uFillTx/>
                <a:latin typeface="AppleGothic"/>
                <a:ea typeface="AppleGothic"/>
              </a:rPr>
              <a:t>compressed bytes, sort spill, network traffic</a:t>
            </a:r>
            <a:r>
              <a:rPr lang="ko-KR" sz="2000" b="0" u="none" strike="noStrike">
                <a:solidFill>
                  <a:srgbClr val="173C37"/>
                </a:solidFill>
                <a:effectLst/>
                <a:uFillTx/>
                <a:latin typeface="AppleGothic"/>
                <a:ea typeface="AppleGothic"/>
              </a:rPr>
              <a:t>의 같은 비율 감소를 보장하지 않는다</a:t>
            </a:r>
            <a:r>
              <a:rPr lang="en-US" sz="2000" b="0" u="none" strike="noStrike">
                <a:solidFill>
                  <a:srgbClr val="173C37"/>
                </a:solidFill>
                <a:effectLst/>
                <a:uFillTx/>
                <a:latin typeface="AppleGothic"/>
                <a:ea typeface="AppleGothic"/>
              </a:rPr>
              <a:t>.</a:t>
            </a:r>
            <a:endParaRPr lang="en-US" sz="2000" b="0" u="none" strike="noStrike">
              <a:solidFill>
                <a:srgbClr val="000000"/>
              </a:solidFill>
              <a:effectLst/>
              <a:uFillTx/>
              <a:latin typeface="Arial"/>
            </a:endParaRPr>
          </a:p>
        </p:txBody>
      </p:sp>
      <p:sp>
        <p:nvSpPr>
          <p:cNvPr id="343" name="Shape 5"/>
          <p:cNvSpPr/>
          <p:nvPr/>
        </p:nvSpPr>
        <p:spPr>
          <a:xfrm>
            <a:off x="838080" y="3682800"/>
            <a:ext cx="1069344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44" name="Text 6"/>
          <p:cNvSpPr/>
          <p:nvPr/>
        </p:nvSpPr>
        <p:spPr>
          <a:xfrm>
            <a:off x="838080" y="3720960"/>
            <a:ext cx="10693080" cy="685440"/>
          </a:xfrm>
          <a:prstGeom prst="rect">
            <a:avLst/>
          </a:prstGeom>
          <a:noFill/>
          <a:ln w="0">
            <a:noFill/>
          </a:ln>
        </p:spPr>
        <p:style>
          <a:lnRef idx="0"/>
          <a:fillRef idx="0"/>
          <a:effectRef idx="0"/>
          <a:fontRef idx="minor"/>
        </p:style>
        <p:txBody>
          <a:bodyPr lIns="0" tIns="0" rIns="0" bIns="0" anchor="ctr">
            <a:noAutofit/>
          </a:bodyPr>
          <a:p>
            <a:pPr marL="254160" indent="-254160" defTabSz="914400">
              <a:lnSpc>
                <a:spcPct val="125000"/>
              </a:lnSpc>
              <a:buClr>
                <a:srgbClr val="173C37"/>
              </a:buClr>
              <a:buFont typeface="Symbol" charset="2"/>
              <a:buChar char=""/>
            </a:pPr>
            <a:r>
              <a:rPr lang="en-US" sz="2000" b="0" u="none" strike="noStrike">
                <a:solidFill>
                  <a:srgbClr val="173C37"/>
                </a:solidFill>
                <a:effectLst/>
                <a:uFillTx/>
                <a:latin typeface="AppleGothic"/>
                <a:ea typeface="AppleGothic"/>
              </a:rPr>
              <a:t>Tau</a:t>
            </a:r>
            <a:r>
              <a:rPr lang="ko-KR" sz="2000" b="0" u="none" strike="noStrike">
                <a:solidFill>
                  <a:srgbClr val="173C37"/>
                </a:solidFill>
                <a:effectLst/>
                <a:uFillTx/>
                <a:latin typeface="AppleGothic"/>
                <a:ea typeface="AppleGothic"/>
              </a:rPr>
              <a:t>와 </a:t>
            </a:r>
            <a:r>
              <a:rPr lang="en-US" sz="2000" b="0" u="none" strike="noStrike">
                <a:solidFill>
                  <a:srgbClr val="173C37"/>
                </a:solidFill>
                <a:effectLst/>
                <a:uFillTx/>
                <a:latin typeface="AppleGothic"/>
                <a:ea typeface="AppleGothic"/>
              </a:rPr>
              <a:t>rho</a:t>
            </a:r>
            <a:r>
              <a:rPr lang="ko-KR" sz="2000" b="0" u="none" strike="noStrike">
                <a:solidFill>
                  <a:srgbClr val="173C37"/>
                </a:solidFill>
                <a:effectLst/>
                <a:uFillTx/>
                <a:latin typeface="AppleGothic"/>
                <a:ea typeface="AppleGothic"/>
              </a:rPr>
              <a:t>는 </a:t>
            </a:r>
            <a:r>
              <a:rPr lang="en-US" sz="2000" b="0" u="none" strike="noStrike">
                <a:solidFill>
                  <a:srgbClr val="173C37"/>
                </a:solidFill>
                <a:effectLst/>
                <a:uFillTx/>
                <a:latin typeface="AppleGothic"/>
                <a:ea typeface="AppleGothic"/>
              </a:rPr>
              <a:t>hardware</a:t>
            </a:r>
            <a:r>
              <a:rPr lang="ko-KR" sz="2000" b="0" u="none" strike="noStrike">
                <a:solidFill>
                  <a:srgbClr val="173C37"/>
                </a:solidFill>
                <a:effectLst/>
                <a:uFillTx/>
                <a:latin typeface="AppleGothic"/>
                <a:ea typeface="AppleGothic"/>
              </a:rPr>
              <a:t>와 </a:t>
            </a:r>
            <a:r>
              <a:rPr lang="en-US" sz="2000" b="0" u="none" strike="noStrike">
                <a:solidFill>
                  <a:srgbClr val="173C37"/>
                </a:solidFill>
                <a:effectLst/>
                <a:uFillTx/>
                <a:latin typeface="AppleGothic"/>
                <a:ea typeface="AppleGothic"/>
              </a:rPr>
              <a:t>dataset</a:t>
            </a:r>
            <a:r>
              <a:rPr lang="ko-KR" sz="2000" b="0" u="none" strike="noStrike">
                <a:solidFill>
                  <a:srgbClr val="173C37"/>
                </a:solidFill>
                <a:effectLst/>
                <a:uFillTx/>
                <a:latin typeface="AppleGothic"/>
                <a:ea typeface="AppleGothic"/>
              </a:rPr>
              <a:t>에 따라 조정해야 한다</a:t>
            </a:r>
            <a:r>
              <a:rPr lang="en-US" sz="2000" b="0" u="none" strike="noStrike">
                <a:solidFill>
                  <a:srgbClr val="173C37"/>
                </a:solidFill>
                <a:effectLst/>
                <a:uFillTx/>
                <a:latin typeface="AppleGothic"/>
                <a:ea typeface="AppleGothic"/>
              </a:rPr>
              <a:t>.</a:t>
            </a:r>
            <a:endParaRPr lang="en-US" sz="2000" b="0" u="none" strike="noStrike">
              <a:solidFill>
                <a:srgbClr val="000000"/>
              </a:solidFill>
              <a:effectLst/>
              <a:uFillTx/>
              <a:latin typeface="Arial"/>
            </a:endParaRPr>
          </a:p>
        </p:txBody>
      </p:sp>
      <p:sp>
        <p:nvSpPr>
          <p:cNvPr id="345" name="Shape 7"/>
          <p:cNvSpPr/>
          <p:nvPr/>
        </p:nvSpPr>
        <p:spPr>
          <a:xfrm>
            <a:off x="838080" y="4457520"/>
            <a:ext cx="1069344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46" name="Text 8"/>
          <p:cNvSpPr/>
          <p:nvPr/>
        </p:nvSpPr>
        <p:spPr>
          <a:xfrm>
            <a:off x="838080" y="4495680"/>
            <a:ext cx="10693080" cy="685440"/>
          </a:xfrm>
          <a:prstGeom prst="rect">
            <a:avLst/>
          </a:prstGeom>
          <a:noFill/>
          <a:ln w="0">
            <a:noFill/>
          </a:ln>
        </p:spPr>
        <p:style>
          <a:lnRef idx="0"/>
          <a:fillRef idx="0"/>
          <a:effectRef idx="0"/>
          <a:fontRef idx="minor"/>
        </p:style>
        <p:txBody>
          <a:bodyPr lIns="0" tIns="0" rIns="0" bIns="0" anchor="ctr">
            <a:noAutofit/>
          </a:bodyPr>
          <a:p>
            <a:pPr marL="254160" indent="-254160" defTabSz="914400">
              <a:lnSpc>
                <a:spcPct val="125000"/>
              </a:lnSpc>
              <a:buClr>
                <a:srgbClr val="173C37"/>
              </a:buClr>
              <a:buFont typeface="Symbol" charset="2"/>
              <a:buChar char=""/>
            </a:pPr>
            <a:r>
              <a:rPr lang="en-US" sz="2000" b="0" u="none" strike="noStrike">
                <a:solidFill>
                  <a:srgbClr val="173C37"/>
                </a:solidFill>
                <a:effectLst/>
                <a:uFillTx/>
                <a:latin typeface="AppleGothic"/>
                <a:ea typeface="AppleGothic"/>
              </a:rPr>
              <a:t>2022</a:t>
            </a:r>
            <a:r>
              <a:rPr lang="ko-KR" sz="2000" b="0" u="none" strike="noStrike">
                <a:solidFill>
                  <a:srgbClr val="173C37"/>
                </a:solidFill>
                <a:effectLst/>
                <a:uFillTx/>
                <a:latin typeface="AppleGothic"/>
                <a:ea typeface="AppleGothic"/>
              </a:rPr>
              <a:t>년 </a:t>
            </a:r>
            <a:r>
              <a:rPr lang="en-US" sz="2000" b="0" u="none" strike="noStrike">
                <a:solidFill>
                  <a:srgbClr val="173C37"/>
                </a:solidFill>
                <a:effectLst/>
                <a:uFillTx/>
                <a:latin typeface="AppleGothic"/>
                <a:ea typeface="AppleGothic"/>
              </a:rPr>
              <a:t>CC </a:t>
            </a:r>
            <a:r>
              <a:rPr lang="ko-KR" sz="2000" b="0" u="none" strike="noStrike">
                <a:solidFill>
                  <a:srgbClr val="173C37"/>
                </a:solidFill>
                <a:effectLst/>
                <a:uFillTx/>
                <a:latin typeface="AppleGothic"/>
                <a:ea typeface="AppleGothic"/>
              </a:rPr>
              <a:t>결과를 </a:t>
            </a:r>
            <a:r>
              <a:rPr lang="en-US" sz="2000" b="0" u="none" strike="noStrike">
                <a:solidFill>
                  <a:srgbClr val="173C37"/>
                </a:solidFill>
                <a:effectLst/>
                <a:uFillTx/>
                <a:latin typeface="AppleGothic"/>
                <a:ea typeface="AppleGothic"/>
              </a:rPr>
              <a:t>triangle, shortest path, arbitrary graph processing</a:t>
            </a:r>
            <a:r>
              <a:rPr lang="ko-KR" sz="2000" b="0" u="none" strike="noStrike">
                <a:solidFill>
                  <a:srgbClr val="173C37"/>
                </a:solidFill>
                <a:effectLst/>
                <a:uFillTx/>
                <a:latin typeface="AppleGothic"/>
                <a:ea typeface="AppleGothic"/>
              </a:rPr>
              <a:t>에 적용할 근거는 없다</a:t>
            </a:r>
            <a:r>
              <a:rPr lang="en-US" sz="2000" b="0" u="none" strike="noStrike">
                <a:solidFill>
                  <a:srgbClr val="173C37"/>
                </a:solidFill>
                <a:effectLst/>
                <a:uFillTx/>
                <a:latin typeface="AppleGothic"/>
                <a:ea typeface="AppleGothic"/>
              </a:rPr>
              <a:t>.</a:t>
            </a:r>
            <a:endParaRPr lang="en-US" sz="2000" b="0" u="none" strike="noStrike">
              <a:solidFill>
                <a:srgbClr val="000000"/>
              </a:solidFill>
              <a:effectLst/>
              <a:uFillTx/>
              <a:latin typeface="Arial"/>
            </a:endParaRPr>
          </a:p>
        </p:txBody>
      </p:sp>
      <p:sp>
        <p:nvSpPr>
          <p:cNvPr id="347" name="Shape 9"/>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48" name="Text 10"/>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UniCon</a:t>
            </a:r>
            <a:r>
              <a:rPr lang="ko-KR" sz="1750" b="1" u="none" strike="noStrike">
                <a:solidFill>
                  <a:srgbClr val="173C37"/>
                </a:solidFill>
                <a:effectLst/>
                <a:uFillTx/>
                <a:latin typeface="AppleGothic"/>
                <a:ea typeface="AppleGothic"/>
              </a:rPr>
              <a:t>은 </a:t>
            </a:r>
            <a:r>
              <a:rPr lang="en-US" sz="1750" b="1" u="none" strike="noStrike">
                <a:solidFill>
                  <a:srgbClr val="173C37"/>
                </a:solidFill>
                <a:effectLst/>
                <a:uFillTx/>
                <a:latin typeface="AppleGothic"/>
                <a:ea typeface="AppleGothic"/>
              </a:rPr>
              <a:t>CC </a:t>
            </a:r>
            <a:r>
              <a:rPr lang="ko-KR" sz="1750" b="1" u="none" strike="noStrike">
                <a:solidFill>
                  <a:srgbClr val="173C37"/>
                </a:solidFill>
                <a:effectLst/>
                <a:uFillTx/>
                <a:latin typeface="AppleGothic"/>
                <a:ea typeface="AppleGothic"/>
              </a:rPr>
              <a:t>전용이며 </a:t>
            </a:r>
            <a:r>
              <a:rPr lang="en-US" sz="1750" b="1" u="none" strike="noStrike">
                <a:solidFill>
                  <a:srgbClr val="173C37"/>
                </a:solidFill>
                <a:effectLst/>
                <a:uFillTx/>
                <a:latin typeface="AppleGothic"/>
                <a:ea typeface="AppleGothic"/>
              </a:rPr>
              <a:t>system condition</a:t>
            </a:r>
            <a:r>
              <a:rPr lang="ko-KR" sz="1750" b="1" u="none" strike="noStrike">
                <a:solidFill>
                  <a:srgbClr val="173C37"/>
                </a:solidFill>
                <a:effectLst/>
                <a:uFillTx/>
                <a:latin typeface="AppleGothic"/>
                <a:ea typeface="AppleGothic"/>
              </a:rPr>
              <a:t>이 바뀌면 성능을 다시 측정해야 한다</a:t>
            </a:r>
            <a:endParaRPr lang="en-US" sz="1750" b="0" u="none" strike="noStrike">
              <a:solidFill>
                <a:srgbClr val="000000"/>
              </a:solidFill>
              <a:effectLst/>
              <a:uFillTx/>
              <a:latin typeface="Arial"/>
            </a:endParaRPr>
          </a:p>
        </p:txBody>
      </p:sp>
      <p:sp>
        <p:nvSpPr>
          <p:cNvPr id="349" name="Shape 11"/>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50" name="Text 12"/>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unicon-paper pp. 11-19</a:t>
            </a:r>
            <a:endParaRPr lang="en-US" sz="1050" b="0" u="none" strike="noStrike">
              <a:solidFill>
                <a:srgbClr val="000000"/>
              </a:solidFill>
              <a:effectLst/>
              <a:uFillTx/>
              <a:latin typeface="Arial"/>
            </a:endParaRPr>
          </a:p>
        </p:txBody>
      </p:sp>
      <p:sp>
        <p:nvSpPr>
          <p:cNvPr id="351" name="Text 13"/>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24</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52"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3100" b="1" u="none" strike="noStrike">
                <a:solidFill>
                  <a:srgbClr val="173C37"/>
                </a:solidFill>
                <a:effectLst/>
                <a:uFillTx/>
                <a:latin typeface="AppleGothic"/>
                <a:ea typeface="AppleGothic"/>
              </a:rPr>
              <a:t>UniCon</a:t>
            </a:r>
            <a:r>
              <a:rPr lang="ko-KR" sz="3100" b="1" u="none" strike="noStrike">
                <a:solidFill>
                  <a:srgbClr val="173C37"/>
                </a:solidFill>
                <a:effectLst/>
                <a:uFillTx/>
                <a:latin typeface="AppleGothic"/>
                <a:ea typeface="AppleGothic"/>
              </a:rPr>
              <a:t>의 기여를 이루는 네 요소</a:t>
            </a:r>
            <a:endParaRPr lang="en-US" sz="3100" b="0" u="none" strike="noStrike">
              <a:solidFill>
                <a:srgbClr val="000000"/>
              </a:solidFill>
              <a:effectLst/>
              <a:uFillTx/>
              <a:latin typeface="Arial"/>
            </a:endParaRPr>
          </a:p>
        </p:txBody>
      </p:sp>
      <p:sp>
        <p:nvSpPr>
          <p:cNvPr id="353"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900" b="0" u="none" strike="noStrike">
                <a:solidFill>
                  <a:srgbClr val="0D685C"/>
                </a:solidFill>
                <a:effectLst/>
                <a:uFillTx/>
                <a:latin typeface="AppleGothic"/>
                <a:ea typeface="AppleGothic"/>
              </a:rPr>
              <a:t>한 요소만 떼어 설명하면 </a:t>
            </a:r>
            <a:r>
              <a:rPr lang="en-US" sz="1900" b="0" u="none" strike="noStrike">
                <a:solidFill>
                  <a:srgbClr val="0D685C"/>
                </a:solidFill>
                <a:effectLst/>
                <a:uFillTx/>
                <a:latin typeface="AppleGothic"/>
                <a:ea typeface="AppleGothic"/>
              </a:rPr>
              <a:t>correctness, I/O reduction, worker memory</a:t>
            </a:r>
            <a:r>
              <a:rPr lang="ko-KR" sz="1900" b="0" u="none" strike="noStrike">
                <a:solidFill>
                  <a:srgbClr val="0D685C"/>
                </a:solidFill>
                <a:effectLst/>
                <a:uFillTx/>
                <a:latin typeface="AppleGothic"/>
                <a:ea typeface="AppleGothic"/>
              </a:rPr>
              <a:t>의 연결이 사라진다</a:t>
            </a:r>
            <a:endParaRPr lang="en-US" sz="1900" b="0" u="none" strike="noStrike">
              <a:solidFill>
                <a:srgbClr val="000000"/>
              </a:solidFill>
              <a:effectLst/>
              <a:uFillTx/>
              <a:latin typeface="Arial"/>
            </a:endParaRPr>
          </a:p>
        </p:txBody>
      </p:sp>
      <p:sp>
        <p:nvSpPr>
          <p:cNvPr id="354" name="Text 2"/>
          <p:cNvSpPr/>
          <p:nvPr/>
        </p:nvSpPr>
        <p:spPr>
          <a:xfrm>
            <a:off x="660240" y="2108160"/>
            <a:ext cx="571320" cy="66312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01</a:t>
            </a:r>
            <a:endParaRPr lang="en-US" sz="2200" b="0" u="none" strike="noStrike">
              <a:solidFill>
                <a:srgbClr val="000000"/>
              </a:solidFill>
              <a:effectLst/>
              <a:uFillTx/>
              <a:latin typeface="Arial"/>
            </a:endParaRPr>
          </a:p>
        </p:txBody>
      </p:sp>
      <p:sp>
        <p:nvSpPr>
          <p:cNvPr id="355" name="Text 3"/>
          <p:cNvSpPr/>
          <p:nvPr/>
        </p:nvSpPr>
        <p:spPr>
          <a:xfrm>
            <a:off x="1397160" y="2108160"/>
            <a:ext cx="2603160" cy="66312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Unified star</a:t>
            </a:r>
            <a:endParaRPr lang="en-US" sz="1900" b="0" u="none" strike="noStrike">
              <a:solidFill>
                <a:srgbClr val="000000"/>
              </a:solidFill>
              <a:effectLst/>
              <a:uFillTx/>
              <a:latin typeface="Arial"/>
            </a:endParaRPr>
          </a:p>
        </p:txBody>
      </p:sp>
      <p:sp>
        <p:nvSpPr>
          <p:cNvPr id="356" name="Text 4"/>
          <p:cNvSpPr/>
          <p:nvPr/>
        </p:nvSpPr>
        <p:spPr>
          <a:xfrm>
            <a:off x="4152960" y="2108160"/>
            <a:ext cx="7378200" cy="66312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Overlapping G_i</a:t>
            </a:r>
            <a:r>
              <a:rPr lang="ko-KR" sz="1650" b="0" u="none" strike="noStrike">
                <a:solidFill>
                  <a:srgbClr val="173C37"/>
                </a:solidFill>
                <a:effectLst/>
                <a:uFillTx/>
                <a:latin typeface="AppleGothic"/>
                <a:ea typeface="AppleGothic"/>
              </a:rPr>
              <a:t>에서 </a:t>
            </a:r>
            <a:r>
              <a:rPr lang="en-US" sz="1650" b="0" u="none" strike="noStrike">
                <a:solidFill>
                  <a:srgbClr val="173C37"/>
                </a:solidFill>
                <a:effectLst/>
                <a:uFillTx/>
                <a:latin typeface="AppleGothic"/>
                <a:ea typeface="AppleGothic"/>
              </a:rPr>
              <a:t>local CC </a:t>
            </a:r>
            <a:r>
              <a:rPr lang="ko-KR" sz="1650" b="0" u="none" strike="noStrike">
                <a:solidFill>
                  <a:srgbClr val="173C37"/>
                </a:solidFill>
                <a:effectLst/>
                <a:uFillTx/>
                <a:latin typeface="AppleGothic"/>
                <a:ea typeface="AppleGothic"/>
              </a:rPr>
              <a:t>계산</a:t>
            </a:r>
            <a:endParaRPr lang="en-US" sz="1650" b="0" u="none" strike="noStrike">
              <a:solidFill>
                <a:srgbClr val="000000"/>
              </a:solidFill>
              <a:effectLst/>
              <a:uFillTx/>
              <a:latin typeface="Arial"/>
            </a:endParaRPr>
          </a:p>
        </p:txBody>
      </p:sp>
      <p:sp>
        <p:nvSpPr>
          <p:cNvPr id="357" name="Shape 5"/>
          <p:cNvSpPr/>
          <p:nvPr/>
        </p:nvSpPr>
        <p:spPr>
          <a:xfrm>
            <a:off x="1396800" y="278424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58" name="Shape 6"/>
          <p:cNvSpPr/>
          <p:nvPr/>
        </p:nvSpPr>
        <p:spPr>
          <a:xfrm>
            <a:off x="851040" y="279720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359" name="Text 7"/>
          <p:cNvSpPr/>
          <p:nvPr/>
        </p:nvSpPr>
        <p:spPr>
          <a:xfrm>
            <a:off x="660240" y="2975040"/>
            <a:ext cx="571320" cy="66312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02</a:t>
            </a:r>
            <a:endParaRPr lang="en-US" sz="2200" b="0" u="none" strike="noStrike">
              <a:solidFill>
                <a:srgbClr val="000000"/>
              </a:solidFill>
              <a:effectLst/>
              <a:uFillTx/>
              <a:latin typeface="Arial"/>
            </a:endParaRPr>
          </a:p>
        </p:txBody>
      </p:sp>
      <p:sp>
        <p:nvSpPr>
          <p:cNvPr id="360" name="Text 8"/>
          <p:cNvSpPr/>
          <p:nvPr/>
        </p:nvSpPr>
        <p:spPr>
          <a:xfrm>
            <a:off x="1397160" y="2975040"/>
            <a:ext cx="2603160" cy="66312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Intact exclusion</a:t>
            </a:r>
            <a:endParaRPr lang="en-US" sz="1900" b="0" u="none" strike="noStrike">
              <a:solidFill>
                <a:srgbClr val="000000"/>
              </a:solidFill>
              <a:effectLst/>
              <a:uFillTx/>
              <a:latin typeface="Arial"/>
            </a:endParaRPr>
          </a:p>
        </p:txBody>
      </p:sp>
      <p:sp>
        <p:nvSpPr>
          <p:cNvPr id="361" name="Text 9"/>
          <p:cNvSpPr/>
          <p:nvPr/>
        </p:nvSpPr>
        <p:spPr>
          <a:xfrm>
            <a:off x="4152960" y="2975040"/>
            <a:ext cx="7378200" cy="66312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Stable cross-edge duplicate</a:t>
            </a:r>
            <a:r>
              <a:rPr lang="ko-KR" sz="1650" b="0" u="none" strike="noStrike">
                <a:solidFill>
                  <a:srgbClr val="173C37"/>
                </a:solidFill>
                <a:effectLst/>
                <a:uFillTx/>
                <a:latin typeface="AppleGothic"/>
                <a:ea typeface="AppleGothic"/>
              </a:rPr>
              <a:t>를 다음 </a:t>
            </a:r>
            <a:r>
              <a:rPr lang="en-US" sz="1650" b="0" u="none" strike="noStrike">
                <a:solidFill>
                  <a:srgbClr val="173C37"/>
                </a:solidFill>
                <a:effectLst/>
                <a:uFillTx/>
                <a:latin typeface="AppleGothic"/>
                <a:ea typeface="AppleGothic"/>
              </a:rPr>
              <a:t>round</a:t>
            </a:r>
            <a:r>
              <a:rPr lang="ko-KR" sz="1650" b="0" u="none" strike="noStrike">
                <a:solidFill>
                  <a:srgbClr val="173C37"/>
                </a:solidFill>
                <a:effectLst/>
                <a:uFillTx/>
                <a:latin typeface="AppleGothic"/>
                <a:ea typeface="AppleGothic"/>
              </a:rPr>
              <a:t>에서 생략</a:t>
            </a:r>
            <a:endParaRPr lang="en-US" sz="1650" b="0" u="none" strike="noStrike">
              <a:solidFill>
                <a:srgbClr val="000000"/>
              </a:solidFill>
              <a:effectLst/>
              <a:uFillTx/>
              <a:latin typeface="Arial"/>
            </a:endParaRPr>
          </a:p>
        </p:txBody>
      </p:sp>
      <p:sp>
        <p:nvSpPr>
          <p:cNvPr id="362" name="Shape 10"/>
          <p:cNvSpPr/>
          <p:nvPr/>
        </p:nvSpPr>
        <p:spPr>
          <a:xfrm>
            <a:off x="1396800" y="365112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63" name="Shape 11"/>
          <p:cNvSpPr/>
          <p:nvPr/>
        </p:nvSpPr>
        <p:spPr>
          <a:xfrm>
            <a:off x="851040" y="366408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364" name="Text 12"/>
          <p:cNvSpPr/>
          <p:nvPr/>
        </p:nvSpPr>
        <p:spPr>
          <a:xfrm>
            <a:off x="660240" y="3841920"/>
            <a:ext cx="571320" cy="66312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03</a:t>
            </a:r>
            <a:endParaRPr lang="en-US" sz="2200" b="0" u="none" strike="noStrike">
              <a:solidFill>
                <a:srgbClr val="000000"/>
              </a:solidFill>
              <a:effectLst/>
              <a:uFillTx/>
              <a:latin typeface="Arial"/>
            </a:endParaRPr>
          </a:p>
        </p:txBody>
      </p:sp>
      <p:sp>
        <p:nvSpPr>
          <p:cNvPr id="365" name="Text 13"/>
          <p:cNvSpPr/>
          <p:nvPr/>
        </p:nvSpPr>
        <p:spPr>
          <a:xfrm>
            <a:off x="1397160" y="3841920"/>
            <a:ext cx="2603160" cy="66312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Recoverable filtering</a:t>
            </a:r>
            <a:endParaRPr lang="en-US" sz="1900" b="0" u="none" strike="noStrike">
              <a:solidFill>
                <a:srgbClr val="000000"/>
              </a:solidFill>
              <a:effectLst/>
              <a:uFillTx/>
              <a:latin typeface="Arial"/>
            </a:endParaRPr>
          </a:p>
        </p:txBody>
      </p:sp>
      <p:sp>
        <p:nvSpPr>
          <p:cNvPr id="366" name="Text 14"/>
          <p:cNvSpPr/>
          <p:nvPr/>
        </p:nvSpPr>
        <p:spPr>
          <a:xfrm>
            <a:off x="4152960" y="3841920"/>
            <a:ext cx="7378200" cy="66312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Case 1/2</a:t>
            </a:r>
            <a:r>
              <a:rPr lang="ko-KR" sz="1650" b="0" u="none" strike="noStrike">
                <a:solidFill>
                  <a:srgbClr val="173C37"/>
                </a:solidFill>
                <a:effectLst/>
                <a:uFillTx/>
                <a:latin typeface="AppleGothic"/>
                <a:ea typeface="AppleGothic"/>
              </a:rPr>
              <a:t>는 </a:t>
            </a:r>
            <a:r>
              <a:rPr lang="en-US" sz="1650" b="0" u="none" strike="noStrike">
                <a:solidFill>
                  <a:srgbClr val="173C37"/>
                </a:solidFill>
                <a:effectLst/>
                <a:uFillTx/>
                <a:latin typeface="AppleGothic"/>
                <a:ea typeface="AppleGothic"/>
              </a:rPr>
              <a:t>F</a:t>
            </a:r>
            <a:r>
              <a:rPr lang="ko-KR" sz="1650" b="0" u="none" strike="noStrike">
                <a:solidFill>
                  <a:srgbClr val="173C37"/>
                </a:solidFill>
                <a:effectLst/>
                <a:uFillTx/>
                <a:latin typeface="AppleGothic"/>
                <a:ea typeface="AppleGothic"/>
              </a:rPr>
              <a:t>에 보관</a:t>
            </a:r>
            <a:r>
              <a:rPr lang="en-US" sz="1650" b="0" u="none" strike="noStrike">
                <a:solidFill>
                  <a:srgbClr val="173C37"/>
                </a:solidFill>
                <a:effectLst/>
                <a:uFillTx/>
                <a:latin typeface="AppleGothic"/>
                <a:ea typeface="AppleGothic"/>
              </a:rPr>
              <a:t>, case 3</a:t>
            </a:r>
            <a:r>
              <a:rPr lang="ko-KR" sz="1650" b="0" u="none" strike="noStrike">
                <a:solidFill>
                  <a:srgbClr val="173C37"/>
                </a:solidFill>
                <a:effectLst/>
                <a:uFillTx/>
                <a:latin typeface="AppleGothic"/>
                <a:ea typeface="AppleGothic"/>
              </a:rPr>
              <a:t>만 </a:t>
            </a:r>
            <a:r>
              <a:rPr lang="en-US" sz="1650" b="0" u="none" strike="noStrike">
                <a:solidFill>
                  <a:srgbClr val="173C37"/>
                </a:solidFill>
                <a:effectLst/>
                <a:uFillTx/>
                <a:latin typeface="AppleGothic"/>
                <a:ea typeface="AppleGothic"/>
              </a:rPr>
              <a:t>discard</a:t>
            </a:r>
            <a:endParaRPr lang="en-US" sz="1650" b="0" u="none" strike="noStrike">
              <a:solidFill>
                <a:srgbClr val="000000"/>
              </a:solidFill>
              <a:effectLst/>
              <a:uFillTx/>
              <a:latin typeface="Arial"/>
            </a:endParaRPr>
          </a:p>
        </p:txBody>
      </p:sp>
      <p:sp>
        <p:nvSpPr>
          <p:cNvPr id="367" name="Shape 15"/>
          <p:cNvSpPr/>
          <p:nvPr/>
        </p:nvSpPr>
        <p:spPr>
          <a:xfrm>
            <a:off x="1396800" y="451800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68" name="Shape 16"/>
          <p:cNvSpPr/>
          <p:nvPr/>
        </p:nvSpPr>
        <p:spPr>
          <a:xfrm>
            <a:off x="851040" y="4530600"/>
            <a:ext cx="190080" cy="151920"/>
          </a:xfrm>
          <a:prstGeom prst="downArrow">
            <a:avLst>
              <a:gd name="adj1" fmla="val 50000"/>
              <a:gd name="adj2" fmla="val 50000"/>
            </a:avLst>
          </a:prstGeom>
          <a:solidFill>
            <a:srgbClr val="0D685C"/>
          </a:solidFill>
          <a:ln w="12700">
            <a:solidFill>
              <a:srgbClr val="0D685C">
                <a:alpha val="0"/>
              </a:srgbClr>
            </a:solidFill>
            <a:round/>
          </a:ln>
        </p:spPr>
        <p:style>
          <a:lnRef idx="0"/>
          <a:fillRef idx="0"/>
          <a:effectRef idx="0"/>
          <a:fontRef idx="minor"/>
        </p:style>
        <p:txBody>
          <a:bodyPr lIns="90000" tIns="45000" rIns="90000" bIns="45000" anchor="t">
            <a:noAutofit/>
          </a:bodyPr>
          <a:p>
            <a:pPr/>
            <a:endParaRPr lang="en-US" sz="1800" b="0" u="none" strike="noStrike">
              <a:solidFill>
                <a:schemeClr val="dk1"/>
              </a:solidFill>
              <a:effectLst/>
              <a:uFillTx/>
              <a:latin typeface="AppleGothic"/>
            </a:endParaRPr>
          </a:p>
        </p:txBody>
      </p:sp>
      <p:sp>
        <p:nvSpPr>
          <p:cNvPr id="369" name="Text 17"/>
          <p:cNvSpPr/>
          <p:nvPr/>
        </p:nvSpPr>
        <p:spPr>
          <a:xfrm>
            <a:off x="660240" y="4708440"/>
            <a:ext cx="571320" cy="66312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200" b="0" u="none" strike="noStrike">
                <a:solidFill>
                  <a:srgbClr val="0D685C"/>
                </a:solidFill>
                <a:effectLst/>
                <a:uFillTx/>
                <a:latin typeface="Arial"/>
                <a:ea typeface="Arial"/>
              </a:rPr>
              <a:t>04</a:t>
            </a:r>
            <a:endParaRPr lang="en-US" sz="2200" b="0" u="none" strike="noStrike">
              <a:solidFill>
                <a:srgbClr val="000000"/>
              </a:solidFill>
              <a:effectLst/>
              <a:uFillTx/>
              <a:latin typeface="Arial"/>
            </a:endParaRPr>
          </a:p>
        </p:txBody>
      </p:sp>
      <p:sp>
        <p:nvSpPr>
          <p:cNvPr id="370" name="Text 18"/>
          <p:cNvSpPr/>
          <p:nvPr/>
        </p:nvSpPr>
        <p:spPr>
          <a:xfrm>
            <a:off x="1397160" y="4708440"/>
            <a:ext cx="2603160" cy="66312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900" b="1" u="none" strike="noStrike">
                <a:solidFill>
                  <a:srgbClr val="0D685C"/>
                </a:solidFill>
                <a:effectLst/>
                <a:uFillTx/>
                <a:latin typeface="AppleGothic"/>
                <a:ea typeface="AppleGothic"/>
              </a:rPr>
              <a:t>HybridMap</a:t>
            </a:r>
            <a:endParaRPr lang="en-US" sz="1900" b="0" u="none" strike="noStrike">
              <a:solidFill>
                <a:srgbClr val="000000"/>
              </a:solidFill>
              <a:effectLst/>
              <a:uFillTx/>
              <a:latin typeface="Arial"/>
            </a:endParaRPr>
          </a:p>
        </p:txBody>
      </p:sp>
      <p:sp>
        <p:nvSpPr>
          <p:cNvPr id="371" name="Text 19"/>
          <p:cNvSpPr/>
          <p:nvPr/>
        </p:nvSpPr>
        <p:spPr>
          <a:xfrm>
            <a:off x="4152960" y="4708440"/>
            <a:ext cx="7378200" cy="66312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1650" b="0" u="none" strike="noStrike">
                <a:solidFill>
                  <a:srgbClr val="173C37"/>
                </a:solidFill>
                <a:effectLst/>
                <a:uFillTx/>
                <a:latin typeface="AppleGothic"/>
                <a:ea typeface="AppleGothic"/>
              </a:rPr>
              <a:t>Local array</a:t>
            </a:r>
            <a:r>
              <a:rPr lang="ko-KR" sz="1650" b="0" u="none" strike="noStrike">
                <a:solidFill>
                  <a:srgbClr val="173C37"/>
                </a:solidFill>
                <a:effectLst/>
                <a:uFillTx/>
                <a:latin typeface="AppleGothic"/>
                <a:ea typeface="AppleGothic"/>
              </a:rPr>
              <a:t>와 </a:t>
            </a:r>
            <a:r>
              <a:rPr lang="en-US" sz="1650" b="0" u="none" strike="noStrike">
                <a:solidFill>
                  <a:srgbClr val="173C37"/>
                </a:solidFill>
                <a:effectLst/>
                <a:uFillTx/>
                <a:latin typeface="AppleGothic"/>
                <a:ea typeface="AppleGothic"/>
              </a:rPr>
              <a:t>external-key hash</a:t>
            </a:r>
            <a:r>
              <a:rPr lang="ko-KR" sz="1650" b="0" u="none" strike="noStrike">
                <a:solidFill>
                  <a:srgbClr val="173C37"/>
                </a:solidFill>
                <a:effectLst/>
                <a:uFillTx/>
                <a:latin typeface="AppleGothic"/>
                <a:ea typeface="AppleGothic"/>
              </a:rPr>
              <a:t>를 결합</a:t>
            </a:r>
            <a:endParaRPr lang="en-US" sz="1650" b="0" u="none" strike="noStrike">
              <a:solidFill>
                <a:srgbClr val="000000"/>
              </a:solidFill>
              <a:effectLst/>
              <a:uFillTx/>
              <a:latin typeface="Arial"/>
            </a:endParaRPr>
          </a:p>
        </p:txBody>
      </p:sp>
      <p:sp>
        <p:nvSpPr>
          <p:cNvPr id="372" name="Shape 20"/>
          <p:cNvSpPr/>
          <p:nvPr/>
        </p:nvSpPr>
        <p:spPr>
          <a:xfrm>
            <a:off x="1396800" y="5384520"/>
            <a:ext cx="1013472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73" name="Shape 21"/>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74" name="Text 22"/>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750" b="1" u="none" strike="noStrike">
                <a:solidFill>
                  <a:srgbClr val="173C37"/>
                </a:solidFill>
                <a:effectLst/>
                <a:uFillTx/>
                <a:latin typeface="AppleGothic"/>
                <a:ea typeface="AppleGothic"/>
              </a:rPr>
              <a:t>UniCon</a:t>
            </a:r>
            <a:r>
              <a:rPr lang="ko-KR" sz="1750" b="1" u="none" strike="noStrike">
                <a:solidFill>
                  <a:srgbClr val="173C37"/>
                </a:solidFill>
                <a:effectLst/>
                <a:uFillTx/>
                <a:latin typeface="AppleGothic"/>
                <a:ea typeface="AppleGothic"/>
              </a:rPr>
              <a:t>은 </a:t>
            </a:r>
            <a:r>
              <a:rPr lang="en-US" sz="1750" b="1" u="none" strike="noStrike">
                <a:solidFill>
                  <a:srgbClr val="173C37"/>
                </a:solidFill>
                <a:effectLst/>
                <a:uFillTx/>
                <a:latin typeface="AppleGothic"/>
                <a:ea typeface="AppleGothic"/>
              </a:rPr>
              <a:t>unified star, duplicate suppression, edge preservation, HybridMap</a:t>
            </a:r>
            <a:r>
              <a:rPr lang="ko-KR" sz="1750" b="1" u="none" strike="noStrike">
                <a:solidFill>
                  <a:srgbClr val="173C37"/>
                </a:solidFill>
                <a:effectLst/>
                <a:uFillTx/>
                <a:latin typeface="AppleGothic"/>
                <a:ea typeface="AppleGothic"/>
              </a:rPr>
              <a:t>의 결합이다</a:t>
            </a:r>
            <a:endParaRPr lang="en-US" sz="1750" b="0" u="none" strike="noStrike">
              <a:solidFill>
                <a:srgbClr val="000000"/>
              </a:solidFill>
              <a:effectLst/>
              <a:uFillTx/>
              <a:latin typeface="Arial"/>
            </a:endParaRPr>
          </a:p>
        </p:txBody>
      </p:sp>
      <p:sp>
        <p:nvSpPr>
          <p:cNvPr id="375" name="Shape 23"/>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76" name="Text 24"/>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unicon-paper pp. 5-11 and p. 19</a:t>
            </a:r>
            <a:endParaRPr lang="en-US" sz="1050" b="0" u="none" strike="noStrike">
              <a:solidFill>
                <a:srgbClr val="000000"/>
              </a:solidFill>
              <a:effectLst/>
              <a:uFillTx/>
              <a:latin typeface="Arial"/>
            </a:endParaRPr>
          </a:p>
        </p:txBody>
      </p:sp>
      <p:sp>
        <p:nvSpPr>
          <p:cNvPr id="377" name="Text 25"/>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25</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78" name="Text 0"/>
          <p:cNvSpPr/>
          <p:nvPr/>
        </p:nvSpPr>
        <p:spPr>
          <a:xfrm>
            <a:off x="660240" y="469800"/>
            <a:ext cx="10870920" cy="8506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3100" b="1" u="none" strike="noStrike">
                <a:solidFill>
                  <a:srgbClr val="173C37"/>
                </a:solidFill>
                <a:effectLst/>
                <a:uFillTx/>
                <a:latin typeface="AppleGothic"/>
                <a:ea typeface="AppleGothic"/>
              </a:rPr>
              <a:t>정확한 </a:t>
            </a:r>
            <a:r>
              <a:rPr lang="en-US" sz="3100" b="1" u="none" strike="noStrike">
                <a:solidFill>
                  <a:srgbClr val="173C37"/>
                </a:solidFill>
                <a:effectLst/>
                <a:uFillTx/>
                <a:latin typeface="AppleGothic"/>
                <a:ea typeface="AppleGothic"/>
              </a:rPr>
              <a:t>UniCon </a:t>
            </a:r>
            <a:r>
              <a:rPr lang="ko-KR" sz="3100" b="1" u="none" strike="noStrike">
                <a:solidFill>
                  <a:srgbClr val="173C37"/>
                </a:solidFill>
                <a:effectLst/>
                <a:uFillTx/>
                <a:latin typeface="AppleGothic"/>
                <a:ea typeface="AppleGothic"/>
              </a:rPr>
              <a:t>설명</a:t>
            </a:r>
            <a:endParaRPr lang="en-US" sz="3100" b="0" u="none" strike="noStrike">
              <a:solidFill>
                <a:srgbClr val="000000"/>
              </a:solidFill>
              <a:effectLst/>
              <a:uFillTx/>
              <a:latin typeface="Arial"/>
            </a:endParaRPr>
          </a:p>
        </p:txBody>
      </p:sp>
      <p:sp>
        <p:nvSpPr>
          <p:cNvPr id="379" name="Text 1"/>
          <p:cNvSpPr/>
          <p:nvPr/>
        </p:nvSpPr>
        <p:spPr>
          <a:xfrm>
            <a:off x="660240" y="1333440"/>
            <a:ext cx="10870920" cy="64728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en-US" sz="1900" b="0" u="none" strike="noStrike">
                <a:solidFill>
                  <a:srgbClr val="0D685C"/>
                </a:solidFill>
                <a:effectLst/>
                <a:uFillTx/>
                <a:latin typeface="AppleGothic"/>
                <a:ea typeface="AppleGothic"/>
              </a:rPr>
              <a:t>Output, overlap, filtering, evidence boundary</a:t>
            </a:r>
            <a:r>
              <a:rPr lang="ko-KR" sz="1900" b="0" u="none" strike="noStrike">
                <a:solidFill>
                  <a:srgbClr val="0D685C"/>
                </a:solidFill>
                <a:effectLst/>
                <a:uFillTx/>
                <a:latin typeface="AppleGothic"/>
                <a:ea typeface="AppleGothic"/>
              </a:rPr>
              <a:t>를 한 문장씩 확인한다</a:t>
            </a:r>
            <a:endParaRPr lang="en-US" sz="1900" b="0" u="none" strike="noStrike">
              <a:solidFill>
                <a:srgbClr val="000000"/>
              </a:solidFill>
              <a:effectLst/>
              <a:uFillTx/>
              <a:latin typeface="Arial"/>
            </a:endParaRPr>
          </a:p>
        </p:txBody>
      </p:sp>
      <p:graphicFrame>
        <p:nvGraphicFramePr>
          <p:cNvPr id="380" name="Table 0"/>
          <p:cNvGraphicFramePr/>
          <p:nvPr/>
        </p:nvGraphicFramePr>
        <p:xfrm>
          <a:off x="660240" y="2082960"/>
          <a:ext cx="10870920" cy="3314520"/>
        </p:xfrm>
        <a:graphic>
          <a:graphicData uri="http://schemas.openxmlformats.org/drawingml/2006/table">
            <a:tbl>
              <a:tblPr/>
              <a:tblGrid>
                <a:gridCol w="6087600"/>
                <a:gridCol w="4783320"/>
              </a:tblGrid>
              <a:tr h="495000">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정확한 설명</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600" b="1" u="none" strike="noStrike">
                          <a:solidFill>
                            <a:srgbClr val="0D685C"/>
                          </a:solidFill>
                          <a:effectLst/>
                          <a:uFillTx/>
                          <a:latin typeface="AppleGothic"/>
                          <a:ea typeface="AppleGothic"/>
                        </a:rPr>
                        <a:t>피해야 할 오해</a:t>
                      </a:r>
                      <a:endParaRPr lang="en-US" sz="1600" b="0" u="none" strike="noStrike">
                        <a:solidFill>
                          <a:srgbClr val="000000"/>
                        </a:solidFill>
                        <a:effectLst/>
                        <a:uFillTx/>
                        <a:latin typeface="Arial"/>
                      </a:endParaRPr>
                    </a:p>
                  </a:txBody>
                  <a:tcPr anchor="t" marL="100440" marR="100440" marT="54720" marB="54720">
                    <a:lnL>
                      <a:noFill/>
                    </a:lnL>
                    <a:lnR>
                      <a:noFill/>
                    </a:lnR>
                    <a:lnT>
                      <a:noFill/>
                    </a:lnT>
                    <a:lnB w="12240">
                      <a:solidFill>
                        <a:srgbClr val="0D685C"/>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CC output</a:t>
                      </a:r>
                      <a:r>
                        <a:rPr lang="ko-KR" sz="1550" b="0" u="none" strike="noStrike">
                          <a:solidFill>
                            <a:srgbClr val="173C37"/>
                          </a:solidFill>
                          <a:effectLst/>
                          <a:uFillTx/>
                          <a:latin typeface="AppleGothic"/>
                          <a:ea typeface="AppleGothic"/>
                        </a:rPr>
                        <a:t>은 </a:t>
                      </a:r>
                      <a:r>
                        <a:rPr lang="en-US" sz="1550" b="0" u="none" strike="noStrike">
                          <a:solidFill>
                            <a:srgbClr val="173C37"/>
                          </a:solidFill>
                          <a:effectLst/>
                          <a:uFillTx/>
                          <a:latin typeface="AppleGothic"/>
                          <a:ea typeface="AppleGothic"/>
                        </a:rPr>
                        <a:t>vertex</a:t>
                      </a:r>
                      <a:r>
                        <a:rPr lang="ko-KR" sz="1550" b="0" u="none" strike="noStrike">
                          <a:solidFill>
                            <a:srgbClr val="173C37"/>
                          </a:solidFill>
                          <a:effectLst/>
                          <a:uFillTx/>
                          <a:latin typeface="AppleGothic"/>
                          <a:ea typeface="AppleGothic"/>
                        </a:rPr>
                        <a:t>별 </a:t>
                      </a:r>
                      <a:r>
                        <a:rPr lang="en-US" sz="1550" b="0" u="none" strike="noStrike">
                          <a:solidFill>
                            <a:srgbClr val="173C37"/>
                          </a:solidFill>
                          <a:effectLst/>
                          <a:uFillTx/>
                          <a:latin typeface="AppleGothic"/>
                          <a:ea typeface="AppleGothic"/>
                        </a:rPr>
                        <a:t>minimum representative mapping</a:t>
                      </a:r>
                      <a:r>
                        <a:rPr lang="ko-KR" sz="1550" b="0" u="none" strike="noStrike">
                          <a:solidFill>
                            <a:srgbClr val="173C37"/>
                          </a:solidFill>
                          <a:effectLst/>
                          <a:uFillTx/>
                          <a:latin typeface="AppleGothic"/>
                          <a:ea typeface="AppleGothic"/>
                        </a:rPr>
                        <a:t>이다</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Partition ID</a:t>
                      </a:r>
                      <a:r>
                        <a:rPr lang="ko-KR" sz="1550" b="0" u="none" strike="noStrike">
                          <a:solidFill>
                            <a:srgbClr val="173C37"/>
                          </a:solidFill>
                          <a:effectLst/>
                          <a:uFillTx/>
                          <a:latin typeface="AppleGothic"/>
                          <a:ea typeface="AppleGothic"/>
                        </a:rPr>
                        <a:t>가 </a:t>
                      </a:r>
                      <a:r>
                        <a:rPr lang="en-US" sz="1550" b="0" u="none" strike="noStrike">
                          <a:solidFill>
                            <a:srgbClr val="173C37"/>
                          </a:solidFill>
                          <a:effectLst/>
                          <a:uFillTx/>
                          <a:latin typeface="AppleGothic"/>
                          <a:ea typeface="AppleGothic"/>
                        </a:rPr>
                        <a:t>component ID</a:t>
                      </a:r>
                      <a:r>
                        <a:rPr lang="ko-KR" sz="1550" b="0" u="none" strike="noStrike">
                          <a:solidFill>
                            <a:srgbClr val="173C37"/>
                          </a:solidFill>
                          <a:effectLst/>
                          <a:uFillTx/>
                          <a:latin typeface="AppleGothic"/>
                          <a:ea typeface="AppleGothic"/>
                        </a:rPr>
                        <a:t>다</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Cross edge</a:t>
                      </a:r>
                      <a:r>
                        <a:rPr lang="ko-KR" sz="1550" b="0" u="none" strike="noStrike">
                          <a:solidFill>
                            <a:srgbClr val="173C37"/>
                          </a:solidFill>
                          <a:effectLst/>
                          <a:uFillTx/>
                          <a:latin typeface="AppleGothic"/>
                          <a:ea typeface="AppleGothic"/>
                        </a:rPr>
                        <a:t>는 </a:t>
                      </a:r>
                      <a:r>
                        <a:rPr lang="en-US" sz="1550" b="0" u="none" strike="noStrike">
                          <a:solidFill>
                            <a:srgbClr val="173C37"/>
                          </a:solidFill>
                          <a:effectLst/>
                          <a:uFillTx/>
                          <a:latin typeface="AppleGothic"/>
                          <a:ea typeface="AppleGothic"/>
                        </a:rPr>
                        <a:t>overlapping G_i views</a:t>
                      </a:r>
                      <a:r>
                        <a:rPr lang="ko-KR" sz="1550" b="0" u="none" strike="noStrike">
                          <a:solidFill>
                            <a:srgbClr val="173C37"/>
                          </a:solidFill>
                          <a:effectLst/>
                          <a:uFillTx/>
                          <a:latin typeface="AppleGothic"/>
                          <a:ea typeface="AppleGothic"/>
                        </a:rPr>
                        <a:t>에 있을 수 있다</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각 </a:t>
                      </a:r>
                      <a:r>
                        <a:rPr lang="en-US" sz="1550" b="0" u="none" strike="noStrike">
                          <a:solidFill>
                            <a:srgbClr val="173C37"/>
                          </a:solidFill>
                          <a:effectLst/>
                          <a:uFillTx/>
                          <a:latin typeface="AppleGothic"/>
                          <a:ea typeface="AppleGothic"/>
                        </a:rPr>
                        <a:t>edge</a:t>
                      </a:r>
                      <a:r>
                        <a:rPr lang="ko-KR" sz="1550" b="0" u="none" strike="noStrike">
                          <a:solidFill>
                            <a:srgbClr val="173C37"/>
                          </a:solidFill>
                          <a:effectLst/>
                          <a:uFillTx/>
                          <a:latin typeface="AppleGothic"/>
                          <a:ea typeface="AppleGothic"/>
                        </a:rPr>
                        <a:t>는 정확히 한 </a:t>
                      </a:r>
                      <a:r>
                        <a:rPr lang="en-US" sz="1550" b="0" u="none" strike="noStrike">
                          <a:solidFill>
                            <a:srgbClr val="173C37"/>
                          </a:solidFill>
                          <a:effectLst/>
                          <a:uFillTx/>
                          <a:latin typeface="AppleGothic"/>
                          <a:ea typeface="AppleGothic"/>
                        </a:rPr>
                        <a:t>worker</a:t>
                      </a:r>
                      <a:r>
                        <a:rPr lang="ko-KR" sz="1550" b="0" u="none" strike="noStrike">
                          <a:solidFill>
                            <a:srgbClr val="173C37"/>
                          </a:solidFill>
                          <a:effectLst/>
                          <a:uFillTx/>
                          <a:latin typeface="AppleGothic"/>
                          <a:ea typeface="AppleGothic"/>
                        </a:rPr>
                        <a:t>만 본다</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Case 1/2 edges</a:t>
                      </a:r>
                      <a:r>
                        <a:rPr lang="ko-KR" sz="1550" b="0" u="none" strike="noStrike">
                          <a:solidFill>
                            <a:srgbClr val="173C37"/>
                          </a:solidFill>
                          <a:effectLst/>
                          <a:uFillTx/>
                          <a:latin typeface="AppleGothic"/>
                          <a:ea typeface="AppleGothic"/>
                        </a:rPr>
                        <a:t>는 </a:t>
                      </a:r>
                      <a:r>
                        <a:rPr lang="en-US" sz="1550" b="0" u="none" strike="noStrike">
                          <a:solidFill>
                            <a:srgbClr val="173C37"/>
                          </a:solidFill>
                          <a:effectLst/>
                          <a:uFillTx/>
                          <a:latin typeface="AppleGothic"/>
                          <a:ea typeface="AppleGothic"/>
                        </a:rPr>
                        <a:t>F</a:t>
                      </a:r>
                      <a:r>
                        <a:rPr lang="ko-KR" sz="1550" b="0" u="none" strike="noStrike">
                          <a:solidFill>
                            <a:srgbClr val="173C37"/>
                          </a:solidFill>
                          <a:effectLst/>
                          <a:uFillTx/>
                          <a:latin typeface="AppleGothic"/>
                          <a:ea typeface="AppleGothic"/>
                        </a:rPr>
                        <a:t>를 거쳐 </a:t>
                      </a:r>
                      <a:r>
                        <a:rPr lang="en-US" sz="1550" b="0" u="none" strike="noStrike">
                          <a:solidFill>
                            <a:srgbClr val="173C37"/>
                          </a:solidFill>
                          <a:effectLst/>
                          <a:uFillTx/>
                          <a:latin typeface="AppleGothic"/>
                          <a:ea typeface="AppleGothic"/>
                        </a:rPr>
                        <a:t>finishing</a:t>
                      </a:r>
                      <a:r>
                        <a:rPr lang="ko-KR" sz="1550" b="0" u="none" strike="noStrike">
                          <a:solidFill>
                            <a:srgbClr val="173C37"/>
                          </a:solidFill>
                          <a:effectLst/>
                          <a:uFillTx/>
                          <a:latin typeface="AppleGothic"/>
                          <a:ea typeface="AppleGothic"/>
                        </a:rPr>
                        <a:t>에 돌아온다</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Filtering</a:t>
                      </a:r>
                      <a:r>
                        <a:rPr lang="ko-KR" sz="1550" b="0" u="none" strike="noStrike">
                          <a:solidFill>
                            <a:srgbClr val="173C37"/>
                          </a:solidFill>
                          <a:effectLst/>
                          <a:uFillTx/>
                          <a:latin typeface="AppleGothic"/>
                          <a:ea typeface="AppleGothic"/>
                        </a:rPr>
                        <a:t>은 모두 영구 삭제다</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r h="704520">
                <a:tc>
                  <a:txBody>
                    <a:bodyPr lIns="100440" tIns="54720" rIns="100440" bIns="54720" anchor="t">
                      <a:noAutofit/>
                    </a:bodyPr>
                    <a:p>
                      <a:pPr defTabSz="914400">
                        <a:lnSpc>
                          <a:spcPct val="120000"/>
                        </a:lnSpc>
                        <a:tabLst>
                          <a:tab pos="0" algn="l"/>
                        </a:tabLst>
                      </a:pPr>
                      <a:r>
                        <a:rPr lang="en-US" sz="1550" b="0" u="none" strike="noStrike">
                          <a:solidFill>
                            <a:srgbClr val="173C37"/>
                          </a:solidFill>
                          <a:effectLst/>
                          <a:uFillTx/>
                          <a:latin typeface="AppleGothic"/>
                          <a:ea typeface="AppleGothic"/>
                        </a:rPr>
                        <a:t>4096x</a:t>
                      </a:r>
                      <a:r>
                        <a:rPr lang="ko-KR" sz="1550" b="0" u="none" strike="noStrike">
                          <a:solidFill>
                            <a:srgbClr val="173C37"/>
                          </a:solidFill>
                          <a:effectLst/>
                          <a:uFillTx/>
                          <a:latin typeface="AppleGothic"/>
                          <a:ea typeface="AppleGothic"/>
                        </a:rPr>
                        <a:t>는 </a:t>
                      </a:r>
                      <a:r>
                        <a:rPr lang="en-US" sz="1550" b="0" u="none" strike="noStrike">
                          <a:solidFill>
                            <a:srgbClr val="173C37"/>
                          </a:solidFill>
                          <a:effectLst/>
                          <a:uFillTx/>
                          <a:latin typeface="AppleGothic"/>
                          <a:ea typeface="AppleGothic"/>
                        </a:rPr>
                        <a:t>10-machine RMAT OOM comparison</a:t>
                      </a:r>
                      <a:r>
                        <a:rPr lang="ko-KR" sz="1550" b="0" u="none" strike="noStrike">
                          <a:solidFill>
                            <a:srgbClr val="173C37"/>
                          </a:solidFill>
                          <a:effectLst/>
                          <a:uFillTx/>
                          <a:latin typeface="AppleGothic"/>
                          <a:ea typeface="AppleGothic"/>
                        </a:rPr>
                        <a:t>이다</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c>
                  <a:txBody>
                    <a:bodyPr lIns="100440" tIns="54720" rIns="100440" bIns="54720" anchor="t">
                      <a:noAutofit/>
                    </a:bodyPr>
                    <a:p>
                      <a:pPr defTabSz="914400">
                        <a:lnSpc>
                          <a:spcPct val="120000"/>
                        </a:lnSpc>
                        <a:tabLst>
                          <a:tab pos="0" algn="l"/>
                        </a:tabLst>
                      </a:pPr>
                      <a:r>
                        <a:rPr lang="ko-KR" sz="1550" b="0" u="none" strike="noStrike">
                          <a:solidFill>
                            <a:srgbClr val="173C37"/>
                          </a:solidFill>
                          <a:effectLst/>
                          <a:uFillTx/>
                          <a:latin typeface="AppleGothic"/>
                          <a:ea typeface="AppleGothic"/>
                        </a:rPr>
                        <a:t>모든 </a:t>
                      </a:r>
                      <a:r>
                        <a:rPr lang="en-US" sz="1550" b="0" u="none" strike="noStrike">
                          <a:solidFill>
                            <a:srgbClr val="173C37"/>
                          </a:solidFill>
                          <a:effectLst/>
                          <a:uFillTx/>
                          <a:latin typeface="AppleGothic"/>
                          <a:ea typeface="AppleGothic"/>
                        </a:rPr>
                        <a:t>hardware</a:t>
                      </a:r>
                      <a:r>
                        <a:rPr lang="ko-KR" sz="1550" b="0" u="none" strike="noStrike">
                          <a:solidFill>
                            <a:srgbClr val="173C37"/>
                          </a:solidFill>
                          <a:effectLst/>
                          <a:uFillTx/>
                          <a:latin typeface="AppleGothic"/>
                          <a:ea typeface="AppleGothic"/>
                        </a:rPr>
                        <a:t>에서 </a:t>
                      </a:r>
                      <a:r>
                        <a:rPr lang="en-US" sz="1550" b="0" u="none" strike="noStrike">
                          <a:solidFill>
                            <a:srgbClr val="173C37"/>
                          </a:solidFill>
                          <a:effectLst/>
                          <a:uFillTx/>
                          <a:latin typeface="AppleGothic"/>
                          <a:ea typeface="AppleGothic"/>
                        </a:rPr>
                        <a:t>4096</a:t>
                      </a:r>
                      <a:r>
                        <a:rPr lang="ko-KR" sz="1550" b="0" u="none" strike="noStrike">
                          <a:solidFill>
                            <a:srgbClr val="173C37"/>
                          </a:solidFill>
                          <a:effectLst/>
                          <a:uFillTx/>
                          <a:latin typeface="AppleGothic"/>
                          <a:ea typeface="AppleGothic"/>
                        </a:rPr>
                        <a:t>배 확장된다</a:t>
                      </a:r>
                      <a:endParaRPr lang="en-US" sz="1550" b="0" u="none" strike="noStrike">
                        <a:solidFill>
                          <a:srgbClr val="000000"/>
                        </a:solidFill>
                        <a:effectLst/>
                        <a:uFillTx/>
                        <a:latin typeface="Arial"/>
                      </a:endParaRPr>
                    </a:p>
                  </a:txBody>
                  <a:tcPr anchor="t" marL="100440" marR="100440" marT="54720" marB="54720">
                    <a:lnL>
                      <a:noFill/>
                    </a:lnL>
                    <a:lnR>
                      <a:noFill/>
                    </a:lnR>
                    <a:lnT>
                      <a:noFill/>
                    </a:lnT>
                    <a:lnB w="6480">
                      <a:solidFill>
                        <a:srgbClr val="C9D8D4"/>
                      </a:solidFill>
                      <a:prstDash val="solid"/>
                    </a:lnB>
                    <a:solidFill>
                      <a:srgbClr val="FFFFFF"/>
                    </a:solidFill>
                  </a:tcPr>
                </a:tc>
              </a:tr>
            </a:tbl>
          </a:graphicData>
        </a:graphic>
      </p:graphicFrame>
      <p:sp>
        <p:nvSpPr>
          <p:cNvPr id="381" name="Shape 2"/>
          <p:cNvSpPr/>
          <p:nvPr/>
        </p:nvSpPr>
        <p:spPr>
          <a:xfrm>
            <a:off x="660240" y="5562360"/>
            <a:ext cx="10871280" cy="360"/>
          </a:xfrm>
          <a:prstGeom prst="line">
            <a:avLst/>
          </a:prstGeom>
          <a:ln w="12700">
            <a:solidFill>
              <a:srgbClr val="0D685C"/>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82" name="Text 3"/>
          <p:cNvSpPr/>
          <p:nvPr/>
        </p:nvSpPr>
        <p:spPr>
          <a:xfrm>
            <a:off x="660240" y="5727600"/>
            <a:ext cx="10870920" cy="495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750" b="1" u="none" strike="noStrike">
                <a:solidFill>
                  <a:srgbClr val="173C37"/>
                </a:solidFill>
                <a:effectLst/>
                <a:uFillTx/>
                <a:latin typeface="AppleGothic"/>
                <a:ea typeface="AppleGothic"/>
              </a:rPr>
              <a:t>핵심은 </a:t>
            </a:r>
            <a:r>
              <a:rPr lang="en-US" sz="1750" b="1" u="none" strike="noStrike">
                <a:solidFill>
                  <a:srgbClr val="173C37"/>
                </a:solidFill>
                <a:effectLst/>
                <a:uFillTx/>
                <a:latin typeface="AppleGothic"/>
                <a:ea typeface="AppleGothic"/>
              </a:rPr>
              <a:t>intermediate records</a:t>
            </a:r>
            <a:r>
              <a:rPr lang="ko-KR" sz="1750" b="1" u="none" strike="noStrike">
                <a:solidFill>
                  <a:srgbClr val="173C37"/>
                </a:solidFill>
                <a:effectLst/>
                <a:uFillTx/>
                <a:latin typeface="AppleGothic"/>
                <a:ea typeface="AppleGothic"/>
              </a:rPr>
              <a:t>를 줄이며 </a:t>
            </a:r>
            <a:r>
              <a:rPr lang="en-US" sz="1750" b="1" u="none" strike="noStrike">
                <a:solidFill>
                  <a:srgbClr val="173C37"/>
                </a:solidFill>
                <a:effectLst/>
                <a:uFillTx/>
                <a:latin typeface="AppleGothic"/>
                <a:ea typeface="AppleGothic"/>
              </a:rPr>
              <a:t>connectivity evidence</a:t>
            </a:r>
            <a:r>
              <a:rPr lang="ko-KR" sz="1750" b="1" u="none" strike="noStrike">
                <a:solidFill>
                  <a:srgbClr val="173C37"/>
                </a:solidFill>
                <a:effectLst/>
                <a:uFillTx/>
                <a:latin typeface="AppleGothic"/>
                <a:ea typeface="AppleGothic"/>
              </a:rPr>
              <a:t>를 보존하는 방법이다</a:t>
            </a:r>
            <a:endParaRPr lang="en-US" sz="1750" b="0" u="none" strike="noStrike">
              <a:solidFill>
                <a:srgbClr val="000000"/>
              </a:solidFill>
              <a:effectLst/>
              <a:uFillTx/>
              <a:latin typeface="Arial"/>
            </a:endParaRPr>
          </a:p>
        </p:txBody>
      </p:sp>
      <p:sp>
        <p:nvSpPr>
          <p:cNvPr id="383" name="Shape 4"/>
          <p:cNvSpPr/>
          <p:nvPr/>
        </p:nvSpPr>
        <p:spPr>
          <a:xfrm>
            <a:off x="660240" y="6311880"/>
            <a:ext cx="10871280" cy="360"/>
          </a:xfrm>
          <a:prstGeom prst="line">
            <a:avLst/>
          </a:prstGeom>
          <a:ln w="12700">
            <a:solidFill>
              <a:srgbClr val="C9D8D4"/>
            </a:solidFill>
            <a:round/>
          </a:ln>
        </p:spPr>
        <p:style>
          <a:lnRef idx="0"/>
          <a:fillRef idx="0"/>
          <a:effectRef idx="0"/>
          <a:fontRef idx="minor"/>
        </p:style>
        <p:txBody>
          <a:bodyPr lIns="90000" tIns="-44640" rIns="90000" bIns="-44640" anchor="t">
            <a:noAutofit/>
          </a:bodyPr>
          <a:p>
            <a:pPr/>
            <a:endParaRPr lang="en-US" sz="1800" b="0" u="none" strike="noStrike">
              <a:solidFill>
                <a:schemeClr val="dk1"/>
              </a:solidFill>
              <a:effectLst/>
              <a:uFillTx/>
              <a:latin typeface="AppleGothic"/>
            </a:endParaRPr>
          </a:p>
        </p:txBody>
      </p:sp>
      <p:sp>
        <p:nvSpPr>
          <p:cNvPr id="384" name="Text 5"/>
          <p:cNvSpPr/>
          <p:nvPr/>
        </p:nvSpPr>
        <p:spPr>
          <a:xfrm>
            <a:off x="660240" y="6413400"/>
            <a:ext cx="9981720" cy="279000"/>
          </a:xfrm>
          <a:prstGeom prst="rect">
            <a:avLst/>
          </a:prstGeom>
          <a:noFill/>
          <a:ln w="0">
            <a:noFill/>
          </a:ln>
        </p:spPr>
        <p:style>
          <a:lnRef idx="0"/>
          <a:fillRef idx="0"/>
          <a:effectRef idx="0"/>
          <a:fontRef idx="minor"/>
        </p:style>
        <p:txBody>
          <a:bodyPr lIns="0" tIns="0" rIns="0" bIns="0" anchor="t">
            <a:noAutofit/>
          </a:bodyPr>
          <a:p>
            <a:pPr defTabSz="914400">
              <a:lnSpc>
                <a:spcPct val="125000"/>
              </a:lnSpc>
              <a:tabLst>
                <a:tab pos="0" algn="l"/>
              </a:tabLst>
            </a:pPr>
            <a:r>
              <a:rPr lang="ko-KR" sz="1050" b="0" u="none" strike="noStrike">
                <a:solidFill>
                  <a:srgbClr val="5E6D69"/>
                </a:solidFill>
                <a:effectLst/>
                <a:uFillTx/>
                <a:latin typeface="AppleGothic"/>
                <a:ea typeface="AppleGothic"/>
              </a:rPr>
              <a:t>근거 </a:t>
            </a:r>
            <a:r>
              <a:rPr lang="en-US" sz="1050" b="0" u="none" strike="noStrike">
                <a:solidFill>
                  <a:srgbClr val="5E6D69"/>
                </a:solidFill>
                <a:effectLst/>
                <a:uFillTx/>
                <a:latin typeface="AppleGothic"/>
                <a:ea typeface="AppleGothic"/>
              </a:rPr>
              <a:t>unicon-paper pp. 4-19</a:t>
            </a:r>
            <a:endParaRPr lang="en-US" sz="1050" b="0" u="none" strike="noStrike">
              <a:solidFill>
                <a:srgbClr val="000000"/>
              </a:solidFill>
              <a:effectLst/>
              <a:uFillTx/>
              <a:latin typeface="Arial"/>
            </a:endParaRPr>
          </a:p>
        </p:txBody>
      </p:sp>
      <p:sp>
        <p:nvSpPr>
          <p:cNvPr id="385" name="Text 6"/>
          <p:cNvSpPr/>
          <p:nvPr/>
        </p:nvSpPr>
        <p:spPr>
          <a:xfrm>
            <a:off x="11112480" y="6400800"/>
            <a:ext cx="431280" cy="253800"/>
          </a:xfrm>
          <a:prstGeom prst="rect">
            <a:avLst/>
          </a:prstGeom>
          <a:noFill/>
          <a:ln w="0">
            <a:noFill/>
          </a:ln>
        </p:spPr>
        <p:style>
          <a:lnRef idx="0"/>
          <a:fillRef idx="0"/>
          <a:effectRef idx="0"/>
          <a:fontRef idx="minor"/>
        </p:style>
        <p:txBody>
          <a:bodyPr lIns="0" tIns="0" rIns="0" bIns="0" anchor="t">
            <a:noAutofit/>
          </a:bodyPr>
          <a:p>
            <a:pPr algn="ctr" defTabSz="914400">
              <a:lnSpc>
                <a:spcPct val="125000"/>
              </a:lnSpc>
              <a:tabLst>
                <a:tab pos="0" algn="l"/>
              </a:tabLst>
            </a:pPr>
            <a:r>
              <a:rPr lang="en-US" sz="1100" b="0" u="none" strike="noStrike">
                <a:solidFill>
                  <a:srgbClr val="0D685C"/>
                </a:solidFill>
                <a:effectLst/>
                <a:uFillTx/>
                <a:latin typeface="Arial"/>
                <a:ea typeface="Arial"/>
              </a:rPr>
              <a:t>26</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pleGothic" pitchFamily="0" charset="1"/>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Gothic" pitchFamily="0" charset="1"/>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LibreOffice/26.8.0.3$MacOSX_AARCH64 LibreOffice_project/bce0998afefdbc355585ca324285661a2170ba77</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2026-09-12T04:32:51Z</dcterms:created>
  <dc:creator>Research Seminars</dc:creator>
  <dc:description/>
  <dc:language>ko-KR</dc:language>
  <cp:lastModifiedBy>Research Seminars</cp:lastModifiedBy>
  <dcterms:modified xsi:type="dcterms:W3CDTF">2026-09-12T04:32:51Z</dcterms:modified>
  <cp:revision>1</cp:revision>
  <dc:subject>UniCon: A Unified Star-Operation to Efficiently Find Connected Components on a Cluster of Commodity Hardware</dc:subject>
  <dc:title>UniCon: 범용 클러스터의 연결 요소 계산</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26</vt:r8>
  </property>
  <property fmtid="{D5CDD505-2E9C-101B-9397-08002B2CF9AE}" pid="3" name="PresentationFormat">
    <vt:lpwstr>On-screen Show (16:9)</vt:lpwstr>
  </property>
  <property fmtid="{D5CDD505-2E9C-101B-9397-08002B2CF9AE}" pid="4" name="Slides">
    <vt:r8>26</vt:r8>
  </property>
</Properties>
</file>
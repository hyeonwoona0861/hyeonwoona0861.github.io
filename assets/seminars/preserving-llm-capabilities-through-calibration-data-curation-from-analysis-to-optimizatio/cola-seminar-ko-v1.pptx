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COLA: 압축 뒤 LLM 능력을 지키는 보정 데이터 큐레이션
발표 대본
이 논문의 핵심은 새로운 양자화기나 프루너를 발명하는 것이 아닙니다. 이미 존재하는 압축기가 어떤 활성화 패턴을 보게 할지, 즉 보정 데이터를 어떻게 고를지를 다룹니다. 저자들은 이를 COLA, Curating Optimal LLM compression cAlibration data라고 부릅니다.
공개 출처
arxiv | p. 1, title and abstract
Preserving LLM Capabilities through Calibration Data Curation: From Analysis to Optimization
https://arxiv.org/abs/2510.10618v1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이 강의가 따르는 공개 원문
발표 대본
원문 첫 페이지에는 arXiv:2510.10618v1과 2025년 10월 12일이 표시됩니다. 공개 arXiv record에는 NeurIPS 2025 accepted라는 코멘트가 있습니다. 이 발표에서는 그 사실만 밝히고, 원문 PDF에 없는 후속 proceedings 편집이나 코드 실행 결과는 주장하지 않습니다.
공개 출처
arxiv | arXiv record; p. 1
Preserving LLM Capabilities through Calibration Data Curation: From Analysis to Optimization
https://arxiv.org/abs/2510.10618v1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보정 데이터는 기존 압축기가 보는 관측 창이다
발표 대본
사후학습 압축에서 보정 데이터는 학습용 정답 데이터가 아닙니다. 작은 표본을 모델에 흘려 보내 얻은 activation이 pruning에서는 가중치 중요도, quantization에서는 동적 범위와 파라미터 설정을 안내합니다. 따라서 이 논문은 압축기의 바깥, 즉 보정 입력을 설계할 수 있는 지점을 연구합니다.
공개 출처
arxiv | pp. 1–2, §1; p. 17, App. A
Preserving LLM Capabilities through Calibration Data Curation: From Analysis to Optimization
https://arxiv.org/abs/2510.10618v1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COLA가 바꾸는 것과 바꾸지 않는 것
발표 대본
COLA는 compressor-agnostic한 전처리/선정 프레임워크로 제시됩니다. 논문 실험은 AWQ, GPTQ, SparseGPT, Wanda 같은 기존 압축기를 사용합니다. 그러므로 COLA의 결과를 새로운 weight-update 알고리즘의 효과나 추가 학습 효과로 읽어서는 안 됩니다.
공개 출처
arxiv | pp. 1–2, §1; pp. 7–8, §4
Preserving LLM Capabilities through Calibration Data Curation: From Analysis to Optimization
https://arxiv.org/abs/2510.10618v1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논문은 네 질문을 순서대로 잇는다
발표 대본
서론의 질문은 단순히 어떤 데이터셋이 최고인지 묻지 않습니다. Q1은 텍스트의 구성적 속성, Q2는 배포 도메인과의 대응을 살핍니다. Q3에서 저자들은 대표성과 다양성이라는 activation-space 관점을 제안하고, Q4에서 그 관점을 세 단계 절차로 구현합니다.
공개 출처
arxiv | pp. 1–2, §1
Preserving LLM Capabilities through Calibration Data Curation: From Analysis to Optimization
https://arxiv.org/abs/2510.10618v1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관찰을 해석하기 위한 실험 조건
발표 대본
주요 탐색은 두 7B–8B Instruct 모델과 네 압축 설정에서 수행됩니다. 기본적으로 각 출처에서 길이 2,048 token인 128개 시퀀스를 뽑지만, 길이와 표본 수를 조사하는 실험에서는 이 설정을 의도적으로 바꿉니다. PPL은 낮을수록 좋고 나머지 능력 점수는 높을수록 좋으므로 숫자의 크기를 서로 직접 비교하면 안 됩니다.
공개 출처
arxiv | p. 3, §3.1; p. 18, App. C
Preserving LLM Capabilities through Calibration Data Curation: From Analysis to Optimization
https://arxiv.org/abs/2510.10618v1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Q1: 텍스트의 구성적 속성도 압축 뒤 능력을 바꾼다
발표 대본
Figure 2부터 Figure 5까지가 Q1의 근거입니다. 길이, 양, 출처, 형식은 모두 activation 패턴을 바꿀 수 있습니다. 중요한 교육 포인트는 ‘길수록 좋다’ 또는 ‘많을수록 좋다’가 아니라, 보존하려는 능력과 compressor가 어떤 반응을 보이는지 확인해야 한다는 것입니다.
공개 출처
arxiv | pp. 3–5, §3.2 and Figs. 2–5
Preserving LLM Capabilities through Calibration Data Curation: From Analysis to Optimization
https://arxiv.org/abs/2510.10618v1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반례: 표본 수 증가가 code 점수를 올리지는 않는다
발표 대본
이 슬라이드의 값은 Figure 3을 본문이 요약한 조건별 수치입니다. 특히 code generation에서는 16개에서 128개로 늘렸을 때 점수가 낮아진 사례가 있습니다. 논문은 핵심 activation 패턴을 이미 포착한 뒤에는 추가 표본의 이득이 체감하고, 질이 맞지 않는 표본이 특화 과제에 불리할 수 있다고 해석합니다. 이것은 모든 16개 표본이 더 낫다는 결론이 아닙니다.
공개 출처
arxiv | p. 4, §3.2 and Fig. 3
Preserving LLM Capabilities through Calibration Data Curation: From Analysis to Optimization
https://arxiv.org/abs/2510.10618v1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Q2: 배포 도메인에 맞춘 입력은 다른 경로를 활성화한다
발표 대본
Q2는 downstream deployment를 염두에 둡니다. 영어 중심으로 사전학습된 두 모델에서는 영어 calibration이 특화 능력에서 유리한 경우가 있지만, 다국어 benchmark에서는 평가 언어와 calibration 언어를 맞추는 것이 더 낫다는 관찰도 있습니다. 따라서 이 덱은 영어가 보편적으로 최고라는 식으로 말하지 않습니다.
공개 출처
arxiv | pp. 6–7, §3.3 and Table 1; pp. 18–19, App. D
Preserving LLM Capabilities through Calibration Data Curation: From Analysis to Optimization
https://arxiv.org/abs/2510.10618v1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주제 일치의 이득에는 PPL 비용이 있을 수 있다
발표 대본
Table 1의 Qwen2.5-7B와 AWQ 4-bit 행을 교육용으로 좁혀 보겠습니다. MathQA calibration은 Math score를 47.34에서 54.42로 높이지만 PPL은 17.36에서 19.25로 나빠집니다. PPL은 낮을수록 좋고 Math는 높을수록 좋으므로, 이 표는 어떤 데이터가 절대적으로 최고라는 증거가 아니라 목표 능력과 손실을 함께 고르는 문제임을 보여 줍니다.
공개 출처
arxiv | p. 7, Table 1
Preserving LLM Capabilities through Calibration Data Curation: From Analysis to Optimization
https://arxiv.org/abs/2510.10618v1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관찰을 두 기준으로 압축하기: 대표성 + 다양성
발표 대본
Section 4.1은 앞선 많은 관찰을 대표성과 다양성으로 정리합니다. 대표성은 target domain에 전형적인 activation을, 다양성은 여러 고유 activation 패턴의 폭을 말합니다. 이 해석은 원문이 제시한 empirical mechanism입니다. 따라서 이 발표에서는 특정 frequency band나 특정 단어가 특정 능력을 결정한다고 단정하지 않습니다.
공개 출처
arxiv | p. 7, §4.1; pp. 19–22, App. E
Preserving LLM Capabilities through Calibration Data Curation: From Analysis to Optimization
https://arxiv.org/abs/2510.10618v1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COLA 흐름: 데이터셋에서 대표 표본까지
발표 대본
이 흐름은 Section 4.2의 세 단계를 한 장에 연결한 것입니다. Stage 1은 dataset 수준의 domain correspondence, Stage 2는 compositional property, Stage 3은 sample 수준 activation representation을 다룹니다. 마지막 압축 단계는 COLA 내부 알고리즘이 아니라, 큐레이션 결과를 사용하는 기존 방법입니다.
공개 출처
arxiv | p. 8, §4.2
Preserving LLM Capabilities through Calibration Data Curation: From Analysis to Optimization
https://arxiv.org/abs/2510.10618v1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Stage 1: 먼저 배포 목표에 맞는 후보 출처를 고른다
발표 대본
Eq. 1에서 S는 선택할 데이터셋, D는 후보 pool, C는 목표 capability, w_c는 importance weight입니다. general deployment에는 여러 capability의 weight를 균형 있게 두고, targeted deployment에는 예를 들어 math의 weight를 더 크게 둘 수 있습니다. 이 식은 coverage 함수의 구체 구현까지 증명하는 정리가 아니라 Stage 1의 선택 목표를 표현합니다.
공개 출처
arxiv | p. 8, Eq. (1) and §4.2; p. 24, Eq. (5)
Preserving LLM Capabilities through Calibration Data Curation: From Analysis to Optimization
https://arxiv.org/abs/2510.10618v1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Stage 2: 출처를 과제 맞춤 입력으로 가공한다
발표 대본
Stage 2는 sequence length와 data format을 다룹니다. 원문은 대부분 방법에서 2,048 token을 예로 들고 AWQ에는 512–1,024 token도 충분할 수 있다고 적습니다. 또한 구조가 부족한 dataset은 가능할 때 Q&amp;A와 explicit reasoning chain 형식으로 보강할 수 있다고 설명합니다. 이 표현은 데이터의 사실성을 무시하고 임의 rationale을 생성하라는 지시가 아닙니다.
공개 출처
arxiv | p. 8, §4.2; p. 5, Fig. 5
Preserving LLM Capabilities through Calibration Data Curation: From Analysis to Optimization
https://arxiv.org/abs/2510.10618v1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Stage 3: activation 공간에서 대표 표본을 고른다
발표 대본
각 후보 x_i에 대해 layer별 aggregated hidden state를 모아 activation vector a_i를 만듭니다. Eq. 2는 이를 random projection으로 a-prime로 줄인 뒤 k-means를 수행합니다. Eq. 3은 cluster C_j 안에서 centroid mu_j에 가장 가까운 x_i를 선택합니다. 여러 cluster에서 하나씩 택하면 activation-space diversity를, 각 중심에 가까운 선택은 representativeness를 노립니다.
공개 출처
arxiv | p. 8, Eqs. (2)–(3) and §4.2; p. 24, App. G
Preserving LLM Capabilities through Calibration Data Curation: From Analysis to Optimization
https://arxiv.org/abs/2510.10618v1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강의용 계산: centroid 대표를 직접 고르기
발표 대본
이 표는 논문의 측정값이 아니라 Eq. 3을 직접 계산하는 강의용 toy입니다. C1의 centroid는 mu1=(4/3, 5/3)입니다. a, b, c의 유클리드 거리는 각각 약 0.75, 0.47, 0.75이므로 b를 고릅니다. C2는 d 하나라 centroid와 거리가 0입니다. 따라서 k=2인 final set은 b와 d가 됩니다.
공개 출처
arxiv | p. 8, Eq. (3); teaching toy
Preserving LLM Capabilities through Calibration Data Curation: From Analysis to Optimization
https://arxiv.org/abs/2510.10618v1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이 toy가 보여 주는 것과 보여 주지 않는 것
발표 대본
작은 계산은 Stage 3의 의도를 손으로 확인하게 하지만, 실제 activation vector는 원 모델의 forward pass에서 얻어야 합니다. 특히 centroid 근처라는 것은 텍스트의 문학적 품질이나 답의 정답성을 말하지 않습니다. 이 덱에서는 toy와 논문 수치를 분명히 분리합니다.
공개 출처
arxiv | p. 8, §4.2; teaching toy boundary
Preserving LLM Capabilities through Calibration Data Curation: From Analysis to Optimization
https://arxiv.org/abs/2510.10618v1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일반 배포 결과: 한 조건을 같은 행에서 비교하기
발표 대본
Table 2는 general deployment에서 WikiText, C4, SlimPajama random sampling, Self-Gen, COLA를 비교합니다. 여기서는 LLaMA3-8B와 SparseGPT 50%의 commonsense만 떼어 봅니다. COLA 44.23은 WikiText 41.85, Self-Gen 43.61보다 높습니다. 이 비교는 서로 다른 압축법의 우열이 아니라 같은 compressor 아래 calibration approach의 차이를 보여 줍니다.
공개 출처
arxiv | p. 9, Table 2 and §4.3
Preserving LLM Capabilities through Calibration Data Curation: From Analysis to Optimization
https://arxiv.org/abs/2510.10618v1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목표 배포 결과: code용 calibration을 고른 조건
발표 대본
Appendix F는 math, code, commonsense targeted deployment를 GPTQ, AWQ, Wanda, SparseGPT 아래에서 비교합니다. 이 표는 그중 Qwen2.5-7B와 AWQ 4-bit의 code 행만 가져옵니다. COLA의 72.18과 CodeQA random의 68.73 차이는 3.45 percentage point입니다. 다른 metric과 다른 compressor가 같은 폭으로 개선된다고 해석하면 안 됩니다.
공개 출처
arxiv | p. 23, Table 6; pp. 22–23, App. F
Preserving LLM Capabilities through Calibration Data Curation: From Analysis to Optimization
https://arxiv.org/abs/2510.10618v1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더 큰 모델에서도 본 조건부 관찰
발표 대본
Appendix H는 LLaMA3.1-70B, Qwen2.5-14B, Qwen2.5-32B를 general deployment에서 추가 평가합니다. 이 슬라이드는 저자들이 직접 예로 든 두 수치를 표로 좁혔습니다. 큰 모델에서도 결과가 좋아 보인다는 관찰은 있지만, mixture-of-experts나 다른 architecture, 다른 압축 비율까지 검증했다는 뜻은 아닙니다.
공개 출처
arxiv | pp. 24–25, Table 9 and App. H
Preserving LLM Capabilities through Calibration Data Curation: From Analysis to Optimization
https://arxiv.org/abs/2510.10618v1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spectral analysis는 보조 설명이지 정리는 아니다
발표 대본
Appendix E는 spectral perspective를 제공합니다. 원문은 low, mid, high frequency band에 capability 해석을 붙이지만, 이 발표에서는 그 해석을 저자들의 시각화 기반 설명으로 제한합니다. 특히 Figure 7부터 9는 GPTQ 4-bit와 LLaMA3-8B의 FFN 분석이므로 모든 transformer나 모든 compression method의 보편 법칙이라고 말하지 않습니다.
공개 출처
arxiv | pp. 19–22, App. E and Figs. 7–9
Preserving LLM Capabilities through Calibration Data Curation: From Analysis to Optimization
https://arxiv.org/abs/2510.10618v1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Proxy pilot: coverage 추정 가능성
발표 대본
Appendix J에서는 후보 dataset마다 32 sample로 compression하고 대표 benchmark 하나씩을 이용해 proxy coverage를 만들었습니다. Table 11의 r 값은 commonsense 0.97, math 0.93, code 0.91입니다. Table 12의 end-to-end 비교도 가까운 값을 보이지만, 저자들은 시간 제한 때문에 LLaMA3-8B에서만 수행했습니다. 그러므로 이 결과를 모든 candidate pool의 자동화 완료로 확대하면 안 됩니다.
공개 출처
arxiv | pp. 26–27, Tables 11–12 and App. J
Preserving LLM Capabilities through Calibration Data Curation: From Analysis to Optimization
https://arxiv.org/abs/2510.10618v1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큐레이션의 one-time offline 비용
발표 대본
Table 14는 COLA의 random projection과 k-means 비용을 따로 보고하고 전체 시간과 peak memory를 제시합니다. 이 값들은 네 main compression method에 걸친 general deployment scenario의 평균입니다. serving throughput, end-to-end latency, 혹은 다른 hardware에서의 비용을 직접 측정한 표가 아니므로 그런 주장으로 바꾸지 않습니다.
공개 출처
arxiv | p. 28, Table 14 and App. L
Preserving LLM Capabilities through Calibration Data Curation: From Analysis to Optimization
https://arxiv.org/abs/2510.10618v1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 Pretraining/SFT와 calibration curation은 다르다
발표 대본
Appendix P는 데이터가 사용되는 시점과 목적을 구분합니다. Pretraining과 SFT는 가중치를 학습해 능력과 행동을 습득·정렬하는 과정입니다. Post-training calibration은 이미 학습한 모델의 반응을 관찰하여 압축 중 기존 능력의 손실을 줄이는 데 사용합니다. COLA의 표본 선택이 모든 능력의 보존을 보장한다는 뜻은 아닙니다.
공개 출처
arxiv | pp. 29–30, App. P
Preserving LLM Capabilities through Calibration Data Curation: From Analysis to Optimization
https://arxiv.org/abs/2510.10618v1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마무리: calibration 최적성은 조건부다
발표 대본
COLA는 calibration data가 사소한 부속물이 아니라 압축 후 capability preservation을 바꿀 수 있는 설계 변수라는 점을 체계적으로 보여 주려 합니다. 세 단계는 deployment priority와 activation-space selection을 연결합니다. 그러나 원문 스스로도 두 base model, 일부 compressor, 50% pruning과 4-bit quantization, 즉시 post-compression 평가에 한정되며 formal theoretical guarantees가 없다고 적습니다. 따라서 강의의 결론도 조건부 empirical framework로 남겨야 합니다.
공개 출처
arxiv | p. 9, §5; pp. 30–31, App. R
Preserving LLM Capabilities through Calibration Data Curation: From Analysis to Optimization
https://arxiv.org/abs/2510.10618v1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5900" cy="6858000"/>
          </a:xfrm>
          <a:prstGeom prst="rect">
            <a:avLst/>
          </a:prstGeom>
          <a:solidFill>
            <a:srgbClr val="0D685C"/>
          </a:solidFill>
          <a:ln w="12700">
            <a:solidFill>
              <a:srgbClr val="0D685C">
                <a:alpha val="0"/>
              </a:srgbClr>
            </a:solidFill>
            <a:prstDash val="solid"/>
          </a:ln>
        </p:spPr>
        <p:txBody>
          <a:bodyPr/>
          <a:lstStyle/>
          <a:p>
            <a:endParaRPr lang="ko-KR"/>
          </a:p>
        </p:txBody>
      </p:sp>
      <p:sp>
        <p:nvSpPr>
          <p:cNvPr id="3" name="Text 1"/>
          <p:cNvSpPr txBox="1"/>
          <p:nvPr/>
        </p:nvSpPr>
        <p:spPr>
          <a:xfrm>
            <a:off x="889000" y="889000"/>
            <a:ext cx="8763000" cy="1346200"/>
          </a:xfrm>
          <a:prstGeom prst="rect">
            <a:avLst/>
          </a:prstGeom>
          <a:noFill/>
          <a:ln/>
        </p:spPr>
        <p:txBody>
          <a:bodyPr wrap="square" lIns="0" tIns="0" rIns="0" bIns="0" rtlCol="0" anchor="t"/>
          <a:lstStyle/>
          <a:p>
            <a:pPr algn="l" indent="0" marL="0">
              <a:lnSpc>
                <a:spcPct val="115000"/>
              </a:lnSpc>
              <a:buNone/>
            </a:pPr>
            <a:r>
              <a:rPr lang="en-US" sz="4000" b="1" dirty="0">
                <a:solidFill>
                  <a:srgbClr val="0D685C"/>
                </a:solidFill>
                <a:latin typeface="AppleGothic" pitchFamily="34" charset="0"/>
                <a:ea typeface="AppleGothic" pitchFamily="34" charset="-122"/>
                <a:cs typeface="AppleGothic" pitchFamily="34" charset="-120"/>
              </a:rPr>
              <a:t>COLA: 압축 뒤 LLM 능력을 지키는 보정 데이터 큐레이션</a:t>
            </a:r>
            <a:endParaRPr lang="en-US" sz="4000" dirty="0"/>
          </a:p>
        </p:txBody>
      </p:sp>
      <p:sp>
        <p:nvSpPr>
          <p:cNvPr id="4" name="Text 2"/>
          <p:cNvSpPr txBox="1"/>
          <p:nvPr/>
        </p:nvSpPr>
        <p:spPr>
          <a:xfrm>
            <a:off x="889000" y="2413000"/>
            <a:ext cx="9652000" cy="1333500"/>
          </a:xfrm>
          <a:prstGeom prst="rect">
            <a:avLst/>
          </a:prstGeom>
          <a:noFill/>
          <a:ln/>
        </p:spPr>
        <p:txBody>
          <a:bodyPr wrap="square" lIns="0" tIns="0" rIns="0" bIns="0" rtlCol="0" anchor="t"/>
          <a:lstStyle/>
          <a:p>
            <a:pPr algn="l" indent="0" marL="0">
              <a:lnSpc>
                <a:spcPct val="125000"/>
              </a:lnSpc>
              <a:buNone/>
            </a:pPr>
            <a:r>
              <a:rPr lang="en-US" sz="2200" dirty="0">
                <a:solidFill>
                  <a:srgbClr val="173C37"/>
                </a:solidFill>
                <a:latin typeface="AppleGothic" pitchFamily="34" charset="0"/>
                <a:ea typeface="AppleGothic" pitchFamily="34" charset="-122"/>
                <a:cs typeface="AppleGothic" pitchFamily="34" charset="-120"/>
              </a:rPr>
              <a:t>Preserving LLM Capabilities through Calibration Data Curation: From Analysis to Optimization</a:t>
            </a:r>
            <a:endParaRPr lang="en-US" sz="2200" dirty="0"/>
          </a:p>
        </p:txBody>
      </p:sp>
      <p:sp>
        <p:nvSpPr>
          <p:cNvPr id="5" name="Shape 3"/>
          <p:cNvSpPr/>
          <p:nvPr/>
        </p:nvSpPr>
        <p:spPr>
          <a:xfrm>
            <a:off x="889000" y="4076700"/>
            <a:ext cx="96520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89000" y="4368800"/>
            <a:ext cx="9652000" cy="685800"/>
          </a:xfrm>
          <a:prstGeom prst="rect">
            <a:avLst/>
          </a:prstGeom>
          <a:noFill/>
          <a:ln/>
        </p:spPr>
        <p:txBody>
          <a:bodyPr wrap="square" lIns="0" tIns="0" rIns="0" bIns="0" rtlCol="0" anchor="t"/>
          <a:lstStyle/>
          <a:p>
            <a:pPr algn="l" indent="0" marL="0">
              <a:lnSpc>
                <a:spcPct val="125000"/>
              </a:lnSpc>
              <a:buNone/>
            </a:pPr>
            <a:r>
              <a:rPr lang="en-US" sz="1750" dirty="0">
                <a:solidFill>
                  <a:srgbClr val="5E6D69"/>
                </a:solidFill>
                <a:latin typeface="AppleGothic" pitchFamily="34" charset="0"/>
                <a:ea typeface="AppleGothic" pitchFamily="34" charset="-122"/>
                <a:cs typeface="AppleGothic" pitchFamily="34" charset="-120"/>
              </a:rPr>
              <a:t>Bowei He, Lihao Yin, Huiling Zhen, Shuqi Liu, Han Wu, Xiaokun Zhang, Mingxuan Yuan, Chen Ma (2025)</a:t>
            </a:r>
            <a:endParaRPr lang="en-US" sz="1750" dirty="0"/>
          </a:p>
        </p:txBody>
      </p:sp>
      <p:sp>
        <p:nvSpPr>
          <p:cNvPr id="7" name="Text 5"/>
          <p:cNvSpPr txBox="1"/>
          <p:nvPr/>
        </p:nvSpPr>
        <p:spPr>
          <a:xfrm>
            <a:off x="889000" y="5245100"/>
            <a:ext cx="9652000" cy="571500"/>
          </a:xfrm>
          <a:prstGeom prst="rect">
            <a:avLst/>
          </a:prstGeom>
          <a:noFill/>
          <a:ln/>
        </p:spPr>
        <p:txBody>
          <a:bodyPr wrap="square" lIns="0" tIns="0" rIns="0" bIns="0" rtlCol="0" anchor="t"/>
          <a:lstStyle/>
          <a:p>
            <a:pPr algn="l" indent="0" marL="0">
              <a:lnSpc>
                <a:spcPct val="125000"/>
              </a:lnSpc>
              <a:buNone/>
            </a:pPr>
            <a:r>
              <a:rPr lang="en-US" sz="1750" dirty="0">
                <a:solidFill>
                  <a:srgbClr val="0D685C"/>
                </a:solidFill>
                <a:latin typeface="AppleGothic" pitchFamily="34" charset="0"/>
                <a:ea typeface="AppleGothic" pitchFamily="34" charset="-122"/>
                <a:cs typeface="AppleGothic" pitchFamily="34" charset="-120"/>
              </a:rPr>
              <a:t>압축 알고리즘을 바꾸지 않고, 그 알고리즘이 볼 보정 입력을 고르는 방법을 묻는다</a:t>
            </a:r>
            <a:endParaRPr lang="en-US" sz="1750" dirty="0"/>
          </a:p>
        </p:txBody>
      </p:sp>
      <p:sp>
        <p:nvSpPr>
          <p:cNvPr id="8" name="Shape 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9" name="Text 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 p. 1, title and abstract</a:t>
            </a:r>
            <a:endParaRPr lang="en-US" sz="1050" dirty="0"/>
          </a:p>
        </p:txBody>
      </p:sp>
      <p:sp>
        <p:nvSpPr>
          <p:cNvPr id="10" name="Text 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이 강의가 따르는 공개 원문</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arXiv v1을 기준으로, 보고된 실험과 방법의 범위를 분리해 읽는다</a:t>
            </a:r>
            <a:endParaRPr lang="en-US" sz="1900" dirty="0"/>
          </a:p>
        </p:txBody>
      </p:sp>
      <p:sp>
        <p:nvSpPr>
          <p:cNvPr id="4" name="Text 2"/>
          <p:cNvSpPr txBox="1"/>
          <p:nvPr/>
        </p:nvSpPr>
        <p:spPr>
          <a:xfrm>
            <a:off x="838200" y="21717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arXiv:2510.10618v1, 2025년 10월 12일 제출본</a:t>
            </a:r>
            <a:endParaRPr lang="en-US" sz="2000" dirty="0"/>
          </a:p>
        </p:txBody>
      </p:sp>
      <p:sp>
        <p:nvSpPr>
          <p:cNvPr id="5" name="Shape 3"/>
          <p:cNvSpPr/>
          <p:nvPr/>
        </p:nvSpPr>
        <p:spPr>
          <a:xfrm>
            <a:off x="838200" y="2755900"/>
            <a:ext cx="106934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38200" y="27940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공개 arXiv record는 NeurIPS 2025 accepted를 표시한다</a:t>
            </a:r>
            <a:endParaRPr lang="en-US" sz="2000" dirty="0"/>
          </a:p>
        </p:txBody>
      </p:sp>
      <p:sp>
        <p:nvSpPr>
          <p:cNvPr id="7" name="Shape 5"/>
          <p:cNvSpPr/>
          <p:nvPr/>
        </p:nvSpPr>
        <p:spPr>
          <a:xfrm>
            <a:off x="838200" y="3378200"/>
            <a:ext cx="10693400" cy="0"/>
          </a:xfrm>
          <a:prstGeom prst="line">
            <a:avLst/>
          </a:prstGeom>
          <a:noFill/>
          <a:ln w="12700">
            <a:solidFill>
              <a:srgbClr val="C9D8D4"/>
            </a:solidFill>
            <a:prstDash val="solid"/>
            <a:headEnd type="none"/>
            <a:tailEnd type="none"/>
          </a:ln>
        </p:spPr>
        <p:txBody>
          <a:bodyPr/>
          <a:lstStyle/>
          <a:p>
            <a:endParaRPr lang="ko-KR"/>
          </a:p>
        </p:txBody>
      </p:sp>
      <p:sp>
        <p:nvSpPr>
          <p:cNvPr id="8" name="Text 6"/>
          <p:cNvSpPr txBox="1"/>
          <p:nvPr/>
        </p:nvSpPr>
        <p:spPr>
          <a:xfrm>
            <a:off x="838200" y="34163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저자 8명: Bowei He 외 7명</a:t>
            </a:r>
            <a:endParaRPr lang="en-US" sz="2000" dirty="0"/>
          </a:p>
        </p:txBody>
      </p:sp>
      <p:sp>
        <p:nvSpPr>
          <p:cNvPr id="9" name="Shape 7"/>
          <p:cNvSpPr/>
          <p:nvPr/>
        </p:nvSpPr>
        <p:spPr>
          <a:xfrm>
            <a:off x="838200" y="4000500"/>
            <a:ext cx="10693400" cy="0"/>
          </a:xfrm>
          <a:prstGeom prst="line">
            <a:avLst/>
          </a:prstGeom>
          <a:noFill/>
          <a:ln w="12700">
            <a:solidFill>
              <a:srgbClr val="C9D8D4"/>
            </a:solidFill>
            <a:prstDash val="solid"/>
            <a:headEnd type="none"/>
            <a:tailEnd type="none"/>
          </a:ln>
        </p:spPr>
        <p:txBody>
          <a:bodyPr/>
          <a:lstStyle/>
          <a:p>
            <a:endParaRPr lang="ko-KR"/>
          </a:p>
        </p:txBody>
      </p:sp>
      <p:sp>
        <p:nvSpPr>
          <p:cNvPr id="10" name="Text 8"/>
          <p:cNvSpPr txBox="1"/>
          <p:nvPr/>
        </p:nvSpPr>
        <p:spPr>
          <a:xfrm>
            <a:off x="838200" y="40386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이 자료의 수치·식·페이지는 해당 42쪽 v1 PDF를 따른다</a:t>
            </a:r>
            <a:endParaRPr lang="en-US" sz="2000" dirty="0"/>
          </a:p>
        </p:txBody>
      </p:sp>
      <p:sp>
        <p:nvSpPr>
          <p:cNvPr id="11" name="Shape 9"/>
          <p:cNvSpPr/>
          <p:nvPr/>
        </p:nvSpPr>
        <p:spPr>
          <a:xfrm>
            <a:off x="838200" y="4622800"/>
            <a:ext cx="10693400" cy="0"/>
          </a:xfrm>
          <a:prstGeom prst="line">
            <a:avLst/>
          </a:prstGeom>
          <a:noFill/>
          <a:ln w="12700">
            <a:solidFill>
              <a:srgbClr val="C9D8D4"/>
            </a:solidFill>
            <a:prstDash val="solid"/>
            <a:headEnd type="none"/>
            <a:tailEnd type="none"/>
          </a:ln>
        </p:spPr>
        <p:txBody>
          <a:bodyPr/>
          <a:lstStyle/>
          <a:p>
            <a:endParaRPr lang="ko-KR"/>
          </a:p>
        </p:txBody>
      </p:sp>
      <p:sp>
        <p:nvSpPr>
          <p:cNvPr id="12" name="Text 10"/>
          <p:cNvSpPr txBox="1"/>
          <p:nvPr/>
        </p:nvSpPr>
        <p:spPr>
          <a:xfrm>
            <a:off x="838200" y="46609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후속 개정본이나 미확인 구현 결과를 덧붙이지 않는다</a:t>
            </a:r>
            <a:endParaRPr lang="en-US" sz="2000" dirty="0"/>
          </a:p>
        </p:txBody>
      </p:sp>
      <p:sp>
        <p:nvSpPr>
          <p:cNvPr id="13" name="Shape 1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4" name="Text 1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‘accepted’ 표기는 공개 record의 상태이며, 이 덱의 과학적 근거는 고정한 v1 PDF다</a:t>
            </a:r>
            <a:endParaRPr lang="en-US" sz="1750" dirty="0"/>
          </a:p>
        </p:txBody>
      </p:sp>
      <p:sp>
        <p:nvSpPr>
          <p:cNvPr id="15" name="Shape 1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6" name="Text 1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 arXiv record; p. 1</a:t>
            </a:r>
            <a:endParaRPr lang="en-US" sz="1050" dirty="0"/>
          </a:p>
        </p:txBody>
      </p:sp>
      <p:sp>
        <p:nvSpPr>
          <p:cNvPr id="17" name="Text 1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보정 데이터는 기존 압축기가 보는 관측 창이다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작은 입력 묶음이 layer activation을 만들고, 그 activation이 기존 압축 결정을 안내한다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보정 입력</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작은 calibration 입력 표본</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forward pass</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압축 전 LLM에 표본을 통과</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layer activation</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입력별 반응 패턴을 얻는다</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기존 압축기</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가중치 제거·근사 규칙을 적용</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압축 모델</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여러 능력 평가로 보존 정도를 본다</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같은 압축 방법이라도 어떤 보정 입력을 보았는지에 따라 다른 능력이 더 손실될 수 있다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 pp. 1–2, §1; p. 17, App. A</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COLA가 바꾸는 것과 바꾸지 않는 것</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압축기 자체가 아니라, 그 앞단의 calibration set을 고르고 가공하고 대표 표본을 뽑는다</a:t>
            </a:r>
            <a:endParaRPr lang="en-US" sz="1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937000"/>
        </p:xfrm>
        <a:graphic>
          <a:graphicData uri="http://schemas.openxmlformats.org/drawingml/2006/table">
            <a:tbl>
              <a:tblPr/>
              <a:tblGrid>
                <a:gridCol w="2174240"/>
                <a:gridCol w="4348480"/>
                <a:gridCol w="434848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대상</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COLA가 하는 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COLA가 하지 않는 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860425">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압축 방법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기존 방법에 맞는 입력을 준비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AWQ·GPTQ·SparseGPT·Wanda를 대체하지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60425">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모델 가중치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압축 전 반응을 관찰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사전학습·fine-tuning으로 새 능력을 가르치지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60425">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보정 데이터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도메인·형식·활성화 공간을 기준으로 큐레이션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원 학습 코퍼스를 복원한다고 주장하지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60425">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목표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이미 학습된 능력의 손실을 줄이려 시도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능력 보존을 보장하지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6" name="Text 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 pp. 1–2, §1; pp. 7–8, §4</a:t>
            </a:r>
            <a:endParaRPr lang="en-US" sz="1050" dirty="0"/>
          </a:p>
        </p:txBody>
      </p:sp>
      <p:sp>
        <p:nvSpPr>
          <p:cNvPr id="7" name="Text 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논문은 네 질문을 순서대로 잇는다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관찰(Q1·Q2)에서 최적성(Q3), 그리고 실제 큐레이션(Q4)로 넘어간다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739392"/>
                <a:gridCol w="4348480"/>
                <a:gridCol w="478332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질문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무엇을 바꾸나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다음 단계에 주는 근거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길이·개수·출처·형식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구성적 속성의 영향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언어·주제·추론 난이도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배포 도메인 대응</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관찰을 하나의 기준으로 묶기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대표성·다양성의 정의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후보 데이터에서 실제 set 만들기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COLA 3단계 프레임워크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COLA는 먼저 데이터 민감성을 실험으로 관찰한 뒤, 그 관찰을 선택 규칙으로 바꾼다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 pp. 1–2, §1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관찰을 해석하기 위한 실험 조건</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결론은 두 Instruct 모델, 네 사후학습 압축 설정, 정해진 능력 평가 안에서 나온다</a:t>
            </a:r>
            <a:endParaRPr lang="en-US" sz="1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937000"/>
        </p:xfrm>
        <a:graphic>
          <a:graphicData uri="http://schemas.openxmlformats.org/drawingml/2006/table">
            <a:tbl>
              <a:tblPr/>
              <a:tblGrid>
                <a:gridCol w="2174240"/>
                <a:gridCol w="4892040"/>
                <a:gridCol w="380492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 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 경계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LLM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LLaMA3-8B-Instruct, Qwen2.5-7B-Instruct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모델 구조를 대표하지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pruning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SparseGPT 50%, Wanda 4:8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구조적 pruning은 평가하지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quantization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GPTQ·AWQ, 4-bit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다른 bit·activation 설정의 보장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기본 보정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출처별 128개 × 2,048 token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길이·개수 실험에서는 달라짐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능력 평가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PPL·상식·수학·코드·다국어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지표마다 방향과 의미가 다름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6" name="Text 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 p. 3, §3.1; p. 18, App. C</a:t>
            </a:r>
            <a:endParaRPr lang="en-US" sz="1050" dirty="0"/>
          </a:p>
        </p:txBody>
      </p:sp>
      <p:sp>
        <p:nvSpPr>
          <p:cNvPr id="7" name="Text 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Q1: 텍스트의 구성적 속성도 압축 뒤 능력을 바꾼다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한 축을 늘리는 단순 규칙이 아니라, 능력·모델·압축법별 반응을 함께 본다</a:t>
            </a:r>
            <a:endParaRPr lang="en-US" sz="1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937000"/>
        </p:xfrm>
        <a:graphic>
          <a:graphicData uri="http://schemas.openxmlformats.org/drawingml/2006/table">
            <a:tbl>
              <a:tblPr/>
              <a:tblGrid>
                <a:gridCol w="2500376"/>
                <a:gridCol w="4131056"/>
                <a:gridCol w="423976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바꾼 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논문이 관찰한 패턴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바로 일반화할 수 없는 이유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860425">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sequence length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수학·pruning이 특히 민감한 경우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code는 비단조 곡선을 보임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60425">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sample amount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핵심 activation 뒤에는 체감 이득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더 많은 표본이 특화 과제를 악화시킬 수 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60425">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source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C4·WikiText·SlimPajama 선호가 다름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선호는 능력과 compressor마다 다름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60425">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format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명시적 reasoning QA가 추론 과제에서 유리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과제·입력에서의 보장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6" name="Text 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 pp. 3–5, §3.2 and Figs. 2–5</a:t>
            </a:r>
            <a:endParaRPr lang="en-US" sz="1050" dirty="0"/>
          </a:p>
        </p:txBody>
      </p:sp>
      <p:sp>
        <p:nvSpPr>
          <p:cNvPr id="7" name="Text 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반례: 표본 수 증가가 code 점수를 올리지는 않는다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Figure 3의 두 조건은 ‘보정 표본 수 증가 = 성능 향상’이라는 해석을 막는다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043936"/>
                <a:gridCol w="2065528"/>
                <a:gridCol w="2174240"/>
                <a:gridCol w="358749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모델·압축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16개 표본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128개 표본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논문이 보여 주는 점</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LLaMA3-8B + AWQ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code 46.40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code 38.71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더 많은 표본이 이 조건에서는 하락</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Qwen2.5-7B + GPTQ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code 57.67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code 34.03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비단조 반응이 더 크게 나타남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LLaMA3-8B + SparseGPT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적은 표본에서 math 17.9% 하락</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별도 조건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pruning은 표본 수에 더 민감할 수 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COLA가 sample count를 고정 상수가 아니라 선택해야 할 설계 변수로 다루는 출발점이다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 p. 4, §3.2 and Fig. 3</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Q2: 배포 도메인에 맞춘 입력은 다른 경로를 활성화한다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언어·주제·난이도를 목표 능력과 맞추되, 일반 성능과의 trade-off를 함께 점검한다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937000"/>
        </p:xfrm>
        <a:graphic>
          <a:graphicData uri="http://schemas.openxmlformats.org/drawingml/2006/table">
            <a:tbl>
              <a:tblPr/>
              <a:tblGrid>
                <a:gridCol w="1956816"/>
                <a:gridCol w="5653024"/>
                <a:gridCol w="326136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대응 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원문의 관찰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큐레이션에 주는 질문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1147233">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언어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특화 능력에서 차이가 크며, 다국어 평가는 같은 언어 입력이 유리할 수 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주 사용자 언어는 무엇인가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1147233">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주제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MathQA·CodeQA 등이 대응 능력을 높일 수 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어떤 능력을 우선 보존할 것인가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1147233">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난이도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hard는 reasoning 이득, mixed는 균형을 보일 수 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전문 과제인가 일반 배포인가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6" name="Text 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 pp. 6–7, §3.3 and Table 1; pp. 18–19, App. D</a:t>
            </a:r>
            <a:endParaRPr lang="en-US" sz="1050" dirty="0"/>
          </a:p>
        </p:txBody>
      </p:sp>
      <p:sp>
        <p:nvSpPr>
          <p:cNvPr id="7" name="Text 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주제 일치의 이득에는 PPL 비용이 있을 수 있다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Table 1의 Qwen2.5-7B + AWQ 사례는 MathQA가 math를 높이면서 PPL을 높이는 모습을 보인다</a:t>
            </a:r>
            <a:endParaRPr lang="en-US" sz="1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609088"/>
                <a:gridCol w="2174240"/>
                <a:gridCol w="2391664"/>
                <a:gridCol w="369620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calibration data</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PPL 낮을수록 좋음</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Math 높을수록 좋음</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읽는 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WikiText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17.36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47.34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일반 텍스트 기준선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MathQA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19.25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54.42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목표 math는 상승, PPL은 악화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CodeQA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18.95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43.85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다른 주제는 math 보존의 대안이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‘가장 좋은 calibration’은 하나의 점수가 아니라 배포 우선순위가 정하는 다목적 선택이다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 p. 7, Table 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관찰을 두 기준으로 압축하기: 대표성 + 다양성</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저자들은 좋은 보정 set을 텍스트의 표면적 특징보다 activation space의 두 성질로 설명한다</a:t>
            </a:r>
            <a:endParaRPr lang="en-US" sz="1900" dirty="0"/>
          </a:p>
        </p:txBody>
      </p:sp>
      <p:sp>
        <p:nvSpPr>
          <p:cNvPr id="4" name="Text 2"/>
          <p:cNvSpPr txBox="1"/>
          <p:nvPr/>
        </p:nvSpPr>
        <p:spPr>
          <a:xfrm>
            <a:off x="838200" y="21717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대표성: 목표 도메인에서 전형적인 activation pattern을 잘 유발하는가</a:t>
            </a:r>
            <a:endParaRPr lang="en-US" sz="2000" dirty="0"/>
          </a:p>
        </p:txBody>
      </p:sp>
      <p:sp>
        <p:nvSpPr>
          <p:cNvPr id="5" name="Shape 3"/>
          <p:cNvSpPr/>
          <p:nvPr/>
        </p:nvSpPr>
        <p:spPr>
          <a:xfrm>
            <a:off x="838200" y="2654300"/>
            <a:ext cx="106934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38200" y="26924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다양성: 서로 다른 activation pattern을 충분히 폭넓게 포함하는가</a:t>
            </a:r>
            <a:endParaRPr lang="en-US" sz="2000" dirty="0"/>
          </a:p>
        </p:txBody>
      </p:sp>
      <p:sp>
        <p:nvSpPr>
          <p:cNvPr id="7" name="Shape 5"/>
          <p:cNvSpPr/>
          <p:nvPr/>
        </p:nvSpPr>
        <p:spPr>
          <a:xfrm>
            <a:off x="838200" y="3175000"/>
            <a:ext cx="10693400" cy="0"/>
          </a:xfrm>
          <a:prstGeom prst="line">
            <a:avLst/>
          </a:prstGeom>
          <a:noFill/>
          <a:ln w="12700">
            <a:solidFill>
              <a:srgbClr val="C9D8D4"/>
            </a:solidFill>
            <a:prstDash val="solid"/>
            <a:headEnd type="none"/>
            <a:tailEnd type="none"/>
          </a:ln>
        </p:spPr>
        <p:txBody>
          <a:bodyPr/>
          <a:lstStyle/>
          <a:p>
            <a:endParaRPr lang="ko-KR"/>
          </a:p>
        </p:txBody>
      </p:sp>
      <p:sp>
        <p:nvSpPr>
          <p:cNvPr id="8" name="Text 6"/>
          <p:cNvSpPr txBox="1"/>
          <p:nvPr/>
        </p:nvSpPr>
        <p:spPr>
          <a:xfrm>
            <a:off x="838200" y="32131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도메인·언어·주제의 일치는 대표성의 한 단서가 될 수 있다</a:t>
            </a:r>
            <a:endParaRPr lang="en-US" sz="2000" dirty="0"/>
          </a:p>
        </p:txBody>
      </p:sp>
      <p:sp>
        <p:nvSpPr>
          <p:cNvPr id="9" name="Shape 7"/>
          <p:cNvSpPr/>
          <p:nvPr/>
        </p:nvSpPr>
        <p:spPr>
          <a:xfrm>
            <a:off x="838200" y="3695700"/>
            <a:ext cx="10693400" cy="0"/>
          </a:xfrm>
          <a:prstGeom prst="line">
            <a:avLst/>
          </a:prstGeom>
          <a:noFill/>
          <a:ln w="12700">
            <a:solidFill>
              <a:srgbClr val="C9D8D4"/>
            </a:solidFill>
            <a:prstDash val="solid"/>
            <a:headEnd type="none"/>
            <a:tailEnd type="none"/>
          </a:ln>
        </p:spPr>
        <p:txBody>
          <a:bodyPr/>
          <a:lstStyle/>
          <a:p>
            <a:endParaRPr lang="ko-KR"/>
          </a:p>
        </p:txBody>
      </p:sp>
      <p:sp>
        <p:nvSpPr>
          <p:cNvPr id="10" name="Text 8"/>
          <p:cNvSpPr txBox="1"/>
          <p:nvPr/>
        </p:nvSpPr>
        <p:spPr>
          <a:xfrm>
            <a:off x="838200" y="37338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mixed 난이도·format richness·여러 표본은 다양성의 한 단서가 될 수 있다</a:t>
            </a:r>
            <a:endParaRPr lang="en-US" sz="2000" dirty="0"/>
          </a:p>
        </p:txBody>
      </p:sp>
      <p:sp>
        <p:nvSpPr>
          <p:cNvPr id="11" name="Shape 9"/>
          <p:cNvSpPr/>
          <p:nvPr/>
        </p:nvSpPr>
        <p:spPr>
          <a:xfrm>
            <a:off x="838200" y="4216400"/>
            <a:ext cx="10693400" cy="0"/>
          </a:xfrm>
          <a:prstGeom prst="line">
            <a:avLst/>
          </a:prstGeom>
          <a:noFill/>
          <a:ln w="12700">
            <a:solidFill>
              <a:srgbClr val="C9D8D4"/>
            </a:solidFill>
            <a:prstDash val="solid"/>
            <a:headEnd type="none"/>
            <a:tailEnd type="none"/>
          </a:ln>
        </p:spPr>
        <p:txBody>
          <a:bodyPr/>
          <a:lstStyle/>
          <a:p>
            <a:endParaRPr lang="ko-KR"/>
          </a:p>
        </p:txBody>
      </p:sp>
      <p:sp>
        <p:nvSpPr>
          <p:cNvPr id="12" name="Text 10"/>
          <p:cNvSpPr txBox="1"/>
          <p:nvPr/>
        </p:nvSpPr>
        <p:spPr>
          <a:xfrm>
            <a:off x="838200" y="42545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두 기준의 균형은 general deployment와 targeted deployment에서 다를 수 있다</a:t>
            </a:r>
            <a:endParaRPr lang="en-US" sz="2000" dirty="0"/>
          </a:p>
        </p:txBody>
      </p:sp>
      <p:sp>
        <p:nvSpPr>
          <p:cNvPr id="13" name="Shape 11"/>
          <p:cNvSpPr/>
          <p:nvPr/>
        </p:nvSpPr>
        <p:spPr>
          <a:xfrm>
            <a:off x="838200" y="4737100"/>
            <a:ext cx="10693400" cy="0"/>
          </a:xfrm>
          <a:prstGeom prst="line">
            <a:avLst/>
          </a:prstGeom>
          <a:noFill/>
          <a:ln w="12700">
            <a:solidFill>
              <a:srgbClr val="C9D8D4"/>
            </a:solidFill>
            <a:prstDash val="solid"/>
            <a:headEnd type="none"/>
            <a:tailEnd type="none"/>
          </a:ln>
        </p:spPr>
        <p:txBody>
          <a:bodyPr/>
          <a:lstStyle/>
          <a:p>
            <a:endParaRPr lang="ko-KR"/>
          </a:p>
        </p:txBody>
      </p:sp>
      <p:sp>
        <p:nvSpPr>
          <p:cNvPr id="14" name="Text 12"/>
          <p:cNvSpPr txBox="1"/>
          <p:nvPr/>
        </p:nvSpPr>
        <p:spPr>
          <a:xfrm>
            <a:off x="838200" y="47752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이는 원문 실험에서 얻은 설계 관점이며, 최적성 정리는 아니다</a:t>
            </a:r>
            <a:endParaRPr lang="en-US" sz="2000" dirty="0"/>
          </a:p>
        </p:txBody>
      </p:sp>
      <p:sp>
        <p:nvSpPr>
          <p:cNvPr id="15" name="Shape 13"/>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6" name="Text 14"/>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COLA의 핵심 선택 단위는 ‘좋아 보이는 문장’이 아니라 모델이 보이는 activation 공간이다</a:t>
            </a:r>
            <a:endParaRPr lang="en-US" sz="1750" dirty="0"/>
          </a:p>
        </p:txBody>
      </p:sp>
      <p:sp>
        <p:nvSpPr>
          <p:cNvPr id="17" name="Shape 15"/>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8" name="Text 16"/>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 p. 7, §4.1; pp. 19–22, App. E</a:t>
            </a:r>
            <a:endParaRPr lang="en-US" sz="1050" dirty="0"/>
          </a:p>
        </p:txBody>
      </p:sp>
      <p:sp>
        <p:nvSpPr>
          <p:cNvPr id="19" name="Text 17"/>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COLA 흐름: 데이터셋에서 대표 표본까지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세 큐레이션 단계가 끝난 뒤에만 기존 compressor가 그 작은 set을 읽는다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후보 데이터 D</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사전학습·도메인 후보 풀</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Stage 1 선택</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목표 능력·도메인에 맞는 출처</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Stage 2 가공</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길이·형식·reasoning richness 조정</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Stage 3 표본</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activation 공간에서 대표·다양 표본</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기존 압축</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선택 set으로 AWQ·GPTQ·pruning 수행</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COLA의 output은 압축된 가중치가 아니라, 기존 압축기에 넣을 calibration set이다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 p. 8, §4.2</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Stage 1: 먼저 배포 목표에 맞는 후보 출처를 고른다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원문 Eq. (1)은 capability별 우선순위와 coverage를 이용해 S를 D에서 선택한다</a:t>
            </a:r>
            <a:endParaRPr lang="en-US" sz="1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3913632"/>
                <a:gridCol w="478332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기호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의미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Stage 1에서의 역할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사용 가능한 dataset 후보 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S를 고를 출발점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보존하려는 capability 집합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예: language·math·code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w_c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capability c의 중요도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배포 우선순위를 반영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coverage(S,c)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S가 c를 얼마나 덮는지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가중 합을 크게 하는 S를 선택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읽기 쉬운 형태로 쓰면 ‘S ⊆ D에서 Σ w_c × coverage(S,c)를 최대화’하는 선택이다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 p. 8, Eq. (1) and §4.2; p. 24, Eq. (5)</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Stage 2: 출처를 과제 맞춤 입력으로 가공한다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원문은 길이와 format richness를 조정하되, 한 가지 길이·형식이 항상 최고라고 말하지 않는다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선택한 출처</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Stage 1에서 고른 dataset</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길이 설정</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보통 2,048 token, 방법별 조정 가능</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구조 확인</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질문·답·추론 구조가 있는지 본다</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format 보강</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가능할 때 explicit reasoning QA로 변환</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처리된 후보</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Stage 3가 고를 sample pool</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형식 보강은 모든 텍스트에 reasoning을 만들라는 뜻이 아니라 조건부 처리 단계다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 p. 8, §4.2; p. 5, Fig. 5</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Stage 3: activation 공간에서 대표 표본을 고른다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원문 Eqs. (2)–(3)은 압축 전 모델 반응을 줄여서 군집화하고, 각 중심에 가까운 표본을 택한다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원 모델 forward</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후보 x_i를 압축 전 모델에 통과</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activation 벡터</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layer별 hidden state를 집계</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random projection</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D차원을 더 작은 d차원으로 축소</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k-means</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투영 벡터를 k개 cluster로 묶음</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centroid 대표</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각 중심에 가장 가까운 x_i를 선택</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k는 final sample 수이며, centroid 가까움은 그 cluster의 대표성을 노린다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 p. 8, Eqs. (2)–(3) and §4.2; p. 24, App. G</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강의용 계산: centroid 대표를 직접 고르기</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가정: 투영 뒤 a=(1,1), b=(1,2), c=(2,2)는 C1, d=(8,8)는 C2이며 k=2다</a:t>
            </a:r>
            <a:endParaRPr lang="en-US" sz="1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304544"/>
                <a:gridCol w="2717800"/>
                <a:gridCol w="1521968"/>
                <a:gridCol w="2717800"/>
                <a:gridCol w="260908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표본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projected a-prime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cluster</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centroid까지 거리</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선택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약 0.75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(1, 2)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약 0.47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C1 대표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(2, 2)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약 0.75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(8, 8)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C2 대표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최종 set은 {b, d}: 각 cluster에서 ‘가장 대표적인’ activation 반응 하나씩이다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 p. 8, Eq. (3); teaching toy</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이 toy가 보여 주는 것과 보여 주지 않는 것</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nearest-centroid 규칙은 selection 규칙을 설명하지만, 실제 모델의 activation 계산을 대체하지 않는다</a:t>
            </a:r>
            <a:endParaRPr lang="en-US" sz="1900" dirty="0"/>
          </a:p>
        </p:txBody>
      </p:sp>
      <p:sp>
        <p:nvSpPr>
          <p:cNvPr id="4" name="Text 2"/>
          <p:cNvSpPr txBox="1"/>
          <p:nvPr/>
        </p:nvSpPr>
        <p:spPr>
          <a:xfrm>
            <a:off x="838200" y="21717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b와 d는 원문 실험에서 최고 점수를 낸 문장이 아니다</a:t>
            </a:r>
            <a:endParaRPr lang="en-US" sz="2000" dirty="0"/>
          </a:p>
        </p:txBody>
      </p:sp>
      <p:sp>
        <p:nvSpPr>
          <p:cNvPr id="5" name="Shape 3"/>
          <p:cNvSpPr/>
          <p:nvPr/>
        </p:nvSpPr>
        <p:spPr>
          <a:xfrm>
            <a:off x="838200" y="2654300"/>
            <a:ext cx="106934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38200" y="26924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‘두 cluster’는 toy의 선택이며, 실제 k는 최종 sample 수를 제어한다</a:t>
            </a:r>
            <a:endParaRPr lang="en-US" sz="2000" dirty="0"/>
          </a:p>
        </p:txBody>
      </p:sp>
      <p:sp>
        <p:nvSpPr>
          <p:cNvPr id="7" name="Shape 5"/>
          <p:cNvSpPr/>
          <p:nvPr/>
        </p:nvSpPr>
        <p:spPr>
          <a:xfrm>
            <a:off x="838200" y="3175000"/>
            <a:ext cx="10693400" cy="0"/>
          </a:xfrm>
          <a:prstGeom prst="line">
            <a:avLst/>
          </a:prstGeom>
          <a:noFill/>
          <a:ln w="12700">
            <a:solidFill>
              <a:srgbClr val="C9D8D4"/>
            </a:solidFill>
            <a:prstDash val="solid"/>
            <a:headEnd type="none"/>
            <a:tailEnd type="none"/>
          </a:ln>
        </p:spPr>
        <p:txBody>
          <a:bodyPr/>
          <a:lstStyle/>
          <a:p>
            <a:endParaRPr lang="ko-KR"/>
          </a:p>
        </p:txBody>
      </p:sp>
      <p:sp>
        <p:nvSpPr>
          <p:cNvPr id="8" name="Text 6"/>
          <p:cNvSpPr txBox="1"/>
          <p:nvPr/>
        </p:nvSpPr>
        <p:spPr>
          <a:xfrm>
            <a:off x="838200" y="32131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random projection 숫자도 toy의 가정이며, 논문 측정값이 아니다</a:t>
            </a:r>
            <a:endParaRPr lang="en-US" sz="2000" dirty="0"/>
          </a:p>
        </p:txBody>
      </p:sp>
      <p:sp>
        <p:nvSpPr>
          <p:cNvPr id="9" name="Shape 7"/>
          <p:cNvSpPr/>
          <p:nvPr/>
        </p:nvSpPr>
        <p:spPr>
          <a:xfrm>
            <a:off x="838200" y="3695700"/>
            <a:ext cx="10693400" cy="0"/>
          </a:xfrm>
          <a:prstGeom prst="line">
            <a:avLst/>
          </a:prstGeom>
          <a:noFill/>
          <a:ln w="12700">
            <a:solidFill>
              <a:srgbClr val="C9D8D4"/>
            </a:solidFill>
            <a:prstDash val="solid"/>
            <a:headEnd type="none"/>
            <a:tailEnd type="none"/>
          </a:ln>
        </p:spPr>
        <p:txBody>
          <a:bodyPr/>
          <a:lstStyle/>
          <a:p>
            <a:endParaRPr lang="ko-KR"/>
          </a:p>
        </p:txBody>
      </p:sp>
      <p:sp>
        <p:nvSpPr>
          <p:cNvPr id="10" name="Text 8"/>
          <p:cNvSpPr txBox="1"/>
          <p:nvPr/>
        </p:nvSpPr>
        <p:spPr>
          <a:xfrm>
            <a:off x="838200" y="37338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한 cluster의 중심에 가까움은 그 cluster 안에서의 대표성이다</a:t>
            </a:r>
            <a:endParaRPr lang="en-US" sz="2000" dirty="0"/>
          </a:p>
        </p:txBody>
      </p:sp>
      <p:sp>
        <p:nvSpPr>
          <p:cNvPr id="11" name="Shape 9"/>
          <p:cNvSpPr/>
          <p:nvPr/>
        </p:nvSpPr>
        <p:spPr>
          <a:xfrm>
            <a:off x="838200" y="4216400"/>
            <a:ext cx="10693400" cy="0"/>
          </a:xfrm>
          <a:prstGeom prst="line">
            <a:avLst/>
          </a:prstGeom>
          <a:noFill/>
          <a:ln w="12700">
            <a:solidFill>
              <a:srgbClr val="C9D8D4"/>
            </a:solidFill>
            <a:prstDash val="solid"/>
            <a:headEnd type="none"/>
            <a:tailEnd type="none"/>
          </a:ln>
        </p:spPr>
        <p:txBody>
          <a:bodyPr/>
          <a:lstStyle/>
          <a:p>
            <a:endParaRPr lang="ko-KR"/>
          </a:p>
        </p:txBody>
      </p:sp>
      <p:sp>
        <p:nvSpPr>
          <p:cNvPr id="12" name="Text 10"/>
          <p:cNvSpPr txBox="1"/>
          <p:nvPr/>
        </p:nvSpPr>
        <p:spPr>
          <a:xfrm>
            <a:off x="838200" y="42545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여러 cluster를 남기는 것이 activation-space 다양성을 표현한다</a:t>
            </a:r>
            <a:endParaRPr lang="en-US" sz="2000" dirty="0"/>
          </a:p>
        </p:txBody>
      </p:sp>
      <p:sp>
        <p:nvSpPr>
          <p:cNvPr id="13" name="Shape 11"/>
          <p:cNvSpPr/>
          <p:nvPr/>
        </p:nvSpPr>
        <p:spPr>
          <a:xfrm>
            <a:off x="838200" y="4737100"/>
            <a:ext cx="10693400" cy="0"/>
          </a:xfrm>
          <a:prstGeom prst="line">
            <a:avLst/>
          </a:prstGeom>
          <a:noFill/>
          <a:ln w="12700">
            <a:solidFill>
              <a:srgbClr val="C9D8D4"/>
            </a:solidFill>
            <a:prstDash val="solid"/>
            <a:headEnd type="none"/>
            <a:tailEnd type="none"/>
          </a:ln>
        </p:spPr>
        <p:txBody>
          <a:bodyPr/>
          <a:lstStyle/>
          <a:p>
            <a:endParaRPr lang="ko-KR"/>
          </a:p>
        </p:txBody>
      </p:sp>
      <p:sp>
        <p:nvSpPr>
          <p:cNvPr id="14" name="Text 12"/>
          <p:cNvSpPr txBox="1"/>
          <p:nvPr/>
        </p:nvSpPr>
        <p:spPr>
          <a:xfrm>
            <a:off x="838200" y="47752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텍스트 의미가 비슷해도 activation이 같다는 뜻은 아니다</a:t>
            </a:r>
            <a:endParaRPr lang="en-US" sz="2000" dirty="0"/>
          </a:p>
        </p:txBody>
      </p:sp>
      <p:sp>
        <p:nvSpPr>
          <p:cNvPr id="15" name="Shape 13"/>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6" name="Text 14"/>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COLA는 전역 최고 문장 순위보다 여러 activation 영역을 대표 표본으로 덮는 방식에 가깝다</a:t>
            </a:r>
            <a:endParaRPr lang="en-US" sz="1750" dirty="0"/>
          </a:p>
        </p:txBody>
      </p:sp>
      <p:sp>
        <p:nvSpPr>
          <p:cNvPr id="17" name="Shape 15"/>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8" name="Text 16"/>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 p. 8, §4.2; teaching toy boundary</a:t>
            </a:r>
            <a:endParaRPr lang="en-US" sz="1050" dirty="0"/>
          </a:p>
        </p:txBody>
      </p:sp>
      <p:sp>
        <p:nvSpPr>
          <p:cNvPr id="19" name="Text 17"/>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일반 배포 결과: 한 조건을 같은 행에서 비교하기</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Table 2의 LLaMA3-8B + SparseGPT 50%에서 commonsense score는 COLA가 가장 높다</a:t>
            </a:r>
            <a:endParaRPr lang="en-US" sz="19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370072"/>
                <a:gridCol w="2174240"/>
                <a:gridCol w="2391664"/>
                <a:gridCol w="293522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calibration approach</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commonsense score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WikiText 대비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WikiText random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41.85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기준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general deployment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Self-Gen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43.61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+1.76 point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SparseGPT 50%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COLA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44.23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+2.38 point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LLaMA3-8B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 수치는 한 model·compressor·metric의 경험적 1–2 point대 개선일 뿐, 보장은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 p. 9, Table 2 and §4.3</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목표 배포 결과: code용 calibration을 고른 조건</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Table 6의 Qwen2.5-7B + AWQ 4-bit, code deployment에서 COLA가 가장 높은 code score를 보고한다</a:t>
            </a:r>
            <a:endParaRPr lang="en-US" sz="1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370072"/>
                <a:gridCol w="1956816"/>
                <a:gridCol w="2826512"/>
                <a:gridCol w="271780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calibration approach</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code score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CodeQA random 대비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CodeQA random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68.73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기준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targeted code deployment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Self-Gen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70.05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+1.32 point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AWQ 4-bit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COLA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72.18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+3.45 point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Qwen2.5-7B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목표 도메인 선택은 이 조건에서 차이가 컸지만, 다른 deployment 성능을 대변하지 않는다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 p. 23, Table 6; pp. 22–23, App. F</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더 큰 모델에서도 본 조건부 관찰</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Appendix H는 큰 모델의 general deployment에서도 같은 비교 틀을 추가로 보고한다</a:t>
            </a:r>
            <a:endParaRPr lang="en-US" sz="1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478784"/>
                <a:gridCol w="1956816"/>
                <a:gridCol w="1848104"/>
                <a:gridCol w="1521968"/>
                <a:gridCol w="206552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모델·압축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metric</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WikiText random</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COLA</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차이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14097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LLaMA3.1-70B + AWQ 4-bit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commonsense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71.84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74.15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+2.31 point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14097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Qwen2.5-32B + GPTQ 4-bit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math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45.62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47.26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+1.64 point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대형 모델 표도 가능성을 보일 뿐, 논문이 측정한 조합에 한정된다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 pp. 24–25, Table 9 and App. H</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spectral analysis는 보조 설명이지 정리는 아니다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Appendix E는 GPTQ 4-bit에서 FFN weight의 주파수·energy 그림을 비교해 activation-space 해석을 보강한다</a:t>
            </a:r>
            <a:endParaRPr lang="en-US" sz="1900" dirty="0"/>
          </a:p>
        </p:txBody>
      </p:sp>
      <p:sp>
        <p:nvSpPr>
          <p:cNvPr id="4" name="Text 2"/>
          <p:cNvSpPr txBox="1"/>
          <p:nvPr/>
        </p:nvSpPr>
        <p:spPr>
          <a:xfrm>
            <a:off x="838200" y="21717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Figure 7은 LLaMA3-8B 32개 layer의 FFN spectrum을 시각화한다</a:t>
            </a:r>
            <a:endParaRPr lang="en-US" sz="2000" dirty="0"/>
          </a:p>
        </p:txBody>
      </p:sp>
      <p:sp>
        <p:nvSpPr>
          <p:cNvPr id="5" name="Shape 3"/>
          <p:cNvSpPr/>
          <p:nvPr/>
        </p:nvSpPr>
        <p:spPr>
          <a:xfrm>
            <a:off x="838200" y="2654300"/>
            <a:ext cx="106934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38200" y="26924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Figure 8은 compressed/original magnitude ratio가 1에 가까운지를 본다</a:t>
            </a:r>
            <a:endParaRPr lang="en-US" sz="2000" dirty="0"/>
          </a:p>
        </p:txBody>
      </p:sp>
      <p:sp>
        <p:nvSpPr>
          <p:cNvPr id="7" name="Shape 5"/>
          <p:cNvSpPr/>
          <p:nvPr/>
        </p:nvSpPr>
        <p:spPr>
          <a:xfrm>
            <a:off x="838200" y="3175000"/>
            <a:ext cx="10693400" cy="0"/>
          </a:xfrm>
          <a:prstGeom prst="line">
            <a:avLst/>
          </a:prstGeom>
          <a:noFill/>
          <a:ln w="12700">
            <a:solidFill>
              <a:srgbClr val="C9D8D4"/>
            </a:solidFill>
            <a:prstDash val="solid"/>
            <a:headEnd type="none"/>
            <a:tailEnd type="none"/>
          </a:ln>
        </p:spPr>
        <p:txBody>
          <a:bodyPr/>
          <a:lstStyle/>
          <a:p>
            <a:endParaRPr lang="ko-KR"/>
          </a:p>
        </p:txBody>
      </p:sp>
      <p:sp>
        <p:nvSpPr>
          <p:cNvPr id="8" name="Text 6"/>
          <p:cNvSpPr txBox="1"/>
          <p:nvPr/>
        </p:nvSpPr>
        <p:spPr>
          <a:xfrm>
            <a:off x="838200" y="32131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Figure 9는 low·mid·high band energy 분포를 layer별로 비교한다</a:t>
            </a:r>
            <a:endParaRPr lang="en-US" sz="2000" dirty="0"/>
          </a:p>
        </p:txBody>
      </p:sp>
      <p:sp>
        <p:nvSpPr>
          <p:cNvPr id="9" name="Shape 7"/>
          <p:cNvSpPr/>
          <p:nvPr/>
        </p:nvSpPr>
        <p:spPr>
          <a:xfrm>
            <a:off x="838200" y="3695700"/>
            <a:ext cx="10693400" cy="0"/>
          </a:xfrm>
          <a:prstGeom prst="line">
            <a:avLst/>
          </a:prstGeom>
          <a:noFill/>
          <a:ln w="12700">
            <a:solidFill>
              <a:srgbClr val="C9D8D4"/>
            </a:solidFill>
            <a:prstDash val="solid"/>
            <a:headEnd type="none"/>
            <a:tailEnd type="none"/>
          </a:ln>
        </p:spPr>
        <p:txBody>
          <a:bodyPr/>
          <a:lstStyle/>
          <a:p>
            <a:endParaRPr lang="ko-KR"/>
          </a:p>
        </p:txBody>
      </p:sp>
      <p:sp>
        <p:nvSpPr>
          <p:cNvPr id="10" name="Text 8"/>
          <p:cNvSpPr txBox="1"/>
          <p:nvPr/>
        </p:nvSpPr>
        <p:spPr>
          <a:xfrm>
            <a:off x="838200" y="37338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저자들은 COLA가 원 모델의 분포에 더 가까운 패턴을 보인다고 해석한다</a:t>
            </a:r>
            <a:endParaRPr lang="en-US" sz="2000" dirty="0"/>
          </a:p>
        </p:txBody>
      </p:sp>
      <p:sp>
        <p:nvSpPr>
          <p:cNvPr id="11" name="Shape 9"/>
          <p:cNvSpPr/>
          <p:nvPr/>
        </p:nvSpPr>
        <p:spPr>
          <a:xfrm>
            <a:off x="838200" y="4216400"/>
            <a:ext cx="10693400" cy="0"/>
          </a:xfrm>
          <a:prstGeom prst="line">
            <a:avLst/>
          </a:prstGeom>
          <a:noFill/>
          <a:ln w="12700">
            <a:solidFill>
              <a:srgbClr val="C9D8D4"/>
            </a:solidFill>
            <a:prstDash val="solid"/>
            <a:headEnd type="none"/>
            <a:tailEnd type="none"/>
          </a:ln>
        </p:spPr>
        <p:txBody>
          <a:bodyPr/>
          <a:lstStyle/>
          <a:p>
            <a:endParaRPr lang="ko-KR"/>
          </a:p>
        </p:txBody>
      </p:sp>
      <p:sp>
        <p:nvSpPr>
          <p:cNvPr id="12" name="Text 10"/>
          <p:cNvSpPr txBox="1"/>
          <p:nvPr/>
        </p:nvSpPr>
        <p:spPr>
          <a:xfrm>
            <a:off x="838200" y="42545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그러나 이 분석은 GPTQ 4-bit와 해당 시각화 설정의 empirical evidence다</a:t>
            </a:r>
            <a:endParaRPr lang="en-US" sz="2000" dirty="0"/>
          </a:p>
        </p:txBody>
      </p:sp>
      <p:sp>
        <p:nvSpPr>
          <p:cNvPr id="13" name="Shape 11"/>
          <p:cNvSpPr/>
          <p:nvPr/>
        </p:nvSpPr>
        <p:spPr>
          <a:xfrm>
            <a:off x="838200" y="4737100"/>
            <a:ext cx="10693400" cy="0"/>
          </a:xfrm>
          <a:prstGeom prst="line">
            <a:avLst/>
          </a:prstGeom>
          <a:noFill/>
          <a:ln w="12700">
            <a:solidFill>
              <a:srgbClr val="C9D8D4"/>
            </a:solidFill>
            <a:prstDash val="solid"/>
            <a:headEnd type="none"/>
            <a:tailEnd type="none"/>
          </a:ln>
        </p:spPr>
        <p:txBody>
          <a:bodyPr/>
          <a:lstStyle/>
          <a:p>
            <a:endParaRPr lang="ko-KR"/>
          </a:p>
        </p:txBody>
      </p:sp>
      <p:sp>
        <p:nvSpPr>
          <p:cNvPr id="14" name="Text 12"/>
          <p:cNvSpPr txBox="1"/>
          <p:nvPr/>
        </p:nvSpPr>
        <p:spPr>
          <a:xfrm>
            <a:off x="838200" y="47752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특정 frequency band가 특정 능력을 ‘저장한다’는 인과 정리를 증명하지 않는다</a:t>
            </a:r>
            <a:endParaRPr lang="en-US" sz="2000" dirty="0"/>
          </a:p>
        </p:txBody>
      </p:sp>
      <p:sp>
        <p:nvSpPr>
          <p:cNvPr id="15" name="Shape 13"/>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6" name="Text 14"/>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 그림들은 COLA 설계의 해석 근거이지, activation-space 최적성의 형식 증명은 아니다</a:t>
            </a:r>
            <a:endParaRPr lang="en-US" sz="1750" dirty="0"/>
          </a:p>
        </p:txBody>
      </p:sp>
      <p:sp>
        <p:nvSpPr>
          <p:cNvPr id="17" name="Shape 15"/>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8" name="Text 16"/>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 pp. 19–22, App. E and Figs. 7–9</a:t>
            </a:r>
            <a:endParaRPr lang="en-US" sz="1050" dirty="0"/>
          </a:p>
        </p:txBody>
      </p:sp>
      <p:sp>
        <p:nvSpPr>
          <p:cNvPr id="19" name="Text 17"/>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Proxy pilot: coverage 추정 가능성</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Appendix J는 작은 proxy 평가가 full evaluation 기반 coverage와 얼마나 맞는지 별도로 살핀다</a:t>
            </a:r>
            <a:endParaRPr lang="en-US" sz="19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065528"/>
                <a:gridCol w="1956816"/>
                <a:gridCol w="2935224"/>
                <a:gridCol w="391363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capability</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상관 r</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proxy 설정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 경계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commonsense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0.97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BoolQ 대표 benchmark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이 논문의 후보 데이터·5회 평균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math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0.93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GSM8K 대표 benchmark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full evaluation을 일반적으로 대체한다는 보장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code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0.91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HumanEval 대표 benchmark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unseen dataset까지 검증하지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end-to-end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평균 gap ≤ 0.2 point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LLaMA3-8B만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시간 제한으로 제한된 실험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proxy는 수동 heuristic을 줄일 가능성을 보인 pilot이지, 자동 선택 보증은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 pp. 26–27, Tables 11–12 and App. J</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큐레이션의 one-time offline 비용</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Table 14는 general scenario에서 네 main compressor에 평균한 Self-Gen과 COLA breakdown을 보고한다</a:t>
            </a:r>
            <a:endParaRPr lang="en-US" sz="19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2500376"/>
                <a:gridCol w="2935224"/>
                <a:gridCol w="271780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모델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Self-Gen 시간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COLA 전체 시간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COLA peak memory</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14097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LLaMA3-8B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2.58 min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6.35 min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7.90 GB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14097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Qwen2.5-7B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2.35 min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5.54 min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7.52 GB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COLA에는 compact calibration set을 위한 one-time offline 비용이 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 p. 28, Table 14 and App. L</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Pretraining/SFT와 calibration curation은 다르다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Appendix P는 ‘새 능력을 가르치는 데이터’와 ‘압축 중 기존 능력을 보존할 입력’을 구분한다</a:t>
            </a:r>
            <a:endParaRPr lang="en-US" sz="19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956816"/>
                <a:gridCol w="4348480"/>
                <a:gridCol w="456590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관점</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pretraining / SFT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post-training calibration curation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시점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학습 중 능력 습득·정렬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학습 뒤 압축 중 능력 보존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규모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대규모 corpus 중심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대개 매우 작은 표본 set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데이터 역할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지식·행동을 새로 학습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기존 parameter 반응을 드러내는 진단 입력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선정 기준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일반화용 coverage와 품질</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activation-space 대표성·다양성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둘 다 curation이지만, COLA를 fine-tuning recipe로 읽으면 안 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 pp. 29–30, App. P</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마무리: calibration 최적성은 조건부다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COLA는 deployment-aligned source·processing·activation-space selection을 묶어 기존 압축 앞단을 바꾼다</a:t>
            </a:r>
            <a:endParaRPr lang="en-US" sz="1900" dirty="0"/>
          </a:p>
        </p:txBody>
      </p:sp>
      <p:sp>
        <p:nvSpPr>
          <p:cNvPr id="4" name="Text 2"/>
          <p:cNvSpPr txBox="1"/>
          <p:nvPr/>
        </p:nvSpPr>
        <p:spPr>
          <a:xfrm>
            <a:off x="838200" y="21717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문제: compressor가 볼 작은 input set이 능력 손실의 방향을 바꿀 수 있다</a:t>
            </a:r>
            <a:endParaRPr lang="en-US" sz="2000" dirty="0"/>
          </a:p>
        </p:txBody>
      </p:sp>
      <p:sp>
        <p:nvSpPr>
          <p:cNvPr id="5" name="Shape 3"/>
          <p:cNvSpPr/>
          <p:nvPr/>
        </p:nvSpPr>
        <p:spPr>
          <a:xfrm>
            <a:off x="838200" y="2654300"/>
            <a:ext cx="106934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38200" y="26924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제안: domain·구성·activation-space의 3단계 curation</a:t>
            </a:r>
            <a:endParaRPr lang="en-US" sz="2000" dirty="0"/>
          </a:p>
        </p:txBody>
      </p:sp>
      <p:sp>
        <p:nvSpPr>
          <p:cNvPr id="7" name="Shape 5"/>
          <p:cNvSpPr/>
          <p:nvPr/>
        </p:nvSpPr>
        <p:spPr>
          <a:xfrm>
            <a:off x="838200" y="3175000"/>
            <a:ext cx="10693400" cy="0"/>
          </a:xfrm>
          <a:prstGeom prst="line">
            <a:avLst/>
          </a:prstGeom>
          <a:noFill/>
          <a:ln w="12700">
            <a:solidFill>
              <a:srgbClr val="C9D8D4"/>
            </a:solidFill>
            <a:prstDash val="solid"/>
            <a:headEnd type="none"/>
            <a:tailEnd type="none"/>
          </a:ln>
        </p:spPr>
        <p:txBody>
          <a:bodyPr/>
          <a:lstStyle/>
          <a:p>
            <a:endParaRPr lang="ko-KR"/>
          </a:p>
        </p:txBody>
      </p:sp>
      <p:sp>
        <p:nvSpPr>
          <p:cNvPr id="8" name="Text 6"/>
          <p:cNvSpPr txBox="1"/>
          <p:nvPr/>
        </p:nvSpPr>
        <p:spPr>
          <a:xfrm>
            <a:off x="838200" y="32131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근거: 두 base LLM과 정해진 pruning·quantization 조건에서의 empirical tables</a:t>
            </a:r>
            <a:endParaRPr lang="en-US" sz="2000" dirty="0"/>
          </a:p>
        </p:txBody>
      </p:sp>
      <p:sp>
        <p:nvSpPr>
          <p:cNvPr id="9" name="Shape 7"/>
          <p:cNvSpPr/>
          <p:nvPr/>
        </p:nvSpPr>
        <p:spPr>
          <a:xfrm>
            <a:off x="838200" y="3695700"/>
            <a:ext cx="10693400" cy="0"/>
          </a:xfrm>
          <a:prstGeom prst="line">
            <a:avLst/>
          </a:prstGeom>
          <a:noFill/>
          <a:ln w="12700">
            <a:solidFill>
              <a:srgbClr val="C9D8D4"/>
            </a:solidFill>
            <a:prstDash val="solid"/>
            <a:headEnd type="none"/>
            <a:tailEnd type="none"/>
          </a:ln>
        </p:spPr>
        <p:txBody>
          <a:bodyPr/>
          <a:lstStyle/>
          <a:p>
            <a:endParaRPr lang="ko-KR"/>
          </a:p>
        </p:txBody>
      </p:sp>
      <p:sp>
        <p:nvSpPr>
          <p:cNvPr id="10" name="Text 8"/>
          <p:cNvSpPr txBox="1"/>
          <p:nvPr/>
        </p:nvSpPr>
        <p:spPr>
          <a:xfrm>
            <a:off x="838200" y="37338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한계: 더 많은 architecture·압축 비율·능력·장기 domain shift는 미검증</a:t>
            </a:r>
            <a:endParaRPr lang="en-US" sz="2000" dirty="0"/>
          </a:p>
        </p:txBody>
      </p:sp>
      <p:sp>
        <p:nvSpPr>
          <p:cNvPr id="11" name="Shape 9"/>
          <p:cNvSpPr/>
          <p:nvPr/>
        </p:nvSpPr>
        <p:spPr>
          <a:xfrm>
            <a:off x="838200" y="4216400"/>
            <a:ext cx="10693400" cy="0"/>
          </a:xfrm>
          <a:prstGeom prst="line">
            <a:avLst/>
          </a:prstGeom>
          <a:noFill/>
          <a:ln w="12700">
            <a:solidFill>
              <a:srgbClr val="C9D8D4"/>
            </a:solidFill>
            <a:prstDash val="solid"/>
            <a:headEnd type="none"/>
            <a:tailEnd type="none"/>
          </a:ln>
        </p:spPr>
        <p:txBody>
          <a:bodyPr/>
          <a:lstStyle/>
          <a:p>
            <a:endParaRPr lang="ko-KR"/>
          </a:p>
        </p:txBody>
      </p:sp>
      <p:sp>
        <p:nvSpPr>
          <p:cNvPr id="12" name="Text 10"/>
          <p:cNvSpPr txBox="1"/>
          <p:nvPr/>
        </p:nvSpPr>
        <p:spPr>
          <a:xfrm>
            <a:off x="838200" y="42545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이론: optimal calibration의 최소 조건이나 보장은 아직 제시되지 않았다</a:t>
            </a:r>
            <a:endParaRPr lang="en-US" sz="2000" dirty="0"/>
          </a:p>
        </p:txBody>
      </p:sp>
      <p:sp>
        <p:nvSpPr>
          <p:cNvPr id="13" name="Shape 11"/>
          <p:cNvSpPr/>
          <p:nvPr/>
        </p:nvSpPr>
        <p:spPr>
          <a:xfrm>
            <a:off x="838200" y="4737100"/>
            <a:ext cx="10693400" cy="0"/>
          </a:xfrm>
          <a:prstGeom prst="line">
            <a:avLst/>
          </a:prstGeom>
          <a:noFill/>
          <a:ln w="12700">
            <a:solidFill>
              <a:srgbClr val="C9D8D4"/>
            </a:solidFill>
            <a:prstDash val="solid"/>
            <a:headEnd type="none"/>
            <a:tailEnd type="none"/>
          </a:ln>
        </p:spPr>
        <p:txBody>
          <a:bodyPr/>
          <a:lstStyle/>
          <a:p>
            <a:endParaRPr lang="ko-KR"/>
          </a:p>
        </p:txBody>
      </p:sp>
      <p:sp>
        <p:nvSpPr>
          <p:cNvPr id="14" name="Text 12"/>
          <p:cNvSpPr txBox="1"/>
          <p:nvPr/>
        </p:nvSpPr>
        <p:spPr>
          <a:xfrm>
            <a:off x="838200" y="47752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실무: 우선 보존 능력을 정한 뒤 coverage weight를 정한다</a:t>
            </a:r>
            <a:endParaRPr lang="en-US" sz="2000" dirty="0"/>
          </a:p>
        </p:txBody>
      </p:sp>
      <p:sp>
        <p:nvSpPr>
          <p:cNvPr id="15" name="Shape 13"/>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6" name="Text 14"/>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압축법이 관찰할 activation도 설계 대상이라는 관점이 핵심이다</a:t>
            </a:r>
            <a:endParaRPr lang="en-US" sz="1750" dirty="0"/>
          </a:p>
        </p:txBody>
      </p:sp>
      <p:sp>
        <p:nvSpPr>
          <p:cNvPr id="17" name="Shape 15"/>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8" name="Text 16"/>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 p. 9, §5; pp. 30–31, App. R</a:t>
            </a:r>
            <a:endParaRPr lang="en-US" sz="1050" dirty="0"/>
          </a:p>
        </p:txBody>
      </p:sp>
      <p:sp>
        <p:nvSpPr>
          <p:cNvPr id="19" name="Text 17"/>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25</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ple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ple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COLA: 압축 뒤 LLM 능력을 지키는 보정 데이터 큐레이션</dc:title>
  <dc:subject>Preserving LLM Capabilities through Calibration Data Curation: From Analysis to Optimization</dc:subject>
  <dc:creator>Research Seminars</dc:creator>
  <cp:lastModifiedBy>Research Seminars</cp:lastModifiedBy>
  <cp:revision>1</cp:revision>
  <dcterms:created xsi:type="dcterms:W3CDTF">2026-09-12T07:25:25Z</dcterms:created>
  <dcterms:modified xsi:type="dcterms:W3CDTF">2026-09-12T07:25:25Z</dcterms:modified>
</cp:coreProperties>
</file>
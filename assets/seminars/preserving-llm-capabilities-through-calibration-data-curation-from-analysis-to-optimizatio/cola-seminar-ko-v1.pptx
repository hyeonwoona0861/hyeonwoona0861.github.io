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17.xml" ContentType="application/vnd.openxmlformats-officedocument.presentationml.slide+xml"/>
  <Override PartName="/ppt/slides/slide12.xml" ContentType="application/vnd.openxmlformats-officedocument.presentationml.slide+xml"/>
  <Override PartName="/ppt/slides/slide19.xml" ContentType="application/vnd.openxmlformats-officedocument.presentationml.slide+xml"/>
  <Override PartName="/ppt/slides/slide11.xml" ContentType="application/vnd.openxmlformats-officedocument.presentationml.slide+xml"/>
  <Override PartName="/ppt/slides/slide22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21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8.xml" ContentType="application/vnd.openxmlformats-officedocument.presentationml.slide+xml"/>
  <Override PartName="/ppt/slides/slide14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5.xml" ContentType="application/vnd.openxmlformats-officedocument.presentationml.slide+xml"/>
  <Override PartName="/ppt/slides/slide24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1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71EFC3AA-CAB5-45F0-8CBD-3546DBC3C7FD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COLA: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압축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능력을 지키는 보정 데이터 큐레이션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논문의 핵심은 새로운 양자화기나 프루너를 발명하는 것이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이미 존재하는 압축기가 어떤 활성화 패턴을 보게 할지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즉 보정 데이터를 어떻게 고를지를 다룹니다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저자들은 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COLA, Curating Optimal LLM compression cAlibration 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부릅니다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| p. 1, title and abstract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Preserving LLM Capabilities through Calibration Data Curation: From Analysis to Optimization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https://arxiv.org/abs/2510.10618v1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2DA38B8-4EA6-45F6-8941-535D6A9D194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강의가 따르는 공개 원문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첫 페이지에는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arXiv:2510.10618v1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일이 표시됩니다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record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 2025 accepted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코멘트가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발표에서는 그 사실만 밝히고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PDF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없는 후속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proceedings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편집이나 코드 실행 결과는 주장하지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| arXiv record; p.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Preserving LLM Capabilities through Calibration Data Curation: From Analysis to Optimization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https://arxiv.org/abs/2510.10618v1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1E420BA-8CEE-4E3C-B835-19411B3C4A7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보정 데이터는 기존 압축기가 보는 관측 창이다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사후학습 압축에서 보정 데이터는 학습용 정답 데이터가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작은 표본을 모델에 흘려 보내 얻은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pruning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가중치 중요도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quantization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동적 범위와 파라미터 설정을 안내합니다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이 논문은 압축기의 바깥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즉 보정 입력을 설계할 수 있는 지점을 연구합니다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| pp. 1–2, §1; p. 17, App. 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Preserving LLM Capabilities through Calibration Data Curation: From Analysis to Optimization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https://arxiv.org/abs/2510.10618v1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9338B63-1888-4784-A5D9-09332DDFDA2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COLA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바꾸는 것과 바꾸지 않는 것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compressor-agnostic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전처리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선정 프레임워크로 제시됩니다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 실험은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AWQ, GPTQ, SparseGPT, Wanda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기존 압축기를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결과를 새로운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weight-update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알고리즘의 효과나 추가 학습 효과로 읽어서는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| pp. 1–2, §1; pp. 7–8, §4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Preserving LLM Capabilities through Calibration Data Curation: From Analysis to Optimization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https://arxiv.org/abs/2510.10618v1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4ECF440-9600-46C2-9063-27FE797238D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네 질문을 순서대로 잇는다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서론의 질문은 단순히 어떤 데이터셋이 최고인지 묻지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텍스트의 구성적 속성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Q2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배포 도메인과의 대응을 살핍니다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저자들은 대표성과 다양성이라는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activation-space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관점을 제안하고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Q4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그 관점을 세 단계 절차로 구현합니다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| pp. 1–2, §1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Preserving LLM Capabilities through Calibration Data Curation: From Analysis to Optimization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https://arxiv.org/abs/2510.10618v1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405EF89-517D-413D-8A60-83E63966348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관찰을 해석하기 위한 실험 조건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주요 탐색은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7B–8B Instruct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모델과 네 압축 설정에서 수행됩니다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기본적으로 각 출처에서 길이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2,048 token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시퀀스를 뽑지만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길이와 표본 수를 조사하는 실험에서는 이 설정을 의도적으로 바꿉니다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PPL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낮을수록 좋고 나머지 능력 점수는 높을수록 좋으므로 숫자의 크기를 서로 직접 비교하면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| p. 3, §3.1; p. 18, App. 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Preserving LLM Capabilities through Calibration Data Curation: From Analysis to Optimization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https://arxiv.org/abs/2510.10618v1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FCA33EF-3F53-4C96-AD51-9A61F880671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Q1: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텍스트의 구성적 속성도 압축 뒤 능력을 바꾼다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근거입니다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길이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양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출처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형식은 모두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패턴을 바꿀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중요한 교육 포인트는 ‘길수록 좋다’ 또는 ‘많을수록 좋다’가 아니라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보존하려는 능력과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compressor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어떤 반응을 보이는지 확인해야 한다는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| pp. 3–5, §3.2 and Figs. 2–5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Preserving LLM Capabilities through Calibration Data Curation: From Analysis to Optimization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https://arxiv.org/abs/2510.10618v1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8ECB3C6-E546-40C1-B666-3D8861FCFBB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반례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표본 수 증가가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점수를 올리지는 않는다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슬라이드의 값은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본문이 요약한 조건별 수치입니다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특히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 generation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개로 늘렸을 때 점수가 낮아진 사례가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핵심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패턴을 이미 포착한 뒤에는 추가 표본의 이득이 체감하고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질이 맞지 않는 표본이 특화 과제에 불리할 수 있다고 해석합니다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이것은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표본이 더 낫다는 결론이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| p. 4, §3.2 and Fig. 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Preserving LLM Capabilities through Calibration Data Curation: From Analysis to Optimization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https://arxiv.org/abs/2510.10618v1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36DFEB9-C842-4F46-9B2B-83754D90ADB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Q2: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배포 도메인에 맞춘 입력은 다른 경로를 활성화한다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downstream deployment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염두에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영어 중심으로 사전학습된 두 모델에서는 영어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calibration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특화 능력에서 유리한 경우가 있지만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다국어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benchmark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평가 언어와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calibration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언어를 맞추는 것이 더 낫다는 관찰도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이 덱은 영어가 보편적으로 최고라는 식으로 말하지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| pp. 6–7, §3.3 and Table 1; pp. 18–19, App. 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Preserving LLM Capabilities through Calibration Data Curation: From Analysis to Optimization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https://arxiv.org/abs/2510.10618v1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E692946-D233-47E5-B67A-7D3E09A9013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주제 일치의 이득에는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PPL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비용이 있을 수 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Qwen2.5-7B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AWQ 4-bit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행을 교육용으로 좁혀 보겠습니다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MathQA calibration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Math 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47.34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54.42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높이지만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PPL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17.36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19.25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나빠집니다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PPL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낮을수록 좋고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높을수록 좋으므로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표는 어떤 데이터가 절대적으로 최고라는 증거가 아니라 목표 능력과 손실을 함께 고르는 문제임을 보여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| p. 7, Table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Preserving LLM Capabilities through Calibration Data Curation: From Analysis to Optimization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https://arxiv.org/abs/2510.10618v1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F8FE6CA-8B9C-4B08-AA9F-850C42F83B1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관찰을 두 기준으로 압축하기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대표성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+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다양성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Section 4.1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앞선 많은 관찰을 대표성과 다양성으로 정리합니다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대표성은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domain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전형적인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다양성은 여러 고유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패턴의 폭을 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해석은 원문이 제시한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empirical mechanism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이 발표에서는 특정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frequency band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특정 단어가 특정 능력을 결정한다고 단정하지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| p. 7, §4.1; pp. 19–22, App. 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Preserving LLM Capabilities through Calibration Data Curation: From Analysis to Optimization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https://arxiv.org/abs/2510.10618v1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55CE7D9-A886-4A57-81EC-7AFD83BBF7C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COLA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흐름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데이터셋에서 대표 표본까지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흐름은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Section 4.2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세 단계를 한 장에 연결한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Stage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dataset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수준의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domain correspondence, Stage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compositional property, Stage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sample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activation representation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다룹니다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마지막 압축 단계는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COLA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내부 알고리즘이 아니라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큐레이션 결과를 사용하는 기존 방법입니다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| p. 8, §4.2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Preserving LLM Capabilities through Calibration Data Curation: From Analysis to Optimization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https://arxiv.org/abs/2510.10618v1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0667EE4-6EFE-46FD-AE58-282C67D245D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Stage 1: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먼저 배포 목표에 맞는 후보 출처를 고른다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선택할 데이터셋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후보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pool, 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목표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capability, w_c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importance 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general deployment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capability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균형 있게 두고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targeted deployment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예를 들어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더 크게 둘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식은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coverage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함수의 구체 구현까지 증명하는 정리가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Stage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선택 목표를 표현합니다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| p. 8, Eq. (1) and §4.2; p. 24, Eq. (5)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Preserving LLM Capabilities through Calibration Data Curation: From Analysis to Optimization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https://arxiv.org/abs/2510.10618v1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942860E-0858-4AC0-B6C0-265021D8650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Stage 2: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출처를 과제 맞춤 입력으로 가공한다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Stage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sequence length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 format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다룹니다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대부분 방법에서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2,048 token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예로 들고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AWQ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512–1,024 token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충분할 수 있다고 적습니다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또한 구조가 부족한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가능할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Q&amp;A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explicit reasoning chain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형식으로 보강할 수 있다고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표현은 데이터의 사실성을 무시하고 임의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rationale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생성하라는 지시가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| p. 8, §4.2; p. 5, Fig. 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Preserving LLM Capabilities through Calibration Data Curation: From Analysis to Optimization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https://arxiv.org/abs/2510.10618v1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8064565-77EA-4F50-99CC-3B0F5C76397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Stage 3: activation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공간에서 대표 표본을 고른다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후보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x_i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aggregated hidden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모아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activation vector a_i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Eq.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 projection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a-prime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줄인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k-means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수행합니다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Eq.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cluster C_j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centroid mu_j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가장 가까운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x_i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선택합니다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cluster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하나씩 택하면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activation-space diversity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중심에 가까운 선택은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representativeness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노립니다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| p. 8, Eqs. (2)–(3) and §4.2; p. 24, App. 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Preserving LLM Capabilities through Calibration Data Curation: From Analysis to Optimization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https://arxiv.org/abs/2510.10618v1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07EB876-BB00-4473-9EA1-522C4D6F5CE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강의용 계산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centroid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대표를 직접 고르기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표는 논문의 측정값이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직접 계산하는 강의용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centroid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mu1=(4/3, 5/3)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a, b, 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유클리드 거리는 각각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0.75, 0.47, 0.75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고릅니다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centroid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거리가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k=2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final 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| p. 8, Eq. (3); teaching toy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Preserving LLM Capabilities through Calibration Data Curation: From Analysis to Optimization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https://arxiv.org/abs/2510.10618v1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22C211B-CA42-4CDE-B072-DA54A359774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보여 주는 것과 보여 주지 않는 것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작은 계산은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Stage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의도를 손으로 확인하게 하지만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activation 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원 모델의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forward pass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얻어야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특히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centroid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근처라는 것은 텍스트의 문학적 품질이나 답의 정답성을 말하지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덱에서는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논문 수치를 분명히 분리합니다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| p. 8, §4.2; teaching toy boundary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Preserving LLM Capabilities through Calibration Data Curation: From Analysis to Optimization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https://arxiv.org/abs/2510.10618v1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9ADB5BB-505E-4F9B-AB80-72D5844B428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일반 배포 결과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조건을 같은 행에서 비교하기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general deployment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WikiText, C4, SlimPajama random sampling, Self-Gen, COLA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비교합니다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LLaMA3-8B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SparseGPT 50%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commonsense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떼어 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COLA 44.23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WikiText 41.85, Self-Gen 43.61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높습니다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비교는 서로 다른 압축법의 우열이 아니라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compressor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아래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calibration approach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차이를 보여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| p. 9, Table 2 and §4.3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Preserving LLM Capabilities through Calibration Data Curation: From Analysis to Optimization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https://arxiv.org/abs/2510.10618v1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8D02F56-621A-4FC6-966D-06D10C24CB1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목표 배포 결과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code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calibration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고른 조건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Appendix 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math, code, commonsense targeted deployment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GPTQ, AWQ, Wanda, SparseGPT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아래에서 비교합니다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표는 그중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Qwen2.5-7B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AWQ 4-bit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행만 가져옵니다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COLA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72.18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CodeQA random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68.73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3.45 percentage point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metric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compressor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같은 폭으로 개선된다고 해석하면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| p. 23, Table 6; pp. 22–23, App. 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Preserving LLM Capabilities through Calibration Data Curation: From Analysis to Optimization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https://arxiv.org/abs/2510.10618v1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6DC3514-FF4A-49DD-A116-3ED3265DA08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더 큰 모델에서도 본 조건부 관찰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Appendix 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LLaMA3.1-70B, Qwen2.5-14B, Qwen2.5-32B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general deployment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추가 평가합니다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슬라이드는 저자들이 직접 예로 든 두 수치를 표로 좁혔습니다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큰 모델에서도 결과가 좋아 보인다는 관찰은 있지만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mixture-of-experts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architecture,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다른 압축 비율까지 검증했다는 뜻은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| pp. 24–25, Table 9 and App. 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Preserving LLM Capabilities through Calibration Data Curation: From Analysis to Optimization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https://arxiv.org/abs/2510.10618v1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B3A7F27-0BE4-4BDE-88AC-84A6B9F3EC5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21. spectral analysis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보조 설명이지 정리는 아니다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Appendix 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spectral perspective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제공합니다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low, mid, high frequency band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capability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해석을 붙이지만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발표에서는 그 해석을 저자들의 시각화 기반 설명으로 제한합니다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특히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GPTQ 4-bit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LLaMA3-8B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FFN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분석이므로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transformer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compression method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보편 법칙이라고 말하지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| pp. 19–22, App. E and Figs. 7–9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Preserving LLM Capabilities through Calibration Data Curation: From Analysis to Optimization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https://arxiv.org/abs/2510.10618v1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BE6BD73-88E8-450D-9C24-14A79BD8F26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22. Proxy pilot: coverage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추정 가능성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Appendix J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후보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32 sample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compression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하고 대표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benchmark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하나씩을 이용해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proxy coverage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만들었습니다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Table 11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값은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commonsense 0.97, math 0.93, code 0.91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Table 12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end-to-end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비교도 가까운 값을 보이지만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저자들은 시간 제한 때문에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LLaMA3-8B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에서만 수행했습니다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그러므로 이 결과를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candidate pool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자동화 완료로 확대하면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| pp. 26–27, Tables 11–12 and App. J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Preserving LLM Capabilities through Calibration Data Curation: From Analysis to Optimization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https://arxiv.org/abs/2510.10618v1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851BC46-48F8-4D5D-B2AC-445A2B47767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큐레이션의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one-time offline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비용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14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 projection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k-means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비용을 따로 보고하고 전체 시간과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peak memory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제시합니다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값들은 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main compression method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걸친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general deployment scenario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평균입니다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serving throughput, end-to-end latency,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혹은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hardware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에서의 비용을 직접 측정한 표가 아니므로 그런 주장으로 바꾸지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| p. 28, Table 14 and App. 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Preserving LLM Capabilities through Calibration Data Curation: From Analysis to Optimization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https://arxiv.org/abs/2510.10618v1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513D518-2000-44E4-95EC-C78ABE46F2A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24. Pretraining/SFT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calibration curation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다르다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Appendix 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데이터가 사용되는 시점과 목적을 구분합니다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Pretraining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SFT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가중치를 학습해 능력과 행동을 습득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정렬하는 과정입니다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Post-training calibration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이미 학습한 모델의 반응을 관찰하여 압축 중 기존 능력의 손실을 줄이는 데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COLA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표본 선택이 모든 능력의 보존을 보장한다는 뜻은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| pp. 29–30, App. 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Preserving LLM Capabilities through Calibration Data Curation: From Analysis to Optimization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https://arxiv.org/abs/2510.10618v1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PlaceHolder 3"/>
          <p:cNvSpPr>
            <a:spLocks noGrp="1"/>
          </p:cNvSpPr>
          <p:nvPr>
            <p:ph type="sldNum" idx="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4CD34D8-D8EC-45F4-89EB-83449AF196D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마무리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calibration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최적성은 조건부다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calibration 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사소한 부속물이 아니라 압축 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capability preservation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바꿀 수 있는 설계 변수라는 점을 체계적으로 보여 주려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세 단계는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deployment priority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activation-space selection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연결합니다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원문 스스로도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base model,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compressor, 50% pruning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4-bit quantization,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즉시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post-compression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평가에 한정되며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formal theoretical guarantees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없다고 적습니다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강의의 결론도 조건부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empirical framework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남겨야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| p. 9, §5; pp. 30–31, App. 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Preserving LLM Capabilities through Calibration Data Curation: From Analysis to Optimization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https://arxiv.org/abs/2510.10618v1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PlaceHolder 3"/>
          <p:cNvSpPr>
            <a:spLocks noGrp="1"/>
          </p:cNvSpPr>
          <p:nvPr>
            <p:ph type="sldNum" idx="2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09FAB68-1511-44DA-A5A8-B61FEC76828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COLA: 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압축 뒤 </a:t>
            </a: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LLM 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능력을 지키는 보정 데이터 큐레이션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Preserving LLM Capabilities through Calibration Data Curation: From Analysis to Optimization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Bowei He, Lihao Yin, Huiling Zhen, Shuqi Liu, Han Wu, Xiaokun Zhang, Mingxuan Yuan, Chen Ma (2025)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압축 알고리즘을 바꾸지 않고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그 알고리즘이 볼 보정 입력을 고르는 방법을 묻는다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 p. 1, title and abstract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강의가 따르는 공개 원문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arXiv v1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기준으로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보고된 실험과 방법의 범위를 분리해 읽는다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2"/>
          <p:cNvSpPr/>
          <p:nvPr/>
        </p:nvSpPr>
        <p:spPr>
          <a:xfrm>
            <a:off x="838080" y="217188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arXiv:2510.10618v1, 2025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년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10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12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일 제출본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3"/>
          <p:cNvSpPr/>
          <p:nvPr/>
        </p:nvSpPr>
        <p:spPr>
          <a:xfrm>
            <a:off x="838080" y="2755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" name="Text 4"/>
          <p:cNvSpPr/>
          <p:nvPr/>
        </p:nvSpPr>
        <p:spPr>
          <a:xfrm>
            <a:off x="838080" y="279396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공개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arXiv record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NeurIPS 2025 accepted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표시한다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5"/>
          <p:cNvSpPr/>
          <p:nvPr/>
        </p:nvSpPr>
        <p:spPr>
          <a:xfrm>
            <a:off x="838080" y="33778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" name="Text 6"/>
          <p:cNvSpPr/>
          <p:nvPr/>
        </p:nvSpPr>
        <p:spPr>
          <a:xfrm>
            <a:off x="838080" y="341640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저자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8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명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Bowei He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외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7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명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7"/>
          <p:cNvSpPr/>
          <p:nvPr/>
        </p:nvSpPr>
        <p:spPr>
          <a:xfrm>
            <a:off x="838080" y="40003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" name="Text 8"/>
          <p:cNvSpPr/>
          <p:nvPr/>
        </p:nvSpPr>
        <p:spPr>
          <a:xfrm>
            <a:off x="838080" y="403848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자료의 수치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식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페이지는 해당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42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쪽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v1 PDF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따른다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Shape 9"/>
          <p:cNvSpPr/>
          <p:nvPr/>
        </p:nvSpPr>
        <p:spPr>
          <a:xfrm>
            <a:off x="838080" y="462276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" name="Text 10"/>
          <p:cNvSpPr/>
          <p:nvPr/>
        </p:nvSpPr>
        <p:spPr>
          <a:xfrm>
            <a:off x="838080" y="466092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후속 개정본이나 미확인 구현 결과를 덧붙이지 않는다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1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" name="Text 1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‘accepted’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표기는 공개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record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상태이며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덱의 과학적 근거는 고정한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v1 PDF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1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" name="Text 1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 arXiv record; p.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보정 데이터는 기존 압축기가 보는 관측 창이다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작은 입력 묶음이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layer activation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만들고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activation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기존 압축 결정을 안내한다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보정 입력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작은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calibration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입력 표본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2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forward pass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압축 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LLM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표본을 통과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6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7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layer activation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입력별 반응 패턴을 얻는다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1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2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기존 압축기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가중치 제거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근사 규칙을 적용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6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7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압축 모델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여러 능력 평가로 보존 정도를 본다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1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2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압축 방법이라도 어떤 보정 입력을 보았는지에 따라 다른 능력이 더 손실될 수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4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 pp. 1–2, §1; p. 17, App. A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COLA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바꾸는 것과 바꾸지 않는 것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압축기 자체가 아니라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그 앞단의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calibration set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고르고 가공하고 대표 표본을 뽑는다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8" name="Table 0"/>
          <p:cNvGraphicFramePr/>
          <p:nvPr/>
        </p:nvGraphicFramePr>
        <p:xfrm>
          <a:off x="660240" y="2082960"/>
          <a:ext cx="10870920" cy="3936600"/>
        </p:xfrm>
        <a:graphic>
          <a:graphicData uri="http://schemas.openxmlformats.org/drawingml/2006/table">
            <a:tbl>
              <a:tblPr/>
              <a:tblGrid>
                <a:gridCol w="2174040"/>
                <a:gridCol w="4348440"/>
                <a:gridCol w="43484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대상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COLA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하는 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COLA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하지 않는 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60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압축 방법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기존 방법에 맞는 입력을 준비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AWQ·GPTQ·SparseGPT·Wanda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대체하지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60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모델 가중치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압축 전 반응을 관찰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사전학습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·fine-tuning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으로 새 능력을 가르치지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60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보정 데이터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도메인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형식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활성화 공간을 기준으로 큐레이션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 학습 코퍼스를 복원한다고 주장하지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60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목표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이미 학습된 능력의 손실을 줄이려 시도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능력 보존을 보장하지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9" name="Shape 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0" name="Text 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 pp. 1–2, §1; pp. 7–8, §4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논문은 네 질문을 순서대로 잇는다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관찰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(Q1·Q2)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최적성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(Q3),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그리고 실제 큐레이션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(Q4)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넘어간다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4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739160"/>
                <a:gridCol w="4348440"/>
                <a:gridCol w="47833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질문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무엇을 바꾸나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다음 단계에 주는 근거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길이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개수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출처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형식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구성적 속성의 영향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언어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주제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추론 난이도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배포 도메인 대응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관찰을 하나의 기준으로 묶기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대표성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다양성의 정의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후보 데이터에서 실제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만들기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COLA 3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단계 프레임워크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COLA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먼저 데이터 민감성을 실험으로 관찰한 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그 관찰을 선택 규칙으로 바꾼다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 pp. 1–2, §1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관찰을 해석하기 위한 실험 조건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결론은 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Instruct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모델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네 사후학습 압축 설정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정해진 능력 평가 안에서 나온다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2" name="Table 0"/>
          <p:cNvGraphicFramePr/>
          <p:nvPr/>
        </p:nvGraphicFramePr>
        <p:xfrm>
          <a:off x="660240" y="2082960"/>
          <a:ext cx="10870920" cy="3936600"/>
        </p:xfrm>
        <a:graphic>
          <a:graphicData uri="http://schemas.openxmlformats.org/drawingml/2006/table">
            <a:tbl>
              <a:tblPr/>
              <a:tblGrid>
                <a:gridCol w="2174040"/>
                <a:gridCol w="4892040"/>
                <a:gridCol w="38048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 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 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LLM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LLaMA3-8B-Instruct, Qwen2.5-7B-Instruct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모델 구조를 대표하지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pruning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SparseGPT 50%, Wanda 4:8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구조적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pruning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평가하지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quantization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GPTQ·AWQ, 4-bit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bit·activation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설정의 보장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기본 보정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출처별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128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× 2,048 token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길이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개수 실험에서는 달라짐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능력 평가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PPL·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상식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수학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코드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다국어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지표마다 방향과 의미가 다름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3" name="Shape 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4" name="Text 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 p. 3, §3.1; p. 18, App. C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Q1: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텍스트의 구성적 속성도 압축 뒤 능력을 바꾼다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한 축을 늘리는 단순 규칙이 아니라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능력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모델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압축법별 반응을 함께 본다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8" name="Table 0"/>
          <p:cNvGraphicFramePr/>
          <p:nvPr/>
        </p:nvGraphicFramePr>
        <p:xfrm>
          <a:off x="660240" y="2082960"/>
          <a:ext cx="10870920" cy="3936600"/>
        </p:xfrm>
        <a:graphic>
          <a:graphicData uri="http://schemas.openxmlformats.org/drawingml/2006/table">
            <a:tbl>
              <a:tblPr/>
              <a:tblGrid>
                <a:gridCol w="2500200"/>
                <a:gridCol w="4131000"/>
                <a:gridCol w="42397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바꾼 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논문이 관찰한 패턴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바로 일반화할 수 없는 이유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60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sequence length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수학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·pruning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특히 민감한 경우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code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비단조 곡선을 보임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60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sample amount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핵심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activation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뒤에는 체감 이득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더 많은 표본이 특화 과제를 악화시킬 수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60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source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C4·WikiText·SlimPajama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선호가 다름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선호는 능력과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compressor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마다 다름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60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format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명시적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reasoning QA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추론 과제에서 유리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과제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입력에서의 보장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9" name="Shape 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0" name="Text 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 pp. 3–5, §3.2 and Figs. 2–5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반례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표본 수 증가가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code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점수를 올리지는 않는다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Figure 3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두 조건은 ‘보정 표본 수 증가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=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성능 향상’이라는 해석을 막는다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4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043800"/>
                <a:gridCol w="2065320"/>
                <a:gridCol w="2174040"/>
                <a:gridCol w="35874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모델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압축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16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 표본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128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 표본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논문이 보여 주는 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LLaMA3-8B + AWQ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code 46.40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code 38.71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더 많은 표본이 이 조건에서는 하락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Qwen2.5-7B + GPTQ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code 57.67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code 34.03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비단조 반응이 더 크게 나타남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LLaMA3-8B + SparseGPT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적은 표본에서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math 17.9%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하락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별도 조건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pruning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표본 수에 더 민감할 수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COLA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sample count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고정 상수가 아니라 선택해야 할 설계 변수로 다루는 출발점이다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 p. 4, §3.2 and Fig. 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Q2: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배포 도메인에 맞춘 입력은 다른 경로를 활성화한다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언어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주제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난이도를 목표 능력과 맞추되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일반 성능과의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trade-off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함께 점검한다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2" name="Table 0"/>
          <p:cNvGraphicFramePr/>
          <p:nvPr/>
        </p:nvGraphicFramePr>
        <p:xfrm>
          <a:off x="660240" y="2082960"/>
          <a:ext cx="10870920" cy="3936600"/>
        </p:xfrm>
        <a:graphic>
          <a:graphicData uri="http://schemas.openxmlformats.org/drawingml/2006/table">
            <a:tbl>
              <a:tblPr/>
              <a:tblGrid>
                <a:gridCol w="1956600"/>
                <a:gridCol w="5652720"/>
                <a:gridCol w="32612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대응 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원문의 관찰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큐레이션에 주는 질문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146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언어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특화 능력에서 차이가 크며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다국어 평가는 같은 언어 입력이 유리할 수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 사용자 언어는 무엇인가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146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MathQA·CodeQA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등이 대응 능력을 높일 수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어떤 능력을 우선 보존할 것인가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146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난이도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hard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reasoning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이득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mixed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균형을 보일 수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전문 과제인가 일반 배포인가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3" name="Shape 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4" name="Text 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 pp. 6–7, §3.3 and Table 1; pp. 18–19, App. D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주제 일치의 이득에는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PPL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비용이 있을 수 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Table 1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Qwen2.5-7B + AWQ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사례는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MathQA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math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높이면서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PPL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높이는 모습을 보인다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2174040"/>
                <a:gridCol w="2391480"/>
                <a:gridCol w="36961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calibration data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PPL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낮을수록 좋음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Math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높을수록 좋음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읽는 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WikiText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17.36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47.34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일반 텍스트 기준선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MathQA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19.25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54.42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목표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math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상승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PPL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악화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CodeQA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18.95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43.85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다른 주제는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math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보존의 대안이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‘가장 좋은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calibration’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하나의 점수가 아니라 배포 우선순위가 정하는 다목적 선택이다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 p. 7, Table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관찰을 두 기준으로 압축하기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대표성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+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다양성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저자들은 좋은 보정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텍스트의 표면적 특징보다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activation space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두 성질로 설명한다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2"/>
          <p:cNvSpPr/>
          <p:nvPr/>
        </p:nvSpPr>
        <p:spPr>
          <a:xfrm>
            <a:off x="838080" y="217188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대표성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목표 도메인에서 전형적인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activation pattern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잘 유발하는가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Shape 3"/>
          <p:cNvSpPr/>
          <p:nvPr/>
        </p:nvSpPr>
        <p:spPr>
          <a:xfrm>
            <a:off x="838080" y="26542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8" name="Text 4"/>
          <p:cNvSpPr/>
          <p:nvPr/>
        </p:nvSpPr>
        <p:spPr>
          <a:xfrm>
            <a:off x="838080" y="269244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다양성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서로 다른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activation pattern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충분히 폭넓게 포함하는가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5"/>
          <p:cNvSpPr/>
          <p:nvPr/>
        </p:nvSpPr>
        <p:spPr>
          <a:xfrm>
            <a:off x="838080" y="317484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0" name="Text 6"/>
          <p:cNvSpPr/>
          <p:nvPr/>
        </p:nvSpPr>
        <p:spPr>
          <a:xfrm>
            <a:off x="838080" y="321300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도메인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언어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주제의 일치는 대표성의 한 단서가 될 수 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Shape 7"/>
          <p:cNvSpPr/>
          <p:nvPr/>
        </p:nvSpPr>
        <p:spPr>
          <a:xfrm>
            <a:off x="838080" y="36954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2" name="Text 8"/>
          <p:cNvSpPr/>
          <p:nvPr/>
        </p:nvSpPr>
        <p:spPr>
          <a:xfrm>
            <a:off x="838080" y="373392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mixed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난이도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·format richness·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여러 표본은 다양성의 한 단서가 될 수 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9"/>
          <p:cNvSpPr/>
          <p:nvPr/>
        </p:nvSpPr>
        <p:spPr>
          <a:xfrm>
            <a:off x="838080" y="42163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4" name="Text 10"/>
          <p:cNvSpPr/>
          <p:nvPr/>
        </p:nvSpPr>
        <p:spPr>
          <a:xfrm>
            <a:off x="838080" y="425448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기준의 균형은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general deployment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targeted deployment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다를 수 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Shape 11"/>
          <p:cNvSpPr/>
          <p:nvPr/>
        </p:nvSpPr>
        <p:spPr>
          <a:xfrm>
            <a:off x="838080" y="47368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6" name="Text 12"/>
          <p:cNvSpPr/>
          <p:nvPr/>
        </p:nvSpPr>
        <p:spPr>
          <a:xfrm>
            <a:off x="838080" y="477504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이는 원문 실험에서 얻은 설계 관점이며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최적성 정리는 아니다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Shape 13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8" name="Text 14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COLA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핵심 선택 단위는 ‘좋아 보이는 문장’이 아니라 모델이 보이는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activation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공간이다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Shape 15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0" name="Text 16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 p. 7, §4.1; pp. 19–22, App. 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7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COLA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흐름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데이터셋에서 대표 표본까지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세 큐레이션 단계가 끝난 뒤에만 기존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compressor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그 작은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읽는다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후보 데이터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사전학습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도메인 후보 풀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8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9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Stage 1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목표 능력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도메인에 맞는 출처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3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4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Stage 2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가공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길이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형식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·reasoning richness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조정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8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9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Stage 3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표본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activation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공간에서 대표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다양 표본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3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4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기존 압축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AWQ·GPTQ·pruning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수행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8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9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COLA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output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압축된 가중치가 아니라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기존 압축기에 넣을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calibration set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1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 p. 8, §4.2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Stage 1: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먼저 배포 목표에 맞는 후보 출처를 고른다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Eq. (1)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capability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별 우선순위와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coverage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이용해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선택한다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3913560"/>
                <a:gridCol w="47833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Stage 1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에서의 역할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 가능한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dataset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후보 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고를 출발점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보존하려는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capability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집합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예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: language·math·code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w_c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capability c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중요도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배포 우선순위를 반영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coverage(S,c)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얼마나 덮는지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가중 합을 크게 하는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읽기 쉬운 형태로 쓰면 ‘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 ⊆ 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Σ w_c × coverage(S,c)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최대화’하는 선택이다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 p. 8, Eq. (1) and §4.2; p. 24, Eq. (5)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Stage 2: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출처를 과제 맞춤 입력으로 가공한다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원문은 길이와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format richness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조정하되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한 가지 길이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형식이 항상 최고라고 말하지 않는다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선택한 출처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Stage 1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고른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dataset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7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8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길이 설정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보통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2,048 token,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방법별 조정 가능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2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3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구조 확인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질문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답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추론 구조가 있는지 본다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7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8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format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보강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가능할 때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explicit reasoning QA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변환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2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3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처리된 후보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Stage 3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고를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sample pool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7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8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형식 보강은 모든 텍스트에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reasoning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만들라는 뜻이 아니라 조건부 처리 단계다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0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 p. 8, §4.2; p. 5, Fig. 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Stage 3: activation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공간에서 대표 표본을 고른다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Eqs. (2)–(3)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압축 전 모델 반응을 줄여서 군집화하고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각 중심에 가까운 표본을 택한다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 모델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forward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후보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x_i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압축 전 모델에 통과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8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9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activation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벡터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layer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hidden state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집계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3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4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random projection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차원을 더 작은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차원으로 축소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8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9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k-means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투영 벡터를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cluster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묶음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3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4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centroid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대표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중심에 가장 가까운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x_i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선택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8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9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final sample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수이며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centroid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가까움은 그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cluster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대표성을 노린다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1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 p. 8, Eqs. (2)–(3) and §4.2; p. 24, App. G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강의용 계산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centroid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대표를 직접 고르기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가정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투영 뒤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a=(1,1), b=(1,2), c=(2,2)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C1, d=(8,8)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C2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k=2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304280"/>
                <a:gridCol w="2717640"/>
                <a:gridCol w="1521720"/>
                <a:gridCol w="2717640"/>
                <a:gridCol w="26089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projected a-prime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cluster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centroid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까지 거리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(1, 1)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0.75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(1, 2)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0.47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C1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(2, 2)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0.75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(8, 8)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C2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최종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{b, d}: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cluster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‘가장 대표적인’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activation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반응 하나씩이다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 p. 8, Eq. (3); teaching toy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보여 주는 것과 보여 주지 않는 것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nearest-centroid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규칙은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selection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규칙을 설명하지만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실제 모델의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activation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계산을 대체하지 않는다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2"/>
          <p:cNvSpPr/>
          <p:nvPr/>
        </p:nvSpPr>
        <p:spPr>
          <a:xfrm>
            <a:off x="838080" y="217188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원문 실험에서 최고 점수를 낸 문장이 아니다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Shape 3"/>
          <p:cNvSpPr/>
          <p:nvPr/>
        </p:nvSpPr>
        <p:spPr>
          <a:xfrm>
            <a:off x="838080" y="26542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5" name="Text 4"/>
          <p:cNvSpPr/>
          <p:nvPr/>
        </p:nvSpPr>
        <p:spPr>
          <a:xfrm>
            <a:off x="838080" y="269244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‘두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cluster’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toy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선택이며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최종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sample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수를 제어한다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Shape 5"/>
          <p:cNvSpPr/>
          <p:nvPr/>
        </p:nvSpPr>
        <p:spPr>
          <a:xfrm>
            <a:off x="838080" y="317484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7" name="Text 6"/>
          <p:cNvSpPr/>
          <p:nvPr/>
        </p:nvSpPr>
        <p:spPr>
          <a:xfrm>
            <a:off x="838080" y="321300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random projection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숫자도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toy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가정이며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 측정값이 아니다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Shape 7"/>
          <p:cNvSpPr/>
          <p:nvPr/>
        </p:nvSpPr>
        <p:spPr>
          <a:xfrm>
            <a:off x="838080" y="36954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9" name="Text 8"/>
          <p:cNvSpPr/>
          <p:nvPr/>
        </p:nvSpPr>
        <p:spPr>
          <a:xfrm>
            <a:off x="838080" y="373392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cluster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중심에 가까움은 그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cluster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안에서의 대표성이다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Shape 9"/>
          <p:cNvSpPr/>
          <p:nvPr/>
        </p:nvSpPr>
        <p:spPr>
          <a:xfrm>
            <a:off x="838080" y="42163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1" name="Text 10"/>
          <p:cNvSpPr/>
          <p:nvPr/>
        </p:nvSpPr>
        <p:spPr>
          <a:xfrm>
            <a:off x="838080" y="425448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여러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cluster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남기는 것이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activation-space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다양성을 표현한다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Shape 11"/>
          <p:cNvSpPr/>
          <p:nvPr/>
        </p:nvSpPr>
        <p:spPr>
          <a:xfrm>
            <a:off x="838080" y="47368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3" name="Text 12"/>
          <p:cNvSpPr/>
          <p:nvPr/>
        </p:nvSpPr>
        <p:spPr>
          <a:xfrm>
            <a:off x="838080" y="477504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텍스트 의미가 비슷해도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activation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같다는 뜻은 아니다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Shape 13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5" name="Text 14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COLA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전역 최고 문장 순위보다 여러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activation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영역을 대표 표본으로 덮는 방식에 가깝다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Shape 15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7" name="Text 16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 p. 8, §4.2; teaching toy boundary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17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일반 배포 결과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조건을 같은 행에서 비교하기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Table 2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LLaMA3-8B + SparseGPT 50%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commonsense score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COLA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가장 높다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6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369960"/>
                <a:gridCol w="2174040"/>
                <a:gridCol w="2391480"/>
                <a:gridCol w="29350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calibration approach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commonsense score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WikiText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WikiText random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41.85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general deployment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Self-Gen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43.61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+1.76 point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SparseGPT 50%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COLA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44.23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+2.38 point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LLaMA3-8B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수치는 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model·compressor·metric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경험적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1–2 point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대 개선일 뿐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보장은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 p. 9, Table 2 and §4.3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목표 배포 결과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code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용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calibration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고른 조건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Table 6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Qwen2.5-7B + AWQ 4-bit, code deployment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COLA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가장 높은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code score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보고한다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6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369960"/>
                <a:gridCol w="1956600"/>
                <a:gridCol w="2826360"/>
                <a:gridCol w="27176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calibration approach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code score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CodeQA random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CodeQA random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68.73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targeted code deployment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Self-Gen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70.05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+1.32 point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AWQ 4-bit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COLA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72.18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+3.45 point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Qwen2.5-7B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목표 도메인 선택은 이 조건에서 차이가 컸지만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다른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deployment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성능을 대변하지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 p. 23, Table 6; pp. 22–23, App. F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더 큰 모델에서도 본 조건부 관찰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Appendix H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큰 모델의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general deployment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에서도 같은 비교 틀을 추가로 보고한다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478680"/>
                <a:gridCol w="1956600"/>
                <a:gridCol w="1847880"/>
                <a:gridCol w="1521720"/>
                <a:gridCol w="20653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모델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압축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metric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WikiText random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COLA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차이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409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LLaMA3.1-70B + AWQ 4-bit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commonsense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71.84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74.15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+2.31 point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409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Qwen2.5-32B + GPTQ 4-bit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math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45.62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47.26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+1.64 point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대형 모델 표도 가능성을 보일 뿐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논문이 측정한 조합에 한정된다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 pp. 24–25, Table 9 and App. H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spectral analysis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보조 설명이지 정리는 아니다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Appendix 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GPTQ 4-bit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FFN weight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주파수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·energy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그림을 비교해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activation-space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해석을 보강한다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2"/>
          <p:cNvSpPr/>
          <p:nvPr/>
        </p:nvSpPr>
        <p:spPr>
          <a:xfrm>
            <a:off x="838080" y="217188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Figure 7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LLaMA3-8B 32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layer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FFN spectrum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시각화한다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Shape 3"/>
          <p:cNvSpPr/>
          <p:nvPr/>
        </p:nvSpPr>
        <p:spPr>
          <a:xfrm>
            <a:off x="838080" y="26542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7" name="Text 4"/>
          <p:cNvSpPr/>
          <p:nvPr/>
        </p:nvSpPr>
        <p:spPr>
          <a:xfrm>
            <a:off x="838080" y="269244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Figure 8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compressed/original magnitude ratio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가까운지를 본다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Shape 5"/>
          <p:cNvSpPr/>
          <p:nvPr/>
        </p:nvSpPr>
        <p:spPr>
          <a:xfrm>
            <a:off x="838080" y="317484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9" name="Text 6"/>
          <p:cNvSpPr/>
          <p:nvPr/>
        </p:nvSpPr>
        <p:spPr>
          <a:xfrm>
            <a:off x="838080" y="321300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Figure 9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low·mid·high band energy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분포를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layer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별로 비교한다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Shape 7"/>
          <p:cNvSpPr/>
          <p:nvPr/>
        </p:nvSpPr>
        <p:spPr>
          <a:xfrm>
            <a:off x="838080" y="36954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1" name="Text 8"/>
          <p:cNvSpPr/>
          <p:nvPr/>
        </p:nvSpPr>
        <p:spPr>
          <a:xfrm>
            <a:off x="838080" y="373392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저자들은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COLA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원 모델의 분포에 더 가까운 패턴을 보인다고 해석한다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Shape 9"/>
          <p:cNvSpPr/>
          <p:nvPr/>
        </p:nvSpPr>
        <p:spPr>
          <a:xfrm>
            <a:off x="838080" y="42163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3" name="Text 10"/>
          <p:cNvSpPr/>
          <p:nvPr/>
        </p:nvSpPr>
        <p:spPr>
          <a:xfrm>
            <a:off x="838080" y="425448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그러나 이 분석은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GPTQ 4-bit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해당 시각화 설정의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empirical evidence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Shape 11"/>
          <p:cNvSpPr/>
          <p:nvPr/>
        </p:nvSpPr>
        <p:spPr>
          <a:xfrm>
            <a:off x="838080" y="47368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5" name="Text 12"/>
          <p:cNvSpPr/>
          <p:nvPr/>
        </p:nvSpPr>
        <p:spPr>
          <a:xfrm>
            <a:off x="838080" y="477504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특정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frequency band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특정 능력을 ‘저장한다’는 인과 정리를 증명하지 않는다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Shape 13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7" name="Text 14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그림들은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COLA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설계의 해석 근거이지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activation-space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최적성의 형식 증명은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Shape 15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9" name="Text 16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 pp. 19–22, App. E and Figs. 7–9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 17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Proxy pilot: coverage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추정 가능성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Appendix J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작은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proxy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평가가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full evaluation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기반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coverage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얼마나 맞는지 별도로 살핀다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0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065320"/>
                <a:gridCol w="1956600"/>
                <a:gridCol w="2935080"/>
                <a:gridCol w="39135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capability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상관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proxy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설정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 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commonsense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0.97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BoolQ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benchmark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논문의 후보 데이터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·5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회 평균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math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0.93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GSM8K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benchmark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full evaluation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일반적으로 대체한다는 보장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code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0.91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HumanEval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benchmark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unseen dataset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까지 검증하지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end-to-end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gap ≤ 0.2 point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LLaMA3-8B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시간 제한으로 제한된 실험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proxy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수동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heuristic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줄일 가능성을 보인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pilot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이지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자동 선택 보증은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 pp. 26–27, Tables 11–12 and App. J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큐레이션의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one-time offline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비용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Table 14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general scenario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네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main compressor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평균한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Self-Gen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COLA breakdown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보고한다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1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2500200"/>
                <a:gridCol w="2935080"/>
                <a:gridCol w="27176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Self-Gen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COLA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 시간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COLA peak memory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409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LLaMA3-8B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2.58 min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6.35 min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7.90 GB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409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Qwen2.5-7B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2.35 min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5.54 min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7.52 GB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COLA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compact calibration set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위한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one-time offline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비용이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 p. 28, Table 14 and App. L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Pretraining/SFT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calibration curation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다르다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Appendix 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‘새 능력을 가르치는 데이터’와 ‘압축 중 기존 능력을 보존할 입력’을 구분한다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1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4348440"/>
                <a:gridCol w="45658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pretraining / SFT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post-training calibration curation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 중 능력 습득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 뒤 압축 중 능력 보존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규모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대규모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corpus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중심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대개 매우 작은 표본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데이터 역할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지식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행동을 새로 학습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parameter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반응을 드러내는 진단 입력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선정 기준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일반화용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coverage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품질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activation-space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대표성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다양성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둘 다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curation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이지만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COLA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fine-tuning recipe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읽으면 안 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 pp. 29–30, App. P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마무리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calibration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최적성은 조건부다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COLA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deployment-aligned source·processing·activation-space selection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묶어 기존 압축 앞단을 바꾼다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2"/>
          <p:cNvSpPr/>
          <p:nvPr/>
        </p:nvSpPr>
        <p:spPr>
          <a:xfrm>
            <a:off x="838080" y="217188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문제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compressor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볼 작은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input set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능력 손실의 방향을 바꿀 수 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Shape 3"/>
          <p:cNvSpPr/>
          <p:nvPr/>
        </p:nvSpPr>
        <p:spPr>
          <a:xfrm>
            <a:off x="838080" y="26542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9" name="Text 4"/>
          <p:cNvSpPr/>
          <p:nvPr/>
        </p:nvSpPr>
        <p:spPr>
          <a:xfrm>
            <a:off x="838080" y="269244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제안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domain·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구성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·activation-space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3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단계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curation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Shape 5"/>
          <p:cNvSpPr/>
          <p:nvPr/>
        </p:nvSpPr>
        <p:spPr>
          <a:xfrm>
            <a:off x="838080" y="317484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1" name="Text 6"/>
          <p:cNvSpPr/>
          <p:nvPr/>
        </p:nvSpPr>
        <p:spPr>
          <a:xfrm>
            <a:off x="838080" y="321300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근거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base LLM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정해진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pruning·quantization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조건에서의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empirical tables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Shape 7"/>
          <p:cNvSpPr/>
          <p:nvPr/>
        </p:nvSpPr>
        <p:spPr>
          <a:xfrm>
            <a:off x="838080" y="36954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3" name="Text 8"/>
          <p:cNvSpPr/>
          <p:nvPr/>
        </p:nvSpPr>
        <p:spPr>
          <a:xfrm>
            <a:off x="838080" y="373392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한계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더 많은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architecture·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압축 비율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능력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장기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domain shift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미검증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Shape 9"/>
          <p:cNvSpPr/>
          <p:nvPr/>
        </p:nvSpPr>
        <p:spPr>
          <a:xfrm>
            <a:off x="838080" y="42163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5" name="Text 10"/>
          <p:cNvSpPr/>
          <p:nvPr/>
        </p:nvSpPr>
        <p:spPr>
          <a:xfrm>
            <a:off x="838080" y="425448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이론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optimal calibration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최소 조건이나 보장은 아직 제시되지 않았다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Shape 11"/>
          <p:cNvSpPr/>
          <p:nvPr/>
        </p:nvSpPr>
        <p:spPr>
          <a:xfrm>
            <a:off x="838080" y="47368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7" name="Text 12"/>
          <p:cNvSpPr/>
          <p:nvPr/>
        </p:nvSpPr>
        <p:spPr>
          <a:xfrm>
            <a:off x="838080" y="477504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실무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우선 보존 능력을 정한 뒤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coverage weight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정한다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Shape 13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9" name="Text 14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압축법이 관찰할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activation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도 설계 대상이라는 관점이 핵심이다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Shape 15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1" name="Text 16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 p. 9, §5; pp. 30–31, App. R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17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2026-09-12T07:25:25Z</dcterms:created>
  <dc:creator>Research Seminars</dc:creator>
  <dc:description/>
  <dc:language>ko-KR</dc:language>
  <cp:lastModifiedBy>Research Seminars</cp:lastModifiedBy>
  <dcterms:modified xsi:type="dcterms:W3CDTF">2026-09-12T07:25:25Z</dcterms:modified>
  <cp:revision>1</cp:revision>
  <dc:subject>Preserving LLM Capabilities through Calibration Data Curation: From Analysis to Optimization</dc:subject>
  <dc:title>COLA: 압축 뒤 LLM 능력을 지키는 보정 데이터 큐레이션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25</vt:r8>
  </property>
  <property fmtid="{D5CDD505-2E9C-101B-9397-08002B2CF9AE}" pid="3" name="PresentationFormat">
    <vt:lpwstr>On-screen Show (16:9)</vt:lpwstr>
  </property>
  <property fmtid="{D5CDD505-2E9C-101B-9397-08002B2CF9AE}" pid="4" name="Slides">
    <vt:r8>25</vt:r8>
  </property>
</Properties>
</file>
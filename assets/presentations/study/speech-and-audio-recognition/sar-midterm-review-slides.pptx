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331fd9f6e64e91" /><Relationship Type="http://schemas.openxmlformats.org/officeDocument/2006/relationships/extended-properties" Target="/docProps/app.xml" Id="R03d1642c596a47e2" /><Relationship Type="http://schemas.openxmlformats.org/officeDocument/2006/relationships/officeDocument" Target="/ppt/presentation.xml" Id="R0993b9ea6ebd43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c7894d134b4317"/>
  </p:sldMasterIdLst>
  <p:notesMasterIdLst>
    <p:notesMasterId xmlns:r="http://schemas.openxmlformats.org/officeDocument/2006/relationships" r:id="R8c7ca99559f54210"/>
  </p:notesMasterIdLst>
  <p:sldIdLst>
    <p:sldId xmlns:r="http://schemas.openxmlformats.org/officeDocument/2006/relationships" id="256" r:id="R6fe5530d26124a66"/>
    <p:sldId xmlns:r="http://schemas.openxmlformats.org/officeDocument/2006/relationships" id="257" r:id="R1487704b84a341e5"/>
    <p:sldId xmlns:r="http://schemas.openxmlformats.org/officeDocument/2006/relationships" id="258" r:id="R57df86dff2374e7a"/>
    <p:sldId xmlns:r="http://schemas.openxmlformats.org/officeDocument/2006/relationships" id="259" r:id="Rb55e97f0b6d94900"/>
    <p:sldId xmlns:r="http://schemas.openxmlformats.org/officeDocument/2006/relationships" id="260" r:id="R72a89a3506e94c0d"/>
    <p:sldId xmlns:r="http://schemas.openxmlformats.org/officeDocument/2006/relationships" id="261" r:id="R1d1fb66806b44ee5"/>
    <p:sldId xmlns:r="http://schemas.openxmlformats.org/officeDocument/2006/relationships" id="262" r:id="Rdad6d2b2700246cc"/>
    <p:sldId xmlns:r="http://schemas.openxmlformats.org/officeDocument/2006/relationships" id="263" r:id="R57cee2c773a14713"/>
    <p:sldId xmlns:r="http://schemas.openxmlformats.org/officeDocument/2006/relationships" id="264" r:id="R1799d1cbfbc64a1d"/>
    <p:sldId xmlns:r="http://schemas.openxmlformats.org/officeDocument/2006/relationships" id="265" r:id="R22156d8ab57c4753"/>
    <p:sldId xmlns:r="http://schemas.openxmlformats.org/officeDocument/2006/relationships" id="266" r:id="Rb74095579ccb41e2"/>
    <p:sldId xmlns:r="http://schemas.openxmlformats.org/officeDocument/2006/relationships" id="267" r:id="Reec2a8c628cd4060"/>
    <p:sldId xmlns:r="http://schemas.openxmlformats.org/officeDocument/2006/relationships" id="268" r:id="R9b006a0f55f44b0b"/>
    <p:sldId xmlns:r="http://schemas.openxmlformats.org/officeDocument/2006/relationships" id="269" r:id="R00caa771a13b4d46"/>
    <p:sldId xmlns:r="http://schemas.openxmlformats.org/officeDocument/2006/relationships" id="270" r:id="Rf95675e850cc4fc0"/>
    <p:sldId xmlns:r="http://schemas.openxmlformats.org/officeDocument/2006/relationships" id="271" r:id="R8a51a9aea7f54c68"/>
    <p:sldId xmlns:r="http://schemas.openxmlformats.org/officeDocument/2006/relationships" id="272" r:id="Rb5d7cd70a9df4767"/>
    <p:sldId xmlns:r="http://schemas.openxmlformats.org/officeDocument/2006/relationships" id="273" r:id="R3e27274393904a3f"/>
    <p:sldId xmlns:r="http://schemas.openxmlformats.org/officeDocument/2006/relationships" id="274" r:id="Re39cc9f58ccb4381"/>
    <p:sldId xmlns:r="http://schemas.openxmlformats.org/officeDocument/2006/relationships" id="275" r:id="R39213c2265e34501"/>
    <p:sldId xmlns:r="http://schemas.openxmlformats.org/officeDocument/2006/relationships" id="276" r:id="R4f591784d9e1407a"/>
    <p:sldId xmlns:r="http://schemas.openxmlformats.org/officeDocument/2006/relationships" id="277" r:id="R9384f3f8e64e4166"/>
    <p:sldId xmlns:r="http://schemas.openxmlformats.org/officeDocument/2006/relationships" id="278" r:id="R06bb96c692fa47c9"/>
    <p:sldId xmlns:r="http://schemas.openxmlformats.org/officeDocument/2006/relationships" id="279" r:id="R16cd8bbed2eb4c78"/>
    <p:sldId xmlns:r="http://schemas.openxmlformats.org/officeDocument/2006/relationships" id="280" r:id="R8d28f6059bd44531"/>
    <p:sldId xmlns:r="http://schemas.openxmlformats.org/officeDocument/2006/relationships" id="281" r:id="Rcc9dca99e5e34f47"/>
    <p:sldId xmlns:r="http://schemas.openxmlformats.org/officeDocument/2006/relationships" id="282" r:id="Re494d19db09f4b16"/>
    <p:sldId xmlns:r="http://schemas.openxmlformats.org/officeDocument/2006/relationships" id="283" r:id="R5161904594f64431"/>
    <p:sldId xmlns:r="http://schemas.openxmlformats.org/officeDocument/2006/relationships" id="284" r:id="R87c1e91d37a14c15"/>
    <p:sldId xmlns:r="http://schemas.openxmlformats.org/officeDocument/2006/relationships" id="285" r:id="R5890fe7e5ace44b3"/>
    <p:sldId xmlns:r="http://schemas.openxmlformats.org/officeDocument/2006/relationships" id="286" r:id="R6cf1e15e39ca446b"/>
    <p:sldId xmlns:r="http://schemas.openxmlformats.org/officeDocument/2006/relationships" id="287" r:id="R94390eab3dcd4733"/>
    <p:sldId xmlns:r="http://schemas.openxmlformats.org/officeDocument/2006/relationships" id="288" r:id="Rf21d9cd84ec34c47"/>
    <p:sldId xmlns:r="http://schemas.openxmlformats.org/officeDocument/2006/relationships" id="289" r:id="Ra20c3a4615a046fe"/>
    <p:sldId xmlns:r="http://schemas.openxmlformats.org/officeDocument/2006/relationships" id="290" r:id="Ree2e84ff1db44c43"/>
    <p:sldId xmlns:r="http://schemas.openxmlformats.org/officeDocument/2006/relationships" id="291" r:id="Rf57af40648224568"/>
    <p:sldId xmlns:r="http://schemas.openxmlformats.org/officeDocument/2006/relationships" id="292" r:id="Ra582dab306e64d00"/>
    <p:sldId xmlns:r="http://schemas.openxmlformats.org/officeDocument/2006/relationships" id="293" r:id="Rfe75dfb9ba1841f4"/>
    <p:sldId xmlns:r="http://schemas.openxmlformats.org/officeDocument/2006/relationships" id="294" r:id="R2588b1f22d164855"/>
    <p:sldId xmlns:r="http://schemas.openxmlformats.org/officeDocument/2006/relationships" id="295" r:id="Re2cff296d83e41a0"/>
    <p:sldId xmlns:r="http://schemas.openxmlformats.org/officeDocument/2006/relationships" id="296" r:id="Ra7adc00f10244f31"/>
    <p:sldId xmlns:r="http://schemas.openxmlformats.org/officeDocument/2006/relationships" id="297" r:id="Rc362792c1bfb4728"/>
    <p:sldId xmlns:r="http://schemas.openxmlformats.org/officeDocument/2006/relationships" id="298" r:id="R024fda9a39bd41a6"/>
    <p:sldId xmlns:r="http://schemas.openxmlformats.org/officeDocument/2006/relationships" id="299" r:id="Rbfe7a47806ac4b7d"/>
    <p:sldId xmlns:r="http://schemas.openxmlformats.org/officeDocument/2006/relationships" id="300" r:id="Rec8558c2030646af"/>
    <p:sldId xmlns:r="http://schemas.openxmlformats.org/officeDocument/2006/relationships" id="301" r:id="R34ccf52f47304146"/>
    <p:sldId xmlns:r="http://schemas.openxmlformats.org/officeDocument/2006/relationships" id="302" r:id="Ra67c3018339041f0"/>
    <p:sldId xmlns:r="http://schemas.openxmlformats.org/officeDocument/2006/relationships" id="303" r:id="R43a81a18c9bd4521"/>
    <p:sldId xmlns:r="http://schemas.openxmlformats.org/officeDocument/2006/relationships" id="304" r:id="R89d6e3c34b524261"/>
    <p:sldId xmlns:r="http://schemas.openxmlformats.org/officeDocument/2006/relationships" id="305" r:id="R38970fdabd144bfb"/>
    <p:sldId xmlns:r="http://schemas.openxmlformats.org/officeDocument/2006/relationships" id="306" r:id="Rff5ed0cd87684759"/>
    <p:sldId xmlns:r="http://schemas.openxmlformats.org/officeDocument/2006/relationships" id="307" r:id="R4fffcc242b024192"/>
    <p:sldId xmlns:r="http://schemas.openxmlformats.org/officeDocument/2006/relationships" id="308" r:id="R7bafae28592c4445"/>
    <p:sldId xmlns:r="http://schemas.openxmlformats.org/officeDocument/2006/relationships" id="309" r:id="R4a2ee76795934338"/>
    <p:sldId xmlns:r="http://schemas.openxmlformats.org/officeDocument/2006/relationships" id="310" r:id="Rb69e3ebc10684987"/>
    <p:sldId xmlns:r="http://schemas.openxmlformats.org/officeDocument/2006/relationships" id="311" r:id="R8c70f0d023ed46e3"/>
    <p:sldId xmlns:r="http://schemas.openxmlformats.org/officeDocument/2006/relationships" id="312" r:id="Rebf5bd930cbc4c40"/>
    <p:sldId xmlns:r="http://schemas.openxmlformats.org/officeDocument/2006/relationships" id="313" r:id="R41c8e4daf7cd4c55"/>
    <p:sldId xmlns:r="http://schemas.openxmlformats.org/officeDocument/2006/relationships" id="314" r:id="R3fd725cd128c4998"/>
    <p:sldId xmlns:r="http://schemas.openxmlformats.org/officeDocument/2006/relationships" id="315" r:id="Ra34bf7bd98b44012"/>
    <p:sldId xmlns:r="http://schemas.openxmlformats.org/officeDocument/2006/relationships" id="316" r:id="Rb3953d4653be46f8"/>
    <p:sldId xmlns:r="http://schemas.openxmlformats.org/officeDocument/2006/relationships" id="317" r:id="R9f2d254cfabd42e7"/>
    <p:sldId xmlns:r="http://schemas.openxmlformats.org/officeDocument/2006/relationships" id="318" r:id="Re9ead20cef004549"/>
    <p:sldId xmlns:r="http://schemas.openxmlformats.org/officeDocument/2006/relationships" id="319" r:id="R51750c069da5407d"/>
    <p:sldId xmlns:r="http://schemas.openxmlformats.org/officeDocument/2006/relationships" id="320" r:id="Reb6a85f73ba943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fbef96b4e94429" /><Relationship Type="http://schemas.openxmlformats.org/officeDocument/2006/relationships/slideMaster" Target="/ppt/slideMasters/slideMaster1.xml" Id="Rbcc7894d134b4317" /><Relationship Type="http://schemas.openxmlformats.org/officeDocument/2006/relationships/notesMaster" Target="/ppt/notesMasters/notesMaster1.xml" Id="R8c7ca99559f54210" /><Relationship Type="http://schemas.openxmlformats.org/officeDocument/2006/relationships/presProps" Target="/ppt/presProps.xml" Id="R0cb34f2750cc44d0" /><Relationship Type="http://schemas.openxmlformats.org/officeDocument/2006/relationships/tableStyles" Target="/ppt/tableStyles.xml" Id="R3e01d986c13d4677" /><Relationship Type="http://schemas.openxmlformats.org/officeDocument/2006/relationships/slide" Target="/ppt/slides/slide1.xml" Id="R6fe5530d26124a66" /><Relationship Type="http://schemas.openxmlformats.org/officeDocument/2006/relationships/slide" Target="/ppt/slides/slide2.xml" Id="R1487704b84a341e5" /><Relationship Type="http://schemas.openxmlformats.org/officeDocument/2006/relationships/slide" Target="/ppt/slides/slide3.xml" Id="R57df86dff2374e7a" /><Relationship Type="http://schemas.openxmlformats.org/officeDocument/2006/relationships/slide" Target="/ppt/slides/slide4.xml" Id="Rb55e97f0b6d94900" /><Relationship Type="http://schemas.openxmlformats.org/officeDocument/2006/relationships/slide" Target="/ppt/slides/slide5.xml" Id="R72a89a3506e94c0d" /><Relationship Type="http://schemas.openxmlformats.org/officeDocument/2006/relationships/slide" Target="/ppt/slides/slide6.xml" Id="R1d1fb66806b44ee5" /><Relationship Type="http://schemas.openxmlformats.org/officeDocument/2006/relationships/slide" Target="/ppt/slides/slide7.xml" Id="Rdad6d2b2700246cc" /><Relationship Type="http://schemas.openxmlformats.org/officeDocument/2006/relationships/slide" Target="/ppt/slides/slide8.xml" Id="R57cee2c773a14713" /><Relationship Type="http://schemas.openxmlformats.org/officeDocument/2006/relationships/slide" Target="/ppt/slides/slide9.xml" Id="R1799d1cbfbc64a1d" /><Relationship Type="http://schemas.openxmlformats.org/officeDocument/2006/relationships/slide" Target="/ppt/slides/slide10.xml" Id="R22156d8ab57c4753" /><Relationship Type="http://schemas.openxmlformats.org/officeDocument/2006/relationships/slide" Target="/ppt/slides/slide11.xml" Id="Rb74095579ccb41e2" /><Relationship Type="http://schemas.openxmlformats.org/officeDocument/2006/relationships/slide" Target="/ppt/slides/slide12.xml" Id="Reec2a8c628cd4060" /><Relationship Type="http://schemas.openxmlformats.org/officeDocument/2006/relationships/slide" Target="/ppt/slides/slide13.xml" Id="R9b006a0f55f44b0b" /><Relationship Type="http://schemas.openxmlformats.org/officeDocument/2006/relationships/slide" Target="/ppt/slides/slide14.xml" Id="R00caa771a13b4d46" /><Relationship Type="http://schemas.openxmlformats.org/officeDocument/2006/relationships/slide" Target="/ppt/slides/slide15.xml" Id="Rf95675e850cc4fc0" /><Relationship Type="http://schemas.openxmlformats.org/officeDocument/2006/relationships/slide" Target="/ppt/slides/slide16.xml" Id="R8a51a9aea7f54c68" /><Relationship Type="http://schemas.openxmlformats.org/officeDocument/2006/relationships/slide" Target="/ppt/slides/slide17.xml" Id="Rb5d7cd70a9df4767" /><Relationship Type="http://schemas.openxmlformats.org/officeDocument/2006/relationships/slide" Target="/ppt/slides/slide18.xml" Id="R3e27274393904a3f" /><Relationship Type="http://schemas.openxmlformats.org/officeDocument/2006/relationships/slide" Target="/ppt/slides/slide19.xml" Id="Re39cc9f58ccb4381" /><Relationship Type="http://schemas.openxmlformats.org/officeDocument/2006/relationships/slide" Target="/ppt/slides/slide20.xml" Id="R39213c2265e34501" /><Relationship Type="http://schemas.openxmlformats.org/officeDocument/2006/relationships/slide" Target="/ppt/slides/slide21.xml" Id="R4f591784d9e1407a" /><Relationship Type="http://schemas.openxmlformats.org/officeDocument/2006/relationships/slide" Target="/ppt/slides/slide22.xml" Id="R9384f3f8e64e4166" /><Relationship Type="http://schemas.openxmlformats.org/officeDocument/2006/relationships/slide" Target="/ppt/slides/slide23.xml" Id="R06bb96c692fa47c9" /><Relationship Type="http://schemas.openxmlformats.org/officeDocument/2006/relationships/slide" Target="/ppt/slides/slide24.xml" Id="R16cd8bbed2eb4c78" /><Relationship Type="http://schemas.openxmlformats.org/officeDocument/2006/relationships/slide" Target="/ppt/slides/slide25.xml" Id="R8d28f6059bd44531" /><Relationship Type="http://schemas.openxmlformats.org/officeDocument/2006/relationships/slide" Target="/ppt/slides/slide26.xml" Id="Rcc9dca99e5e34f47" /><Relationship Type="http://schemas.openxmlformats.org/officeDocument/2006/relationships/slide" Target="/ppt/slides/slide27.xml" Id="Re494d19db09f4b16" /><Relationship Type="http://schemas.openxmlformats.org/officeDocument/2006/relationships/slide" Target="/ppt/slides/slide28.xml" Id="R5161904594f64431" /><Relationship Type="http://schemas.openxmlformats.org/officeDocument/2006/relationships/slide" Target="/ppt/slides/slide29.xml" Id="R87c1e91d37a14c15" /><Relationship Type="http://schemas.openxmlformats.org/officeDocument/2006/relationships/slide" Target="/ppt/slides/slide30.xml" Id="R5890fe7e5ace44b3" /><Relationship Type="http://schemas.openxmlformats.org/officeDocument/2006/relationships/slide" Target="/ppt/slides/slide31.xml" Id="R6cf1e15e39ca446b" /><Relationship Type="http://schemas.openxmlformats.org/officeDocument/2006/relationships/slide" Target="/ppt/slides/slide32.xml" Id="R94390eab3dcd4733" /><Relationship Type="http://schemas.openxmlformats.org/officeDocument/2006/relationships/slide" Target="/ppt/slides/slide33.xml" Id="Rf21d9cd84ec34c47" /><Relationship Type="http://schemas.openxmlformats.org/officeDocument/2006/relationships/slide" Target="/ppt/slides/slide34.xml" Id="Ra20c3a4615a046fe" /><Relationship Type="http://schemas.openxmlformats.org/officeDocument/2006/relationships/slide" Target="/ppt/slides/slide35.xml" Id="Ree2e84ff1db44c43" /><Relationship Type="http://schemas.openxmlformats.org/officeDocument/2006/relationships/slide" Target="/ppt/slides/slide36.xml" Id="Rf57af40648224568" /><Relationship Type="http://schemas.openxmlformats.org/officeDocument/2006/relationships/slide" Target="/ppt/slides/slide37.xml" Id="Ra582dab306e64d00" /><Relationship Type="http://schemas.openxmlformats.org/officeDocument/2006/relationships/slide" Target="/ppt/slides/slide38.xml" Id="Rfe75dfb9ba1841f4" /><Relationship Type="http://schemas.openxmlformats.org/officeDocument/2006/relationships/slide" Target="/ppt/slides/slide39.xml" Id="R2588b1f22d164855" /><Relationship Type="http://schemas.openxmlformats.org/officeDocument/2006/relationships/slide" Target="/ppt/slides/slide40.xml" Id="Re2cff296d83e41a0" /><Relationship Type="http://schemas.openxmlformats.org/officeDocument/2006/relationships/slide" Target="/ppt/slides/slide41.xml" Id="Ra7adc00f10244f31" /><Relationship Type="http://schemas.openxmlformats.org/officeDocument/2006/relationships/slide" Target="/ppt/slides/slide42.xml" Id="Rc362792c1bfb4728" /><Relationship Type="http://schemas.openxmlformats.org/officeDocument/2006/relationships/slide" Target="/ppt/slides/slide43.xml" Id="R024fda9a39bd41a6" /><Relationship Type="http://schemas.openxmlformats.org/officeDocument/2006/relationships/slide" Target="/ppt/slides/slide44.xml" Id="Rbfe7a47806ac4b7d" /><Relationship Type="http://schemas.openxmlformats.org/officeDocument/2006/relationships/slide" Target="/ppt/slides/slide45.xml" Id="Rec8558c2030646af" /><Relationship Type="http://schemas.openxmlformats.org/officeDocument/2006/relationships/slide" Target="/ppt/slides/slide46.xml" Id="R34ccf52f47304146" /><Relationship Type="http://schemas.openxmlformats.org/officeDocument/2006/relationships/slide" Target="/ppt/slides/slide47.xml" Id="Ra67c3018339041f0" /><Relationship Type="http://schemas.openxmlformats.org/officeDocument/2006/relationships/slide" Target="/ppt/slides/slide48.xml" Id="R43a81a18c9bd4521" /><Relationship Type="http://schemas.openxmlformats.org/officeDocument/2006/relationships/slide" Target="/ppt/slides/slide49.xml" Id="R89d6e3c34b524261" /><Relationship Type="http://schemas.openxmlformats.org/officeDocument/2006/relationships/slide" Target="/ppt/slides/slide50.xml" Id="R38970fdabd144bfb" /><Relationship Type="http://schemas.openxmlformats.org/officeDocument/2006/relationships/slide" Target="/ppt/slides/slide51.xml" Id="Rff5ed0cd87684759" /><Relationship Type="http://schemas.openxmlformats.org/officeDocument/2006/relationships/slide" Target="/ppt/slides/slide52.xml" Id="R4fffcc242b024192" /><Relationship Type="http://schemas.openxmlformats.org/officeDocument/2006/relationships/slide" Target="/ppt/slides/slide53.xml" Id="R7bafae28592c4445" /><Relationship Type="http://schemas.openxmlformats.org/officeDocument/2006/relationships/slide" Target="/ppt/slides/slide54.xml" Id="R4a2ee76795934338" /><Relationship Type="http://schemas.openxmlformats.org/officeDocument/2006/relationships/slide" Target="/ppt/slides/slide55.xml" Id="Rb69e3ebc10684987" /><Relationship Type="http://schemas.openxmlformats.org/officeDocument/2006/relationships/slide" Target="/ppt/slides/slide56.xml" Id="R8c70f0d023ed46e3" /><Relationship Type="http://schemas.openxmlformats.org/officeDocument/2006/relationships/slide" Target="/ppt/slides/slide57.xml" Id="Rebf5bd930cbc4c40" /><Relationship Type="http://schemas.openxmlformats.org/officeDocument/2006/relationships/slide" Target="/ppt/slides/slide58.xml" Id="R41c8e4daf7cd4c55" /><Relationship Type="http://schemas.openxmlformats.org/officeDocument/2006/relationships/slide" Target="/ppt/slides/slide59.xml" Id="R3fd725cd128c4998" /><Relationship Type="http://schemas.openxmlformats.org/officeDocument/2006/relationships/slide" Target="/ppt/slides/slide60.xml" Id="Ra34bf7bd98b44012" /><Relationship Type="http://schemas.openxmlformats.org/officeDocument/2006/relationships/slide" Target="/ppt/slides/slide61.xml" Id="Rb3953d4653be46f8" /><Relationship Type="http://schemas.openxmlformats.org/officeDocument/2006/relationships/slide" Target="/ppt/slides/slide62.xml" Id="R9f2d254cfabd42e7" /><Relationship Type="http://schemas.openxmlformats.org/officeDocument/2006/relationships/slide" Target="/ppt/slides/slide63.xml" Id="Re9ead20cef004549" /><Relationship Type="http://schemas.openxmlformats.org/officeDocument/2006/relationships/slide" Target="/ppt/slides/slide64.xml" Id="R51750c069da5407d" /><Relationship Type="http://schemas.openxmlformats.org/officeDocument/2006/relationships/slide" Target="/ppt/slides/slide65.xml" Id="Reb6a85f73ba943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6dc1cbb8e947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3845df10b841da" /><Relationship Type="http://schemas.openxmlformats.org/officeDocument/2006/relationships/notesMaster" Target="/ppt/notesMasters/notesMaster1.xml" Id="Rbede852fe63d4c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412fea2abe4924" /><Relationship Type="http://schemas.openxmlformats.org/officeDocument/2006/relationships/notesMaster" Target="/ppt/notesMasters/notesMaster1.xml" Id="R49ae0b4e5df247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bb9f4392134d99" /><Relationship Type="http://schemas.openxmlformats.org/officeDocument/2006/relationships/notesMaster" Target="/ppt/notesMasters/notesMaster1.xml" Id="Rc816f552d2384d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3751760d3940f5" /><Relationship Type="http://schemas.openxmlformats.org/officeDocument/2006/relationships/notesMaster" Target="/ppt/notesMasters/notesMaster1.xml" Id="R84abd280099b43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c30a91784b4f0f" /><Relationship Type="http://schemas.openxmlformats.org/officeDocument/2006/relationships/notesMaster" Target="/ppt/notesMasters/notesMaster1.xml" Id="R8dd49bf5b51e43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ca4947531a4fb1" /><Relationship Type="http://schemas.openxmlformats.org/officeDocument/2006/relationships/notesMaster" Target="/ppt/notesMasters/notesMaster1.xml" Id="Rf39e51b4b6f343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dabd7fbc73426c" /><Relationship Type="http://schemas.openxmlformats.org/officeDocument/2006/relationships/notesMaster" Target="/ppt/notesMasters/notesMaster1.xml" Id="R795f17ff74fc40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1238b28f33435d" /><Relationship Type="http://schemas.openxmlformats.org/officeDocument/2006/relationships/notesMaster" Target="/ppt/notesMasters/notesMaster1.xml" Id="Rafbecc2620e84e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0a24eadd3a4481" /><Relationship Type="http://schemas.openxmlformats.org/officeDocument/2006/relationships/notesMaster" Target="/ppt/notesMasters/notesMaster1.xml" Id="Ref3b3cad74dc40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951066340e4205" /><Relationship Type="http://schemas.openxmlformats.org/officeDocument/2006/relationships/notesMaster" Target="/ppt/notesMasters/notesMaster1.xml" Id="Racd4881aa47646f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90d2fde3e54151" /><Relationship Type="http://schemas.openxmlformats.org/officeDocument/2006/relationships/notesMaster" Target="/ppt/notesMasters/notesMaster1.xml" Id="R904f4cd4670949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1ffb833dd2402c" /><Relationship Type="http://schemas.openxmlformats.org/officeDocument/2006/relationships/notesMaster" Target="/ppt/notesMasters/notesMaster1.xml" Id="R5b4febc5714a4f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f6b2057e344670" /><Relationship Type="http://schemas.openxmlformats.org/officeDocument/2006/relationships/notesMaster" Target="/ppt/notesMasters/notesMaster1.xml" Id="Rd0f671fb656f4b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d121e1a668b4bf0" /><Relationship Type="http://schemas.openxmlformats.org/officeDocument/2006/relationships/notesMaster" Target="/ppt/notesMasters/notesMaster1.xml" Id="Re03a3d9fbe1046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b76272c1e494b95" /><Relationship Type="http://schemas.openxmlformats.org/officeDocument/2006/relationships/notesMaster" Target="/ppt/notesMasters/notesMaster1.xml" Id="Rb518d4a7297c46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0be124a0334d6f" /><Relationship Type="http://schemas.openxmlformats.org/officeDocument/2006/relationships/notesMaster" Target="/ppt/notesMasters/notesMaster1.xml" Id="Red590fe139e348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d183c8e6774471c" /><Relationship Type="http://schemas.openxmlformats.org/officeDocument/2006/relationships/notesMaster" Target="/ppt/notesMasters/notesMaster1.xml" Id="R9b8e1be8667b45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80b86896094f91" /><Relationship Type="http://schemas.openxmlformats.org/officeDocument/2006/relationships/notesMaster" Target="/ppt/notesMasters/notesMaster1.xml" Id="R3c644c0fbad440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66571eef7914459" /><Relationship Type="http://schemas.openxmlformats.org/officeDocument/2006/relationships/notesMaster" Target="/ppt/notesMasters/notesMaster1.xml" Id="Rd5bc40e8282a41b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8c6ffbfd86d4f83" /><Relationship Type="http://schemas.openxmlformats.org/officeDocument/2006/relationships/notesMaster" Target="/ppt/notesMasters/notesMaster1.xml" Id="Re4e51aedca32471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16f076f5f647eb" /><Relationship Type="http://schemas.openxmlformats.org/officeDocument/2006/relationships/notesMaster" Target="/ppt/notesMasters/notesMaster1.xml" Id="Rfe7a1f562f98459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aa1a57aa448424a" /><Relationship Type="http://schemas.openxmlformats.org/officeDocument/2006/relationships/notesMaster" Target="/ppt/notesMasters/notesMaster1.xml" Id="R618bdc28f784419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9fac2d1fba4f60" /><Relationship Type="http://schemas.openxmlformats.org/officeDocument/2006/relationships/notesMaster" Target="/ppt/notesMasters/notesMaster1.xml" Id="Rf00a76d14205425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d952c064e134979" /><Relationship Type="http://schemas.openxmlformats.org/officeDocument/2006/relationships/notesMaster" Target="/ppt/notesMasters/notesMaster1.xml" Id="R22a6a4bebdc14f2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6cdb6fbb59844d6" /><Relationship Type="http://schemas.openxmlformats.org/officeDocument/2006/relationships/notesMaster" Target="/ppt/notesMasters/notesMaster1.xml" Id="Rac1a834767f9470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7865262a71648aa" /><Relationship Type="http://schemas.openxmlformats.org/officeDocument/2006/relationships/notesMaster" Target="/ppt/notesMasters/notesMaster1.xml" Id="R26754b4c8e6f4bb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d6fc0764f3a48e7" /><Relationship Type="http://schemas.openxmlformats.org/officeDocument/2006/relationships/notesMaster" Target="/ppt/notesMasters/notesMaster1.xml" Id="R0baed44826794d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fddbc07dd7f496a" /><Relationship Type="http://schemas.openxmlformats.org/officeDocument/2006/relationships/notesMaster" Target="/ppt/notesMasters/notesMaster1.xml" Id="R14cbabca18d1430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4d642e4d6014d30" /><Relationship Type="http://schemas.openxmlformats.org/officeDocument/2006/relationships/notesMaster" Target="/ppt/notesMasters/notesMaster1.xml" Id="R38cb1a7bc691470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3261dffe97e4dc2" /><Relationship Type="http://schemas.openxmlformats.org/officeDocument/2006/relationships/notesMaster" Target="/ppt/notesMasters/notesMaster1.xml" Id="Ra937ba74a2514ed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486d92efa8b4a09" /><Relationship Type="http://schemas.openxmlformats.org/officeDocument/2006/relationships/notesMaster" Target="/ppt/notesMasters/notesMaster1.xml" Id="Rf2bf1a089d9544e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a80ff3fc9224634" /><Relationship Type="http://schemas.openxmlformats.org/officeDocument/2006/relationships/notesMaster" Target="/ppt/notesMasters/notesMaster1.xml" Id="R20cc3ef5f90b4de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0e3aa886a3446b8" /><Relationship Type="http://schemas.openxmlformats.org/officeDocument/2006/relationships/notesMaster" Target="/ppt/notesMasters/notesMaster1.xml" Id="R6b8a34de176a401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64891d52a1d4f0e" /><Relationship Type="http://schemas.openxmlformats.org/officeDocument/2006/relationships/notesMaster" Target="/ppt/notesMasters/notesMaster1.xml" Id="R87e0b125fb2944d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304e7dc7d5c4a29" /><Relationship Type="http://schemas.openxmlformats.org/officeDocument/2006/relationships/notesMaster" Target="/ppt/notesMasters/notesMaster1.xml" Id="R62a92b5d3e9b492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b1f60de7daa4d03" /><Relationship Type="http://schemas.openxmlformats.org/officeDocument/2006/relationships/notesMaster" Target="/ppt/notesMasters/notesMaster1.xml" Id="Ree54c1c954744ed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e450fb598324384" /><Relationship Type="http://schemas.openxmlformats.org/officeDocument/2006/relationships/notesMaster" Target="/ppt/notesMasters/notesMaster1.xml" Id="Rec92ab3736994e6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8fce1c79eac4709" /><Relationship Type="http://schemas.openxmlformats.org/officeDocument/2006/relationships/notesMaster" Target="/ppt/notesMasters/notesMaster1.xml" Id="R0a5c135d88f34f6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784ac1bfb9c4dd0" /><Relationship Type="http://schemas.openxmlformats.org/officeDocument/2006/relationships/notesMaster" Target="/ppt/notesMasters/notesMaster1.xml" Id="R873e592e0f124d2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12d4c525dcd4ef7" /><Relationship Type="http://schemas.openxmlformats.org/officeDocument/2006/relationships/notesMaster" Target="/ppt/notesMasters/notesMaster1.xml" Id="R0a36b41da73e40d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59d1ee1990b48d7" /><Relationship Type="http://schemas.openxmlformats.org/officeDocument/2006/relationships/notesMaster" Target="/ppt/notesMasters/notesMaster1.xml" Id="Rb4f615caa1764ba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2eeb9dd09e4499c" /><Relationship Type="http://schemas.openxmlformats.org/officeDocument/2006/relationships/notesMaster" Target="/ppt/notesMasters/notesMaster1.xml" Id="R6bdf004a75f0409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1e326213f0b467e" /><Relationship Type="http://schemas.openxmlformats.org/officeDocument/2006/relationships/notesMaster" Target="/ppt/notesMasters/notesMaster1.xml" Id="R6fc610a7d7644fa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a6caa94da68462d" /><Relationship Type="http://schemas.openxmlformats.org/officeDocument/2006/relationships/notesMaster" Target="/ppt/notesMasters/notesMaster1.xml" Id="Rdcd7f774612446e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2c63fc746044f1b" /><Relationship Type="http://schemas.openxmlformats.org/officeDocument/2006/relationships/notesMaster" Target="/ppt/notesMasters/notesMaster1.xml" Id="Ra4474258e44443c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404be0d173c4ac7" /><Relationship Type="http://schemas.openxmlformats.org/officeDocument/2006/relationships/notesMaster" Target="/ppt/notesMasters/notesMaster1.xml" Id="R2408050e8baf4bd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baea2bb009c45f4" /><Relationship Type="http://schemas.openxmlformats.org/officeDocument/2006/relationships/notesMaster" Target="/ppt/notesMasters/notesMaster1.xml" Id="R80770efa3f37415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8379b74df0b4671" /><Relationship Type="http://schemas.openxmlformats.org/officeDocument/2006/relationships/notesMaster" Target="/ppt/notesMasters/notesMaster1.xml" Id="R99dc51074b00469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51fff3143b448e7" /><Relationship Type="http://schemas.openxmlformats.org/officeDocument/2006/relationships/notesMaster" Target="/ppt/notesMasters/notesMaster1.xml" Id="R5fdf81b565774f1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5e8f9976519444c" /><Relationship Type="http://schemas.openxmlformats.org/officeDocument/2006/relationships/notesMaster" Target="/ppt/notesMasters/notesMaster1.xml" Id="R35d465b2928647d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a6aa918a5bd4787" /><Relationship Type="http://schemas.openxmlformats.org/officeDocument/2006/relationships/notesMaster" Target="/ppt/notesMasters/notesMaster1.xml" Id="R4a8e253cd0c2468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04352ee3f1940b0" /><Relationship Type="http://schemas.openxmlformats.org/officeDocument/2006/relationships/notesMaster" Target="/ppt/notesMasters/notesMaster1.xml" Id="R314b3c633f2b4a7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bfcdb9109894f38" /><Relationship Type="http://schemas.openxmlformats.org/officeDocument/2006/relationships/notesMaster" Target="/ppt/notesMasters/notesMaster1.xml" Id="Rc7c471251cb6481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9ae1ab72a6d4ff5" /><Relationship Type="http://schemas.openxmlformats.org/officeDocument/2006/relationships/notesMaster" Target="/ppt/notesMasters/notesMaster1.xml" Id="Ra08f17af1acd48a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16c1b7911a84b81" /><Relationship Type="http://schemas.openxmlformats.org/officeDocument/2006/relationships/notesMaster" Target="/ppt/notesMasters/notesMaster1.xml" Id="Rf7ddfea936af4ad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dc12d1fa4264ddf" /><Relationship Type="http://schemas.openxmlformats.org/officeDocument/2006/relationships/notesMaster" Target="/ppt/notesMasters/notesMaster1.xml" Id="Rdf576647e20c4cc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dece62558dff41bd" /><Relationship Type="http://schemas.openxmlformats.org/officeDocument/2006/relationships/notesMaster" Target="/ppt/notesMasters/notesMaster1.xml" Id="R7a28f4cf3be047c5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16c68d45ffa460b" /><Relationship Type="http://schemas.openxmlformats.org/officeDocument/2006/relationships/notesMaster" Target="/ppt/notesMasters/notesMaster1.xml" Id="R05b9320abbb540a1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364ccad6fcd54683" /><Relationship Type="http://schemas.openxmlformats.org/officeDocument/2006/relationships/notesMaster" Target="/ppt/notesMasters/notesMaster1.xml" Id="R6bcd3803285e4e2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af0e7f774e9d4384" /><Relationship Type="http://schemas.openxmlformats.org/officeDocument/2006/relationships/notesMaster" Target="/ppt/notesMasters/notesMaster1.xml" Id="Rc985fda5d7b34edc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1f41935379064f4a" /><Relationship Type="http://schemas.openxmlformats.org/officeDocument/2006/relationships/notesMaster" Target="/ppt/notesMasters/notesMaster1.xml" Id="R306f0cdf662843a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f71977102224d34" /><Relationship Type="http://schemas.openxmlformats.org/officeDocument/2006/relationships/notesMaster" Target="/ppt/notesMasters/notesMaster1.xml" Id="R86a83f2a0ffd48e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ff23d10431a4523" /><Relationship Type="http://schemas.openxmlformats.org/officeDocument/2006/relationships/notesMaster" Target="/ppt/notesMasters/notesMaster1.xml" Id="Rfbd8f623d21c4012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aa4ba0d86c574fb4" /><Relationship Type="http://schemas.openxmlformats.org/officeDocument/2006/relationships/notesMaster" Target="/ppt/notesMasters/notesMaster1.xml" Id="R386b309dc8044ef8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ecf93d6a0bf34dbc" /><Relationship Type="http://schemas.openxmlformats.org/officeDocument/2006/relationships/notesMaster" Target="/ppt/notesMasters/notesMaster1.xml" Id="R69800ea8d1784d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 기준: https://hyeonwoona0861.github.io/study/speech-and-audio-recognition/midterm-review/ ; Lecture 6–7 source separation은 제외한다.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총정리의 전체 흐름: https://hyeonwoona0861.github.io/study/speech-and-audio-recognition/midterm-review/#전체-흐름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https://hyeonwoona0861.github.io/assets/pdfs/study/speech-and-audio-recognition/speech-audio-lecture-02.pdf#page=5 ; 캡처: https://hyeonwoona0861.github.io/assets/images/study/speech-and-audio-recognition/source-captures/speech-02-p05.png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https://hyeonwoona0861.github.io/assets/pdfs/study/speech-and-audio-recognition/speech-audio-lecture-02.pdf#page=37 ; 캡처: https://hyeonwoona0861.github.io/assets/images/study/speech-and-audio-recognition/source-captures/speech-02-p37.png</a:t>
            </a:r>
          </a:p>
          <a:p xmlns:a="http://schemas.openxmlformats.org/drawingml/2006/main">
            <a:r>
              <a:t>수식 검산: x_f[n]=exp(j2πfn/fs)일 때 어떤 정수 k에 대해 x_(f+kfs)[n]=x_f[n]이다. 복소 basis에서 5 kHz는 -3 kHz와 같은 표본이고, 실수 cosine의 짝수 대칭 때문에 zero-phase 3 kHz cosine과도 같다. 따라서 Fourier analysis는 겹침을 드러내지만 표본화 이후에 원래 성분을 재생성하지 못한다. 방지는 표본화 전 anti-alias low-pass filter와 필요 대역보다 충분히 높은 sampling rate로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https://hyeonwoona0861.github.io/assets/pdfs/study/speech-and-audio-recognition/speech-audio-lecture-02.pdf#page=26 ; 캡처: https://hyeonwoona0861.github.io/assets/images/study/speech-and-audio-recognition/source-captures/speech-02-p26.png</a:t>
            </a:r>
          </a:p>
          <a:p xmlns:a="http://schemas.openxmlformats.org/drawingml/2006/main">
            <a:r>
              <a:t>이산 시간에서 exp(j2π(k+qN)n/N)=exp(j2πkn/N)이므로 basis index는 modulo N로 같아진다. DFT bin의 직교성은 0,…,N-1의 서로 다른 나머지 class에 대해 성립한다. 이 직교성은 관측된 표본 안의 성분을 분리하지만, aliasing으로 같은 class에 접힌 원래 아날로그 주파수까지 구별하지는 못한다.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https://hyeonwoona0861.github.io/assets/pdfs/study/speech-and-audio-recognition/speech-audio-lecture-02.pdf#page=29 ; 캡처: https://hyeonwoona0861.github.io/assets/images/study/speech-and-audio-recognition/source-captures/speech-02-p29.png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https://hyeonwoona0861.github.io/assets/pdfs/study/speech-and-audio-recognition/speech-audio-lecture-02.pdf#page=32 ; 캡처: https://hyeonwoona0861.github.io/assets/images/study/speech-and-audio-recognition/source-captures/speech-02-p32.png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https://hyeonwoona0861.github.io/assets/pdfs/study/speech-and-audio-recognition/speech-audio-lecture-02-2.pdf#page=9 ; 캡처: https://hyeonwoona0861.github.io/assets/images/study/speech-and-audio-recognition/source-captures/speech-02-2-p09.png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2 Lab PDF p.9의 STFT 그림 뒤에 둔 작성자 계산 예제. A와 B는 같은 신호의 전체/확대 파형이며 C는 동일 신호의 power STFT. 500 Hz가 1초 내내 존재하고 1500 Hz는 .4–.8초에만 존재한다. 두 경계에 10 ms linear ramp. 주파수 그림은 0–2500 Hz만 표시. 복소 DFT를 abs 제곱 후 global maximum 기준 10log10으로 변환하고 -60 dB로 clipping. 보정된 SPL이나 PSD가 아니다. 파형의 위상 정보는 표본에 담겨 있고, 복소 STFT에도 남는다. 생성 코드: waveform-spectrogram-example.mjs. 원문: https://hyeonwoona0861.github.io/assets/pdfs/study/speech-and-audio-recognition/speech-audio-lecture-02-2.pdf#page=9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X=a+jb에서 magnitude=sqrt(a²+b²), phase=atan2(b,a). 0계수의 phase는 정의되지 않는다. 선형성으로 STFT(-x)=-STFT(x)이므로 두 power는 같다. 이는 전체 magnitude만으로 원신호가 유일하지 않다는 반례이며 모든 phase 변화가 청감 차이를 보장한다는 주장이 아니다. 실제 계산 예제의 complex STFT 역변환 maximum absolute error는 waveform-spectrogram-verification.json에 보존. 역변환 조건 참고: https://docs.scipy.org/doc/scipy/reference/generated/scipy.signal.stft.html 및 https://docs.scipy.org/doc/scipy/reference/generated/scipy.signal.istft.html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https://hyeonwoona0861.github.io/assets/pdfs/study/speech-and-audio-recognition/speech-audio-lecture-02-2.pdf#page=14 ; 캡처: https://hyeonwoona0861.github.io/assets/images/study/speech-and-audio-recognition/source-captures/speech-02-2-p14.png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https://hyeonwoona0861.github.io/assets/pdfs/study/speech-and-audio-recognition/speech-audio-lecture-02-2.pdf#page=17 ; 캡처: https://hyeonwoona0861.github.io/assets/images/study/speech-and-audio-recognition/source-captures/speech-02-2-p17.png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https://hyeonwoona0861.github.io/study/speech-and-audio-recognition/midterm-review/#31-wer는-정답-길이로-정규화한-편집-거리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https://hyeonwoona0861.github.io/assets/pdfs/study/speech-and-audio-recognition/speech-audio-lecture-03.pdf#page=47 ; 캡처: https://hyeonwoona0861.github.io/assets/images/study/speech-and-audio-recognition/source-captures/speech-03-p47.png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https://hyeonwoona0861.github.io/study/speech-and-audio-recognition/midterm-review/#32-음향-frame과-문자-수는-같지-않다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https://hyeonwoona0861.github.io/assets/pdfs/study/speech-and-audio-recognition/speech-audio-lecture-03.pdf#page=33 ; 캡처: https://hyeonwoona0861.github.io/assets/images/study/speech-and-audio-recognition/source-captures/speech-03-p33.png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https://hyeonwoona0861.github.io/assets/pdfs/study/speech-and-audio-recognition/speech-audio-lecture-03.pdf#page=35 ; 캡처: https://hyeonwoona0861.github.io/assets/images/study/speech-and-audio-recognition/source-captures/speech-03-p35.png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https://hyeonwoona0861.github.io/assets/pdfs/study/speech-and-audio-recognition/speech-audio-lecture-03.pdf#page=41 ; 원문 요약의 각 항목을 뒤 슬라이드에서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pp.36,41; Lecture 4 p.2. produces alignment는 잠재 정렬과 추론 정렬을 뜻하며 정확한 forced timestamp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pp.37–41. 원문의 Perfect quality는 exhaustive search의 탐색 관점이며 실제 정답 인식 보장으로 옮기지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3 pp.37–41의 원리를 설명하는 자체 수치 예제. 나머지 출력 확률: b=0.11, ab=0.04, ba=0.04; 전체 합=1. 원문 p37 수치는 합이 1을 넘어 그대로 재사용하지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https://hyeonwoona0861.github.io/assets/pdfs/study/speech-and-audio-recognition/speech-audio-lecture-03.pdf#page=40 ; 캡처: https://hyeonwoona0861.github.io/assets/images/study/speech-and-audio-recognition/source-captures/speech-03-p40.png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총정리: https://hyeonwoona0861.github.io/study/speech-and-audio-recognition/midterm-review/#44-deep-speech-2와-conformer를-구조-역할로-비교한다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pp.42–45; Lecture 4 p.16. 구조의 문제의식과 해결책을 설명하며 과거 데이터셋의 성능을 보편적 우월성으로 일반화하지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https://hyeonwoona0861.github.io/assets/pdfs/study/speech-and-audio-recognition/speech-audio-lecture-03.pdf#page=43 ; 원문 전체 block을 따라 연산 순서와 residual 의미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https://hyeonwoona0861.github.io/assets/pdfs/study/speech-and-audio-recognition/speech-audio-lecture-03.pdf#page=44 ; 캡처: https://hyeonwoona0861.github.io/assets/images/study/speech-and-audio-recognition/source-captures/speech-03-p44.png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pp.46–48. T는 subsampling 뒤 encoder 길이. 정확한 길이는 kernel·padding에 의존한다. WordPiece·Unigram도 대안이며 문맥에 따른 발음과 짧은 출력 길이가 동기다. BPE 원본 그림은 앞 슬라이드 참조. 길이조건은 CTC collapse 규칙의 보충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https://hyeonwoona0861.github.io/assets/pdfs/study/speech-and-audio-recognition/speech-audio-lecture-04.pdf#page=4 ; pp.3–11의 고정 벡터와 attention 비교.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https://hyeonwoona0861.github.io/assets/pdfs/study/speech-and-audio-recognition/speech-audio-lecture-04.pdf#page=11 ; source/target axes and brightness inspected directly.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https://hyeonwoona0861.github.io/assets/pdfs/study/speech-and-audio-recognition/speech-audio-lecture-04.pdf#page=10 ; dot은 같은 차원 표현, bilinear는 차원에 맞는 W가 필요하다. Score 이후 입력 위치별 정규화를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pp.6–13. 수치 예제는 설명용 자체 예제. e,α,c의 출력 단계 u와 입력 위치 t를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pp.12–17 및 lecture-04-attention-and-rnn-transducer.md의 autoregressive 보강. EOS를 포함한 sequence probability와 teacher-forcing 조건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https://hyeonwoona0861.github.io/assets/pdfs/study/speech-and-audio-recognition/speech-audio-lecture-04.pdf#page=13 ; 자연로그, nats 단위. H(p,q)=H(p)+KL(p||q), p 고정 시 q=p에서 최소.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https://hyeonwoona0861.github.io/assets/pdfs/study/speech-and-audio-recognition/speech-audio-lecture-04.pdf#page=15 ; 캡처: https://hyeonwoona0861.github.io/assets/images/study/speech-and-audio-recognition/source-captures/speech-04-p15.png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https://hyeonwoona0861.github.io/assets/pdfs/study/speech-and-audio-recognition/speech-audio-lecture-04.pdf#page=16 ; 감소율은 단계 수에 의존한다.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p.17. 자체 수치 예제이며 log 점수, 길이 정규화, LM 없는 순수 확률 비교. Beam은 일반적으로 전역 최적을 보장하지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pp.15–20. p18의 서로 다른 연도·학습 설정 WER 수치를 architecture의 단독 인과 효과로 비교하지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pp.21–32. RNN-T 목표는 context dependent + streamable; prediction network와 external LM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https://hyeonwoona0861.github.io/assets/pdfs/study/speech-and-audio-recognition/speech-audio-lecture-04.pdf#page=37 ; 캡처: https://hyeonwoona0861.github.io/assets/images/study/speech-and-audio-recognition/source-captures/speech-04-p37.png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pp.22–32의 순차 도식. x₀–x₄, c·a·t와 blank 위치를 원문과 대조.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pp.33–41. 격자 바깥 불가능한 전이는 제외하고 해당 구현의 마지막 blank/종료 규약을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pp.36–41. 자체 내부 칸 예제; α(0,0)=1, 불가능한 상태=0. 실제 encoder 인덱스와 마지막 blank 규약에 맞춰 경계식은 별도로 적용한다. b와 ℓ은 서로 다른 상태에서 평가될 수 있으며 한 공통 softmax의 두 값으로 오해하지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pp.33–41의 격자를 consumed-frame convention으로 명시한 보충 설명. 음향 인덱스 0..T−1, 출력 개수 0..U, T&gt;0. t=T에서는 α(T,u)=α(T−1,u)b(T−1,u), 이후 전이 없음. 최종 상태는 (T,U). 경계 규약이 다른 구현의 식과 섞지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https://hyeonwoona0861.github.io/assets/pdfs/study/speech-and-audio-recognition/speech-audio-lecture-04.pdf#page=42 ; 32×800×450×640×4=29,491,200,000 bytes. 표기 오류를 설명에서 정정. 구현에 따라 tensor materialization·checkpointing·mixed precision 차이가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p.42 재계산. 2,457,600,000 bytes=2.4576 GB를 소수 둘째 자리 반올림해 2.46 GB. 실제 GPU peak memory 측정값이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https://hyeonwoona0861.github.io/assets/pdfs/study/speech-and-audio-recognition/speech-audio-lecture-04.pdf#page=44 ; 캡처: https://hyeonwoona0861.github.io/assets/images/study/speech-and-audio-recognition/source-captures/speech-04-p44.png ; 표의 streaming 표시는 구현 조건에 따라 달라질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pp.19–20,42–44. 세 모델의 정의를 한국어로 풀이한 원문 비교표 상세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pp.18–20,43–44. 원문 T는 단계 수를 단순화해 표기하므로 보편적인 점근 복잡도 정리로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https://hyeonwoona0861.github.io/assets/pdfs/study/speech-and-audio-recognition/speech-audio-lecture-04.pdf#page=43 ; L4 p18 같은 LAS 비교표. 자원 수치는 L3 p42의 소개값이며 최신 모델 성능·동일 조건 benchmark로 주장하지 않는다. 표의 Human 연도 표기는 농담성 표현으로 사실 연표에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pp.49–51; Lecture 4 pp.45–47. 원문 두 후보의 수치를 결합한 설명용 예제. BERT류 masked LM은 causal next-token LM과 동일하게 사용할 수 없으며 별도 점수화가 필요하다.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p.51; Lecture 4 p.47. 원문의 large/light model (ASR)는 LM 결합 설명에서 모호하므로 대형 LM 재점수화/가벼운 LM 반복 탐색으로 기능을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https://hyeonwoona0861.github.io/assets/pdfs/study/speech-and-audio-recognition/speech-audio-lecture-04.pdf#page=48 ; 결합부·gate의 세부 구현과 동결 범위는 방법별로 다르므로 이 도식만으로 모든 파라미터의 공동학습을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https://hyeonwoona0861.github.io/assets/pdfs/study/speech-and-audio-recognition/speech-audio-lecture-05.pdf#page=11 ; pp.3–11의 순차 도식을 종합한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pp.3–17. 예시는 분류 이해를 위한 설명. SSL은 넓은 unlabeled learning 안에서 supervision을 스스로 만드는 방식으로 볼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https://hyeonwoona0861.github.io/assets/pdfs/study/speech-and-audio-recognition/speech-audio-lecture-05.pdf#page=12 ; 원문 소개의 범위 안에서 데이터 신호 출처를 해설. MMS에는 SSL 사전학습도 있으므로 단일 범주로 환원하지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https://hyeonwoona0861.github.io/assets/pdfs/study/speech-and-audio-recognition/speech-audio-lecture-05.pdf#page=16 ; pp.13–16 원문 단계 도식. 모든 SSL이 masking만 쓰는 것은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pp.13–19. p17의 fast/better convergence, low-resource, foundation model bullet을 조건과 함께 상세 해설. p18 text SSL 계보는 학습 목표 차이로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https://hyeonwoona0861.github.io/assets/pdfs/study/speech-and-audio-recognition/speech-audio-lecture-05.pdf#page=17 ; 그래프에 실험조건·회귀 변환 세부가 없으므로 추가 효과 크기를 추정하지 않는다. Low-resource 동기를 설명하는 시각자료로만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pp.19–20. '1 second ~16000 floats'는 16 kHz 조건의 sample 수이지 모든 녹음의 고정값이나 저장 포맷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https://hyeonwoona0861.github.io/assets/pdfs/study/speech-and-audio-recognition/speech-audio-lecture-05.pdf#page=20 ; 범례에 embedding·multimodal도 있음. 도식의 분류는 대표 특징이며 기법이 항상 배타적인 것은 아니다. 이번 상세 보강 범위는 이 페이지까지.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https://hyeonwoona0861.github.io/assets/pdfs/study/speech-and-audio-recognition/speech-audio-lecture-05.pdf#page=24 ; 캡처: https://hyeonwoona0861.github.io/assets/images/study/speech-and-audio-recognition/source-captures/speech-05-p24.png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https://hyeonwoona0861.github.io/assets/pdfs/study/speech-and-audio-recognition/speech-audio-lecture-05.pdf#page=31 ; 캡처: https://hyeonwoona0861.github.io/assets/images/study/speech-and-audio-recognition/source-captures/speech-05-p31.png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https://hyeonwoona0861.github.io/assets/pdfs/study/speech-and-audio-recognition/speech-audio-lecture-05.pdf#page=46 ; 캡처: https://hyeonwoona0861.github.io/assets/images/study/speech-and-audio-recognition/source-captures/speech-05-p46.png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papers: wav2vec 2.0, arXiv:2006.11477 §3.2, masks latent speech and solves a contrastive task over jointly learned quantized targets; HuBERT, arXiv:2106.07447, uses offline clustering for aligned target labels and masked-region classification. HuBERT starts with MFCC-based k-means labels and can recluster learned hidden features between training stages. Predictive here means masked target prediction, not necessarily autoregressive future prediction or waveform reconstruction. Blog-aligned arithmetic check: wav2vec 2.0 softmax scores (2,1,0) give positive probability 0.6652409558 and loss 0.4076059644; HuBERT class probabilities (0.1,0.7,0.2) with target class 2 give loss 0.3566749439. These toy losses use different candidate spaces and are not performance-comparable.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범위와 역할 연결: https://hyeonwoona0861.github.io/study/speech-and-audio-recognition/midterm-review/#마지막-핵심-정리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e1c2b38c847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531d3afb24e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9929f3fbb340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14966ec55b4a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e2093d1f24e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ee9195ff842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251787-12F6-4B61-8949-559EAFA892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5B7C1E1-F1EA-4265-97D8-D8EA972D501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1661A45-B5C1-4EEC-A20D-5412361F20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788AD5-ACB8-44B6-AEE4-051FEF99E1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504FD06-C209-46E2-AD2F-B3C4308A32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98A9EE-F671-40DD-A2EE-461803F288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4E92D91-B100-45C3-81B2-3960488EB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873110-9080-4FDC-80D1-476B8B26B5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DC97A2-B687-4177-A7A1-1C70B493E5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E95AEF-F6D9-4E86-9A43-D409BE3877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2c7e8be5064fb3" /><Relationship Type="http://schemas.openxmlformats.org/officeDocument/2006/relationships/slideLayout" Target="/ppt/slideLayouts/slideLayout1.xml" Id="R03629eeba9df4885" /><Relationship Type="http://schemas.openxmlformats.org/officeDocument/2006/relationships/slideLayout" Target="/ppt/slideLayouts/slideLayout2.xml" Id="Rf9692f0781284f59" /><Relationship Type="http://schemas.openxmlformats.org/officeDocument/2006/relationships/slideLayout" Target="/ppt/slideLayouts/slideLayout3.xml" Id="Re38e7a879f3d40a5" /><Relationship Type="http://schemas.openxmlformats.org/officeDocument/2006/relationships/slideLayout" Target="/ppt/slideLayouts/slideLayout4.xml" Id="R5eee40775b6c41ac" /><Relationship Type="http://schemas.openxmlformats.org/officeDocument/2006/relationships/slideLayout" Target="/ppt/slideLayouts/slideLayout5.xml" Id="R2137d4a6e6634fc6" /><Relationship Type="http://schemas.openxmlformats.org/officeDocument/2006/relationships/slideLayout" Target="/ppt/slideLayouts/slideLayout6.xml" Id="R74a1b19038774f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629eeba9df4885"/>
    <p:sldLayoutId xmlns:r="http://schemas.openxmlformats.org/officeDocument/2006/relationships" id="2147483650" r:id="Rf9692f0781284f59"/>
    <p:sldLayoutId xmlns:r="http://schemas.openxmlformats.org/officeDocument/2006/relationships" id="2147483651" r:id="Re38e7a879f3d40a5"/>
    <p:sldLayoutId xmlns:r="http://schemas.openxmlformats.org/officeDocument/2006/relationships" id="2147483652" r:id="R5eee40775b6c41ac"/>
    <p:sldLayoutId xmlns:r="http://schemas.openxmlformats.org/officeDocument/2006/relationships" id="2147483653" r:id="R2137d4a6e6634fc6"/>
    <p:sldLayoutId xmlns:r="http://schemas.openxmlformats.org/officeDocument/2006/relationships" id="2147483654" r:id="R74a1b19038774f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be2b901c674f52" /><Relationship Type="http://schemas.openxmlformats.org/officeDocument/2006/relationships/notesSlide" Target="/ppt/notesSlides/notesSlide1.xml" Id="R19164ab7124d48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2998ccd4724866" /><Relationship Type="http://schemas.openxmlformats.org/officeDocument/2006/relationships/notesSlide" Target="/ppt/notesSlides/notesSlide2.xml" Id="R2a36d5e9d74e45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833c0604cb4867" /><Relationship Type="http://schemas.openxmlformats.org/officeDocument/2006/relationships/image" Target="/ppt/media/image.png" Id="Rc73d467b90584a7c" /><Relationship Type="http://schemas.openxmlformats.org/officeDocument/2006/relationships/notesSlide" Target="/ppt/notesSlides/notesSlide3.xml" Id="R91002ef3ac304b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8e3479d8c94fd1" /><Relationship Type="http://schemas.openxmlformats.org/officeDocument/2006/relationships/image" Target="/ppt/media/image2.png" Id="R3998174a7802473e" /><Relationship Type="http://schemas.openxmlformats.org/officeDocument/2006/relationships/notesSlide" Target="/ppt/notesSlides/notesSlide4.xml" Id="R61ece29249f549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87fe4cae1c4640" /><Relationship Type="http://schemas.openxmlformats.org/officeDocument/2006/relationships/image" Target="/ppt/media/image3.png" Id="Rd3c4f8163e374fa1" /><Relationship Type="http://schemas.openxmlformats.org/officeDocument/2006/relationships/notesSlide" Target="/ppt/notesSlides/notesSlide5.xml" Id="R53d4ffb5e46941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0ae3207a1945f0" /><Relationship Type="http://schemas.openxmlformats.org/officeDocument/2006/relationships/image" Target="/ppt/media/image4.png" Id="R0c09f33e90ed4cd1" /><Relationship Type="http://schemas.openxmlformats.org/officeDocument/2006/relationships/notesSlide" Target="/ppt/notesSlides/notesSlide6.xml" Id="R8d87de6a05b94b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13f51743c7434f" /><Relationship Type="http://schemas.openxmlformats.org/officeDocument/2006/relationships/image" Target="/ppt/media/image5.png" Id="R26c2249e47d14089" /><Relationship Type="http://schemas.openxmlformats.org/officeDocument/2006/relationships/notesSlide" Target="/ppt/notesSlides/notesSlide7.xml" Id="R147893a0b7544a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549cfedfe94684" /><Relationship Type="http://schemas.openxmlformats.org/officeDocument/2006/relationships/image" Target="/ppt/media/image6.png" Id="R09f76b1fe7c9455f" /><Relationship Type="http://schemas.openxmlformats.org/officeDocument/2006/relationships/notesSlide" Target="/ppt/notesSlides/notesSlide8.xml" Id="Re5c780f48af041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f6fa16280a49a2" /><Relationship Type="http://schemas.openxmlformats.org/officeDocument/2006/relationships/image" Target="/ppt/media/image7.png" Id="R7202615df6404883" /><Relationship Type="http://schemas.openxmlformats.org/officeDocument/2006/relationships/notesSlide" Target="/ppt/notesSlides/notesSlide9.xml" Id="R8c54cb09f8a641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b5720a55274ac9" /><Relationship Type="http://schemas.openxmlformats.org/officeDocument/2006/relationships/notesSlide" Target="/ppt/notesSlides/notesSlide10.xml" Id="Rd87ad97cbc1e4e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2178b3c6d349db" /><Relationship Type="http://schemas.openxmlformats.org/officeDocument/2006/relationships/image" Target="/ppt/media/image8.png" Id="R3b97c4e9f6ba4088" /><Relationship Type="http://schemas.openxmlformats.org/officeDocument/2006/relationships/notesSlide" Target="/ppt/notesSlides/notesSlide11.xml" Id="R341cf7bcadce4c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7dcd1af6e249fd" /><Relationship Type="http://schemas.openxmlformats.org/officeDocument/2006/relationships/image" Target="/ppt/media/image9.png" Id="R300f976e4820401b" /><Relationship Type="http://schemas.openxmlformats.org/officeDocument/2006/relationships/notesSlide" Target="/ppt/notesSlides/notesSlide12.xml" Id="Rbb624117c7b947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2d46f3b8141c8" /><Relationship Type="http://schemas.openxmlformats.org/officeDocument/2006/relationships/notesSlide" Target="/ppt/notesSlides/notesSlide13.xml" Id="R20dd43ffeb2b4d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edc238523c4251" /><Relationship Type="http://schemas.openxmlformats.org/officeDocument/2006/relationships/image" Target="/ppt/media/image10.png" Id="R50a545ea18a8421f" /><Relationship Type="http://schemas.openxmlformats.org/officeDocument/2006/relationships/notesSlide" Target="/ppt/notesSlides/notesSlide14.xml" Id="R7e723aad921348e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defd3e90bf412b" /><Relationship Type="http://schemas.openxmlformats.org/officeDocument/2006/relationships/notesSlide" Target="/ppt/notesSlides/notesSlide15.xml" Id="R97cfe515c7ac4c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42a4a0f53641a9" /><Relationship Type="http://schemas.openxmlformats.org/officeDocument/2006/relationships/image" Target="/ppt/media/image11.png" Id="R9205d4d98bbd4448" /><Relationship Type="http://schemas.openxmlformats.org/officeDocument/2006/relationships/notesSlide" Target="/ppt/notesSlides/notesSlide16.xml" Id="R6119ac3da25c462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7b784cde9c4ad8" /><Relationship Type="http://schemas.openxmlformats.org/officeDocument/2006/relationships/image" Target="/ppt/media/image12.png" Id="Rf2c2c24aa68c4460" /><Relationship Type="http://schemas.openxmlformats.org/officeDocument/2006/relationships/notesSlide" Target="/ppt/notesSlides/notesSlide17.xml" Id="Ra1764e9f3f6643c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9a8604bf1f47ba" /><Relationship Type="http://schemas.openxmlformats.org/officeDocument/2006/relationships/image" Target="/ppt/media/image13.png" Id="R212e38658f274f6e" /><Relationship Type="http://schemas.openxmlformats.org/officeDocument/2006/relationships/notesSlide" Target="/ppt/notesSlides/notesSlide18.xml" Id="R411baf689ff147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c9af8a250e4709" /><Relationship Type="http://schemas.openxmlformats.org/officeDocument/2006/relationships/notesSlide" Target="/ppt/notesSlides/notesSlide19.xml" Id="R6efea7e22ca04c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8a6924824f4881" /><Relationship Type="http://schemas.openxmlformats.org/officeDocument/2006/relationships/notesSlide" Target="/ppt/notesSlides/notesSlide20.xml" Id="Rbb60652a67964d5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48327bfa8a4735" /><Relationship Type="http://schemas.openxmlformats.org/officeDocument/2006/relationships/notesSlide" Target="/ppt/notesSlides/notesSlide21.xml" Id="R4687a2d5dc064b4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98984c900d43aa" /><Relationship Type="http://schemas.openxmlformats.org/officeDocument/2006/relationships/image" Target="/ppt/media/image14.png" Id="R9b3e5a175d244b7b" /><Relationship Type="http://schemas.openxmlformats.org/officeDocument/2006/relationships/notesSlide" Target="/ppt/notesSlides/notesSlide22.xml" Id="Rbae1ce1b4093460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53e5952484dfe" /><Relationship Type="http://schemas.openxmlformats.org/officeDocument/2006/relationships/notesSlide" Target="/ppt/notesSlides/notesSlide23.xml" Id="Reecc07eefa9747f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21dfb2e934250" /><Relationship Type="http://schemas.openxmlformats.org/officeDocument/2006/relationships/notesSlide" Target="/ppt/notesSlides/notesSlide24.xml" Id="R56350fc7b5e5403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1b38ee392e41be" /><Relationship Type="http://schemas.openxmlformats.org/officeDocument/2006/relationships/image" Target="/ppt/media/image15.png" Id="Rcaf57a51ed7f439f" /><Relationship Type="http://schemas.openxmlformats.org/officeDocument/2006/relationships/notesSlide" Target="/ppt/notesSlides/notesSlide25.xml" Id="R13c20cf8f01743c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2be9ed75034cd7" /><Relationship Type="http://schemas.openxmlformats.org/officeDocument/2006/relationships/image" Target="/ppt/media/image16.png" Id="R6d8097ee96344972" /><Relationship Type="http://schemas.openxmlformats.org/officeDocument/2006/relationships/notesSlide" Target="/ppt/notesSlides/notesSlide26.xml" Id="R5af94aabc7d449d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41362bbde44a31" /><Relationship Type="http://schemas.openxmlformats.org/officeDocument/2006/relationships/notesSlide" Target="/ppt/notesSlides/notesSlide27.xml" Id="R700dbfbc35c74c2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c0e827069740a5" /><Relationship Type="http://schemas.openxmlformats.org/officeDocument/2006/relationships/notesSlide" Target="/ppt/notesSlides/notesSlide28.xml" Id="Rc3befd8ed6cc465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83cfc298fa4823" /><Relationship Type="http://schemas.openxmlformats.org/officeDocument/2006/relationships/image" Target="/ppt/media/image17.png" Id="Rc25c75d0fc054841" /><Relationship Type="http://schemas.openxmlformats.org/officeDocument/2006/relationships/notesSlide" Target="/ppt/notesSlides/notesSlide29.xml" Id="R0d8d4825644343d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535e7f02e4a7b" /><Relationship Type="http://schemas.openxmlformats.org/officeDocument/2006/relationships/image" Target="/ppt/media/image18.png" Id="R5a0a848fd4e84d3a" /><Relationship Type="http://schemas.openxmlformats.org/officeDocument/2006/relationships/notesSlide" Target="/ppt/notesSlides/notesSlide30.xml" Id="R169f54a71f2a41d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f052ed06a64b24" /><Relationship Type="http://schemas.openxmlformats.org/officeDocument/2006/relationships/notesSlide" Target="/ppt/notesSlides/notesSlide31.xml" Id="R3730c5b9a2ff4b1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4dc570a4254852" /><Relationship Type="http://schemas.openxmlformats.org/officeDocument/2006/relationships/notesSlide" Target="/ppt/notesSlides/notesSlide32.xml" Id="R04745a14acff4be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542f4e1d8b40f7" /><Relationship Type="http://schemas.openxmlformats.org/officeDocument/2006/relationships/notesSlide" Target="/ppt/notesSlides/notesSlide33.xml" Id="R042c40b135184f7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e3c6c5d3ca4e5e" /><Relationship Type="http://schemas.openxmlformats.org/officeDocument/2006/relationships/image" Target="/ppt/media/image19.png" Id="Rbe7eff6066344692" /><Relationship Type="http://schemas.openxmlformats.org/officeDocument/2006/relationships/notesSlide" Target="/ppt/notesSlides/notesSlide34.xml" Id="R6a2b9bc35d86470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5480ad0a954cb8" /><Relationship Type="http://schemas.openxmlformats.org/officeDocument/2006/relationships/image" Target="/ppt/media/image20.png" Id="R45a0d447e1cb4f56" /><Relationship Type="http://schemas.openxmlformats.org/officeDocument/2006/relationships/notesSlide" Target="/ppt/notesSlides/notesSlide35.xml" Id="Rb5c20802aa474a8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b767fa33fe454a" /><Relationship Type="http://schemas.openxmlformats.org/officeDocument/2006/relationships/notesSlide" Target="/ppt/notesSlides/notesSlide36.xml" Id="R27c874a7f67e4e1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77c2b296084df1" /><Relationship Type="http://schemas.openxmlformats.org/officeDocument/2006/relationships/notesSlide" Target="/ppt/notesSlides/notesSlide37.xml" Id="R10a2c69db28a418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5bf67e9e724195" /><Relationship Type="http://schemas.openxmlformats.org/officeDocument/2006/relationships/notesSlide" Target="/ppt/notesSlides/notesSlide38.xml" Id="Re9052b68b657417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2aca6f2d4b434a" /><Relationship Type="http://schemas.openxmlformats.org/officeDocument/2006/relationships/image" Target="/ppt/media/image21.png" Id="R5af00225dbd04d23" /><Relationship Type="http://schemas.openxmlformats.org/officeDocument/2006/relationships/notesSlide" Target="/ppt/notesSlides/notesSlide39.xml" Id="Rbfdd04bd9793472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07b36dc9e943b9" /><Relationship Type="http://schemas.openxmlformats.org/officeDocument/2006/relationships/notesSlide" Target="/ppt/notesSlides/notesSlide40.xml" Id="Rf322dccf325f46d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a1029473084745" /><Relationship Type="http://schemas.openxmlformats.org/officeDocument/2006/relationships/notesSlide" Target="/ppt/notesSlides/notesSlide41.xml" Id="Rdf80d6d57f0c474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11f902636c4417" /><Relationship Type="http://schemas.openxmlformats.org/officeDocument/2006/relationships/notesSlide" Target="/ppt/notesSlides/notesSlide42.xml" Id="R21e5c5b01aa543c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a0c7bd704e4f8c" /><Relationship Type="http://schemas.openxmlformats.org/officeDocument/2006/relationships/notesSlide" Target="/ppt/notesSlides/notesSlide43.xml" Id="R554d4d69737f4c6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36f075a5742ba" /><Relationship Type="http://schemas.openxmlformats.org/officeDocument/2006/relationships/image" Target="/ppt/media/image22.png" Id="R7bf2e05d7f87486a" /><Relationship Type="http://schemas.openxmlformats.org/officeDocument/2006/relationships/notesSlide" Target="/ppt/notesSlides/notesSlide44.xml" Id="R0042b5391932484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a68b3ad0c0400b" /><Relationship Type="http://schemas.openxmlformats.org/officeDocument/2006/relationships/notesSlide" Target="/ppt/notesSlides/notesSlide45.xml" Id="R070d7f9f2378428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bd279c42c461e" /><Relationship Type="http://schemas.openxmlformats.org/officeDocument/2006/relationships/image" Target="/ppt/media/image23.png" Id="R6cff1292fd104fc1" /><Relationship Type="http://schemas.openxmlformats.org/officeDocument/2006/relationships/notesSlide" Target="/ppt/notesSlides/notesSlide46.xml" Id="R69eb4d01a7d840e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471e95c3974e6a" /><Relationship Type="http://schemas.openxmlformats.org/officeDocument/2006/relationships/notesSlide" Target="/ppt/notesSlides/notesSlide47.xml" Id="Rb0e22bdbad734ea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ad54a2c0884f38" /><Relationship Type="http://schemas.openxmlformats.org/officeDocument/2006/relationships/notesSlide" Target="/ppt/notesSlides/notesSlide48.xml" Id="R4932ea79a1b4420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3df416b1424a39" /><Relationship Type="http://schemas.openxmlformats.org/officeDocument/2006/relationships/image" Target="/ppt/media/image24.png" Id="Rb4ab0a97b43e41d2" /><Relationship Type="http://schemas.openxmlformats.org/officeDocument/2006/relationships/notesSlide" Target="/ppt/notesSlides/notesSlide49.xml" Id="Rae3a9d1349f2410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0fd52e3b2c49ca" /><Relationship Type="http://schemas.openxmlformats.org/officeDocument/2006/relationships/notesSlide" Target="/ppt/notesSlides/notesSlide50.xml" Id="Re0cacd4266204f7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9ad581dddb412a" /><Relationship Type="http://schemas.openxmlformats.org/officeDocument/2006/relationships/notesSlide" Target="/ppt/notesSlides/notesSlide51.xml" Id="Rbea6902929a34eb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dfddde664344a7" /><Relationship Type="http://schemas.openxmlformats.org/officeDocument/2006/relationships/image" Target="/ppt/media/image25.png" Id="R9507c662cd7642fb" /><Relationship Type="http://schemas.openxmlformats.org/officeDocument/2006/relationships/notesSlide" Target="/ppt/notesSlides/notesSlide52.xml" Id="Re4ae8a402e0c421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010cb3f87a4c5e" /><Relationship Type="http://schemas.openxmlformats.org/officeDocument/2006/relationships/image" Target="/ppt/media/image26.png" Id="R2d75906980da443a" /><Relationship Type="http://schemas.openxmlformats.org/officeDocument/2006/relationships/notesSlide" Target="/ppt/notesSlides/notesSlide53.xml" Id="R3f23369f1bed4fa0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3d2692e3244f1c" /><Relationship Type="http://schemas.openxmlformats.org/officeDocument/2006/relationships/notesSlide" Target="/ppt/notesSlides/notesSlide54.xml" Id="Rbb2d17e23267486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8b34c243014ebd" /><Relationship Type="http://schemas.openxmlformats.org/officeDocument/2006/relationships/notesSlide" Target="/ppt/notesSlides/notesSlide55.xml" Id="Rb0da8ecbbe694ce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ae2fa2e9e2434c" /><Relationship Type="http://schemas.openxmlformats.org/officeDocument/2006/relationships/image" Target="/ppt/media/image27.png" Id="R307fc2559e904fb0" /><Relationship Type="http://schemas.openxmlformats.org/officeDocument/2006/relationships/notesSlide" Target="/ppt/notesSlides/notesSlide56.xml" Id="R1f0369f17daa40b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c0e8694e7345a3" /><Relationship Type="http://schemas.openxmlformats.org/officeDocument/2006/relationships/notesSlide" Target="/ppt/notesSlides/notesSlide57.xml" Id="R77e8d5ceadde426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3f65e5afb049b9" /><Relationship Type="http://schemas.openxmlformats.org/officeDocument/2006/relationships/image" Target="/ppt/media/image28.png" Id="R4fe8671a4ee841d5" /><Relationship Type="http://schemas.openxmlformats.org/officeDocument/2006/relationships/notesSlide" Target="/ppt/notesSlides/notesSlide58.xml" Id="R8e999d46a90a4f3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956f495795444c" /><Relationship Type="http://schemas.openxmlformats.org/officeDocument/2006/relationships/notesSlide" Target="/ppt/notesSlides/notesSlide59.xml" Id="R2d29d149251c417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f70e8f7fcd4aed" /><Relationship Type="http://schemas.openxmlformats.org/officeDocument/2006/relationships/image" Target="/ppt/media/image29.png" Id="R692168bd69ef480b" /><Relationship Type="http://schemas.openxmlformats.org/officeDocument/2006/relationships/notesSlide" Target="/ppt/notesSlides/notesSlide60.xml" Id="R7ef681c63c124117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8a7fcc789d4168" /><Relationship Type="http://schemas.openxmlformats.org/officeDocument/2006/relationships/image" Target="/ppt/media/image30.png" Id="Rf12d08337c384a3e" /><Relationship Type="http://schemas.openxmlformats.org/officeDocument/2006/relationships/notesSlide" Target="/ppt/notesSlides/notesSlide61.xml" Id="R703f40aa726d45d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eba23c88f647bd" /><Relationship Type="http://schemas.openxmlformats.org/officeDocument/2006/relationships/image" Target="/ppt/media/image31.png" Id="R33b571c754e7471c" /><Relationship Type="http://schemas.openxmlformats.org/officeDocument/2006/relationships/notesSlide" Target="/ppt/notesSlides/notesSlide62.xml" Id="R9e37dd5113744330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4cca2745664d60" /><Relationship Type="http://schemas.openxmlformats.org/officeDocument/2006/relationships/image" Target="/ppt/media/image32.png" Id="R713b477b5a9441f5" /><Relationship Type="http://schemas.openxmlformats.org/officeDocument/2006/relationships/notesSlide" Target="/ppt/notesSlides/notesSlide63.xml" Id="Rbf388d9572ea4980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5a5b493d8045dc" /><Relationship Type="http://schemas.openxmlformats.org/officeDocument/2006/relationships/notesSlide" Target="/ppt/notesSlides/notesSlide64.xml" Id="R171e6dffcada44d6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59fcf34cf04ceb" /><Relationship Type="http://schemas.openxmlformats.org/officeDocument/2006/relationships/notesSlide" Target="/ppt/notesSlides/notesSlide65.xml" Id="R00c70896159343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F8697-9FC5-434B-9FA8-23654C04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and Audio Recognition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2550B-A824-488B-8844-D59068F1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Midterm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3ABC-B333-4A6C-9404-62326028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52875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소리의 표본화부터 전사 없는 표현 학습까지 연결한다.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DE97C-C068-41BB-9BFA-C1BB25BE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Midterm Review · Lecture 2–5</a:t>
            </a:r>
          </a:p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Signal → Spectrum → Alignment → Representation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B926E-3E61-47FB-9E89-6DE00EED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13771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03104-97B1-4351-BF1C-5AB303DF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Exam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C6742-9082-401D-B3F8-7BB5392C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장은 정보를 남기는 방식과 학습 target을 바꾼다.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350E5-1C71-47AA-804D-BB01FEB44334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Stage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Core question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Digitize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pressure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언제·얼마나 측정?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PCM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Analyze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samples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주파수가 언제?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Align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frames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token과 어떻게 대응?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Pre-train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unlabeled audio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target을 어디서 생성?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features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630285-4D90-4167-9F76-5F7DE818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신호 처리에서는 보존 정보와 손실 조건을, ASR에서는 정렬과 출력 이력을 구분한다.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SSL에서는 transcript 없이 target을 만드는 방식을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6502E-C76C-4C39-8E5F-A81F27BE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16328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38DB4-782D-4265-AF8D-6932765C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Sampling and PCM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904FD-0AB5-474B-8B85-6AD0F267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Sampling은 시간, quantization은 진폭을 이산화한다.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759B4-E599-4A07-BA92-FD3E319ACD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d467b90584a7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73E1B-8BA4-4288-BF17-52069647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16-bit·44.1 kHz·stereo PCM의 payload는 16×44,100×2=1,411,200 bit/s다.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낮은 sampling rate와 낮은 bit depth는 서로 다른 정보를 잃는다.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FB39D2-FA6C-4228-94A5-707BF2D6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05 — analog pressure, sampling, quantization, PCM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E0AAFA-33B3-4D56-9767-99A4D2D2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67423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DB039-76B1-48D3-8907-A1A20E6A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Nyquist and Aliasing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E3628-D380-4BBB-ACD4-F29D78E1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Fourier basis는 표본의 주파수 성분을 분석한다. Aliasing 방지는 표본화 전에 결정된다.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17ED9-E4B0-4BD0-8553-7E011AE9B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8174a7802473e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A6B1D-D313-4EC8-B0A6-5F49927A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fs=8 kHz에서 zero-phase 5 kHz와 3 kHz cosine은 같은 표본을 만든다: cos(2π·5n/8)=cos(2π·3n/8).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표본화 전 anti-alias low-pass filter와 충분한 fs가 겹침을 막는다. FFT 길이나 window는 이미 잃은 원 주파수를 복원하지 못한다.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8C617-55AB-48B1-8595-1319647A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37 — spectral replicas overlap when Nyquist is not satisfied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62117-5075-475D-B329-6A898B4B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4932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C4BA1-E63B-4354-AF9E-D97DCD8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Orthogonal Fourier Bases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C3984-BBE5-40D9-8B84-32FED855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서로 다른 harmonic basis의 한 주기 inner product는 0이다.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44EB7-1798-4B61-8948-BB290BD75B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4f8163e374fa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1FA4E-BC21-4022-B929-BB0102A3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직교성은 inner product로 각 주파수 성분을 분리할 수 있다는 뜻이다.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빨간 식의 조건이 뒤바뀌었다: n=m이면 P, n≠m이면 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coefficient는 각 basis 방향의 성분을 측정한다.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970AE-7C3B-499A-884F-2CB52174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26 — complex exponential bases and one-period inner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173A11-F801-4BF4-B491-E6384809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66233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907FF-9DC1-47DE-AFC6-258B0B82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Series to Transform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2F765-53A0-4174-87C1-9BBC3A6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주기가 커지면 harmonic 간격이 좁아져 합이 적분으로 이어진다.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0253C-65EA-4F3A-A7E4-82AF846D79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09f33e90ed4cd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B9E80-6B85-4B2F-8465-F7F47169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series는 주기 신호의 이산 harmonic 계수를, Fourier transform은 비주기 신호의 연속 spectrum을 표현한다.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정변환은 성분을 분석하고 역변환은 그 성분을 합성한다.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C9C38-55DA-481D-8498-26D09FCD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29 — increasing period turns frequency sums into an integral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78929-8FDB-418C-9CCA-ADE546DF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15187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4EBD83-C712-4E19-A696-95CF3CDE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CTFS to DTFS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206F3-B099-4566-BA87-D3C277C7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주기를 N번 표본화하면 harmonic index가 N을 주기로 같아진다.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F6B3F-9B79-4251-A7B2-81661FC643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2249e47d14089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3C269-E2CC-4962-9D3A-F316BFA3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k와 k+qN은 표본 위에서 같은 basis이므로 CTFS 계수가 같은 나머지 class로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N&gt;2K와 제한된 harmonic bandwidth가 있어야 원래 계수를 겹침 없이 회수할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D70AF-F81F-49A0-A929-4964D392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32 — periodic continuous signal and N uniform 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208E6-D2C8-4565-81DA-A9B14C8F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25710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0A97C-CED7-414F-9858-339C64D2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STFT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DEED2-971C-42AE-BC6F-83F38027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STFT는 짧은 창을 이동하며 각 구간의 spectrum을 계산한다.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CB10A-FA00-40D8-85A0-4F77D9FA91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76b1fe7c9455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DD41B-196F-44D2-8281-344460E1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kHz, L=400, H=160은 25 ms 창과 10 ms hop이다.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1초 신호를 center padding 없이 처리하면 98 frame, NFFT=512의 one-sided spectrum은 257 bin이다.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94CA5-A271-439E-BEC6-40E0FB48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09 — moving analysis window and overlap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4E8F1-4532-4011-9874-8A71E427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79360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986A9-F87E-4BA8-AA70-7FAF5783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Waveform and Spectrogram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FE9D3-D564-4DDA-8CA7-9BB56B3E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파형은 시간별 진폭을, spectrogram은 시간별 주파수 구성을 보여준다.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F0724-897B-424C-8CF5-B006A4BC5B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2615df6404883"/>
          <a:stretch xmlns:a="http://schemas.openxmlformats.org/drawingml/2006/main"/>
        </p:blipFill>
        <p:spPr>
          <a:xfrm xmlns:a="http://schemas.openxmlformats.org/drawingml/2006/main">
            <a:off x="2111986" y="1828800"/>
            <a:ext cx="7968029" cy="4143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B7846-71C4-47B6-87B4-5CBB1E39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674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작성자 계산 예제: 8 kHz, Hann 32 ms, hop 8 ms, NFFT 256. 색은 최대 power 기준 dB이며 위상은 표시하지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21CEF-73E4-4D71-AEC3-65F1E6E3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24555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81DCE4-C47A-4D82-AEB0-2F70775F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Magnitude and Phase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2ED02-52FA-4D72-AA7D-75ED609F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복소 STFT에는 크기와 위상이 함께 있다. 일반적인 spectrogram은 크기나 power만 색으로 표시한다.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EBEB6-93D4-4ADE-A9B2-3704FB84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X = 3 + 4j와 3 − 4j는 모두 크기 5, power 25다. 위상은 각각 +53.13°와 −53.13°이므로 색만으로 둘을 구분할 수 없다.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F7A45-89E8-421A-9156-9DFCC97A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실수부와 허수부가 함께 크기와 위상을 결정한다. 원신호 x와 −x도 power spectrogram은 같지만 파형의 부호는 반대다.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37763-AFE5-4ABD-87C2-2926992F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정확한 역변환에는 complex STFT와 분석 설정, 원구간 전체를 덮는 window 및 0이 아닌 overlap 가중치가 필요하다. 그림만으로 원래 파형을 유일하게 정할 수 없다.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93370-AF8F-4A9D-ADD4-EF6717B4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291288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7566B-FA9D-4251-9AB7-53042A7F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Window Trade-offs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4A7F0-A70A-4556-AB2C-ED09399C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Window는 leakage를 없애지 않고 main-lobe와 side-lobe의 절충을 바꾼다.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831CC-3213-43B5-822A-CC43EA9AB3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97c4e9f6ba4088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15B24-2E53-4541-9EC6-8654A065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Rectangular window는 경계 불연속 때문에 먼 sidelobe가 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Hann window는 먼 leakage를 낮추지만 peak를 더 넓게 보이게 할 수 있다. 색 범위가 다르면 그림 밝기를 직접 비교하지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D08F0-413C-48E9-B81E-CD780E98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14 — rectangular and Hann STFT views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C493A-C0E8-456C-A558-72CFA04F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247280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4056C-FF8A-49E2-84A0-362111F5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Mel Compression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94C5A-AB60-42C2-9DA2-6EAE7D2A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Mel filterbank와 log는 서로 다른 두 압축이다.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064F8-971E-4DC7-BE6D-6ADE33EEFD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f976e4820401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0B743-447D-4653-A7F9-4317CC71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Filterbank는 여러 Hz bin을 band별로 합쳐 주파수축을 줄인다. Log는 값의 dynamic range를 줄인다.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인식에는 유용하지만 phase와 세밀한 bin 정보를 잃으므로 원래 complex STFT를 일반적으로 복원할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668D8-2E4D-453B-8CB1-EA4A568C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17 — triangular Mel filters and Mel spectrogram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EB844-E797-4E70-B118-8810FAF6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090365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1EC3AE-B39A-447C-B04D-6AF4D402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Word Error 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6F241-9FE9-45D6-9BEB-20CE4EB5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편집 오류 수를 정답 단어 수로 정규화한다.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F6E51-F888-4E91-AB2F-877DC51942EF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Symbol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Meaning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Example count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substitution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deletion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insertion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reference words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2A9C-C044-4B09-80AD-1D5EAFBE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Reference 4단어에서 substitution 1, deletion 1, insertion 1이면 WER=(1+1+1)/4=0.75다.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Insertion이 많으면 WER은 1을 넘을 수 있다. 빈 reference에서는 별도 평가 규칙이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997E2-9AD6-48C5-8C66-9655AA03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231268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74617-3D6D-4062-AC5B-16F5BDB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Byte Pair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9A03A-BE4E-4F8E-87D5-F64ADE63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BPE는 corpus에서 자주 붙는 token pair를 반복 병합한다.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5A5DB-4C2E-4E4C-8F98-2FB932E0D5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545ea18a8421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39DC2-854A-4FE7-9492-AD798FA3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Training은 merge 순서를 만들고 저장한다. Inference는 새 문장에 같은 순서를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Subword는 출력 길이 U를 줄일 수 있지만 vocabulary V와 softmax 비용은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573C8-C7B6-4740-B2F7-DAB7D5B2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47 — BPE merge algorithm and toy sequence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88152-EDD0-4210-A41D-4471DBE6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226501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B8D26-A703-48B4-A9EF-79004B98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Blank and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E57F9-C87D-419A-88C4-BE8F7887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 blank는 frame 정렬을 허용하고 최종 전사에서는 제거된다.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B488C-85E5-415E-98AF-BA95FF6145BA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Merge repeats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Drop blank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26DE5-5727-4871-BDEB-AB9D8205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Collapse는 연속 중복을 먼저 합친 뒤 blank를 제거한다.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L ε L은 LL이지만 L L은 L이다. 같은 label을 두 번 출력하려면 사이 blank가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6804D-3F73-4111-9FBA-5F220976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7511402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6D46D-EBF0-47B6-945C-F8A255D5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Probability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E560E-9D68-4DE4-88DA-2BD420C3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문자열의 확률은 그 문자열로 collapse되는 모든 경로 확률의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DB890-4988-423D-A83A-386C9C450D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5d4d98bbd4448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3D928-3789-4604-99C6-4C531906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각 frame의 분포는 encoder logit의 softmax에서 나온다. 한 경로 확률은 선택한 frame 확률의 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서로 배타적인 유효 경로를 더한 뒤 −log를 취해 CTC loss를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DA110-FFF6-4AF6-870E-E28BC03F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33 — frame distributions and valid CTC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C28FF-79DF-4E04-BAC8-52FE42DC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050477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CAC3C-EDFE-49E4-8299-C949BA9B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Forward DP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4E609-5F59-4E55-BBAF-48B9E13E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칸은 해당 상태에서 끝나는 모든 유효 부분 경로의 확률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C459B-9C77-4568-9351-EFF7F29622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2c24aa68c4460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5C53E-DA10-4B8A-8FE6-223E2B55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Stay·한 칸 전진·허용된 두 칸 skip의 이전 합에 현재 frame 확률을 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P(ab|X)=0.2835+0.1308=0.4143. 유한 경로의 합이며 극한 수렴이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합산식의 0.1038은 0.1308의 오기다.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90E3C8-422A-4AD3-A006-FE18C36A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35 — forward probabilities and two terminal states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35BE2-89DC-4E2E-AF20-8B0B4AB8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390627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3D0DB-3D51-4598-A72D-FD75DFF3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The Whole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3A511-604F-407C-8489-BC15826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CTC는 정답의 발음 시각을 지정하지 않고 문자열 전체의 확률을 학습한다.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E4D0A1-4F36-4C29-B31F-D82F6B88D6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e38658f274f6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4176D-CCEF-4BD0-BC60-B20EBCCE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왼쪽은 모델의 가정과 경로→문자열 변환이다. 오른쪽은 학습, 평가, beam 탐색의 순서다.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정답에 이르는 경로를 합한다. 추론은 정답을 모른 채 출력 후보를 찾는다. 둘은 같은 연산이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BE7D9-1F96-48DA-8A20-17248AB8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41 — CTC Summary; Korean walkthrough continues on the next slides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68482D-D937-4968-8845-1878C5B4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615663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80E38-213A-4F47-8150-2B4E0983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D84DA-A06B-40CF-8ABA-10008768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조건부 독립은 음향 문맥이 없다는 뜻이 아니라 출력 이력을 직접 조건으로 쓰지 않는다는 뜻이다.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B9369-E9C0-4983-9597-30CDACF7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P(경로|X)는 frame별 확률의 곱이다. 각 분포는 encoder가 읽은 X의 문맥에 의존하지만, 앞서 고른 문자를 다시 입력받지는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9B27F-BB19-45F7-871B-BC3CE6B3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Blank와 반복 병합으로 긴 frame 열을 짧은 문자열로 바꾼다. 학습 중 정렬을 잠재 경로로 다루므로 문자별 시작·종료 시각 정답이 필요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03E61-452F-40DA-B05A-75B173A7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Streaming은 미래 전체를 기다리지 않는 encoder가 있을 때 가능하다. CTC를 쓴다는 사실만으로 양방향 encoder까지 실시간이 되지는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64EC0-9344-455C-BA57-A4B6DCCC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6634050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2F345-E1FF-4A43-B5C3-852F97DC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Train and Decode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2BA47B-F432-4620-ABAB-B9E90259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Loss를 계산할 때는 정답이 주어지고, decoding할 때는 정답을 찾아야 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703BD-4250-4021-A95C-920ED88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학습: encoder → frame별 softmax → 정답으로 collapse되는 경로의 합 P(y|X) → −ln P(y|X). Forward DP가 이 합을 효율적으로 구한다.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464BD7-83F6-4C68-A5E7-4515EBF4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추론: greedy는 frame별 최대값을 고르고 반복 병합·blank 제거를 한다. Prefix beam은 여러 문자열 후보의 경로 확률을 누적한다.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9D874-8EDC-4150-B29B-DFF9A8BC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Beam은 확장 → 같은 prefix의 확률 병합 → 상위 B개 유지 순으로 반복한다. B가 커져도 모델 자체의 인식 오류까지 사라지지는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71F30-6D0A-4561-BC32-54811E1C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290397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2021D-3B8C-4B8B-BDAF-3CA68A99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CTC: Best Path vs.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B1917-FA38-4D9A-81F1-26AEBF5E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두 frame 모두 P(ε)=0.5, P(a)=0.4, P(b)=0.1이라고 하자.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F96BE-494E-4847-89F1-D3AC6B45D2E2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Collapsed 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0.5 = 0.25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문자열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0.4 = 0.16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0.5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0.4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5AAF4-34AF-4130-B254-8EAAAAD9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주요 경로 4개를 표시했다. Greedy는 빈 문자열을 내지만 P(a|X)=0.16+0.20+0.20=0.56이다.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나머지 출력은 P(b)=0.11, P(ab)=P(ba)=0.04다. 다섯 출력의 확률 합은 1이다.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3C75F-1502-450E-8511-E5E7AB2A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8678286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44601-53F0-47A5-AF3D-8F368CC0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 vs. Beam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EBEEB-697F-470D-B1BE-81831A66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최대 확률 경로가 최대 확률 문자열과 같다는 보장은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3C870-C891-47FD-A0BD-8EC4D368F9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e5a175d244b7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A8C7B3-6B2C-4729-9374-6D84ACD0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frame마다 한 token만 남긴다. Prefix beam search는 여러 prefix의 blank·non-blank 확률을 따로 누적한다.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유한 beam은 낮은 후보를 버리는 근사이며, 외부 LM을 쓰면 점수 scale과 length bonus도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475EC-6F15-4884-BCFF-FDCAEAA5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40 — prefix beam expansion and pruning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04C16-7660-4EC8-8D56-CD145C9B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221413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2B56A-6320-4E06-A7D9-BB05CA0E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 vs. Conformer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C34A3-33AD-4FA1-AFEA-80584CCD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Encoder 구조와 정렬 loss는 같은 선택 축이 아니다.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25E55-C3A6-4475-B1C4-9A94D8A5B9DE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Model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Local pattern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Long context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Objective / role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Deep Speech 2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convolution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recurrent layers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 objective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Conformer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 module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self-attention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encoder architecture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 marginalization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A1D31-BE9F-4E56-B9A5-57257600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convolution과 recurrent layers로 음향 표현을 만들고 CTC로 정렬한다.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국소 패턴을 한 encoder block에 결합한다. CTC와 함께 쓸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86450-4346-4B0B-BE34-DBEAB563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019007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6F0A7-4F62-4666-BDC8-0F8F7B3A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Encoders: What Changed?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29137-1076-4A3C-ABB0-6A06893F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Deep Speech 2와 Conformer의 차이는 음향 문맥을 표현하는 방식에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D0E2C-D999-41A9-A234-C6DF5E08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convolution으로 음향 패턴을 추출하고 recurrent layer로 시간 문맥을 전달한다. CTC는 그 표현에서 정렬 없는 문자열 학습을 맡는다.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94C85-6C88-461E-AAE3-5EA44584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가까운 시간 패턴을 함께 활용한다. 가까운 발음 변화와 멀리 떨어진 단서가 모두 필요하기 때문이다.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64271-78BA-47E5-8DB1-8B4608E4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Encoder를 Conformer로 바꿔도 loss가 자동으로 정해지지는 않는다. CTC, attention decoder, RNN-T와의 결합은 별도 설계 선택이다.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3D2ED5-66C5-4039-A73B-41D664ED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94355698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099C7-D8B6-49BF-97AF-11293D2A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Conformer: Follow the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9AB0D-2D46-4623-9CA0-8E56AE93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오른쪽 block은 아래에서 위로 읽는다. Attention 앞뒤를 feed-forward 층이 감싼다.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1FF451-2208-4A24-814A-EE9B932474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57a51ed7f439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09EC5-E796-4AF1-BB36-2AE8C416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 FFN → self-attention → convolution → ½ FFN → layer normalization 순이다. 각 잔차 경로는 입력을 변환 결과에 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½은 FFN의 잔차 기여를 조절하는 계수다. 차원을 절반으로 줄인다는 뜻이 아니다. 시간 길이 축소는 왼쪽 subsampling이 맡는다.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18A2-A1F9-4B7E-8D7D-FB6530E5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43 — Conformer encoder and Macaron-style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4D09A-1C3F-41DC-9AD9-1401438D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5441133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E6569-E658-4050-B274-B168B46A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5386C-321C-47E8-BF48-9CB57E7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Depthwise convolution은 채널별 시간 이웃을 처리하고 pointwise convolution은 채널을 섞는다.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D57BD-DDBC-4FAC-831B-3D78396957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8097ee9634497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F0403-0490-4663-9799-1B2D8524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GLU가 전달할 채널 정보를 조절하고 residual이 입력과 변환 결과를 합친다.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 stride 2를 두 번 쓰면 시간 길이는 대략 T/4지만 kernel·padding에 따라 정확한 길이는 달라진다.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95604-B91E-447C-9AA8-AB0D98DF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44 — Conformer convolution module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F875D-0200-44DF-BAB7-259596C4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824219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A37D8-4DFE-4468-931A-D05D8F8B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 and Subsampling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E10C4-670E-456D-AF2D-FC7A98E2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Subword는 정답 길이 U를, subsampling은 입력 표현 길이 T를 줄인다.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98307-D769-4729-97E0-598DADF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BPE는 학습 corpus에서 자주 붙는 token 쌍을 차례로 병합한다. 추론은 이미 정해진 병합 규칙을 적용한다. 단어 전체 사전보다 미지 단어를 분해하기 쉽다.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AF57F-E0AA-4568-A958-3E720A3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Subsampling은 1D stride convolution, 2D convolution·projection, frame 묶기·projection 등으로 시간축을 줄인다. Stride 2 두 번이면 대략 T/4다.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56EED-C467-4DD9-BBB6-25100AF0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CTC에는 T ≥ U + R이 필요하다. R은 이웃한 동일 정답 token 쌍의 수다. 'LL'은 blank가 필요해 최소 3 frame이다. 입력을 과도하게 줄이면 정렬이 불가능하다.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90DA0-AAD8-45E8-8879-368E52E9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4229267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AF09D-544D-4EC2-A178-6E3B2079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From CTC to Attention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37091-EE5A-45C9-B7A0-3791A670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Attention은 다음 token을 만들 때 필요한 입력 위치를 다시 선택한다.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57F92-403F-4F6B-B03B-A5530298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개의 고정 벡터에 긴 입력을 모두 압축하면, 출력 단계별로 필요한 정보가 달라도 같은 요약을 써야 한다. Attention은 encoder의 위치별 표현을 남겨 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D5319-D41B-4A25-8947-AD3283A2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Decoder의 현재 상태와 각 입력 표현의 관련도를 계산한다. Softmax로 가중치를 만들고, 입력 표현들의 가중합을 현재 context로 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4C0BE-0E2D-4346-BE63-B11E312E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다음 출력 단계에서는 상태가 바뀌므로 가중치도 다시 계산한다. 번역의 단어 순서 변화와 음성 frame–문자 길이 차이를 유연하게 다룰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C79FC-8F4E-4972-A764-483DB4BA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366008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8F69D-0DB9-431E-985E-10075067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Heatmap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55BF7-856A-49C3-9A0D-0BA9DC26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행은 한 출력 단계가 어느 입력 위치에 높은 가중치를 주는지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6B9DB-7027-4993-9EDA-84FE307997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c75d0fc05484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F3553-6FF8-4339-B56B-FB9E4BFF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입력 영어 token, 세로는 출력 프랑스어 token이다. 밝은 칸일수록 해당 출력이 그 입력에 큰 attention을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밝은 칸이 항상 대각선에 있지는 않다. 어순이 달라질 수 있기 때문이다. 이 가중치는 학습된 참조 패턴이지 정답 정렬의 증명은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5D500-4EE1-4148-AFE8-E236D463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11 — source-position softmax and input–output attention maps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9D4A6-611B-431B-8204-6940591A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98509340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FFFA3-6B78-4BD2-B0A6-201E1850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Three Scoring Functions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7329C2-5E58-4469-A7B5-871E6135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관련도 score를 계산하는 함수는 바뀌어도 softmax와 가중합의 역할은 같다.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B2AA9-E0DB-444D-99DD-E4BAE77BCC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a848fd4e84d3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CA744-92E8-4333-9B14-77B0CAA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Dot product는 두 표현을 바로 내적한다. Bilinear는 학습 행렬 W를 사이에 두어 어떤 성분을 비교할지 배운다.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MLP는 두 표현을 결합하고 비선형 함수를 거쳐 점수를 만든다. 세 방식 모두 출력은 아직 확률이 아닌 scalar score다.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44C3C-B8ED-4395-820E-DAAC34E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10 — dot product, bilinear score, and an MLP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4592E-07F4-42F2-B071-67865E4C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4399293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1B087-F2DC-41CC-AD5C-68CCFE83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Numbers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9E82A-5689-4319-99D9-F2C4BC14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 가중치는 입력 위치에 대한 분포이며, 출력 단어 확률과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F7505-B520-40A3-9945-AD7E77E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관련도 e(u,t) → α(u,t)=exp(e(u,t))/Σⱼexp(e(u,j)) → c(u)=Σₜα(u,t)h(t). 합이 1인 α로 입력 벡터를 섞는다.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C2078-2369-4CAD-A3E4-1F6FEEE1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h₁=(1,2), h₂=(2,0), h₃=(0,4), α=(0.2,0.3,0.5)이면 c=(0.8,2.4)다. 세 번째 입력이 가장 큰 비중을 갖는다.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0763F-1AFA-40DE-9A2D-C9806622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Decoder는 c와 이전 token 이력으로 어휘 확률을 계산한다. α₃=0.5라는 사실은 세 번째 단어를 50% 확률로 출력한다는 뜻이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8A17A-60AC-4CDE-A098-19BDE14C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371752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9FF6C-E7A2-4DD5-BA9D-D4F7FE18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Autoregressive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FA9196-BD6F-455F-AAD8-79C919DE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앞서 나온 token이 다음 token의 확률 분포를 바꾼다.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74333-7B60-4010-A7D3-9B551059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P(y|X)=∏ᵤP(yᵤ|y₍&lt;u₎,X). EOS도 예측한다. CTC는 X가 주어졌을 때 frame별 경로 기호를 독립으로 두지만, 여기서는 출력 prefix를 조건으로 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17108-1A29-47C6-B6AD-52295A08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Teacher forcing 학습은 정답 prefix를 넣는다. 추론에서는 모델이 생성한 prefix를 넣으므로 앞선 오답이 다음 예측을 흔들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EFDDD-EECD-4353-9B31-90789030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loss는 각 단계의 정답 token에 대한 −ln 확률을 합한다. 이는 하나의 출력 순서에 대한 계산이며 CTC의 여러 frame 정렬 경로 합과 다르다.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BB77F-A736-4081-B1F8-2E9BF56B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779105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C30D7-A236-483F-B724-3518F618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Cross Entropy: Why −log?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DD71F6-2E4C-4917-8FBA-22B4C528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정답에 큰 확률을 줄수록 손실이 작아진다.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5DCEB-45C9-4CFB-92BF-12F75488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어휘가 cat·dog·bird이고 정답이 dog라면 p=(0,1,0)이다. q=(0.1,0.7,0.2)일 때 CE = −Σ p(i) ln q(i) = −ln(0.7) ≈ 0.357이다.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FEED8-8575-4494-BB13-468DD87C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 확률이 0.2로 낮아지면 loss≈1.609로 커진다. 문장에서는 정답 확률들을 곱하는 대신 −log를 취해 단계별 loss를 더한다.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E3CB0-B32E-4333-8F76-61D421E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'dot'은 vocabulary와 one-hot을 보면 'dog'의 오기다. Cross entropy는 대칭적 거리라기보다 정답 분포에 대한 예측의 로그 손실이다.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40DBB-6853-4A0A-BEC6-B85AE938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79489597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D1B3B-5CBA-4C91-A69D-7BB05D55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Listen, Attend and Spell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EFF38-A837-40E1-B40A-608FAEBF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단계마다 필요한 입력 위치를 attention으로 다시 고른다.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A56F4-DC4B-4444-A570-8179F7BDC2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eff606634469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4E727-16D4-4295-B757-EB01B0F0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Listener는 음향 frame을 인코딩하고 Attend는 가중합 context를 만든다. Speller는 context와 이전 token으로 다음 token을 생성한다.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 prefix를, 추론은 생성 prefix를 쓰므로 오류가 누적될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2E7AB-932F-411D-8C58-2C03B5B4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15 — pyramidal listener, attention context, autoregressive speller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DAE4A-D3E2-4112-9BB0-90E0F293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47886772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161CD-A05F-4B2F-8D3D-F19EB082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Why the Pyramid?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EEF529-6F3E-4BE5-A80B-8A2E5AC2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Listener가 이웃한 시간 표현을 묶어 attention이 읽을 길이를 줄인다.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6FD2A9-4484-4620-8721-009B9DEC91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0d447e1cb4f56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3D19E-2C6C-4669-ADDC-4C79AB19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그림은 인접 frame을 이어 붙여 상위 recurrent layer에 보내는 흐름이다. 두 번 절반으로 줄이면 T/4가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모델 설명은 8배 축소, 그림은 4배 축소다. 입력 정보가 공짜로 보존되는 것은 아니며 세부 시간 해상도와 계산량의 교환이다.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BC4FF-E884-4C51-A57C-49C602FD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16 — 4× reduction in the diagram; 8× in the described LAS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9EF2B-7B83-43E1-A9EF-9DCFC978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08428055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EAFBA-971E-4CD0-A7A3-E3EFAA30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Greedy Can Miss the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FAFCA-397E-4BD6-8A75-F6B44651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첫 단계 P(A)=0.6, P(B)=0.4. 다음 확률은 선택한 prefix마다 다르다.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2FBD5-7436-4410-A1A8-6C3951A90C5C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Conditional 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 score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P(C|A)=0.51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0.51 = 0.306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P(D|A)=0.49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0.49 = 0.294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P(C|B)=0.90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0.90 = 0.360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P(D|B)=0.10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0.10 = 0.040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751B3-14A2-4FBB-8D17-0103B95E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A → C를 고른다. Beam 2는 B도 남겨 최종적으로 더 높은 BC를 찾는다.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설명용으로 길이를 2, 그 뒤 EOS 확률을 1로 둔다. CTC처럼 여러 정렬을 합한 예제는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77586-7AA3-4467-A023-766A4D67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4192633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6C17C-8CA9-4088-B279-84F3ADFA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 Summary: Strength and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BB104-D8E8-4D8E-AFD8-613E9597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문맥을 얻지만, 매 token의 생성과 attention 계산이 순차적으로 이어진다.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E2DAA-530C-4E34-A001-83B81A3A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CTC와 달리 이전 문자를 조건으로 다음 문자를 예측한다. Attention은 현재 출력에 필요한 음향 위치를 선택하며, frame별 정답 시각을 직접 요구하지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A3F5C-6F14-4DBE-926E-1AC403BE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기본 LAS는 전체 입력을 보는 Listener·attention 때문에 streaming에 적합하지 않다. 제한된 문맥이나 monotonic attention을 쓰는 변형과 구별해야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EBCD0-F735-48CC-A171-F89E01CE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음향 정렬의 불확실성을 모두 경로 합으로 푸는 CTC와 달리 LAS는 context를 통해 정렬을 학습한다. 출력 오류 누적과 긴 입력의 비용이 남는다.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7DD8F-82A8-4277-A4B4-702029AB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93177775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D4796-81B9-41E9-9674-650FBBF1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Audio and Output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938EC-7E28-4D0C-B735-33D82092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CTC의 시간 진행과 LAS의 출력 문맥을 함께 다루려는 모델이다.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0BD89-30D1-47CD-9143-B62A6A79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 f(t)는 입력 음향을, prediction network g(u)는 지금까지 출력한 u개 token을 표현한다. Joint network가 두 표현을 합쳐 token·blank 분포를 만든다.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55547-93EE-4AD0-9492-92A2E5F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Blank를 내면 다음 음향 시점으로 간다. Token을 내면 음향 시점은 유지하고 출력 이력만 갱신한다. 하나의 시점에서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15F30-C123-4335-83E1-5BF2783D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network는 출력 prefix를 읽는다. 하지만 별도 텍스트로 학습한 외부 LM과 동일한 물체는 아니다. Streaming 역시 encoder 문맥 조건에 달린다.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A00F6-6F30-4BE0-A10F-F959F673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5245206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21C4F-0A0B-46CB-B197-58B4952E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Lattice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C71F9-F985-471A-A285-02BF45C1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acoustic time과 output prefix를 두 축으로 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630EC-B5D7-4CEC-9901-FD3B1776A7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f00225dbd04d23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7F2D8-9365-4790-884D-3C5B0EAC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Blank는 (t,u)에서 (t+1,u)로 시간을 진행한다. Token은 (t,u+1)로 출력 길이를 늘린다.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network가 이전 출력 이력을 표현하므로 같은 frame에서도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E3E350-EDE4-4AC0-9181-1E6225B2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37 — encoder and prediction-network axes in RNN-T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6A656-9F28-41F0-B213-9B1BBDF9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4014838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F054F-EF0D-4DAF-83DA-053A210D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Walk Through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C2A18-3C6A-48A4-AF4A-8AF4BB33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cat 예제는 blank가 시간축, 문자가 출력축을 움직이는 모습을 보여 준다.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5992B-5BFE-48C1-BC22-CD3BC4B6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빈 prefix에서 x₀의 blank를 선택하면 x₁로 간다. x₁에서 c를 출력하면 prefix는 c가 되지만 x₁에 머문다. 다음 blank가 x₂로 보낸다.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1B9E4-C95B-4193-BAA0-28D678AE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x₂에서 a를, 다시 같은 x₂에서 t를 출력한다. 그 뒤 blank들이 남은 음향 시점을 소비한다. 'cat'은 3개 token이지만 3개 frame과 일대일 대응하지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3AB96-A486-40B4-B0A3-1775F5BE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RNN-T의 반복 문자는 CTC처럼 병합하지 않는다. l 다음 l을 실제로 출력하면 ll이다. CTC의 collapse 규칙을 이 격자에 적용하면 안 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6AA2A-C54F-4B65-BE39-DE1213CE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50195775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A7CBD-D217-4499-93BE-F03603C3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Train Over All Alignments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D2331A-D7BE-49E9-B6AF-6141FC18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 문자열은 알아도 각 token이 어느 시점에서 나올지는 모르므로, 가능한 정렬을 합한다.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675018-56FF-4083-831E-0DF9E437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학습에서는 정답 prefix별 g(u)와 음향 시점별 f(t)를 조합한다. 각 (t,u)의 softmax에서 blank 확률과 다음 정답 token 확률을 읽는다.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6F2DD-DD8D-493B-877F-C30D066F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정렬 경로는 선택한 전이 확률의 곱이다. 정답을 완성하고 입력을 소비하는 모든 단조 경로의 확률을 합해 P(y|X)를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74E63-C07E-45F9-AEB3-A73F9A52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Loss=−ln P(y|X). 정답 token 시각을 하나로 고정하거나, greedy로 고른 한 경로만 학습하는 것이 아니다. Forward DP가 중복 부분 경로 계산을 줄인다.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35497-D5BF-45C6-8075-B0225E60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65296538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CC2DB-4834-424B-BECE-FC93639E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 Forward-DP Cell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DD024-E561-445D-A38F-521C6AFE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같은 칸에 도달하는 두 방향의 확률을 더한다.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AB6C7-BF6C-4862-A645-52D57A8C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α(t,u)는 t개 음향 시점을 지나 u개 정답 token을 낸 경로의 확률 합이다. 왼쪽에서는 blank, 아래에서는 정답 token을 내며 들어온다.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55695-4E36-4AF9-B94D-59ACA2B0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내부 칸: α(t,u)=α(t−1,u)b(t−1,u)+α(t,u−1)ℓ(t,u−1). b는 blank, ℓ은 다음 정답 token의 조건부 확률이다.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06C65-96A6-4CB1-9737-DC3D8B7D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0.20×0.30 + 0.10×0.40 = 0.10. 두 항은 마지막 전이가 서로 다른 경로 묶음이다. 서로 배타적이라 합하며, 한 경로를 두 번 세지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46535-EE56-4CAD-9F5B-4468840E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62780536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7FFEB-82D2-4CAB-A1F3-672251BD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DP: Start, Boundary, Finish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66809-6E40-4E88-9A6C-7D18B894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T개 frame을 모두 소비하고 U개 정답 token을 내면 종료한다.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970D6-719A-419C-95A8-9EC7D9E3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시작 α(0,0)=1, 불가능한 상태는 0이다. t&lt;T에서 blank는 (t,u)→(t+1,u), 다음 정답 token은 u&lt;U일 때 (t,u)→(t,u+1)로 이동한다.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B84C8-A895-4F6F-B49C-587A0C0A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열 α(t,0)=α(t−1,0)b(t−1,0). 첫 행 α(0,u)=α(0,u−1)ℓ(0,u−1). 들어오는 방향이 하나뿐이므로 그 전이 확률만 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919FF-564F-4C2D-BF86-58D6B78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t=T에서는 token 전이가 없다. 마지막 frame에서 blank로 들어온 α(T,U)가 P(y|X)다. 따라서 존재하지 않는 f(T)를 계산하거나 마지막 blank를 다시 곱하지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14D4A-D686-4C14-AB69-5B03FBBF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01627378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83D0C-05E8-47FF-A83F-8556E3BC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Properties: Memory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EAC04-4E41-4828-8F97-425A5FFD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입력 길이 T와 정답 길이 U의 조합마다 joint 계산이 필요하다.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91F11-8674-4AA2-B8C4-70BC2142A8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2e05d7f87486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0E751-CEB0-4DD8-ADD8-771E2BCB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batch·T·U·hidden 차원을 곱해 중간 tensor의 크기를 계산한다. FP32 한 원소는 4 byte다.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29.49라는 값의 단위는 Gb가 아니라 약 29.49 GB다. 이는 특정 tensor의 크기이며 전체 학습 메모리와 같지 않다.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20970-E0E9-43D1-AB57-D04D5611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42 — joint-grid memory; GB (bytes), not Gb (bits)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383BE-5EA4-454A-AD48-C4492D46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99981178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A2751-4F2C-4E97-8229-27AC728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Length and Vocabulary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478E3-82BC-40CF-8A85-7B655652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T와 U를 줄여도 vocabulary V가 커지면 출력 tensor는 커질 수 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2F24E-507B-4DC4-B425-28941BC6574E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Tensor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Character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Subword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B, T, U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32, 800, 450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32, 200, 150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Hidden width 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H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29.49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2.46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V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1.29 GB (V=28)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3.93 GB (V=1024)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04181-FC02-46C0-BD06-107958EB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U=150은 원문 범위 100–180의 계산 예다. FP32·십진 GB이며 전체 학습 메모리는 아니다.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Subsampling·subword는 길이를 줄이지만, 큰 어휘의 softmax 비용도 함께 비교해야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40361-52AD-4119-9869-0CB78B8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22574824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0A986-92B6-4B8F-83B2-CBB08E85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CTC, LAS, and RNN-T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75267-B33D-4DE8-8083-932841F8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세 모델은 같은 정렬 문제를 서로 다른 확률 구조로 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81BC7-9A68-4BB2-B78C-3921547766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f1292fd104fc1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49D10-4D7D-4969-B0F3-AA4A5F05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출력 이력 없이 frame 경로를 합한다. LAS는 attention과 autoregressive prefix를 쓴다. RNN-T는 prefix와 시간축 경로를 함께 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 여부는 encoder 문맥과 실제 추론 설정까지 확인해야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C3DAA-9A38-4670-8A66-D6447DC2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44 — lecture comparison of CTC, LAS, and RNN-T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C6FC4-956A-4C94-B5E8-AF0B1DBE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6806435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C7ED4-BABC-4114-BC67-59F7A22F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Context and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03D0F-8D28-4AFC-BE30-46B1EC0C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표의 Context는 출력 token 이력, Streaming은 입력을 기다리는 조건에 관한 말이다.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E3726-91C4-483C-BDF8-2DE430FA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CTC의 Context=no는 음향 문맥이 없다는 뜻이 아니다. Encoder는 문맥을 볼 수 있지만 분포가 이전에 선택한 출력 token에 직접 의존하지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50F65-D5C8-4AF7-BB78-8F743112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LAS와 RNN-T는 출력 prefix를 사용한다. 기본 LAS는 전체 입력 attention을 쓰고, RNN-T는 blank를 통해 시간을 진행해 streaming 구조로 만들기 쉽다.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B7BD69-DC64-4676-8407-C4F44604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CTC·RNN-T도 양방향 전체 문맥 encoder면 미래 입력을 기다린다. 표의 yes/no는 기본 구조의 성질이지 모든 구현에 대한 무조건적 보장이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FFFAD-7693-4D73-9FB2-ED38D44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213386135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1E41D-728E-4828-920A-E5202303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Decoding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DC98A-6AD6-4931-B76D-562EECAB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복잡도 표의 핵심은 '출력 이력마다 decoder를 다시 계산하는가'이다.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4E8AC-E88A-47CE-83FB-C6B81078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encoder가 frame 분포를 만들면 후보 경로들이 그 분포를 공유한다. Beam을 늘리면 경로 누적·병합 계산은 늘지만 별도 AR decoder가 생기지는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4211D-7695-49F1-8843-B63ACFAD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LAS·RNN-T는 prefix마다 상태가 다르므로 후보별 decoder 또는 joint 계산이 필요하다. Beam을 늘릴 때 확률 누적 외에 신경망 계산 부담도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770934-6F77-4E76-995C-FC14960B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enc·dec·T·bs 식은 개략 비교다. 실제 비용은 입력 T, 출력 U, 어휘 V, beam B, cache와 batching에 달린다. 연도별 WER만으로 구조의 우열도 단정하지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50067-C8E8-4820-869C-BB7EBCF6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25160778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46B05-2137-4B50-AE9B-4876A77A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Results: WER and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7CB78-CA60-4278-ABAA-FE6BADFC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낮을수록 좋지만, 다른 학습 조건의 결과를 구조 하나의 효과로 볼 수는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4BF9DB-01AE-4C5B-8290-35314BD966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b0a97b43e41d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2FC4B-4B76-4A40-B930-AE53E49E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표는 DS2, LAS, RNN-T의 서로 다른 연도 결과다. Test-clean과 test-other도 나눠 읽어야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L3는 DS2에 11.9k시간·35M parameter·16 GPU·3–5일을 제시한다. 데이터와 자원 차이까지 봐야 하며 이 표만으로 구조의 우열을 확정할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4EB33-7406-4424-928F-BF3ECB3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43 — reported WER values under different years and training settings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05538-D437-4F12-949C-6187E188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67297093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3ECEE-BF5C-42C7-AECA-28DF863C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Language Models: Why Add One?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E8F3A-3C04-4810-9D65-0E8B0346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소리가 비슷한 후보를 언어 문맥으로 구별한다.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15E22-4D72-41C7-B9C8-25E557E6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'go two a movie'와 'go to a movie'는 소리만으로 헷갈릴 수 있다. LM은 문장 문맥에서 어느 token 열이 자연스러운지 점수를 준다.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B2CA1-63B0-4743-915D-68856D4E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 λ=1, 길이 보정 없음: 0.21×0.01=0.0021, 0.19×0.60=0.114. 음향 점수는 낮아도 LM 결합 점수에서 'to' 후보가 앞설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8C360-B80C-487C-8D18-5C151060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보통 log P_ASR(y|X)+λ log P_LM(y)+길이 보정을 사용한다. 이는 재정규화된 확률이 아닌 탐색 점수이며, λ가 너무 크면 음향 증거를 압도할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DE443-3E7E-4DD6-825E-6E512EE1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40663641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2D2C7-90BB-4673-AD36-CCCC0542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Rescoring vs. Shallow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1ED43-4AE2-4668-BC20-085168A8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언어모델을 탐색이 끝난 뒤 쓰는지, 후보를 남길 때부터 쓰는지가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9B202-C962-4DD2-8A82-83466C20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Second-pass rescoring: ASR이 만든 N-best 후보를 LM으로 다시 정렬한다. 첫 탐색에서 이미 버린 문장은 되살릴 수 없다. 비싼 LM도 제한된 후보에 쓸 수 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2B31E-FBAF-43EC-8267-E95BDFCC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Shallow fusion: beam 확장 단계마다 ASR log 점수와 LM log 점수를 더한다. LM이 중간 후보의 생존에 영향을 주지만 반복 호출 비용이 든다.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5603D-4A76-4C92-86F3-9A37742D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두 방식 모두 ASR·LM을 따로 학습할 수 있다. 단순 점수 결합은 내부 feature를 함께 학습하는 deep·cold fusion과 구분한다.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E1C98-025B-4363-A3E7-FD36AC65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67346590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18EBD3-A8F4-4E0C-A67A-7DC3C0E6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Fusion vs. Cold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F1CD2-65F0-496C-8FFE-76EA1CF1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그림의 차이는 사전학습 LM을 ASR 학습에 언제 연결하는가이다.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36526-D157-4394-BC22-8392F47CFE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7c662cd7642f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349BB-4CFC-49FD-949F-1A585BFD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위쪽 deep fusion: 따로 학습한 ASR·LM의 내부 표현을 연결하고 결합부를 학습한다. 단순 log 점수 덧셈이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아래쪽 cold fusion: 사전학습 LM을 ASR 학습 단계부터 활용한다. ASR이 LM에 맡길 언어 정보와 음향 정보를 함께 분담하도록 배운다.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E309B-2ED7-49D3-8F08-E4DD3EF6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48 — separately trained models vs. LM-conditioned ASR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F8672-06FA-4643-9D1A-94C2BEF6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40449914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3E31AF-C302-455E-A2DF-FA9123B3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Read the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419A0-481E-464E-A870-24330EB3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그림은 같은 데이터를 다루더라도 정답 신호의 출처가 다를 수 있음을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B78DAD-6032-493C-96DB-B5207496EC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5906980da443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24AD3-61FB-420C-9EC1-CF6D58F7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Supervised는 명시적 정답, unsupervised는 별도 정답 없는 구조 탐색이다. Semi-supervised는 labeled·unlabeled 자료를 함께 활용한다.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 hashtag 예시는 weak supervision이다. 자료와 연결된 불완전한 신호를 이용하며, 입력 자체에서 target을 만드는 SSL과 구분한다.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9EAD7-3ED0-4A76-9C01-47862797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11 — learning paradigms and weak supervision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BA370-D325-4D3F-9BBA-8695C850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3264054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BFFE0-EF80-43DB-8152-7B8D7E6C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The Target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2BCB3-925B-442C-B876-4DE80D27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무엇을 정답으로 삼는지 먼저 물으면 학습 방식이 구별된다.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5A39D-48B4-47A1-803E-8650670FF3A7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Paradigm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example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사람이 준 정답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음성–전사 쌍으로 ASR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명시적 정답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 표현의 군집화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Semi-supervised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있음 +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전사 자료 + pseudo-label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입력에서 target 구성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가린 음성 표현 예측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F84FA-117E-4D48-ABEE-580DF519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분류는 완전히 배타적이지 않다. SSL 사전학습 뒤 supervised fine-tuning을 할 수 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파이프라인 전체와 개별 학습 목표의 분류를 혼동하지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92335-19FD-4938-83C4-39FF5CC4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39982710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2499A-7FF0-431D-9AA9-3F9641EA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Weak Supervision Is Not No Supervision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16FA3B-E19D-4718-8765-FADEA1B8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전사가 완벽하지 않아도 음성과 연결된 텍스트를 학습 신호로 쓸 수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00D68-6A34-4B81-A629-50EF9F4D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Whisper의 인터넷 음성–텍스트 680k시간과 MMS의 1,000개 이상 언어를 소개한다. 대규모로 연결된 자료를 활용한다는 점이 핵심이지 두 수치의 단위가 같은 것은 아니다.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C46A3-E4A5-4BE7-8D30-71485797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자료가 크다고 label이 정확해지는 것은 아니다. 잡음 있는 대응, 도메인 편향, 언어별 차이를 점검해야 한다. MMS 전체 학습 단계를 모두 weak-only로 분류하지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14751-241E-4360-A084-CC2F1ACC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SSL의 핵심은 별도 전사 대신 입력에서 target을 만드는 것이다. Weak supervision은 불완전하더라도 외부에서 연결된 label 신호가 있다는 차이가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66527-37D1-4EA4-B0C0-2DA0B87B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793592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DEE88-8FBE-4CBF-AD4D-747A57A5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Self-Supervision: Input Becomes Target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BABB0-DE27-4643-B283-B9DDAC6A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학습할 답이 없는 것이 아니라, 입력 자료에서 답을 구성한다.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68DB7-AFD0-4F0F-B0E8-03DF8AC823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fc2559e904fb0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BED26-ECAB-4244-9904-C4300A2F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가운데는 일부를 가린 입력, 오른쪽은 원래 자료에서 얻은 target이다. 모델은 보이는 문맥으로 가린 부분을 예측한다.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정답을 통째로 입력에 노출하면 복사로 풀릴 수 있다. 어떤 부분을 가리고, 무엇을 맞히게 하느냐가 학습되는 표현을 결정한다.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2C8F6-0480-49C2-B858-D49D74B5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16 — masked input and targets derived from the original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C8BA13-AE69-4DEB-BD16-C90750FE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48824707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CB5C7-84EB-4BC0-A9AD-71F5843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SSL: Objective, Benefit, and Limit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BC00A-C189-474D-8559-AA6084E5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사전학습에서 배운 표현을 적은 전사 자료로 ASR에 적응시킨다.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3F622-D783-4758-B8D3-C26D4D3C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입력 변형 → target 구성 → 모델 예측 → loss 계산이 사전학습 문제다. 텍스트에서는 가린 token 또는 다음 token을 예측하지만 모든 SSL 방식이 같지는 않다.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D5C93-85B4-4BD4-AA64-2C5DCB57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빠른 수렴·적은 label·대규모 표현은 기대 효과다. Task와 자료가 맞을 때 도움이 되며, 도메인 차이·잡음·부적절한 target이면 개선을 보장하지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94CC1-9EC3-4F85-BBD5-F0589F95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사전학습 target을 잘 맞히는 것과 문자를 정확히 전사하는 것은 다르다. ASR fine-tuning에서는 전사와 CTC 같은 task loss로 목적을 다시 맞춘다.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1C635-3510-4C8D-A360-9276B30D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114552964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DC2C7-ECD0-4FE5-9970-CF908813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 Motivation: Read the Data Plot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74AB7-EE23-490F-850B-4F2C6FD5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 자료가 적을수록 어려워지는 문제를 보여 주는 그래프다. SSL의 인과 효과를 증명하는 그래프는 아니다.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A80FE-7B35-4EF6-A858-A46CA09E46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8671a4ee841d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D9466-D0A2-4D83-B78B-FAFECC71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전사 음성 시간, 세로는 WER이며 둘 다 로그 눈금이다. 언어별 점에서 자료량이 클수록 WER이 낮아지는 경향을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r²=0.83은 이 관계의 회귀 적합도다. 자료량만이 원인이라는 뜻도, SSL을 쓰면 WER이 83% 감소한다는 뜻도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9228F-C912-43DB-8A7B-45566C72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17 — transcribed hours vs. WER; association is not a causal SSL gain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E82D0-E7A4-461C-847F-E65FEEFA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35813915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0FAF7-7C6A-4122-92FC-FD650819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SSL: Why Targets Are Difficult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DFF85-88BF-411F-BD42-EF0B06C6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음성 파형은 연속값이며, 처음부터 단어 사전처럼 나뉘어 있지 않다.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3FA8C-1094-4D44-9A15-9837701A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 mono 음성 1초는 16,000개 sample이다. 각 값은 단어 token이 아니며 화자·잡음·위상 같은 변화도 포함한다. 무엇을 보존할지 선택해야 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544BC-A1FC-4386-AFA3-A9F8F5D2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원파형 복원만 잘하면 언어 내용을 반드시 잘 이해하는 것은 아니다. 문맥 예측, 후보 구별, 표현의 군집화 등 서로 다른 target 설계가 가능하다.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04857-8747-4CDC-A225-DA8261E8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음성 SSL은 입력 표현·가리는 방식·target·loss를 함께 본다. 다음 wav2vec 2.0에서는 연속 표현에서 이산 target을 만드는 방법으로 이어진다.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AB499-B958-4E9E-88CA-94C64F12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40577638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04F73-1D17-4A5F-A8D8-96E9393C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 Timeline: Read the Families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7B219-4B74-42D6-8EAB-2085CBDC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계보의 핵심은 모델 이름보다 학습 신호를 만드는 방식이다.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1F1E9-8179-4656-99C4-F3F98A85F8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168bd69ef480b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48618-9A00-4863-9AF3-ABCB42B0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범례는 generative·contrastive·predictive 등 목표의 계열을 나눈다. 복원할지, 후보를 구별할지, target label을 예측할지가 서로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그림은 2015–2022년 흐름이며 성능 순위표가 아니다. 강의는 여기서 wav2vec 2.0과 HuBERT를 골라 target 설계를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98B9E-1A90-47BA-AE44-9DA782EE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20 — historical speech SSL families, not a performance ranking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C3861-AEA4-4A30-8ACA-05BCD05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464313122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8CDCF-14DF-4EC9-97FF-BBAC08B7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934EF6-1F36-4457-A69B-2C9C5F5A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가린 latent 위치를 주변 음성 문맥으로 표현한다.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3DD42-055A-4F7D-9630-F301595B3C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d08337c384a3e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5AE53-2FAD-45BB-8D56-5371F002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CNN이 waveform을 z_t로 바꾸고, 일부 위치를 mask embedding으로 치환한 뒤 Transformer가 c_t를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Masking은 spectral mask로 음원을 복원하는 연산이 아니라 사전학습 문제를 만드는 절차다.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2F905-9AB7-4652-8F91-0E5C33A4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24 — CNN latent sequence, masked positions, Transformer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AF296-7E4B-41A2-B187-E3793FD2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69597372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D38054-054E-462D-9155-50667540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Targets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5BDE1-E3F3-4459-922F-F2657903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Context c_t는 같은 위치의 quantized target q_t를 distractor보다 잘 골라야 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43CF4-642A-44DD-AA2C-328BF93F9D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571c754e7471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D5C15-A8F0-4D4D-8B33-B2705ECC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가리지 않은 z_t는 product quantizer를 거쳐 q_t가 된다. Contrastive loss는 positive와 후보를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Diversity objective는 일부 code entry만 쓰는 collapse를 줄인다. q_t는 문자 label이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51B8-9697-49BC-AC32-A51C1559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31 — online quantization, contrastive loss, diversity loss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B707E-1F3D-4074-8C3C-438AB84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52473542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8DB16-3895-4C24-A8B3-0FDC8B1C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HuBERT Hidden Units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63706-A585-484C-8537-3CDE5E0A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HuBERT는 offline clustering으로 만든 ID를 가린 위치에서 예측한다.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E973D-E843-472A-81B3-B2CB92775A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b477b5a9441f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12E91-13F8-46FB-89DA-8B22939D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target은 MFCC 등의 feature를 k-means로 묶어 만든다. 7·20·5는 cluster ID이며 음소 이름이나 크기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이전 HuBERT layer를 다시 clustering해 target을 개선할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16110-CEC0-482B-8AA9-027D9F73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46 — offline k-means pseudo-labels and masked 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B34AD-03E3-49E8-B174-1BABE343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8118102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54FA3-B7FB-43FD-9434-7F305BCF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vs. HuBERT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7CE23-59F2-4373-A103-F794FE0D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둘 다 masked prediction이지만, 맞히는 target과 loss가 다르다.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67A58-0B9D-43B1-B262-62C25BE3DA00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Question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wav2vec 2.0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HuBERT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jointly learned quantized vector q_t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offline cluster ID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Competition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positive vs. sampled distractors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correct ID vs. all cluster classes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Loss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contrastive softmax + diversity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masked classification softmax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 update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quantizer learned with encoder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MFCC first; hidden features reclustered between stages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FC7A0-6B29-4F39-84C5-B4144D79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Predictive는 문맥으로 가린 위치의 target을 맞힌다는 뜻이다. autoregressive future prediction이나 waveform reconstruction을 의미하지 않는다.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둘 다 softmax 경쟁을 쓴다. 차이는 후보가 샘플된 distractor인지, 고정된 cluster vocabulary의 모든 class인지에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992CA7-166F-44AD-826C-ECB3F13C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43500672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E604B-84A6-4683-8072-673CE72F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Final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EAB74-C030-4E65-A03A-AEC6FE1D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표현, encoder, 정렬 목표는 서로 다른 설계 축이다.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F2AA6-2F31-464D-B82B-B6CAA5A2C6E9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Question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Method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무엇을 보존?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time-frequency / compressed bands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정렬?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paths / attention / 2-D lattice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인코딩?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DS2/Conformer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RNN / attention+conv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target은 어디서?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wav2vec 2.0/HuBERT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quantizer / clustering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F71266-39FE-4836-AB99-0209CECB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FFT는 DFT 계산법이고, Mel은 지각적 축약이다. Conformer는 encoder이며 CTC는 정렬 목표다.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2.0은 online quantized target, HuBERT는 offline cluster target을 쓴 뒤 labeled ASR로 fine-tuning한다.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4FFF1-6C04-41C2-988A-EF3A1098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966185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2026-10-19T05:41:34.9930000Z</dcterms:created>
  <dcterms:modified xsi:type="dcterms:W3CDTF">2026-10-19T05:41:34.9930000Z</dcterms:modified>
</coreProperties>
</file>
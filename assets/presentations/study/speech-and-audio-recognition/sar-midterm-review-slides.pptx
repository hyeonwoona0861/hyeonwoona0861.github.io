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1ddd8fdb3d4b67" /><Relationship Type="http://schemas.openxmlformats.org/officeDocument/2006/relationships/extended-properties" Target="/docProps/app.xml" Id="Rac7e9e5fc8374c43" /><Relationship Type="http://schemas.openxmlformats.org/officeDocument/2006/relationships/officeDocument" Target="/ppt/presentation.xml" Id="R749ca578316048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37e08f32384406f"/>
  </p:sldMasterIdLst>
  <p:notesMasterIdLst>
    <p:notesMasterId xmlns:r="http://schemas.openxmlformats.org/officeDocument/2006/relationships" r:id="R294cf77fa8d54692"/>
  </p:notesMasterIdLst>
  <p:sldIdLst>
    <p:sldId xmlns:r="http://schemas.openxmlformats.org/officeDocument/2006/relationships" id="256" r:id="Rad9bf55b305547fa"/>
    <p:sldId xmlns:r="http://schemas.openxmlformats.org/officeDocument/2006/relationships" id="257" r:id="Rce04ca96bb584649"/>
    <p:sldId xmlns:r="http://schemas.openxmlformats.org/officeDocument/2006/relationships" id="258" r:id="Rc1c47531a82443a0"/>
    <p:sldId xmlns:r="http://schemas.openxmlformats.org/officeDocument/2006/relationships" id="259" r:id="R1224d87f6f494377"/>
    <p:sldId xmlns:r="http://schemas.openxmlformats.org/officeDocument/2006/relationships" id="260" r:id="R08830301385741cb"/>
    <p:sldId xmlns:r="http://schemas.openxmlformats.org/officeDocument/2006/relationships" id="261" r:id="R79fe599ebdf347ae"/>
    <p:sldId xmlns:r="http://schemas.openxmlformats.org/officeDocument/2006/relationships" id="262" r:id="Rb5a30fa032fd4aaf"/>
    <p:sldId xmlns:r="http://schemas.openxmlformats.org/officeDocument/2006/relationships" id="263" r:id="R454c3609399c4d53"/>
    <p:sldId xmlns:r="http://schemas.openxmlformats.org/officeDocument/2006/relationships" id="264" r:id="Re8663ed7ddc44312"/>
    <p:sldId xmlns:r="http://schemas.openxmlformats.org/officeDocument/2006/relationships" id="265" r:id="R47be3cd5d8dc4eba"/>
    <p:sldId xmlns:r="http://schemas.openxmlformats.org/officeDocument/2006/relationships" id="266" r:id="Raab3eb0d90c743cc"/>
    <p:sldId xmlns:r="http://schemas.openxmlformats.org/officeDocument/2006/relationships" id="267" r:id="R73c63351502b474a"/>
    <p:sldId xmlns:r="http://schemas.openxmlformats.org/officeDocument/2006/relationships" id="268" r:id="R403eb50816cb4939"/>
    <p:sldId xmlns:r="http://schemas.openxmlformats.org/officeDocument/2006/relationships" id="269" r:id="R6b2dc27b89074db5"/>
    <p:sldId xmlns:r="http://schemas.openxmlformats.org/officeDocument/2006/relationships" id="270" r:id="R23c9eb167e9c4979"/>
    <p:sldId xmlns:r="http://schemas.openxmlformats.org/officeDocument/2006/relationships" id="271" r:id="R05f25afd5a634a1e"/>
    <p:sldId xmlns:r="http://schemas.openxmlformats.org/officeDocument/2006/relationships" id="272" r:id="R9a7a7cb0cf2d4ec4"/>
    <p:sldId xmlns:r="http://schemas.openxmlformats.org/officeDocument/2006/relationships" id="273" r:id="R79a32c1269be453c"/>
    <p:sldId xmlns:r="http://schemas.openxmlformats.org/officeDocument/2006/relationships" id="274" r:id="Rf39e6d52830f43a7"/>
    <p:sldId xmlns:r="http://schemas.openxmlformats.org/officeDocument/2006/relationships" id="275" r:id="R17d2e4e207654411"/>
    <p:sldId xmlns:r="http://schemas.openxmlformats.org/officeDocument/2006/relationships" id="276" r:id="R866e034da1e349a6"/>
    <p:sldId xmlns:r="http://schemas.openxmlformats.org/officeDocument/2006/relationships" id="277" r:id="Ra10dc88dffdf4fe9"/>
    <p:sldId xmlns:r="http://schemas.openxmlformats.org/officeDocument/2006/relationships" id="278" r:id="Rffb921ac0fe547c2"/>
    <p:sldId xmlns:r="http://schemas.openxmlformats.org/officeDocument/2006/relationships" id="279" r:id="Rd48425ff558f4af6"/>
    <p:sldId xmlns:r="http://schemas.openxmlformats.org/officeDocument/2006/relationships" id="280" r:id="R40959d5ccd9f42de"/>
    <p:sldId xmlns:r="http://schemas.openxmlformats.org/officeDocument/2006/relationships" id="281" r:id="Ra4f6f17ad31e4c6f"/>
    <p:sldId xmlns:r="http://schemas.openxmlformats.org/officeDocument/2006/relationships" id="282" r:id="R8848f1cbbb3a4347"/>
    <p:sldId xmlns:r="http://schemas.openxmlformats.org/officeDocument/2006/relationships" id="283" r:id="R72cdc70cae4e4b3b"/>
    <p:sldId xmlns:r="http://schemas.openxmlformats.org/officeDocument/2006/relationships" id="284" r:id="Rf5c73a32b1124e0d"/>
    <p:sldId xmlns:r="http://schemas.openxmlformats.org/officeDocument/2006/relationships" id="285" r:id="Re3f7da3207f0404d"/>
    <p:sldId xmlns:r="http://schemas.openxmlformats.org/officeDocument/2006/relationships" id="286" r:id="Rb293d0916aec404f"/>
    <p:sldId xmlns:r="http://schemas.openxmlformats.org/officeDocument/2006/relationships" id="287" r:id="R4499cb6de4e744a3"/>
    <p:sldId xmlns:r="http://schemas.openxmlformats.org/officeDocument/2006/relationships" id="288" r:id="Ra8b70ac52d484688"/>
    <p:sldId xmlns:r="http://schemas.openxmlformats.org/officeDocument/2006/relationships" id="289" r:id="R18f87fffd825433c"/>
    <p:sldId xmlns:r="http://schemas.openxmlformats.org/officeDocument/2006/relationships" id="290" r:id="Rd78b9fc1aab04d5c"/>
    <p:sldId xmlns:r="http://schemas.openxmlformats.org/officeDocument/2006/relationships" id="291" r:id="Rf52389b01a5f48be"/>
    <p:sldId xmlns:r="http://schemas.openxmlformats.org/officeDocument/2006/relationships" id="292" r:id="Rad065a68df824a88"/>
    <p:sldId xmlns:r="http://schemas.openxmlformats.org/officeDocument/2006/relationships" id="293" r:id="R335f49a0b249419c"/>
    <p:sldId xmlns:r="http://schemas.openxmlformats.org/officeDocument/2006/relationships" id="294" r:id="Ra820bcecf6854f5e"/>
    <p:sldId xmlns:r="http://schemas.openxmlformats.org/officeDocument/2006/relationships" id="295" r:id="Rfa87428291734f9d"/>
    <p:sldId xmlns:r="http://schemas.openxmlformats.org/officeDocument/2006/relationships" id="296" r:id="R59bddfe461744286"/>
    <p:sldId xmlns:r="http://schemas.openxmlformats.org/officeDocument/2006/relationships" id="297" r:id="R994d85894fce4128"/>
    <p:sldId xmlns:r="http://schemas.openxmlformats.org/officeDocument/2006/relationships" id="298" r:id="R718cc98852824be6"/>
    <p:sldId xmlns:r="http://schemas.openxmlformats.org/officeDocument/2006/relationships" id="299" r:id="R6f9f6f5ddfe44b2a"/>
    <p:sldId xmlns:r="http://schemas.openxmlformats.org/officeDocument/2006/relationships" id="300" r:id="R890e88e626914a72"/>
    <p:sldId xmlns:r="http://schemas.openxmlformats.org/officeDocument/2006/relationships" id="301" r:id="Rd28b7c2114f3445a"/>
    <p:sldId xmlns:r="http://schemas.openxmlformats.org/officeDocument/2006/relationships" id="302" r:id="Rfa2e9115e6974be8"/>
    <p:sldId xmlns:r="http://schemas.openxmlformats.org/officeDocument/2006/relationships" id="303" r:id="R09cab3f1033d49cf"/>
    <p:sldId xmlns:r="http://schemas.openxmlformats.org/officeDocument/2006/relationships" id="304" r:id="Reaabedd13c0e4b0c"/>
    <p:sldId xmlns:r="http://schemas.openxmlformats.org/officeDocument/2006/relationships" id="305" r:id="R8c47ff1e30f94006"/>
    <p:sldId xmlns:r="http://schemas.openxmlformats.org/officeDocument/2006/relationships" id="306" r:id="R6733746d32374116"/>
    <p:sldId xmlns:r="http://schemas.openxmlformats.org/officeDocument/2006/relationships" id="307" r:id="R8999f2d43ec74871"/>
    <p:sldId xmlns:r="http://schemas.openxmlformats.org/officeDocument/2006/relationships" id="308" r:id="Rc8238e8f538a4d33"/>
    <p:sldId xmlns:r="http://schemas.openxmlformats.org/officeDocument/2006/relationships" id="309" r:id="R0fbab4de4bdf4df5"/>
    <p:sldId xmlns:r="http://schemas.openxmlformats.org/officeDocument/2006/relationships" id="310" r:id="Re541043af71b47fd"/>
    <p:sldId xmlns:r="http://schemas.openxmlformats.org/officeDocument/2006/relationships" id="311" r:id="R9edc0db1b9d84f57"/>
    <p:sldId xmlns:r="http://schemas.openxmlformats.org/officeDocument/2006/relationships" id="312" r:id="R1752b0b6afb64fb3"/>
    <p:sldId xmlns:r="http://schemas.openxmlformats.org/officeDocument/2006/relationships" id="313" r:id="Rb1a0354f127a4e16"/>
    <p:sldId xmlns:r="http://schemas.openxmlformats.org/officeDocument/2006/relationships" id="314" r:id="R35015517e9df41d1"/>
    <p:sldId xmlns:r="http://schemas.openxmlformats.org/officeDocument/2006/relationships" id="315" r:id="R3d842e8898ee4113"/>
    <p:sldId xmlns:r="http://schemas.openxmlformats.org/officeDocument/2006/relationships" id="316" r:id="R7fc892bc983a4ee7"/>
    <p:sldId xmlns:r="http://schemas.openxmlformats.org/officeDocument/2006/relationships" id="317" r:id="R10afd3c552384d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684151b6ff4435" /><Relationship Type="http://schemas.openxmlformats.org/officeDocument/2006/relationships/slideMaster" Target="/ppt/slideMasters/slideMaster1.xml" Id="Ra37e08f32384406f" /><Relationship Type="http://schemas.openxmlformats.org/officeDocument/2006/relationships/notesMaster" Target="/ppt/notesMasters/notesMaster1.xml" Id="R294cf77fa8d54692" /><Relationship Type="http://schemas.openxmlformats.org/officeDocument/2006/relationships/presProps" Target="/ppt/presProps.xml" Id="Rf32e3d85d90c4032" /><Relationship Type="http://schemas.openxmlformats.org/officeDocument/2006/relationships/tableStyles" Target="/ppt/tableStyles.xml" Id="R2679bb84a60d4ada" /><Relationship Type="http://schemas.openxmlformats.org/officeDocument/2006/relationships/slide" Target="/ppt/slides/slide1.xml" Id="Rad9bf55b305547fa" /><Relationship Type="http://schemas.openxmlformats.org/officeDocument/2006/relationships/slide" Target="/ppt/slides/slide2.xml" Id="Rce04ca96bb584649" /><Relationship Type="http://schemas.openxmlformats.org/officeDocument/2006/relationships/slide" Target="/ppt/slides/slide3.xml" Id="Rc1c47531a82443a0" /><Relationship Type="http://schemas.openxmlformats.org/officeDocument/2006/relationships/slide" Target="/ppt/slides/slide4.xml" Id="R1224d87f6f494377" /><Relationship Type="http://schemas.openxmlformats.org/officeDocument/2006/relationships/slide" Target="/ppt/slides/slide5.xml" Id="R08830301385741cb" /><Relationship Type="http://schemas.openxmlformats.org/officeDocument/2006/relationships/slide" Target="/ppt/slides/slide6.xml" Id="R79fe599ebdf347ae" /><Relationship Type="http://schemas.openxmlformats.org/officeDocument/2006/relationships/slide" Target="/ppt/slides/slide7.xml" Id="Rb5a30fa032fd4aaf" /><Relationship Type="http://schemas.openxmlformats.org/officeDocument/2006/relationships/slide" Target="/ppt/slides/slide8.xml" Id="R454c3609399c4d53" /><Relationship Type="http://schemas.openxmlformats.org/officeDocument/2006/relationships/slide" Target="/ppt/slides/slide9.xml" Id="Re8663ed7ddc44312" /><Relationship Type="http://schemas.openxmlformats.org/officeDocument/2006/relationships/slide" Target="/ppt/slides/slide10.xml" Id="R47be3cd5d8dc4eba" /><Relationship Type="http://schemas.openxmlformats.org/officeDocument/2006/relationships/slide" Target="/ppt/slides/slide11.xml" Id="Raab3eb0d90c743cc" /><Relationship Type="http://schemas.openxmlformats.org/officeDocument/2006/relationships/slide" Target="/ppt/slides/slide12.xml" Id="R73c63351502b474a" /><Relationship Type="http://schemas.openxmlformats.org/officeDocument/2006/relationships/slide" Target="/ppt/slides/slide13.xml" Id="R403eb50816cb4939" /><Relationship Type="http://schemas.openxmlformats.org/officeDocument/2006/relationships/slide" Target="/ppt/slides/slide14.xml" Id="R6b2dc27b89074db5" /><Relationship Type="http://schemas.openxmlformats.org/officeDocument/2006/relationships/slide" Target="/ppt/slides/slide15.xml" Id="R23c9eb167e9c4979" /><Relationship Type="http://schemas.openxmlformats.org/officeDocument/2006/relationships/slide" Target="/ppt/slides/slide16.xml" Id="R05f25afd5a634a1e" /><Relationship Type="http://schemas.openxmlformats.org/officeDocument/2006/relationships/slide" Target="/ppt/slides/slide17.xml" Id="R9a7a7cb0cf2d4ec4" /><Relationship Type="http://schemas.openxmlformats.org/officeDocument/2006/relationships/slide" Target="/ppt/slides/slide18.xml" Id="R79a32c1269be453c" /><Relationship Type="http://schemas.openxmlformats.org/officeDocument/2006/relationships/slide" Target="/ppt/slides/slide19.xml" Id="Rf39e6d52830f43a7" /><Relationship Type="http://schemas.openxmlformats.org/officeDocument/2006/relationships/slide" Target="/ppt/slides/slide20.xml" Id="R17d2e4e207654411" /><Relationship Type="http://schemas.openxmlformats.org/officeDocument/2006/relationships/slide" Target="/ppt/slides/slide21.xml" Id="R866e034da1e349a6" /><Relationship Type="http://schemas.openxmlformats.org/officeDocument/2006/relationships/slide" Target="/ppt/slides/slide22.xml" Id="Ra10dc88dffdf4fe9" /><Relationship Type="http://schemas.openxmlformats.org/officeDocument/2006/relationships/slide" Target="/ppt/slides/slide23.xml" Id="Rffb921ac0fe547c2" /><Relationship Type="http://schemas.openxmlformats.org/officeDocument/2006/relationships/slide" Target="/ppt/slides/slide24.xml" Id="Rd48425ff558f4af6" /><Relationship Type="http://schemas.openxmlformats.org/officeDocument/2006/relationships/slide" Target="/ppt/slides/slide25.xml" Id="R40959d5ccd9f42de" /><Relationship Type="http://schemas.openxmlformats.org/officeDocument/2006/relationships/slide" Target="/ppt/slides/slide26.xml" Id="Ra4f6f17ad31e4c6f" /><Relationship Type="http://schemas.openxmlformats.org/officeDocument/2006/relationships/slide" Target="/ppt/slides/slide27.xml" Id="R8848f1cbbb3a4347" /><Relationship Type="http://schemas.openxmlformats.org/officeDocument/2006/relationships/slide" Target="/ppt/slides/slide28.xml" Id="R72cdc70cae4e4b3b" /><Relationship Type="http://schemas.openxmlformats.org/officeDocument/2006/relationships/slide" Target="/ppt/slides/slide29.xml" Id="Rf5c73a32b1124e0d" /><Relationship Type="http://schemas.openxmlformats.org/officeDocument/2006/relationships/slide" Target="/ppt/slides/slide30.xml" Id="Re3f7da3207f0404d" /><Relationship Type="http://schemas.openxmlformats.org/officeDocument/2006/relationships/slide" Target="/ppt/slides/slide31.xml" Id="Rb293d0916aec404f" /><Relationship Type="http://schemas.openxmlformats.org/officeDocument/2006/relationships/slide" Target="/ppt/slides/slide32.xml" Id="R4499cb6de4e744a3" /><Relationship Type="http://schemas.openxmlformats.org/officeDocument/2006/relationships/slide" Target="/ppt/slides/slide33.xml" Id="Ra8b70ac52d484688" /><Relationship Type="http://schemas.openxmlformats.org/officeDocument/2006/relationships/slide" Target="/ppt/slides/slide34.xml" Id="R18f87fffd825433c" /><Relationship Type="http://schemas.openxmlformats.org/officeDocument/2006/relationships/slide" Target="/ppt/slides/slide35.xml" Id="Rd78b9fc1aab04d5c" /><Relationship Type="http://schemas.openxmlformats.org/officeDocument/2006/relationships/slide" Target="/ppt/slides/slide36.xml" Id="Rf52389b01a5f48be" /><Relationship Type="http://schemas.openxmlformats.org/officeDocument/2006/relationships/slide" Target="/ppt/slides/slide37.xml" Id="Rad065a68df824a88" /><Relationship Type="http://schemas.openxmlformats.org/officeDocument/2006/relationships/slide" Target="/ppt/slides/slide38.xml" Id="R335f49a0b249419c" /><Relationship Type="http://schemas.openxmlformats.org/officeDocument/2006/relationships/slide" Target="/ppt/slides/slide39.xml" Id="Ra820bcecf6854f5e" /><Relationship Type="http://schemas.openxmlformats.org/officeDocument/2006/relationships/slide" Target="/ppt/slides/slide40.xml" Id="Rfa87428291734f9d" /><Relationship Type="http://schemas.openxmlformats.org/officeDocument/2006/relationships/slide" Target="/ppt/slides/slide41.xml" Id="R59bddfe461744286" /><Relationship Type="http://schemas.openxmlformats.org/officeDocument/2006/relationships/slide" Target="/ppt/slides/slide42.xml" Id="R994d85894fce4128" /><Relationship Type="http://schemas.openxmlformats.org/officeDocument/2006/relationships/slide" Target="/ppt/slides/slide43.xml" Id="R718cc98852824be6" /><Relationship Type="http://schemas.openxmlformats.org/officeDocument/2006/relationships/slide" Target="/ppt/slides/slide44.xml" Id="R6f9f6f5ddfe44b2a" /><Relationship Type="http://schemas.openxmlformats.org/officeDocument/2006/relationships/slide" Target="/ppt/slides/slide45.xml" Id="R890e88e626914a72" /><Relationship Type="http://schemas.openxmlformats.org/officeDocument/2006/relationships/slide" Target="/ppt/slides/slide46.xml" Id="Rd28b7c2114f3445a" /><Relationship Type="http://schemas.openxmlformats.org/officeDocument/2006/relationships/slide" Target="/ppt/slides/slide47.xml" Id="Rfa2e9115e6974be8" /><Relationship Type="http://schemas.openxmlformats.org/officeDocument/2006/relationships/slide" Target="/ppt/slides/slide48.xml" Id="R09cab3f1033d49cf" /><Relationship Type="http://schemas.openxmlformats.org/officeDocument/2006/relationships/slide" Target="/ppt/slides/slide49.xml" Id="Reaabedd13c0e4b0c" /><Relationship Type="http://schemas.openxmlformats.org/officeDocument/2006/relationships/slide" Target="/ppt/slides/slide50.xml" Id="R8c47ff1e30f94006" /><Relationship Type="http://schemas.openxmlformats.org/officeDocument/2006/relationships/slide" Target="/ppt/slides/slide51.xml" Id="R6733746d32374116" /><Relationship Type="http://schemas.openxmlformats.org/officeDocument/2006/relationships/slide" Target="/ppt/slides/slide52.xml" Id="R8999f2d43ec74871" /><Relationship Type="http://schemas.openxmlformats.org/officeDocument/2006/relationships/slide" Target="/ppt/slides/slide53.xml" Id="Rc8238e8f538a4d33" /><Relationship Type="http://schemas.openxmlformats.org/officeDocument/2006/relationships/slide" Target="/ppt/slides/slide54.xml" Id="R0fbab4de4bdf4df5" /><Relationship Type="http://schemas.openxmlformats.org/officeDocument/2006/relationships/slide" Target="/ppt/slides/slide55.xml" Id="Re541043af71b47fd" /><Relationship Type="http://schemas.openxmlformats.org/officeDocument/2006/relationships/slide" Target="/ppt/slides/slide56.xml" Id="R9edc0db1b9d84f57" /><Relationship Type="http://schemas.openxmlformats.org/officeDocument/2006/relationships/slide" Target="/ppt/slides/slide57.xml" Id="R1752b0b6afb64fb3" /><Relationship Type="http://schemas.openxmlformats.org/officeDocument/2006/relationships/slide" Target="/ppt/slides/slide58.xml" Id="Rb1a0354f127a4e16" /><Relationship Type="http://schemas.openxmlformats.org/officeDocument/2006/relationships/slide" Target="/ppt/slides/slide59.xml" Id="R35015517e9df41d1" /><Relationship Type="http://schemas.openxmlformats.org/officeDocument/2006/relationships/slide" Target="/ppt/slides/slide60.xml" Id="R3d842e8898ee4113" /><Relationship Type="http://schemas.openxmlformats.org/officeDocument/2006/relationships/slide" Target="/ppt/slides/slide61.xml" Id="R7fc892bc983a4ee7" /><Relationship Type="http://schemas.openxmlformats.org/officeDocument/2006/relationships/slide" Target="/ppt/slides/slide62.xml" Id="R10afd3c552384d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95619059f74e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4fa86c63a54951" /><Relationship Type="http://schemas.openxmlformats.org/officeDocument/2006/relationships/notesMaster" Target="/ppt/notesMasters/notesMaster1.xml" Id="R52d756e3783d4d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93661198d4f442e" /><Relationship Type="http://schemas.openxmlformats.org/officeDocument/2006/relationships/notesMaster" Target="/ppt/notesMasters/notesMaster1.xml" Id="Rdf300c677c2d41f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f10eab97c44ca1" /><Relationship Type="http://schemas.openxmlformats.org/officeDocument/2006/relationships/notesMaster" Target="/ppt/notesMasters/notesMaster1.xml" Id="R64b703843ae741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7f4f5e020740a7" /><Relationship Type="http://schemas.openxmlformats.org/officeDocument/2006/relationships/notesMaster" Target="/ppt/notesMasters/notesMaster1.xml" Id="R37f8602fefb340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64095e45440410d" /><Relationship Type="http://schemas.openxmlformats.org/officeDocument/2006/relationships/notesMaster" Target="/ppt/notesMasters/notesMaster1.xml" Id="Rc97b56869bae48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dd1fbadee6345eb" /><Relationship Type="http://schemas.openxmlformats.org/officeDocument/2006/relationships/notesMaster" Target="/ppt/notesMasters/notesMaster1.xml" Id="Rd379c2fa90c24d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ecf76aa3d047cb" /><Relationship Type="http://schemas.openxmlformats.org/officeDocument/2006/relationships/notesMaster" Target="/ppt/notesMasters/notesMaster1.xml" Id="Rb9ab68a7f3824d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9971d988c334d85" /><Relationship Type="http://schemas.openxmlformats.org/officeDocument/2006/relationships/notesMaster" Target="/ppt/notesMasters/notesMaster1.xml" Id="Rebfc1d95489541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f14d8c67ca4373" /><Relationship Type="http://schemas.openxmlformats.org/officeDocument/2006/relationships/notesMaster" Target="/ppt/notesMasters/notesMaster1.xml" Id="R6685c8b3753a4d3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9797ccb1ccb4a83" /><Relationship Type="http://schemas.openxmlformats.org/officeDocument/2006/relationships/notesMaster" Target="/ppt/notesMasters/notesMaster1.xml" Id="R102304b06f214bc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d2fcf09b819453a" /><Relationship Type="http://schemas.openxmlformats.org/officeDocument/2006/relationships/notesMaster" Target="/ppt/notesMasters/notesMaster1.xml" Id="R8a0cdef77fc2441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16853ccc874285" /><Relationship Type="http://schemas.openxmlformats.org/officeDocument/2006/relationships/notesMaster" Target="/ppt/notesMasters/notesMaster1.xml" Id="R61d5bf8eddd0424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385276581dd4860" /><Relationship Type="http://schemas.openxmlformats.org/officeDocument/2006/relationships/notesMaster" Target="/ppt/notesMasters/notesMaster1.xml" Id="R6ef9da3d75f1407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907cb84b6fb4a40" /><Relationship Type="http://schemas.openxmlformats.org/officeDocument/2006/relationships/notesMaster" Target="/ppt/notesMasters/notesMaster1.xml" Id="R0f9138b3d3a348e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b5f02e6eef843ac" /><Relationship Type="http://schemas.openxmlformats.org/officeDocument/2006/relationships/notesMaster" Target="/ppt/notesMasters/notesMaster1.xml" Id="R50224982d4c245b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d7ff6c8151c4fde" /><Relationship Type="http://schemas.openxmlformats.org/officeDocument/2006/relationships/notesMaster" Target="/ppt/notesMasters/notesMaster1.xml" Id="R2aece34a744543d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cdf2022402141b3" /><Relationship Type="http://schemas.openxmlformats.org/officeDocument/2006/relationships/notesMaster" Target="/ppt/notesMasters/notesMaster1.xml" Id="Rda5057e58343495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bc0505b43c14b6f" /><Relationship Type="http://schemas.openxmlformats.org/officeDocument/2006/relationships/notesMaster" Target="/ppt/notesMasters/notesMaster1.xml" Id="R9f86c1a23d1044d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ff44e6c32c44239" /><Relationship Type="http://schemas.openxmlformats.org/officeDocument/2006/relationships/notesMaster" Target="/ppt/notesMasters/notesMaster1.xml" Id="R7e424c17362e406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de7cfafaf234288" /><Relationship Type="http://schemas.openxmlformats.org/officeDocument/2006/relationships/notesMaster" Target="/ppt/notesMasters/notesMaster1.xml" Id="R77215ac992b2493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5a9a64c53984924" /><Relationship Type="http://schemas.openxmlformats.org/officeDocument/2006/relationships/notesMaster" Target="/ppt/notesMasters/notesMaster1.xml" Id="R59fc0c59dbc845e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d97e6b24c9b46be" /><Relationship Type="http://schemas.openxmlformats.org/officeDocument/2006/relationships/notesMaster" Target="/ppt/notesMasters/notesMaster1.xml" Id="R18807702bce14d6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8fa74bae82c42a3" /><Relationship Type="http://schemas.openxmlformats.org/officeDocument/2006/relationships/notesMaster" Target="/ppt/notesMasters/notesMaster1.xml" Id="Rc9ca1291e99643a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ddc3e35c07f45df" /><Relationship Type="http://schemas.openxmlformats.org/officeDocument/2006/relationships/notesMaster" Target="/ppt/notesMasters/notesMaster1.xml" Id="Rd225e079926e454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6a78311aac74170" /><Relationship Type="http://schemas.openxmlformats.org/officeDocument/2006/relationships/notesMaster" Target="/ppt/notesMasters/notesMaster1.xml" Id="R6574819f788a48c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499ce1e47f04ac4" /><Relationship Type="http://schemas.openxmlformats.org/officeDocument/2006/relationships/notesMaster" Target="/ppt/notesMasters/notesMaster1.xml" Id="R957808660df64cc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ff6fdd3744f42e3" /><Relationship Type="http://schemas.openxmlformats.org/officeDocument/2006/relationships/notesMaster" Target="/ppt/notesMasters/notesMaster1.xml" Id="Re86364b3a985403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e9e76b6667945a4" /><Relationship Type="http://schemas.openxmlformats.org/officeDocument/2006/relationships/notesMaster" Target="/ppt/notesMasters/notesMaster1.xml" Id="R48d9a063db33439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8791a0e89b042e8" /><Relationship Type="http://schemas.openxmlformats.org/officeDocument/2006/relationships/notesMaster" Target="/ppt/notesMasters/notesMaster1.xml" Id="Rc696136234c8461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d111a9f9d004f70" /><Relationship Type="http://schemas.openxmlformats.org/officeDocument/2006/relationships/notesMaster" Target="/ppt/notesMasters/notesMaster1.xml" Id="R5baa782653484e3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28aec93801a428c" /><Relationship Type="http://schemas.openxmlformats.org/officeDocument/2006/relationships/notesMaster" Target="/ppt/notesMasters/notesMaster1.xml" Id="Rbb6672887f5149d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4c2551618174cea" /><Relationship Type="http://schemas.openxmlformats.org/officeDocument/2006/relationships/notesMaster" Target="/ppt/notesMasters/notesMaster1.xml" Id="R3df054fe76a84b9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3a225bf019b4b50" /><Relationship Type="http://schemas.openxmlformats.org/officeDocument/2006/relationships/notesMaster" Target="/ppt/notesMasters/notesMaster1.xml" Id="R435890462aab4da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6a120d6f6c047a6" /><Relationship Type="http://schemas.openxmlformats.org/officeDocument/2006/relationships/notesMaster" Target="/ppt/notesMasters/notesMaster1.xml" Id="R28132b1da792480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8353bab9ba24867" /><Relationship Type="http://schemas.openxmlformats.org/officeDocument/2006/relationships/notesMaster" Target="/ppt/notesMasters/notesMaster1.xml" Id="R90351c271835452c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376349a7c4548eb" /><Relationship Type="http://schemas.openxmlformats.org/officeDocument/2006/relationships/notesMaster" Target="/ppt/notesMasters/notesMaster1.xml" Id="R59ca184f1d504d2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fc322a0641b4129" /><Relationship Type="http://schemas.openxmlformats.org/officeDocument/2006/relationships/notesMaster" Target="/ppt/notesMasters/notesMaster1.xml" Id="R58b76b0e849c439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743a4774ed04665" /><Relationship Type="http://schemas.openxmlformats.org/officeDocument/2006/relationships/notesMaster" Target="/ppt/notesMasters/notesMaster1.xml" Id="Rab32baf01687416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4a7aadeab3324c6e" /><Relationship Type="http://schemas.openxmlformats.org/officeDocument/2006/relationships/notesMaster" Target="/ppt/notesMasters/notesMaster1.xml" Id="R7800d7f30ad14a3d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98a993436d3e4978" /><Relationship Type="http://schemas.openxmlformats.org/officeDocument/2006/relationships/notesMaster" Target="/ppt/notesMasters/notesMaster1.xml" Id="Re9449989033c4b2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6a31f1696f345fd" /><Relationship Type="http://schemas.openxmlformats.org/officeDocument/2006/relationships/notesMaster" Target="/ppt/notesMasters/notesMaster1.xml" Id="R8c7c51474987459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f8d0667e5b649c8" /><Relationship Type="http://schemas.openxmlformats.org/officeDocument/2006/relationships/notesMaster" Target="/ppt/notesMasters/notesMaster1.xml" Id="R25b7a4dd28b943a7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93dff68a0660402e" /><Relationship Type="http://schemas.openxmlformats.org/officeDocument/2006/relationships/notesMaster" Target="/ppt/notesMasters/notesMaster1.xml" Id="R13d01e04d73146f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c4d17b931b549b5" /><Relationship Type="http://schemas.openxmlformats.org/officeDocument/2006/relationships/notesMaster" Target="/ppt/notesMasters/notesMaster1.xml" Id="R1d9d9c9563be4cc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5eaf31d1615e4e0a" /><Relationship Type="http://schemas.openxmlformats.org/officeDocument/2006/relationships/notesMaster" Target="/ppt/notesMasters/notesMaster1.xml" Id="Rde558c359017486f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db7b3546f3a1406f" /><Relationship Type="http://schemas.openxmlformats.org/officeDocument/2006/relationships/notesMaster" Target="/ppt/notesMasters/notesMaster1.xml" Id="R0fc10a0d24bd42a8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aed000fd3fdc411a" /><Relationship Type="http://schemas.openxmlformats.org/officeDocument/2006/relationships/notesMaster" Target="/ppt/notesMasters/notesMaster1.xml" Id="Rf0ef0ab4a9b14733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ed3f8e6e721c43a4" /><Relationship Type="http://schemas.openxmlformats.org/officeDocument/2006/relationships/notesMaster" Target="/ppt/notesMasters/notesMaster1.xml" Id="Rec674eb4aea84b6e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ababe04bcdb4693" /><Relationship Type="http://schemas.openxmlformats.org/officeDocument/2006/relationships/notesMaster" Target="/ppt/notesMasters/notesMaster1.xml" Id="R61fcb5099fe0461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9202482854e24a4c" /><Relationship Type="http://schemas.openxmlformats.org/officeDocument/2006/relationships/notesMaster" Target="/ppt/notesMasters/notesMaster1.xml" Id="R402d03e6bf5e4bcb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0a201f1da3f54683" /><Relationship Type="http://schemas.openxmlformats.org/officeDocument/2006/relationships/notesMaster" Target="/ppt/notesMasters/notesMaster1.xml" Id="R0d477747f569465c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754fbe45a5df45f9" /><Relationship Type="http://schemas.openxmlformats.org/officeDocument/2006/relationships/notesMaster" Target="/ppt/notesMasters/notesMaster1.xml" Id="R54ce024770f94863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c33cc48ac34b4ae4" /><Relationship Type="http://schemas.openxmlformats.org/officeDocument/2006/relationships/notesMaster" Target="/ppt/notesMasters/notesMaster1.xml" Id="Rbe522a736b2a4851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8c17d1f983434fd3" /><Relationship Type="http://schemas.openxmlformats.org/officeDocument/2006/relationships/notesMaster" Target="/ppt/notesMasters/notesMaster1.xml" Id="Re90a827ec27b4f14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4af1a6766d5e4784" /><Relationship Type="http://schemas.openxmlformats.org/officeDocument/2006/relationships/notesMaster" Target="/ppt/notesMasters/notesMaster1.xml" Id="Rc404e5d6bc4d4c53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ab0828aa50ed4b19" /><Relationship Type="http://schemas.openxmlformats.org/officeDocument/2006/relationships/notesMaster" Target="/ppt/notesMasters/notesMaster1.xml" Id="R858ea386e1b24686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b0c0ff48ee644bc1" /><Relationship Type="http://schemas.openxmlformats.org/officeDocument/2006/relationships/notesMaster" Target="/ppt/notesMasters/notesMaster1.xml" Id="R4d38f326db134c81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e55af45f609946cd" /><Relationship Type="http://schemas.openxmlformats.org/officeDocument/2006/relationships/notesMaster" Target="/ppt/notesMasters/notesMaster1.xml" Id="Rb26e482064234c5b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a3cc6891c5ad4669" /><Relationship Type="http://schemas.openxmlformats.org/officeDocument/2006/relationships/notesMaster" Target="/ppt/notesMasters/notesMaster1.xml" Id="R2a84db833eb648f9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dd283173928447e2" /><Relationship Type="http://schemas.openxmlformats.org/officeDocument/2006/relationships/notesMaster" Target="/ppt/notesMasters/notesMaster1.xml" Id="Rffa9658ccb464035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af57164429a34753" /><Relationship Type="http://schemas.openxmlformats.org/officeDocument/2006/relationships/notesMaster" Target="/ppt/notesMasters/notesMaster1.xml" Id="Rbca849d2e5544943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bc94d593f40a419f" /><Relationship Type="http://schemas.openxmlformats.org/officeDocument/2006/relationships/notesMaster" Target="/ppt/notesMasters/notesMaster1.xml" Id="Ref8727352fb04e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범위 기준: https://hyeonwoona0861.github.io/study/speech-and-audio-recognition/midterm-review/ ; Lecture 6–7 source separation은 제외한다.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공개 총정리의 전체 흐름: https://hyeonwoona0861.github.io/study/speech-and-audio-recognition/midterm-review/#전체-흐름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https://hyeonwoona0861.github.io/assets/pdfs/study/speech-and-audio-recognition/speech-audio-lecture-02.pdf#page=5 ; 캡처: https://hyeonwoona0861.github.io/assets/images/study/speech-and-audio-recognition/source-captures/speech-02-p05.png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https://hyeonwoona0861.github.io/assets/pdfs/study/speech-and-audio-recognition/speech-audio-lecture-02.pdf#page=37 ; 캡처: https://hyeonwoona0861.github.io/assets/images/study/speech-and-audio-recognition/source-captures/speech-02-p37.png</a:t>
            </a:r>
          </a:p>
          <a:p xmlns:a="http://schemas.openxmlformats.org/drawingml/2006/main">
            <a:r>
              <a:t>수식 검산: x_f[n]=exp(j2πfn/fs)일 때 어떤 정수 k에 대해 x_(f+kfs)[n]=x_f[n]이다. 복소 basis에서 5 kHz는 -3 kHz와 같은 표본이고, 실수 cosine의 짝수 대칭 때문에 zero-phase 3 kHz cosine과도 같다. 따라서 Fourier analysis는 겹침을 드러내지만 표본화 이후에 원래 성분을 재생성하지 못한다. 방지는 표본화 전 anti-alias low-pass filter와 필요 대역보다 충분히 높은 sampling rate로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https://hyeonwoona0861.github.io/assets/pdfs/study/speech-and-audio-recognition/speech-audio-lecture-02.pdf#page=26 ; 캡처: https://hyeonwoona0861.github.io/assets/images/study/speech-and-audio-recognition/source-captures/speech-02-p26.png</a:t>
            </a:r>
          </a:p>
          <a:p xmlns:a="http://schemas.openxmlformats.org/drawingml/2006/main">
            <a:r>
              <a:t>이산 시간에서 exp(j2π(k+qN)n/N)=exp(j2πkn/N)이므로 basis index는 modulo N로 같아진다. DFT bin의 직교성은 0,…,N-1의 서로 다른 나머지 class에 대해 성립한다. 이 직교성은 관측된 표본 안의 성분을 분리하지만, aliasing으로 같은 class에 접힌 원래 아날로그 주파수까지 구별하지는 못한다.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https://hyeonwoona0861.github.io/assets/pdfs/study/speech-and-audio-recognition/speech-audio-lecture-02.pdf#page=29 ; 캡처: https://hyeonwoona0861.github.io/assets/images/study/speech-and-audio-recognition/source-captures/speech-02-p29.png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https://hyeonwoona0861.github.io/assets/pdfs/study/speech-and-audio-recognition/speech-audio-lecture-02.pdf#page=32 ; 캡처: https://hyeonwoona0861.github.io/assets/images/study/speech-and-audio-recognition/source-captures/speech-02-p32.png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https://hyeonwoona0861.github.io/assets/pdfs/study/speech-and-audio-recognition/speech-audio-lecture-02-2.pdf#page=9 ; 캡처: https://hyeonwoona0861.github.io/assets/images/study/speech-and-audio-recognition/source-captures/speech-02-2-p09.png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https://hyeonwoona0861.github.io/assets/pdfs/study/speech-and-audio-recognition/speech-audio-lecture-02-2.pdf#page=14 ; 캡처: https://hyeonwoona0861.github.io/assets/images/study/speech-and-audio-recognition/source-captures/speech-02-2-p14.png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https://hyeonwoona0861.github.io/assets/pdfs/study/speech-and-audio-recognition/speech-audio-lecture-02-2.pdf#page=17 ; 캡처: https://hyeonwoona0861.github.io/assets/images/study/speech-and-audio-recognition/source-captures/speech-02-2-p17.png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3 및 공개 총정리: https://hyeonwoona0861.github.io/study/speech-and-audio-recognition/midterm-review/#31-wer는-정답-길이로-정규화한-편집-거리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https://hyeonwoona0861.github.io/assets/pdfs/study/speech-and-audio-recognition/speech-audio-lecture-03.pdf#page=47 ; 캡처: https://hyeonwoona0861.github.io/assets/images/study/speech-and-audio-recognition/source-captures/speech-03-p47.png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3 및 공개 총정리: https://hyeonwoona0861.github.io/study/speech-and-audio-recognition/midterm-review/#32-음향-frame과-문자-수는-같지-않다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https://hyeonwoona0861.github.io/assets/pdfs/study/speech-and-audio-recognition/speech-audio-lecture-03.pdf#page=33 ; 캡처: https://hyeonwoona0861.github.io/assets/images/study/speech-and-audio-recognition/source-captures/speech-03-p33.png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https://hyeonwoona0861.github.io/assets/pdfs/study/speech-and-audio-recognition/speech-audio-lecture-03.pdf#page=35 ; 캡처: https://hyeonwoona0861.github.io/assets/images/study/speech-and-audio-recognition/source-captures/speech-03-p35.png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https://hyeonwoona0861.github.io/assets/pdfs/study/speech-and-audio-recognition/speech-audio-lecture-03.pdf#page=41 ; 원문 요약의 각 항목을 뒤 슬라이드에서 나누어 설명한다.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pp.36,41; Lecture 4 p.2. produces alignment는 잠재 정렬과 추론 정렬을 뜻하며 정확한 forced timestamp 보장이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pp.37–41. 원문의 Perfect quality는 exhaustive search의 탐색 관점이며 실제 정답 인식 보장으로 옮기지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3 pp.37–41의 원리를 설명하는 자체 수치 예제. 나머지 출력 확률: b=0.11, ab=0.04, ba=0.04; 전체 합=1. 원문 p37 수치는 합이 1을 넘어 그대로 재사용하지 않았다.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https://hyeonwoona0861.github.io/assets/pdfs/study/speech-and-audio-recognition/speech-audio-lecture-03.pdf#page=40 ; 캡처: https://hyeonwoona0861.github.io/assets/images/study/speech-and-audio-recognition/source-captures/speech-03-p40.png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공개 총정리: https://hyeonwoona0861.github.io/study/speech-and-audio-recognition/midterm-review/#44-deep-speech-2와-conformer를-구조-역할로-비교한다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pp.42–45; Lecture 4 p.16. 구조의 문제의식과 해결책을 설명하며 과거 데이터셋의 성능을 보편적 우월성으로 일반화하지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https://hyeonwoona0861.github.io/assets/pdfs/study/speech-and-audio-recognition/speech-audio-lecture-03.pdf#page=43 ; 원문 전체 block을 따라 연산 순서와 residual 의미 해설.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https://hyeonwoona0861.github.io/assets/pdfs/study/speech-and-audio-recognition/speech-audio-lecture-03.pdf#page=44 ; 캡처: https://hyeonwoona0861.github.io/assets/images/study/speech-and-audio-recognition/source-captures/speech-03-p44.png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pp.46–48. T는 subsampling 뒤 encoder 길이. 정확한 길이는 kernel·padding에 의존한다. WordPiece·Unigram도 대안이며 문맥에 따른 발음과 짧은 출력 길이가 동기다. BPE 원본 그림은 앞 슬라이드 참조. 길이조건은 CTC collapse 규칙의 보충 설명.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https://hyeonwoona0861.github.io/assets/pdfs/study/speech-and-audio-recognition/speech-audio-lecture-04.pdf#page=4 ; pp.3–11의 고정 벡터와 attention 비교.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https://hyeonwoona0861.github.io/assets/pdfs/study/speech-and-audio-recognition/speech-audio-lecture-04.pdf#page=11 ; source/target axes and brightness inspected directly.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https://hyeonwoona0861.github.io/assets/pdfs/study/speech-and-audio-recognition/speech-audio-lecture-04.pdf#page=10 ; dot은 같은 차원 표현, bilinear는 차원에 맞는 W가 필요하다. Score 이후 입력 위치별 정규화를 구분한다.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pp.6–13. 수치 예제는 설명용 자체 예제. e,α,c의 출력 단계 u와 입력 위치 t를 구분한다.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pp.12–17 및 lecture-04-attention-and-rnn-transducer.md의 autoregressive 보강. EOS를 포함한 sequence probability와 teacher-forcing 조건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https://hyeonwoona0861.github.io/assets/pdfs/study/speech-and-audio-recognition/speech-audio-lecture-04.pdf#page=13 ; 자연로그, nats 단위. H(p,q)=H(p)+KL(p||q), p 고정 시 q=p에서 최소.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https://hyeonwoona0861.github.io/assets/pdfs/study/speech-and-audio-recognition/speech-audio-lecture-04.pdf#page=15 ; 캡처: https://hyeonwoona0861.github.io/assets/images/study/speech-and-audio-recognition/source-captures/speech-04-p15.png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https://hyeonwoona0861.github.io/assets/pdfs/study/speech-and-audio-recognition/speech-audio-lecture-04.pdf#page=16 ; 감소율은 단계 수에 의존한다.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p.17. 자체 수치 예제이며 log 점수, 길이 정규화, LM 없는 순수 확률 비교. Beam은 일반적으로 전역 최적을 보장하지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pp.15–20. p18의 서로 다른 연도·학습 설정 WER 수치를 architecture의 단독 인과 효과로 비교하지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pp.21–32. RNN-T 목표는 context dependent + streamable; prediction network와 external LM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https://hyeonwoona0861.github.io/assets/pdfs/study/speech-and-audio-recognition/speech-audio-lecture-04.pdf#page=37 ; 캡처: https://hyeonwoona0861.github.io/assets/images/study/speech-and-audio-recognition/source-captures/speech-04-p37.png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pp.22–32의 순차 도식. x₀–x₄, c·a·t와 blank 위치를 원문과 대조.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pp.33–41. 격자 바깥 불가능한 전이는 제외하고 해당 구현의 마지막 blank/종료 규약을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pp.36–41. 자체 내부 칸 예제; α(0,0)=1, 불가능한 상태=0. 실제 encoder 인덱스와 마지막 blank 규약에 맞춰 경계식은 별도로 적용한다. b와 ℓ은 서로 다른 상태에서 평가될 수 있으며 한 공통 softmax의 두 값으로 오해하지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4 PDF pp.33–41의 격자를 consumed-frame convention으로 명시한 보충 설명. 음향 인덱스 0..T−1, 출력 개수 0..U, T&gt;0. t=T에서는 α(T,u)=α(T−1,u)b(T−1,u), 이후 전이 없음. 최종 상태는 (T,U). 경계 규약이 다른 구현의 식과 섞지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https://hyeonwoona0861.github.io/assets/pdfs/study/speech-and-audio-recognition/speech-audio-lecture-04.pdf#page=42 ; 32×800×450×640×4=29,491,200,000 bytes. 표기 오류를 설명에서 정정. 구현에 따라 tensor materialization·checkpointing·mixed precision 차이가 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4 PDF p.42 재계산. 2,457,600,000 bytes=2.4576 GB를 소수 둘째 자리 반올림해 2.46 GB. 실제 GPU peak memory 측정값이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https://hyeonwoona0861.github.io/assets/pdfs/study/speech-and-audio-recognition/speech-audio-lecture-04.pdf#page=44 ; 캡처: https://hyeonwoona0861.github.io/assets/images/study/speech-and-audio-recognition/source-captures/speech-04-p44.png ; 표의 streaming 표시는 구현 조건에 따라 달라질 수 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pp.19–20,42–44. 세 모델의 정의를 한국어로 풀이한 원문 비교표 상세 해설.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pp.18–20,43–44. 원문 T는 단계 수를 단순화해 표기하므로 보편적인 점근 복잡도 정리로 재사용하지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https://hyeonwoona0861.github.io/assets/pdfs/study/speech-and-audio-recognition/speech-audio-lecture-04.pdf#page=43 ; L4 p18 같은 LAS 비교표. 자원 수치는 L3 p42의 소개값이며 최신 모델 성능·동일 조건 benchmark로 주장하지 않는다. 표의 Human 연도 표기는 농담성 표현으로 사실 연표에 재사용하지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pp.49–51; Lecture 4 pp.45–47. 원문 두 후보의 수치를 결합한 설명용 예제. BERT류 masked LM은 causal next-token LM과 동일하게 사용할 수 없으며 별도 점수화가 필요하다.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p.51; Lecture 4 p.47. 원문의 large/light model (ASR)는 LM 결합 설명에서 모호하므로 대형 LM 재점수화/가벼운 LM 반복 탐색으로 기능을 설명한다.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https://hyeonwoona0861.github.io/assets/pdfs/study/speech-and-audio-recognition/speech-audio-lecture-04.pdf#page=48 ; 결합부·gate의 세부 구현과 동결 범위는 방법별로 다르므로 이 도식만으로 모든 파라미터의 공동학습을 단정하지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https://hyeonwoona0861.github.io/assets/pdfs/study/speech-and-audio-recognition/speech-audio-lecture-05.pdf#page=11 ; pp.3–11의 순차 도식을 종합한 해설.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5 PDF pp.3–17. 예시는 분류 이해를 위한 설명. SSL은 넓은 unlabeled learning 안에서 supervision을 스스로 만드는 방식으로 볼 수 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https://hyeonwoona0861.github.io/assets/pdfs/study/speech-and-audio-recognition/speech-audio-lecture-05.pdf#page=12 ; 원문 소개의 범위 안에서 데이터 신호 출처를 해설. MMS에는 SSL 사전학습도 있으므로 단일 범주로 환원하지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https://hyeonwoona0861.github.io/assets/pdfs/study/speech-and-audio-recognition/speech-audio-lecture-05.pdf#page=16 ; pp.13–16 원문 단계 도식. 모든 SSL이 masking만 쓰는 것은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5 PDF pp.13–19. p17의 fast/better convergence, low-resource, foundation model bullet을 조건과 함께 상세 해설. p18 text SSL 계보는 학습 목표 차이로 설명.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https://hyeonwoona0861.github.io/assets/pdfs/study/speech-and-audio-recognition/speech-audio-lecture-05.pdf#page=17 ; 그래프에 실험조건·회귀 변환 세부가 없으므로 추가 효과 크기를 추정하지 않는다. Low-resource 동기를 설명하는 시각자료로만 사용한다.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5 PDF pp.19–20. '1 second ~16000 floats'는 16 kHz 조건의 sample 수이지 모든 녹음의 고정값이나 저장 포맷 보장이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https://hyeonwoona0861.github.io/assets/pdfs/study/speech-and-audio-recognition/speech-audio-lecture-05.pdf#page=20 ; 범례에 embedding·multimodal도 있음. 도식의 분류는 대표 특징이며 기법이 항상 배타적인 것은 아니다. 이번 상세 보강 범위는 이 페이지까지.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https://hyeonwoona0861.github.io/assets/pdfs/study/speech-and-audio-recognition/speech-audio-lecture-05.pdf#page=24 ; 캡처: https://hyeonwoona0861.github.io/assets/images/study/speech-and-audio-recognition/source-captures/speech-05-p24.png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https://hyeonwoona0861.github.io/assets/pdfs/study/speech-and-audio-recognition/speech-audio-lecture-05.pdf#page=31 ; 캡처: https://hyeonwoona0861.github.io/assets/images/study/speech-and-audio-recognition/source-captures/speech-05-p31.png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https://hyeonwoona0861.github.io/assets/pdfs/study/speech-and-audio-recognition/speech-audio-lecture-05.pdf#page=46 ; 캡처: https://hyeonwoona0861.github.io/assets/images/study/speech-and-audio-recognition/source-captures/speech-05-p46.png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범위와 역할 연결: https://hyeonwoona0861.github.io/study/speech-and-audio-recognition/midterm-review/#마지막-핵심-정리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69a20f71bd4a2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14201ab2b940c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e351b2f9e4446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5324475c134ce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037e762b81412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a982c093c744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CE7DAD-E244-48A2-8535-E63A44800B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DAF277F-36CA-42B9-A03B-F30C440B8AB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80EBDCC-A628-4442-9E7B-5CF10BB9AD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6CB38C4-3793-482E-923B-4520577D0A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8B11DAB-49BF-4106-A5EC-157AC1E4B0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E3F9885-6776-46D8-92BE-7713693E0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CF6EC8D-882B-41F5-BDFF-AC5D911AA5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E504556-28A6-4FCB-AC59-2FD4E132BB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05C1B46-2D1C-4831-AEE6-170904569E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EA150EA-AFB2-4C6C-BC77-0DC4443BEB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299f38abac4bda" /><Relationship Type="http://schemas.openxmlformats.org/officeDocument/2006/relationships/slideLayout" Target="/ppt/slideLayouts/slideLayout1.xml" Id="Re404c59243544054" /><Relationship Type="http://schemas.openxmlformats.org/officeDocument/2006/relationships/slideLayout" Target="/ppt/slideLayouts/slideLayout2.xml" Id="Ra24193b049ac43a4" /><Relationship Type="http://schemas.openxmlformats.org/officeDocument/2006/relationships/slideLayout" Target="/ppt/slideLayouts/slideLayout3.xml" Id="R8b0c545065be4619" /><Relationship Type="http://schemas.openxmlformats.org/officeDocument/2006/relationships/slideLayout" Target="/ppt/slideLayouts/slideLayout4.xml" Id="Rc0f3f3713c4b4635" /><Relationship Type="http://schemas.openxmlformats.org/officeDocument/2006/relationships/slideLayout" Target="/ppt/slideLayouts/slideLayout5.xml" Id="R401fb57c589c42db" /><Relationship Type="http://schemas.openxmlformats.org/officeDocument/2006/relationships/slideLayout" Target="/ppt/slideLayouts/slideLayout6.xml" Id="R7e86a065861744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04c59243544054"/>
    <p:sldLayoutId xmlns:r="http://schemas.openxmlformats.org/officeDocument/2006/relationships" id="2147483650" r:id="Ra24193b049ac43a4"/>
    <p:sldLayoutId xmlns:r="http://schemas.openxmlformats.org/officeDocument/2006/relationships" id="2147483651" r:id="R8b0c545065be4619"/>
    <p:sldLayoutId xmlns:r="http://schemas.openxmlformats.org/officeDocument/2006/relationships" id="2147483652" r:id="Rc0f3f3713c4b4635"/>
    <p:sldLayoutId xmlns:r="http://schemas.openxmlformats.org/officeDocument/2006/relationships" id="2147483653" r:id="R401fb57c589c42db"/>
    <p:sldLayoutId xmlns:r="http://schemas.openxmlformats.org/officeDocument/2006/relationships" id="2147483654" r:id="R7e86a065861744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094b68bed94fea" /><Relationship Type="http://schemas.openxmlformats.org/officeDocument/2006/relationships/notesSlide" Target="/ppt/notesSlides/notesSlide1.xml" Id="Rf93542a9724f418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c03ea0573846f8" /><Relationship Type="http://schemas.openxmlformats.org/officeDocument/2006/relationships/notesSlide" Target="/ppt/notesSlides/notesSlide2.xml" Id="R8f2993e0829b433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db084b3a424e76" /><Relationship Type="http://schemas.openxmlformats.org/officeDocument/2006/relationships/image" Target="/ppt/media/image.png" Id="Re748d0f5d4994ab7" /><Relationship Type="http://schemas.openxmlformats.org/officeDocument/2006/relationships/notesSlide" Target="/ppt/notesSlides/notesSlide3.xml" Id="Rd0cc662930e54f7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813747911f4b55" /><Relationship Type="http://schemas.openxmlformats.org/officeDocument/2006/relationships/image" Target="/ppt/media/image2.png" Id="R45b9c1af46c24cf1" /><Relationship Type="http://schemas.openxmlformats.org/officeDocument/2006/relationships/notesSlide" Target="/ppt/notesSlides/notesSlide4.xml" Id="R19c7ec520dfe43e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8cd7038cf34d42" /><Relationship Type="http://schemas.openxmlformats.org/officeDocument/2006/relationships/image" Target="/ppt/media/image3.png" Id="Re3b4e346c33b43ec" /><Relationship Type="http://schemas.openxmlformats.org/officeDocument/2006/relationships/notesSlide" Target="/ppt/notesSlides/notesSlide5.xml" Id="R8998384cdf5448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a7544793244673" /><Relationship Type="http://schemas.openxmlformats.org/officeDocument/2006/relationships/image" Target="/ppt/media/image4.png" Id="Rbb42991cb0274fb8" /><Relationship Type="http://schemas.openxmlformats.org/officeDocument/2006/relationships/notesSlide" Target="/ppt/notesSlides/notesSlide6.xml" Id="R98a50e6916f3408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916722ad214fb2" /><Relationship Type="http://schemas.openxmlformats.org/officeDocument/2006/relationships/image" Target="/ppt/media/image5.png" Id="R6e5c1f84bc114a5d" /><Relationship Type="http://schemas.openxmlformats.org/officeDocument/2006/relationships/notesSlide" Target="/ppt/notesSlides/notesSlide7.xml" Id="R613b817b2a314d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476b449c8e4bfb" /><Relationship Type="http://schemas.openxmlformats.org/officeDocument/2006/relationships/image" Target="/ppt/media/image6.png" Id="R0acec5ca293941eb" /><Relationship Type="http://schemas.openxmlformats.org/officeDocument/2006/relationships/notesSlide" Target="/ppt/notesSlides/notesSlide8.xml" Id="Rcc448abb5b8a4e3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9cb635dd74411f" /><Relationship Type="http://schemas.openxmlformats.org/officeDocument/2006/relationships/image" Target="/ppt/media/image7.png" Id="R0b75ee224e18489d" /><Relationship Type="http://schemas.openxmlformats.org/officeDocument/2006/relationships/notesSlide" Target="/ppt/notesSlides/notesSlide9.xml" Id="R70e2d8b78b9647c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79b00b63f347e7" /><Relationship Type="http://schemas.openxmlformats.org/officeDocument/2006/relationships/image" Target="/ppt/media/image8.png" Id="R65f055f533064e38" /><Relationship Type="http://schemas.openxmlformats.org/officeDocument/2006/relationships/notesSlide" Target="/ppt/notesSlides/notesSlide10.xml" Id="R81981dff0d504e6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a5d41c12564acf" /><Relationship Type="http://schemas.openxmlformats.org/officeDocument/2006/relationships/notesSlide" Target="/ppt/notesSlides/notesSlide11.xml" Id="R2d5a39108ae14f5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606d2820f5407e" /><Relationship Type="http://schemas.openxmlformats.org/officeDocument/2006/relationships/image" Target="/ppt/media/image9.png" Id="R1b49ffa3a61c438f" /><Relationship Type="http://schemas.openxmlformats.org/officeDocument/2006/relationships/notesSlide" Target="/ppt/notesSlides/notesSlide12.xml" Id="Rfcd064ac71c4466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176ac9d1324b38" /><Relationship Type="http://schemas.openxmlformats.org/officeDocument/2006/relationships/notesSlide" Target="/ppt/notesSlides/notesSlide13.xml" Id="R1611993ca40e450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16131ba4cf4d86" /><Relationship Type="http://schemas.openxmlformats.org/officeDocument/2006/relationships/image" Target="/ppt/media/image10.png" Id="R8d63072ba50947b8" /><Relationship Type="http://schemas.openxmlformats.org/officeDocument/2006/relationships/notesSlide" Target="/ppt/notesSlides/notesSlide14.xml" Id="R339c47af4af4430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73868b6d7c4624" /><Relationship Type="http://schemas.openxmlformats.org/officeDocument/2006/relationships/image" Target="/ppt/media/image11.png" Id="R880f58812085412f" /><Relationship Type="http://schemas.openxmlformats.org/officeDocument/2006/relationships/notesSlide" Target="/ppt/notesSlides/notesSlide15.xml" Id="Rcab189db5061440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44d5ea57684a7f" /><Relationship Type="http://schemas.openxmlformats.org/officeDocument/2006/relationships/image" Target="/ppt/media/image12.png" Id="R4232a5807aef4831" /><Relationship Type="http://schemas.openxmlformats.org/officeDocument/2006/relationships/notesSlide" Target="/ppt/notesSlides/notesSlide16.xml" Id="Rf89b954586e54c2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754a95b10e43ef" /><Relationship Type="http://schemas.openxmlformats.org/officeDocument/2006/relationships/notesSlide" Target="/ppt/notesSlides/notesSlide17.xml" Id="R4e11338ed072406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549fb9f0ed4dd2" /><Relationship Type="http://schemas.openxmlformats.org/officeDocument/2006/relationships/notesSlide" Target="/ppt/notesSlides/notesSlide18.xml" Id="R76d098f7dc6048a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eba90304824c42" /><Relationship Type="http://schemas.openxmlformats.org/officeDocument/2006/relationships/notesSlide" Target="/ppt/notesSlides/notesSlide19.xml" Id="R3c76f305ae264a3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3af974e62e4497" /><Relationship Type="http://schemas.openxmlformats.org/officeDocument/2006/relationships/image" Target="/ppt/media/image13.png" Id="R180c751bc83a46bc" /><Relationship Type="http://schemas.openxmlformats.org/officeDocument/2006/relationships/notesSlide" Target="/ppt/notesSlides/notesSlide20.xml" Id="R19342b338f74407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230dfd10604263" /><Relationship Type="http://schemas.openxmlformats.org/officeDocument/2006/relationships/notesSlide" Target="/ppt/notesSlides/notesSlide21.xml" Id="Re3e68a8142a2476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a2768e9b324584" /><Relationship Type="http://schemas.openxmlformats.org/officeDocument/2006/relationships/notesSlide" Target="/ppt/notesSlides/notesSlide22.xml" Id="Re3cedbefdbc948c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2602c3e5df47ce" /><Relationship Type="http://schemas.openxmlformats.org/officeDocument/2006/relationships/image" Target="/ppt/media/image14.png" Id="R9e9e0eec0a214b5a" /><Relationship Type="http://schemas.openxmlformats.org/officeDocument/2006/relationships/notesSlide" Target="/ppt/notesSlides/notesSlide23.xml" Id="R938de1fc82cc4b7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1dbe23acd9466c" /><Relationship Type="http://schemas.openxmlformats.org/officeDocument/2006/relationships/image" Target="/ppt/media/image15.png" Id="Re22725ffa03f4ca5" /><Relationship Type="http://schemas.openxmlformats.org/officeDocument/2006/relationships/notesSlide" Target="/ppt/notesSlides/notesSlide24.xml" Id="Rf35dc400d82c453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15ac66a7f84048" /><Relationship Type="http://schemas.openxmlformats.org/officeDocument/2006/relationships/notesSlide" Target="/ppt/notesSlides/notesSlide25.xml" Id="R2125aa34624e493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a03dcd8c7648d1" /><Relationship Type="http://schemas.openxmlformats.org/officeDocument/2006/relationships/notesSlide" Target="/ppt/notesSlides/notesSlide26.xml" Id="R6b694c73ffac466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f7788bf5a34d99" /><Relationship Type="http://schemas.openxmlformats.org/officeDocument/2006/relationships/image" Target="/ppt/media/image16.png" Id="Rc6db0f45e8cd4839" /><Relationship Type="http://schemas.openxmlformats.org/officeDocument/2006/relationships/notesSlide" Target="/ppt/notesSlides/notesSlide27.xml" Id="R6ac4d904d328479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c1c5d81aa547df" /><Relationship Type="http://schemas.openxmlformats.org/officeDocument/2006/relationships/image" Target="/ppt/media/image17.png" Id="R41552ffeb9aa4be5" /><Relationship Type="http://schemas.openxmlformats.org/officeDocument/2006/relationships/notesSlide" Target="/ppt/notesSlides/notesSlide28.xml" Id="R9e592d3172484c7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6045888e654cb7" /><Relationship Type="http://schemas.openxmlformats.org/officeDocument/2006/relationships/notesSlide" Target="/ppt/notesSlides/notesSlide29.xml" Id="R82af5a8a437f450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35d668402249da" /><Relationship Type="http://schemas.openxmlformats.org/officeDocument/2006/relationships/notesSlide" Target="/ppt/notesSlides/notesSlide30.xml" Id="Rcc0fc3aa7e3c4d4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c77d3d6a224f99" /><Relationship Type="http://schemas.openxmlformats.org/officeDocument/2006/relationships/notesSlide" Target="/ppt/notesSlides/notesSlide31.xml" Id="R91034d9666c041d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1fbf24c4c54200" /><Relationship Type="http://schemas.openxmlformats.org/officeDocument/2006/relationships/image" Target="/ppt/media/image18.png" Id="Rb038abce44c24dcd" /><Relationship Type="http://schemas.openxmlformats.org/officeDocument/2006/relationships/notesSlide" Target="/ppt/notesSlides/notesSlide32.xml" Id="Re3c8b33e5e1a49d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df17e147cc42b9" /><Relationship Type="http://schemas.openxmlformats.org/officeDocument/2006/relationships/image" Target="/ppt/media/image19.png" Id="R8ca1511994974e4d" /><Relationship Type="http://schemas.openxmlformats.org/officeDocument/2006/relationships/notesSlide" Target="/ppt/notesSlides/notesSlide33.xml" Id="R7e767d8f084b443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a3c9a502f4420f" /><Relationship Type="http://schemas.openxmlformats.org/officeDocument/2006/relationships/notesSlide" Target="/ppt/notesSlides/notesSlide34.xml" Id="R52c13538ada3432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fc5a98df574e13" /><Relationship Type="http://schemas.openxmlformats.org/officeDocument/2006/relationships/notesSlide" Target="/ppt/notesSlides/notesSlide35.xml" Id="R21cf92ed0c434d5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947153baa14113" /><Relationship Type="http://schemas.openxmlformats.org/officeDocument/2006/relationships/notesSlide" Target="/ppt/notesSlides/notesSlide36.xml" Id="Rf5b66d3f8fd0436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b0bd5bc0e14149" /><Relationship Type="http://schemas.openxmlformats.org/officeDocument/2006/relationships/image" Target="/ppt/media/image20.png" Id="R10bc43f5be934c31" /><Relationship Type="http://schemas.openxmlformats.org/officeDocument/2006/relationships/notesSlide" Target="/ppt/notesSlides/notesSlide37.xml" Id="R87e85f28768440ae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720b93b71546e5" /><Relationship Type="http://schemas.openxmlformats.org/officeDocument/2006/relationships/notesSlide" Target="/ppt/notesSlides/notesSlide38.xml" Id="R95ce531a411748b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9db15c979c43c0" /><Relationship Type="http://schemas.openxmlformats.org/officeDocument/2006/relationships/notesSlide" Target="/ppt/notesSlides/notesSlide39.xml" Id="R44f0fe33a213478d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f7cfe4b075406e" /><Relationship Type="http://schemas.openxmlformats.org/officeDocument/2006/relationships/notesSlide" Target="/ppt/notesSlides/notesSlide40.xml" Id="R75900e6d95b84ec5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d81978fd304890" /><Relationship Type="http://schemas.openxmlformats.org/officeDocument/2006/relationships/notesSlide" Target="/ppt/notesSlides/notesSlide41.xml" Id="R7279f82943314ff4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9cc33533c34ca6" /><Relationship Type="http://schemas.openxmlformats.org/officeDocument/2006/relationships/image" Target="/ppt/media/image21.png" Id="R87deb48dee5947fe" /><Relationship Type="http://schemas.openxmlformats.org/officeDocument/2006/relationships/notesSlide" Target="/ppt/notesSlides/notesSlide42.xml" Id="Ra5c4840be5784e2b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e5d30ecc6d40f1" /><Relationship Type="http://schemas.openxmlformats.org/officeDocument/2006/relationships/notesSlide" Target="/ppt/notesSlides/notesSlide43.xml" Id="Rdd24b77a3cb04e9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c09e3a7bcb4dea" /><Relationship Type="http://schemas.openxmlformats.org/officeDocument/2006/relationships/image" Target="/ppt/media/image22.png" Id="R3b409e6ad79a49cf" /><Relationship Type="http://schemas.openxmlformats.org/officeDocument/2006/relationships/notesSlide" Target="/ppt/notesSlides/notesSlide44.xml" Id="R7705228882e24485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e76e764fa44b47" /><Relationship Type="http://schemas.openxmlformats.org/officeDocument/2006/relationships/notesSlide" Target="/ppt/notesSlides/notesSlide45.xml" Id="Rc2091113ac474f65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66a9a05a5f4d32" /><Relationship Type="http://schemas.openxmlformats.org/officeDocument/2006/relationships/notesSlide" Target="/ppt/notesSlides/notesSlide46.xml" Id="Rbf5010dc058a4e6f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cfe73bbb3a4bbf" /><Relationship Type="http://schemas.openxmlformats.org/officeDocument/2006/relationships/image" Target="/ppt/media/image23.png" Id="R31da06bb4f2745f1" /><Relationship Type="http://schemas.openxmlformats.org/officeDocument/2006/relationships/notesSlide" Target="/ppt/notesSlides/notesSlide47.xml" Id="R06465abc7e614cf6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955a6d8f51423e" /><Relationship Type="http://schemas.openxmlformats.org/officeDocument/2006/relationships/notesSlide" Target="/ppt/notesSlides/notesSlide48.xml" Id="R4448c705c7f64a06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6a73004f05440d" /><Relationship Type="http://schemas.openxmlformats.org/officeDocument/2006/relationships/notesSlide" Target="/ppt/notesSlides/notesSlide49.xml" Id="Ra238f8ea256d47e6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b76f4a4d9742c4" /><Relationship Type="http://schemas.openxmlformats.org/officeDocument/2006/relationships/image" Target="/ppt/media/image24.png" Id="R9246cc023280407b" /><Relationship Type="http://schemas.openxmlformats.org/officeDocument/2006/relationships/notesSlide" Target="/ppt/notesSlides/notesSlide50.xml" Id="R69134b050932459d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63a3654c264356" /><Relationship Type="http://schemas.openxmlformats.org/officeDocument/2006/relationships/image" Target="/ppt/media/image25.png" Id="Rc0dced5d69f94555" /><Relationship Type="http://schemas.openxmlformats.org/officeDocument/2006/relationships/notesSlide" Target="/ppt/notesSlides/notesSlide51.xml" Id="R09d66788ce63490f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bb653b90554f1a" /><Relationship Type="http://schemas.openxmlformats.org/officeDocument/2006/relationships/notesSlide" Target="/ppt/notesSlides/notesSlide52.xml" Id="R116efbffe64545bc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d95a4484074cd4" /><Relationship Type="http://schemas.openxmlformats.org/officeDocument/2006/relationships/notesSlide" Target="/ppt/notesSlides/notesSlide53.xml" Id="R96032f48b5ee4321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5c5edfbaa14c3f" /><Relationship Type="http://schemas.openxmlformats.org/officeDocument/2006/relationships/image" Target="/ppt/media/image26.png" Id="R86ef5f50221e4e10" /><Relationship Type="http://schemas.openxmlformats.org/officeDocument/2006/relationships/notesSlide" Target="/ppt/notesSlides/notesSlide54.xml" Id="R30aff1717a3347d0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107aacebe94dfc" /><Relationship Type="http://schemas.openxmlformats.org/officeDocument/2006/relationships/notesSlide" Target="/ppt/notesSlides/notesSlide55.xml" Id="Rea1b7455aa4446d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560f76c3cb4ced" /><Relationship Type="http://schemas.openxmlformats.org/officeDocument/2006/relationships/image" Target="/ppt/media/image27.png" Id="R3f7d0ff77cd845e1" /><Relationship Type="http://schemas.openxmlformats.org/officeDocument/2006/relationships/notesSlide" Target="/ppt/notesSlides/notesSlide56.xml" Id="Re2676692300a46f0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933daddffe45dd" /><Relationship Type="http://schemas.openxmlformats.org/officeDocument/2006/relationships/notesSlide" Target="/ppt/notesSlides/notesSlide57.xml" Id="R9e848b83df2d4f4b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4d166b57a94be6" /><Relationship Type="http://schemas.openxmlformats.org/officeDocument/2006/relationships/image" Target="/ppt/media/image28.png" Id="R12d5ef6047854eb2" /><Relationship Type="http://schemas.openxmlformats.org/officeDocument/2006/relationships/notesSlide" Target="/ppt/notesSlides/notesSlide58.xml" Id="R36b2ae82fe0e449e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118860281d4f4f" /><Relationship Type="http://schemas.openxmlformats.org/officeDocument/2006/relationships/image" Target="/ppt/media/image29.png" Id="R81e11ad6e92f4c2e" /><Relationship Type="http://schemas.openxmlformats.org/officeDocument/2006/relationships/notesSlide" Target="/ppt/notesSlides/notesSlide59.xml" Id="Rafe94305cd8f471d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99b14957b8415d" /><Relationship Type="http://schemas.openxmlformats.org/officeDocument/2006/relationships/image" Target="/ppt/media/image30.png" Id="R177d4bc3e62e4269" /><Relationship Type="http://schemas.openxmlformats.org/officeDocument/2006/relationships/notesSlide" Target="/ppt/notesSlides/notesSlide60.xml" Id="R09e650db62bb4071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0594863e7040fe" /><Relationship Type="http://schemas.openxmlformats.org/officeDocument/2006/relationships/image" Target="/ppt/media/image31.png" Id="Rd1428145aa774d35" /><Relationship Type="http://schemas.openxmlformats.org/officeDocument/2006/relationships/notesSlide" Target="/ppt/notesSlides/notesSlide61.xml" Id="Rf8869f3273f847c8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aa215577a14cb6" /><Relationship Type="http://schemas.openxmlformats.org/officeDocument/2006/relationships/notesSlide" Target="/ppt/notesSlides/notesSlide62.xml" Id="Re451cbcb547d4e6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F1702E-017F-4D42-88D2-B82BD597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204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Speech and Audio Recognition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0AC786-23A5-44E0-A1F9-D95AD2E4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Midterm 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2981F5-81A0-42C4-A07D-1E31C4EC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52875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소리의 표본화부터 전사 없는 표현 학습까지 연결한다.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EC569-E2DA-4751-9E1D-EB81BEB3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95875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Midterm Review · Lecture 2–5</a:t>
            </a:r>
          </a:p>
          <a:p xmlns:a="http://schemas.openxmlformats.org/drawingml/2006/main">
            <a: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Signal → Spectrum → Alignment → Representation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0B21E4-682D-4779-A43A-E2C37F2CC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214346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2F9ACB-1948-478E-8F02-2A19D0D2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Exam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413F40-3EAA-4D92-8FEF-BFD0A173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각 장은 정보를 남기는 방식과 학습 target을 바꾼다.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CBB88C-7A60-4E29-A878-14CDD09E3B8D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2781300"/>
                <a:gridCol w="2781300"/>
                <a:gridCol w="27813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Stage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Input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Core question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Output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Digitize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pressure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언제·얼마나 측정?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PCM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Analyze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samples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어느 주파수가 언제?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STFT/Mel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Align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frames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token과 어떻게 대응?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CTC/LAS/RNN-T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Pre-train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unlabeled audio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target을 어디서 생성?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speech features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FE2E0B-FA49-4515-AE82-DFC88295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신호 처리에서는 보존 정보와 손실 조건을, ASR에서는 정렬과 출력 이력을 구분한다.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SSL에서는 transcript 없이 target을 만드는 방식을 비교한다.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D05BF0-3F94-4144-A34E-602C95F0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355830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DB08BB-CF00-4187-B077-24C88BEF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Sampling and PCM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7ECB85-397F-4F60-9E35-67FC4206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Sampling은 시간, quantization은 진폭을 이산화한다.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3FFF68-399C-45A4-8F86-D1FB9D3806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8d0f5d4994ab7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CCF904-D916-4F7F-B98F-5804FEEE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16-bit·44.1 kHz·stereo PCM의 payload는 16×44,100×2=1,411,200 bit/s다.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낮은 sampling rate와 낮은 bit depth는 서로 다른 정보를 잃는다.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85F045-DB05-4DB8-BCAC-A9B4FDD2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05 — analog pressure, sampling, quantization, PCM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47A3DD-DD15-4F3B-A7CA-EC1C24DB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482293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B8BF2-5CE5-4A1B-A2E0-2722EAFF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Nyquist and Aliasing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330694-8300-4232-93E1-B7A9DFA9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Fourier basis는 표본의 주파수 성분을 분석한다. Aliasing 방지는 표본화 전에 결정된다.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C8F991-FB40-4F0A-851F-E3E9F4C80F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b9c1af46c24cf1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47629C-42EA-449E-9C12-04BBCD59B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fs=8 kHz에서 zero-phase 5 kHz와 3 kHz cosine은 같은 표본을 만든다: cos(2π·5n/8)=cos(2π·3n/8).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표본화 전 anti-alias low-pass filter와 충분한 fs가 겹침을 막는다. FFT 길이나 window는 이미 잃은 원 주파수를 복원하지 못한다.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B0138A-8429-4BFE-8D00-5F93658D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37 — spectral replicas overlap when Nyquist is not satisfied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5A04AB-D83A-4210-8B8B-F609A549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311090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B1FBA4-8F4F-4BB2-BFB6-E7C2837C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Orthogonal Fourier Bases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195481-C744-4F3D-A0A1-EEDD24E6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서로 다른 harmonic basis의 한 주기 inner product는 0이다.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205E1B-AB82-4D3C-9972-22755A33B2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b4e346c33b43ec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9E198C-0BFA-4876-A300-BB036F9E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직교성은 inner product로 각 주파수 성분을 분리할 수 있다는 뜻이다.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 빨간 식의 조건이 뒤바뀌었다: n=m이면 P, n≠m이면 0이다.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Fourier coefficient는 각 basis 방향의 성분을 측정한다.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710283-B29D-4107-916C-9B8ACA39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26 — complex exponential bases and one-period inner product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4010E7-0C2D-4E45-BF33-2384551AF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385262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FB2078-03DD-45F6-94E0-0F3B3CD0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Series to Transform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B1D4DA-97FE-4415-9122-DC7D13A5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주기가 커지면 harmonic 간격이 좁아져 합이 적분으로 이어진다.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2A6AD2-32D9-457D-A8BD-9E2C9B7DE3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42991cb0274fb8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93CA08-10D0-4470-BE52-D6FCD08A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Fourier series는 주기 신호의 이산 harmonic 계수를, Fourier transform은 비주기 신호의 연속 spectrum을 표현한다.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정변환은 성분을 분석하고 역변환은 그 성분을 합성한다.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075914-CAA8-43E8-B957-A1DAE7BB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29 — increasing period turns frequency sums into an integral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64C851-68FB-41D3-BE49-37C9050F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745597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038BA6-A894-4E09-9665-0F163691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CTFS to DTFS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B75DAA-D656-48ED-B576-4F8D9ED9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한 주기를 N번 표본화하면 harmonic index가 N을 주기로 같아진다.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622163-EE73-45C8-901E-5BA0272278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5c1f84bc114a5d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965F4F-AA1C-4371-88D3-345A955BC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k와 k+qN은 표본 위에서 같은 basis이므로 CTFS 계수가 같은 나머지 class로 합쳐진다.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N&gt;2K와 제한된 harmonic bandwidth가 있어야 원래 계수를 겹침 없이 회수할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9D4189-CE36-433A-A739-CF5E2AEF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32 — periodic continuous signal and N uniform samples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976C0B-AFE9-4D19-B837-D746B4C9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504694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388990-691B-4A9C-8065-0D509FAB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STFT Framing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A32F2B-4522-4D89-8050-552D707A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STFT는 짧은 창을 이동하며 각 구간의 spectrum을 계산한다.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18F55-E08D-43F0-A0A8-4018DA6350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cec5ca293941eb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56377A-68A1-40D8-BFCA-D2633E56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16 kHz, L=400, H=160은 25 ms 창과 10 ms hop이다.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1초 신호를 center padding 없이 처리하면 98 frame, NFFT=512의 one-sided spectrum은 257 bin이다.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7C7244-AF1D-4645-BC1D-90349AC2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 Lab, PDF p. 09 — moving analysis window and overlap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90BF74-6838-4E4F-88D5-55435F932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958446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A3985-E2BC-4839-A0E7-644AA3A3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Window Trade-offs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42FA50-9A53-4AF0-A6F8-2D007039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Window는 leakage를 없애지 않고 main-lobe와 side-lobe의 절충을 바꾼다.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682749-F027-4548-A010-C8E2C302D9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75ee224e18489d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ADA491-0D79-4AB0-8A8A-C55C535D7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Rectangular window는 경계 불연속 때문에 먼 sidelobe가 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Hann window는 먼 leakage를 낮추지만 peak를 더 넓게 보이게 할 수 있다. 색 범위가 다르면 그림 밝기를 직접 비교하지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23981-E31E-4C64-8460-8EB1A648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 Lab, PDF p. 14 — rectangular and Hann STFT views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41361B-C188-482D-B8E5-B51056C7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076913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89ECEE-CDB9-4237-A31A-7C6EB82E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Mel Compression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AB65B1-7FB1-4020-9FF7-99660053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Mel filterbank와 log는 서로 다른 두 압축이다.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34329F-0627-4631-8C57-52541C2E6F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f055f533064e38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D3B390-0ED0-4E31-BB44-8F0F87AEE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Filterbank는 여러 Hz bin을 band별로 합쳐 주파수축을 줄인다. Log는 값의 dynamic range를 줄인다.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인식에는 유용하지만 phase와 세밀한 bin 정보를 잃으므로 원래 complex STFT를 일반적으로 복원할 수 없다.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6B5C3-54CA-4759-B11B-5FF41DC1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 Lab, PDF p. 17 — triangular Mel filters and Mel spectrogram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A4E222-AB43-4F31-B3FE-E890D13F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08861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2FC9F0-CA89-43F1-BCDC-10FDCC77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Word Error Rate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8ECAB4-C778-46B0-8111-B2539D1B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WER은 편집 오류 수를 정답 단어 수로 정규화한다.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E73CD5-E4BA-427C-9BC8-B9F44BD27B45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Symbol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Meaning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Example count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substitution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deletion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I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insertion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reference words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581180-1ABF-4948-AD2C-4F95B6AE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Reference 4단어에서 substitution 1, deletion 1, insertion 1이면 WER=(1+1+1)/4=0.75다.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Insertion이 많으면 WER은 1을 넘을 수 있다. 빈 reference에서는 별도 평가 규칙이 필요하다.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E200EE-EBB3-4DC9-97A8-862F193F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674709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72A23F-6E66-449C-9CF9-3C141641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Byte Pair Encoding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F4664B-209E-4FC6-9D33-0E051EBE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BPE는 corpus에서 자주 붙는 token pair를 반복 병합한다.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B3E5A-C870-4556-BB5F-157720C604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49ffa3a61c438f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78B80D-D6F1-4976-A40E-74FAE451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Training은 merge 순서를 만들고 저장한다. Inference는 새 문장에 같은 순서를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Subword는 출력 길이 U를 줄일 수 있지만 vocabulary V와 softmax 비용은 커질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C411D2-FBE4-44F1-B134-25A2D827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47 — BPE merge algorithm and toy sequence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39E283-7713-4C0A-9A40-6265E367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6417116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6FA35-9E9E-4E88-B287-B5B76E78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Blank and Paths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00EDDC-C122-4A3A-8DF4-B54C92CC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CTC blank는 frame 정렬을 허용하고 최종 전사에서는 제거된다.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11C7BB-98A8-4712-9B6D-18EDC0445F84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2781300"/>
                <a:gridCol w="2781300"/>
                <a:gridCol w="27813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Merge repeats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Drop blank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Output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 ε 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 ε 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 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ε a b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ε a 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 a b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 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D3BCC-57F6-4A20-A482-7EC159C9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Collapse는 연속 중복을 먼저 합친 뒤 blank를 제거한다.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따라서 L ε L은 LL이지만 L L은 L이다. 같은 label을 두 번 출력하려면 사이 blank가 필요하다.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560E4B-9B51-4CCE-9859-2EEAD9A0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3474490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E947DC-BA3C-40B7-84EE-ED98559A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Probability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98D59C-F8A9-4C75-B41E-57381761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한 문자열의 확률은 그 문자열로 collapse되는 모든 경로 확률의 합이다.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9EF28A-395B-415E-85CD-4B270B1654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3072ba50947b8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4F8EBA-77BD-4804-B12A-F3A14FED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각 frame의 분포는 encoder logit의 softmax에서 나온다. 한 경로 확률은 선택한 frame 확률의 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서로 배타적인 유효 경로를 더한 뒤 −log를 취해 CTC loss를 얻는다.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58E5E7-1584-4E45-A3D2-208EED37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33 — frame distributions and valid CTC paths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C80DA5-82FA-4325-A599-E47AFF3F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2806366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2A1896-578D-457E-8873-C779366F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Forward DP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51B747-1E2F-4878-925C-1F3F81A8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각 칸은 해당 상태에서 끝나는 모든 유효 부분 경로의 확률 합이다.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23ED32-FE6D-4D83-B294-64486C9FCE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0f58812085412f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5B9065-3F5E-4887-AA1F-AB5FADC9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Stay·한 칸 전진·허용된 두 칸 skip의 이전 합에 현재 frame 확률을 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P(ab|X)=0.2835+0.1308=0.4143. 유한 경로의 합이며 극한 수렴이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 합산식의 0.1038은 0.1308의 오기다.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F7567-C15C-48DB-A7D6-73708F1B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35 — forward probabilities and two terminal states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A5539D-E598-47F0-8693-CBA212CCC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2863419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B0AAE3-3456-4246-8A28-D0A5F436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Summary: The Whole Process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DCC5A3-0DC8-4929-A274-D71B2C7C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CTC는 정답의 발음 시각을 지정하지 않고 문자열 전체의 확률을 학습한다.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85929A-BFED-4423-AD49-60E95E793F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32a5807aef4831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0A3184-69C1-4B6E-8B27-E5C1FC75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왼쪽은 모델의 가정과 경로→문자열 변환이다. 오른쪽은 학습, 평가, beam 탐색의 순서다.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학습은 정답에 이르는 경로를 합한다. 추론은 정답을 모른 채 출력 후보를 찾는다. 둘은 같은 연산이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AC81B8-BDF9-496D-BAD9-BC500553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41 — CTC Summary; Korean walkthrough continues on the next slides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C523F0-056E-4F23-813D-CBA7D58A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9962198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BBA4ED-9746-4489-81C6-B7993930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Summary: Assumptions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B32419-69CD-48D7-B41C-57B74D23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조건부 독립은 음향 문맥이 없다는 뜻이 아니라 출력 이력을 직접 조건으로 쓰지 않는다는 뜻이다.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E66FD-9D3C-4C44-BBBD-F372EA72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P(경로|X)는 frame별 확률의 곱이다. 각 분포는 encoder가 읽은 X의 문맥에 의존하지만, 앞서 고른 문자를 다시 입력받지는 않는다.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26489C-381E-4465-A3B1-C3107E1D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Blank와 반복 병합으로 긴 frame 열을 짧은 문자열로 바꾼다. 학습 중 정렬을 잠재 경로로 다루므로 문자별 시작·종료 시각 정답이 필요 없다.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6C30E-66D9-4E3A-87B8-ED5B5224F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Streaming은 미래 전체를 기다리지 않는 encoder가 있을 때 가능하다. CTC를 쓴다는 사실만으로 양방향 encoder까지 실시간이 되지는 않는다.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FD9249-C0EB-4102-86CE-6862EB5A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59608133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EEEBC-6488-4362-8B0D-D28ACF2C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Summary: Train and Decode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509751-831E-449B-92A7-59646BA7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Loss를 계산할 때는 정답이 주어지고, decoding할 때는 정답을 찾아야 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E12FA1-521D-4B53-BD6B-587B7DED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학습: encoder → frame별 softmax → 정답으로 collapse되는 경로의 합 P(y|X) → −ln P(y|X). Forward DP가 이 합을 효율적으로 구한다.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1B1D1A-EB4D-4D17-B063-7883BD6F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추론: greedy는 frame별 최대값을 고르고 반복 병합·blank 제거를 한다. Prefix beam은 여러 문자열 후보의 경로 확률을 누적한다.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4F714-1A30-49D9-830A-CB03F828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Beam은 확장 → 같은 prefix의 확률 병합 → 상위 B개 유지 순으로 반복한다. B가 커져도 모델 자체의 인식 오류까지 사라지지는 않는다.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C678BF-CE23-4177-B516-B87AFF66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73255414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FE9D52-C3C6-4B45-BF79-5AACE490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CTC: Best Path vs. Best 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D76CA2-5737-4CEE-82A6-587F7660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두 frame 모두 P(ε)=0.5, P(a)=0.4, P(b)=0.1이라고 하자.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303D58-E1B9-47B9-98A8-7DE1ADB9D77B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Probability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Collapsed text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ε ε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0.5 × 0.5 = 0.25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빈 문자열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 a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0.4 × 0.4 = 0.16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 ε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0.4 × 0.5 = 0.20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ε a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0.5 × 0.4 = 0.20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6EE89-C934-47B1-9D0B-CFA9A0B4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주요 경로 4개를 표시했다. Greedy는 빈 문자열을 내지만 P(a|X)=0.16+0.20+0.20=0.56이다.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나머지 출력은 P(b)=0.11, P(ab)=P(ba)=0.04다. 다섯 출력의 확률 합은 1이다.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F4E66A-3862-4736-B629-514B9C41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2926933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18B453-891B-485A-A06A-8ED98DC7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Greedy vs. Beam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332BE8-C93F-42F7-9631-0286BD9F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최대 확률 경로가 최대 확률 문자열과 같다는 보장은 없다.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E57DD5-DE83-4D8C-AAAF-3F6A5F6EBD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0c751bc83a46bc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E6F24E-581B-4412-BA80-FE32B4E5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Greedy는 frame마다 한 token만 남긴다. Prefix beam search는 여러 prefix의 blank·non-blank 확률을 따로 누적한다.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유한 beam은 낮은 후보를 버리는 근사이며, 외부 LM을 쓰면 점수 scale과 length bonus도 확인한다.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3F979-F826-4D3E-B250-607B3CED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40 — prefix beam expansion and pruning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95CF4A-6FD4-4362-B941-8BFC5E34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9220861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37E257-DCC5-4B50-93AB-EFA58CA9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Deep Speech 2 vs. Conformer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48C88B-E780-47F8-98A2-ED17ED1B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Encoder 구조와 정렬 loss는 같은 선택 축이 아니다.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C7BEC2-0A10-48F2-98DF-11EFEB4508DD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36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2781300"/>
                <a:gridCol w="2781300"/>
                <a:gridCol w="27813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Model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Local pattern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Long context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Objective / role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Deep Speech 2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convolution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recurrent layers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 objective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Conformer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conv module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self-attention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encoder architecture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—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—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 marginalization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9D1120-16CC-453A-BA56-F63439DE6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Deep Speech 2는 convolution과 recurrent layers로 음향 표현을 만들고 CTC로 정렬한다.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Conformer는 self-attention의 넓은 문맥과 convolution의 국소 패턴을 한 encoder block에 결합한다. CTC와 함께 쓸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03A6A5-51C2-4E10-85E9-D42789B2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00593427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115FC4-6C14-4958-AAD4-3DA5456B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Encoders: What Changed?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78D6F-C765-4B34-9BB4-BFE0DC51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Deep Speech 2와 Conformer의 차이는 음향 문맥을 표현하는 방식에 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0AB680-8123-421C-959E-87936E5A9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Deep Speech 2는 convolution으로 음향 패턴을 추출하고 recurrent layer로 시간 문맥을 전달한다. CTC는 그 표현에서 정렬 없는 문자열 학습을 맡는다.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E0DA4B-CC80-4DCC-86BF-CB69073C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Conformer는 self-attention의 넓은 문맥과 convolution의 가까운 시간 패턴을 함께 활용한다. 가까운 발음 변화와 멀리 떨어진 단서가 모두 필요하기 때문이다.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3C592-5A31-4216-85A1-B51DCD42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Encoder를 Conformer로 바꿔도 loss가 자동으로 정해지지는 않는다. CTC, attention decoder, RNN-T와의 결합은 별도 설계 선택이다.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3E5D2-8BBC-4B85-8F61-C9A36579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52233391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F93979-1067-4C34-9059-EF358610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Conformer: Follow the Block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AC940-23AC-4F34-BF7D-CD9CC385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오른쪽 block은 아래에서 위로 읽는다. Attention 앞뒤를 feed-forward 층이 감싼다.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3A427-4F46-4967-8572-6937CE7763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9e0eec0a214b5a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964FF2-FFB7-4B7A-8B31-170ADCCC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½ FFN → self-attention → convolution → ½ FFN → layer normalization 순이다. 각 잔차 경로는 입력을 변환 결과에 더한다.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½은 FFN의 잔차 기여를 조절하는 계수다. 차원을 절반으로 줄인다는 뜻이 아니다. 시간 길이 축소는 왼쪽 subsampling이 맡는다.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7EAB14-73AF-4B76-A892-B6D4B8D6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43 — Conformer encoder and Macaron-style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00404-ABAB-469B-95CE-E856E1888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41117769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30D121-6DF6-4A64-9A29-C8CA5F1F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Conformer Convolution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65165E-64EA-4072-A0F6-8589AF48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Depthwise convolution은 채널별 시간 이웃을 처리하고 pointwise convolution은 채널을 섞는다.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A4BEA-A542-43DC-8ACC-4C3854FE8D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725ffa03f4ca5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7B85F3-73C4-4B50-AD69-E4615E79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GLU가 전달할 채널 정보를 조절하고 residual이 입력과 변환 결과를 합친다.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Subsampling stride 2를 두 번 쓰면 시간 길이는 대략 T/4지만 kernel·padding에 따라 정확한 길이는 달라진다.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3B8C60-DF53-48BC-AB8A-2876E1BF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44 — Conformer convolution module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3E47B6-AA94-4E6C-8DBE-AFDDF7F7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08197349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4A08AB-853F-485E-A2B5-F77EFA71E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Subword and Subsampling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F82446-694B-4153-8E42-D24AD1E0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Subword는 정답 길이 U를, subsampling은 입력 표현 길이 T를 줄인다.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C01731-E458-40A6-899B-43BC3A72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BPE는 학습 corpus에서 자주 붙는 token 쌍을 차례로 병합한다. 추론은 이미 정해진 병합 규칙을 적용한다. 단어 전체 사전보다 미지 단어를 분해하기 쉽다.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3A6E24-C0DD-4DAD-ADEB-6C1B9ACA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Subsampling은 1D stride convolution, 2D convolution·projection, frame 묶기·projection 등으로 시간축을 줄인다. Stride 2 두 번이면 대략 T/4다.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C0E6D3-8535-4BE6-AB9C-1B17256E7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CTC에는 T ≥ U + R이 필요하다. R은 이웃한 동일 정답 token 쌍의 수다. 'LL'은 blank가 필요해 최소 3 frame이다. 입력을 과도하게 줄이면 정렬이 불가능하다.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C84938-64FF-4EC6-94D7-04180408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0310250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CEECD8-EFF1-40D3-B8B4-4A30266F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From CTC to Attention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A23EC5-CF2E-46B6-827D-BAC50407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Attention은 다음 token을 만들 때 필요한 입력 위치를 다시 선택한다.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AA2823-0A58-4B18-9B43-E372FC54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한 개의 고정 벡터에 긴 입력을 모두 압축하면, 출력 단계별로 필요한 정보가 달라도 같은 요약을 써야 한다. Attention은 encoder의 위치별 표현을 남겨 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8E59B6-E638-456C-92AD-45DD3EBC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Decoder의 현재 상태와 각 입력 표현의 관련도를 계산한다. Softmax로 가중치를 만들고, 입력 표현들의 가중합을 현재 context로 사용한다.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F2B4AB-4950-4E6C-8EC7-0B7E2FB9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다음 출력 단계에서는 상태가 바뀌므로 가중치도 다시 계산한다. 번역의 단어 순서 변화와 음성 frame–문자 길이 차이를 유연하게 다룰 수 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EE0CF8-78E2-4812-8185-6AE0683C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19102735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CF45F5-6E67-49DC-82F0-08D7BAEA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Attention: Read the Heatmap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A185A5-E567-4DDE-B5E0-08C2C28C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각 행은 한 출력 단계가 어느 입력 위치에 높은 가중치를 주는지 보여 준다.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9999E-8F85-4DCB-B143-A115B15BB5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b0f45e8cd4839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8179E0-D080-4B49-9D6D-EF954533A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가로는 입력 영어 token, 세로는 출력 프랑스어 token이다. 밝은 칸일수록 해당 출력이 그 입력에 큰 attention을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밝은 칸이 항상 대각선에 있지는 않다. 어순이 달라질 수 있기 때문이다. 이 가중치는 학습된 참조 패턴이지 정답 정렬의 증명은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6424E8-64C8-43AF-B37A-24DDF0E50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11 — source-position softmax and input–output attention maps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46542F-C3EC-4B53-85E0-1AA3662C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85456913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114926-510C-438C-979C-FDA8338A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Attention: Three Scoring Functions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04FA2E-774A-4205-B917-50DE5AAD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관련도 score를 계산하는 함수는 바뀌어도 softmax와 가중합의 역할은 같다.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4D806B-07B8-42A8-874A-386A2C748A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552ffeb9aa4be5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3966FF-3A52-431E-87A2-0579AFA3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Dot product는 두 표현을 바로 내적한다. Bilinear는 학습 행렬 W를 사이에 두어 어떤 성분을 비교할지 배운다.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MLP는 두 표현을 결합하고 비선형 함수를 거쳐 점수를 만든다. 세 방식 모두 출력은 아직 확률이 아닌 scalar score다.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0B2CB-0954-482F-A8B2-57D591D4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10 — dot product, bilinear score, and an MLP score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4C23F4-9E6F-4C6B-8198-25BD885A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81918392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32CE36-3F68-4B21-8409-C5FF07C1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Attention: Read the Numbers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720C8F-5BC5-45C7-BBB3-7809C35D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Attention 가중치는 입력 위치에 대한 분포이며, 출력 단어 확률과 다르다.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30AAF-8567-43AC-9A0F-B0EF2E97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관련도 e(u,t) → α(u,t)=exp(e(u,t))/Σⱼexp(e(u,j)) → c(u)=Σₜα(u,t)h(t). 합이 1인 α로 입력 벡터를 섞는다.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3B517-DBE6-4CC6-92F7-BA262AE5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예: h₁=(1,2), h₂=(2,0), h₃=(0,4), α=(0.2,0.3,0.5)이면 c=(0.8,2.4)다. 세 번째 입력이 가장 큰 비중을 갖는다.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6483C8-A718-4DFE-B01B-6813D9BD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Decoder는 c와 이전 token 이력으로 어휘 확률을 계산한다. α₃=0.5라는 사실은 세 번째 단어를 50% 확률로 출력한다는 뜻이 아니다.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81C376-74EF-436E-8D8F-13187489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49360909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559C8B-FAA6-4044-8E0B-DFE7CEEF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Autoregressive Prediction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2BF449-CFC6-4DEE-B09D-AA6DDEC5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앞서 나온 token이 다음 token의 확률 분포를 바꾼다.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FAE125-0C90-4510-BDCB-5044780B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P(y|X)=∏ᵤP(yᵤ|y₍&lt;u₎,X). EOS도 예측한다. CTC는 X가 주어졌을 때 frame별 경로 기호를 독립으로 두지만, 여기서는 출력 prefix를 조건으로 쓴다.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612969-784F-4F69-99DA-2D41C112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Teacher forcing 학습은 정답 prefix를 넣는다. 추론에서는 모델이 생성한 prefix를 넣으므로 앞선 오답이 다음 예측을 흔들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C937FD-44B2-4ABF-ABDE-6209977D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 loss는 각 단계의 정답 token에 대한 −ln 확률을 합한다. 이는 하나의 출력 순서에 대한 계산이며 CTC의 여러 frame 정렬 경로 합과 다르다.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C8BCD9-5A5D-4448-9295-1DBA6977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38132363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598C0-B5BC-4F05-A195-D7C4B483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Cross Entropy: Why −log?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A4BBF-4528-416E-BA8C-91ACFACF2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정답에 큰 확률을 줄수록 손실이 작아진다.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3CE6D6-BD15-4AFC-BE35-D6345B58C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어휘가 cat·dog·bird이고 정답이 dog라면 p=(0,1,0)이다. q=(0.1,0.7,0.2)일 때 CE = −Σ p(i) ln q(i) = −ln(0.7) ≈ 0.357이다.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F5C71A-3A8A-42A7-841B-960BCFDE1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정답 확률이 0.2로 낮아지면 loss≈1.609로 커진다. 문장에서는 정답 확률들을 곱하는 대신 −log를 취해 단계별 loss를 더한다.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2C7FB5-0756-4614-B678-A6FE147B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원문의 'dot'은 vocabulary와 one-hot을 보면 'dog'의 오기다. Cross entropy는 대칭적 거리라기보다 정답 분포에 대한 예측의 로그 손실이다.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7C0E94-6E14-45C1-B4A7-1DEE8D74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58610081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F193DF-A8D7-420F-977C-EB7D66D24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Listen, Attend and Spell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9BEE74-4F6D-4EEA-BED4-24820C9C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LAS는 출력 단계마다 필요한 입력 위치를 attention으로 다시 고른다.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5A79B5-212C-4BB4-ACF6-FD5556E9BB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38abce44c24dcd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C4D8C5-8EEB-4989-9020-8DF2ECD5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Listener는 음향 frame을 인코딩하고 Attend는 가중합 context를 만든다. Speller는 context와 이전 token으로 다음 token을 생성한다.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학습은 정답 prefix를, 추론은 생성 prefix를 쓰므로 오류가 누적될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445152-2FAD-45D0-B044-0EE0D20A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15 — pyramidal listener, attention context, autoregressive speller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EF35D7-F015-485B-9EF0-BF0B36CB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52229654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5AB841-6B9A-42CB-9F91-F15E2D01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LAS: Why the Pyramid?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1EA958-4A67-4F61-BEAF-58D453D0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Listener가 이웃한 시간 표현을 묶어 attention이 읽을 길이를 줄인다.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92541A-D880-4A23-84AD-B2EF0905F0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a1511994974e4d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1B6074-FAE5-4E7F-8B8C-6232885D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그림은 인접 frame을 이어 붙여 상위 recurrent layer에 보내는 흐름이다. 두 번 절반으로 줄이면 T/4가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원문의 모델 설명은 8배 축소, 그림은 4배 축소다. 입력 정보가 공짜로 보존되는 것은 아니며 세부 시간 해상도와 계산량의 교환이다.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6CAD4F-A8C7-4785-8B72-1E2AC32DC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16 — 4× reduction in the diagram; 8× in the described LAS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DE5B6D-BD26-40D2-9AAD-1EDCB55F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8681518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0625A9-B583-4586-823D-5D142593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LAS: Greedy Can Miss the Best 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DF0D82-EBEC-43A1-8EDA-7E9E87F2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첫 단계 P(A)=0.6, P(B)=0.4. 다음 확률은 선택한 prefix마다 다르다.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9187A4-B4C4-4BA1-B168-80AD78C26A56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Sequence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Conditional probability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Sequence score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AC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P(C|A)=0.51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0.6 × 0.51 = 0.306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P(D|A)=0.49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0.6 × 0.49 = 0.294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BC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P(C|B)=0.90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0.4 × 0.90 = 0.360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P(D|B)=0.10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0.4 × 0.10 = 0.040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4B3BEF-6647-4741-800F-57BF93F3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Greedy는 A → C를 고른다. Beam 2는 B도 남겨 최종적으로 더 높은 BC를 찾는다.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설명용으로 길이를 2, 그 뒤 EOS 확률을 1로 둔다. CTC처럼 여러 정렬을 합한 예제는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104F34-075D-4CA3-BA86-B3C6089F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170342511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08F85F-8AB0-424E-B1D1-A4EF5471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LAS Summary: Strength and Cost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D012C8-CB5C-44F3-BBFC-B84A5B1B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LAS는 출력 문맥을 얻지만, 매 token의 생성과 attention 계산이 순차적으로 이어진다.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D690E-A023-4BE9-875B-82DD725D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CTC와 달리 이전 문자를 조건으로 다음 문자를 예측한다. Attention은 현재 출력에 필요한 음향 위치를 선택하며, frame별 정답 시각을 직접 요구하지 않는다.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7B57D4-5EB0-4D86-8BC6-E26E915F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기본 LAS는 전체 입력을 보는 Listener·attention 때문에 streaming에 적합하지 않다. 제한된 문맥이나 monotonic attention을 쓰는 변형과 구별해야 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2D9CE-F8E5-423B-AABC-04F386E56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음향 정렬의 불확실성을 모두 경로 합으로 푸는 CTC와 달리 LAS는 context를 통해 정렬을 학습한다. 출력 오류 누적과 긴 입력의 비용이 남는다.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D5DE5D-FC70-4DC3-995A-573CD58F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60169608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BD7EEF-5C76-412E-A0B8-74B9D268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RNN-T: Audio and Output History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8DF1E0-248C-4A1D-86BD-18CC05BA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RNN-T는 CTC의 시간 진행과 LAS의 출력 문맥을 함께 다루려는 모델이다.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08BA14-BC3C-4234-81B0-DADFCF28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Encoder f(t)는 입력 음향을, prediction network g(u)는 지금까지 출력한 u개 token을 표현한다. Joint network가 두 표현을 합쳐 token·blank 분포를 만든다.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6D171-EFAC-4CDB-8A71-07737B63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Blank를 내면 다음 음향 시점으로 간다. Token을 내면 음향 시점은 유지하고 출력 이력만 갱신한다. 하나의 시점에서 여러 token을 낼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F40657-5DA5-4328-BDEC-8B0162D3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Prediction network는 출력 prefix를 읽는다. 하지만 별도 텍스트로 학습한 외부 LM과 동일한 물체는 아니다. Streaming 역시 encoder 문맥 조건에 달린다.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E4CB88-C314-4153-8455-95C00DE3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81226462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C4D133-D7CD-4B4F-B11D-362A58FC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 Lattice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45F8D8-DF6D-4C1C-83CC-B3D55C5B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RNN-T는 acoustic time과 output prefix를 두 축으로 둔다.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E98DE5-A130-4FD0-8D2B-F1C82D3F01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bc43f5be934c31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75C175-0E99-4A07-B9F2-51C5094E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Blank는 (t,u)에서 (t+1,u)로 시간을 진행한다. Token은 (t,u+1)로 출력 길이를 늘린다.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Prediction network가 이전 출력 이력을 표현하므로 같은 frame에서도 여러 token을 낼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2E2C5C-3816-4C85-ADA2-3F35AE2C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37 — encoder and prediction-network axes in RNN-T training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1E6B9E-5928-44F8-8C18-6BB7C2B6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07556579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19C486-AA09-4245-ADED-1033E9DF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RNN-T: Walk Through Inference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4D20F3-3D09-451C-9FDC-EA606DB5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원문 cat 예제는 blank가 시간축, 문자가 출력축을 움직이는 모습을 보여 준다.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F23A43-CFBC-4D0B-9286-187A9DC3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빈 prefix에서 x₀의 blank를 선택하면 x₁로 간다. x₁에서 c를 출력하면 prefix는 c가 되지만 x₁에 머문다. 다음 blank가 x₂로 보낸다.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920565-3680-4B3A-8D8D-FA11DD16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x₂에서 a를, 다시 같은 x₂에서 t를 출력한다. 그 뒤 blank들이 남은 음향 시점을 소비한다. 'cat'은 3개 token이지만 3개 frame과 일대일 대응하지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6D23A2-1412-4746-86FA-0D19E80C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RNN-T의 반복 문자는 CTC처럼 병합하지 않는다. l 다음 l을 실제로 출력하면 ll이다. CTC의 collapse 규칙을 이 격자에 적용하면 안 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E089A0-32C8-4261-A291-E2507D06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173372200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01528-9620-4430-A47A-4BCCDBA8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RNN-T: Train Over All Alignments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2F48BD-C1F2-412B-8A92-F4981005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정답 문자열은 알아도 각 token이 어느 시점에서 나올지는 모르므로, 가능한 정렬을 합한다.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AA473B-0909-451E-948C-63F62C6F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학습에서는 정답 prefix별 g(u)와 음향 시점별 f(t)를 조합한다. 각 (t,u)의 softmax에서 blank 확률과 다음 정답 token 확률을 읽는다.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62103A-0936-48D2-8CBA-4CEAEA9E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한 정렬 경로는 선택한 전이 확률의 곱이다. 정답을 완성하고 입력을 소비하는 모든 단조 경로의 확률을 합해 P(y|X)를 얻는다.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4D8C8B-C76A-4EC7-986D-B5DE74BA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Loss=−ln P(y|X). 정답 token 시각을 하나로 고정하거나, greedy로 고른 한 경로만 학습하는 것이 아니다. Forward DP가 중복 부분 경로 계산을 줄인다.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9B33AD-5497-49E8-A399-15986522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86181365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25B499-53F6-4873-B122-995D9161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RNN-T: A Forward-DP Cell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14A917-4498-44AF-9831-91FCC249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같은 칸에 도달하는 두 방향의 확률을 더한다.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B67FCE-92D1-4AA5-8AA8-18966E59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α(t,u)는 t개 음향 시점을 지나 u개 정답 token을 낸 경로의 확률 합이다. 왼쪽에서는 blank, 아래에서는 정답 token을 내며 들어온다.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1AD5FA-A6CA-41D3-BC29-DCF86255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내부 칸: α(t,u)=α(t−1,u)b(t−1,u)+α(t,u−1)ℓ(t,u−1). b는 blank, ℓ은 다음 정답 token의 조건부 확률이다.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ABF2B-1B67-4FA8-8406-D6BEAE5F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예: 0.20×0.30 + 0.10×0.40 = 0.10. 두 항은 마지막 전이가 서로 다른 경로 묶음이다. 서로 배타적이라 합하며, 한 경로를 두 번 세지 않는다.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204D67-150C-4161-8B81-97D2A225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14456028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FE3A29-B319-4509-B8C1-BC66F9AA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 DP: Start, Boundary, Finish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ECD4FB-67A4-4299-A62C-6E3BD51C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T개 frame을 모두 소비하고 U개 정답 token을 내면 종료한다.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BD9CA6-643B-43A9-B5A3-84C67A1E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시작 α(0,0)=1, 불가능한 상태는 0이다. t&lt;T에서 blank는 (t,u)→(t+1,u), 다음 정답 token은 u&lt;U일 때 (t,u)→(t,u+1)로 이동한다.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D2BD28-27AE-4221-85FF-7941D849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첫 열 α(t,0)=α(t−1,0)b(t−1,0). 첫 행 α(0,u)=α(0,u−1)ℓ(0,u−1). 들어오는 방향이 하나뿐이므로 그 전이 확률만 곱한다.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0CC4E9-A660-4B1F-81B3-F99148E6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t=T에서는 token 전이가 없다. 마지막 frame에서 blank로 들어온 α(T,U)가 P(y|X)다. 따라서 존재하지 않는 f(T)를 계산하거나 마지막 blank를 다시 곱하지 않는다.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DF6C60-30BB-40E0-AC63-EDB76BCA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15912096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7A005E-D49B-4474-AB43-E8BD6AB0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 Properties: Memory Cost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6DB07A-C65B-47BE-9DAA-96B5DBC7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입력 길이 T와 정답 길이 U의 조합마다 joint 계산이 필요하다.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C30DF8-9947-422F-8A7C-77698D21CC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deb48dee5947fe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319F6A-028B-4AD6-8FE3-A2A967DA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원문은 batch·T·U·hidden 차원을 곱해 중간 tensor의 크기를 계산한다. FP32 한 원소는 4 byte다.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29.49라는 값의 단위는 Gb가 아니라 약 29.49 GB다. 이는 특정 tensor의 크기이며 전체 학습 메모리와 같지 않다.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73CA65-3FA3-4FF4-ACAF-FD0567F5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42 — joint-grid memory; GB (bytes), not Gb (bits)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3F39D-0D08-4208-AC7A-8CF0A4FE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41638507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EE77B6-7C03-44E5-B6F4-8C6D24E6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RNN-T: Length and Vocabulary Trade-off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055621-D7D8-4F50-8C40-A66F700F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T와 U를 줄여도 vocabulary V가 커지면 출력 tensor는 커질 수 있다.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6A51E6-5093-401C-B780-D520321ADFC8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Tensor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Character setup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Subword setup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B, T, U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32, 800, 450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32, 200, 150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Hidden width H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640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640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 × T × U × H × 4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29.49 GB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2.46 GB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 × T × U × V × 4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1.29 GB (V=28)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3.93 GB (V=1024)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4D4771-0044-426A-9A20-94E2941B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U=150은 원문 범위 100–180의 계산 예다. FP32·십진 GB이며 전체 학습 메모리는 아니다.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Subsampling·subword는 길이를 줄이지만, 큰 어휘의 softmax 비용도 함께 비교해야 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7AB1C8-4BF4-4648-B8E6-2121684AB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1281283617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FE9837-B666-45E8-941F-271A3141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CTC, LAS, and RNN-T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FC07DD-2E4E-420F-86D5-C882228D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세 모델은 같은 정렬 문제를 서로 다른 확률 구조로 푼다.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FBE73A-69B5-4DD2-BA33-BB5388E4B4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09e6ad79a49cf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5231D8-FB34-4B4D-9CF7-D6F34DA4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CTC는 출력 이력 없이 frame 경로를 합한다. LAS는 attention과 autoregressive prefix를 쓴다. RNN-T는 prefix와 시간축 경로를 함께 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Streaming 여부는 encoder 문맥과 실제 추론 설정까지 확인해야 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37439B-1D88-44DB-AE95-2343E373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44 — lecture comparison of CTC, LAS, and RNN-T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6069EF-C593-4D62-B2CB-E0854C1A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172795110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E1EE8E-B747-4995-861E-245462FF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Read the Comparison: Context and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7E9417-C705-4D7F-A535-341EC56DD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원문 표의 Context는 출력 token 이력, Streaming은 입력을 기다리는 조건에 관한 말이다.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D561EC-86AD-44E4-A1A5-F6CAE4AD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CTC의 Context=no는 음향 문맥이 없다는 뜻이 아니다. Encoder는 문맥을 볼 수 있지만 분포가 이전에 선택한 출력 token에 직접 의존하지 않는다.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E29094-DAA9-49E2-8EB2-FA1832E2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LAS와 RNN-T는 출력 prefix를 사용한다. 기본 LAS는 전체 입력 attention을 쓰고, RNN-T는 blank를 통해 시간을 진행해 streaming 구조로 만들기 쉽다.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C9B857-0322-428D-BD17-8073DC59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CTC·RNN-T도 양방향 전체 문맥 encoder면 미래 입력을 기다린다. 표의 yes/no는 기본 구조의 성질이지 모든 구현에 대한 무조건적 보장이 아니다.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B55504-7BA5-49D5-B15D-C5CED50B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614216732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63BAB-3E43-4507-834D-B1FF21AC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Read the Comparison: Decoding Cost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17D217-0C0A-427D-B1E9-BF1F1497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복잡도 표의 핵심은 '출력 이력마다 decoder를 다시 계산하는가'이다.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4F1E3C-526E-4256-A881-E884BC45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CTC는 encoder가 frame 분포를 만들면 후보 경로들이 그 분포를 공유한다. Beam을 늘리면 경로 누적·병합 계산은 늘지만 별도 AR decoder가 생기지는 않는다.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2C2F85-DC40-4154-B1BB-BA9C79F9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LAS·RNN-T는 prefix마다 상태가 다르므로 후보별 decoder 또는 joint 계산이 필요하다. Beam을 늘릴 때 확률 누적 외에 신경망 계산 부담도 커질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79EDEB-DC78-4691-A405-6BCE417B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원문의 enc·dec·T·bs 식은 개략 비교다. 실제 비용은 입력 T, 출력 U, 어휘 V, beam B, cache와 batching에 달린다. 연도별 WER만으로 구조의 우열도 단정하지 않는다.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1B6EE-C668-4CC8-9A5D-880F2270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173158663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BEA0DD-487C-4150-8EC9-23848931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Read the Results: WER and Conditions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2CC622-17C2-46F1-B2C6-CCE74CA5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WER은 낮을수록 좋지만, 다른 학습 조건의 결과를 구조 하나의 효과로 볼 수는 없다.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77494C-6392-404D-876C-525D83351E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da06bb4f2745f1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9A5548-18C8-4FDE-9F4B-5389F53A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표는 DS2, LAS, RNN-T의 서로 다른 연도 결과다. Test-clean과 test-other도 나눠 읽어야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L3는 DS2에 11.9k시간·35M parameter·16 GPU·3–5일을 제시한다. 데이터와 자원 차이까지 봐야 하며 이 표만으로 구조의 우열을 확정할 수 없다.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901145-604F-462B-ABEE-574B3791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43 — reported WER values under different years and training settings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61840C-70AA-48E2-B500-D59D75DF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1518513201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C9E65F-D7FF-4D2F-8A44-AA6F786B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Language Models: Why Add One?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C104E4-5750-4B71-8175-07DCE36F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소리가 비슷한 후보를 언어 문맥으로 구별한다.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6DE33D-4C14-4099-A7A4-092CF9B1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원문의 'go two a movie'와 'go to a movie'는 소리만으로 헷갈릴 수 있다. LM은 문장 문맥에서 어느 token 열이 자연스러운지 점수를 준다.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158084-C261-4D9E-A1FC-0BD93A73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설명용 λ=1, 길이 보정 없음: 0.21×0.01=0.0021, 0.19×0.60=0.114. 음향 점수는 낮아도 LM 결합 점수에서 'to' 후보가 앞설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00B52-410B-4619-8F78-FD5F9AB1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보통 log P_ASR(y|X)+λ log P_LM(y)+길이 보정을 사용한다. 이는 재정규화된 확률이 아닌 탐색 점수이며, λ가 너무 크면 음향 증거를 압도할 수 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61D784-501C-4BA5-B472-9E26615B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12935077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88FD81-77B8-46F8-B8A0-AEF3252B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Rescoring vs. Shallow Fusion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2428D9-9281-4D62-A165-A131A4B5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언어모델을 탐색이 끝난 뒤 쓰는지, 후보를 남길 때부터 쓰는지가 다르다.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8CACB8-8BDF-46FE-A7F5-01C2BF13C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Second-pass rescoring: ASR이 만든 N-best 후보를 LM으로 다시 정렬한다. 첫 탐색에서 이미 버린 문장은 되살릴 수 없다. 비싼 LM도 제한된 후보에 쓸 수 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7B00AE-3DAD-45CA-8B97-42EBF9844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Shallow fusion: beam 확장 단계마다 ASR log 점수와 LM log 점수를 더한다. LM이 중간 후보의 생존에 영향을 주지만 반복 호출 비용이 든다.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5A0158-D3F5-4718-BC48-F0F75581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두 방식 모두 ASR·LM을 따로 학습할 수 있다. 단순 점수 결합은 내부 feature를 함께 학습하는 deep·cold fusion과 구분한다.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443FDD-728B-4E42-ACCC-CBEE56B4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114788997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79A448-332A-47A5-AB63-5A3AEE37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Deep Fusion vs. Cold Fusion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786C2F-1CDC-43BB-BD74-845690A8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그림의 차이는 사전학습 LM을 ASR 학습에 언제 연결하는가이다.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E8D8EB-8C16-4342-BDCF-FB70532C14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46cc023280407b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1D7BCB-55E7-466B-8536-3E4F4099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위쪽 deep fusion: 따로 학습한 ASR·LM의 내부 표현을 연결하고 결합부를 학습한다. 단순 log 점수 덧셈이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아래쪽 cold fusion: 사전학습 LM을 ASR 학습 단계부터 활용한다. ASR이 LM에 맡길 언어 정보와 음향 정보를 함께 분담하도록 배운다.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CD34B6-8692-4492-BEC5-574E6869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48 — separately trained models vs. LM-conditioned ASR training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9C229F-1202-46B9-BD60-0257E2DF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9643142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ACFBC7-764A-4C92-8178-1752CD847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Learning Paradigms: Read the Source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4CAEC7-B530-4914-89A2-15DA5667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그림은 같은 데이터를 다루더라도 정답 신호의 출처가 다를 수 있음을 보여 준다.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8E2803-B672-450E-B8B7-3938B2DDE0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ced5d69f94555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C77B7C-291A-40E4-932B-14507D94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Supervised는 명시적 정답, unsupervised는 별도 정답 없는 구조 탐색이다. Semi-supervised는 labeled·unlabeled 자료를 함께 활용한다.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아래 hashtag 예시는 weak supervision이다. 자료와 연결된 불완전한 신호를 이용하며, 입력 자체에서 target을 만드는 SSL과 구분한다.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0A213D-321A-48FF-AB15-BCD58927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11 — learning paradigms and weak supervision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7DCF06-7066-4942-B6C5-5DBED62A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115498628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0E78C6-D813-4BAA-9387-BF133C8F9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Learning Paradigms: The Target Source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2A507-81FE-4016-BBE0-792684F7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무엇을 정답으로 삼는지 먼저 물으면 학습 방식이 구별된다.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FA8B88-AC94-4484-8640-35E561ED94B0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Paradigm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Supervision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Speech example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Supervised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사람이 준 정답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음성–전사 쌍으로 ASR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Unsupervised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명시적 정답 없음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음성 표현의 군집화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Semi-supervised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정답 있음 + 없음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전사 자료 + pseudo-label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Self-supervised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입력에서 target 구성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가린 음성 표현 예측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7CC6C-81D6-4149-A5B2-B0AE4F061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이 분류는 완전히 배타적이지 않다. SSL 사전학습 뒤 supervised fine-tuning을 할 수 있다.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 파이프라인 전체와 개별 학습 목표의 분류를 혼동하지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31BEF9-55F2-4EF1-AEE2-E2928796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1069538675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435423-5A77-45F6-94B9-76CA9989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Weak Supervision Is Not No Supervision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5CA1A7-8048-41FD-AE4C-7A3DC40D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전사가 완벽하지 않아도 음성과 연결된 텍스트를 학습 신호로 쓸 수 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6F1E32-764A-4309-BD34-7E43288C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원문은 Whisper의 인터넷 음성–텍스트 680k시간과 MMS의 1,000개 이상 언어를 소개한다. 대규모로 연결된 자료를 활용한다는 점이 핵심이지 두 수치의 단위가 같은 것은 아니다.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2B125B-73CD-4FC1-A5D9-64A48C86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자료가 크다고 label이 정확해지는 것은 아니다. 잡음 있는 대응, 도메인 편향, 언어별 차이를 점검해야 한다. MMS 전체 학습 단계를 모두 weak-only로 분류하지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C87CD4-EBB1-4AB0-AAEC-6B4EEE47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SSL의 핵심은 별도 전사 대신 입력에서 target을 만드는 것이다. Weak supervision은 불완전하더라도 외부에서 연결된 label 신호가 있다는 차이가 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B26D88-02A3-4D36-9F38-F8A56FCC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370623582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ED4CEA-C173-4C10-AFA8-6F83DAF7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Self-Supervision: Input Becomes Target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74D53C-E181-4C43-B8CE-CCE30ACA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학습할 답이 없는 것이 아니라, 입력 자료에서 답을 구성한다.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25829B-9FDB-4388-9FE2-83ED4F182D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ef5f50221e4e10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9CB465-E1CB-467B-B953-899CB5D5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가운데는 일부를 가린 입력, 오른쪽은 원래 자료에서 얻은 target이다. 모델은 보이는 문맥으로 가린 부분을 예측한다.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정답을 통째로 입력에 노출하면 복사로 풀릴 수 있다. 어떤 부분을 가리고, 무엇을 맞히게 하느냐가 학습되는 표현을 결정한다.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22C8E0-173B-4502-A21E-5B92AED0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16 — masked input and targets derived from the original 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06110A-13FD-4EBD-BEF8-51BB74D9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726344965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72805C-39A9-4ED0-A610-917305A9F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SSL: Objective, Benefit, and Limit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F4A5F-9C49-45B4-BF6F-7A21AAEC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사전학습에서 배운 표현을 적은 전사 자료로 ASR에 적응시킨다.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397138-45C9-4C76-B976-6D6E13F4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입력 변형 → target 구성 → 모델 예측 → loss 계산이 사전학습 문제다. 텍스트에서는 가린 token 또는 다음 token을 예측하지만 모든 SSL 방식이 같지는 않다.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086730-7AD0-43C0-8EC0-2950E1D4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원문의 빠른 수렴·적은 label·대규모 표현은 기대 효과다. Task와 자료가 맞을 때 도움이 되며, 도메인 차이·잡음·부적절한 target이면 개선을 보장하지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308547-E35D-4D98-BD89-71E8C0B5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사전학습 target을 잘 맞히는 것과 문자를 정확히 전사하는 것은 다르다. ASR fine-tuning에서는 전사와 CTC 같은 task loss로 목적을 다시 맞춘다.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E5A112-EFD3-4696-9F6B-005FD171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55</a:t>
            </a:r>
          </a:p>
        </p:txBody>
      </p:sp>
    </p:spTree>
    <p:extLst>
      <p:ext uri="{BB962C8B-B14F-4D97-AF65-F5344CB8AC3E}">
        <p14:creationId xmlns:p14="http://schemas.microsoft.com/office/powerpoint/2010/main" val="49794028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B0BF66-617B-425C-B1F7-9045DF90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SSL Motivation: Read the Data Plot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12EBAB-A858-4889-8F14-FBE92583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전사 자료가 적을수록 어려워지는 문제를 보여 주는 그래프다. SSL의 인과 효과를 증명하는 그래프는 아니다.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6D030F-661F-4737-B124-6AC35C4EEB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d0ff77cd845e1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C5E5F2-0710-455D-9BA0-AA467E72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가로는 전사 음성 시간, 세로는 WER이며 둘 다 로그 눈금이다. 언어별 점에서 자료량이 클수록 WER이 낮아지는 경향을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r²=0.83은 이 관계의 회귀 적합도다. 자료량만이 원인이라는 뜻도, SSL을 쓰면 WER이 83% 감소한다는 뜻도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6C04F-7018-48D7-9DCF-3A51234A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17 — transcribed hours vs. WER; association is not a causal SSL gain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10F0E8-EEB4-4987-A4A2-EB67B9CF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2083634068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425CD1-0894-429B-9197-F0A6B62E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Speech SSL: Why Targets Are Difficult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9F1581-A52A-48E9-A3C0-89798311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음성 파형은 연속값이며, 처음부터 단어 사전처럼 나뉘어 있지 않다.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60CC17-15CA-452A-A881-BC7B7E6C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16 kHz mono 음성 1초는 16,000개 sample이다. 각 값은 단어 token이 아니며 화자·잡음·위상 같은 변화도 포함한다. 무엇을 보존할지 선택해야 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B37C3E-1FD6-4673-871D-2737B3DD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원파형 복원만 잘하면 언어 내용을 반드시 잘 이해하는 것은 아니다. 문맥 예측, 후보 구별, 표현의 군집화 등 서로 다른 target 설계가 가능하다.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8E5566-D719-428E-9EB2-93AF53B0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따라서 음성 SSL은 입력 표현·가리는 방식·target·loss를 함께 본다. 다음 wav2vec 2.0에서는 연속 표현에서 이산 target을 만드는 방법으로 이어진다.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7F9444-260A-405B-A1F6-4259C4BB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2019987507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A03860-6C3D-442F-8492-F66BB0F5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Speech SSL Timeline: Read the Families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4E8C1E-7B10-4130-80A6-A5FFD6BE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계보의 핵심은 모델 이름보다 학습 신호를 만드는 방식이다.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548042-495A-46A8-985A-A6B7EF7D65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5ef6047854eb2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AA8EAB-935F-4E43-B6DF-3C82B7B51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범례는 generative·contrastive·predictive 등 목표의 계열을 나눈다. 복원할지, 후보를 구별할지, target label을 예측할지가 서로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이 그림은 2015–2022년 흐름이며 성능 순위표가 아니다. 강의는 여기서 wav2vec 2.0과 HuBERT를 골라 target 설계를 비교한다.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FC18E-A95D-4D7C-8195-7B458DA3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20 — historical speech SSL families, not a performance ranking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218E1-750C-4663-A376-ACDB4D2B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58</a:t>
            </a:r>
          </a:p>
        </p:txBody>
      </p:sp>
    </p:spTree>
    <p:extLst>
      <p:ext uri="{BB962C8B-B14F-4D97-AF65-F5344CB8AC3E}">
        <p14:creationId xmlns:p14="http://schemas.microsoft.com/office/powerpoint/2010/main" val="2110702066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DE5B0B-67A0-450A-A67C-5DA51E5D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wav2vec 2.0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68C0B4-E80A-4054-A864-D020E3EF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가린 latent 위치를 주변 음성 문맥으로 표현한다.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1CF5A-F83B-4DB9-AAE6-E139EAFF0A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e11ad6e92f4c2e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7C11F1-FDFA-4FFC-8C9A-F8328501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CNN이 waveform을 z_t로 바꾸고, 일부 위치를 mask embedding으로 치환한 뒤 Transformer가 c_t를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Masking은 spectral mask로 음원을 복원하는 연산이 아니라 사전학습 문제를 만드는 절차다.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741981-F7E5-4DAE-B434-AE483E37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24 — CNN latent sequence, masked positions, Transformer context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A8F2A6-F821-4A2D-9EC6-1112667C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1206201732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2F4EB6-A50C-4F98-B7F7-3836BE00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wav2vec 2.0 Targets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5CF960-0F2C-427A-89FB-1A2C290B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Context c_t는 같은 위치의 quantized target q_t를 distractor보다 잘 골라야 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F16969-6331-4DB2-9945-5BF477A2B5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7d4bc3e62e4269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168DEE-5638-4FD9-BCE7-33446FBB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가리지 않은 z_t는 product quantizer를 거쳐 q_t가 된다. Contrastive loss는 positive와 후보를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Diversity objective는 일부 code entry만 쓰는 collapse를 줄인다. q_t는 문자 label이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D66813-B854-4709-B86B-C854B181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31 — online quantization, contrastive loss, diversity loss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CB4C1-EC16-462B-9581-086A7FD5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499233990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E5F4D0-BF13-4A89-9631-286928AB6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HuBERT Hidden Units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02FE5B-E2BE-40BD-A735-5C3110EA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HuBERT는 offline clustering으로 만든 ID를 가린 위치에서 예측한다.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CB21CA-FFF7-49D1-AC1A-E9AA25BF71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28145aa774d35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D13D93-EB78-4FBC-85D5-C858D5FD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첫 target은 MFCC 등의 feature를 k-means로 묶어 만든다. 7·20·5는 cluster ID이며 음소 이름이나 크기 순서가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이전 HuBERT layer를 다시 clustering해 target을 개선할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6EB052-DA3C-4169-A21B-9E0A278D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46 — offline k-means pseudo-labels and masked prediction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4C56C4-2F39-4F29-A44F-90A660DC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61</a:t>
            </a:r>
          </a:p>
        </p:txBody>
      </p:sp>
    </p:spTree>
    <p:extLst>
      <p:ext uri="{BB962C8B-B14F-4D97-AF65-F5344CB8AC3E}">
        <p14:creationId xmlns:p14="http://schemas.microsoft.com/office/powerpoint/2010/main" val="2049859784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D658F2-1F49-469A-A018-0621EA91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Final Recap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7AE8C9-38CB-4326-832F-3A7A3FE2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표현, encoder, 정렬 목표는 서로 다른 설계 축이다.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3D56A8-6687-4691-9974-1A2134F0D6A2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Question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Method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Answer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무엇을 보존?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STFT/Mel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time-frequency / compressed bands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어떻게 정렬?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CTC/LAS/RNN-T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paths / attention / 2-D lattice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어떻게 인코딩?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DS2/Conformer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RNN / attention+conv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target은 어디서?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wav2vec 2.0/HuBERT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quantizer / clustering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155C79-6204-457D-98DD-B309DA2E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FFT는 DFT 계산법이고, Mel은 지각적 축약이다. Conformer는 encoder이며 CTC는 정렬 목표다.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wav2vec 2.0은 online quantized target, HuBERT는 offline cluster target을 쓴 뒤 labeled ASR로 fine-tuning한다.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2DBE65-1683-4F76-A066-3AE0F3A5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12091133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2026-10-19T03:31:29.5480000Z</dcterms:created>
  <dcterms:modified xsi:type="dcterms:W3CDTF">2026-10-19T03:31:29.5480000Z</dcterms:modified>
</coreProperties>
</file>
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ab0650d5bd4121" /><Relationship Type="http://schemas.openxmlformats.org/officeDocument/2006/relationships/extended-properties" Target="/docProps/app.xml" Id="R613fa7b2a65443de" /><Relationship Type="http://schemas.openxmlformats.org/officeDocument/2006/relationships/officeDocument" Target="/ppt/presentation.xml" Id="Rd2cd9ebe857e42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137b4e60c44316"/>
  </p:sldMasterIdLst>
  <p:notesMasterIdLst>
    <p:notesMasterId xmlns:r="http://schemas.openxmlformats.org/officeDocument/2006/relationships" r:id="Rb44e7a93041b4d43"/>
  </p:notesMasterIdLst>
  <p:sldIdLst>
    <p:sldId xmlns:r="http://schemas.openxmlformats.org/officeDocument/2006/relationships" id="256" r:id="Rf8ad3c18f76c4297"/>
    <p:sldId xmlns:r="http://schemas.openxmlformats.org/officeDocument/2006/relationships" id="257" r:id="R81ecba7624de48f5"/>
    <p:sldId xmlns:r="http://schemas.openxmlformats.org/officeDocument/2006/relationships" id="258" r:id="R130d8159be3045a2"/>
    <p:sldId xmlns:r="http://schemas.openxmlformats.org/officeDocument/2006/relationships" id="259" r:id="R181f34fece0f4672"/>
    <p:sldId xmlns:r="http://schemas.openxmlformats.org/officeDocument/2006/relationships" id="260" r:id="R770e598ee6104971"/>
    <p:sldId xmlns:r="http://schemas.openxmlformats.org/officeDocument/2006/relationships" id="261" r:id="R58b94bfcde814dd4"/>
    <p:sldId xmlns:r="http://schemas.openxmlformats.org/officeDocument/2006/relationships" id="262" r:id="Rb006a91f98c74ad7"/>
    <p:sldId xmlns:r="http://schemas.openxmlformats.org/officeDocument/2006/relationships" id="263" r:id="Recb99d2617a94ea1"/>
    <p:sldId xmlns:r="http://schemas.openxmlformats.org/officeDocument/2006/relationships" id="264" r:id="R29cb6cfc160246c5"/>
    <p:sldId xmlns:r="http://schemas.openxmlformats.org/officeDocument/2006/relationships" id="265" r:id="R21e96c7755ea4f9d"/>
    <p:sldId xmlns:r="http://schemas.openxmlformats.org/officeDocument/2006/relationships" id="266" r:id="Rcd293b3ef9624e27"/>
    <p:sldId xmlns:r="http://schemas.openxmlformats.org/officeDocument/2006/relationships" id="267" r:id="R7fd29b9d3e3348da"/>
    <p:sldId xmlns:r="http://schemas.openxmlformats.org/officeDocument/2006/relationships" id="268" r:id="R43160ada619d4d47"/>
    <p:sldId xmlns:r="http://schemas.openxmlformats.org/officeDocument/2006/relationships" id="269" r:id="Rc86d1436b2a44685"/>
    <p:sldId xmlns:r="http://schemas.openxmlformats.org/officeDocument/2006/relationships" id="270" r:id="Rd8a7ee32c36149cd"/>
    <p:sldId xmlns:r="http://schemas.openxmlformats.org/officeDocument/2006/relationships" id="271" r:id="R4524f05fc6384192"/>
    <p:sldId xmlns:r="http://schemas.openxmlformats.org/officeDocument/2006/relationships" id="272" r:id="R36b3052c17944f3a"/>
    <p:sldId xmlns:r="http://schemas.openxmlformats.org/officeDocument/2006/relationships" id="273" r:id="R26e65fd512a44a51"/>
    <p:sldId xmlns:r="http://schemas.openxmlformats.org/officeDocument/2006/relationships" id="274" r:id="R58c9bb32a0a24800"/>
    <p:sldId xmlns:r="http://schemas.openxmlformats.org/officeDocument/2006/relationships" id="275" r:id="Rf9d6557e173b4ef3"/>
    <p:sldId xmlns:r="http://schemas.openxmlformats.org/officeDocument/2006/relationships" id="276" r:id="Rc9841119e1934d61"/>
    <p:sldId xmlns:r="http://schemas.openxmlformats.org/officeDocument/2006/relationships" id="277" r:id="Rf3fe7f560b2540d2"/>
    <p:sldId xmlns:r="http://schemas.openxmlformats.org/officeDocument/2006/relationships" id="278" r:id="Raeb780d6c93440ae"/>
    <p:sldId xmlns:r="http://schemas.openxmlformats.org/officeDocument/2006/relationships" id="279" r:id="R505f45b9a0d54497"/>
    <p:sldId xmlns:r="http://schemas.openxmlformats.org/officeDocument/2006/relationships" id="280" r:id="R1911e24d054745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2bbbf9b6dc4269" /><Relationship Type="http://schemas.openxmlformats.org/officeDocument/2006/relationships/slideMaster" Target="/ppt/slideMasters/slideMaster1.xml" Id="R61137b4e60c44316" /><Relationship Type="http://schemas.openxmlformats.org/officeDocument/2006/relationships/notesMaster" Target="/ppt/notesMasters/notesMaster1.xml" Id="Rb44e7a93041b4d43" /><Relationship Type="http://schemas.openxmlformats.org/officeDocument/2006/relationships/presProps" Target="/ppt/presProps.xml" Id="Rf6ad31152556428e" /><Relationship Type="http://schemas.openxmlformats.org/officeDocument/2006/relationships/tableStyles" Target="/ppt/tableStyles.xml" Id="Rf5847f9dc6244847" /><Relationship Type="http://schemas.openxmlformats.org/officeDocument/2006/relationships/slide" Target="/ppt/slides/slide1.xml" Id="Rf8ad3c18f76c4297" /><Relationship Type="http://schemas.openxmlformats.org/officeDocument/2006/relationships/slide" Target="/ppt/slides/slide2.xml" Id="R81ecba7624de48f5" /><Relationship Type="http://schemas.openxmlformats.org/officeDocument/2006/relationships/slide" Target="/ppt/slides/slide3.xml" Id="R130d8159be3045a2" /><Relationship Type="http://schemas.openxmlformats.org/officeDocument/2006/relationships/slide" Target="/ppt/slides/slide4.xml" Id="R181f34fece0f4672" /><Relationship Type="http://schemas.openxmlformats.org/officeDocument/2006/relationships/slide" Target="/ppt/slides/slide5.xml" Id="R770e598ee6104971" /><Relationship Type="http://schemas.openxmlformats.org/officeDocument/2006/relationships/slide" Target="/ppt/slides/slide6.xml" Id="R58b94bfcde814dd4" /><Relationship Type="http://schemas.openxmlformats.org/officeDocument/2006/relationships/slide" Target="/ppt/slides/slide7.xml" Id="Rb006a91f98c74ad7" /><Relationship Type="http://schemas.openxmlformats.org/officeDocument/2006/relationships/slide" Target="/ppt/slides/slide8.xml" Id="Recb99d2617a94ea1" /><Relationship Type="http://schemas.openxmlformats.org/officeDocument/2006/relationships/slide" Target="/ppt/slides/slide9.xml" Id="R29cb6cfc160246c5" /><Relationship Type="http://schemas.openxmlformats.org/officeDocument/2006/relationships/slide" Target="/ppt/slides/slide10.xml" Id="R21e96c7755ea4f9d" /><Relationship Type="http://schemas.openxmlformats.org/officeDocument/2006/relationships/slide" Target="/ppt/slides/slide11.xml" Id="Rcd293b3ef9624e27" /><Relationship Type="http://schemas.openxmlformats.org/officeDocument/2006/relationships/slide" Target="/ppt/slides/slide12.xml" Id="R7fd29b9d3e3348da" /><Relationship Type="http://schemas.openxmlformats.org/officeDocument/2006/relationships/slide" Target="/ppt/slides/slide13.xml" Id="R43160ada619d4d47" /><Relationship Type="http://schemas.openxmlformats.org/officeDocument/2006/relationships/slide" Target="/ppt/slides/slide14.xml" Id="Rc86d1436b2a44685" /><Relationship Type="http://schemas.openxmlformats.org/officeDocument/2006/relationships/slide" Target="/ppt/slides/slide15.xml" Id="Rd8a7ee32c36149cd" /><Relationship Type="http://schemas.openxmlformats.org/officeDocument/2006/relationships/slide" Target="/ppt/slides/slide16.xml" Id="R4524f05fc6384192" /><Relationship Type="http://schemas.openxmlformats.org/officeDocument/2006/relationships/slide" Target="/ppt/slides/slide17.xml" Id="R36b3052c17944f3a" /><Relationship Type="http://schemas.openxmlformats.org/officeDocument/2006/relationships/slide" Target="/ppt/slides/slide18.xml" Id="R26e65fd512a44a51" /><Relationship Type="http://schemas.openxmlformats.org/officeDocument/2006/relationships/slide" Target="/ppt/slides/slide19.xml" Id="R58c9bb32a0a24800" /><Relationship Type="http://schemas.openxmlformats.org/officeDocument/2006/relationships/slide" Target="/ppt/slides/slide20.xml" Id="Rf9d6557e173b4ef3" /><Relationship Type="http://schemas.openxmlformats.org/officeDocument/2006/relationships/slide" Target="/ppt/slides/slide21.xml" Id="Rc9841119e1934d61" /><Relationship Type="http://schemas.openxmlformats.org/officeDocument/2006/relationships/slide" Target="/ppt/slides/slide22.xml" Id="Rf3fe7f560b2540d2" /><Relationship Type="http://schemas.openxmlformats.org/officeDocument/2006/relationships/slide" Target="/ppt/slides/slide23.xml" Id="Raeb780d6c93440ae" /><Relationship Type="http://schemas.openxmlformats.org/officeDocument/2006/relationships/slide" Target="/ppt/slides/slide24.xml" Id="R505f45b9a0d54497" /><Relationship Type="http://schemas.openxmlformats.org/officeDocument/2006/relationships/slide" Target="/ppt/slides/slide25.xml" Id="R1911e24d054745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fb27cb4a0b4e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929cda7cc2482b" /><Relationship Type="http://schemas.openxmlformats.org/officeDocument/2006/relationships/notesMaster" Target="/ppt/notesMasters/notesMaster1.xml" Id="R882eb2ec0c004a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dd046ad36749eb" /><Relationship Type="http://schemas.openxmlformats.org/officeDocument/2006/relationships/notesMaster" Target="/ppt/notesMasters/notesMaster1.xml" Id="Rdd692d3a4f8b42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c775522841499a" /><Relationship Type="http://schemas.openxmlformats.org/officeDocument/2006/relationships/notesMaster" Target="/ppt/notesMasters/notesMaster1.xml" Id="R7476d8216cab46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d7bab95e0f40e7" /><Relationship Type="http://schemas.openxmlformats.org/officeDocument/2006/relationships/notesMaster" Target="/ppt/notesMasters/notesMaster1.xml" Id="Rcf935632ffcd45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7ce3a830884f44" /><Relationship Type="http://schemas.openxmlformats.org/officeDocument/2006/relationships/notesMaster" Target="/ppt/notesMasters/notesMaster1.xml" Id="R11e238fa2f3f42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3fc820c4c749ac" /><Relationship Type="http://schemas.openxmlformats.org/officeDocument/2006/relationships/notesMaster" Target="/ppt/notesMasters/notesMaster1.xml" Id="R615cabc0572742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bbbb7d6d5a4de6" /><Relationship Type="http://schemas.openxmlformats.org/officeDocument/2006/relationships/notesMaster" Target="/ppt/notesMasters/notesMaster1.xml" Id="Ra2d555c40c5b42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f9218c97cd4616" /><Relationship Type="http://schemas.openxmlformats.org/officeDocument/2006/relationships/notesMaster" Target="/ppt/notesMasters/notesMaster1.xml" Id="R8ba5f90a62834d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4c510fb7bf47e5" /><Relationship Type="http://schemas.openxmlformats.org/officeDocument/2006/relationships/notesMaster" Target="/ppt/notesMasters/notesMaster1.xml" Id="R1b9d46e3439c49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1e0932a4f2478e" /><Relationship Type="http://schemas.openxmlformats.org/officeDocument/2006/relationships/notesMaster" Target="/ppt/notesMasters/notesMaster1.xml" Id="R21f1b73cfbeb4d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fe0f3656754c8a" /><Relationship Type="http://schemas.openxmlformats.org/officeDocument/2006/relationships/notesMaster" Target="/ppt/notesMasters/notesMaster1.xml" Id="R6ab4ba9824274d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cf8c6015b0409e" /><Relationship Type="http://schemas.openxmlformats.org/officeDocument/2006/relationships/notesMaster" Target="/ppt/notesMasters/notesMaster1.xml" Id="R1428ee6d4f5b4d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9ccd12a0a9f44f2" /><Relationship Type="http://schemas.openxmlformats.org/officeDocument/2006/relationships/notesMaster" Target="/ppt/notesMasters/notesMaster1.xml" Id="Rbc74986f7ba24d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fa4e58bf594b32" /><Relationship Type="http://schemas.openxmlformats.org/officeDocument/2006/relationships/notesMaster" Target="/ppt/notesMasters/notesMaster1.xml" Id="R4d2c61cb408244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f3883e9b9f34c3b" /><Relationship Type="http://schemas.openxmlformats.org/officeDocument/2006/relationships/notesMaster" Target="/ppt/notesMasters/notesMaster1.xml" Id="R62322208f655421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3fc0ca909b4f34" /><Relationship Type="http://schemas.openxmlformats.org/officeDocument/2006/relationships/notesMaster" Target="/ppt/notesMasters/notesMaster1.xml" Id="R8c1336ad29404a0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564d54a54cd4925" /><Relationship Type="http://schemas.openxmlformats.org/officeDocument/2006/relationships/notesMaster" Target="/ppt/notesMasters/notesMaster1.xml" Id="Rfb3f13c99152491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92f391cdb644f40" /><Relationship Type="http://schemas.openxmlformats.org/officeDocument/2006/relationships/notesMaster" Target="/ppt/notesMasters/notesMaster1.xml" Id="Rcfbec3f5556a46c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5a5d8a6705441c6" /><Relationship Type="http://schemas.openxmlformats.org/officeDocument/2006/relationships/notesMaster" Target="/ppt/notesMasters/notesMaster1.xml" Id="Ra3a01b8cfb99404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b6906cb3fd0426c" /><Relationship Type="http://schemas.openxmlformats.org/officeDocument/2006/relationships/notesMaster" Target="/ppt/notesMasters/notesMaster1.xml" Id="R16bb5c51c5454d7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bb036329af9499c" /><Relationship Type="http://schemas.openxmlformats.org/officeDocument/2006/relationships/notesMaster" Target="/ppt/notesMasters/notesMaster1.xml" Id="R2d44b886471e4cd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7bfaf6e7e894ac8" /><Relationship Type="http://schemas.openxmlformats.org/officeDocument/2006/relationships/notesMaster" Target="/ppt/notesMasters/notesMaster1.xml" Id="Reb08969c87cf41f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5495064f4ee4481" /><Relationship Type="http://schemas.openxmlformats.org/officeDocument/2006/relationships/notesMaster" Target="/ppt/notesMasters/notesMaster1.xml" Id="R0a932a115f514c3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98ba9d27a864e99" /><Relationship Type="http://schemas.openxmlformats.org/officeDocument/2006/relationships/notesMaster" Target="/ppt/notesMasters/notesMaster1.xml" Id="R71e4b61f346b4d3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fb15849568c4cbb" /><Relationship Type="http://schemas.openxmlformats.org/officeDocument/2006/relationships/notesMaster" Target="/ppt/notesMasters/notesMaster1.xml" Id="R4568490e016740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범위 기준: https://hyeonwoona0861.github.io/study/speech-and-audio-recognition/midterm-review/ ; Lecture 6–7 source separation은 제외한다.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공개 총정리의 전체 흐름: https://hyeonwoona0861.github.io/study/speech-and-audio-recognition/midterm-review/#전체-흐름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https://hyeonwoona0861.github.io/assets/pdfs/study/speech-and-audio-recognition/speech-audio-lecture-02.pdf#page=5 ; 캡처: https://hyeonwoona0861.github.io/assets/images/study/speech-and-audio-recognition/source-captures/speech-02-p05.png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https://hyeonwoona0861.github.io/assets/pdfs/study/speech-and-audio-recognition/speech-audio-lecture-02.pdf#page=37 ; 캡처: https://hyeonwoona0861.github.io/assets/images/study/speech-and-audio-recognition/source-captures/speech-02-p37.png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https://hyeonwoona0861.github.io/assets/pdfs/study/speech-and-audio-recognition/speech-audio-lecture-02.pdf#page=26 ; 캡처: https://hyeonwoona0861.github.io/assets/images/study/speech-and-audio-recognition/source-captures/speech-02-p26.png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https://hyeonwoona0861.github.io/assets/pdfs/study/speech-and-audio-recognition/speech-audio-lecture-02.pdf#page=29 ; 캡처: https://hyeonwoona0861.github.io/assets/images/study/speech-and-audio-recognition/source-captures/speech-02-p29.png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https://hyeonwoona0861.github.io/assets/pdfs/study/speech-and-audio-recognition/speech-audio-lecture-02.pdf#page=32 ; 캡처: https://hyeonwoona0861.github.io/assets/images/study/speech-and-audio-recognition/source-captures/speech-02-p32.png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https://hyeonwoona0861.github.io/assets/pdfs/study/speech-and-audio-recognition/speech-audio-lecture-02-2.pdf#page=9 ; 캡처: https://hyeonwoona0861.github.io/assets/images/study/speech-and-audio-recognition/source-captures/speech-02-2-p09.png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https://hyeonwoona0861.github.io/assets/pdfs/study/speech-and-audio-recognition/speech-audio-lecture-02-2.pdf#page=14 ; 캡처: https://hyeonwoona0861.github.io/assets/images/study/speech-and-audio-recognition/source-captures/speech-02-2-p14.png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https://hyeonwoona0861.github.io/assets/pdfs/study/speech-and-audio-recognition/speech-audio-lecture-02-2.pdf#page=17 ; 캡처: https://hyeonwoona0861.github.io/assets/images/study/speech-and-audio-recognition/source-captures/speech-02-2-p17.png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3 및 공개 총정리: https://hyeonwoona0861.github.io/study/speech-and-audio-recognition/midterm-review/#31-wer는-정답-길이로-정규화한-편집-거리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https://hyeonwoona0861.github.io/assets/pdfs/study/speech-and-audio-recognition/speech-audio-lecture-03.pdf#page=47 ; 캡처: https://hyeonwoona0861.github.io/assets/images/study/speech-and-audio-recognition/source-captures/speech-03-p47.png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3 및 공개 총정리: https://hyeonwoona0861.github.io/study/speech-and-audio-recognition/midterm-review/#32-음향-frame과-문자-수는-같지-않다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https://hyeonwoona0861.github.io/assets/pdfs/study/speech-and-audio-recognition/speech-audio-lecture-03.pdf#page=33 ; 캡처: https://hyeonwoona0861.github.io/assets/images/study/speech-and-audio-recognition/source-captures/speech-03-p33.png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https://hyeonwoona0861.github.io/assets/pdfs/study/speech-and-audio-recognition/speech-audio-lecture-03.pdf#page=35 ; 캡처: https://hyeonwoona0861.github.io/assets/images/study/speech-and-audio-recognition/source-captures/speech-03-p35.png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https://hyeonwoona0861.github.io/assets/pdfs/study/speech-and-audio-recognition/speech-audio-lecture-03.pdf#page=40 ; 캡처: https://hyeonwoona0861.github.io/assets/images/study/speech-and-audio-recognition/source-captures/speech-03-p40.png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공개 총정리: https://hyeonwoona0861.github.io/study/speech-and-audio-recognition/midterm-review/#44-deep-speech-2와-conformer를-구조-역할로-비교한다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https://hyeonwoona0861.github.io/assets/pdfs/study/speech-and-audio-recognition/speech-audio-lecture-03.pdf#page=44 ; 캡처: https://hyeonwoona0861.github.io/assets/images/study/speech-and-audio-recognition/source-captures/speech-03-p44.png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https://hyeonwoona0861.github.io/assets/pdfs/study/speech-and-audio-recognition/speech-audio-lecture-04.pdf#page=15 ; 캡처: https://hyeonwoona0861.github.io/assets/images/study/speech-and-audio-recognition/source-captures/speech-04-p15.png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https://hyeonwoona0861.github.io/assets/pdfs/study/speech-and-audio-recognition/speech-audio-lecture-04.pdf#page=37 ; 캡처: https://hyeonwoona0861.github.io/assets/images/study/speech-and-audio-recognition/source-captures/speech-04-p37.png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https://hyeonwoona0861.github.io/assets/pdfs/study/speech-and-audio-recognition/speech-audio-lecture-04.pdf#page=44 ; 캡처: https://hyeonwoona0861.github.io/assets/images/study/speech-and-audio-recognition/source-captures/speech-04-p44.png ; 표의 streaming 표시는 구현 조건에 따라 달라질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https://hyeonwoona0861.github.io/assets/pdfs/study/speech-and-audio-recognition/speech-audio-lecture-05.pdf#page=24 ; 캡처: https://hyeonwoona0861.github.io/assets/images/study/speech-and-audio-recognition/source-captures/speech-05-p24.png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https://hyeonwoona0861.github.io/assets/pdfs/study/speech-and-audio-recognition/speech-audio-lecture-05.pdf#page=31 ; 캡처: https://hyeonwoona0861.github.io/assets/images/study/speech-and-audio-recognition/source-captures/speech-05-p31.png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https://hyeonwoona0861.github.io/assets/pdfs/study/speech-and-audio-recognition/speech-audio-lecture-05.pdf#page=46 ; 캡처: https://hyeonwoona0861.github.io/assets/images/study/speech-and-audio-recognition/source-captures/speech-05-p46.png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범위와 역할 연결: https://hyeonwoona0861.github.io/study/speech-and-audio-recognition/midterm-review/#마지막-핵심-정리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d156b0b2a54d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191ce74a4449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8ba1e6dc374dd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5cb207844949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5e765bba0545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ffc43915ab4f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B91F2C-91BA-4A2C-8E83-627CFF9E38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F6AC3BF-5DB7-4D1B-B9CC-25DDF822A73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C809AEF-0227-4ABF-8F06-B1A8FD3447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C86F51-85F1-4767-A420-28276456EE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44979FF-F181-42D7-9B4A-AC2EDFCD37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74DB825-BCBC-4F40-8FBB-C4E2FA8BE8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3612E5-4096-48E2-92C2-B0A3914837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65BCA06-A3BE-4ECC-ACEC-99204B5AF4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E880A6-5E84-4A5E-BF1B-190BA07242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223798-9AFA-4828-A027-DACA9F9750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7f942c2c8d4325" /><Relationship Type="http://schemas.openxmlformats.org/officeDocument/2006/relationships/slideLayout" Target="/ppt/slideLayouts/slideLayout1.xml" Id="Ra3510a7cb57b4514" /><Relationship Type="http://schemas.openxmlformats.org/officeDocument/2006/relationships/slideLayout" Target="/ppt/slideLayouts/slideLayout2.xml" Id="Rd59a7946107f4450" /><Relationship Type="http://schemas.openxmlformats.org/officeDocument/2006/relationships/slideLayout" Target="/ppt/slideLayouts/slideLayout3.xml" Id="R157cfe4df35040b7" /><Relationship Type="http://schemas.openxmlformats.org/officeDocument/2006/relationships/slideLayout" Target="/ppt/slideLayouts/slideLayout4.xml" Id="Rba2ff06afd484403" /><Relationship Type="http://schemas.openxmlformats.org/officeDocument/2006/relationships/slideLayout" Target="/ppt/slideLayouts/slideLayout5.xml" Id="Rba092144e1284430" /><Relationship Type="http://schemas.openxmlformats.org/officeDocument/2006/relationships/slideLayout" Target="/ppt/slideLayouts/slideLayout6.xml" Id="R991e5a4dbbf546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510a7cb57b4514"/>
    <p:sldLayoutId xmlns:r="http://schemas.openxmlformats.org/officeDocument/2006/relationships" id="2147483650" r:id="Rd59a7946107f4450"/>
    <p:sldLayoutId xmlns:r="http://schemas.openxmlformats.org/officeDocument/2006/relationships" id="2147483651" r:id="R157cfe4df35040b7"/>
    <p:sldLayoutId xmlns:r="http://schemas.openxmlformats.org/officeDocument/2006/relationships" id="2147483652" r:id="Rba2ff06afd484403"/>
    <p:sldLayoutId xmlns:r="http://schemas.openxmlformats.org/officeDocument/2006/relationships" id="2147483653" r:id="Rba092144e1284430"/>
    <p:sldLayoutId xmlns:r="http://schemas.openxmlformats.org/officeDocument/2006/relationships" id="2147483654" r:id="R991e5a4dbbf546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b1f6fdbd834d2b" /><Relationship Type="http://schemas.openxmlformats.org/officeDocument/2006/relationships/notesSlide" Target="/ppt/notesSlides/notesSlide1.xml" Id="R2271e87e35274c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1d1326b8954962" /><Relationship Type="http://schemas.openxmlformats.org/officeDocument/2006/relationships/notesSlide" Target="/ppt/notesSlides/notesSlide2.xml" Id="Ra733ae7dd9f047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522b5e021a4627" /><Relationship Type="http://schemas.openxmlformats.org/officeDocument/2006/relationships/image" Target="/ppt/media/image.png" Id="R23eac1f2ee7f4291" /><Relationship Type="http://schemas.openxmlformats.org/officeDocument/2006/relationships/notesSlide" Target="/ppt/notesSlides/notesSlide3.xml" Id="R9ac6964fdf6c4c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ca8e9b964d4cfa" /><Relationship Type="http://schemas.openxmlformats.org/officeDocument/2006/relationships/image" Target="/ppt/media/image2.png" Id="R9b8b542798e94322" /><Relationship Type="http://schemas.openxmlformats.org/officeDocument/2006/relationships/notesSlide" Target="/ppt/notesSlides/notesSlide4.xml" Id="R5082f076e6ef48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fba9117f3b43f6" /><Relationship Type="http://schemas.openxmlformats.org/officeDocument/2006/relationships/image" Target="/ppt/media/image3.png" Id="Re122410d1ee747d0" /><Relationship Type="http://schemas.openxmlformats.org/officeDocument/2006/relationships/notesSlide" Target="/ppt/notesSlides/notesSlide5.xml" Id="R32e0a527b17345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09df0b610c4f4f" /><Relationship Type="http://schemas.openxmlformats.org/officeDocument/2006/relationships/image" Target="/ppt/media/image4.png" Id="R795c738e4a1b44b0" /><Relationship Type="http://schemas.openxmlformats.org/officeDocument/2006/relationships/notesSlide" Target="/ppt/notesSlides/notesSlide6.xml" Id="R2fab9c6b863749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9a895937d04554" /><Relationship Type="http://schemas.openxmlformats.org/officeDocument/2006/relationships/image" Target="/ppt/media/image5.png" Id="R4248868f0188490b" /><Relationship Type="http://schemas.openxmlformats.org/officeDocument/2006/relationships/notesSlide" Target="/ppt/notesSlides/notesSlide7.xml" Id="Re4769296b92b41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2166e77d5e423a" /><Relationship Type="http://schemas.openxmlformats.org/officeDocument/2006/relationships/image" Target="/ppt/media/image6.png" Id="Re8d10cb838794faa" /><Relationship Type="http://schemas.openxmlformats.org/officeDocument/2006/relationships/notesSlide" Target="/ppt/notesSlides/notesSlide8.xml" Id="R75d1718784cb4a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e53aee23284fd6" /><Relationship Type="http://schemas.openxmlformats.org/officeDocument/2006/relationships/image" Target="/ppt/media/image7.png" Id="R0a6d58b920014b1a" /><Relationship Type="http://schemas.openxmlformats.org/officeDocument/2006/relationships/notesSlide" Target="/ppt/notesSlides/notesSlide9.xml" Id="R34b3b8542d1d4e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39ed1cd0c741a0" /><Relationship Type="http://schemas.openxmlformats.org/officeDocument/2006/relationships/image" Target="/ppt/media/image8.png" Id="R0e2c456b833048e9" /><Relationship Type="http://schemas.openxmlformats.org/officeDocument/2006/relationships/notesSlide" Target="/ppt/notesSlides/notesSlide10.xml" Id="R64dc022c23d24b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712a6269ea4fb7" /><Relationship Type="http://schemas.openxmlformats.org/officeDocument/2006/relationships/notesSlide" Target="/ppt/notesSlides/notesSlide11.xml" Id="R7442f11cf26948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9034306c594cbd" /><Relationship Type="http://schemas.openxmlformats.org/officeDocument/2006/relationships/image" Target="/ppt/media/image9.png" Id="Rf8fd2953693b4c83" /><Relationship Type="http://schemas.openxmlformats.org/officeDocument/2006/relationships/notesSlide" Target="/ppt/notesSlides/notesSlide12.xml" Id="R0457bebc29d34b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b17137aa734840" /><Relationship Type="http://schemas.openxmlformats.org/officeDocument/2006/relationships/notesSlide" Target="/ppt/notesSlides/notesSlide13.xml" Id="R96a2baadf90148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01930eab0947e0" /><Relationship Type="http://schemas.openxmlformats.org/officeDocument/2006/relationships/image" Target="/ppt/media/image10.png" Id="R6e6fb66cf9c84e09" /><Relationship Type="http://schemas.openxmlformats.org/officeDocument/2006/relationships/notesSlide" Target="/ppt/notesSlides/notesSlide14.xml" Id="R5787c5d165a04e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e0cfa1ff624757" /><Relationship Type="http://schemas.openxmlformats.org/officeDocument/2006/relationships/image" Target="/ppt/media/image11.png" Id="R24d402911e49433f" /><Relationship Type="http://schemas.openxmlformats.org/officeDocument/2006/relationships/notesSlide" Target="/ppt/notesSlides/notesSlide15.xml" Id="R69f3c7aeef8c47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0f7371421d4786" /><Relationship Type="http://schemas.openxmlformats.org/officeDocument/2006/relationships/image" Target="/ppt/media/image12.png" Id="R9e2ad6fd887b4490" /><Relationship Type="http://schemas.openxmlformats.org/officeDocument/2006/relationships/notesSlide" Target="/ppt/notesSlides/notesSlide16.xml" Id="Raca8d35baf8344a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9c20e8528b43e0" /><Relationship Type="http://schemas.openxmlformats.org/officeDocument/2006/relationships/notesSlide" Target="/ppt/notesSlides/notesSlide17.xml" Id="R7d907b4d0a734a0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d2b3ab1fd143f4" /><Relationship Type="http://schemas.openxmlformats.org/officeDocument/2006/relationships/image" Target="/ppt/media/image13.png" Id="Rd84ac67238df421a" /><Relationship Type="http://schemas.openxmlformats.org/officeDocument/2006/relationships/notesSlide" Target="/ppt/notesSlides/notesSlide18.xml" Id="R930034a7def240c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5d930b62624567" /><Relationship Type="http://schemas.openxmlformats.org/officeDocument/2006/relationships/image" Target="/ppt/media/image14.png" Id="Rd58a281fc165491f" /><Relationship Type="http://schemas.openxmlformats.org/officeDocument/2006/relationships/notesSlide" Target="/ppt/notesSlides/notesSlide19.xml" Id="Rd9cc11a837a644a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8f85281e094a18" /><Relationship Type="http://schemas.openxmlformats.org/officeDocument/2006/relationships/image" Target="/ppt/media/image15.png" Id="R6fa42bd5274f4b3f" /><Relationship Type="http://schemas.openxmlformats.org/officeDocument/2006/relationships/notesSlide" Target="/ppt/notesSlides/notesSlide20.xml" Id="R5fdddb3c43324b3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e6a680ff3443e5" /><Relationship Type="http://schemas.openxmlformats.org/officeDocument/2006/relationships/image" Target="/ppt/media/image16.png" Id="R55aba7daa2b4495f" /><Relationship Type="http://schemas.openxmlformats.org/officeDocument/2006/relationships/notesSlide" Target="/ppt/notesSlides/notesSlide21.xml" Id="R68044d431d8c4d9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d813ffcd05487d" /><Relationship Type="http://schemas.openxmlformats.org/officeDocument/2006/relationships/image" Target="/ppt/media/image17.png" Id="R7bc60a6ed4694360" /><Relationship Type="http://schemas.openxmlformats.org/officeDocument/2006/relationships/notesSlide" Target="/ppt/notesSlides/notesSlide22.xml" Id="Rc5e3ef9659ad407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967c7270c74aa2" /><Relationship Type="http://schemas.openxmlformats.org/officeDocument/2006/relationships/image" Target="/ppt/media/image18.png" Id="Ra2efa3af8d834c08" /><Relationship Type="http://schemas.openxmlformats.org/officeDocument/2006/relationships/notesSlide" Target="/ppt/notesSlides/notesSlide23.xml" Id="R07233fbbe2c1469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33456e0fb84005" /><Relationship Type="http://schemas.openxmlformats.org/officeDocument/2006/relationships/image" Target="/ppt/media/image19.png" Id="R0c8cee7f922b4c71" /><Relationship Type="http://schemas.openxmlformats.org/officeDocument/2006/relationships/notesSlide" Target="/ppt/notesSlides/notesSlide24.xml" Id="R28bb5d83744b440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5e238d3fc2490c" /><Relationship Type="http://schemas.openxmlformats.org/officeDocument/2006/relationships/notesSlide" Target="/ppt/notesSlides/notesSlide25.xml" Id="R957211b5bc8342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9125F-A212-443C-AAEB-89110EEF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20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Speech and Audio Recognition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E6314-E47D-434F-BEF8-E59B1006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Midterm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48112-FFFC-4968-9925-A3791C76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5287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소리의 표본화부터 전사 없는 표현 학습까지 연결한다.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1E80D-E7FA-42AC-9373-B695EACD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Midterm Review · Lecture 2–5</a:t>
            </a:r>
          </a:p>
          <a:p xmlns:a="http://schemas.openxmlformats.org/drawingml/2006/main">
            <a: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Signal → Spectrum → Alignment → Representation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B2F12-C58A-4A8B-A759-4619B9F1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355121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17CB7-99CF-4BDC-B652-B7B5DA9B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Exam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6E7B1-A1D6-4BB3-B9E3-68F054E4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각 장은 정보를 남기는 방식과 학습 target을 바꾼다.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28139-FE42-4950-B4F7-85F7276D8268}"/>
              </a:ext>
            </a:extLst>
          </p:cNvPr>
          <p:cNvGraphicFramePr/>
          <p:nvPr/>
        </p:nvGraphicFramePr>
        <p:xfrm>
          <a:off xmlns:a="http://schemas.openxmlformats.org/drawingml/2006/main" x="533400" y="2057400"/>
          <a:ext xmlns:a="http://schemas.openxmlformats.org/drawingml/2006/main" cx="111252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2781300"/>
                <a:gridCol w="2781300"/>
                <a:gridCol w="2781300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Stage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Input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Core question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Output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Digitize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pressure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언제·얼마나 측정?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PCM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Analyze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samples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어느 주파수가 언제?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STFT/Mel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Align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frames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token과 어떻게 대응?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CTC/LAS/RNN-T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Pre-train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unlabeled audio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target을 어디서 생성?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speech features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CC7FB-1ACC-47A5-B1D7-26C7BE2F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신호 처리에서는 보존 정보와 손실 조건을, ASR에서는 정렬과 출력 이력을 구분한다.</a:t>
            </a:r>
          </a:p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SSL에서는 transcript 없이 target을 만드는 방식을 비교한다.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35A44-DCA5-40C6-8CF0-528F1E96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009760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DCD32-CE91-478A-A077-AEAC8951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Sampling and PCM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3053A-1ADB-4905-8CB3-6EF271B0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Sampling은 시간, quantization은 진폭을 이산화한다.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A989A-A69F-4B12-85B3-37E436FAED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ac1f2ee7f4291"/>
          <a:stretch xmlns:a="http://schemas.openxmlformats.org/drawingml/2006/main"/>
        </p:blipFill>
        <p:spPr>
          <a:xfrm xmlns:a="http://schemas.openxmlformats.org/drawingml/2006/main">
            <a:off x="803275" y="2057400"/>
            <a:ext cx="660400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07148-0B32-4FCF-AE59-A81BCCD6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16-bit·44.1 kHz·stereo PCM의 payload는 16×44,100×2=1,411,200 bit/s다.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낮은 sampling rate와 낮은 bit depth는 서로 다른 정보를 잃는다.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A1C90-DFB9-4B07-84C8-8965F9ED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2, PDF p. 05 — analog pressure, sampling, quantization, PCM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F3A05-8306-43D4-8C1E-812DFCFE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4357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0A565-542C-4BCB-9A4E-7E122172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Nyquist and Aliasing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498E1-4D28-4BF7-9EA2-BFDEF64A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복제된 spectrum이 겹치면 원래 주파수를 구별할 수 없다.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E9DFA-C9A5-4E1B-9E04-E407AAA22D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b542798e94322"/>
          <a:stretch xmlns:a="http://schemas.openxmlformats.org/drawingml/2006/main"/>
        </p:blipFill>
        <p:spPr>
          <a:xfrm xmlns:a="http://schemas.openxmlformats.org/drawingml/2006/main">
            <a:off x="802525" y="2057400"/>
            <a:ext cx="6605501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04DF0-5E7B-4E62-9A86-6F4E367F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Band limit fmax를 일반적으로 복원하려면 fs&gt;2fmax를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8 kHz 표본화에서 7 kHz cosine은 1 kHz cosine과 같은 표본을 만든다. FFT 길이를 늘려도 구별 정보는 돌아오지 않는다.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81616-308E-47D5-8678-FB4A30DD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2, PDF p. 37 — spectral replicas overlap when Nyquist is not satisfied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8CDB0-6211-4333-99C5-304AE00F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782823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95F13-C51A-4955-A38F-FB8C9DE9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Orthogonal Fourier Bases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5ABA0-6C35-4AAA-9846-4F6FCAB0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서로 다른 harmonic basis의 한 주기 inner product는 0이다.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C50C9-0513-4EFF-A708-DE228C671C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2410d1ee747d0"/>
          <a:stretch xmlns:a="http://schemas.openxmlformats.org/drawingml/2006/main"/>
        </p:blipFill>
        <p:spPr>
          <a:xfrm xmlns:a="http://schemas.openxmlformats.org/drawingml/2006/main">
            <a:off x="803275" y="2057400"/>
            <a:ext cx="660400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AD557-2FC9-4107-B8DD-76687487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직교성은 inner product로 각 주파수 성분을 분리할 수 있다는 뜻이다.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원문 빨간 식의 조건이 뒤바뀌었다: n=m이면 P, n≠m이면 0이다.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Fourier coefficient는 각 basis 방향의 성분을 측정한다.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292D7-8FF9-4873-8A90-8A9BDFCD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2, PDF p. 26 — complex exponential bases and one-period inner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E839F-ACF5-49D5-82A3-4D014007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14647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E45CB-4346-468C-9411-4CFA0F3D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Series to Transform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72886-EF01-4B8B-81FC-73F5621A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주기가 커지면 harmonic 간격이 좁아져 합이 적분으로 이어진다.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8D2B3-7B3B-4668-A519-D3F9B82395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5c738e4a1b44b0"/>
          <a:stretch xmlns:a="http://schemas.openxmlformats.org/drawingml/2006/main"/>
        </p:blipFill>
        <p:spPr>
          <a:xfrm xmlns:a="http://schemas.openxmlformats.org/drawingml/2006/main">
            <a:off x="803275" y="2057400"/>
            <a:ext cx="660400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EE0AE-F9D2-4BEE-A2AA-6DCDD61A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Fourier series는 주기 신호의 이산 harmonic 계수를, Fourier transform은 비주기 신호의 연속 spectrum을 표현한다.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정변환은 성분을 분석하고 역변환은 그 성분을 합성한다.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4D5DA-4A61-4139-8901-40B6642F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2, PDF p. 29 — increasing period turns frequency sums into an integral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C2EF8-D24D-4964-B38B-12FD6E09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397293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BB6656-38B9-485D-B3E5-776D4221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CTFS to DTFS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A39CD-71A7-49AC-8E8E-3029D633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한 주기를 N번 표본화하면 harmonic index가 N을 주기로 같아진다.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496BF-5A5F-4B03-BB2D-F0D54FC817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8868f0188490b"/>
          <a:stretch xmlns:a="http://schemas.openxmlformats.org/drawingml/2006/main"/>
        </p:blipFill>
        <p:spPr>
          <a:xfrm xmlns:a="http://schemas.openxmlformats.org/drawingml/2006/main">
            <a:off x="803275" y="2057400"/>
            <a:ext cx="660400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AD358-62AD-4762-9C3F-5A2B440B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k와 k+qN은 표본 위에서 같은 basis이므로 CTFS 계수가 같은 나머지 class로 합쳐진다.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N&gt;2K와 제한된 harmonic bandwidth가 있어야 원래 계수를 겹침 없이 회수할 수 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FA1B4-4723-4593-867D-54297869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2, PDF p. 32 — periodic continuous signal and N uniform samples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97246-F517-4906-B880-A7B969E4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457724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FB0BB-3A57-4066-9244-87B97014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STFT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CA215-B6B5-470D-8074-C57B5F46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STFT는 짧은 창을 이동하며 각 구간의 spectrum을 계산한다.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EB0AF-DF4C-4E15-ACB5-2216F8ADE2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10cb838794faa"/>
          <a:stretch xmlns:a="http://schemas.openxmlformats.org/drawingml/2006/main"/>
        </p:blipFill>
        <p:spPr>
          <a:xfrm xmlns:a="http://schemas.openxmlformats.org/drawingml/2006/main">
            <a:off x="803275" y="2057400"/>
            <a:ext cx="660400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D6327-534D-467C-A571-08168E10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16 kHz, L=400, H=160은 25 ms 창과 10 ms hop이다.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1초 신호를 center padding 없이 처리하면 98 frame, NFFT=512의 one-sided spectrum은 257 bin이다.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6C18A-4FF5-412C-9C5F-42BA99CC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2 Lab, PDF p. 09 — moving analysis window and overlap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86585-44F7-4D98-BFD8-2FD4CBFE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975782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43F43-AAC2-41FD-B82E-D25E3F3D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Window Trade-offs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48462-73A1-4FE6-8EE6-6C2421F6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Window는 leakage를 없애지 않고 main-lobe와 side-lobe의 절충을 바꾼다.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875DE-0965-47D5-B74A-5DDBF5D313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d58b920014b1a"/>
          <a:stretch xmlns:a="http://schemas.openxmlformats.org/drawingml/2006/main"/>
        </p:blipFill>
        <p:spPr>
          <a:xfrm xmlns:a="http://schemas.openxmlformats.org/drawingml/2006/main">
            <a:off x="803275" y="2057400"/>
            <a:ext cx="660400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65650-DA9E-4A53-8495-7896CD92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Rectangular window는 경계 불연속 때문에 먼 sidelobe가 크다.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Hann window는 먼 leakage를 낮추지만 peak를 더 넓게 보이게 할 수 있다. 색 범위가 다르면 그림 밝기를 직접 비교하지 않는다.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DD59E-C09A-498F-B29D-10091A09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2 Lab, PDF p. 14 — rectangular and Hann STFT views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2675D-7F9E-49B6-A16E-88BF930A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270046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FF15A-D20B-4223-8A94-B718EDC4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Mel Compression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9D605-B1F7-4D3D-A2A6-C6E8E7AD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Mel filterbank와 log는 서로 다른 두 압축이다.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6F1A1-07C8-4592-B7AD-356BBBBE60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c456b833048e9"/>
          <a:stretch xmlns:a="http://schemas.openxmlformats.org/drawingml/2006/main"/>
        </p:blipFill>
        <p:spPr>
          <a:xfrm xmlns:a="http://schemas.openxmlformats.org/drawingml/2006/main">
            <a:off x="803275" y="2057400"/>
            <a:ext cx="660400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E53B2-E091-4ECE-A5FC-73F854C4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Filterbank는 여러 Hz bin을 band별로 합쳐 주파수축을 줄인다. Log는 값의 dynamic range를 줄인다.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인식에는 유용하지만 phase와 세밀한 bin 정보를 잃으므로 원래 complex STFT를 일반적으로 복원할 수 없다.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9C002-02F8-4F27-BE77-FE0B7796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2 Lab, PDF p. 17 — triangular Mel filters and Mel spectrogram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C9E22-7688-46B7-9677-690C6BD9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237213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34790-176A-47D0-BFC1-7E01CDAC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Word Error Rate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24E24-01EB-484D-92C8-A51719F3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WER은 편집 오류 수를 정답 단어 수로 정규화한다.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E0D42-C4C3-4DEB-BEF4-862988ADC5EC}"/>
              </a:ext>
            </a:extLst>
          </p:cNvPr>
          <p:cNvGraphicFramePr/>
          <p:nvPr/>
        </p:nvGraphicFramePr>
        <p:xfrm>
          <a:off xmlns:a="http://schemas.openxmlformats.org/drawingml/2006/main" x="533400" y="2057400"/>
          <a:ext xmlns:a="http://schemas.openxmlformats.org/drawingml/2006/main" cx="111252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08400"/>
                <a:gridCol w="3708400"/>
                <a:gridCol w="3708400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Symbol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Meaning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Example count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substitution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deletion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I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insertion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N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reference words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5A510-AB4E-4336-A5D5-32CFFE55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Reference 4단어에서 substitution 1, deletion 1, insertion 1이면 WER=(1+1+1)/4=0.75다.</a:t>
            </a:r>
          </a:p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Insertion이 많으면 WER은 1을 넘을 수 있다. 빈 reference에서는 별도 평가 규칙이 필요하다.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34870-98E8-4D26-A397-FA78B3D9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955846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26FA2-B56E-43F6-B3A1-F0B8A65B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Byte Pair Encoding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A2625-531D-4450-ACE5-EB34AC02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BPE는 corpus에서 자주 붙는 token pair를 반복 병합한다.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11306-49F1-4742-9220-ED4B28AF0F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d2953693b4c83"/>
          <a:stretch xmlns:a="http://schemas.openxmlformats.org/drawingml/2006/main"/>
        </p:blipFill>
        <p:spPr>
          <a:xfrm xmlns:a="http://schemas.openxmlformats.org/drawingml/2006/main">
            <a:off x="803275" y="2057400"/>
            <a:ext cx="660400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C0E7E-8348-4DBD-8523-508C71DD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Training은 merge 순서를 만들고 저장한다. Inference는 새 문장에 같은 순서를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Subword는 출력 길이 U를 줄일 수 있지만 vocabulary V와 softmax 비용은 커질 수 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32CB0-0FB9-4838-8B5C-50E991CA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3, PDF p. 47 — BPE merge algorithm and toy 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7ECF9-C966-4AFA-AB31-30056BF7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7147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895AF-51C2-4427-9867-10557E1C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CTC Blank and Paths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A050A-E9B9-4921-BB14-25FBFFF6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CTC blank는 frame 정렬을 허용하고 최종 전사에서는 제거된다.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9A75E-CA0F-474C-AB93-C40314B81E6F}"/>
              </a:ext>
            </a:extLst>
          </p:cNvPr>
          <p:cNvGraphicFramePr/>
          <p:nvPr/>
        </p:nvGraphicFramePr>
        <p:xfrm>
          <a:off xmlns:a="http://schemas.openxmlformats.org/drawingml/2006/main" x="533400" y="2057400"/>
          <a:ext xmlns:a="http://schemas.openxmlformats.org/drawingml/2006/main" cx="111252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2781300"/>
                <a:gridCol w="2781300"/>
                <a:gridCol w="2781300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Path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Merge repeats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Drop blank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Output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 ε L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 ε L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LL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LL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 L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ε a b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ε a b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ab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ab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 a b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 b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ab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ab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BE988-1E1D-4987-8514-99575C71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Collapse는 연속 중복을 먼저 합친 뒤 blank를 제거한다.</a:t>
            </a:r>
          </a:p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따라서 L ε L은 LL이지만 L L은 L이다. 같은 label을 두 번 출력하려면 사이 blank가 필요하다.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A1CD0-6E0E-4207-A9B2-AA9FDD06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672279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6D6C7-154F-45D6-9577-1CCCB929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CTC Probability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E03E1-709D-4B98-ABEE-B3B14AFA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한 문자열의 확률은 그 문자열로 collapse되는 모든 경로 확률의 합이다.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A177D-C204-4E9F-ADB4-BE7A03D8DF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fb66cf9c84e09"/>
          <a:stretch xmlns:a="http://schemas.openxmlformats.org/drawingml/2006/main"/>
        </p:blipFill>
        <p:spPr>
          <a:xfrm xmlns:a="http://schemas.openxmlformats.org/drawingml/2006/main">
            <a:off x="802525" y="2057400"/>
            <a:ext cx="6605501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8F839-153A-470B-9338-FE5466D8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각 frame의 분포는 encoder logit의 softmax에서 나온다. 한 경로 확률은 선택한 frame 확률의 곱이다.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서로 배타적인 유효 경로를 더한 뒤 −log를 취해 CTC loss를 얻는다.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38F0F-D07F-4D11-8238-EEF9403C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3, PDF p. 33 — frame distributions and valid CTC paths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F1F12-F2E2-4FBE-BC5C-25502673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776911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772BC-4932-4F77-B5DE-0DDC8856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CTC Forward DP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F93BC-6B6D-4581-9C67-3C80F3AE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각 칸은 해당 상태에서 끝나는 모든 유효 부분 경로의 확률 합이다.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F3DAD-26C6-4486-A608-1C2BFA4E4E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402911e49433f"/>
          <a:stretch xmlns:a="http://schemas.openxmlformats.org/drawingml/2006/main"/>
        </p:blipFill>
        <p:spPr>
          <a:xfrm xmlns:a="http://schemas.openxmlformats.org/drawingml/2006/main">
            <a:off x="802525" y="2057400"/>
            <a:ext cx="6605501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8F574-251D-4DC9-9E51-23139D77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Stay·한 칸 전진·허용된 두 칸 skip의 이전 합에 현재 frame 확률을 곱한다.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P(ab|X)=0.2835+0.1308=0.4143. 유한 경로의 합이며 극한 수렴이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원문 합산식의 0.1038은 0.1308의 오기다.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B8088-607F-4D89-B4A7-C4E8439E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3, PDF p. 35 — forward probabilities and two terminal states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5A163-84C1-4295-A070-1B44B00E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663339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8D2E4-6790-473A-9650-34E9ACC1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Greedy vs. Beam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BF7C9-D41C-4623-BCEC-1D7FF667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최대 확률 경로가 최대 확률 문자열과 같다는 보장은 없다.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52DF8-45A7-47D4-A71F-B4A042CB65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ad6fd887b4490"/>
          <a:stretch xmlns:a="http://schemas.openxmlformats.org/drawingml/2006/main"/>
        </p:blipFill>
        <p:spPr>
          <a:xfrm xmlns:a="http://schemas.openxmlformats.org/drawingml/2006/main">
            <a:off x="803275" y="2057400"/>
            <a:ext cx="660400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737D0-68BF-4DDE-8E95-36C4871B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Greedy는 frame마다 한 token만 남긴다. Prefix beam search는 여러 prefix의 blank·non-blank 확률을 따로 누적한다.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유한 beam은 낮은 후보를 버리는 근사이며, 외부 LM을 쓰면 점수 scale과 length bonus도 확인한다.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A4C32-3825-4BFB-96BD-1A1746B3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3, PDF p. 40 — prefix beam expansion and pruning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F485E-B456-4E4E-8ACF-00B13858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723521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E55DF-3BD2-4DDE-80C7-F63A7559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Deep Speech 2 vs. Conformer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E2A14-6F5A-4895-99FE-F5819301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Encoder 구조와 정렬 loss는 같은 선택 축이 아니다.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EB03E-392F-4ED2-B4A1-30CBE8A0B186}"/>
              </a:ext>
            </a:extLst>
          </p:cNvPr>
          <p:cNvGraphicFramePr/>
          <p:nvPr/>
        </p:nvGraphicFramePr>
        <p:xfrm>
          <a:off xmlns:a="http://schemas.openxmlformats.org/drawingml/2006/main" x="533400" y="2057400"/>
          <a:ext xmlns:a="http://schemas.openxmlformats.org/drawingml/2006/main" cx="111252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2781300"/>
                <a:gridCol w="2781300"/>
                <a:gridCol w="2781300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Model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Local pattern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Long context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Objective / role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Deep Speech 2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convolution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recurrent layers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CTC objective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Conformer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conv module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self-attention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encoder architecture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CTC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—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—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path marginalization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9F8EF-1D42-47C9-92BC-6E8E458F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Deep Speech 2는 convolution과 recurrent layers로 음향 표현을 만들고 CTC로 정렬한다.</a:t>
            </a:r>
          </a:p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Conformer는 self-attention의 넓은 문맥과 convolution의 국소 패턴을 한 encoder block에 결합한다. CTC와 함께 쓸 수 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9BB54-E95D-40E6-9804-90B5B709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588116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2FB15-2A35-4CBB-9398-7A6E496E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Conformer Convolution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C4977-B6B8-43A3-ABA5-4F4CE0C2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Depthwise convolution은 채널별 시간 이웃을 처리하고 pointwise convolution은 채널을 섞는다.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BF553-95DB-4C9E-9815-F6081C753E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ac67238df421a"/>
          <a:stretch xmlns:a="http://schemas.openxmlformats.org/drawingml/2006/main"/>
        </p:blipFill>
        <p:spPr>
          <a:xfrm xmlns:a="http://schemas.openxmlformats.org/drawingml/2006/main">
            <a:off x="803275" y="2057400"/>
            <a:ext cx="660400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8D3F4-1F1C-4C84-B2FD-DD223909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GLU가 전달할 채널 정보를 조절하고 residual이 입력과 변환 결과를 합친다.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Subsampling stride 2를 두 번 쓰면 시간 길이는 대략 T/4지만 kernel·padding에 따라 정확한 길이는 달라진다.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0903D-EC26-4588-A4F6-8365CC14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3, PDF p. 44 — Conformer convolution module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26ABB-8B94-4E87-BABB-DFEB9872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842791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6DC7C-BE7A-4A9E-8F8C-3CED8AD1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Listen, Attend and Spell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D9B4E-672C-43E9-AD33-47593BBE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LAS는 출력 단계마다 필요한 입력 위치를 attention으로 다시 고른다.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8F393-5B75-470A-B738-D424727652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a281fc165491f"/>
          <a:stretch xmlns:a="http://schemas.openxmlformats.org/drawingml/2006/main"/>
        </p:blipFill>
        <p:spPr>
          <a:xfrm xmlns:a="http://schemas.openxmlformats.org/drawingml/2006/main">
            <a:off x="803275" y="2057400"/>
            <a:ext cx="660400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ADB4D-3DE9-4196-B400-6B1801A8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Listener는 음향 frame을 인코딩하고 Attend는 가중합 context를 만든다. Speller는 context와 이전 token으로 다음 token을 생성한다.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학습은 정답 prefix를, 추론은 생성 prefix를 쓰므로 오류가 누적될 수 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34F2C-0291-4F5B-8090-520F85B0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4, PDF p. 15 — pyramidal listener, attention context, autoregressive speller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34F21-97B2-45F3-BFAE-F912D34A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260646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C20B3-3281-4371-8D9B-7C3D25AC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RNN-T Lattice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42340-54BA-4B72-BF3A-1DD81AD9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RNN-T는 acoustic time과 output prefix를 두 축으로 둔다.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36DB8-2757-413F-94B2-A0715831B9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42bd5274f4b3f"/>
          <a:stretch xmlns:a="http://schemas.openxmlformats.org/drawingml/2006/main"/>
        </p:blipFill>
        <p:spPr>
          <a:xfrm xmlns:a="http://schemas.openxmlformats.org/drawingml/2006/main">
            <a:off x="803275" y="2057400"/>
            <a:ext cx="660400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77562-9CE1-47BC-A82D-604DC562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Blank는 (t,u)에서 (t+1,u)로 시간을 진행한다. Token은 (t,u+1)로 출력 길이를 늘린다.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Prediction network가 이전 출력 이력을 표현하므로 같은 frame에서도 여러 token을 낼 수 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7F167-2A2B-4E36-86D8-7DEFCA92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4, PDF p. 37 — encoder and prediction-network axes in RNN-T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35DE5-AAF2-465C-8282-79906DD9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9065069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618A8-E109-453F-B6E6-E9951F28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CTC, LAS, and RNN-T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AA202-1D8A-454C-85E5-FA5D4833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세 모델은 같은 정렬 문제를 서로 다른 확률 구조로 푼다.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F3637-51E1-4A44-A474-5BB0AEFA1A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ba7daa2b4495f"/>
          <a:stretch xmlns:a="http://schemas.openxmlformats.org/drawingml/2006/main"/>
        </p:blipFill>
        <p:spPr>
          <a:xfrm xmlns:a="http://schemas.openxmlformats.org/drawingml/2006/main">
            <a:off x="802525" y="2057400"/>
            <a:ext cx="6605501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58849-25FA-477F-8E52-D12EB44F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CTC는 출력 이력 없이 frame 경로를 합한다. LAS는 attention과 autoregressive prefix를 쓴다. RNN-T는 prefix와 시간축 경로를 함께 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Streaming 여부는 encoder 문맥과 실제 추론 설정까지 확인해야 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C753C-FFDE-4A55-9BA4-C3413D9E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4, PDF p. 44 — lecture comparison of CTC, LAS, and RNN-T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446D1-4E15-45F1-B8EB-BFB9E5AD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5170140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6855B-0405-44EA-9E21-82A6C4E9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wav2vec 2.0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0F129-BD92-42D3-8E2D-E497C5DB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가린 latent 위치를 주변 음성 문맥으로 표현한다.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63A36-16E7-4BC5-91AD-B7A7843F2A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60a6ed4694360"/>
          <a:stretch xmlns:a="http://schemas.openxmlformats.org/drawingml/2006/main"/>
        </p:blipFill>
        <p:spPr>
          <a:xfrm xmlns:a="http://schemas.openxmlformats.org/drawingml/2006/main">
            <a:off x="802525" y="2057400"/>
            <a:ext cx="6605501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855ED-6CE4-4952-B30B-174BA4D0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CNN이 waveform을 z_t로 바꾸고, 일부 위치를 mask embedding으로 치환한 뒤 Transformer가 c_t를 만든다.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Masking은 spectral mask로 음원을 복원하는 연산이 아니라 사전학습 문제를 만드는 절차다.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02E2E-D48D-4BE0-AE75-6A46D9F4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5, PDF p. 24 — CNN latent sequence, masked positions, Transformer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1BE5F-5F0A-4FF2-A9C3-0570904B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5465235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05ACD-C567-41A1-A399-C787C65D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wav2vec 2.0 Targets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65DC0-8788-48F0-B1A7-7B07052C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Context c_t는 같은 위치의 quantized target q_t를 distractor보다 잘 골라야 한다.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549C2-ABC7-4CC2-AEE8-944F4EE406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fa3af8d834c08"/>
          <a:stretch xmlns:a="http://schemas.openxmlformats.org/drawingml/2006/main"/>
        </p:blipFill>
        <p:spPr>
          <a:xfrm xmlns:a="http://schemas.openxmlformats.org/drawingml/2006/main">
            <a:off x="803275" y="2057400"/>
            <a:ext cx="660400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6563F-9B9C-49F8-8FA8-33318771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가리지 않은 z_t는 product quantizer를 거쳐 q_t가 된다. Contrastive loss는 positive와 후보를 구별한다.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Diversity objective는 일부 code entry만 쓰는 collapse를 줄인다. q_t는 문자 label이 아니다.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0F0A4-E865-491B-85CA-6F21AFF8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5, PDF p. 31 — online quantization, contrastive loss, diversity loss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F871D-7784-4100-8119-556D2401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8161377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9422B-7A6D-4B18-92ED-7B658AE6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HuBERT Hidden Units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CE496-81D5-4DFB-80A5-29F945E3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HuBERT는 offline clustering으로 만든 ID를 가린 위치에서 예측한다.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5E05F-4AB8-45E0-A33D-D95EA3FC43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cee7f922b4c71"/>
          <a:stretch xmlns:a="http://schemas.openxmlformats.org/drawingml/2006/main"/>
        </p:blipFill>
        <p:spPr>
          <a:xfrm xmlns:a="http://schemas.openxmlformats.org/drawingml/2006/main">
            <a:off x="803275" y="2057400"/>
            <a:ext cx="660400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843E9-98A4-413A-9498-EF1A6691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첫 target은 MFCC 등의 feature를 k-means로 묶어 만든다. 7·20·5는 cluster ID이며 음소 이름이나 크기 순서가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이전 HuBERT layer를 다시 clustering해 target을 개선할 수 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CA5BA-DA05-4A1E-82CA-CAE1E012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5, PDF p. 46 — offline k-means pseudo-labels and masked prediction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B95D8-D3A5-46E7-9D35-EDBD0FDD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6170742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937A2-C849-4AA8-9072-0E67B6D3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Final Recap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01D17-2237-4BE0-972B-052B9052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표현, encoder, 정렬 목표는 서로 다른 설계 축이다.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6F856-089D-4ADA-8A65-360A2A8AE2D9}"/>
              </a:ext>
            </a:extLst>
          </p:cNvPr>
          <p:cNvGraphicFramePr/>
          <p:nvPr/>
        </p:nvGraphicFramePr>
        <p:xfrm>
          <a:off xmlns:a="http://schemas.openxmlformats.org/drawingml/2006/main" x="533400" y="2057400"/>
          <a:ext xmlns:a="http://schemas.openxmlformats.org/drawingml/2006/main" cx="111252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08400"/>
                <a:gridCol w="3708400"/>
                <a:gridCol w="3708400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Question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Method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Answer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무엇을 보존?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STFT/Mel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time-frequency / compressed bands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어떻게 정렬?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CTC/LAS/RNN-T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paths / attention / 2-D lattice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어떻게 인코딩?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DS2/Conformer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RNN / attention+conv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target은 어디서?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wav2vec 2.0/HuBERT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quantizer / clustering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2D918-E6C5-44B4-ADEF-321B27BF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FFT는 DFT 계산법이고, Mel은 지각적 축약이다. Conformer는 encoder이며 CTC는 정렬 목표다.</a:t>
            </a:r>
          </a:p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wav2vec 2.0은 online quantized target, HuBERT는 offline cluster target을 쓴 뒤 labeled ASR로 fine-tuning한다.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D8191-6DC0-404C-8620-67931B24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4259861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2026-10-18T10:56:57.1650000Z</dcterms:created>
  <dcterms:modified xsi:type="dcterms:W3CDTF">2026-10-18T10:56:57.1650000Z</dcterms:modified>
</coreProperties>
</file>
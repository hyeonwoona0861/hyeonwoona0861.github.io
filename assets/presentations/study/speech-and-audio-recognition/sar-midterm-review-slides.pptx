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5f1e587f0d412a" /><Relationship Type="http://schemas.openxmlformats.org/officeDocument/2006/relationships/extended-properties" Target="/docProps/app.xml" Id="R8df96eab79054775" /><Relationship Type="http://schemas.openxmlformats.org/officeDocument/2006/relationships/officeDocument" Target="/ppt/presentation.xml" Id="R64efc7239f484b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68c2733a85451d"/>
  </p:sldMasterIdLst>
  <p:notesMasterIdLst>
    <p:notesMasterId xmlns:r="http://schemas.openxmlformats.org/officeDocument/2006/relationships" r:id="R8165d6eeddc24565"/>
  </p:notesMasterIdLst>
  <p:sldIdLst>
    <p:sldId xmlns:r="http://schemas.openxmlformats.org/officeDocument/2006/relationships" id="256" r:id="R56c93c7cc2f54d96"/>
    <p:sldId xmlns:r="http://schemas.openxmlformats.org/officeDocument/2006/relationships" id="257" r:id="R2dddf4fc60a74114"/>
    <p:sldId xmlns:r="http://schemas.openxmlformats.org/officeDocument/2006/relationships" id="258" r:id="Rcd935d757a2f4d8a"/>
    <p:sldId xmlns:r="http://schemas.openxmlformats.org/officeDocument/2006/relationships" id="259" r:id="R68c0b31e9c67475f"/>
    <p:sldId xmlns:r="http://schemas.openxmlformats.org/officeDocument/2006/relationships" id="260" r:id="R6ca5e52afd614203"/>
    <p:sldId xmlns:r="http://schemas.openxmlformats.org/officeDocument/2006/relationships" id="261" r:id="Rcaf3bcc336c84dbc"/>
    <p:sldId xmlns:r="http://schemas.openxmlformats.org/officeDocument/2006/relationships" id="262" r:id="R11a5a88e85b54172"/>
    <p:sldId xmlns:r="http://schemas.openxmlformats.org/officeDocument/2006/relationships" id="263" r:id="R4f37de88c76444d4"/>
    <p:sldId xmlns:r="http://schemas.openxmlformats.org/officeDocument/2006/relationships" id="264" r:id="R513c8604e0d844ca"/>
    <p:sldId xmlns:r="http://schemas.openxmlformats.org/officeDocument/2006/relationships" id="265" r:id="R16cf48085a6f4ecf"/>
    <p:sldId xmlns:r="http://schemas.openxmlformats.org/officeDocument/2006/relationships" id="266" r:id="R36cd1b46c7ab4142"/>
    <p:sldId xmlns:r="http://schemas.openxmlformats.org/officeDocument/2006/relationships" id="267" r:id="R1e01caf5f22f40de"/>
    <p:sldId xmlns:r="http://schemas.openxmlformats.org/officeDocument/2006/relationships" id="268" r:id="R468aaff0f73442dc"/>
    <p:sldId xmlns:r="http://schemas.openxmlformats.org/officeDocument/2006/relationships" id="269" r:id="R72f4c3239787485d"/>
    <p:sldId xmlns:r="http://schemas.openxmlformats.org/officeDocument/2006/relationships" id="270" r:id="R4a30805ec4fe4afa"/>
    <p:sldId xmlns:r="http://schemas.openxmlformats.org/officeDocument/2006/relationships" id="271" r:id="R554496c7fb4942ae"/>
    <p:sldId xmlns:r="http://schemas.openxmlformats.org/officeDocument/2006/relationships" id="272" r:id="Rb3cc2022d2b3407f"/>
    <p:sldId xmlns:r="http://schemas.openxmlformats.org/officeDocument/2006/relationships" id="273" r:id="R8bf9c9f45f8f4d96"/>
    <p:sldId xmlns:r="http://schemas.openxmlformats.org/officeDocument/2006/relationships" id="274" r:id="Rae0fd061cc1f4d82"/>
    <p:sldId xmlns:r="http://schemas.openxmlformats.org/officeDocument/2006/relationships" id="275" r:id="Rb380004e7a32497b"/>
    <p:sldId xmlns:r="http://schemas.openxmlformats.org/officeDocument/2006/relationships" id="276" r:id="Ra3709838001549d5"/>
    <p:sldId xmlns:r="http://schemas.openxmlformats.org/officeDocument/2006/relationships" id="277" r:id="R62bbf343a2ee4add"/>
    <p:sldId xmlns:r="http://schemas.openxmlformats.org/officeDocument/2006/relationships" id="278" r:id="R099ca7ec395e4155"/>
    <p:sldId xmlns:r="http://schemas.openxmlformats.org/officeDocument/2006/relationships" id="279" r:id="Ra234f5c17f4548a6"/>
    <p:sldId xmlns:r="http://schemas.openxmlformats.org/officeDocument/2006/relationships" id="280" r:id="R8a8c574258b04075"/>
    <p:sldId xmlns:r="http://schemas.openxmlformats.org/officeDocument/2006/relationships" id="281" r:id="R7c7189fea1e6478a"/>
    <p:sldId xmlns:r="http://schemas.openxmlformats.org/officeDocument/2006/relationships" id="282" r:id="R26264a50a2204cc0"/>
    <p:sldId xmlns:r="http://schemas.openxmlformats.org/officeDocument/2006/relationships" id="283" r:id="R6352de6ed5764c5f"/>
    <p:sldId xmlns:r="http://schemas.openxmlformats.org/officeDocument/2006/relationships" id="284" r:id="Rfeacc83f36cd43c3"/>
    <p:sldId xmlns:r="http://schemas.openxmlformats.org/officeDocument/2006/relationships" id="285" r:id="Rce4c06f557a74b11"/>
    <p:sldId xmlns:r="http://schemas.openxmlformats.org/officeDocument/2006/relationships" id="286" r:id="R819a35d3481c42ec"/>
    <p:sldId xmlns:r="http://schemas.openxmlformats.org/officeDocument/2006/relationships" id="287" r:id="Rc8a0ab01b1f849ab"/>
    <p:sldId xmlns:r="http://schemas.openxmlformats.org/officeDocument/2006/relationships" id="288" r:id="Rf15884afa78e4255"/>
    <p:sldId xmlns:r="http://schemas.openxmlformats.org/officeDocument/2006/relationships" id="289" r:id="Rb8b7e149120f4dd2"/>
    <p:sldId xmlns:r="http://schemas.openxmlformats.org/officeDocument/2006/relationships" id="290" r:id="Rac19584fca1b45b8"/>
    <p:sldId xmlns:r="http://schemas.openxmlformats.org/officeDocument/2006/relationships" id="291" r:id="Raab0bfcef61947e7"/>
    <p:sldId xmlns:r="http://schemas.openxmlformats.org/officeDocument/2006/relationships" id="292" r:id="Rd3e1b6b702f04234"/>
    <p:sldId xmlns:r="http://schemas.openxmlformats.org/officeDocument/2006/relationships" id="293" r:id="R3dab6f6f400d488f"/>
    <p:sldId xmlns:r="http://schemas.openxmlformats.org/officeDocument/2006/relationships" id="294" r:id="R3b2716d70e874a37"/>
    <p:sldId xmlns:r="http://schemas.openxmlformats.org/officeDocument/2006/relationships" id="295" r:id="R9efcefc2bfba4eec"/>
    <p:sldId xmlns:r="http://schemas.openxmlformats.org/officeDocument/2006/relationships" id="296" r:id="Re7eda4b4c3334d95"/>
    <p:sldId xmlns:r="http://schemas.openxmlformats.org/officeDocument/2006/relationships" id="297" r:id="R6cf87197565a4115"/>
    <p:sldId xmlns:r="http://schemas.openxmlformats.org/officeDocument/2006/relationships" id="298" r:id="R8e7b2e9ff2094707"/>
    <p:sldId xmlns:r="http://schemas.openxmlformats.org/officeDocument/2006/relationships" id="299" r:id="R5c739a6e662048a2"/>
    <p:sldId xmlns:r="http://schemas.openxmlformats.org/officeDocument/2006/relationships" id="300" r:id="R87cd80c5815d4e5b"/>
    <p:sldId xmlns:r="http://schemas.openxmlformats.org/officeDocument/2006/relationships" id="301" r:id="R23ea264ca1454dd8"/>
    <p:sldId xmlns:r="http://schemas.openxmlformats.org/officeDocument/2006/relationships" id="302" r:id="Ra693edefd95c4e3e"/>
    <p:sldId xmlns:r="http://schemas.openxmlformats.org/officeDocument/2006/relationships" id="303" r:id="R5cee2ce9ca82400b"/>
    <p:sldId xmlns:r="http://schemas.openxmlformats.org/officeDocument/2006/relationships" id="304" r:id="Rb295ee8db7b24cd9"/>
    <p:sldId xmlns:r="http://schemas.openxmlformats.org/officeDocument/2006/relationships" id="305" r:id="R992c228888f4497f"/>
    <p:sldId xmlns:r="http://schemas.openxmlformats.org/officeDocument/2006/relationships" id="306" r:id="Rd1d79f28209c4b6e"/>
    <p:sldId xmlns:r="http://schemas.openxmlformats.org/officeDocument/2006/relationships" id="307" r:id="Rbe7378b367ab4e29"/>
    <p:sldId xmlns:r="http://schemas.openxmlformats.org/officeDocument/2006/relationships" id="308" r:id="Rd008cb8f94ad468e"/>
    <p:sldId xmlns:r="http://schemas.openxmlformats.org/officeDocument/2006/relationships" id="309" r:id="Rddabc29d202b4384"/>
    <p:sldId xmlns:r="http://schemas.openxmlformats.org/officeDocument/2006/relationships" id="310" r:id="R726060644d6944de"/>
    <p:sldId xmlns:r="http://schemas.openxmlformats.org/officeDocument/2006/relationships" id="311" r:id="Rc85d1cadb9c84046"/>
    <p:sldId xmlns:r="http://schemas.openxmlformats.org/officeDocument/2006/relationships" id="312" r:id="R5b7ea39d67c5473a"/>
    <p:sldId xmlns:r="http://schemas.openxmlformats.org/officeDocument/2006/relationships" id="313" r:id="Rda60dbe69b2f46ce"/>
    <p:sldId xmlns:r="http://schemas.openxmlformats.org/officeDocument/2006/relationships" id="314" r:id="R883a01ebe5f2417f"/>
    <p:sldId xmlns:r="http://schemas.openxmlformats.org/officeDocument/2006/relationships" id="315" r:id="R26aad323a8144fb1"/>
    <p:sldId xmlns:r="http://schemas.openxmlformats.org/officeDocument/2006/relationships" id="316" r:id="Rdef4435afb3e406d"/>
    <p:sldId xmlns:r="http://schemas.openxmlformats.org/officeDocument/2006/relationships" id="317" r:id="R3046dc4c635d48d8"/>
    <p:sldId xmlns:r="http://schemas.openxmlformats.org/officeDocument/2006/relationships" id="318" r:id="Rc0bbb013fab242e4"/>
    <p:sldId xmlns:r="http://schemas.openxmlformats.org/officeDocument/2006/relationships" id="319" r:id="R120ddc860d0a467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7f2242cbb449a8" /><Relationship Type="http://schemas.openxmlformats.org/officeDocument/2006/relationships/slideMaster" Target="/ppt/slideMasters/slideMaster1.xml" Id="Re868c2733a85451d" /><Relationship Type="http://schemas.openxmlformats.org/officeDocument/2006/relationships/notesMaster" Target="/ppt/notesMasters/notesMaster1.xml" Id="R8165d6eeddc24565" /><Relationship Type="http://schemas.openxmlformats.org/officeDocument/2006/relationships/presProps" Target="/ppt/presProps.xml" Id="R1f45db6bfcf64642" /><Relationship Type="http://schemas.openxmlformats.org/officeDocument/2006/relationships/tableStyles" Target="/ppt/tableStyles.xml" Id="R7556db5d5bc14b64" /><Relationship Type="http://schemas.openxmlformats.org/officeDocument/2006/relationships/slide" Target="/ppt/slides/slide1.xml" Id="R56c93c7cc2f54d96" /><Relationship Type="http://schemas.openxmlformats.org/officeDocument/2006/relationships/slide" Target="/ppt/slides/slide2.xml" Id="R2dddf4fc60a74114" /><Relationship Type="http://schemas.openxmlformats.org/officeDocument/2006/relationships/slide" Target="/ppt/slides/slide3.xml" Id="Rcd935d757a2f4d8a" /><Relationship Type="http://schemas.openxmlformats.org/officeDocument/2006/relationships/slide" Target="/ppt/slides/slide4.xml" Id="R68c0b31e9c67475f" /><Relationship Type="http://schemas.openxmlformats.org/officeDocument/2006/relationships/slide" Target="/ppt/slides/slide5.xml" Id="R6ca5e52afd614203" /><Relationship Type="http://schemas.openxmlformats.org/officeDocument/2006/relationships/slide" Target="/ppt/slides/slide6.xml" Id="Rcaf3bcc336c84dbc" /><Relationship Type="http://schemas.openxmlformats.org/officeDocument/2006/relationships/slide" Target="/ppt/slides/slide7.xml" Id="R11a5a88e85b54172" /><Relationship Type="http://schemas.openxmlformats.org/officeDocument/2006/relationships/slide" Target="/ppt/slides/slide8.xml" Id="R4f37de88c76444d4" /><Relationship Type="http://schemas.openxmlformats.org/officeDocument/2006/relationships/slide" Target="/ppt/slides/slide9.xml" Id="R513c8604e0d844ca" /><Relationship Type="http://schemas.openxmlformats.org/officeDocument/2006/relationships/slide" Target="/ppt/slides/slide10.xml" Id="R16cf48085a6f4ecf" /><Relationship Type="http://schemas.openxmlformats.org/officeDocument/2006/relationships/slide" Target="/ppt/slides/slide11.xml" Id="R36cd1b46c7ab4142" /><Relationship Type="http://schemas.openxmlformats.org/officeDocument/2006/relationships/slide" Target="/ppt/slides/slide12.xml" Id="R1e01caf5f22f40de" /><Relationship Type="http://schemas.openxmlformats.org/officeDocument/2006/relationships/slide" Target="/ppt/slides/slide13.xml" Id="R468aaff0f73442dc" /><Relationship Type="http://schemas.openxmlformats.org/officeDocument/2006/relationships/slide" Target="/ppt/slides/slide14.xml" Id="R72f4c3239787485d" /><Relationship Type="http://schemas.openxmlformats.org/officeDocument/2006/relationships/slide" Target="/ppt/slides/slide15.xml" Id="R4a30805ec4fe4afa" /><Relationship Type="http://schemas.openxmlformats.org/officeDocument/2006/relationships/slide" Target="/ppt/slides/slide16.xml" Id="R554496c7fb4942ae" /><Relationship Type="http://schemas.openxmlformats.org/officeDocument/2006/relationships/slide" Target="/ppt/slides/slide17.xml" Id="Rb3cc2022d2b3407f" /><Relationship Type="http://schemas.openxmlformats.org/officeDocument/2006/relationships/slide" Target="/ppt/slides/slide18.xml" Id="R8bf9c9f45f8f4d96" /><Relationship Type="http://schemas.openxmlformats.org/officeDocument/2006/relationships/slide" Target="/ppt/slides/slide19.xml" Id="Rae0fd061cc1f4d82" /><Relationship Type="http://schemas.openxmlformats.org/officeDocument/2006/relationships/slide" Target="/ppt/slides/slide20.xml" Id="Rb380004e7a32497b" /><Relationship Type="http://schemas.openxmlformats.org/officeDocument/2006/relationships/slide" Target="/ppt/slides/slide21.xml" Id="Ra3709838001549d5" /><Relationship Type="http://schemas.openxmlformats.org/officeDocument/2006/relationships/slide" Target="/ppt/slides/slide22.xml" Id="R62bbf343a2ee4add" /><Relationship Type="http://schemas.openxmlformats.org/officeDocument/2006/relationships/slide" Target="/ppt/slides/slide23.xml" Id="R099ca7ec395e4155" /><Relationship Type="http://schemas.openxmlformats.org/officeDocument/2006/relationships/slide" Target="/ppt/slides/slide24.xml" Id="Ra234f5c17f4548a6" /><Relationship Type="http://schemas.openxmlformats.org/officeDocument/2006/relationships/slide" Target="/ppt/slides/slide25.xml" Id="R8a8c574258b04075" /><Relationship Type="http://schemas.openxmlformats.org/officeDocument/2006/relationships/slide" Target="/ppt/slides/slide26.xml" Id="R7c7189fea1e6478a" /><Relationship Type="http://schemas.openxmlformats.org/officeDocument/2006/relationships/slide" Target="/ppt/slides/slide27.xml" Id="R26264a50a2204cc0" /><Relationship Type="http://schemas.openxmlformats.org/officeDocument/2006/relationships/slide" Target="/ppt/slides/slide28.xml" Id="R6352de6ed5764c5f" /><Relationship Type="http://schemas.openxmlformats.org/officeDocument/2006/relationships/slide" Target="/ppt/slides/slide29.xml" Id="Rfeacc83f36cd43c3" /><Relationship Type="http://schemas.openxmlformats.org/officeDocument/2006/relationships/slide" Target="/ppt/slides/slide30.xml" Id="Rce4c06f557a74b11" /><Relationship Type="http://schemas.openxmlformats.org/officeDocument/2006/relationships/slide" Target="/ppt/slides/slide31.xml" Id="R819a35d3481c42ec" /><Relationship Type="http://schemas.openxmlformats.org/officeDocument/2006/relationships/slide" Target="/ppt/slides/slide32.xml" Id="Rc8a0ab01b1f849ab" /><Relationship Type="http://schemas.openxmlformats.org/officeDocument/2006/relationships/slide" Target="/ppt/slides/slide33.xml" Id="Rf15884afa78e4255" /><Relationship Type="http://schemas.openxmlformats.org/officeDocument/2006/relationships/slide" Target="/ppt/slides/slide34.xml" Id="Rb8b7e149120f4dd2" /><Relationship Type="http://schemas.openxmlformats.org/officeDocument/2006/relationships/slide" Target="/ppt/slides/slide35.xml" Id="Rac19584fca1b45b8" /><Relationship Type="http://schemas.openxmlformats.org/officeDocument/2006/relationships/slide" Target="/ppt/slides/slide36.xml" Id="Raab0bfcef61947e7" /><Relationship Type="http://schemas.openxmlformats.org/officeDocument/2006/relationships/slide" Target="/ppt/slides/slide37.xml" Id="Rd3e1b6b702f04234" /><Relationship Type="http://schemas.openxmlformats.org/officeDocument/2006/relationships/slide" Target="/ppt/slides/slide38.xml" Id="R3dab6f6f400d488f" /><Relationship Type="http://schemas.openxmlformats.org/officeDocument/2006/relationships/slide" Target="/ppt/slides/slide39.xml" Id="R3b2716d70e874a37" /><Relationship Type="http://schemas.openxmlformats.org/officeDocument/2006/relationships/slide" Target="/ppt/slides/slide40.xml" Id="R9efcefc2bfba4eec" /><Relationship Type="http://schemas.openxmlformats.org/officeDocument/2006/relationships/slide" Target="/ppt/slides/slide41.xml" Id="Re7eda4b4c3334d95" /><Relationship Type="http://schemas.openxmlformats.org/officeDocument/2006/relationships/slide" Target="/ppt/slides/slide42.xml" Id="R6cf87197565a4115" /><Relationship Type="http://schemas.openxmlformats.org/officeDocument/2006/relationships/slide" Target="/ppt/slides/slide43.xml" Id="R8e7b2e9ff2094707" /><Relationship Type="http://schemas.openxmlformats.org/officeDocument/2006/relationships/slide" Target="/ppt/slides/slide44.xml" Id="R5c739a6e662048a2" /><Relationship Type="http://schemas.openxmlformats.org/officeDocument/2006/relationships/slide" Target="/ppt/slides/slide45.xml" Id="R87cd80c5815d4e5b" /><Relationship Type="http://schemas.openxmlformats.org/officeDocument/2006/relationships/slide" Target="/ppt/slides/slide46.xml" Id="R23ea264ca1454dd8" /><Relationship Type="http://schemas.openxmlformats.org/officeDocument/2006/relationships/slide" Target="/ppt/slides/slide47.xml" Id="Ra693edefd95c4e3e" /><Relationship Type="http://schemas.openxmlformats.org/officeDocument/2006/relationships/slide" Target="/ppt/slides/slide48.xml" Id="R5cee2ce9ca82400b" /><Relationship Type="http://schemas.openxmlformats.org/officeDocument/2006/relationships/slide" Target="/ppt/slides/slide49.xml" Id="Rb295ee8db7b24cd9" /><Relationship Type="http://schemas.openxmlformats.org/officeDocument/2006/relationships/slide" Target="/ppt/slides/slide50.xml" Id="R992c228888f4497f" /><Relationship Type="http://schemas.openxmlformats.org/officeDocument/2006/relationships/slide" Target="/ppt/slides/slide51.xml" Id="Rd1d79f28209c4b6e" /><Relationship Type="http://schemas.openxmlformats.org/officeDocument/2006/relationships/slide" Target="/ppt/slides/slide52.xml" Id="Rbe7378b367ab4e29" /><Relationship Type="http://schemas.openxmlformats.org/officeDocument/2006/relationships/slide" Target="/ppt/slides/slide53.xml" Id="Rd008cb8f94ad468e" /><Relationship Type="http://schemas.openxmlformats.org/officeDocument/2006/relationships/slide" Target="/ppt/slides/slide54.xml" Id="Rddabc29d202b4384" /><Relationship Type="http://schemas.openxmlformats.org/officeDocument/2006/relationships/slide" Target="/ppt/slides/slide55.xml" Id="R726060644d6944de" /><Relationship Type="http://schemas.openxmlformats.org/officeDocument/2006/relationships/slide" Target="/ppt/slides/slide56.xml" Id="Rc85d1cadb9c84046" /><Relationship Type="http://schemas.openxmlformats.org/officeDocument/2006/relationships/slide" Target="/ppt/slides/slide57.xml" Id="R5b7ea39d67c5473a" /><Relationship Type="http://schemas.openxmlformats.org/officeDocument/2006/relationships/slide" Target="/ppt/slides/slide58.xml" Id="Rda60dbe69b2f46ce" /><Relationship Type="http://schemas.openxmlformats.org/officeDocument/2006/relationships/slide" Target="/ppt/slides/slide59.xml" Id="R883a01ebe5f2417f" /><Relationship Type="http://schemas.openxmlformats.org/officeDocument/2006/relationships/slide" Target="/ppt/slides/slide60.xml" Id="R26aad323a8144fb1" /><Relationship Type="http://schemas.openxmlformats.org/officeDocument/2006/relationships/slide" Target="/ppt/slides/slide61.xml" Id="Rdef4435afb3e406d" /><Relationship Type="http://schemas.openxmlformats.org/officeDocument/2006/relationships/slide" Target="/ppt/slides/slide62.xml" Id="R3046dc4c635d48d8" /><Relationship Type="http://schemas.openxmlformats.org/officeDocument/2006/relationships/slide" Target="/ppt/slides/slide63.xml" Id="Rc0bbb013fab242e4" /><Relationship Type="http://schemas.openxmlformats.org/officeDocument/2006/relationships/slide" Target="/ppt/slides/slide64.xml" Id="R120ddc860d0a467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5f33eae73740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7206da7d9e4384" /><Relationship Type="http://schemas.openxmlformats.org/officeDocument/2006/relationships/notesMaster" Target="/ppt/notesMasters/notesMaster1.xml" Id="Ra0d4707792fa43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3afc53aaad4e1c" /><Relationship Type="http://schemas.openxmlformats.org/officeDocument/2006/relationships/notesMaster" Target="/ppt/notesMasters/notesMaster1.xml" Id="R5e6a7c0b706549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a938b6e44a4e1b" /><Relationship Type="http://schemas.openxmlformats.org/officeDocument/2006/relationships/notesMaster" Target="/ppt/notesMasters/notesMaster1.xml" Id="R9c59f7bb8c4441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3657c27849141cc" /><Relationship Type="http://schemas.openxmlformats.org/officeDocument/2006/relationships/notesMaster" Target="/ppt/notesMasters/notesMaster1.xml" Id="R83afbbdea81d46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8ce2e14d144c98" /><Relationship Type="http://schemas.openxmlformats.org/officeDocument/2006/relationships/notesMaster" Target="/ppt/notesMasters/notesMaster1.xml" Id="Rec73bf918c6142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d41eb6371094acb" /><Relationship Type="http://schemas.openxmlformats.org/officeDocument/2006/relationships/notesMaster" Target="/ppt/notesMasters/notesMaster1.xml" Id="R57c511533e6741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3f778fd5e1f4251" /><Relationship Type="http://schemas.openxmlformats.org/officeDocument/2006/relationships/notesMaster" Target="/ppt/notesMasters/notesMaster1.xml" Id="R44b621d8f9534d0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13d19dbb2e94b5b" /><Relationship Type="http://schemas.openxmlformats.org/officeDocument/2006/relationships/notesMaster" Target="/ppt/notesMasters/notesMaster1.xml" Id="Rd7f34e6212d745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46717955f34154" /><Relationship Type="http://schemas.openxmlformats.org/officeDocument/2006/relationships/notesMaster" Target="/ppt/notesMasters/notesMaster1.xml" Id="Rf56c7d2a6ea347c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1fd44eb6704adb" /><Relationship Type="http://schemas.openxmlformats.org/officeDocument/2006/relationships/notesMaster" Target="/ppt/notesMasters/notesMaster1.xml" Id="R43dc295db70c467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71dee584a614767" /><Relationship Type="http://schemas.openxmlformats.org/officeDocument/2006/relationships/notesMaster" Target="/ppt/notesMasters/notesMaster1.xml" Id="R14d50c87a4b54ba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1d93445fa7340fd" /><Relationship Type="http://schemas.openxmlformats.org/officeDocument/2006/relationships/notesMaster" Target="/ppt/notesMasters/notesMaster1.xml" Id="Rca65046cf798403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9040394869e4277" /><Relationship Type="http://schemas.openxmlformats.org/officeDocument/2006/relationships/notesMaster" Target="/ppt/notesMasters/notesMaster1.xml" Id="Rf02d05d0f344495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e3589a44c314f1d" /><Relationship Type="http://schemas.openxmlformats.org/officeDocument/2006/relationships/notesMaster" Target="/ppt/notesMasters/notesMaster1.xml" Id="Rb23e76b13792455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46ae6d050e44689" /><Relationship Type="http://schemas.openxmlformats.org/officeDocument/2006/relationships/notesMaster" Target="/ppt/notesMasters/notesMaster1.xml" Id="Rd333122ee0be4ce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72ecbadd22b47e8" /><Relationship Type="http://schemas.openxmlformats.org/officeDocument/2006/relationships/notesMaster" Target="/ppt/notesMasters/notesMaster1.xml" Id="Re2c6260e5a934e2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398540ac5364ba4" /><Relationship Type="http://schemas.openxmlformats.org/officeDocument/2006/relationships/notesMaster" Target="/ppt/notesMasters/notesMaster1.xml" Id="R0f6e171ed958422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b60c88303fe45ac" /><Relationship Type="http://schemas.openxmlformats.org/officeDocument/2006/relationships/notesMaster" Target="/ppt/notesMasters/notesMaster1.xml" Id="Rc07a1fc2c23742a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799a7f2259f46e9" /><Relationship Type="http://schemas.openxmlformats.org/officeDocument/2006/relationships/notesMaster" Target="/ppt/notesMasters/notesMaster1.xml" Id="Rbc52658b0f84435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b684c87309e401f" /><Relationship Type="http://schemas.openxmlformats.org/officeDocument/2006/relationships/notesMaster" Target="/ppt/notesMasters/notesMaster1.xml" Id="Re3e1de9748fa43e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6409b3d2e4e43e1" /><Relationship Type="http://schemas.openxmlformats.org/officeDocument/2006/relationships/notesMaster" Target="/ppt/notesMasters/notesMaster1.xml" Id="Ra1f8d8fb4f8c4fc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5270b671168482f" /><Relationship Type="http://schemas.openxmlformats.org/officeDocument/2006/relationships/notesMaster" Target="/ppt/notesMasters/notesMaster1.xml" Id="R49a856cc3170436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f92320408cb4272" /><Relationship Type="http://schemas.openxmlformats.org/officeDocument/2006/relationships/notesMaster" Target="/ppt/notesMasters/notesMaster1.xml" Id="R67bb4a2b495f4f4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51ea37989754522" /><Relationship Type="http://schemas.openxmlformats.org/officeDocument/2006/relationships/notesMaster" Target="/ppt/notesMasters/notesMaster1.xml" Id="R4bc106ac2d7c4ef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b2b605ebfc24b42" /><Relationship Type="http://schemas.openxmlformats.org/officeDocument/2006/relationships/notesMaster" Target="/ppt/notesMasters/notesMaster1.xml" Id="R529020073d5549b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a99b5fc8eba4b18" /><Relationship Type="http://schemas.openxmlformats.org/officeDocument/2006/relationships/notesMaster" Target="/ppt/notesMasters/notesMaster1.xml" Id="R5807560111e94d3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d74be8d97304779" /><Relationship Type="http://schemas.openxmlformats.org/officeDocument/2006/relationships/notesMaster" Target="/ppt/notesMasters/notesMaster1.xml" Id="Rae3138002ffd4e3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6300fff170a4fe0" /><Relationship Type="http://schemas.openxmlformats.org/officeDocument/2006/relationships/notesMaster" Target="/ppt/notesMasters/notesMaster1.xml" Id="R8b2d3a44e9204f3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d06f885600f4f28" /><Relationship Type="http://schemas.openxmlformats.org/officeDocument/2006/relationships/notesMaster" Target="/ppt/notesMasters/notesMaster1.xml" Id="R726fa00218d04ec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c38d480a7f842b5" /><Relationship Type="http://schemas.openxmlformats.org/officeDocument/2006/relationships/notesMaster" Target="/ppt/notesMasters/notesMaster1.xml" Id="R879d44d0340a4d15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cef2d4eda484c7c" /><Relationship Type="http://schemas.openxmlformats.org/officeDocument/2006/relationships/notesMaster" Target="/ppt/notesMasters/notesMaster1.xml" Id="Rb36c345f1028475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046462172fa426d" /><Relationship Type="http://schemas.openxmlformats.org/officeDocument/2006/relationships/notesMaster" Target="/ppt/notesMasters/notesMaster1.xml" Id="R2cd3070494d743a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edbeea2f77f4194" /><Relationship Type="http://schemas.openxmlformats.org/officeDocument/2006/relationships/notesMaster" Target="/ppt/notesMasters/notesMaster1.xml" Id="R37c23d1f1fb54b0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7c837f351244b81" /><Relationship Type="http://schemas.openxmlformats.org/officeDocument/2006/relationships/notesMaster" Target="/ppt/notesMasters/notesMaster1.xml" Id="R2dcc53cd16a2475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bc5d0533c424719" /><Relationship Type="http://schemas.openxmlformats.org/officeDocument/2006/relationships/notesMaster" Target="/ppt/notesMasters/notesMaster1.xml" Id="R9ed13d153cca4c1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6a696508d09486c" /><Relationship Type="http://schemas.openxmlformats.org/officeDocument/2006/relationships/notesMaster" Target="/ppt/notesMasters/notesMaster1.xml" Id="R2417a638c7b0455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99de45a5f6647e3" /><Relationship Type="http://schemas.openxmlformats.org/officeDocument/2006/relationships/notesMaster" Target="/ppt/notesMasters/notesMaster1.xml" Id="Rbb635be8544a45a5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136b34f832a4daf" /><Relationship Type="http://schemas.openxmlformats.org/officeDocument/2006/relationships/notesMaster" Target="/ppt/notesMasters/notesMaster1.xml" Id="Rf10641b9267d4bc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dce51d5adcb84299" /><Relationship Type="http://schemas.openxmlformats.org/officeDocument/2006/relationships/notesMaster" Target="/ppt/notesMasters/notesMaster1.xml" Id="Rc0461dca579c454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ac34416547146d1" /><Relationship Type="http://schemas.openxmlformats.org/officeDocument/2006/relationships/notesMaster" Target="/ppt/notesMasters/notesMaster1.xml" Id="R51084c63ea9d4ef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e802fac144ec498a" /><Relationship Type="http://schemas.openxmlformats.org/officeDocument/2006/relationships/notesMaster" Target="/ppt/notesMasters/notesMaster1.xml" Id="R44f1269d40b146c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9469ce69c8c0486b" /><Relationship Type="http://schemas.openxmlformats.org/officeDocument/2006/relationships/notesMaster" Target="/ppt/notesMasters/notesMaster1.xml" Id="Rd904ec340532441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7181906ad2c4411" /><Relationship Type="http://schemas.openxmlformats.org/officeDocument/2006/relationships/notesMaster" Target="/ppt/notesMasters/notesMaster1.xml" Id="Re5d6dce7aa9f417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083ac0da06f40fe" /><Relationship Type="http://schemas.openxmlformats.org/officeDocument/2006/relationships/notesMaster" Target="/ppt/notesMasters/notesMaster1.xml" Id="Rd7247703ee3542dd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185bc6d4f444e67" /><Relationship Type="http://schemas.openxmlformats.org/officeDocument/2006/relationships/notesMaster" Target="/ppt/notesMasters/notesMaster1.xml" Id="R108e0dea9b884dda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b29f7500c9ac4083" /><Relationship Type="http://schemas.openxmlformats.org/officeDocument/2006/relationships/notesMaster" Target="/ppt/notesMasters/notesMaster1.xml" Id="R381b56ad80d140d5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2e4ad407aab54d49" /><Relationship Type="http://schemas.openxmlformats.org/officeDocument/2006/relationships/notesMaster" Target="/ppt/notesMasters/notesMaster1.xml" Id="Rfba7ca2848de4165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93c36952a1dd4b3b" /><Relationship Type="http://schemas.openxmlformats.org/officeDocument/2006/relationships/notesMaster" Target="/ppt/notesMasters/notesMaster1.xml" Id="R4ad25d79f37e44d7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840302838f0f4fcd" /><Relationship Type="http://schemas.openxmlformats.org/officeDocument/2006/relationships/notesMaster" Target="/ppt/notesMasters/notesMaster1.xml" Id="Re62c1478740e4227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d40714a8c0e34121" /><Relationship Type="http://schemas.openxmlformats.org/officeDocument/2006/relationships/notesMaster" Target="/ppt/notesMasters/notesMaster1.xml" Id="Rfe0eda50c0b642b2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6bff295fbe442f7" /><Relationship Type="http://schemas.openxmlformats.org/officeDocument/2006/relationships/notesMaster" Target="/ppt/notesMasters/notesMaster1.xml" Id="R8546396b923342f2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9ace6df20c4e454e" /><Relationship Type="http://schemas.openxmlformats.org/officeDocument/2006/relationships/notesMaster" Target="/ppt/notesMasters/notesMaster1.xml" Id="R211c0ecfa7ac44df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8811a6afdfee484c" /><Relationship Type="http://schemas.openxmlformats.org/officeDocument/2006/relationships/notesMaster" Target="/ppt/notesMasters/notesMaster1.xml" Id="Raab9d61776954863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638cb5539d2483d" /><Relationship Type="http://schemas.openxmlformats.org/officeDocument/2006/relationships/notesMaster" Target="/ppt/notesMasters/notesMaster1.xml" Id="R2884b5f5784e42b5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e60c728e50a64391" /><Relationship Type="http://schemas.openxmlformats.org/officeDocument/2006/relationships/notesMaster" Target="/ppt/notesMasters/notesMaster1.xml" Id="R5b32ab4ea0144a73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3a4f3fc30f3344b7" /><Relationship Type="http://schemas.openxmlformats.org/officeDocument/2006/relationships/notesMaster" Target="/ppt/notesMasters/notesMaster1.xml" Id="R38f7bba91f92495a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40da98b91f34681" /><Relationship Type="http://schemas.openxmlformats.org/officeDocument/2006/relationships/notesMaster" Target="/ppt/notesMasters/notesMaster1.xml" Id="R26db8b2c4f7d4aa9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e5e1ac9f823d4ed6" /><Relationship Type="http://schemas.openxmlformats.org/officeDocument/2006/relationships/notesMaster" Target="/ppt/notesMasters/notesMaster1.xml" Id="Rafaa9da1c8e74a64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7fe26908d67d4593" /><Relationship Type="http://schemas.openxmlformats.org/officeDocument/2006/relationships/notesMaster" Target="/ppt/notesMasters/notesMaster1.xml" Id="R49018d7d803646a7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0090f6abef0f4a62" /><Relationship Type="http://schemas.openxmlformats.org/officeDocument/2006/relationships/notesMaster" Target="/ppt/notesMasters/notesMaster1.xml" Id="Rfae054b20fd64048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663d33ee50ca41ad" /><Relationship Type="http://schemas.openxmlformats.org/officeDocument/2006/relationships/notesMaster" Target="/ppt/notesMasters/notesMaster1.xml" Id="R70414a37f73a445e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ea59251c5e53424b" /><Relationship Type="http://schemas.openxmlformats.org/officeDocument/2006/relationships/notesMaster" Target="/ppt/notesMasters/notesMaster1.xml" Id="R41b6781ec47c4f67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9a0c2d4d3ec74f5e" /><Relationship Type="http://schemas.openxmlformats.org/officeDocument/2006/relationships/notesMaster" Target="/ppt/notesMasters/notesMaster1.xml" Id="R8c65d3e00b6447ec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0292981a3f0a4cb9" /><Relationship Type="http://schemas.openxmlformats.org/officeDocument/2006/relationships/notesMaster" Target="/ppt/notesMasters/notesMaster1.xml" Id="Reb119d7ef83042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범위 기준: https://hyeonwoona0861.github.io/study/speech-and-audio-recognition/midterm-review/ ; Lecture 6–7 source separation은 제외한다.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공개 총정리의 전체 흐름: https://hyeonwoona0861.github.io/study/speech-and-audio-recognition/midterm-review/#전체-흐름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https://hyeonwoona0861.github.io/assets/pdfs/study/speech-and-audio-recognition/speech-audio-lecture-02.pdf#page=5 ; 캡처: https://hyeonwoona0861.github.io/assets/images/study/speech-and-audio-recognition/source-captures/speech-02-p05.png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https://hyeonwoona0861.github.io/assets/pdfs/study/speech-and-audio-recognition/speech-audio-lecture-02.pdf#page=37 ; 캡처: https://hyeonwoona0861.github.io/assets/images/study/speech-and-audio-recognition/source-captures/speech-02-p37.png</a:t>
            </a:r>
          </a:p>
          <a:p xmlns:a="http://schemas.openxmlformats.org/drawingml/2006/main">
            <a:r>
              <a:t>수식 검산: x_f[n]=exp(j2πfn/fs)일 때 어떤 정수 k에 대해 x_(f+kfs)[n]=x_f[n]이다. 복소 basis에서 5 kHz는 -3 kHz와 같은 표본이고, 실수 cosine의 짝수 대칭 때문에 zero-phase 3 kHz cosine과도 같다. 따라서 Fourier analysis는 겹침을 드러내지만 표본화 이후에 원래 성분을 재생성하지 못한다. 방지는 표본화 전 anti-alias low-pass filter와 필요 대역보다 충분히 높은 sampling rate로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https://hyeonwoona0861.github.io/assets/pdfs/study/speech-and-audio-recognition/speech-audio-lecture-02.pdf#page=26 ; 캡처: https://hyeonwoona0861.github.io/assets/images/study/speech-and-audio-recognition/source-captures/speech-02-p26.png</a:t>
            </a:r>
          </a:p>
          <a:p xmlns:a="http://schemas.openxmlformats.org/drawingml/2006/main">
            <a:r>
              <a:t>이산 시간에서 exp(j2π(k+qN)n/N)=exp(j2πkn/N)이므로 basis index는 modulo N로 같아진다. DFT bin의 직교성은 0,…,N-1의 서로 다른 나머지 class에 대해 성립한다. 이 직교성은 관측된 표본 안의 성분을 분리하지만, aliasing으로 같은 class에 접힌 원래 아날로그 주파수까지 구별하지는 못한다.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https://hyeonwoona0861.github.io/assets/pdfs/study/speech-and-audio-recognition/speech-audio-lecture-02.pdf#page=29 ; 캡처: https://hyeonwoona0861.github.io/assets/images/study/speech-and-audio-recognition/source-captures/speech-02-p29.png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https://hyeonwoona0861.github.io/assets/pdfs/study/speech-and-audio-recognition/speech-audio-lecture-02.pdf#page=32 ; 캡처: https://hyeonwoona0861.github.io/assets/images/study/speech-and-audio-recognition/source-captures/speech-02-p32.png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https://hyeonwoona0861.github.io/assets/pdfs/study/speech-and-audio-recognition/speech-audio-lecture-02-2.pdf#page=9 ; 캡처: https://hyeonwoona0861.github.io/assets/images/study/speech-and-audio-recognition/source-captures/speech-02-2-p09.png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2 Lab PDF p.9의 STFT 그림 뒤에 둔 작성자 계산 예제. A와 B는 같은 신호의 전체/확대 파형이며 C는 동일 신호의 power STFT. 500 Hz가 1초 내내 존재하고 1500 Hz는 .4–.8초에만 존재한다. 두 경계에 10 ms linear ramp. 주파수 그림은 0–2500 Hz만 표시. 복소 DFT를 abs 제곱 후 global maximum 기준 10log10으로 변환하고 -60 dB로 clipping. 보정된 SPL이나 PSD가 아니다. 파형의 위상 정보는 표본에 담겨 있고, 복소 STFT에도 남는다. 생성 코드: waveform-spectrogram-example.mjs. 원문: https://hyeonwoona0861.github.io/assets/pdfs/study/speech-and-audio-recognition/speech-audio-lecture-02-2.pdf#page=9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X=a+jb에서 magnitude=sqrt(a²+b²), phase=atan2(b,a). 0계수의 phase는 정의되지 않는다. 선형성으로 STFT(-x)=-STFT(x)이므로 두 power는 같다. 이는 전체 magnitude만으로 원신호가 유일하지 않다는 반례이며 모든 phase 변화가 청감 차이를 보장한다는 주장이 아니다. 실제 계산 예제의 complex STFT 역변환 maximum absolute error는 waveform-spectrogram-verification.json에 보존. 역변환 조건 참고: https://docs.scipy.org/doc/scipy/reference/generated/scipy.signal.stft.html 및 https://docs.scipy.org/doc/scipy/reference/generated/scipy.signal.istft.html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https://hyeonwoona0861.github.io/assets/pdfs/study/speech-and-audio-recognition/speech-audio-lecture-02-2.pdf#page=14 ; 캡처: https://hyeonwoona0861.github.io/assets/images/study/speech-and-audio-recognition/source-captures/speech-02-2-p14.png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https://hyeonwoona0861.github.io/assets/pdfs/study/speech-and-audio-recognition/speech-audio-lecture-02-2.pdf#page=17 ; 캡처: https://hyeonwoona0861.github.io/assets/images/study/speech-and-audio-recognition/source-captures/speech-02-2-p17.png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3 및 공개 총정리: https://hyeonwoona0861.github.io/study/speech-and-audio-recognition/midterm-review/#31-wer는-정답-길이로-정규화한-편집-거리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https://hyeonwoona0861.github.io/assets/pdfs/study/speech-and-audio-recognition/speech-audio-lecture-03.pdf#page=47 ; 캡처: https://hyeonwoona0861.github.io/assets/images/study/speech-and-audio-recognition/source-captures/speech-03-p47.png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강의 3 및 공개 총정리: https://hyeonwoona0861.github.io/study/speech-and-audio-recognition/midterm-review/#32-음향-frame과-문자-수는-같지-않다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https://hyeonwoona0861.github.io/assets/pdfs/study/speech-and-audio-recognition/speech-audio-lecture-03.pdf#page=33 ; 캡처: https://hyeonwoona0861.github.io/assets/images/study/speech-and-audio-recognition/source-captures/speech-03-p33.png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https://hyeonwoona0861.github.io/assets/pdfs/study/speech-and-audio-recognition/speech-audio-lecture-03.pdf#page=35 ; 캡처: https://hyeonwoona0861.github.io/assets/images/study/speech-and-audio-recognition/source-captures/speech-03-p35.png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https://hyeonwoona0861.github.io/assets/pdfs/study/speech-and-audio-recognition/speech-audio-lecture-03.pdf#page=41 ; 원문 요약의 각 항목을 뒤 슬라이드에서 나누어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pp.36,41; Lecture 4 p.2. produces alignment는 잠재 정렬과 추론 정렬을 뜻하며 정확한 forced timestamp 보장이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pp.37–41. 원문의 Perfect quality는 exhaustive search의 탐색 관점이며 실제 정답 인식 보장으로 옮기지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3 pp.37–41의 원리를 설명하는 자체 수치 예제. 나머지 출력 확률: b=0.11, ab=0.04, ba=0.04; 전체 합=1. 원문 p37 수치는 합이 1을 넘어 그대로 재사용하지 않았다.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https://hyeonwoona0861.github.io/assets/pdfs/study/speech-and-audio-recognition/speech-audio-lecture-03.pdf#page=40 ; 캡처: https://hyeonwoona0861.github.io/assets/images/study/speech-and-audio-recognition/source-captures/speech-03-p40.png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공개 총정리: https://hyeonwoona0861.github.io/study/speech-and-audio-recognition/midterm-review/#44-deep-speech-2와-conformer를-구조-역할로-비교한다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pp.42–45; Lecture 4 p.16. 구조의 문제의식과 해결책을 설명하며 과거 데이터셋의 성능을 보편적 우월성으로 일반화하지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https://hyeonwoona0861.github.io/assets/pdfs/study/speech-and-audio-recognition/speech-audio-lecture-03.pdf#page=43 ; 원문 전체 block을 따라 연산 순서와 residual 의미 해설.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https://hyeonwoona0861.github.io/assets/pdfs/study/speech-and-audio-recognition/speech-audio-lecture-03.pdf#page=44 ; 캡처: https://hyeonwoona0861.github.io/assets/images/study/speech-and-audio-recognition/source-captures/speech-03-p44.png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pp.46–48. T는 subsampling 뒤 encoder 길이. 정확한 길이는 kernel·padding에 의존한다. WordPiece·Unigram도 대안이며 문맥에 따른 발음과 짧은 출력 길이가 동기다. BPE 원본 그림은 앞 슬라이드 참조. 길이조건은 CTC collapse 규칙의 보충 설명.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https://hyeonwoona0861.github.io/assets/pdfs/study/speech-and-audio-recognition/speech-audio-lecture-04.pdf#page=4 ; pp.3–11의 고정 벡터와 attention 비교.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https://hyeonwoona0861.github.io/assets/pdfs/study/speech-and-audio-recognition/speech-audio-lecture-04.pdf#page=11 ; source/target axes and brightness inspected directly.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https://hyeonwoona0861.github.io/assets/pdfs/study/speech-and-audio-recognition/speech-audio-lecture-04.pdf#page=10 ; dot은 같은 차원 표현, bilinear는 차원에 맞는 W가 필요하다. Score 이후 입력 위치별 정규화를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pp.6–13. 수치 예제는 설명용 자체 예제. e,α,c의 출력 단계 u와 입력 위치 t를 구분한다.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pp.12–17 및 lecture-04-attention-and-rnn-transducer.md의 autoregressive 보강. EOS를 포함한 sequence probability와 teacher-forcing 조건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https://hyeonwoona0861.github.io/assets/pdfs/study/speech-and-audio-recognition/speech-audio-lecture-04.pdf#page=13 ; 자연로그, nats 단위. H(p,q)=H(p)+KL(p||q), p 고정 시 q=p에서 최소.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https://hyeonwoona0861.github.io/assets/pdfs/study/speech-and-audio-recognition/speech-audio-lecture-04.pdf#page=15 ; 캡처: https://hyeonwoona0861.github.io/assets/images/study/speech-and-audio-recognition/source-captures/speech-04-p15.png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https://hyeonwoona0861.github.io/assets/pdfs/study/speech-and-audio-recognition/speech-audio-lecture-04.pdf#page=16 ; 감소율은 단계 수에 의존한다.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p.17. 자체 수치 예제이며 log 점수, 길이 정규화, LM 없는 순수 확률 비교. Beam은 일반적으로 전역 최적을 보장하지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pp.15–20. p18의 서로 다른 연도·학습 설정 WER 수치를 architecture의 단독 인과 효과로 비교하지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pp.21–32. RNN-T 목표는 context dependent + streamable; prediction network와 external LM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https://hyeonwoona0861.github.io/assets/pdfs/study/speech-and-audio-recognition/speech-audio-lecture-04.pdf#page=37 ; 캡처: https://hyeonwoona0861.github.io/assets/images/study/speech-and-audio-recognition/source-captures/speech-04-p37.png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pp.22–32의 순차 도식. x₀–x₄, c·a·t와 blank 위치를 원문과 대조.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pp.33–41. 격자 바깥 불가능한 전이는 제외하고 해당 구현의 마지막 blank/종료 규약을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pp.36–41. 자체 내부 칸 예제; α(0,0)=1, 불가능한 상태=0. 실제 encoder 인덱스와 마지막 blank 규약에 맞춰 경계식은 별도로 적용한다. b와 ℓ은 서로 다른 상태에서 평가될 수 있으며 한 공통 softmax의 두 값으로 오해하지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4 PDF pp.33–41의 격자를 consumed-frame convention으로 명시한 보충 설명. 음향 인덱스 0..T−1, 출력 개수 0..U, T&gt;0. t=T에서는 α(T,u)=α(T−1,u)b(T−1,u), 이후 전이 없음. 최종 상태는 (T,U). 경계 규약이 다른 구현의 식과 섞지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https://hyeonwoona0861.github.io/assets/pdfs/study/speech-and-audio-recognition/speech-audio-lecture-04.pdf#page=42 ; 32×800×450×640×4=29,491,200,000 bytes. 표기 오류를 설명에서 정정. 구현에 따라 tensor materialization·checkpointing·mixed precision 차이가 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Lecture 4 PDF p.42 재계산. 2,457,600,000 bytes=2.4576 GB를 소수 둘째 자리 반올림해 2.46 GB. 실제 GPU peak memory 측정값이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https://hyeonwoona0861.github.io/assets/pdfs/study/speech-and-audio-recognition/speech-audio-lecture-04.pdf#page=44 ; 캡처: https://hyeonwoona0861.github.io/assets/images/study/speech-and-audio-recognition/source-captures/speech-04-p44.png ; 표의 streaming 표시는 구현 조건에 따라 달라질 수 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pp.19–20,42–44. 세 모델의 정의를 한국어로 풀이한 원문 비교표 상세 해설.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4 PDF pp.18–20,43–44. 원문 T는 단계 수를 단순화해 표기하므로 보편적인 점근 복잡도 정리로 재사용하지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https://hyeonwoona0861.github.io/assets/pdfs/study/speech-and-audio-recognition/speech-audio-lecture-04.pdf#page=43 ; L4 p18 같은 LAS 비교표. 자원 수치는 L3 p42의 소개값이며 최신 모델 성능·동일 조건 benchmark로 주장하지 않는다. 표의 Human 연도 표기는 농담성 표현으로 사실 연표에 재사용하지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pp.49–51; Lecture 4 pp.45–47. 원문 두 후보의 수치를 결합한 설명용 예제. BERT류 masked LM은 causal next-token LM과 동일하게 사용할 수 없으며 별도 점수화가 필요하다.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3 PDF p.51; Lecture 4 p.47. 원문의 large/light model (ASR)는 LM 결합 설명에서 모호하므로 대형 LM 재점수화/가벼운 LM 반복 탐색으로 기능을 설명한다.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https://hyeonwoona0861.github.io/assets/pdfs/study/speech-and-audio-recognition/speech-audio-lecture-04.pdf#page=48 ; 결합부·gate의 세부 구현과 동결 범위는 방법별로 다르므로 이 도식만으로 모든 파라미터의 공동학습을 단정하지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https://hyeonwoona0861.github.io/assets/pdfs/study/speech-and-audio-recognition/speech-audio-lecture-05.pdf#page=11 ; pp.3–11의 순차 도식을 종합한 해설.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5 PDF pp.3–17. 예시는 분류 이해를 위한 설명. SSL은 넓은 unlabeled learning 안에서 supervision을 스스로 만드는 방식으로 볼 수 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https://hyeonwoona0861.github.io/assets/pdfs/study/speech-and-audio-recognition/speech-audio-lecture-05.pdf#page=12 ; 원문 소개의 범위 안에서 데이터 신호 출처를 해설. MMS에는 SSL 사전학습도 있으므로 단일 범주로 환원하지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https://hyeonwoona0861.github.io/assets/pdfs/study/speech-and-audio-recognition/speech-audio-lecture-05.pdf#page=16 ; pp.13–16 원문 단계 도식. 모든 SSL이 masking만 쓰는 것은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5 PDF pp.13–19. p17의 fast/better convergence, low-resource, foundation model bullet을 조건과 함께 상세 해설. p18 text SSL 계보는 학습 목표 차이로 설명.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https://hyeonwoona0861.github.io/assets/pdfs/study/speech-and-audio-recognition/speech-audio-lecture-05.pdf#page=17 ; 그래프에 실험조건·회귀 변환 세부가 없으므로 추가 효과 크기를 추정하지 않는다. Low-resource 동기를 설명하는 시각자료로만 사용한다.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Lecture 5 PDF pp.19–20. '1 second ~16000 floats'는 16 kHz 조건의 sample 수이지 모든 녹음의 고정값이나 저장 포맷 보장이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https://hyeonwoona0861.github.io/assets/pdfs/study/speech-and-audio-recognition/speech-audio-lecture-05.pdf#page=20 ; 범례에 embedding·multimodal도 있음. 도식의 분류는 대표 특징이며 기법이 항상 배타적인 것은 아니다. 이번 상세 보강 범위는 이 페이지까지.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https://hyeonwoona0861.github.io/assets/pdfs/study/speech-and-audio-recognition/speech-audio-lecture-05.pdf#page=24 ; 캡처: https://hyeonwoona0861.github.io/assets/images/study/speech-and-audio-recognition/source-captures/speech-05-p24.png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https://hyeonwoona0861.github.io/assets/pdfs/study/speech-and-audio-recognition/speech-audio-lecture-05.pdf#page=31 ; 캡처: https://hyeonwoona0861.github.io/assets/images/study/speech-and-audio-recognition/source-captures/speech-05-p31.png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원본: https://hyeonwoona0861.github.io/assets/pdfs/study/speech-and-audio-recognition/speech-audio-lecture-05.pdf#page=46 ; 캡처: https://hyeonwoona0861.github.io/assets/images/study/speech-and-audio-recognition/source-captures/speech-05-p46.png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범위와 역할 연결: https://hyeonwoona0861.github.io/study/speech-and-audio-recognition/midterm-review/#마지막-핵심-정리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9758d0a6f1486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2fd5c395c1455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5526869386432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3d850d0a984ca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1c2f15b5514f4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dcc03186e54e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E3F1CA0-D7B0-49BB-9944-C438CACB61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BFB0CEF-68D9-460A-B2F1-5A08331C531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522463A-2209-4178-8325-BB57A9BD10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E5DBB7F-34FF-438C-B5FC-F59B92DA0F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AB05944-AD06-4D06-80A9-2C25C539E4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91BF0E2-89A8-47FD-BBDB-AFF6979C4D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0E78FD8-8301-45BA-844E-06117EEF9C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5230FE7-7E62-4469-A437-38559D5A197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0BFB393-8062-4A70-B942-4E06176784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F8BB7FD-C754-4059-AE13-BF20F87E6AA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fda04b1c729460e" /><Relationship Type="http://schemas.openxmlformats.org/officeDocument/2006/relationships/slideLayout" Target="/ppt/slideLayouts/slideLayout1.xml" Id="R55c37972b7324ba8" /><Relationship Type="http://schemas.openxmlformats.org/officeDocument/2006/relationships/slideLayout" Target="/ppt/slideLayouts/slideLayout2.xml" Id="R36caa93b63e34857" /><Relationship Type="http://schemas.openxmlformats.org/officeDocument/2006/relationships/slideLayout" Target="/ppt/slideLayouts/slideLayout3.xml" Id="R71682628e125431e" /><Relationship Type="http://schemas.openxmlformats.org/officeDocument/2006/relationships/slideLayout" Target="/ppt/slideLayouts/slideLayout4.xml" Id="R11d59cc32cc94eb5" /><Relationship Type="http://schemas.openxmlformats.org/officeDocument/2006/relationships/slideLayout" Target="/ppt/slideLayouts/slideLayout5.xml" Id="R4194e29dbe2e4d17" /><Relationship Type="http://schemas.openxmlformats.org/officeDocument/2006/relationships/slideLayout" Target="/ppt/slideLayouts/slideLayout6.xml" Id="Rabfa35b58d1a4b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c37972b7324ba8"/>
    <p:sldLayoutId xmlns:r="http://schemas.openxmlformats.org/officeDocument/2006/relationships" id="2147483650" r:id="R36caa93b63e34857"/>
    <p:sldLayoutId xmlns:r="http://schemas.openxmlformats.org/officeDocument/2006/relationships" id="2147483651" r:id="R71682628e125431e"/>
    <p:sldLayoutId xmlns:r="http://schemas.openxmlformats.org/officeDocument/2006/relationships" id="2147483652" r:id="R11d59cc32cc94eb5"/>
    <p:sldLayoutId xmlns:r="http://schemas.openxmlformats.org/officeDocument/2006/relationships" id="2147483653" r:id="R4194e29dbe2e4d17"/>
    <p:sldLayoutId xmlns:r="http://schemas.openxmlformats.org/officeDocument/2006/relationships" id="2147483654" r:id="Rabfa35b58d1a4b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ef4af1148c4535" /><Relationship Type="http://schemas.openxmlformats.org/officeDocument/2006/relationships/notesSlide" Target="/ppt/notesSlides/notesSlide1.xml" Id="R64832fca74ab46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2f72b9cf7d470b" /><Relationship Type="http://schemas.openxmlformats.org/officeDocument/2006/relationships/notesSlide" Target="/ppt/notesSlides/notesSlide2.xml" Id="Rbcdeac53e2e143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ce2b517fa644bc" /><Relationship Type="http://schemas.openxmlformats.org/officeDocument/2006/relationships/image" Target="/ppt/media/image.png" Id="R924aaad1fa0448dd" /><Relationship Type="http://schemas.openxmlformats.org/officeDocument/2006/relationships/notesSlide" Target="/ppt/notesSlides/notesSlide3.xml" Id="Rda441d9bb68149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cbf77be7a64e2c" /><Relationship Type="http://schemas.openxmlformats.org/officeDocument/2006/relationships/image" Target="/ppt/media/image2.png" Id="Rb85722d6e1da41f5" /><Relationship Type="http://schemas.openxmlformats.org/officeDocument/2006/relationships/notesSlide" Target="/ppt/notesSlides/notesSlide4.xml" Id="R40784e914e5649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f070266c8c43a0" /><Relationship Type="http://schemas.openxmlformats.org/officeDocument/2006/relationships/image" Target="/ppt/media/image3.png" Id="Raf31bdb844844e96" /><Relationship Type="http://schemas.openxmlformats.org/officeDocument/2006/relationships/notesSlide" Target="/ppt/notesSlides/notesSlide5.xml" Id="R2fb171f25bc747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0d636fb6134f5e" /><Relationship Type="http://schemas.openxmlformats.org/officeDocument/2006/relationships/image" Target="/ppt/media/image4.png" Id="Ra5d00fcedd674e50" /><Relationship Type="http://schemas.openxmlformats.org/officeDocument/2006/relationships/notesSlide" Target="/ppt/notesSlides/notesSlide6.xml" Id="R23fb6d8a52f645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b29d4cfb9c4f45" /><Relationship Type="http://schemas.openxmlformats.org/officeDocument/2006/relationships/image" Target="/ppt/media/image5.png" Id="R42165d648ca141be" /><Relationship Type="http://schemas.openxmlformats.org/officeDocument/2006/relationships/notesSlide" Target="/ppt/notesSlides/notesSlide7.xml" Id="R758b7b13c9544d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1c11b214f149cd" /><Relationship Type="http://schemas.openxmlformats.org/officeDocument/2006/relationships/image" Target="/ppt/media/image6.png" Id="R2954de555c584f8c" /><Relationship Type="http://schemas.openxmlformats.org/officeDocument/2006/relationships/notesSlide" Target="/ppt/notesSlides/notesSlide8.xml" Id="R456c2d370587419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b081b7cc3943a2" /><Relationship Type="http://schemas.openxmlformats.org/officeDocument/2006/relationships/image" Target="/ppt/media/image7.png" Id="Re290833a8e294520" /><Relationship Type="http://schemas.openxmlformats.org/officeDocument/2006/relationships/notesSlide" Target="/ppt/notesSlides/notesSlide9.xml" Id="R74d527f5c7fe40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58de65d6704f83" /><Relationship Type="http://schemas.openxmlformats.org/officeDocument/2006/relationships/notesSlide" Target="/ppt/notesSlides/notesSlide10.xml" Id="R1a9b301420aa4d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0d70e733f140cd" /><Relationship Type="http://schemas.openxmlformats.org/officeDocument/2006/relationships/image" Target="/ppt/media/image8.png" Id="Rfa1ae2956ad54241" /><Relationship Type="http://schemas.openxmlformats.org/officeDocument/2006/relationships/notesSlide" Target="/ppt/notesSlides/notesSlide11.xml" Id="Re75e498001834dc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6815aa112846fa" /><Relationship Type="http://schemas.openxmlformats.org/officeDocument/2006/relationships/image" Target="/ppt/media/image9.png" Id="R5a528c3815d8487c" /><Relationship Type="http://schemas.openxmlformats.org/officeDocument/2006/relationships/notesSlide" Target="/ppt/notesSlides/notesSlide12.xml" Id="R3250e623b99946d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40b6db86cc432e" /><Relationship Type="http://schemas.openxmlformats.org/officeDocument/2006/relationships/notesSlide" Target="/ppt/notesSlides/notesSlide13.xml" Id="R0240f0c7f4314e0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74ce70c6254ac2" /><Relationship Type="http://schemas.openxmlformats.org/officeDocument/2006/relationships/image" Target="/ppt/media/image10.png" Id="R7380d909ae8e4c3e" /><Relationship Type="http://schemas.openxmlformats.org/officeDocument/2006/relationships/notesSlide" Target="/ppt/notesSlides/notesSlide14.xml" Id="Rb3934d25702e49f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99e8a1ce844107" /><Relationship Type="http://schemas.openxmlformats.org/officeDocument/2006/relationships/notesSlide" Target="/ppt/notesSlides/notesSlide15.xml" Id="Rf92dd604abef4b8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8e2d269a04663" /><Relationship Type="http://schemas.openxmlformats.org/officeDocument/2006/relationships/image" Target="/ppt/media/image11.png" Id="Rd6ed4173db6d4d19" /><Relationship Type="http://schemas.openxmlformats.org/officeDocument/2006/relationships/notesSlide" Target="/ppt/notesSlides/notesSlide16.xml" Id="R74811d49b26b416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7f055e033a4a6c" /><Relationship Type="http://schemas.openxmlformats.org/officeDocument/2006/relationships/image" Target="/ppt/media/image12.png" Id="R7852327b97154670" /><Relationship Type="http://schemas.openxmlformats.org/officeDocument/2006/relationships/notesSlide" Target="/ppt/notesSlides/notesSlide17.xml" Id="R2afc57e76da64da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c97b5d9aba428a" /><Relationship Type="http://schemas.openxmlformats.org/officeDocument/2006/relationships/image" Target="/ppt/media/image13.png" Id="Ree364fb80a2a42ad" /><Relationship Type="http://schemas.openxmlformats.org/officeDocument/2006/relationships/notesSlide" Target="/ppt/notesSlides/notesSlide18.xml" Id="R152e4b5126df471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96410050044c71" /><Relationship Type="http://schemas.openxmlformats.org/officeDocument/2006/relationships/notesSlide" Target="/ppt/notesSlides/notesSlide19.xml" Id="Rea1a1c2ca69049d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7b4e82c45a4cae" /><Relationship Type="http://schemas.openxmlformats.org/officeDocument/2006/relationships/notesSlide" Target="/ppt/notesSlides/notesSlide20.xml" Id="Ref072f87222846e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6d86b4baff43cf" /><Relationship Type="http://schemas.openxmlformats.org/officeDocument/2006/relationships/notesSlide" Target="/ppt/notesSlides/notesSlide21.xml" Id="Rce3022ac4a534b9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06278eb9c14c3b" /><Relationship Type="http://schemas.openxmlformats.org/officeDocument/2006/relationships/image" Target="/ppt/media/image14.png" Id="Rc388ea20e3384384" /><Relationship Type="http://schemas.openxmlformats.org/officeDocument/2006/relationships/notesSlide" Target="/ppt/notesSlides/notesSlide22.xml" Id="Ra8a277fa0010450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a5fbe6f5ef4496" /><Relationship Type="http://schemas.openxmlformats.org/officeDocument/2006/relationships/notesSlide" Target="/ppt/notesSlides/notesSlide23.xml" Id="R3815664ce7ba4ad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0f02f4efd04a20" /><Relationship Type="http://schemas.openxmlformats.org/officeDocument/2006/relationships/notesSlide" Target="/ppt/notesSlides/notesSlide24.xml" Id="Rf89f8b3b5e6b4a9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7424e6f1ee495f" /><Relationship Type="http://schemas.openxmlformats.org/officeDocument/2006/relationships/image" Target="/ppt/media/image15.png" Id="R5293afdb63ee435a" /><Relationship Type="http://schemas.openxmlformats.org/officeDocument/2006/relationships/notesSlide" Target="/ppt/notesSlides/notesSlide25.xml" Id="Red2b12148284466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5b0a7138e2454f" /><Relationship Type="http://schemas.openxmlformats.org/officeDocument/2006/relationships/image" Target="/ppt/media/image16.png" Id="R2116ca73033e4b1c" /><Relationship Type="http://schemas.openxmlformats.org/officeDocument/2006/relationships/notesSlide" Target="/ppt/notesSlides/notesSlide26.xml" Id="R6d0de8cb8e54454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e832547df34458" /><Relationship Type="http://schemas.openxmlformats.org/officeDocument/2006/relationships/notesSlide" Target="/ppt/notesSlides/notesSlide27.xml" Id="Rbac12d351f064cb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15cade524f4a1c" /><Relationship Type="http://schemas.openxmlformats.org/officeDocument/2006/relationships/notesSlide" Target="/ppt/notesSlides/notesSlide28.xml" Id="Re97c925a109f4ca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e4a7ac2b704270" /><Relationship Type="http://schemas.openxmlformats.org/officeDocument/2006/relationships/image" Target="/ppt/media/image17.png" Id="R5b77470437aa4b94" /><Relationship Type="http://schemas.openxmlformats.org/officeDocument/2006/relationships/notesSlide" Target="/ppt/notesSlides/notesSlide29.xml" Id="R1ab08a0de19b472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eab73c45a24e1f" /><Relationship Type="http://schemas.openxmlformats.org/officeDocument/2006/relationships/image" Target="/ppt/media/image18.png" Id="R06d608a6fbe940fa" /><Relationship Type="http://schemas.openxmlformats.org/officeDocument/2006/relationships/notesSlide" Target="/ppt/notesSlides/notesSlide30.xml" Id="R8b85f2ea714c4b6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4a874fee044d91" /><Relationship Type="http://schemas.openxmlformats.org/officeDocument/2006/relationships/notesSlide" Target="/ppt/notesSlides/notesSlide31.xml" Id="Rfc80f605a3154ad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03ac3548144217" /><Relationship Type="http://schemas.openxmlformats.org/officeDocument/2006/relationships/notesSlide" Target="/ppt/notesSlides/notesSlide32.xml" Id="R7a51445e24c3410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ffc74f31bc447c" /><Relationship Type="http://schemas.openxmlformats.org/officeDocument/2006/relationships/notesSlide" Target="/ppt/notesSlides/notesSlide33.xml" Id="R74b2c779b2ef4be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4e69740a17471b" /><Relationship Type="http://schemas.openxmlformats.org/officeDocument/2006/relationships/image" Target="/ppt/media/image19.png" Id="R73b28a55566845e9" /><Relationship Type="http://schemas.openxmlformats.org/officeDocument/2006/relationships/notesSlide" Target="/ppt/notesSlides/notesSlide34.xml" Id="Rc0d91db2052c414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6d31be60724d46" /><Relationship Type="http://schemas.openxmlformats.org/officeDocument/2006/relationships/image" Target="/ppt/media/image20.png" Id="R45bdc43a0be94ffc" /><Relationship Type="http://schemas.openxmlformats.org/officeDocument/2006/relationships/notesSlide" Target="/ppt/notesSlides/notesSlide35.xml" Id="R219b4d4227854b8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3a893b81ae462c" /><Relationship Type="http://schemas.openxmlformats.org/officeDocument/2006/relationships/notesSlide" Target="/ppt/notesSlides/notesSlide36.xml" Id="Re3b17a06ccb44a8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5cb0d024d24a9e" /><Relationship Type="http://schemas.openxmlformats.org/officeDocument/2006/relationships/notesSlide" Target="/ppt/notesSlides/notesSlide37.xml" Id="R12c8838350b54f94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659fe6f3a248d9" /><Relationship Type="http://schemas.openxmlformats.org/officeDocument/2006/relationships/notesSlide" Target="/ppt/notesSlides/notesSlide38.xml" Id="Ra40a9ab9a6a3492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848581ba424651" /><Relationship Type="http://schemas.openxmlformats.org/officeDocument/2006/relationships/image" Target="/ppt/media/image21.png" Id="R894a50a533724818" /><Relationship Type="http://schemas.openxmlformats.org/officeDocument/2006/relationships/notesSlide" Target="/ppt/notesSlides/notesSlide39.xml" Id="R27c994cfd9f24fc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c9411956f24efd" /><Relationship Type="http://schemas.openxmlformats.org/officeDocument/2006/relationships/notesSlide" Target="/ppt/notesSlides/notesSlide40.xml" Id="R62219cf8ae3d49e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c902054e494f18" /><Relationship Type="http://schemas.openxmlformats.org/officeDocument/2006/relationships/notesSlide" Target="/ppt/notesSlides/notesSlide41.xml" Id="Rbe045e92a9fe4f7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0060b947cd4082" /><Relationship Type="http://schemas.openxmlformats.org/officeDocument/2006/relationships/notesSlide" Target="/ppt/notesSlides/notesSlide42.xml" Id="Rd3fdf939d1ea4de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cc2e48799a439c" /><Relationship Type="http://schemas.openxmlformats.org/officeDocument/2006/relationships/notesSlide" Target="/ppt/notesSlides/notesSlide43.xml" Id="R3f7619233fb04883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498b373b764c38" /><Relationship Type="http://schemas.openxmlformats.org/officeDocument/2006/relationships/image" Target="/ppt/media/image22.png" Id="Rddd6b787478c405a" /><Relationship Type="http://schemas.openxmlformats.org/officeDocument/2006/relationships/notesSlide" Target="/ppt/notesSlides/notesSlide44.xml" Id="R2b13d0d52d284cb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8da2dc1a3a459f" /><Relationship Type="http://schemas.openxmlformats.org/officeDocument/2006/relationships/notesSlide" Target="/ppt/notesSlides/notesSlide45.xml" Id="R7772abe29c964456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4a9077e9b44e71" /><Relationship Type="http://schemas.openxmlformats.org/officeDocument/2006/relationships/image" Target="/ppt/media/image23.png" Id="Rbdf63acdb9084c94" /><Relationship Type="http://schemas.openxmlformats.org/officeDocument/2006/relationships/notesSlide" Target="/ppt/notesSlides/notesSlide46.xml" Id="Rad04ffd85c2b417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534a113e6a43e5" /><Relationship Type="http://schemas.openxmlformats.org/officeDocument/2006/relationships/notesSlide" Target="/ppt/notesSlides/notesSlide47.xml" Id="R09cfede76c734841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18e708e26e438c" /><Relationship Type="http://schemas.openxmlformats.org/officeDocument/2006/relationships/notesSlide" Target="/ppt/notesSlides/notesSlide48.xml" Id="R05f148b27b5643ab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21015dd15546f0" /><Relationship Type="http://schemas.openxmlformats.org/officeDocument/2006/relationships/image" Target="/ppt/media/image24.png" Id="Re67c7248c23c418a" /><Relationship Type="http://schemas.openxmlformats.org/officeDocument/2006/relationships/notesSlide" Target="/ppt/notesSlides/notesSlide49.xml" Id="R7b7ebe46f9b54f4a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197fcf1cfd4d1d" /><Relationship Type="http://schemas.openxmlformats.org/officeDocument/2006/relationships/notesSlide" Target="/ppt/notesSlides/notesSlide50.xml" Id="R6716ce4ca55d41d8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64545074f443b5" /><Relationship Type="http://schemas.openxmlformats.org/officeDocument/2006/relationships/notesSlide" Target="/ppt/notesSlides/notesSlide51.xml" Id="R5e342181a23a466d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1214e389c74207" /><Relationship Type="http://schemas.openxmlformats.org/officeDocument/2006/relationships/image" Target="/ppt/media/image25.png" Id="R21206d59a69841c2" /><Relationship Type="http://schemas.openxmlformats.org/officeDocument/2006/relationships/notesSlide" Target="/ppt/notesSlides/notesSlide52.xml" Id="Rd332ae9fd2324460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e54827a150490d" /><Relationship Type="http://schemas.openxmlformats.org/officeDocument/2006/relationships/image" Target="/ppt/media/image26.png" Id="R71fb7192610c428c" /><Relationship Type="http://schemas.openxmlformats.org/officeDocument/2006/relationships/notesSlide" Target="/ppt/notesSlides/notesSlide53.xml" Id="R5c7e317491144299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982104d8d642af" /><Relationship Type="http://schemas.openxmlformats.org/officeDocument/2006/relationships/notesSlide" Target="/ppt/notesSlides/notesSlide54.xml" Id="Rfd1868061e4641f1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25e2695e82444b" /><Relationship Type="http://schemas.openxmlformats.org/officeDocument/2006/relationships/notesSlide" Target="/ppt/notesSlides/notesSlide55.xml" Id="R8cbd763f11fb44ba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edc4b99bb04baf" /><Relationship Type="http://schemas.openxmlformats.org/officeDocument/2006/relationships/image" Target="/ppt/media/image27.png" Id="Rfddb227ffea14be8" /><Relationship Type="http://schemas.openxmlformats.org/officeDocument/2006/relationships/notesSlide" Target="/ppt/notesSlides/notesSlide56.xml" Id="R2d0ce8e17a534414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0417c187794e24" /><Relationship Type="http://schemas.openxmlformats.org/officeDocument/2006/relationships/notesSlide" Target="/ppt/notesSlides/notesSlide57.xml" Id="R7e79a1f3f9a84c4f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de29d3ed064aba" /><Relationship Type="http://schemas.openxmlformats.org/officeDocument/2006/relationships/image" Target="/ppt/media/image28.png" Id="Ra2d96f5c26ec405e" /><Relationship Type="http://schemas.openxmlformats.org/officeDocument/2006/relationships/notesSlide" Target="/ppt/notesSlides/notesSlide58.xml" Id="Ra54bc6559eb14bfa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7c93b8b718496e" /><Relationship Type="http://schemas.openxmlformats.org/officeDocument/2006/relationships/notesSlide" Target="/ppt/notesSlides/notesSlide59.xml" Id="Rc0d8a2148e3d4d8f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f716c467654420" /><Relationship Type="http://schemas.openxmlformats.org/officeDocument/2006/relationships/image" Target="/ppt/media/image29.png" Id="R30d125ea34de4fe5" /><Relationship Type="http://schemas.openxmlformats.org/officeDocument/2006/relationships/notesSlide" Target="/ppt/notesSlides/notesSlide60.xml" Id="R8b4cd0af607743b0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d7bbbed4f24b98" /><Relationship Type="http://schemas.openxmlformats.org/officeDocument/2006/relationships/image" Target="/ppt/media/image30.png" Id="R46f3c2e531c8466e" /><Relationship Type="http://schemas.openxmlformats.org/officeDocument/2006/relationships/notesSlide" Target="/ppt/notesSlides/notesSlide61.xml" Id="R73ea3ddb397f4fef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a19aacdb564ff7" /><Relationship Type="http://schemas.openxmlformats.org/officeDocument/2006/relationships/image" Target="/ppt/media/image31.png" Id="Raf5a1792035f4a9d" /><Relationship Type="http://schemas.openxmlformats.org/officeDocument/2006/relationships/notesSlide" Target="/ppt/notesSlides/notesSlide62.xml" Id="R0a3373f6e2cd40e9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793aa2464549dc" /><Relationship Type="http://schemas.openxmlformats.org/officeDocument/2006/relationships/image" Target="/ppt/media/image32.png" Id="Re0245a787f0c4f11" /><Relationship Type="http://schemas.openxmlformats.org/officeDocument/2006/relationships/notesSlide" Target="/ppt/notesSlides/notesSlide63.xml" Id="R02e020e7be9946f5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45252ee49d4b85" /><Relationship Type="http://schemas.openxmlformats.org/officeDocument/2006/relationships/notesSlide" Target="/ppt/notesSlides/notesSlide64.xml" Id="R4dce6eea9e2642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9C8FFF-4B6C-429B-A04F-58629368D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108204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420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Speech and Audio Recognition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89682D-61F5-4026-8665-493B60BB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66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Midterm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4AE383-2145-4FEA-BE44-006ACFE5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52875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소리의 표본화부터 전사 없는 표현 학습까지 연결한다.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71B0B3-C000-4433-A973-142FD69F0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95875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Midterm Review · Lecture 2–5</a:t>
            </a:r>
          </a:p>
          <a:p xmlns:a="http://schemas.openxmlformats.org/drawingml/2006/main">
            <a:pPr>
              <a:def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Signal → Spectrum → Alignment → Representation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19AB79-7CCD-427D-BAD4-5E1ACA69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810045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CCC05-81F8-4FE3-9267-A5D8D969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Exam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9D8D19-6B0C-4A25-9A19-951E7E94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각 장은 정보를 남기는 방식과 학습 target을 바꾼다.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0D4E84-E05E-4D3F-9C52-418869A56F38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2781300"/>
                <a:gridCol w="2781300"/>
                <a:gridCol w="27813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Stage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Input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Core question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Output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Digitize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pressure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언제·얼마나 측정?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PCM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Analyze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samples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어느 주파수가 언제?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STFT/Mel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Align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frames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token과 어떻게 대응?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CTC/LAS/RNN-T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Pre-train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unlabeled audio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target을 어디서 생성?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speech features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544A3-361D-4014-B370-B4E8F342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신호 처리에서는 보존 정보와 손실 조건을, ASR에서는 정렬과 출력 이력을 구분한다.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SSL에서는 transcript 없이 target을 만드는 방식을 비교한다.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12160E-EBC5-480E-8DE6-455AC376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010242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7B3BE6-06C4-40E5-98B9-84534C50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Sampling and PCM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A39662-41C5-4031-95DE-C4A6559D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Sampling은 시간, quantization은 진폭을 이산화한다.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A00AD9-6CFD-4535-9C8C-717195E9CB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4aaad1fa0448dd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EE38EA-5465-4978-A16A-F872159B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16-bit·44.1 kHz·stereo PCM의 payload는 16×44,100×2=1,411,200 bit/s다.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낮은 sampling rate와 낮은 bit depth는 서로 다른 정보를 잃는다.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9AF365-E2CB-4097-A745-7B07D7D6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05 — analog pressure, sampling, quantization, PCM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D52F46-6C5D-4335-9175-847B7846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847338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F35DFD-60FD-40CD-AC08-D338518A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Nyquist and Aliasing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167A78-DD15-4406-8A27-2DDB0763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Fourier basis는 표본의 주파수 성분을 분석한다. Aliasing 방지는 표본화 전에 결정된다.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93222-E0DF-4579-85C8-7EC131D264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5722d6e1da41f5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CBD1D1-9948-49E8-BF5E-3314F136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fs=8 kHz에서 zero-phase 5 kHz와 3 kHz cosine은 같은 표본을 만든다: cos(2π·5n/8)=cos(2π·3n/8).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표본화 전 anti-alias low-pass filter와 충분한 fs가 겹침을 막는다. FFT 길이나 window는 이미 잃은 원 주파수를 복원하지 못한다.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8C43D2-4EC7-4701-9EC8-F828D224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37 — spectral replicas overlap when Nyquist is not satisfied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B7C6B-ADB3-4919-9C21-32519E78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313196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47CB8D-6F42-4349-9C8E-DD208227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Orthogonal Fourier Bases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A77197-E040-44A5-9FDC-A7EBC188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서로 다른 harmonic basis의 한 주기 inner product는 0이다.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892B57-F264-4A78-95D9-B757B1818C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1bdb844844e96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22505-8023-4CCF-A0B6-EF78C5AB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직교성은 inner product로 각 주파수 성분을 분리할 수 있다는 뜻이다.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 빨간 식의 조건이 뒤바뀌었다: n=m이면 P, n≠m이면 0이다.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Fourier coefficient는 각 basis 방향의 성분을 측정한다.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3A6BB4-039C-41D7-92C5-3948EDE7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26 — complex exponential bases and one-period inner product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33EB1E-68EA-43FB-81D0-A0B0FAE8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117317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14D20-945F-4C72-9A66-5A582D2E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Series to Transform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1B5A42-5EA5-457B-8658-3C05D4C0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주기가 커지면 harmonic 간격이 좁아져 합이 적분으로 이어진다.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7896FE-BA1C-416C-A04E-59A497B250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d00fcedd674e50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C303FE-6C8A-4AB3-AE52-C15A24F5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Fourier series는 주기 신호의 이산 harmonic 계수를, Fourier transform은 비주기 신호의 연속 spectrum을 표현한다.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정변환은 성분을 분석하고 역변환은 그 성분을 합성한다.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47D1A-5DBF-4C92-B50C-316979B9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29 — increasing period turns frequency sums into an integral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494264-D673-4B6F-A8F6-8DA6F285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732626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1625C-84E5-4CE3-8AF0-A9C3892A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CTFS to DTFS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A16004-21A3-40BA-A165-DE845C1D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한 주기를 N번 표본화하면 harmonic index가 N을 주기로 같아진다.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6FEC0A-2947-4757-A5CD-2389D7109E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165d648ca141be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E4406A-DBAF-4D95-A708-28A53716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k와 k+qN은 표본 위에서 같은 basis이므로 CTFS 계수가 같은 나머지 class로 합쳐진다.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N&gt;2K와 제한된 harmonic bandwidth가 있어야 원래 계수를 겹침 없이 회수할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520490-019F-49B5-8A30-DC0A1C39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2, PDF p. 32 — periodic continuous signal and N uniform samples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6CB498-DFBE-4BD0-A6EE-D4855547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902687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D6F315-2EB0-4525-8891-0AA65569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STFT Framing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05F93-D3A8-4DF6-8603-C94CC0E0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STFT는 짧은 창을 이동하며 각 구간의 spectrum을 계산한다.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3901F9-CE9E-4ACC-8B8D-386193FCF9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54de555c584f8c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F16FE8-8FA6-4AB9-99A0-773146F8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16 kHz, L=400, H=160은 25 ms 창과 10 ms hop이다.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1초 신호를 center padding 없이 처리하면 98 frame, NFFT=512의 one-sided spectrum은 257 bin이다.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70321-BFD3-443A-8995-23B6237F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 Lab, PDF p. 09 — moving analysis window and overlap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5CF3E5-2DAC-4911-AEDD-76B89F6E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050044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57965-3F31-478A-BD48-C540C7D4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Waveform and Spectrogram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3DC123-5552-49D6-8877-79F6AF30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파형은 시간별 진폭을, spectrogram은 시간별 주파수 구성을 보여준다.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D9250B-E7B3-45E3-83D3-71E820E710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0833a8e294520"/>
          <a:stretch xmlns:a="http://schemas.openxmlformats.org/drawingml/2006/main"/>
        </p:blipFill>
        <p:spPr>
          <a:xfrm xmlns:a="http://schemas.openxmlformats.org/drawingml/2006/main">
            <a:off x="2111986" y="1828800"/>
            <a:ext cx="7968029" cy="41433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BC487D-C59E-47C1-AC6C-FF199E5F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6742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작성자 계산 예제: 8 kHz, Hann 32 ms, hop 8 ms, NFFT 256. 색은 최대 power 기준 dB이며 위상은 표시하지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DD00A7-6A99-4B04-A218-938C0E41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078592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10333C-8156-47D3-A5D1-526F911F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Magnitude and Phase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5FCD53-D774-4F0F-98F3-41DAA0FF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복소 STFT에는 크기와 위상이 함께 있다. 일반적인 spectrogram은 크기나 power만 색으로 표시한다.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16437B-6A56-4258-8D35-911ABAB5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X = 3 + 4j와 3 − 4j는 모두 크기 5, power 25다. 위상은 각각 +53.13°와 −53.13°이므로 색만으로 둘을 구분할 수 없다.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790B62-9396-49EF-AE96-143EF892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실수부와 허수부가 함께 크기와 위상을 결정한다. 원신호 x와 −x도 power spectrogram은 같지만 파형의 부호는 반대다.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4C609D-10FD-4827-A787-E2269F3D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정확한 역변환에는 complex STFT와 분석 설정, 원구간 전체를 덮는 window 및 0이 아닌 overlap 가중치가 필요하다. 그림만으로 원래 파형을 유일하게 정할 수 없다.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44FE93-47AF-494B-92F9-E236B75E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591395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EFA994-141B-49D4-8F38-0A9EE970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Window Trade-offs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377133-CF39-4339-8EDD-B6E6C812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Window는 leakage를 없애지 않고 main-lobe와 side-lobe의 절충을 바꾼다.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A88336-CAB0-4EE8-8768-9D9C398960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1ae2956ad54241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E826CD-A083-4158-AB62-D3B9F020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Rectangular window는 경계 불연속 때문에 먼 sidelobe가 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Hann window는 먼 leakage를 낮추지만 peak를 더 넓게 보이게 할 수 있다. 색 범위가 다르면 그림 밝기를 직접 비교하지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BFF676-9E70-4308-AAE3-9ECE6CEA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 Lab, PDF p. 14 — rectangular and Hann STFT views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2DD476-1BCC-464F-96AC-0BB37D79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4535731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1E54DB-6AF4-4FE2-9B91-63AE0A1D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Mel Compression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BDCEF4-6EB0-4346-9E73-32EA1F0B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Mel filterbank와 log는 서로 다른 두 압축이다.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A3CB83-5F2A-420C-B30C-7219F8CCBF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528c3815d8487c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94A473-D440-48B4-8AAF-69435D04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Filterbank는 여러 Hz bin을 band별로 합쳐 주파수축을 줄인다. Log는 값의 dynamic range를 줄인다.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인식에는 유용하지만 phase와 세밀한 bin 정보를 잃으므로 원래 complex STFT를 일반적으로 복원할 수 없다.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F0A4CB-A2C2-4927-AD13-B7BE6607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2 Lab, PDF p. 17 — triangular Mel filters and Mel spectrogram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9385BD-19AF-4266-8779-34154EDE5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0419751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4C617A-0D31-495F-B58E-057C1E0C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Word Error Rate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38216-C563-474F-A17F-A914AE9D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WER은 편집 오류 수를 정답 단어 수로 정규화한다.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E45152-7B9D-44E3-ABF8-109160591D38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Symbol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Meaning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Example count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substitution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deletion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insertion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reference words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6745B2-505F-46CE-8D3F-228C22DA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Reference 4단어에서 substitution 1, deletion 1, insertion 1이면 WER=(1+1+1)/4=0.75다.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Insertion이 많으면 WER은 1을 넘을 수 있다. 빈 reference에서는 별도 평가 규칙이 필요하다.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3204E-DF59-4BC6-9977-7A514EED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649110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B811C3-C350-4A0A-A49B-DF6792D6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Byte Pair Encoding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7E512-8B7F-430E-BB36-D041F6E3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BPE는 corpus에서 자주 붙는 token pair를 반복 병합한다.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494AD-293C-4842-8C8A-1B18AC4274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80d909ae8e4c3e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34F565-7876-40E8-91B8-11CB474E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Training은 merge 순서를 만들고 저장한다. Inference는 새 문장에 같은 순서를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Subword는 출력 길이 U를 줄일 수 있지만 vocabulary V와 softmax 비용은 커질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D2BECA-F74B-4671-9202-F16B76AF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47 — BPE merge algorithm and toy sequence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F264B0-7EB4-43A0-A4AA-F2526786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221025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C5F326-2FAF-4B16-A780-39C725EA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Blank and Paths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BA7B31-58FF-44BC-BE60-E75FBE41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CTC blank는 frame 정렬을 허용하고 최종 전사에서는 제거된다.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AA9F14-E6BB-4868-933A-2C83FE177CB4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2781300"/>
                <a:gridCol w="2781300"/>
                <a:gridCol w="27813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Merge repeats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Drop blank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Output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 ε 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 ε 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 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a b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a 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a b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0E15AC-2BA9-48E4-9C5D-77822AAC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Collapse는 연속 중복을 먼저 합친 뒤 blank를 제거한다.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따라서 L ε L은 LL이지만 L L은 L이다. 같은 label을 두 번 출력하려면 사이 blank가 필요하다.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B381E7-3BEF-4190-8293-208CD3C1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97419318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31D50-6DEB-4D76-ABBD-1C36C96B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Probability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A501D2-5FC6-489A-BC41-5493FDEA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한 문자열의 확률은 그 문자열로 collapse되는 모든 경로 확률의 합이다.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793F0A-5348-43C6-AD9E-C926224E88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ed4173db6d4d19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3ACC2D-E188-44EE-B541-0FCB4BB9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각 frame의 분포는 encoder logit의 softmax에서 나온다. 한 경로 확률은 선택한 frame 확률의 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서로 배타적인 유효 경로를 더한 뒤 −log를 취해 CTC loss를 얻는다.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45818B-0EC8-40F3-8B54-811212A9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33 — frame distributions and valid CTC paths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8E64F5-B745-471E-8492-181CE757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031333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2EDB29-EEBE-4765-AA45-D760FDF7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Forward DP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A983A-53A2-43FC-A722-DA95F99C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각 칸은 해당 상태에서 끝나는 모든 유효 부분 경로의 확률 합이다.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9ED530-DEBA-4505-8D2B-8ECE9BB592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52327b97154670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F454D2-B114-45EE-9E83-151974C2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Stay·한 칸 전진·허용된 두 칸 skip의 이전 합에 현재 frame 확률을 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P(ab|X)=0.2835+0.1308=0.4143. 유한 경로의 합이며 극한 수렴이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 합산식의 0.1038은 0.1308의 오기다.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094289-AB1E-44A5-9304-15F4629D3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35 — forward probabilities and two terminal states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B873F-EC56-46D5-B682-C1192F8F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98866422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5EF1AF-6124-4CE0-8762-F01A6128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Summary: The Whole Process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A8B092-3C2C-4275-9AC1-926FB5A4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CTC는 정답의 발음 시각을 지정하지 않고 문자열 전체의 확률을 학습한다.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343EDC-8B10-4603-9055-49FB3C1381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364fb80a2a42ad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262F41-D448-4C03-8506-98B4CB06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왼쪽은 모델의 가정과 경로→문자열 변환이다. 오른쪽은 학습, 평가, beam 탐색의 순서다.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학습은 정답에 이르는 경로를 합한다. 추론은 정답을 모른 채 출력 후보를 찾는다. 둘은 같은 연산이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69E74E-1D51-4B9D-B9E9-0FBEFADE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41 — CTC Summary; Korean walkthrough continues on the next slides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9CC6CA-E583-4539-87D4-ECA23373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71607518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C0CA55-4BF9-4BD1-B03F-0455282A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Summary: Assumptions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1F8C5-AD1B-44AE-AE0A-A3086AD4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조건부 독립은 음향 문맥이 없다는 뜻이 아니라 출력 이력을 직접 조건으로 쓰지 않는다는 뜻이다.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E76609-4188-446C-A8B1-3E252F7E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P(경로|X)는 frame별 확률의 곱이다. 각 분포는 encoder가 읽은 X의 문맥에 의존하지만, 앞서 고른 문자를 다시 입력받지는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1E0FA5-8AC3-48C2-BF26-8DAD0F86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Blank와 반복 병합으로 긴 frame 열을 짧은 문자열로 바꾼다. 학습 중 정렬을 잠재 경로로 다루므로 문자별 시작·종료 시각 정답이 필요 없다.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C34CBB-B6C7-4308-B19B-0634149C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Streaming은 미래 전체를 기다리지 않는 encoder가 있을 때 가능하다. CTC를 쓴다는 사실만으로 양방향 encoder까지 실시간이 되지는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3B2FF8-D45D-4182-99E3-D5EB2CA1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9709115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5DE67-779E-4F21-BA01-1B846F48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 Summary: Train and Decode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DC348B-0EB7-4A49-9E65-6F52383F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Loss를 계산할 때는 정답이 주어지고, decoding할 때는 정답을 찾아야 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9EC440-4F57-4CDA-8F45-10CAFF8D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학습: encoder → frame별 softmax → 정답으로 collapse되는 경로의 합 P(y|X) → −ln P(y|X). Forward DP가 이 합을 효율적으로 구한다.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09837-D278-4ACD-81AD-15F27284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추론: greedy는 frame별 최대값을 고르고 반복 병합·blank 제거를 한다. Prefix beam은 여러 문자열 후보의 경로 확률을 누적한다.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0F94F2-6860-4F9F-9E68-11C67E0E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Beam은 확장 → 같은 prefix의 확률 병합 → 상위 B개 유지 순으로 반복한다. B가 커져도 모델 자체의 인식 오류까지 사라지지는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5F28AF-6B60-4291-92FE-C976CE85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88576724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23D1A6-F77B-45F0-9155-3191F194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CTC: Best Path vs. Best 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B60147-8BE9-414C-8045-468D5E3FB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두 frame 모두 P(ε)=0.5, P(a)=0.4, P(b)=0.1이라고 하자.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BB8A66-112B-4171-8578-CBBA508E2036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Probability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Collapsed text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ε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0.5 × 0.5 = 0.25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빈 문자열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a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0.4 × 0.4 = 0.16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 ε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0.4 × 0.5 = 0.20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ε a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0.5 × 0.4 = 0.20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20B01C-0BCB-4502-8538-9CEABEF8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주요 경로 4개를 표시했다. Greedy는 빈 문자열을 내지만 P(a|X)=0.16+0.20+0.20=0.56이다.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나머지 출력은 P(b)=0.11, P(ab)=P(ba)=0.04다. 다섯 출력의 확률 합은 1이다.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F47B31-4531-40FF-B3CB-E9F347C3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30292697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AAD42-502E-45EF-BFBD-A55A0008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Greedy vs. Beam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DE00CD-351B-47B8-931F-4AE8C1A8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최대 확률 경로가 최대 확률 문자열과 같다는 보장은 없다.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6E991C-9A34-4902-A99E-C95052B88E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88ea20e3384384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56DBF0-1DFB-4792-806A-7CF3FA45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Greedy는 frame마다 한 token만 남긴다. Prefix beam search는 여러 prefix의 blank·non-blank 확률을 따로 누적한다.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유한 beam은 낮은 후보를 버리는 근사이며, 외부 LM을 쓰면 점수 scale과 length bonus도 확인한다.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DCA5B9-B3E1-4315-909F-07EC47A6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40 — prefix beam expansion and pruning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FF8545-A89F-4C52-8312-88E06B2A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80095812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152FA9-70E9-4937-8382-960A559D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Speech 2 vs. Conformer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FA10AF-C645-4ACC-B83C-9EAB5DE3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Encoder 구조와 정렬 loss는 같은 선택 축이 아니다.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039132-7264-42AA-A04F-9D4027B57560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2781300"/>
                <a:gridCol w="2781300"/>
                <a:gridCol w="27813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Model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Local pattern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Long context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Objective / role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Deep Speech 2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convolution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recurrent layers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 objective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Conformer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conv module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self-attention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encoder architecture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—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—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 marginalization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9C5E14-868E-4E97-A897-C01D4392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Speech 2는 convolution과 recurrent layers로 음향 표현을 만들고 CTC로 정렬한다.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Conformer는 self-attention의 넓은 문맥과 convolution의 국소 패턴을 한 encoder block에 결합한다. CTC와 함께 쓸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A6FDFE-0549-4C8E-8C3C-FCE22AA0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59006040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753CFC-652D-4306-BB84-8A0DA44B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Encoders: What Changed?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9B9D69-1057-4737-92C3-78B27551A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Deep Speech 2와 Conformer의 차이는 음향 문맥을 표현하는 방식에 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9F3D15-0356-4749-B844-090F5528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Speech 2는 convolution으로 음향 패턴을 추출하고 recurrent layer로 시간 문맥을 전달한다. CTC는 그 표현에서 정렬 없는 문자열 학습을 맡는다.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354ED6-854E-43C9-B26D-2FAD0509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Conformer는 self-attention의 넓은 문맥과 convolution의 가까운 시간 패턴을 함께 활용한다. 가까운 발음 변화와 멀리 떨어진 단서가 모두 필요하기 때문이다.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0E447A-6078-4BA1-B29C-35830985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Encoder를 Conformer로 바꿔도 loss가 자동으로 정해지지는 않는다. CTC, attention decoder, RNN-T와의 결합은 별도 설계 선택이다.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2BD33D-6C17-4E94-8B6E-085A679C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45544981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F973B1-EA50-4406-9001-72E0F636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Conformer: Follow the Block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EFAE24-C71C-4A82-9B1F-EAFB31C5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오른쪽 block은 아래에서 위로 읽는다. Attention 앞뒤를 feed-forward 층이 감싼다.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E6F438-D38D-472F-AA6E-098B6C75CA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93afdb63ee435a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14D5D2-63DB-4B55-865A-23CC9675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½ FFN → self-attention → convolution → ½ FFN → layer normalization 순이다. 각 잔차 경로는 입력을 변환 결과에 더한다.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½은 FFN의 잔차 기여를 조절하는 계수다. 차원을 절반으로 줄인다는 뜻이 아니다. 시간 길이 축소는 왼쪽 subsampling이 맡는다.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5D48E8-7B2D-47C3-8B02-C6902D23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43 — Conformer encoder and Macaron-style block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224F0-D8A5-49CA-8C16-023A5E74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53137349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D00309-D992-4EA0-B822-58BF8394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Conformer Convolution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D12E44-33C4-4E5C-9901-41FD4EE0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Depthwise convolution은 채널별 시간 이웃을 처리하고 pointwise convolution은 채널을 섞는다.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CF1ABB-36E5-4D69-87FD-C0DD75EACB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16ca73033e4b1c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A42BA3-8745-4A31-B74C-9FEB1AC6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GLU가 전달할 채널 정보를 조절하고 residual이 입력과 변환 결과를 합친다.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Subsampling stride 2를 두 번 쓰면 시간 길이는 대략 T/4지만 kernel·padding에 따라 정확한 길이는 달라진다.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C7FA3-E7EC-4892-AEDC-D6D13101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3, PDF p. 44 — Conformer convolution module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B901EB-34DA-42C5-819C-3A8C55B9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2403713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376D41-B9F0-4035-A4C6-C3D5B4F5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Subword and Subsampling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C52A96-BBC9-4391-B664-0198CEFA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Subword는 정답 길이 U를, subsampling은 입력 표현 길이 T를 줄인다.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F66B9F-A2CA-4748-AECB-67D6D6F8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BPE는 학습 corpus에서 자주 붙는 token 쌍을 차례로 병합한다. 추론은 이미 정해진 병합 규칙을 적용한다. 단어 전체 사전보다 미지 단어를 분해하기 쉽다.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75772-4854-42E8-93AD-D67B0BB9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Subsampling은 1D stride convolution, 2D convolution·projection, frame 묶기·projection 등으로 시간축을 줄인다. Stride 2 두 번이면 대략 T/4다.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5A088F-2123-4392-A9BF-A1A83B8F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CTC에는 T ≥ U + R이 필요하다. R은 이웃한 동일 정답 token 쌍의 수다. 'LL'은 blank가 필요해 최소 3 frame이다. 입력을 과도하게 줄이면 정렬이 불가능하다.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516804-5811-4DC8-BC2E-27A5737BC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73436721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7D453-2871-4176-A126-F7CFF9A85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From CTC to Attention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3ACBE-F3AB-4153-BF6C-81BCBED8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Attention은 다음 token을 만들 때 필요한 입력 위치를 다시 선택한다.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06A44D-C30D-481E-B4EA-088DB23A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한 개의 고정 벡터에 긴 입력을 모두 압축하면, 출력 단계별로 필요한 정보가 달라도 같은 요약을 써야 한다. Attention은 encoder의 위치별 표현을 남겨 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308CA5-C797-4C44-8E2D-6D59E78B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Decoder의 현재 상태와 각 입력 표현의 관련도를 계산한다. Softmax로 가중치를 만들고, 입력 표현들의 가중합을 현재 context로 사용한다.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D9267-1F7F-43C7-9BCA-B6151C37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다음 출력 단계에서는 상태가 바뀌므로 가중치도 다시 계산한다. 번역의 단어 순서 변화와 음성 frame–문자 길이 차이를 유연하게 다룰 수 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BDC48-8000-416A-B1B8-C13B3D88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1244673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ADDF7-899A-4EC8-977A-7E150633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Attention: Read the Heatmap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525D93-8A51-49D9-82C0-C989BDB0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각 행은 한 출력 단계가 어느 입력 위치에 높은 가중치를 주는지 보여 준다.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6AB1BB-E9E1-4B21-880C-3D81EF72B3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77470437aa4b94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B7566E-94E6-46E5-80C4-79634AC9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가로는 입력 영어 token, 세로는 출력 프랑스어 token이다. 밝은 칸일수록 해당 출력이 그 입력에 큰 attention을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밝은 칸이 항상 대각선에 있지는 않다. 어순이 달라질 수 있기 때문이다. 이 가중치는 학습된 참조 패턴이지 정답 정렬의 증명은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1033AD-97C6-4606-B16F-1BCFD249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11 — source-position softmax and input–output attention maps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9BAA0B-AB62-4DA2-B0B0-2126F1F8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51457577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075412-2196-4BD6-8D70-41ABC435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Attention: Three Scoring Functions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992D9D-F594-46D2-8077-E97703CB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관련도 score를 계산하는 함수는 바뀌어도 softmax와 가중합의 역할은 같다.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A7748A-61FE-47D3-BC74-126F03FBD2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d608a6fbe940fa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8DAE3A-E260-496A-B253-E03FB49C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Dot product는 두 표현을 바로 내적한다. Bilinear는 학습 행렬 W를 사이에 두어 어떤 성분을 비교할지 배운다.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MLP는 두 표현을 결합하고 비선형 함수를 거쳐 점수를 만든다. 세 방식 모두 출력은 아직 확률이 아닌 scalar score다.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1F7F87-AD71-4D7E-8424-689F4E0F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10 — dot product, bilinear score, and an MLP score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BB0248-4190-4F08-A72A-D4B5B473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4604914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566B4F-5406-4E2C-94EA-26660439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Attention: Read the Numbers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E31E38-D797-4588-9812-CC20CD37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Attention 가중치는 입력 위치에 대한 분포이며, 출력 단어 확률과 다르다.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A7D7D8-D0F6-41A5-A866-CC744FA3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관련도 e(u,t) → α(u,t)=exp(e(u,t))/Σⱼexp(e(u,j)) → c(u)=Σₜα(u,t)h(t). 합이 1인 α로 입력 벡터를 섞는다.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893CB5-DEA9-4BB8-9F30-FEAF713E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예: h₁=(1,2), h₂=(2,0), h₃=(0,4), α=(0.2,0.3,0.5)이면 c=(0.8,2.4)다. 세 번째 입력이 가장 큰 비중을 갖는다.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0437BF-E215-4CA3-A1A1-EE08EF20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Decoder는 c와 이전 token 이력으로 어휘 확률을 계산한다. α₃=0.5라는 사실은 세 번째 단어를 50% 확률로 출력한다는 뜻이 아니다.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3DA7E-36B3-459F-BA4B-54BA65FE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694272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D256D6-F47F-4D9C-B875-3471EFBC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Autoregressive Prediction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5D8D6C-32CA-4B28-B889-5C1B34A0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앞서 나온 token이 다음 token의 확률 분포를 바꾼다.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583576-9C10-48DA-B954-87625147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P(y|X)=∏ᵤP(yᵤ|y₍&lt;u₎,X). EOS도 예측한다. CTC는 X가 주어졌을 때 frame별 경로 기호를 독립으로 두지만, 여기서는 출력 prefix를 조건으로 쓴다.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38A7F0-D455-49DE-B3B5-56B98567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Teacher forcing 학습은 정답 prefix를 넣는다. 추론에서는 모델이 생성한 prefix를 넣으므로 앞선 오답이 다음 예측을 흔들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3EDDA-AE51-41CA-A396-77B2F7F8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 loss는 각 단계의 정답 token에 대한 −ln 확률을 합한다. 이는 하나의 출력 순서에 대한 계산이며 CTC의 여러 frame 정렬 경로 합과 다르다.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340537-0593-40D6-8B8A-E340143B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515486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04CFE2-DDAF-45DF-8ADB-F94522AB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Cross Entropy: Why −log?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731194-4C24-46A0-ACFF-65C2EB674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정답에 큰 확률을 줄수록 손실이 작아진다.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E8804B-5294-4D9F-B7F0-E8F762A2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어휘가 cat·dog·bird이고 정답이 dog라면 p=(0,1,0)이다. q=(0.1,0.7,0.2)일 때 CE = −Σ p(i) ln q(i) = −ln(0.7) ≈ 0.357이다.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D35DA5-CC8D-4C1C-9DE4-FE54B39C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정답 확률이 0.2로 낮아지면 loss≈1.609로 커진다. 문장에서는 정답 확률들을 곱하는 대신 −log를 취해 단계별 loss를 더한다.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8F01FE-D2B0-4467-B7A8-43E3CC5DE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'dot'은 vocabulary와 one-hot을 보면 'dog'의 오기다. Cross entropy는 대칭적 거리라기보다 정답 분포에 대한 예측의 로그 손실이다.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C0FED1-2FD2-423C-BECC-02263A25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99803412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90747-5004-40CA-93BD-10F47898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Listen, Attend and Spell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FF3201-938B-4BB8-BF2C-8F4D13F7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LAS는 출력 단계마다 필요한 입력 위치를 attention으로 다시 고른다.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8784EC-3403-405B-8873-4358328D87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b28a55566845e9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E0071F-8CF0-4205-9594-B39F511C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Listener는 음향 frame을 인코딩하고 Attend는 가중합 context를 만든다. Speller는 context와 이전 token으로 다음 token을 생성한다.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학습은 정답 prefix를, 추론은 생성 prefix를 쓰므로 오류가 누적될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1C9B5-602F-4365-885E-DF804B13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15 — pyramidal listener, attention context, autoregressive speller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83965-07BD-46CC-8AA2-22A45642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9574806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5DF91-F28B-4815-8886-4B49B9457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LAS: Why the Pyramid?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49EA20-6DC6-4727-81E0-0FCB7F60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Listener가 이웃한 시간 표현을 묶어 attention이 읽을 길이를 줄인다.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1FE286-9F26-4A57-8378-C890FCA5B3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bdc43a0be94ffc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E9E1F7-6381-4162-8B4D-0DCA3639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그림은 인접 frame을 이어 붙여 상위 recurrent layer에 보내는 흐름이다. 두 번 절반으로 줄이면 T/4가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모델 설명은 8배 축소, 그림은 4배 축소다. 입력 정보가 공짜로 보존되는 것은 아니며 세부 시간 해상도와 계산량의 교환이다.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F46DC9-2041-4E50-ABE7-D50FA123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16 — 4× reduction in the diagram; 8× in the described LAS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F507A8-6E36-427E-8A2E-013BD75A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67099233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2264CB-1D2F-4802-81A1-018B7AA5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LAS: Greedy Can Miss the Best 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610628-6E3A-4C03-A6BE-A39321180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첫 단계 P(A)=0.6, P(B)=0.4. 다음 확률은 선택한 prefix마다 다르다.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74B9F3-FE80-4FAE-8093-CA19664E3A1F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Sequence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Conditional probability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Sequence score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AC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P(C|A)=0.51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0.6 × 0.51 = 0.306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P(D|A)=0.49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0.6 × 0.49 = 0.294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BC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P(C|B)=0.90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0.4 × 0.90 = 0.360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P(D|B)=0.10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0.4 × 0.10 = 0.040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36929F-F8D6-4108-919B-6683001D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Greedy는 A → C를 고른다. Beam 2는 B도 남겨 최종적으로 더 높은 BC를 찾는다.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설명용으로 길이를 2, 그 뒤 EOS 확률을 1로 둔다. CTC처럼 여러 정렬을 합한 예제는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F6276C-DB70-44B8-8282-B68CD00C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883806172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DF0020-9FCB-41F7-A446-258BCEC5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 Summary: Strength and Cost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9F333C-9903-4738-8EF7-7DDBC2D8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LAS는 출력 문맥을 얻지만, 매 token의 생성과 attention 계산이 순차적으로 이어진다.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E22075-1726-4971-AB12-21080909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CTC와 달리 이전 문자를 조건으로 다음 문자를 예측한다. Attention은 현재 출력에 필요한 음향 위치를 선택하며, frame별 정답 시각을 직접 요구하지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7CBB4D-5478-4783-80A0-5163CC18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기본 LAS는 전체 입력을 보는 Listener·attention 때문에 streaming에 적합하지 않다. 제한된 문맥이나 monotonic attention을 쓰는 변형과 구별해야 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76D882-4A8D-4A14-A528-64F9040A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음향 정렬의 불확실성을 모두 경로 합으로 푸는 CTC와 달리 LAS는 context를 통해 정렬을 학습한다. 출력 오류 누적과 긴 입력의 비용이 남는다.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33DD3-ED05-4ABE-AFB1-58BFAED9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67978495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98DFEC-E9FC-4440-A7A7-433CD8E6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Audio and Output History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B76BAE-7645-4F76-B5F0-07967F00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RNN-T는 CTC의 시간 진행과 LAS의 출력 문맥을 함께 다루려는 모델이다.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11BBF-58BC-4233-9FFB-FA2A3E70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Encoder f(t)는 입력 음향을, prediction network g(u)는 지금까지 출력한 u개 token을 표현한다. Joint network가 두 표현을 합쳐 token·blank 분포를 만든다.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41CEE8-8E08-4EBB-80DD-BF576D7B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Blank를 내면 다음 음향 시점으로 간다. Token을 내면 음향 시점은 유지하고 출력 이력만 갱신한다. 하나의 시점에서 여러 token을 낼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F9B15-4B70-4425-BD33-8E4D36B9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Prediction network는 출력 prefix를 읽는다. 하지만 별도 텍스트로 학습한 외부 LM과 동일한 물체는 아니다. Streaming 역시 encoder 문맥 조건에 달린다.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EC5C6-FAE9-4EA6-8FF5-40023229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181675069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74DF49-4CBA-46FE-A612-ABFD9A29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 Lattice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D69434-E1B0-4F15-8B3E-3F0D7E0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RNN-T는 acoustic time과 output prefix를 두 축으로 둔다.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8E7DED-D951-45C7-9AF5-C6C89C6F0D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4a50a533724818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94F6CC-1213-40BC-AA07-9573A025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Blank는 (t,u)에서 (t+1,u)로 시간을 진행한다. Token은 (t,u+1)로 출력 길이를 늘린다.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Prediction network가 이전 출력 이력을 표현하므로 같은 frame에서도 여러 token을 낼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2CBB5B-4C4B-4516-9AD5-7479B6F6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37 — encoder and prediction-network axes in RNN-T training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F23E09-5C1A-4902-AEA9-11E573DB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33973710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B79E76-0F97-401F-AB07-ED7BBCF2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Walk Through Inference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3EF84-36F0-4C84-8289-C9298FB6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원문 cat 예제는 blank가 시간축, 문자가 출력축을 움직이는 모습을 보여 준다.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B0449-D7E8-4B1D-9C9E-4A0231B7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빈 prefix에서 x₀의 blank를 선택하면 x₁로 간다. x₁에서 c를 출력하면 prefix는 c가 되지만 x₁에 머문다. 다음 blank가 x₂로 보낸다.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9B69F-800A-4CB0-87FA-6DA51633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x₂에서 a를, 다시 같은 x₂에서 t를 출력한다. 그 뒤 blank들이 남은 음향 시점을 소비한다. 'cat'은 3개 token이지만 3개 frame과 일대일 대응하지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1A773D-82B5-46AA-9711-7FA9082B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RNN-T의 반복 문자는 CTC처럼 병합하지 않는다. l 다음 l을 실제로 출력하면 ll이다. CTC의 collapse 규칙을 이 격자에 적용하면 안 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BFBC7-A2ED-4F3F-BEBD-72D36114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2090417597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E28032-2524-4951-B7E3-4303577E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Train Over All Alignments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39789D-AE6C-4644-AF9C-0EC8A396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정답 문자열은 알아도 각 token이 어느 시점에서 나올지는 모르므로, 가능한 정렬을 합한다.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B2FC18-6F13-4223-8645-9B656844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학습에서는 정답 prefix별 g(u)와 음향 시점별 f(t)를 조합한다. 각 (t,u)의 softmax에서 blank 확률과 다음 정답 token 확률을 읽는다.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8E271C-C7AF-408B-83F9-C1148FBE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한 정렬 경로는 선택한 전이 확률의 곱이다. 정답을 완성하고 입력을 소비하는 모든 단조 경로의 확률을 합해 P(y|X)를 얻는다.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1F38BD-4F7A-4361-BA75-77326B55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Loss=−ln P(y|X). 정답 token 시각을 하나로 고정하거나, greedy로 고른 한 경로만 학습하는 것이 아니다. Forward DP가 중복 부분 경로 계산을 줄인다.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8344DA-610F-4298-9CBC-F41170D2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30290431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7ADE3-3023-4263-AD86-8FBA8758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A Forward-DP Cell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9C5365-702C-42FA-BEB7-92E74CE6F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같은 칸에 도달하는 두 방향의 확률을 더한다.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94964-8454-4751-9BF1-8CA2B617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α(t,u)는 t개 음향 시점을 지나 u개 정답 token을 낸 경로의 확률 합이다. 왼쪽에서는 blank, 아래에서는 정답 token을 내며 들어온다.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A0B6B-DE3D-4548-8B0F-0F7CB68C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내부 칸: α(t,u)=α(t−1,u)b(t−1,u)+α(t,u−1)ℓ(t,u−1). b는 blank, ℓ은 다음 정답 token의 조건부 확률이다.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850F2-EACF-4F42-BC89-0A5D6FAC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예: 0.20×0.30 + 0.10×0.40 = 0.10. 두 항은 마지막 전이가 서로 다른 경로 묶음이다. 서로 배타적이라 합하며, 한 경로를 두 번 세지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5DB63A-F420-44A1-9E5A-012AB58D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212134364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B1DFE7-2A87-4069-AB13-18EB47F9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 DP: Start, Boundary, Finish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7A382A-3636-4308-96DF-CC305D0C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T개 frame을 모두 소비하고 U개 정답 token을 내면 종료한다.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E19273-48C2-4E89-BAC2-48626743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시작 α(0,0)=1, 불가능한 상태는 0이다. t&lt;T에서 blank는 (t,u)→(t+1,u), 다음 정답 token은 u&lt;U일 때 (t,u)→(t,u+1)로 이동한다.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8DD2EE-D01E-4304-8DE3-8B379A46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첫 열 α(t,0)=α(t−1,0)b(t−1,0). 첫 행 α(0,u)=α(0,u−1)ℓ(0,u−1). 들어오는 방향이 하나뿐이므로 그 전이 확률만 곱한다.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A73D2-8741-4594-912F-D019BD3D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t=T에서는 token 전이가 없다. 마지막 frame에서 blank로 들어온 α(T,U)가 P(y|X)다. 따라서 존재하지 않는 f(T)를 계산하거나 마지막 blank를 다시 곱하지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A893FF-C6BD-476D-823B-8EEC9417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230916476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6006C3-39F7-4E9C-834E-F9FA9D50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 Properties: Memory Cost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0ADEF-7709-4B50-A39B-854759D9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입력 길이 T와 정답 길이 U의 조합마다 joint 계산이 필요하다.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F44D1-785C-4816-A2CD-3874AFBB59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d6b787478c405a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E4A8C8-3B6B-4357-B049-A98B6550F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원문은 batch·T·U·hidden 차원을 곱해 중간 tensor의 크기를 계산한다. FP32 한 원소는 4 byte다.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29.49라는 값의 단위는 Gb가 아니라 약 29.49 GB다. 이는 특정 tensor의 크기이며 전체 학습 메모리와 같지 않다.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4F9A09-AF05-4FFE-BBA2-76477294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42 — joint-grid memory; GB (bytes), not Gb (bits)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CF8594-2356-4127-BA30-3E9D0B00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87722228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E5518B-4C1F-4C43-9F63-26A42E86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RNN-T: Length and Vocabulary Trade-off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B46B6E-7094-4368-98BA-8A0F890F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T와 U를 줄여도 vocabulary V가 커지면 출력 tensor는 커질 수 있다.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EE4AE6-7D14-4900-951B-6D8E162ACE95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Tensor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Character setup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Subword setup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B, T, U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32, 800, 450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32, 200, 150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Hidden width H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640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640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 × T × U × H × 4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29.49 GB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2.46 GB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B × T × U × V × 4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1.29 GB (V=28)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3.93 GB (V=1024)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49B81-0DE6-4083-B780-0611533F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U=150은 원문 범위 100–180의 계산 예다. FP32·십진 GB이며 전체 학습 메모리는 아니다.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Subsampling·subword는 길이를 줄이지만, 큰 어휘의 softmax 비용도 함께 비교해야 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4FD11-D766-4F03-8803-FAAFB84F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1735771581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C2E6A8-ACED-4C85-AE39-C74EA4A0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CTC, LAS, and RNN-T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7CAD2-1BC1-4AB3-9491-ED31BC23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세 모델은 같은 정렬 문제를 서로 다른 확률 구조로 푼다.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DC1220-6E6A-47FD-A654-FEEDB28027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f63acdb9084c94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030BA0-D57B-4FAA-B31E-7E60C2BD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CTC는 출력 이력 없이 frame 경로를 합한다. LAS는 attention과 autoregressive prefix를 쓴다. RNN-T는 prefix와 시간축 경로를 함께 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Streaming 여부는 encoder 문맥과 실제 추론 설정까지 확인해야 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D08B07-A4A6-4706-A129-8D7CCEC3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44 — lecture comparison of CTC, LAS, and RNN-T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8E7F0B-D96B-426E-9C3C-56716570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207151163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9977F7-19D3-4745-919D-E6D91C034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Read the Comparison: Context and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A9F619-1A71-4538-9701-F63F2187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원문 표의 Context는 출력 token 이력, Streaming은 입력을 기다리는 조건에 관한 말이다.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22EFEE-F87B-417E-87BA-0E3A4A97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CTC의 Context=no는 음향 문맥이 없다는 뜻이 아니다. Encoder는 문맥을 볼 수 있지만 분포가 이전에 선택한 출력 token에 직접 의존하지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1300F3-DE68-4A01-87D5-CA2B727B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LAS와 RNN-T는 출력 prefix를 사용한다. 기본 LAS는 전체 입력 attention을 쓰고, RNN-T는 blank를 통해 시간을 진행해 streaming 구조로 만들기 쉽다.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80C72-41A0-4ABC-97F0-33BFE745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CTC·RNN-T도 양방향 전체 문맥 encoder면 미래 입력을 기다린다. 표의 yes/no는 기본 구조의 성질이지 모든 구현에 대한 무조건적 보장이 아니다.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9EF538-30EF-4301-947D-D6CD5BEB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147133915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1F377E-C1C2-4559-B910-235EB441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Read the Comparison: Decoding Cost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C94B83-D2F5-4513-A805-693D53E5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복잡도 표의 핵심은 '출력 이력마다 decoder를 다시 계산하는가'이다.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01392C-9DBB-4459-9405-D573B2A5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CTC는 encoder가 frame 분포를 만들면 후보 경로들이 그 분포를 공유한다. Beam을 늘리면 경로 누적·병합 계산은 늘지만 별도 AR decoder가 생기지는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FFC6BF-0311-4469-97AE-11CFC394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LAS·RNN-T는 prefix마다 상태가 다르므로 후보별 decoder 또는 joint 계산이 필요하다. Beam을 늘릴 때 확률 누적 외에 신경망 계산 부담도 커질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E61B97-04F9-49BC-AD7E-FAF07CBE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enc·dec·T·bs 식은 개략 비교다. 실제 비용은 입력 T, 출력 U, 어휘 V, beam B, cache와 batching에 달린다. 연도별 WER만으로 구조의 우열도 단정하지 않는다.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7A5D84-85D3-4E8A-9A3B-D518419D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48</a:t>
            </a:r>
          </a:p>
        </p:txBody>
      </p:sp>
    </p:spTree>
    <p:extLst>
      <p:ext uri="{BB962C8B-B14F-4D97-AF65-F5344CB8AC3E}">
        <p14:creationId xmlns:p14="http://schemas.microsoft.com/office/powerpoint/2010/main" val="211482128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50D18C-82B3-4674-A8BC-D62F77392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Read the Results: WER and 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7AA31C-9D2E-4CF5-9966-8A47395A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WER은 낮을수록 좋지만, 다른 학습 조건의 결과를 구조 하나의 효과로 볼 수는 없다.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0990EE-A63D-4C3C-B27F-5724B5B3A8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7c7248c23c418a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BD91C7-0FA2-4471-9844-2D94CA8B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표는 DS2, LAS, RNN-T의 서로 다른 연도 결과다. Test-clean과 test-other도 나눠 읽어야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L3는 DS2에 11.9k시간·35M parameter·16 GPU·3–5일을 제시한다. 데이터와 자원 차이까지 봐야 하며 이 표만으로 구조의 우열을 확정할 수 없다.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5C6BBC-E68A-4998-8541-2BB4F85C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43 — reported WER values under different years and training settings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B6763F-5758-4A48-AB4C-F783B9F9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49</a:t>
            </a:r>
          </a:p>
        </p:txBody>
      </p:sp>
    </p:spTree>
    <p:extLst>
      <p:ext uri="{BB962C8B-B14F-4D97-AF65-F5344CB8AC3E}">
        <p14:creationId xmlns:p14="http://schemas.microsoft.com/office/powerpoint/2010/main" val="204219919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982BEE-8747-42F3-B67E-B9AA78EB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Language Models: Why Add One?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90CF8B-5EC2-4E7E-AF0B-3CADECB7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소리가 비슷한 후보를 언어 문맥으로 구별한다.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CDA072-0073-4A25-89ED-CEA46122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'go two a movie'와 'go to a movie'는 소리만으로 헷갈릴 수 있다. LM은 문장 문맥에서 어느 token 열이 자연스러운지 점수를 준다.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4D352E-058E-41F8-BA7C-37D9274E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설명용 λ=1, 길이 보정 없음: 0.21×0.01=0.0021, 0.19×0.60=0.114. 음향 점수는 낮아도 LM 결합 점수에서 'to' 후보가 앞설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0A049B-AFFD-45FC-ADF4-0EC611490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보통 log P_ASR(y|X)+λ log P_LM(y)+길이 보정을 사용한다. 이는 재정규화된 확률이 아닌 탐색 점수이며, λ가 너무 크면 음향 증거를 압도할 수 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B944BC-252E-4CDC-AE35-CA090C3B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105277041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F679FA-96B8-4614-98A7-D0920D5E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Rescoring vs. Shallow 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587CE4-5BE1-4D50-8739-E5B7B998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언어모델을 탐색이 끝난 뒤 쓰는지, 후보를 남길 때부터 쓰는지가 다르다.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3B59A6-3DD7-4149-8BC3-5F08F722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Second-pass rescoring: ASR이 만든 N-best 후보를 LM으로 다시 정렬한다. 첫 탐색에서 이미 버린 문장은 되살릴 수 없다. 비싼 LM도 제한된 후보에 쓸 수 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9E84F2-07A2-4C12-AAE5-F2A84C99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Shallow fusion: beam 확장 단계마다 ASR log 점수와 LM log 점수를 더한다. LM이 중간 후보의 생존에 영향을 주지만 반복 호출 비용이 든다.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9061CB-E8D0-4005-8557-D5F7291E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두 방식 모두 ASR·LM을 따로 학습할 수 있다. 단순 점수 결합은 내부 feature를 함께 학습하는 deep·cold fusion과 구분한다.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CA2BE9-88C8-427D-8BEC-361432C7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106104702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BA34D4-864A-44FB-8E8B-C322A3F8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Deep Fusion vs. Cold 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980CEF-DB40-4154-948A-506D6431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그림의 차이는 사전학습 LM을 ASR 학습에 언제 연결하는가이다.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3802B4-FC0E-47D8-9536-D4D6E7D7EB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06d59a69841c2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924A27-91AB-40D3-BA31-B992B65B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위쪽 deep fusion: 따로 학습한 ASR·LM의 내부 표현을 연결하고 결합부를 학습한다. 단순 log 점수 덧셈이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아래쪽 cold fusion: 사전학습 LM을 ASR 학습 단계부터 활용한다. ASR이 LM에 맡길 언어 정보와 음향 정보를 함께 분담하도록 배운다.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683AE0-1B1F-454A-A346-E27504FF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4, PDF p. 48 — separately trained models vs. LM-conditioned ASR training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C3E31-DE32-4F38-B051-CB133CCC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146121770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FDF3A9-8E67-44BA-9B59-A184EF79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Learning Paradigms: Read the Source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9CFA5-B7F3-44BD-A22C-C7E6CDF4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그림은 같은 데이터를 다루더라도 정답 신호의 출처가 다를 수 있음을 보여 준다.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87D02F-203A-4EB6-A384-A5DF3D5FB0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fb7192610c428c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540172-E5C8-4401-AD27-69C1E2C8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Supervised는 명시적 정답, unsupervised는 별도 정답 없는 구조 탐색이다. Semi-supervised는 labeled·unlabeled 자료를 함께 활용한다.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아래 hashtag 예시는 weak supervision이다. 자료와 연결된 불완전한 신호를 이용하며, 입력 자체에서 target을 만드는 SSL과 구분한다.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68EBCE-3B17-4CF7-8513-DE7E26D7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11 — learning paradigms and weak supervision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71C59C-E9FF-41A9-A137-9C7CE158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165468867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75657A-6639-422B-A148-8F673A79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Learning Paradigms: The Target Source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AEA14D-55A7-4CBF-9329-E2C2CC797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무엇을 정답으로 삼는지 먼저 물으면 학습 방식이 구별된다.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90F202-DF54-4FE6-A5FA-DB6331ED6BF0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Paradigm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Supervision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Speech example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Supervised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사람이 준 정답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음성–전사 쌍으로 ASR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Unsupervised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명시적 정답 없음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음성 표현의 군집화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Semi-supervised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정답 있음 + 없음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전사 자료 + pseudo-label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Self-supervised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입력에서 target 구성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가린 음성 표현 예측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CACCA-65EE-43DF-AF64-6B5FF813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이 분류는 완전히 배타적이지 않다. SSL 사전학습 뒤 supervised fine-tuning을 할 수 있다.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학습 파이프라인 전체와 개별 학습 목표의 분류를 혼동하지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8387FB-A069-42F9-B455-93133F51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377203345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5222BC-A241-443C-9EDE-BF481493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Weak Supervision Is Not No Supervision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44D161-289E-4B09-8EE9-9E081EC9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전사가 완벽하지 않아도 음성과 연결된 텍스트를 학습 신호로 쓸 수 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F7DD1A-4566-46BF-B0B5-3AF0FFBC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원문은 Whisper의 인터넷 음성–텍스트 680k시간과 MMS의 1,000개 이상 언어를 소개한다. 대규모로 연결된 자료를 활용한다는 점이 핵심이지 두 수치의 단위가 같은 것은 아니다.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DCD283-1501-4E16-B42C-3844E945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자료가 크다고 label이 정확해지는 것은 아니다. 잡음 있는 대응, 도메인 편향, 언어별 차이를 점검해야 한다. MMS 전체 학습 단계를 모두 weak-only로 분류하지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4FC571-F6CC-4F65-BE65-90A47740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SSL의 핵심은 별도 전사 대신 입력에서 target을 만드는 것이다. Weak supervision은 불완전하더라도 외부에서 연결된 label 신호가 있다는 차이가 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5C9DA-4C61-413F-BAE8-D1220C76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164812005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6CBA7B-D4E2-4EB6-879A-181A3C3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Self-Supervision: Input Becomes Target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91B03B-3AFD-47F4-8C5C-9166934B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학습할 답이 없는 것이 아니라, 입력 자료에서 답을 구성한다.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440309-4C62-47A4-A4C0-AD3FCBE82E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b227ffea14be8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9EABA3-E364-4115-93AF-5F021B84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가운데는 일부를 가린 입력, 오른쪽은 원래 자료에서 얻은 target이다. 모델은 보이는 문맥으로 가린 부분을 예측한다.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정답을 통째로 입력에 노출하면 복사로 풀릴 수 있다. 어떤 부분을 가리고, 무엇을 맞히게 하느냐가 학습되는 표현을 결정한다.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3917CA-0EB3-4F51-B8E0-FD218494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16 — masked input and targets derived from the original 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B85BB4-E834-4665-BD13-EDA7EA4B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13367907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830E89-15F7-4D63-93EA-49205A67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SSL: Objective, Benefit, and Limit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8CCE0E-42EF-4F13-8E85-838BED43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사전학습에서 배운 표현을 적은 전사 자료로 ASR에 적응시킨다.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3E3D37-DF24-4A6F-987F-56159BFA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입력 변형 → target 구성 → 모델 예측 → loss 계산이 사전학습 문제다. 텍스트에서는 가린 token 또는 다음 token을 예측하지만 모든 SSL 방식이 같지는 않다.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5A6FB1-3AC0-454D-8B6D-54032A52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원문의 빠른 수렴·적은 label·대규모 표현은 기대 효과다. Task와 자료가 맞을 때 도움이 되며, 도메인 차이·잡음·부적절한 target이면 개선을 보장하지 않는다.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8C963-3A33-400C-A9FA-092E093C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사전학습 target을 잘 맞히는 것과 문자를 정확히 전사하는 것은 다르다. ASR fine-tuning에서는 전사와 CTC 같은 task loss로 목적을 다시 맞춘다.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23F825-3FC2-4CA0-BDB4-5ED08B98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20599905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0E77B5-ADF6-4794-B49D-467E1570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SSL Motivation: Read the Data Plot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97D5D7-5CA6-4712-A09F-564A9D8F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전사 자료가 적을수록 어려워지는 문제를 보여 주는 그래프다. SSL의 인과 효과를 증명하는 그래프는 아니다.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E91671-29BB-475E-BD1C-3419002AE8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d96f5c26ec405e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B212BE-07A0-4C2E-802F-EB4F6B90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가로는 전사 음성 시간, 세로는 WER이며 둘 다 로그 눈금이다. 언어별 점에서 자료량이 클수록 WER이 낮아지는 경향을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r²=0.83은 이 관계의 회귀 적합도다. 자료량만이 원인이라는 뜻도, SSL을 쓰면 WER이 83% 감소한다는 뜻도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E75A94-6A93-46F9-A4D5-BED85DC5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17 — transcribed hours vs. WER; association is not a causal SSL gain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A0A925-E9D8-4563-B2BD-996F2BC2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1780118210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B03A62-4A3E-494A-8B1D-F78A9BEC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Speech SSL: Why Targets Are Difficult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5CDD70-0642-4C4D-A2CD-E41E656E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음성 파형은 연속값이며, 처음부터 단어 사전처럼 나뉘어 있지 않다.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85A569-CC56-432E-BBF9-CCBECB75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16 kHz mono 음성 1초는 16,000개 sample이다. 각 값은 단어 token이 아니며 화자·잡음·위상 같은 변화도 포함한다. 무엇을 보존할지 선택해야 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92F78-7DE1-468F-A257-293BB204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원파형 복원만 잘하면 언어 내용을 반드시 잘 이해하는 것은 아니다. 문맥 예측, 후보 구별, 표현의 군집화 등 서로 다른 target 설계가 가능하다.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505A31-38FA-45C9-948C-EA5DA1D5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85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225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따라서 음성 SSL은 입력 표현·가리는 방식·target·loss를 함께 본다. 다음 wav2vec 2.0에서는 연속 표현에서 이산 target을 만드는 방법으로 이어진다.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8B0F86-CEC0-4665-B608-A74AB648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1379391592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7DE2DD-EB63-4797-B60E-FB82BEF0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Speech SSL Timeline: Read the Families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DF43A-9BF5-4697-8A11-6FCE7616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계보의 핵심은 모델 이름보다 학습 신호를 만드는 방식이다.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BA442-C838-459D-8CE3-22B177C0D2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125ea34de4fe5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78DBC3-64B8-4C49-A223-7AB7240C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범례는 generative·contrastive·predictive 등 목표의 계열을 나눈다. 복원할지, 후보를 구별할지, target label을 예측할지가 서로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이 그림은 2015–2022년 흐름이며 성능 순위표가 아니다. 강의는 여기서 wav2vec 2.0과 HuBERT를 골라 target 설계를 비교한다.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C4EE70-E456-43E7-AC47-74C80A38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20 — historical speech SSL families, not a performance ranking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567E46-EDD3-4DB4-A0B6-ED794CA29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625558704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269D46-2A60-4C94-8B7D-2E60BCD8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wav2vec 2.0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94B12C-AF8E-4406-9942-D530E86E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가린 latent 위치를 주변 음성 문맥으로 표현한다.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BDC533-0D27-4D94-B02B-12645F6274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f3c2e531c8466e"/>
          <a:stretch xmlns:a="http://schemas.openxmlformats.org/drawingml/2006/main"/>
        </p:blipFill>
        <p:spPr>
          <a:xfrm xmlns:a="http://schemas.openxmlformats.org/drawingml/2006/main">
            <a:off x="802525" y="2057400"/>
            <a:ext cx="6605501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51DA3-9666-45E2-984D-9D0B8DE2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CNN이 waveform을 z_t로 바꾸고, 일부 위치를 mask embedding으로 치환한 뒤 Transformer가 c_t를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Masking은 spectral mask로 음원을 복원하는 연산이 아니라 사전학습 문제를 만드는 절차다.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F4FD8-81D8-47A5-AC1C-4CDE6836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24 — CNN latent sequence, masked positions, Transformer context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83D666-D03F-4E0A-BD7C-94135264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61</a:t>
            </a:r>
          </a:p>
        </p:txBody>
      </p:sp>
    </p:spTree>
    <p:extLst>
      <p:ext uri="{BB962C8B-B14F-4D97-AF65-F5344CB8AC3E}">
        <p14:creationId xmlns:p14="http://schemas.microsoft.com/office/powerpoint/2010/main" val="887705100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49164C-F083-452A-A7E1-FA8B0325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wav2vec 2.0 Targets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F24B40-A40A-4915-ABB6-4A5C8224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Context c_t는 같은 위치의 quantized target q_t를 distractor보다 잘 골라야 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9CC197-3109-4CF5-954C-BFF408532F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5a1792035f4a9d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BB92C-7A83-4E7A-95AC-1061E74A7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가리지 않은 z_t는 product quantizer를 거쳐 q_t가 된다. Contrastive loss는 positive와 후보를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Diversity objective는 일부 code entry만 쓰는 collapse를 줄인다. q_t는 문자 label이 아니다.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86BDA3-5B60-43ED-8315-7DAA413D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31 — online quantization, contrastive loss, diversity loss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C64447-C972-4C80-ABB6-4F1B4532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2089138000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E495F9-038A-4A0F-B01B-AA3E2A65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HuBERT Hidden Units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17073D-1116-4E3E-979F-38B74AE9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HuBERT는 offline clustering으로 만든 ID를 가린 위치에서 예측한다.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25A9DA-BD7D-4519-8C34-CBFF9DF028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45a787f0c4f11"/>
          <a:stretch xmlns:a="http://schemas.openxmlformats.org/drawingml/2006/main"/>
        </p:blipFill>
        <p:spPr>
          <a:xfrm xmlns:a="http://schemas.openxmlformats.org/drawingml/2006/main">
            <a:off x="803275" y="2057400"/>
            <a:ext cx="66040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60E843-54D3-4EBD-A6EA-F7264C07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14550"/>
            <a:ext cx="36766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첫 target은 MFCC 등의 feature를 k-means로 묶어 만든다. 7·20·5는 cluster ID이며 음소 이름이나 크기 순서가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이전 HuBERT layer를 다시 clustering해 target을 개선할 수 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F723FB-1A73-44BF-B070-F70E7065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95975"/>
            <a:ext cx="11125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526378"/>
                </a:solidFill>
                <a:latin typeface="AppleGothic"/>
                <a:ea typeface="AppleGothic"/>
                <a:cs typeface="AppleGothic"/>
              </a:rPr>
              <a:t>Lecture 5, PDF p. 46 — offline k-means pseudo-labels and masked prediction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9E968-0D98-430E-8EB6-E4EAD9EB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63</a:t>
            </a:r>
          </a:p>
        </p:txBody>
      </p:sp>
    </p:spTree>
    <p:extLst>
      <p:ext uri="{BB962C8B-B14F-4D97-AF65-F5344CB8AC3E}">
        <p14:creationId xmlns:p14="http://schemas.microsoft.com/office/powerpoint/2010/main" val="600795862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D97C65-13A3-4F15-ACC4-430F03F4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11125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3150" b="1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Final Recap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EA7A83-B287-44D7-B87F-364EBB23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defRPr>
            </a:pPr>
            <a:r>
              <a:rPr sz="2175" b="1">
                <a:solidFill>
                  <a:srgbClr val="2164CB"/>
                </a:solidFill>
                <a:latin typeface="AppleGothic"/>
                <a:ea typeface="AppleGothic"/>
                <a:cs typeface="AppleGothic"/>
              </a:rPr>
              <a:t>표현, encoder, 정렬 목표는 서로 다른 설계 축이다.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7BB78A-301C-4D6E-ADEF-95B9360F61D4}"/>
              </a:ext>
            </a:extLst>
          </p:cNvPr>
          <p:cNvGraphicFramePr/>
          <p:nvPr/>
        </p:nvGraphicFramePr>
        <p:xfrm>
          <a:off xmlns:a="http://schemas.openxmlformats.org/drawingml/2006/main" x="533400" y="2057400"/>
          <a:ext xmlns:a="http://schemas.openxmlformats.org/drawingml/2006/main" cx="111252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08400"/>
                <a:gridCol w="3708400"/>
                <a:gridCol w="3708400"/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Question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Method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164C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Answer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T w="9525">
                      <a:solidFill>
                        <a:srgbClr val="D7DFEA"/>
                      </a:solidFill>
                      <a:prstDash val="solid"/>
                    </a:lnT>
                    <a:lnB w="9525">
                      <a:solidFill>
                        <a:srgbClr val="D7DFEA"/>
                      </a:solidFill>
                      <a:prstDash val="solid"/>
                    </a:lnB>
                    <a:solidFill>
                      <a:srgbClr val="EAF1FC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무엇을 보존?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STFT/Mel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time-frequency / compressed bands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어떻게 정렬?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CTC/LAS/RNN-T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paths / attention / 2-D lattice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어떻게 인코딩?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DS2/Conformer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RNN / attention+conv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target은 어디서?</a:t>
                      </a:r>
                    </a:p>
                  </a:txBody>
                  <a:tcPr marL="114300" marR="114300" marT="95250" marB="95250">
                    <a:lnL w="9525">
                      <a:solidFill>
                        <a:srgbClr val="D7DFEA"/>
                      </a:solidFill>
                      <a:prstDash val="solid"/>
                    </a:lnL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wav2vec 2.0/HuBERT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524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quantizer / clustering</a:t>
                      </a:r>
                    </a:p>
                  </a:txBody>
                  <a:tcPr marL="114300" marR="114300" marT="95250" marB="95250">
                    <a:lnR w="9525">
                      <a:solidFill>
                        <a:srgbClr val="D7DFEA"/>
                      </a:solidFill>
                      <a:prstDash val="solid"/>
                    </a:lnR>
                    <a:lnB w="9525">
                      <a:solidFill>
                        <a:srgbClr val="D7DFE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EF373B-3EF8-44A1-9BB1-FAA79A41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FFT는 DFT 계산법이고, Mel은 지각적 축약이다. Conformer는 encoder이며 CTC는 정렬 목표다.</a:t>
            </a:r>
          </a:p>
          <a:p xmlns:a="http://schemas.openxmlformats.org/drawingml/2006/main">
            <a:pPr>
              <a:def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5243B"/>
                </a:solidFill>
                <a:latin typeface="AppleGothic"/>
                <a:ea typeface="AppleGothic"/>
                <a:cs typeface="AppleGothic"/>
              </a:rPr>
              <a:t>wav2vec 2.0은 online quantized target, HuBERT는 offline cluster target을 쓴 뒤 labeled ASR로 fine-tuning한다.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FC20B7-9FE7-490E-A59A-B679BFF8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008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defPPr>
            <a:lvl1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1pPr>
            <a:lvl2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2pPr>
            <a:lvl3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3pPr>
            <a:lvl4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4pPr>
            <a:lvl5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5pPr>
            <a:lvl6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6pPr>
            <a:lvl7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7pPr>
            <a:lvl8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8pPr>
            <a:lvl9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62748C"/>
                </a:solidFill>
                <a:latin typeface="AppleGothic"/>
                <a:ea typeface="AppleGothic"/>
                <a:cs typeface="AppleGothic"/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10460609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2026-10-19T05:14:47.8600000Z</dcterms:created>
  <dcterms:modified xsi:type="dcterms:W3CDTF">2026-10-19T05:14:47.8600000Z</dcterms:modified>
</coreProperties>
</file>
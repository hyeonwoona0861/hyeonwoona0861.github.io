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6666c93eebc24bb5" /><Relationship Type="http://schemas.openxmlformats.org/officeDocument/2006/relationships/extended-properties" Target="/docProps/app.xml" Id="R4f44bea35b4f4b5b" /><Relationship Type="http://schemas.openxmlformats.org/officeDocument/2006/relationships/officeDocument" Target="/ppt/presentation.xml" Id="Rdecddc6a5f624cbe" /></Relationships>
</file>

<file path=ppt/presentation.xml><?xml version="1.0" encoding="utf-8"?>
<p:presentation xmlns:p="http://schemas.openxmlformats.org/presentationml/2006/main">
  <p:sldMasterIdLst>
    <p:sldMasterId xmlns:r="http://schemas.openxmlformats.org/officeDocument/2006/relationships" id="2147483648" r:id="Rfc9241ca54e74305"/>
  </p:sldMasterIdLst>
  <p:notesMasterIdLst>
    <p:notesMasterId xmlns:r="http://schemas.openxmlformats.org/officeDocument/2006/relationships" r:id="R1231596a681f43e0"/>
  </p:notesMasterIdLst>
  <p:sldIdLst>
    <p:sldId xmlns:r="http://schemas.openxmlformats.org/officeDocument/2006/relationships" id="256" r:id="R82cc258150e342c5"/>
    <p:sldId xmlns:r="http://schemas.openxmlformats.org/officeDocument/2006/relationships" id="257" r:id="Rffd9a9a6829440a9"/>
    <p:sldId xmlns:r="http://schemas.openxmlformats.org/officeDocument/2006/relationships" id="258" r:id="R5ff459c9f1934068"/>
    <p:sldId xmlns:r="http://schemas.openxmlformats.org/officeDocument/2006/relationships" id="259" r:id="Rcc1bbaa0f1b74c5a"/>
    <p:sldId xmlns:r="http://schemas.openxmlformats.org/officeDocument/2006/relationships" id="260" r:id="R1d9c611779b641dc"/>
    <p:sldId xmlns:r="http://schemas.openxmlformats.org/officeDocument/2006/relationships" id="261" r:id="R7c435f3967294f41"/>
    <p:sldId xmlns:r="http://schemas.openxmlformats.org/officeDocument/2006/relationships" id="262" r:id="Rcf404545b4da4fcb"/>
    <p:sldId xmlns:r="http://schemas.openxmlformats.org/officeDocument/2006/relationships" id="263" r:id="R49779a28c7b74126"/>
    <p:sldId xmlns:r="http://schemas.openxmlformats.org/officeDocument/2006/relationships" id="264" r:id="Rca6f855d16754da0"/>
    <p:sldId xmlns:r="http://schemas.openxmlformats.org/officeDocument/2006/relationships" id="265" r:id="R8493c5df44684c8b"/>
    <p:sldId xmlns:r="http://schemas.openxmlformats.org/officeDocument/2006/relationships" id="266" r:id="R527991f3e9b84c25"/>
    <p:sldId xmlns:r="http://schemas.openxmlformats.org/officeDocument/2006/relationships" id="267" r:id="R7a38ec7131b9401f"/>
    <p:sldId xmlns:r="http://schemas.openxmlformats.org/officeDocument/2006/relationships" id="268" r:id="R27c3dc6a0acf40e4"/>
    <p:sldId xmlns:r="http://schemas.openxmlformats.org/officeDocument/2006/relationships" id="269" r:id="R59e9da1599254fdb"/>
    <p:sldId xmlns:r="http://schemas.openxmlformats.org/officeDocument/2006/relationships" id="270" r:id="R39ec76c74efb4f63"/>
    <p:sldId xmlns:r="http://schemas.openxmlformats.org/officeDocument/2006/relationships" id="271" r:id="R0a64ec14b59d4f29"/>
    <p:sldId xmlns:r="http://schemas.openxmlformats.org/officeDocument/2006/relationships" id="272" r:id="R45dcddfcd30b4913"/>
    <p:sldId xmlns:r="http://schemas.openxmlformats.org/officeDocument/2006/relationships" id="273" r:id="R161978940ac544d6"/>
    <p:sldId xmlns:r="http://schemas.openxmlformats.org/officeDocument/2006/relationships" id="274" r:id="Rc6c496b1e7974948"/>
    <p:sldId xmlns:r="http://schemas.openxmlformats.org/officeDocument/2006/relationships" id="275" r:id="R9301e3c962ce42fa"/>
    <p:sldId xmlns:r="http://schemas.openxmlformats.org/officeDocument/2006/relationships" id="276" r:id="R0de5936349a84092"/>
    <p:sldId xmlns:r="http://schemas.openxmlformats.org/officeDocument/2006/relationships" id="277" r:id="R85fa9d007fbe4d5b"/>
    <p:sldId xmlns:r="http://schemas.openxmlformats.org/officeDocument/2006/relationships" id="278" r:id="R0b55bf6dce8d4c60"/>
    <p:sldId xmlns:r="http://schemas.openxmlformats.org/officeDocument/2006/relationships" id="279" r:id="Rb09766a7df654d4a"/>
    <p:sldId xmlns:r="http://schemas.openxmlformats.org/officeDocument/2006/relationships" id="280" r:id="R42befe6b814b4d1a"/>
    <p:sldId xmlns:r="http://schemas.openxmlformats.org/officeDocument/2006/relationships" id="281" r:id="R99a9d27cc35644ed"/>
    <p:sldId xmlns:r="http://schemas.openxmlformats.org/officeDocument/2006/relationships" id="282" r:id="R862ff08404234621"/>
    <p:sldId xmlns:r="http://schemas.openxmlformats.org/officeDocument/2006/relationships" id="283" r:id="R0b65dc3bdd9448a8"/>
    <p:sldId xmlns:r="http://schemas.openxmlformats.org/officeDocument/2006/relationships" id="284" r:id="R19bc611327fc4d77"/>
    <p:sldId xmlns:r="http://schemas.openxmlformats.org/officeDocument/2006/relationships" id="285" r:id="R38deacce31724ccc"/>
    <p:sldId xmlns:r="http://schemas.openxmlformats.org/officeDocument/2006/relationships" id="286" r:id="R03e94648f41f43f5"/>
    <p:sldId xmlns:r="http://schemas.openxmlformats.org/officeDocument/2006/relationships" id="287" r:id="Rd94f4ca0def747c3"/>
    <p:sldId xmlns:r="http://schemas.openxmlformats.org/officeDocument/2006/relationships" id="288" r:id="Rdc2c872817d74f70"/>
    <p:sldId xmlns:r="http://schemas.openxmlformats.org/officeDocument/2006/relationships" id="289" r:id="R723edc57a317468b"/>
    <p:sldId xmlns:r="http://schemas.openxmlformats.org/officeDocument/2006/relationships" id="290" r:id="R4b8e4b9226df4a8d"/>
    <p:sldId xmlns:r="http://schemas.openxmlformats.org/officeDocument/2006/relationships" id="291" r:id="Recacef64eb5543f2"/>
    <p:sldId xmlns:r="http://schemas.openxmlformats.org/officeDocument/2006/relationships" id="292" r:id="R246ae2f4a97b4dac"/>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8ebf4e8dd7e641c2" /><Relationship Type="http://schemas.openxmlformats.org/officeDocument/2006/relationships/slideMaster" Target="/ppt/slideMasters/slideMaster1.xml" Id="Rfc9241ca54e74305" /><Relationship Type="http://schemas.openxmlformats.org/officeDocument/2006/relationships/notesMaster" Target="/ppt/notesMasters/notesMaster1.xml" Id="R1231596a681f43e0" /><Relationship Type="http://schemas.openxmlformats.org/officeDocument/2006/relationships/presProps" Target="/ppt/presProps.xml" Id="Rf6f7d80e34604755" /><Relationship Type="http://schemas.openxmlformats.org/officeDocument/2006/relationships/tableStyles" Target="/ppt/tableStyles.xml" Id="R8eeef5ec8b3846e1" /><Relationship Type="http://schemas.openxmlformats.org/officeDocument/2006/relationships/slide" Target="/ppt/slides/slide1.xml" Id="R82cc258150e342c5" /><Relationship Type="http://schemas.openxmlformats.org/officeDocument/2006/relationships/slide" Target="/ppt/slides/slide2.xml" Id="Rffd9a9a6829440a9" /><Relationship Type="http://schemas.openxmlformats.org/officeDocument/2006/relationships/slide" Target="/ppt/slides/slide3.xml" Id="R5ff459c9f1934068" /><Relationship Type="http://schemas.openxmlformats.org/officeDocument/2006/relationships/slide" Target="/ppt/slides/slide4.xml" Id="Rcc1bbaa0f1b74c5a" /><Relationship Type="http://schemas.openxmlformats.org/officeDocument/2006/relationships/slide" Target="/ppt/slides/slide5.xml" Id="R1d9c611779b641dc" /><Relationship Type="http://schemas.openxmlformats.org/officeDocument/2006/relationships/slide" Target="/ppt/slides/slide6.xml" Id="R7c435f3967294f41" /><Relationship Type="http://schemas.openxmlformats.org/officeDocument/2006/relationships/slide" Target="/ppt/slides/slide7.xml" Id="Rcf404545b4da4fcb" /><Relationship Type="http://schemas.openxmlformats.org/officeDocument/2006/relationships/slide" Target="/ppt/slides/slide8.xml" Id="R49779a28c7b74126" /><Relationship Type="http://schemas.openxmlformats.org/officeDocument/2006/relationships/slide" Target="/ppt/slides/slide9.xml" Id="Rca6f855d16754da0" /><Relationship Type="http://schemas.openxmlformats.org/officeDocument/2006/relationships/slide" Target="/ppt/slides/slide10.xml" Id="R8493c5df44684c8b" /><Relationship Type="http://schemas.openxmlformats.org/officeDocument/2006/relationships/slide" Target="/ppt/slides/slide11.xml" Id="R527991f3e9b84c25" /><Relationship Type="http://schemas.openxmlformats.org/officeDocument/2006/relationships/slide" Target="/ppt/slides/slide12.xml" Id="R7a38ec7131b9401f" /><Relationship Type="http://schemas.openxmlformats.org/officeDocument/2006/relationships/slide" Target="/ppt/slides/slide13.xml" Id="R27c3dc6a0acf40e4" /><Relationship Type="http://schemas.openxmlformats.org/officeDocument/2006/relationships/slide" Target="/ppt/slides/slide14.xml" Id="R59e9da1599254fdb" /><Relationship Type="http://schemas.openxmlformats.org/officeDocument/2006/relationships/slide" Target="/ppt/slides/slide15.xml" Id="R39ec76c74efb4f63" /><Relationship Type="http://schemas.openxmlformats.org/officeDocument/2006/relationships/slide" Target="/ppt/slides/slide16.xml" Id="R0a64ec14b59d4f29" /><Relationship Type="http://schemas.openxmlformats.org/officeDocument/2006/relationships/slide" Target="/ppt/slides/slide17.xml" Id="R45dcddfcd30b4913" /><Relationship Type="http://schemas.openxmlformats.org/officeDocument/2006/relationships/slide" Target="/ppt/slides/slide18.xml" Id="R161978940ac544d6" /><Relationship Type="http://schemas.openxmlformats.org/officeDocument/2006/relationships/slide" Target="/ppt/slides/slide19.xml" Id="Rc6c496b1e7974948" /><Relationship Type="http://schemas.openxmlformats.org/officeDocument/2006/relationships/slide" Target="/ppt/slides/slide20.xml" Id="R9301e3c962ce42fa" /><Relationship Type="http://schemas.openxmlformats.org/officeDocument/2006/relationships/slide" Target="/ppt/slides/slide21.xml" Id="R0de5936349a84092" /><Relationship Type="http://schemas.openxmlformats.org/officeDocument/2006/relationships/slide" Target="/ppt/slides/slide22.xml" Id="R85fa9d007fbe4d5b" /><Relationship Type="http://schemas.openxmlformats.org/officeDocument/2006/relationships/slide" Target="/ppt/slides/slide23.xml" Id="R0b55bf6dce8d4c60" /><Relationship Type="http://schemas.openxmlformats.org/officeDocument/2006/relationships/slide" Target="/ppt/slides/slide24.xml" Id="Rb09766a7df654d4a" /><Relationship Type="http://schemas.openxmlformats.org/officeDocument/2006/relationships/slide" Target="/ppt/slides/slide25.xml" Id="R42befe6b814b4d1a" /><Relationship Type="http://schemas.openxmlformats.org/officeDocument/2006/relationships/slide" Target="/ppt/slides/slide26.xml" Id="R99a9d27cc35644ed" /><Relationship Type="http://schemas.openxmlformats.org/officeDocument/2006/relationships/slide" Target="/ppt/slides/slide27.xml" Id="R862ff08404234621" /><Relationship Type="http://schemas.openxmlformats.org/officeDocument/2006/relationships/slide" Target="/ppt/slides/slide28.xml" Id="R0b65dc3bdd9448a8" /><Relationship Type="http://schemas.openxmlformats.org/officeDocument/2006/relationships/slide" Target="/ppt/slides/slide29.xml" Id="R19bc611327fc4d77" /><Relationship Type="http://schemas.openxmlformats.org/officeDocument/2006/relationships/slide" Target="/ppt/slides/slide30.xml" Id="R38deacce31724ccc" /><Relationship Type="http://schemas.openxmlformats.org/officeDocument/2006/relationships/slide" Target="/ppt/slides/slide31.xml" Id="R03e94648f41f43f5" /><Relationship Type="http://schemas.openxmlformats.org/officeDocument/2006/relationships/slide" Target="/ppt/slides/slide32.xml" Id="Rd94f4ca0def747c3" /><Relationship Type="http://schemas.openxmlformats.org/officeDocument/2006/relationships/slide" Target="/ppt/slides/slide33.xml" Id="Rdc2c872817d74f70" /><Relationship Type="http://schemas.openxmlformats.org/officeDocument/2006/relationships/slide" Target="/ppt/slides/slide34.xml" Id="R723edc57a317468b" /><Relationship Type="http://schemas.openxmlformats.org/officeDocument/2006/relationships/slide" Target="/ppt/slides/slide35.xml" Id="R4b8e4b9226df4a8d" /><Relationship Type="http://schemas.openxmlformats.org/officeDocument/2006/relationships/slide" Target="/ppt/slides/slide36.xml" Id="Recacef64eb5543f2" /><Relationship Type="http://schemas.openxmlformats.org/officeDocument/2006/relationships/slide" Target="/ppt/slides/slide37.xml" Id="R246ae2f4a97b4dac"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3e4f3c7ce7ad414b"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626115337a364e93" /><Relationship Type="http://schemas.openxmlformats.org/officeDocument/2006/relationships/notesMaster" Target="/ppt/notesMasters/notesMaster1.xml" Id="R073eaa3e97ff4e21" /></Relationships>
</file>

<file path=ppt/notesSlides/_rels/notesSlide2.xml.rels>&#65279;<?xml version="1.0" encoding="utf-8"?><Relationships xmlns="http://schemas.openxmlformats.org/package/2006/relationships"><Relationship Type="http://schemas.openxmlformats.org/officeDocument/2006/relationships/slide" Target="/ppt/slides/slide2.xml" Id="Rd4cd6d52577540bc" /><Relationship Type="http://schemas.openxmlformats.org/officeDocument/2006/relationships/notesMaster" Target="/ppt/notesMasters/notesMaster1.xml" Id="R3c3e00fc59c84370" /></Relationships>
</file>

<file path=ppt/notesSlides/_rels/notesSlide3.xml.rels>&#65279;<?xml version="1.0" encoding="utf-8"?><Relationships xmlns="http://schemas.openxmlformats.org/package/2006/relationships"><Relationship Type="http://schemas.openxmlformats.org/officeDocument/2006/relationships/slide" Target="/ppt/slides/slide3.xml" Id="R8641faaa367d4b6a" /><Relationship Type="http://schemas.openxmlformats.org/officeDocument/2006/relationships/notesMaster" Target="/ppt/notesMasters/notesMaster1.xml" Id="R10a39b8680a345ed" /></Relationships>
</file>

<file path=ppt/notesSlides/_rels/notesSlide4.xml.rels>&#65279;<?xml version="1.0" encoding="utf-8"?><Relationships xmlns="http://schemas.openxmlformats.org/package/2006/relationships"><Relationship Type="http://schemas.openxmlformats.org/officeDocument/2006/relationships/slide" Target="/ppt/slides/slide4.xml" Id="R0a75f1edd1b64f27" /><Relationship Type="http://schemas.openxmlformats.org/officeDocument/2006/relationships/notesMaster" Target="/ppt/notesMasters/notesMaster1.xml" Id="R6a13ae6b0b5a4236" /></Relationships>
</file>

<file path=ppt/notesSlides/_rels/notesSlide5.xml.rels>&#65279;<?xml version="1.0" encoding="utf-8"?><Relationships xmlns="http://schemas.openxmlformats.org/package/2006/relationships"><Relationship Type="http://schemas.openxmlformats.org/officeDocument/2006/relationships/slide" Target="/ppt/slides/slide5.xml" Id="R9b0e62f1ea1249d5" /><Relationship Type="http://schemas.openxmlformats.org/officeDocument/2006/relationships/notesMaster" Target="/ppt/notesMasters/notesMaster1.xml" Id="Rdf37b240684a4dd8" /></Relationships>
</file>

<file path=ppt/notesSlides/_rels/notesSlide6.xml.rels>&#65279;<?xml version="1.0" encoding="utf-8"?><Relationships xmlns="http://schemas.openxmlformats.org/package/2006/relationships"><Relationship Type="http://schemas.openxmlformats.org/officeDocument/2006/relationships/slide" Target="/ppt/slides/slide6.xml" Id="Rc0c2872aaf3842da" /><Relationship Type="http://schemas.openxmlformats.org/officeDocument/2006/relationships/notesMaster" Target="/ppt/notesMasters/notesMaster1.xml" Id="R4cc4022ec34846c4" /></Relationships>
</file>

<file path=ppt/notesSlides/_rels/notesSlide7.xml.rels>&#65279;<?xml version="1.0" encoding="utf-8"?><Relationships xmlns="http://schemas.openxmlformats.org/package/2006/relationships"><Relationship Type="http://schemas.openxmlformats.org/officeDocument/2006/relationships/slide" Target="/ppt/slides/slide7.xml" Id="R18996fd31d1a4dd8" /><Relationship Type="http://schemas.openxmlformats.org/officeDocument/2006/relationships/notesMaster" Target="/ppt/notesMasters/notesMaster1.xml" Id="Rb502d49877784a60" /></Relationships>
</file>

<file path=ppt/notesSlides/_rels/notesSlide8.xml.rels>&#65279;<?xml version="1.0" encoding="utf-8"?><Relationships xmlns="http://schemas.openxmlformats.org/package/2006/relationships"><Relationship Type="http://schemas.openxmlformats.org/officeDocument/2006/relationships/slide" Target="/ppt/slides/slide8.xml" Id="Rfba0a07d4ee44c45" /><Relationship Type="http://schemas.openxmlformats.org/officeDocument/2006/relationships/notesMaster" Target="/ppt/notesMasters/notesMaster1.xml" Id="R7c20c35c95e14147" /></Relationships>
</file>

<file path=ppt/notesSlides/_rels/notesSlide9.xml.rels>&#65279;<?xml version="1.0" encoding="utf-8"?><Relationships xmlns="http://schemas.openxmlformats.org/package/2006/relationships"><Relationship Type="http://schemas.openxmlformats.org/officeDocument/2006/relationships/slide" Target="/ppt/slides/slide9.xml" Id="R6632b253c921492e" /><Relationship Type="http://schemas.openxmlformats.org/officeDocument/2006/relationships/notesMaster" Target="/ppt/notesMasters/notesMaster1.xml" Id="R44cfd44303be4981"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98caedc32f744395" /><Relationship Type="http://schemas.openxmlformats.org/officeDocument/2006/relationships/notesMaster" Target="/ppt/notesMasters/notesMaster1.xml" Id="R8b0d152498894134"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3bd97809c0ce41bb" /><Relationship Type="http://schemas.openxmlformats.org/officeDocument/2006/relationships/notesMaster" Target="/ppt/notesMasters/notesMaster1.xml" Id="R74e62ea676d44010"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9f64cad60bf44b36" /><Relationship Type="http://schemas.openxmlformats.org/officeDocument/2006/relationships/notesMaster" Target="/ppt/notesMasters/notesMaster1.xml" Id="R4e18c0c4d5e84cf7"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8d4000391f5d4f69" /><Relationship Type="http://schemas.openxmlformats.org/officeDocument/2006/relationships/notesMaster" Target="/ppt/notesMasters/notesMaster1.xml" Id="R720cbe2868344492"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3819f61a582643f0" /><Relationship Type="http://schemas.openxmlformats.org/officeDocument/2006/relationships/notesMaster" Target="/ppt/notesMasters/notesMaster1.xml" Id="R25ae72dc79bd4a45"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9d92c201080a4ca8" /><Relationship Type="http://schemas.openxmlformats.org/officeDocument/2006/relationships/notesMaster" Target="/ppt/notesMasters/notesMaster1.xml" Id="Ra42c26b227124394"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c5db8bc2ff214334" /><Relationship Type="http://schemas.openxmlformats.org/officeDocument/2006/relationships/notesMaster" Target="/ppt/notesMasters/notesMaster1.xml" Id="R19f32d86806a4775"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9f53818d22b1482d" /><Relationship Type="http://schemas.openxmlformats.org/officeDocument/2006/relationships/notesMaster" Target="/ppt/notesMasters/notesMaster1.xml" Id="Ra945f864876544aa"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1a1d83052f644925" /><Relationship Type="http://schemas.openxmlformats.org/officeDocument/2006/relationships/notesMaster" Target="/ppt/notesMasters/notesMaster1.xml" Id="R9c0ebde7e3e74bc7"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67e12b8bdcbb4d82" /><Relationship Type="http://schemas.openxmlformats.org/officeDocument/2006/relationships/notesMaster" Target="/ppt/notesMasters/notesMaster1.xml" Id="R23f65eb949b14162"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6b729f2b2c124cdf" /><Relationship Type="http://schemas.openxmlformats.org/officeDocument/2006/relationships/notesMaster" Target="/ppt/notesMasters/notesMaster1.xml" Id="R60c2a8453e3348d2"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e6af608ad9df4414" /><Relationship Type="http://schemas.openxmlformats.org/officeDocument/2006/relationships/notesMaster" Target="/ppt/notesMasters/notesMaster1.xml" Id="R9de76c185c1a4ddb"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8a922b0005584e64" /><Relationship Type="http://schemas.openxmlformats.org/officeDocument/2006/relationships/notesMaster" Target="/ppt/notesMasters/notesMaster1.xml" Id="R38c5198cfa534403"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b6747c0ad6064460" /><Relationship Type="http://schemas.openxmlformats.org/officeDocument/2006/relationships/notesMaster" Target="/ppt/notesMasters/notesMaster1.xml" Id="R27a06addb8464a50"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9aa89bc2b9564db3" /><Relationship Type="http://schemas.openxmlformats.org/officeDocument/2006/relationships/notesMaster" Target="/ppt/notesMasters/notesMaster1.xml" Id="R408676191c894828"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320fd1be72364b00" /><Relationship Type="http://schemas.openxmlformats.org/officeDocument/2006/relationships/notesMaster" Target="/ppt/notesMasters/notesMaster1.xml" Id="R8f7bb8d2a45d482a"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c9e096133e884237" /><Relationship Type="http://schemas.openxmlformats.org/officeDocument/2006/relationships/notesMaster" Target="/ppt/notesMasters/notesMaster1.xml" Id="Rac5a75445bff4768"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9b1b75c2fe974cec" /><Relationship Type="http://schemas.openxmlformats.org/officeDocument/2006/relationships/notesMaster" Target="/ppt/notesMasters/notesMaster1.xml" Id="R695bc6bdb68f4509"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9b75c3b680944717" /><Relationship Type="http://schemas.openxmlformats.org/officeDocument/2006/relationships/notesMaster" Target="/ppt/notesMasters/notesMaster1.xml" Id="R32fa8d5f8cc740c5"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ce3a53ff962a4649" /><Relationship Type="http://schemas.openxmlformats.org/officeDocument/2006/relationships/notesMaster" Target="/ppt/notesMasters/notesMaster1.xml" Id="R932a37acbafa460f"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b8d940debe6141e5" /><Relationship Type="http://schemas.openxmlformats.org/officeDocument/2006/relationships/notesMaster" Target="/ppt/notesMasters/notesMaster1.xml" Id="R5742516d1b9c472f"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27e212f9ad074369" /><Relationship Type="http://schemas.openxmlformats.org/officeDocument/2006/relationships/notesMaster" Target="/ppt/notesMasters/notesMaster1.xml" Id="R756121d8caaf4f9f"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f46246a25cdb4766" /><Relationship Type="http://schemas.openxmlformats.org/officeDocument/2006/relationships/notesMaster" Target="/ppt/notesMasters/notesMaster1.xml" Id="R1753a6c49b5549de"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9b9871b4cb474317" /><Relationship Type="http://schemas.openxmlformats.org/officeDocument/2006/relationships/notesMaster" Target="/ppt/notesMasters/notesMaster1.xml" Id="Reb6fa3ac731f44b1"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ebb80d7a552c4159" /><Relationship Type="http://schemas.openxmlformats.org/officeDocument/2006/relationships/notesMaster" Target="/ppt/notesMasters/notesMaster1.xml" Id="R886d5a7a7dd94a7f"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85ce016631ec4030" /><Relationship Type="http://schemas.openxmlformats.org/officeDocument/2006/relationships/notesMaster" Target="/ppt/notesMasters/notesMaster1.xml" Id="Ra0063d906eac471b"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5f2eb2f2fe2d443b" /><Relationship Type="http://schemas.openxmlformats.org/officeDocument/2006/relationships/notesMaster" Target="/ppt/notesMasters/notesMaster1.xml" Id="Rede365a20a6d4a3c"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a44d76e5ac54403c" /><Relationship Type="http://schemas.openxmlformats.org/officeDocument/2006/relationships/notesMaster" Target="/ppt/notesMasters/notesMaster1.xml" Id="Rd885732e847649b3"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공개 총정리: https://hyeonwoona0861.github.io/study/autonomous-driving/midterm-review-through-lab-02/ . 범위는 총정리의 Source Materials와 동일하다.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공개 총정리의 전체 흐름과 Study Guide를 요약했다: https://hyeonwoona0861.github.io/study/autonomous-driving/midterm-review-through-lab-02/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Lecture 2의 Camera pp. 9–14, LiDAR pp. 15–21, RADAR pp. 22–23을 요약했다. 공개 PDF: https://hyeonwoona0861.github.io/assets/pdfs/study/autonomous-driving/02-sensors.pdf#page=9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원본 그림: Lecture 2 p. 17, https://hyeonwoona0861.github.io/assets/pdfs/study/autonomous-driving/02-sensors.pdf#page=17 . 그림의 x, y, z 축과 3D boxes를 함께 읽는다.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원본 그림: Lecture 9 p. 18, https://hyeonwoona0861.github.io/assets/pdfs/study/autonomous-driving/lecture-09-3d-perception-01.pdf#page=18 . Projection 식과 calibration 조건은 공개 총정리 section 1.2의 해설을 따른다.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Stereo 개념은 Lecture 2 p. 14, https://hyeonwoona0861.github.io/assets/pdfs/study/autonomous-driving/02-sensors.pdf#page=14 . 수치는 총정리 section 1.3의 설명용 계산이며 실험 결과가 아니다.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Lecture 3의 CNN 분류 구조와 Lectures 4–8의 detection, segmentation 출력을 대조했다. Lecture 3 p. 27: https://hyeonwoona0861.github.io/assets/pdfs/study/autonomous-driving/lecture-03-perception-01.pdf#page=27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원본 그림: Lecture 3 p. 53, https://hyeonwoona0861.github.io/assets/pdfs/study/autonomous-driving/lecture-03-perception-01.pdf#page=53 . 논문 관계: VGG https://arxiv.org/abs/1409.1556 , ResNet https://arxiv.org/abs/1512.03385 , ViT https://arxiv.org/abs/2010.11929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원본 그림: Lecture 4 p. 20, https://hyeonwoona0861.github.io/assets/pdfs/study/autonomous-driving/lecture-04-perception-02.pdf#page=20 . 1/3 계산은 총정리 section 3.1의 설명용 예시다.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원본 그림: Lecture 5 p. 12, https://hyeonwoona0861.github.io/assets/pdfs/study/autonomous-driving/lecture-05-perception-03.pdf#page=12 . AP 0.625는 총정리 section 3.4의 설명용 계산이며 benchmark 결과가 아니다.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원본 그림: Lecture 4 p. 32, https://hyeonwoona0861.github.io/assets/pdfs/study/autonomous-driving/lecture-04-perception-02.pdf#page=32 . 원 논문: https://arxiv.org/abs/1311.2524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원본 그림: Lecture 6 p. 16, https://hyeonwoona0861.github.io/assets/pdfs/study/autonomous-driving/lecture-06-perception-04.pdf#page=16 . 수치 예시는 총정리 section 7.3의 encode/decode 설명용 계산이다. Faster R-CNN: https://arxiv.org/abs/1506.01497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원본 그림: Lecture 6 p. 31, https://hyeonwoona0861.github.io/assets/pdfs/study/autonomous-driving/lecture-06-perception-04.pdf#page=31 . FPN 논문: https://arxiv.org/abs/1612.03144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원본 그림: Lecture 7 p. 9, https://hyeonwoona0861.github.io/assets/pdfs/study/autonomous-driving/lecture-07-perception-05.pdf#page=9 . RetinaNet과 focal loss: https://arxiv.org/abs/1708.02002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원본 그림: Lecture 7 p. 18, https://hyeonwoona0861.github.io/assets/pdfs/study/autonomous-driving/lecture-07-perception-05.pdf#page=18 . FCOS: https://arxiv.org/abs/1904.01355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원본 결과: Lecture 8 p. 25, https://hyeonwoona0861.github.io/assets/pdfs/study/autonomous-driving/lecture-08-perception-06.pdf#page=25 . Mask R-CNN 구조는 p. 23, https://hyeonwoona0861.github.io/assets/pdfs/study/autonomous-driving/lecture-08-perception-06.pdf#page=23 . 원 논문: https://arxiv.org/abs/1703.06870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원본 그림: Lecture 9 p. 18, https://hyeonwoona0861.github.io/assets/pdfs/study/autonomous-driving/lecture-09-3d-perception-01.pdf#page=18 . Mono3D: https://openaccess.thecvf.com/content_cvpr_2016/html/Chen_Monocular_3D_Object_CVPR_2016_paper.html . MonoRCNN: https://openaccess.thecvf.com/content/ICCV2021/html/Shi_Geometry-Based_Distance_Decomposition_for_Monocular_3D_Object_Detection_ICCV_2021_paper.html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원본 그림: Lecture 9 p. 36, https://hyeonwoona0861.github.io/assets/pdfs/study/autonomous-driving/lecture-09-3d-perception-01.pdf#page=36 . Pseudo-LiDAR: https://openaccess.thecvf.com/content_CVPR_2019/html/Wang_Pseudo-LiDAR_From_Visual_Depth_Estimation_Bridging_the_Gap_in_3D_CVPR_2019_paper.html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원본 그림: Lecture 10 p. 12, https://hyeonwoona0861.github.io/assets/pdfs/study/autonomous-driving/lecture-10-3d-perception-02.pdf#page=12 . Max 예시는 순열 불변성을 보이는 설명용 계산이며 실험 출력이 아니다. PointNet: https://arxiv.org/abs/1612.00593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표현 비교는 Lecture 10 pp. 10–37, https://hyeonwoona0861.github.io/assets/pdfs/study/autonomous-driving/lecture-10-3d-perception-02.pdf#page=10 와 총정리 section 8.3을 따른다.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원본 그림: Lecture 10 p. 29, https://hyeonwoona0861.github.io/assets/pdfs/study/autonomous-driving/lecture-10-3d-perception-02.pdf#page=29 . VoxelNet: https://openaccess.thecvf.com/content_cvpr_2018/html/Zhou_VoxelNet_End-to-End_Learning_CVPR_2018_paper.html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원본 그림: Lecture 11 p. 14, https://hyeonwoona0861.github.io/assets/pdfs/study/autonomous-driving/lecture-11-3d-perception-03.pdf#page=14 . Frustum PointNets: https://openaccess.thecvf.com/content_cvpr_2018/html/Qi_Frustum_PointNets_for_CVPR_2018_paper.html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원본 그림: Lecture 11 p. 21, https://hyeonwoona0861.github.io/assets/pdfs/study/autonomous-driving/lecture-11-3d-perception-03.pdf#page=21 . Fusion 시점 비교는 p. 20이다. MV3D: https://openaccess.thecvf.com/content_cvpr_2017/html/Chen_Multi-View_3D_Object_CVPR_2017_paper.html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저장 출력: https://hyeonwoona0861.github.io/assets/notebooks/study/autonomous-driving/assignment-02-two-stage-vs-one-stage.ipynb , cell 27, 0-based. 이 그림은 최종 detection이나 dataset AP가 아니다.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https://hyeonwoona0861.github.io/assets/notebooks/study/autonomous-driving/assignment-02-two-stage-vs-one-stage.ipynb . Cells 14–18 (0-based). Saved cell 16 uses scales 32,64,128,256,512 and aspect ratios 0.5,1,2; torchvision ratio is height/width. Cell 17 compares the 15 center-aligned templates for GT index 2, not all spatial anchors. Best IoU per level is 0.01,0.05,0.18,0.73,0.34; P5 ratio 2 is the best. P2 resolution supports small-object localization but does not guarantee the best match for every object.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https://hyeonwoona0861.github.io/assets/notebooks/study/autonomous-driving/assignment-02-two-stage-vs-one-stage.ipynb . Cells 20–23 and 45 (0-based). Total anchors 126360 = 17 + 125811 + 532. allow_low_quality_matches=True gives 9 of the 17 positives IoU below 0.7. Batch size 256 and positive_fraction=0.5 impose an upper bound, not a guaranteed 128/128 split. Labels/targets depend on anchors and GT, whereas objectness and regression outputs depend on learned parameters.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https://hyeonwoona0861.github.io/assets/notebooks/study/autonomous-driving/assignment-02-two-stage-vs-one-stage.ipynb . Cell 27 (0-based), saved PNG output 2. Counts require GT IoU &gt;0.5 and objectness &gt;0.5. props_all versus proposals compares the whole filter_proposals pipeline, including top-k selection, clipping, small-box filtering and level-wise NMS; the change cannot be attributed solely to NMS. RPN NMS threshold 0.7 differs from final detector NMS threshold 0.5. Candidate filtering precedes second-stage classification and box refinement.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https://hyeonwoona0861.github.io/assets/notebooks/study/autonomous-driving/assignment-02-two-stage-vs-one-stage.ipynb . Cells 58–61 and 73 (0-based). Total anchors 94851 = 77 positive + 94606 negative + 168 ignore; valid=pos|neg. Left plot shows -(1-p_t)^gamma log(p_t) without alpha. Right plot uses sigmoid_focal_loss(alpha=0.25,gamma=2) for the selected foreground class. Saved negative loss shares: uniform p=0.5 CE99.9% FL100.0% (rounded); prior p=0.01 CE72.8% FL0.1%; COCO CE96.7% FL89.6%. The p=0.01 prior initializes foreground probability, not the observed class frequency. Focal loss suppresses easy, correct predictions through (1-p_t)^gamma, not all negatives indiscriminately.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https://hyeonwoona0861.github.io/assets/notebooks/study/autonomous-driving/assignment-02-two-stage-vs-one-stage.ipynb . Part 1 summary cell 45 and Part 2 summary cell 73 (0-based). The summaries are read with executable code: ignored RetinaNet anchors are excluded. Faster R-CNN regresses relative to anchors in RPN, then relative to proposals in the RoI head. Dense one-stage processing is not proof of universal accuracy or speed superiority.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저장 출력: https://hyeonwoona0861.github.io/assets/notebooks/study/autonomous-driving/assignment-03-lidar-3d-object-detection.ipynb , cell 25, 0-based. 실험은 synthetic train 600 scenes와 validation 60 scenes이며 KITTI sample은 표현 관찰과 정성 transfer 확인에만 쓴다.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https://hyeonwoona0861.github.io/assets/notebooks/study/autonomous-driving/assignment-03-lidar-3d-object-detection.ipynb . Cells 8–9 and 15–16 (0-based). PointRCNN/VoxelNet/PIXOR are representation comparisons from the notebook, not three full implementations or benchmark comparisons in this lab. Permuting rows preserves the measured set; implementation sampling and truncation may affect a particular model output.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https://hyeonwoona0861.github.io/assets/notebooks/study/autonomous-driving/assignment-03-lidar-3d-object-detection.ipynb . Cells 15–16 (0-based). Two panels are a rectangular crop of the saved original figure, with no redrawing or relabeling. Sensor-frame z is used: ground near -1.73m comes from sensor height. z_edges=np.arange(-2.5,1.01,0.5) yields seven bins. Code builds occ.shape=(7,512,512); the printed description of 8 channels (7 occupancy + reflectance) is not implemented by that array. The selected car panel is one of the car-occupied bands [-1.5,-1),[-1,-0.5),[-0.5,0). Do not infer occupied pixels from red GT outlines.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https://hyeonwoona0861.github.io/assets/notebooks/study/autonomous-driving/assignment-03-lidar-3d-object-detection.ipynb . Cells 8 and 20–22 (0-based). The three pairs are saved observations from one real KITTI frame, not a monotone law fitted across scenes. Distance is hypot(x,y), not full 3D range. Other saved cars include 4.8m/1429 points, 7.5m/881 points and 14.8m/666 points. Synthetic sampling uses fixed angular resolution and removes synthetic labels with fewer than five points, so the plotted synthetic distribution is also filtered. Colors mark synthetic Car/Pedestrian; red stars denote real cars.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https://hyeonwoona0861.github.io/assets/notebooks/study/autonomous-driving/assignment-03-lidar-3d-object-detection.ipynb . Cells 24,30–33 (0-based). Range x[0,51.2),y[-25.6,25.6),z[-3,1) meters; voxel size (0.2,0.2,0.4)m gives grid (Nx,Ny,Nz)=(256,256,10). Input41819, in-range40950, occupied7236. Seven point features are x,y,z,r,x-mean_x,y-mean_y,z-mean_z; padding is masked. VFE produces (V,64), dense scatter (1,64,10,256,256), final 3D feature (1,32,3,256,256), flattened BEV (1,96,256,256). Head cls shape (1,65536) and reg shape (1,65536,7) describe one batch item; table suppresses batch dimension in final head for readability. Box components are x,y,z,l,w,h,yaw. Shared max pooling does not remove effects of random point caps or truncated voxels.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https://hyeonwoona0861.github.io/assets/notebooks/study/autonomous-driving/assignment-03-lidar-3d-object-detection.ipynb . Cell 38 (0-based), saved output cropped to the complete epoch-15 row of the five-row figure (epochs 0,1,3,8,15). Left: Car score map; middle: top100 decoded boxes before NMS in yellow; right: final score&gt;0.5 predictions in green and GT in white. Stored epoch0 map is nearly uniform around0.5 (max0.51); epoch15 max1.00 and spatial concentration do not establish perfect precision or recall. Synthetic scene visualizations are distinct from real KITTI transfer. Default loss in cell33 is positive BCE mean×1.5 + negative BCE mean×1.0 + positive SmoothL1 regression, not focal loss. Training adjusts scores and box offsets, not anchor definitions or GT.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https://hyeonwoona0861.github.io/assets/notebooks/study/autonomous-driving/assignment-03-lidar-3d-object-detection.ipynb . Cells 40–44 (0-based). evaluate() uses strict dist[m] &lt; thr_dist[c], one-to-one center matching per scene/class and confidence-ranked PR/AP across validation scenes. Pedestrian AP drops from0.922 at epoch8 to0.912 at epoch15, so more epochs are not guaranteed to improve every class. Saved cell42 answer reports all11 GT cars covered in its illustrated validation scene, including a car near47m; do not invent an observed far-car miss. False positives remain and one scene's coverage is not dataset recall. Class-specific thresholds differ, so lower Pedestrian AP cannot be attributed only to point sparsity. Synthetic geometry/appearance and real KITTI differ; fine-tuning is a proposed remedy rather than an executed result.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공개 총정리의 마지막 핵심 정리와 Study Guide를 압축했다: https://hyeonwoona0861.github.io/study/autonomous-driving/midterm-review-through-lab-02/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0f933ba0f81b47a5"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7f04ac8fa62d4548"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e3db5e8736b0469e"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6923c8663e6a4faa"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6db74a75b8dd4a38"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c03b40a77394495a"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CBC8A15-C773-4697-883A-075601EF6642}"/>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63B91462-949A-4827-BBC2-6062F64CAF9D}"/>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C023ADB0-EDB6-42EE-87FD-AD2D1EF9859B}"/>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4D26A135-12DC-47BF-9A80-D4264CB3B891}"/>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07B4E404-9A11-45D9-BF37-886ABE4D776E}"/>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EE46CD0E-DADC-45D0-8BDA-C13A784BAC3A}"/>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CAF25342-5335-4865-B2A1-C0DC93F3EB39}"/>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2268B88A-E4FF-4C45-B16A-242215CF8D63}"/>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571C314-152C-49D4-96DE-3D10ECA21E6F}"/>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CBB85F12-91BB-487B-8340-D1DD5378FF17}"/>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8f24fe8923924308" /><Relationship Type="http://schemas.openxmlformats.org/officeDocument/2006/relationships/slideLayout" Target="/ppt/slideLayouts/slideLayout1.xml" Id="Rdcf18d3079094a9f" /><Relationship Type="http://schemas.openxmlformats.org/officeDocument/2006/relationships/slideLayout" Target="/ppt/slideLayouts/slideLayout2.xml" Id="R656054cc53ce4607" /><Relationship Type="http://schemas.openxmlformats.org/officeDocument/2006/relationships/slideLayout" Target="/ppt/slideLayouts/slideLayout3.xml" Id="Ra1b19eba14e54693" /><Relationship Type="http://schemas.openxmlformats.org/officeDocument/2006/relationships/slideLayout" Target="/ppt/slideLayouts/slideLayout4.xml" Id="R7072ff7b93e14a6f" /><Relationship Type="http://schemas.openxmlformats.org/officeDocument/2006/relationships/slideLayout" Target="/ppt/slideLayouts/slideLayout5.xml" Id="R0d27348884fe43a9" /><Relationship Type="http://schemas.openxmlformats.org/officeDocument/2006/relationships/slideLayout" Target="/ppt/slideLayouts/slideLayout6.xml" Id="Rdb7d20bbd9b044d1"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dcf18d3079094a9f"/>
    <p:sldLayoutId xmlns:r="http://schemas.openxmlformats.org/officeDocument/2006/relationships" id="2147483650" r:id="R656054cc53ce4607"/>
    <p:sldLayoutId xmlns:r="http://schemas.openxmlformats.org/officeDocument/2006/relationships" id="2147483651" r:id="Ra1b19eba14e54693"/>
    <p:sldLayoutId xmlns:r="http://schemas.openxmlformats.org/officeDocument/2006/relationships" id="2147483652" r:id="R7072ff7b93e14a6f"/>
    <p:sldLayoutId xmlns:r="http://schemas.openxmlformats.org/officeDocument/2006/relationships" id="2147483653" r:id="R0d27348884fe43a9"/>
    <p:sldLayoutId xmlns:r="http://schemas.openxmlformats.org/officeDocument/2006/relationships" id="2147483654" r:id="Rdb7d20bbd9b044d1"/>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b434178c0fd5427a" /><Relationship Type="http://schemas.openxmlformats.org/officeDocument/2006/relationships/notesSlide" Target="/ppt/notesSlides/notesSlide1.xml" Id="R74673f53e03f487e"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dd60e6446a2b4b55" /><Relationship Type="http://schemas.openxmlformats.org/officeDocument/2006/relationships/notesSlide" Target="/ppt/notesSlides/notesSlide2.xml" Id="Ra52f437c079b4a98"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513d0cd5bd3147e6" /><Relationship Type="http://schemas.openxmlformats.org/officeDocument/2006/relationships/notesSlide" Target="/ppt/notesSlides/notesSlide3.xml" Id="R0cea7d5f310c447c"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2af031e831c94af7" /><Relationship Type="http://schemas.openxmlformats.org/officeDocument/2006/relationships/image" Target="/ppt/media/image.png" Id="R50fecc3d96984981" /><Relationship Type="http://schemas.openxmlformats.org/officeDocument/2006/relationships/notesSlide" Target="/ppt/notesSlides/notesSlide4.xml" Id="R7a33e3ae1b9d48b1"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cf99716af5794a2c" /><Relationship Type="http://schemas.openxmlformats.org/officeDocument/2006/relationships/notesSlide" Target="/ppt/notesSlides/notesSlide5.xml" Id="Rb18cd29dcc7b4e9d"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524127d69ff14848" /><Relationship Type="http://schemas.openxmlformats.org/officeDocument/2006/relationships/notesSlide" Target="/ppt/notesSlides/notesSlide6.xml" Id="Rcc7227db4edc4cea"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fade2fbdeb2243f4" /><Relationship Type="http://schemas.openxmlformats.org/officeDocument/2006/relationships/notesSlide" Target="/ppt/notesSlides/notesSlide7.xml" Id="Reb61f303233e4755"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908e828e6f5946d4" /><Relationship Type="http://schemas.openxmlformats.org/officeDocument/2006/relationships/image" Target="/ppt/media/image2.png" Id="R1cfea58b0d5f4917" /><Relationship Type="http://schemas.openxmlformats.org/officeDocument/2006/relationships/notesSlide" Target="/ppt/notesSlides/notesSlide8.xml" Id="Rb4a8beb015a4440e"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c2526384a13745f6" /><Relationship Type="http://schemas.openxmlformats.org/officeDocument/2006/relationships/image" Target="/ppt/media/image3.png" Id="R9d2cc960cc674b39" /><Relationship Type="http://schemas.openxmlformats.org/officeDocument/2006/relationships/notesSlide" Target="/ppt/notesSlides/notesSlide9.xml" Id="R64ef0d141a63419c"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803ae560c6024305" /><Relationship Type="http://schemas.openxmlformats.org/officeDocument/2006/relationships/image" Target="/ppt/media/image4.png" Id="Rdbcc13b605284372" /><Relationship Type="http://schemas.openxmlformats.org/officeDocument/2006/relationships/notesSlide" Target="/ppt/notesSlides/notesSlide10.xml" Id="R41d87ec9ece54a55"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4f95e1f8ac7f4433" /><Relationship Type="http://schemas.openxmlformats.org/officeDocument/2006/relationships/image" Target="/ppt/media/image5.png" Id="Rcea9e3ce96364f2d" /><Relationship Type="http://schemas.openxmlformats.org/officeDocument/2006/relationships/notesSlide" Target="/ppt/notesSlides/notesSlide11.xml" Id="Rf6c4a42150884dc1"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fa74712a41044358" /><Relationship Type="http://schemas.openxmlformats.org/officeDocument/2006/relationships/image" Target="/ppt/media/image6.png" Id="R0ce30cec9a674599" /><Relationship Type="http://schemas.openxmlformats.org/officeDocument/2006/relationships/notesSlide" Target="/ppt/notesSlides/notesSlide12.xml" Id="Rbda71a24b55e4a98"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c052225ecefb4d10" /><Relationship Type="http://schemas.openxmlformats.org/officeDocument/2006/relationships/image" Target="/ppt/media/image7.png" Id="Rcfbe9410994a4bad" /><Relationship Type="http://schemas.openxmlformats.org/officeDocument/2006/relationships/notesSlide" Target="/ppt/notesSlides/notesSlide13.xml" Id="R5ef532f0e0464415"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f17f9b8d40d74726" /><Relationship Type="http://schemas.openxmlformats.org/officeDocument/2006/relationships/image" Target="/ppt/media/image8.png" Id="R8274fd99c6a149ce" /><Relationship Type="http://schemas.openxmlformats.org/officeDocument/2006/relationships/notesSlide" Target="/ppt/notesSlides/notesSlide14.xml" Id="Rfae336a68d0d4314"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840524a080804d35" /><Relationship Type="http://schemas.openxmlformats.org/officeDocument/2006/relationships/image" Target="/ppt/media/image9.png" Id="Rf8bbb0dc85e441fc" /><Relationship Type="http://schemas.openxmlformats.org/officeDocument/2006/relationships/notesSlide" Target="/ppt/notesSlides/notesSlide15.xml" Id="R1ed0f8adc6914953"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33721aa7a12d4b44" /><Relationship Type="http://schemas.openxmlformats.org/officeDocument/2006/relationships/image" Target="/ppt/media/image10.png" Id="R504dae75506b4560" /><Relationship Type="http://schemas.openxmlformats.org/officeDocument/2006/relationships/notesSlide" Target="/ppt/notesSlides/notesSlide16.xml" Id="Rbf1ff978c79b4b51"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c404044e23294dab" /><Relationship Type="http://schemas.openxmlformats.org/officeDocument/2006/relationships/image" Target="/ppt/media/image11.png" Id="R11cf6afdb3114b62" /><Relationship Type="http://schemas.openxmlformats.org/officeDocument/2006/relationships/notesSlide" Target="/ppt/notesSlides/notesSlide17.xml" Id="Rc651c2152eac4f25"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95e4d318b753442c" /><Relationship Type="http://schemas.openxmlformats.org/officeDocument/2006/relationships/image" Target="/ppt/media/image12.png" Id="R89677f85d4a94f40" /><Relationship Type="http://schemas.openxmlformats.org/officeDocument/2006/relationships/notesSlide" Target="/ppt/notesSlides/notesSlide18.xml" Id="Rc732c8fec2574bb7"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19c27a31f57e4025" /><Relationship Type="http://schemas.openxmlformats.org/officeDocument/2006/relationships/image" Target="/ppt/media/image13.png" Id="Rfd15f5f6ab5e4498" /><Relationship Type="http://schemas.openxmlformats.org/officeDocument/2006/relationships/notesSlide" Target="/ppt/notesSlides/notesSlide19.xml" Id="R89fe693c9872403d"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7803fd7143e64388" /><Relationship Type="http://schemas.openxmlformats.org/officeDocument/2006/relationships/notesSlide" Target="/ppt/notesSlides/notesSlide20.xml" Id="R2d5c8383514d40b9"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8549a7448f1c42a8" /><Relationship Type="http://schemas.openxmlformats.org/officeDocument/2006/relationships/image" Target="/ppt/media/image14.png" Id="R6a8536912a3c425b" /><Relationship Type="http://schemas.openxmlformats.org/officeDocument/2006/relationships/notesSlide" Target="/ppt/notesSlides/notesSlide21.xml" Id="R9bbe361536984773"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15ecc73ddb5f428a" /><Relationship Type="http://schemas.openxmlformats.org/officeDocument/2006/relationships/image" Target="/ppt/media/image15.png" Id="Rc4c10ecd63064f2c" /><Relationship Type="http://schemas.openxmlformats.org/officeDocument/2006/relationships/notesSlide" Target="/ppt/notesSlides/notesSlide22.xml" Id="R3572b7c69aae4e24"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f1eb2415b35440da" /><Relationship Type="http://schemas.openxmlformats.org/officeDocument/2006/relationships/image" Target="/ppt/media/image16.png" Id="R3026230e148b45a5" /><Relationship Type="http://schemas.openxmlformats.org/officeDocument/2006/relationships/notesSlide" Target="/ppt/notesSlides/notesSlide23.xml" Id="R26add7aa24594514"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dd88b60a815d40c6" /><Relationship Type="http://schemas.openxmlformats.org/officeDocument/2006/relationships/image" Target="/ppt/media/image17.png" Id="R890fa2c26e81424f" /><Relationship Type="http://schemas.openxmlformats.org/officeDocument/2006/relationships/notesSlide" Target="/ppt/notesSlides/notesSlide24.xml" Id="Rae990e9154f84a2d"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e7fadfe22600451b" /><Relationship Type="http://schemas.openxmlformats.org/officeDocument/2006/relationships/notesSlide" Target="/ppt/notesSlides/notesSlide25.xml" Id="Rb976f8da179d48d8"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1a89e6b37dff444d" /><Relationship Type="http://schemas.openxmlformats.org/officeDocument/2006/relationships/notesSlide" Target="/ppt/notesSlides/notesSlide26.xml" Id="R24c1066872854047"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eae44ae3f0264ba1" /><Relationship Type="http://schemas.openxmlformats.org/officeDocument/2006/relationships/image" Target="/ppt/media/image18.png" Id="Rf89cde04dd814b9c" /><Relationship Type="http://schemas.openxmlformats.org/officeDocument/2006/relationships/notesSlide" Target="/ppt/notesSlides/notesSlide27.xml" Id="R39557383b22044be"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7c3badd007424b20" /><Relationship Type="http://schemas.openxmlformats.org/officeDocument/2006/relationships/image" Target="/ppt/media/image19.png" Id="R7d93165cbbb9471d" /><Relationship Type="http://schemas.openxmlformats.org/officeDocument/2006/relationships/notesSlide" Target="/ppt/notesSlides/notesSlide28.xml" Id="R89c8ca471ca94e19"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32abb2979585426f" /><Relationship Type="http://schemas.openxmlformats.org/officeDocument/2006/relationships/notesSlide" Target="/ppt/notesSlides/notesSlide29.xml" Id="Rc47c89f9e40a4eaf"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333aa93711b344ea" /><Relationship Type="http://schemas.openxmlformats.org/officeDocument/2006/relationships/image" Target="/ppt/media/image20.png" Id="Rcd19d2a993554325" /><Relationship Type="http://schemas.openxmlformats.org/officeDocument/2006/relationships/notesSlide" Target="/ppt/notesSlides/notesSlide30.xml" Id="R78a3b4c57e664663"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de820dcaa8d44cfb" /><Relationship Type="http://schemas.openxmlformats.org/officeDocument/2006/relationships/notesSlide" Target="/ppt/notesSlides/notesSlide31.xml" Id="R04470cb0b6974630"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4f8ed12141374569" /><Relationship Type="http://schemas.openxmlformats.org/officeDocument/2006/relationships/image" Target="/ppt/media/image21.png" Id="R23134085002347ba" /><Relationship Type="http://schemas.openxmlformats.org/officeDocument/2006/relationships/notesSlide" Target="/ppt/notesSlides/notesSlide32.xml" Id="Ra61997ea78434f8d"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e916ab1c4ed541e4" /><Relationship Type="http://schemas.openxmlformats.org/officeDocument/2006/relationships/image" Target="/ppt/media/image22.png" Id="Rc01c7545119a4291" /><Relationship Type="http://schemas.openxmlformats.org/officeDocument/2006/relationships/notesSlide" Target="/ppt/notesSlides/notesSlide33.xml" Id="R0dd1575d6c064ee8"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46d6ae40579a4f86" /><Relationship Type="http://schemas.openxmlformats.org/officeDocument/2006/relationships/notesSlide" Target="/ppt/notesSlides/notesSlide34.xml" Id="Ra980d67f39474ade"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96129d96ba884bd9" /><Relationship Type="http://schemas.openxmlformats.org/officeDocument/2006/relationships/image" Target="/ppt/media/image23.png" Id="R32d608a74ecf4a28" /><Relationship Type="http://schemas.openxmlformats.org/officeDocument/2006/relationships/notesSlide" Target="/ppt/notesSlides/notesSlide35.xml" Id="Ra163c4287ca444df"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edb15b6f5abb4ae8" /><Relationship Type="http://schemas.openxmlformats.org/officeDocument/2006/relationships/notesSlide" Target="/ppt/notesSlides/notesSlide36.xml" Id="R4ef904a0876f4cb4"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a222eb10895144be" /><Relationship Type="http://schemas.openxmlformats.org/officeDocument/2006/relationships/notesSlide" Target="/ppt/notesSlides/notesSlide37.xml" Id="R50852a9ce6974e30"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557D69AB-C0EF-46BC-ADEE-C40577CAC985}"/>
              </a:ext>
            </a:extLst>
          </p:cNvPr>
          <p:cNvSpPr>
            <a:spLocks xmlns:a="http://schemas.openxmlformats.org/drawingml/2006/main" noGrp="1"/>
          </p:cNvSpPr>
          <p:nvPr/>
        </p:nvSpPr>
        <p:spPr>
          <a:xfrm xmlns:a="http://schemas.openxmlformats.org/drawingml/2006/main">
            <a:off x="609600" y="952500"/>
            <a:ext cx="108204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4200" b="1">
                <a:solidFill>
                  <a:srgbClr val="15243B"/>
                </a:solidFill>
                <a:latin typeface="AppleGothic"/>
                <a:ea typeface="AppleGothic"/>
                <a:cs typeface="AppleGothic"/>
              </a:defRPr>
            </a:defPPr>
            <a:lvl1pPr>
              <a:defRPr sz="4200" b="1">
                <a:solidFill>
                  <a:srgbClr val="15243B"/>
                </a:solidFill>
                <a:latin typeface="AppleGothic"/>
                <a:ea typeface="AppleGothic"/>
                <a:cs typeface="AppleGothic"/>
              </a:defRPr>
            </a:lvl1pPr>
            <a:lvl2pPr>
              <a:defRPr sz="4200" b="1">
                <a:solidFill>
                  <a:srgbClr val="15243B"/>
                </a:solidFill>
                <a:latin typeface="AppleGothic"/>
                <a:ea typeface="AppleGothic"/>
                <a:cs typeface="AppleGothic"/>
              </a:defRPr>
            </a:lvl2pPr>
            <a:lvl3pPr>
              <a:defRPr sz="4200" b="1">
                <a:solidFill>
                  <a:srgbClr val="15243B"/>
                </a:solidFill>
                <a:latin typeface="AppleGothic"/>
                <a:ea typeface="AppleGothic"/>
                <a:cs typeface="AppleGothic"/>
              </a:defRPr>
            </a:lvl3pPr>
            <a:lvl4pPr>
              <a:defRPr sz="4200" b="1">
                <a:solidFill>
                  <a:srgbClr val="15243B"/>
                </a:solidFill>
                <a:latin typeface="AppleGothic"/>
                <a:ea typeface="AppleGothic"/>
                <a:cs typeface="AppleGothic"/>
              </a:defRPr>
            </a:lvl4pPr>
            <a:lvl5pPr>
              <a:defRPr sz="4200" b="1">
                <a:solidFill>
                  <a:srgbClr val="15243B"/>
                </a:solidFill>
                <a:latin typeface="AppleGothic"/>
                <a:ea typeface="AppleGothic"/>
                <a:cs typeface="AppleGothic"/>
              </a:defRPr>
            </a:lvl5pPr>
            <a:lvl6pPr>
              <a:defRPr sz="4200" b="1">
                <a:solidFill>
                  <a:srgbClr val="15243B"/>
                </a:solidFill>
                <a:latin typeface="AppleGothic"/>
                <a:ea typeface="AppleGothic"/>
                <a:cs typeface="AppleGothic"/>
              </a:defRPr>
            </a:lvl6pPr>
            <a:lvl7pPr>
              <a:defRPr sz="4200" b="1">
                <a:solidFill>
                  <a:srgbClr val="15243B"/>
                </a:solidFill>
                <a:latin typeface="AppleGothic"/>
                <a:ea typeface="AppleGothic"/>
                <a:cs typeface="AppleGothic"/>
              </a:defRPr>
            </a:lvl7pPr>
            <a:lvl8pPr>
              <a:defRPr sz="4200" b="1">
                <a:solidFill>
                  <a:srgbClr val="15243B"/>
                </a:solidFill>
                <a:latin typeface="AppleGothic"/>
                <a:ea typeface="AppleGothic"/>
                <a:cs typeface="AppleGothic"/>
              </a:defRPr>
            </a:lvl8pPr>
            <a:lvl9pPr>
              <a:defRPr sz="4200" b="1">
                <a:solidFill>
                  <a:srgbClr val="15243B"/>
                </a:solidFill>
                <a:latin typeface="AppleGothic"/>
                <a:ea typeface="AppleGothic"/>
                <a:cs typeface="AppleGothic"/>
              </a:defRPr>
            </a:lvl9pPr>
          </a:lstStyle>
          <a:p xmlns:a="http://schemas.openxmlformats.org/drawingml/2006/main">
            <a:pPr>
              <a:defRPr sz="4200" b="1">
                <a:solidFill>
                  <a:srgbClr val="15243B"/>
                </a:solidFill>
                <a:latin typeface="AppleGothic"/>
                <a:ea typeface="AppleGothic"/>
                <a:cs typeface="AppleGothic"/>
              </a:defRPr>
            </a:pPr>
            <a:r>
              <a:rPr sz="4200" b="1">
                <a:solidFill>
                  <a:srgbClr val="15243B"/>
                </a:solidFill>
                <a:latin typeface="AppleGothic"/>
                <a:ea typeface="AppleGothic"/>
                <a:cs typeface="AppleGothic"/>
              </a:rPr>
              <a:t>Autonomous Driving Computing</a:t>
            </a:r>
          </a:p>
        </p:txBody>
      </p:sp>
      <p:sp>
        <p:nvSpPr>
          <p:cNvPr id="2" name="">
            <a:extLst xmlns:a="http://schemas.openxmlformats.org/drawingml/2006/main">
              <a:ext uri="{FF2B5EF4-FFF2-40B4-BE49-F238E27FC236}">
                <a16:creationId xmlns:a16="http://schemas.microsoft.com/office/drawing/2014/main" id="{57422707-1F4B-4F85-AA4A-C33B27E7B0D3}"/>
              </a:ext>
            </a:extLst>
          </p:cNvPr>
          <p:cNvSpPr>
            <a:spLocks xmlns:a="http://schemas.openxmlformats.org/drawingml/2006/main" noGrp="1"/>
          </p:cNvSpPr>
          <p:nvPr/>
        </p:nvSpPr>
        <p:spPr>
          <a:xfrm xmlns:a="http://schemas.openxmlformats.org/drawingml/2006/main">
            <a:off x="609600" y="2667000"/>
            <a:ext cx="106680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4800" b="1">
                <a:solidFill>
                  <a:srgbClr val="2164CB"/>
                </a:solidFill>
                <a:latin typeface="AppleGothic"/>
                <a:ea typeface="AppleGothic"/>
                <a:cs typeface="AppleGothic"/>
              </a:defRPr>
            </a:defPPr>
            <a:lvl1pPr>
              <a:defRPr sz="4800" b="1">
                <a:solidFill>
                  <a:srgbClr val="2164CB"/>
                </a:solidFill>
                <a:latin typeface="AppleGothic"/>
                <a:ea typeface="AppleGothic"/>
                <a:cs typeface="AppleGothic"/>
              </a:defRPr>
            </a:lvl1pPr>
            <a:lvl2pPr>
              <a:defRPr sz="4800" b="1">
                <a:solidFill>
                  <a:srgbClr val="2164CB"/>
                </a:solidFill>
                <a:latin typeface="AppleGothic"/>
                <a:ea typeface="AppleGothic"/>
                <a:cs typeface="AppleGothic"/>
              </a:defRPr>
            </a:lvl2pPr>
            <a:lvl3pPr>
              <a:defRPr sz="4800" b="1">
                <a:solidFill>
                  <a:srgbClr val="2164CB"/>
                </a:solidFill>
                <a:latin typeface="AppleGothic"/>
                <a:ea typeface="AppleGothic"/>
                <a:cs typeface="AppleGothic"/>
              </a:defRPr>
            </a:lvl3pPr>
            <a:lvl4pPr>
              <a:defRPr sz="4800" b="1">
                <a:solidFill>
                  <a:srgbClr val="2164CB"/>
                </a:solidFill>
                <a:latin typeface="AppleGothic"/>
                <a:ea typeface="AppleGothic"/>
                <a:cs typeface="AppleGothic"/>
              </a:defRPr>
            </a:lvl4pPr>
            <a:lvl5pPr>
              <a:defRPr sz="4800" b="1">
                <a:solidFill>
                  <a:srgbClr val="2164CB"/>
                </a:solidFill>
                <a:latin typeface="AppleGothic"/>
                <a:ea typeface="AppleGothic"/>
                <a:cs typeface="AppleGothic"/>
              </a:defRPr>
            </a:lvl5pPr>
            <a:lvl6pPr>
              <a:defRPr sz="4800" b="1">
                <a:solidFill>
                  <a:srgbClr val="2164CB"/>
                </a:solidFill>
                <a:latin typeface="AppleGothic"/>
                <a:ea typeface="AppleGothic"/>
                <a:cs typeface="AppleGothic"/>
              </a:defRPr>
            </a:lvl6pPr>
            <a:lvl7pPr>
              <a:defRPr sz="4800" b="1">
                <a:solidFill>
                  <a:srgbClr val="2164CB"/>
                </a:solidFill>
                <a:latin typeface="AppleGothic"/>
                <a:ea typeface="AppleGothic"/>
                <a:cs typeface="AppleGothic"/>
              </a:defRPr>
            </a:lvl7pPr>
            <a:lvl8pPr>
              <a:defRPr sz="4800" b="1">
                <a:solidFill>
                  <a:srgbClr val="2164CB"/>
                </a:solidFill>
                <a:latin typeface="AppleGothic"/>
                <a:ea typeface="AppleGothic"/>
                <a:cs typeface="AppleGothic"/>
              </a:defRPr>
            </a:lvl8pPr>
            <a:lvl9pPr>
              <a:defRPr sz="4800" b="1">
                <a:solidFill>
                  <a:srgbClr val="2164CB"/>
                </a:solidFill>
                <a:latin typeface="AppleGothic"/>
                <a:ea typeface="AppleGothic"/>
                <a:cs typeface="AppleGothic"/>
              </a:defRPr>
            </a:lvl9pPr>
          </a:lstStyle>
          <a:p xmlns:a="http://schemas.openxmlformats.org/drawingml/2006/main">
            <a:pPr>
              <a:defRPr sz="4800" b="1">
                <a:solidFill>
                  <a:srgbClr val="2164CB"/>
                </a:solidFill>
                <a:latin typeface="AppleGothic"/>
                <a:ea typeface="AppleGothic"/>
                <a:cs typeface="AppleGothic"/>
              </a:defRPr>
            </a:pPr>
            <a:r>
              <a:rPr sz="4800" b="1">
                <a:solidFill>
                  <a:srgbClr val="2164CB"/>
                </a:solidFill>
                <a:latin typeface="AppleGothic"/>
                <a:ea typeface="AppleGothic"/>
                <a:cs typeface="AppleGothic"/>
              </a:rPr>
              <a:t>Midterm Review</a:t>
            </a:r>
          </a:p>
        </p:txBody>
      </p:sp>
      <p:sp>
        <p:nvSpPr>
          <p:cNvPr id="3" name="">
            <a:extLst xmlns:a="http://schemas.openxmlformats.org/drawingml/2006/main">
              <a:ext uri="{FF2B5EF4-FFF2-40B4-BE49-F238E27FC236}">
                <a16:creationId xmlns:a16="http://schemas.microsoft.com/office/drawing/2014/main" id="{0E22189B-F72F-4410-A71F-F889649F496A}"/>
              </a:ext>
            </a:extLst>
          </p:cNvPr>
          <p:cNvSpPr>
            <a:spLocks xmlns:a="http://schemas.openxmlformats.org/drawingml/2006/main" noGrp="1"/>
          </p:cNvSpPr>
          <p:nvPr/>
        </p:nvSpPr>
        <p:spPr>
          <a:xfrm xmlns:a="http://schemas.openxmlformats.org/drawingml/2006/main">
            <a:off x="647700" y="3952875"/>
            <a:ext cx="1028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250" b="0">
                <a:solidFill>
                  <a:srgbClr val="15243B"/>
                </a:solidFill>
                <a:latin typeface="AppleGothic"/>
                <a:ea typeface="AppleGothic"/>
                <a:cs typeface="AppleGothic"/>
              </a:defRPr>
            </a:defPPr>
            <a:lvl1pPr>
              <a:defRPr sz="2250" b="0">
                <a:solidFill>
                  <a:srgbClr val="15243B"/>
                </a:solidFill>
                <a:latin typeface="AppleGothic"/>
                <a:ea typeface="AppleGothic"/>
                <a:cs typeface="AppleGothic"/>
              </a:defRPr>
            </a:lvl1pPr>
            <a:lvl2pPr>
              <a:defRPr sz="2250" b="0">
                <a:solidFill>
                  <a:srgbClr val="15243B"/>
                </a:solidFill>
                <a:latin typeface="AppleGothic"/>
                <a:ea typeface="AppleGothic"/>
                <a:cs typeface="AppleGothic"/>
              </a:defRPr>
            </a:lvl2pPr>
            <a:lvl3pPr>
              <a:defRPr sz="2250" b="0">
                <a:solidFill>
                  <a:srgbClr val="15243B"/>
                </a:solidFill>
                <a:latin typeface="AppleGothic"/>
                <a:ea typeface="AppleGothic"/>
                <a:cs typeface="AppleGothic"/>
              </a:defRPr>
            </a:lvl3pPr>
            <a:lvl4pPr>
              <a:defRPr sz="2250" b="0">
                <a:solidFill>
                  <a:srgbClr val="15243B"/>
                </a:solidFill>
                <a:latin typeface="AppleGothic"/>
                <a:ea typeface="AppleGothic"/>
                <a:cs typeface="AppleGothic"/>
              </a:defRPr>
            </a:lvl4pPr>
            <a:lvl5pPr>
              <a:defRPr sz="2250" b="0">
                <a:solidFill>
                  <a:srgbClr val="15243B"/>
                </a:solidFill>
                <a:latin typeface="AppleGothic"/>
                <a:ea typeface="AppleGothic"/>
                <a:cs typeface="AppleGothic"/>
              </a:defRPr>
            </a:lvl5pPr>
            <a:lvl6pPr>
              <a:defRPr sz="2250" b="0">
                <a:solidFill>
                  <a:srgbClr val="15243B"/>
                </a:solidFill>
                <a:latin typeface="AppleGothic"/>
                <a:ea typeface="AppleGothic"/>
                <a:cs typeface="AppleGothic"/>
              </a:defRPr>
            </a:lvl6pPr>
            <a:lvl7pPr>
              <a:defRPr sz="2250" b="0">
                <a:solidFill>
                  <a:srgbClr val="15243B"/>
                </a:solidFill>
                <a:latin typeface="AppleGothic"/>
                <a:ea typeface="AppleGothic"/>
                <a:cs typeface="AppleGothic"/>
              </a:defRPr>
            </a:lvl7pPr>
            <a:lvl8pPr>
              <a:defRPr sz="2250" b="0">
                <a:solidFill>
                  <a:srgbClr val="15243B"/>
                </a:solidFill>
                <a:latin typeface="AppleGothic"/>
                <a:ea typeface="AppleGothic"/>
                <a:cs typeface="AppleGothic"/>
              </a:defRPr>
            </a:lvl8pPr>
            <a:lvl9pPr>
              <a:defRPr sz="2250" b="0">
                <a:solidFill>
                  <a:srgbClr val="15243B"/>
                </a:solidFill>
                <a:latin typeface="AppleGothic"/>
                <a:ea typeface="AppleGothic"/>
                <a:cs typeface="AppleGothic"/>
              </a:defRPr>
            </a:lvl9pPr>
          </a:lstStyle>
          <a:p xmlns:a="http://schemas.openxmlformats.org/drawingml/2006/main">
            <a:pPr>
              <a:defRPr sz="2250" b="0">
                <a:solidFill>
                  <a:srgbClr val="15243B"/>
                </a:solidFill>
                <a:latin typeface="AppleGothic"/>
                <a:ea typeface="AppleGothic"/>
                <a:cs typeface="AppleGothic"/>
              </a:defRPr>
            </a:pPr>
            <a:r>
              <a:rPr sz="2250" b="0">
                <a:solidFill>
                  <a:srgbClr val="15243B"/>
                </a:solidFill>
                <a:latin typeface="AppleGothic"/>
                <a:ea typeface="AppleGothic"/>
                <a:cs typeface="AppleGothic"/>
              </a:rPr>
              <a:t>센서 측정에서 3D 검출까지 이어지는 중간고사 범위</a:t>
            </a:r>
          </a:p>
        </p:txBody>
      </p:sp>
      <p:sp>
        <p:nvSpPr>
          <p:cNvPr id="4" name="">
            <a:extLst xmlns:a="http://schemas.openxmlformats.org/drawingml/2006/main">
              <a:ext uri="{FF2B5EF4-FFF2-40B4-BE49-F238E27FC236}">
                <a16:creationId xmlns:a16="http://schemas.microsoft.com/office/drawing/2014/main" id="{8CD2CCEE-8D84-4E34-AF46-757A37B97B9C}"/>
              </a:ext>
            </a:extLst>
          </p:cNvPr>
          <p:cNvSpPr>
            <a:spLocks xmlns:a="http://schemas.openxmlformats.org/drawingml/2006/main" noGrp="1"/>
          </p:cNvSpPr>
          <p:nvPr/>
        </p:nvSpPr>
        <p:spPr>
          <a:xfrm xmlns:a="http://schemas.openxmlformats.org/drawingml/2006/main">
            <a:off x="647700" y="5095875"/>
            <a:ext cx="102870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526378"/>
                </a:solidFill>
                <a:latin typeface="AppleGothic"/>
                <a:ea typeface="AppleGothic"/>
                <a:cs typeface="AppleGothic"/>
              </a:defRPr>
            </a:defPPr>
            <a:lvl1pPr>
              <a:defRPr sz="1800" b="0">
                <a:solidFill>
                  <a:srgbClr val="526378"/>
                </a:solidFill>
                <a:latin typeface="AppleGothic"/>
                <a:ea typeface="AppleGothic"/>
                <a:cs typeface="AppleGothic"/>
              </a:defRPr>
            </a:lvl1pPr>
            <a:lvl2pPr>
              <a:defRPr sz="1800" b="0">
                <a:solidFill>
                  <a:srgbClr val="526378"/>
                </a:solidFill>
                <a:latin typeface="AppleGothic"/>
                <a:ea typeface="AppleGothic"/>
                <a:cs typeface="AppleGothic"/>
              </a:defRPr>
            </a:lvl2pPr>
            <a:lvl3pPr>
              <a:defRPr sz="1800" b="0">
                <a:solidFill>
                  <a:srgbClr val="526378"/>
                </a:solidFill>
                <a:latin typeface="AppleGothic"/>
                <a:ea typeface="AppleGothic"/>
                <a:cs typeface="AppleGothic"/>
              </a:defRPr>
            </a:lvl3pPr>
            <a:lvl4pPr>
              <a:defRPr sz="1800" b="0">
                <a:solidFill>
                  <a:srgbClr val="526378"/>
                </a:solidFill>
                <a:latin typeface="AppleGothic"/>
                <a:ea typeface="AppleGothic"/>
                <a:cs typeface="AppleGothic"/>
              </a:defRPr>
            </a:lvl4pPr>
            <a:lvl5pPr>
              <a:defRPr sz="1800" b="0">
                <a:solidFill>
                  <a:srgbClr val="526378"/>
                </a:solidFill>
                <a:latin typeface="AppleGothic"/>
                <a:ea typeface="AppleGothic"/>
                <a:cs typeface="AppleGothic"/>
              </a:defRPr>
            </a:lvl5pPr>
            <a:lvl6pPr>
              <a:defRPr sz="1800" b="0">
                <a:solidFill>
                  <a:srgbClr val="526378"/>
                </a:solidFill>
                <a:latin typeface="AppleGothic"/>
                <a:ea typeface="AppleGothic"/>
                <a:cs typeface="AppleGothic"/>
              </a:defRPr>
            </a:lvl6pPr>
            <a:lvl7pPr>
              <a:defRPr sz="1800" b="0">
                <a:solidFill>
                  <a:srgbClr val="526378"/>
                </a:solidFill>
                <a:latin typeface="AppleGothic"/>
                <a:ea typeface="AppleGothic"/>
                <a:cs typeface="AppleGothic"/>
              </a:defRPr>
            </a:lvl7pPr>
            <a:lvl8pPr>
              <a:defRPr sz="1800" b="0">
                <a:solidFill>
                  <a:srgbClr val="526378"/>
                </a:solidFill>
                <a:latin typeface="AppleGothic"/>
                <a:ea typeface="AppleGothic"/>
                <a:cs typeface="AppleGothic"/>
              </a:defRPr>
            </a:lvl8pPr>
            <a:lvl9pPr>
              <a:defRPr sz="1800" b="0">
                <a:solidFill>
                  <a:srgbClr val="526378"/>
                </a:solidFill>
                <a:latin typeface="AppleGothic"/>
                <a:ea typeface="AppleGothic"/>
                <a:cs typeface="AppleGothic"/>
              </a:defRPr>
            </a:lvl9pPr>
          </a:lstStyle>
          <a:p xmlns:a="http://schemas.openxmlformats.org/drawingml/2006/main">
            <a:pPr>
              <a:defRPr sz="1800" b="0">
                <a:solidFill>
                  <a:srgbClr val="526378"/>
                </a:solidFill>
                <a:latin typeface="AppleGothic"/>
                <a:ea typeface="AppleGothic"/>
                <a:cs typeface="AppleGothic"/>
              </a:defRPr>
            </a:pPr>
            <a:r>
              <a:rPr sz="1800" b="0">
                <a:solidFill>
                  <a:srgbClr val="526378"/>
                </a:solidFill>
                <a:latin typeface="AppleGothic"/>
                <a:ea typeface="AppleGothic"/>
                <a:cs typeface="AppleGothic"/>
              </a:rPr>
              <a:t>Lectures 2–11</a:t>
            </a:r>
          </a:p>
          <a:p xmlns:a="http://schemas.openxmlformats.org/drawingml/2006/main">
            <a:pPr>
              <a:defRPr sz="1800" b="0">
                <a:solidFill>
                  <a:srgbClr val="526378"/>
                </a:solidFill>
                <a:latin typeface="AppleGothic"/>
                <a:ea typeface="AppleGothic"/>
                <a:cs typeface="AppleGothic"/>
              </a:defRPr>
            </a:pPr>
            <a:r>
              <a:rPr sz="1800" b="0">
                <a:solidFill>
                  <a:srgbClr val="526378"/>
                </a:solidFill>
                <a:latin typeface="AppleGothic"/>
                <a:ea typeface="AppleGothic"/>
                <a:cs typeface="AppleGothic"/>
              </a:rPr>
              <a:t>Assignment 1, Lab 1, and Lab 2</a:t>
            </a:r>
          </a:p>
        </p:txBody>
      </p:sp>
      <p:sp>
        <p:nvSpPr>
          <p:cNvPr id="5" name="">
            <a:extLst xmlns:a="http://schemas.openxmlformats.org/drawingml/2006/main">
              <a:ext uri="{FF2B5EF4-FFF2-40B4-BE49-F238E27FC236}">
                <a16:creationId xmlns:a16="http://schemas.microsoft.com/office/drawing/2014/main" id="{AAEBB1B2-6C8F-4682-BAE2-4AC71E6BBB64}"/>
              </a:ext>
            </a:extLst>
          </p:cNvPr>
          <p:cNvSpPr>
            <a:spLocks xmlns:a="http://schemas.openxmlformats.org/drawingml/2006/main" noGrp="1"/>
          </p:cNvSpPr>
          <p:nvPr/>
        </p:nvSpPr>
        <p:spPr>
          <a:xfrm xmlns:a="http://schemas.openxmlformats.org/drawingml/2006/main">
            <a:off x="11144250" y="6400800"/>
            <a:ext cx="5143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62748C"/>
                </a:solidFill>
                <a:latin typeface="AppleGothic"/>
                <a:ea typeface="AppleGothic"/>
                <a:cs typeface="AppleGothic"/>
              </a:defRPr>
            </a:defPPr>
            <a:lvl1pPr>
              <a:defRPr sz="1350" b="0">
                <a:solidFill>
                  <a:srgbClr val="62748C"/>
                </a:solidFill>
                <a:latin typeface="AppleGothic"/>
                <a:ea typeface="AppleGothic"/>
                <a:cs typeface="AppleGothic"/>
              </a:defRPr>
            </a:lvl1pPr>
            <a:lvl2pPr>
              <a:defRPr sz="1350" b="0">
                <a:solidFill>
                  <a:srgbClr val="62748C"/>
                </a:solidFill>
                <a:latin typeface="AppleGothic"/>
                <a:ea typeface="AppleGothic"/>
                <a:cs typeface="AppleGothic"/>
              </a:defRPr>
            </a:lvl2pPr>
            <a:lvl3pPr>
              <a:defRPr sz="1350" b="0">
                <a:solidFill>
                  <a:srgbClr val="62748C"/>
                </a:solidFill>
                <a:latin typeface="AppleGothic"/>
                <a:ea typeface="AppleGothic"/>
                <a:cs typeface="AppleGothic"/>
              </a:defRPr>
            </a:lvl3pPr>
            <a:lvl4pPr>
              <a:defRPr sz="1350" b="0">
                <a:solidFill>
                  <a:srgbClr val="62748C"/>
                </a:solidFill>
                <a:latin typeface="AppleGothic"/>
                <a:ea typeface="AppleGothic"/>
                <a:cs typeface="AppleGothic"/>
              </a:defRPr>
            </a:lvl4pPr>
            <a:lvl5pPr>
              <a:defRPr sz="1350" b="0">
                <a:solidFill>
                  <a:srgbClr val="62748C"/>
                </a:solidFill>
                <a:latin typeface="AppleGothic"/>
                <a:ea typeface="AppleGothic"/>
                <a:cs typeface="AppleGothic"/>
              </a:defRPr>
            </a:lvl5pPr>
            <a:lvl6pPr>
              <a:defRPr sz="1350" b="0">
                <a:solidFill>
                  <a:srgbClr val="62748C"/>
                </a:solidFill>
                <a:latin typeface="AppleGothic"/>
                <a:ea typeface="AppleGothic"/>
                <a:cs typeface="AppleGothic"/>
              </a:defRPr>
            </a:lvl6pPr>
            <a:lvl7pPr>
              <a:defRPr sz="1350" b="0">
                <a:solidFill>
                  <a:srgbClr val="62748C"/>
                </a:solidFill>
                <a:latin typeface="AppleGothic"/>
                <a:ea typeface="AppleGothic"/>
                <a:cs typeface="AppleGothic"/>
              </a:defRPr>
            </a:lvl7pPr>
            <a:lvl8pPr>
              <a:defRPr sz="1350" b="0">
                <a:solidFill>
                  <a:srgbClr val="62748C"/>
                </a:solidFill>
                <a:latin typeface="AppleGothic"/>
                <a:ea typeface="AppleGothic"/>
                <a:cs typeface="AppleGothic"/>
              </a:defRPr>
            </a:lvl8pPr>
            <a:lvl9pPr>
              <a:defRPr sz="1350" b="0">
                <a:solidFill>
                  <a:srgbClr val="62748C"/>
                </a:solidFill>
                <a:latin typeface="AppleGothic"/>
                <a:ea typeface="AppleGothic"/>
                <a:cs typeface="AppleGothic"/>
              </a:defRPr>
            </a:lvl9pPr>
          </a:lstStyle>
          <a:p xmlns:a="http://schemas.openxmlformats.org/drawingml/2006/main">
            <a:pPr>
              <a:defRPr sz="1350" b="0">
                <a:solidFill>
                  <a:srgbClr val="62748C"/>
                </a:solidFill>
                <a:latin typeface="AppleGothic"/>
                <a:ea typeface="AppleGothic"/>
                <a:cs typeface="AppleGothic"/>
              </a:defRPr>
            </a:pPr>
            <a:r>
              <a:rPr sz="1350" b="0">
                <a:solidFill>
                  <a:srgbClr val="62748C"/>
                </a:solidFill>
                <a:latin typeface="AppleGothic"/>
                <a:ea typeface="AppleGothic"/>
                <a:cs typeface="AppleGothic"/>
              </a:rPr>
              <a:t>01</a:t>
            </a:r>
          </a:p>
        </p:txBody>
      </p:sp>
    </p:spTree>
    <p:extLst>
      <p:ext uri="{BB962C8B-B14F-4D97-AF65-F5344CB8AC3E}">
        <p14:creationId xmlns:p14="http://schemas.microsoft.com/office/powerpoint/2010/main" val="1657420057"/>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EFAFE00A-9D26-4D9A-87BD-43B0A30130C7}"/>
              </a:ext>
            </a:extLst>
          </p:cNvPr>
          <p:cNvSpPr>
            <a:spLocks xmlns:a="http://schemas.openxmlformats.org/drawingml/2006/main" noGrp="1"/>
          </p:cNvSpPr>
          <p:nvPr/>
        </p:nvSpPr>
        <p:spPr>
          <a:xfrm xmlns:a="http://schemas.openxmlformats.org/drawingml/2006/main">
            <a:off x="533400" y="342900"/>
            <a:ext cx="111252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150" b="1">
                <a:solidFill>
                  <a:srgbClr val="15243B"/>
                </a:solidFill>
                <a:latin typeface="AppleGothic"/>
                <a:ea typeface="AppleGothic"/>
                <a:cs typeface="AppleGothic"/>
              </a:defRPr>
            </a:defPPr>
            <a:lvl1pPr>
              <a:defRPr sz="3150" b="1">
                <a:solidFill>
                  <a:srgbClr val="15243B"/>
                </a:solidFill>
                <a:latin typeface="AppleGothic"/>
                <a:ea typeface="AppleGothic"/>
                <a:cs typeface="AppleGothic"/>
              </a:defRPr>
            </a:lvl1pPr>
            <a:lvl2pPr>
              <a:defRPr sz="3150" b="1">
                <a:solidFill>
                  <a:srgbClr val="15243B"/>
                </a:solidFill>
                <a:latin typeface="AppleGothic"/>
                <a:ea typeface="AppleGothic"/>
                <a:cs typeface="AppleGothic"/>
              </a:defRPr>
            </a:lvl2pPr>
            <a:lvl3pPr>
              <a:defRPr sz="3150" b="1">
                <a:solidFill>
                  <a:srgbClr val="15243B"/>
                </a:solidFill>
                <a:latin typeface="AppleGothic"/>
                <a:ea typeface="AppleGothic"/>
                <a:cs typeface="AppleGothic"/>
              </a:defRPr>
            </a:lvl3pPr>
            <a:lvl4pPr>
              <a:defRPr sz="3150" b="1">
                <a:solidFill>
                  <a:srgbClr val="15243B"/>
                </a:solidFill>
                <a:latin typeface="AppleGothic"/>
                <a:ea typeface="AppleGothic"/>
                <a:cs typeface="AppleGothic"/>
              </a:defRPr>
            </a:lvl4pPr>
            <a:lvl5pPr>
              <a:defRPr sz="3150" b="1">
                <a:solidFill>
                  <a:srgbClr val="15243B"/>
                </a:solidFill>
                <a:latin typeface="AppleGothic"/>
                <a:ea typeface="AppleGothic"/>
                <a:cs typeface="AppleGothic"/>
              </a:defRPr>
            </a:lvl5pPr>
            <a:lvl6pPr>
              <a:defRPr sz="3150" b="1">
                <a:solidFill>
                  <a:srgbClr val="15243B"/>
                </a:solidFill>
                <a:latin typeface="AppleGothic"/>
                <a:ea typeface="AppleGothic"/>
                <a:cs typeface="AppleGothic"/>
              </a:defRPr>
            </a:lvl6pPr>
            <a:lvl7pPr>
              <a:defRPr sz="3150" b="1">
                <a:solidFill>
                  <a:srgbClr val="15243B"/>
                </a:solidFill>
                <a:latin typeface="AppleGothic"/>
                <a:ea typeface="AppleGothic"/>
                <a:cs typeface="AppleGothic"/>
              </a:defRPr>
            </a:lvl7pPr>
            <a:lvl8pPr>
              <a:defRPr sz="3150" b="1">
                <a:solidFill>
                  <a:srgbClr val="15243B"/>
                </a:solidFill>
                <a:latin typeface="AppleGothic"/>
                <a:ea typeface="AppleGothic"/>
                <a:cs typeface="AppleGothic"/>
              </a:defRPr>
            </a:lvl8pPr>
            <a:lvl9pPr>
              <a:defRPr sz="3150" b="1">
                <a:solidFill>
                  <a:srgbClr val="15243B"/>
                </a:solidFill>
                <a:latin typeface="AppleGothic"/>
                <a:ea typeface="AppleGothic"/>
                <a:cs typeface="AppleGothic"/>
              </a:defRPr>
            </a:lvl9pPr>
          </a:lstStyle>
          <a:p xmlns:a="http://schemas.openxmlformats.org/drawingml/2006/main">
            <a:pPr>
              <a:defRPr sz="3150" b="1">
                <a:solidFill>
                  <a:srgbClr val="15243B"/>
                </a:solidFill>
                <a:latin typeface="AppleGothic"/>
                <a:ea typeface="AppleGothic"/>
                <a:cs typeface="AppleGothic"/>
              </a:defRPr>
            </a:pPr>
            <a:r>
              <a:rPr sz="3150" b="1">
                <a:solidFill>
                  <a:srgbClr val="15243B"/>
                </a:solidFill>
                <a:latin typeface="AppleGothic"/>
                <a:ea typeface="AppleGothic"/>
                <a:cs typeface="AppleGothic"/>
              </a:rPr>
              <a:t>Exam Scope</a:t>
            </a:r>
          </a:p>
        </p:txBody>
      </p:sp>
      <p:sp>
        <p:nvSpPr>
          <p:cNvPr id="2" name="">
            <a:extLst xmlns:a="http://schemas.openxmlformats.org/drawingml/2006/main">
              <a:ext uri="{FF2B5EF4-FFF2-40B4-BE49-F238E27FC236}">
                <a16:creationId xmlns:a16="http://schemas.microsoft.com/office/drawing/2014/main" id="{9DBF8049-8486-441D-AE80-3213C9CE21F3}"/>
              </a:ext>
            </a:extLst>
          </p:cNvPr>
          <p:cNvSpPr>
            <a:spLocks xmlns:a="http://schemas.openxmlformats.org/drawingml/2006/main" noGrp="1"/>
          </p:cNvSpPr>
          <p:nvPr/>
        </p:nvSpPr>
        <p:spPr>
          <a:xfrm xmlns:a="http://schemas.openxmlformats.org/drawingml/2006/main">
            <a:off x="533400" y="1066800"/>
            <a:ext cx="111252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1">
                <a:solidFill>
                  <a:srgbClr val="2164CB"/>
                </a:solidFill>
                <a:latin typeface="AppleGothic"/>
                <a:ea typeface="AppleGothic"/>
                <a:cs typeface="AppleGothic"/>
              </a:defRPr>
            </a:defPPr>
            <a:lvl1pPr>
              <a:defRPr sz="2175" b="1">
                <a:solidFill>
                  <a:srgbClr val="2164CB"/>
                </a:solidFill>
                <a:latin typeface="AppleGothic"/>
                <a:ea typeface="AppleGothic"/>
                <a:cs typeface="AppleGothic"/>
              </a:defRPr>
            </a:lvl1pPr>
            <a:lvl2pPr>
              <a:defRPr sz="2175" b="1">
                <a:solidFill>
                  <a:srgbClr val="2164CB"/>
                </a:solidFill>
                <a:latin typeface="AppleGothic"/>
                <a:ea typeface="AppleGothic"/>
                <a:cs typeface="AppleGothic"/>
              </a:defRPr>
            </a:lvl2pPr>
            <a:lvl3pPr>
              <a:defRPr sz="2175" b="1">
                <a:solidFill>
                  <a:srgbClr val="2164CB"/>
                </a:solidFill>
                <a:latin typeface="AppleGothic"/>
                <a:ea typeface="AppleGothic"/>
                <a:cs typeface="AppleGothic"/>
              </a:defRPr>
            </a:lvl3pPr>
            <a:lvl4pPr>
              <a:defRPr sz="2175" b="1">
                <a:solidFill>
                  <a:srgbClr val="2164CB"/>
                </a:solidFill>
                <a:latin typeface="AppleGothic"/>
                <a:ea typeface="AppleGothic"/>
                <a:cs typeface="AppleGothic"/>
              </a:defRPr>
            </a:lvl4pPr>
            <a:lvl5pPr>
              <a:defRPr sz="2175" b="1">
                <a:solidFill>
                  <a:srgbClr val="2164CB"/>
                </a:solidFill>
                <a:latin typeface="AppleGothic"/>
                <a:ea typeface="AppleGothic"/>
                <a:cs typeface="AppleGothic"/>
              </a:defRPr>
            </a:lvl5pPr>
            <a:lvl6pPr>
              <a:defRPr sz="2175" b="1">
                <a:solidFill>
                  <a:srgbClr val="2164CB"/>
                </a:solidFill>
                <a:latin typeface="AppleGothic"/>
                <a:ea typeface="AppleGothic"/>
                <a:cs typeface="AppleGothic"/>
              </a:defRPr>
            </a:lvl6pPr>
            <a:lvl7pPr>
              <a:defRPr sz="2175" b="1">
                <a:solidFill>
                  <a:srgbClr val="2164CB"/>
                </a:solidFill>
                <a:latin typeface="AppleGothic"/>
                <a:ea typeface="AppleGothic"/>
                <a:cs typeface="AppleGothic"/>
              </a:defRPr>
            </a:lvl7pPr>
            <a:lvl8pPr>
              <a:defRPr sz="2175" b="1">
                <a:solidFill>
                  <a:srgbClr val="2164CB"/>
                </a:solidFill>
                <a:latin typeface="AppleGothic"/>
                <a:ea typeface="AppleGothic"/>
                <a:cs typeface="AppleGothic"/>
              </a:defRPr>
            </a:lvl8pPr>
            <a:lvl9pPr>
              <a:defRPr sz="2175" b="1">
                <a:solidFill>
                  <a:srgbClr val="2164CB"/>
                </a:solidFill>
                <a:latin typeface="AppleGothic"/>
                <a:ea typeface="AppleGothic"/>
                <a:cs typeface="AppleGothic"/>
              </a:defRPr>
            </a:lvl9pPr>
          </a:lstStyle>
          <a:p xmlns:a="http://schemas.openxmlformats.org/drawingml/2006/main">
            <a:pPr>
              <a:defRPr sz="2175" b="1">
                <a:solidFill>
                  <a:srgbClr val="2164CB"/>
                </a:solidFill>
                <a:latin typeface="AppleGothic"/>
                <a:ea typeface="AppleGothic"/>
                <a:cs typeface="AppleGothic"/>
              </a:defRPr>
            </a:pPr>
            <a:r>
              <a:rPr sz="2175" b="1">
                <a:solidFill>
                  <a:srgbClr val="2164CB"/>
                </a:solidFill>
                <a:latin typeface="AppleGothic"/>
                <a:ea typeface="AppleGothic"/>
                <a:cs typeface="AppleGothic"/>
              </a:rPr>
              <a:t>범위는 측정, 2D perception, 3D perception, 두 실습으로 나뉜다</a:t>
            </a:r>
          </a:p>
        </p:txBody>
      </p:sp>
      <p:graphicFrame>
        <p:nvGraphicFramePr>
          <p:cNvPr id="3" name="">
            <a:extLst xmlns:a="http://schemas.openxmlformats.org/drawingml/2006/main">
              <a:ext uri="{FF2B5EF4-FFF2-40B4-BE49-F238E27FC236}">
                <a16:creationId xmlns:a16="http://schemas.microsoft.com/office/drawing/2014/main" id="{5BA3ADC4-2EE8-45CA-A9AC-326EDC642568}"/>
              </a:ext>
            </a:extLst>
          </p:cNvPr>
          <p:cNvGraphicFramePr/>
          <p:nvPr/>
        </p:nvGraphicFramePr>
        <p:xfrm>
          <a:off xmlns:a="http://schemas.openxmlformats.org/drawingml/2006/main" x="533400" y="2057400"/>
          <a:ext xmlns:a="http://schemas.openxmlformats.org/drawingml/2006/main" cx="11125200" cy="2952750"/>
        </p:xfrm>
        <a:graphic xmlns:a="http://schemas.openxmlformats.org/drawingml/2006/main">
          <a:graphicData uri="http://schemas.openxmlformats.org/drawingml/2006/table">
            <a:tbl>
              <a:tblPr/>
              <a:tblGrid>
                <a:gridCol w="3708400"/>
                <a:gridCol w="3708400"/>
                <a:gridCol w="3708400"/>
              </a:tblGrid>
              <a:tr h="590550">
                <a:tc>
                  <a:txBody>
                    <a:bodyPr/>
                    <a:lstStyle/>
                    <a:p>
                      <a:r>
                        <a:rPr sz="1800" b="1">
                          <a:solidFill>
                            <a:srgbClr val="2164CB"/>
                          </a:solidFill>
                          <a:latin typeface="AppleGothic"/>
                          <a:ea typeface="AppleGothic"/>
                          <a:cs typeface="AppleGothic"/>
                        </a:rPr>
                        <a:t>Block</a:t>
                      </a:r>
                    </a:p>
                  </a:txBody>
                  <a:tcPr marL="114300" marR="114300" marT="95250" marB="95250">
                    <a:lnL w="9525">
                      <a:solidFill>
                        <a:srgbClr val="D7DFEA"/>
                      </a:solidFill>
                      <a:prstDash val="solid"/>
                    </a:lnL>
                    <a:lnR w="9525">
                      <a:solidFill>
                        <a:srgbClr val="D7DFEA"/>
                      </a:solidFill>
                      <a:prstDash val="solid"/>
                    </a:lnR>
                    <a:lnT w="9525">
                      <a:solidFill>
                        <a:srgbClr val="D7DFEA"/>
                      </a:solidFill>
                      <a:prstDash val="solid"/>
                    </a:lnT>
                    <a:lnB w="9525">
                      <a:solidFill>
                        <a:srgbClr val="D7DFEA"/>
                      </a:solidFill>
                      <a:prstDash val="solid"/>
                    </a:lnB>
                    <a:solidFill>
                      <a:srgbClr val="EAF1FC"/>
                    </a:solidFill>
                  </a:tcPr>
                </a:tc>
                <a:tc>
                  <a:txBody>
                    <a:bodyPr/>
                    <a:lstStyle/>
                    <a:p>
                      <a:r>
                        <a:rPr sz="1800" b="1">
                          <a:solidFill>
                            <a:srgbClr val="2164CB"/>
                          </a:solidFill>
                          <a:latin typeface="AppleGothic"/>
                          <a:ea typeface="AppleGothic"/>
                          <a:cs typeface="AppleGothic"/>
                        </a:rPr>
                        <a:t>Coverage</a:t>
                      </a:r>
                    </a:p>
                  </a:txBody>
                  <a:tcPr marL="114300" marR="114300" marT="95250" marB="95250">
                    <a:lnR w="9525">
                      <a:solidFill>
                        <a:srgbClr val="D7DFEA"/>
                      </a:solidFill>
                      <a:prstDash val="solid"/>
                    </a:lnR>
                    <a:lnT w="9525">
                      <a:solidFill>
                        <a:srgbClr val="D7DFEA"/>
                      </a:solidFill>
                      <a:prstDash val="solid"/>
                    </a:lnT>
                    <a:lnB w="9525">
                      <a:solidFill>
                        <a:srgbClr val="D7DFEA"/>
                      </a:solidFill>
                      <a:prstDash val="solid"/>
                    </a:lnB>
                    <a:solidFill>
                      <a:srgbClr val="EAF1FC"/>
                    </a:solidFill>
                  </a:tcPr>
                </a:tc>
                <a:tc>
                  <a:txBody>
                    <a:bodyPr/>
                    <a:lstStyle/>
                    <a:p>
                      <a:r>
                        <a:rPr sz="1800" b="1">
                          <a:solidFill>
                            <a:srgbClr val="2164CB"/>
                          </a:solidFill>
                          <a:latin typeface="AppleGothic"/>
                          <a:ea typeface="AppleGothic"/>
                          <a:cs typeface="AppleGothic"/>
                        </a:rPr>
                        <a:t>Review focus</a:t>
                      </a:r>
                    </a:p>
                  </a:txBody>
                  <a:tcPr marL="114300" marR="114300" marT="95250" marB="95250">
                    <a:lnR w="9525">
                      <a:solidFill>
                        <a:srgbClr val="D7DFEA"/>
                      </a:solidFill>
                      <a:prstDash val="solid"/>
                    </a:lnR>
                    <a:lnT w="9525">
                      <a:solidFill>
                        <a:srgbClr val="D7DFEA"/>
                      </a:solidFill>
                      <a:prstDash val="solid"/>
                    </a:lnT>
                    <a:lnB w="9525">
                      <a:solidFill>
                        <a:srgbClr val="D7DFEA"/>
                      </a:solidFill>
                      <a:prstDash val="solid"/>
                    </a:lnB>
                    <a:solidFill>
                      <a:srgbClr val="EAF1FC"/>
                    </a:solidFill>
                  </a:tcPr>
                </a:tc>
              </a:tr>
              <a:tr h="590550">
                <a:tc>
                  <a:txBody>
                    <a:bodyPr/>
                    <a:lstStyle/>
                    <a:p>
                      <a:r>
                        <a:rPr sz="1800">
                          <a:solidFill>
                            <a:srgbClr val="15243B"/>
                          </a:solidFill>
                          <a:latin typeface="AppleGothic"/>
                          <a:ea typeface="AppleGothic"/>
                          <a:cs typeface="AppleGothic"/>
                        </a:rPr>
                        <a:t>Sensors</a:t>
                      </a:r>
                    </a:p>
                  </a:txBody>
                  <a:tcPr marL="114300" marR="114300" marT="95250" marB="95250">
                    <a:lnL w="9525">
                      <a:solidFill>
                        <a:srgbClr val="D7DFEA"/>
                      </a:solidFill>
                      <a:prstDash val="solid"/>
                    </a:lnL>
                    <a:lnR w="9525">
                      <a:solidFill>
                        <a:srgbClr val="D7DFEA"/>
                      </a:solidFill>
                      <a:prstDash val="solid"/>
                    </a:lnR>
                    <a:lnB w="9525">
                      <a:solidFill>
                        <a:srgbClr val="D7DFEA"/>
                      </a:solidFill>
                      <a:prstDash val="solid"/>
                    </a:lnB>
                  </a:tcPr>
                </a:tc>
                <a:tc>
                  <a:txBody>
                    <a:bodyPr/>
                    <a:lstStyle/>
                    <a:p>
                      <a:r>
                        <a:rPr sz="1800">
                          <a:solidFill>
                            <a:srgbClr val="15243B"/>
                          </a:solidFill>
                          <a:latin typeface="AppleGothic"/>
                          <a:ea typeface="AppleGothic"/>
                          <a:cs typeface="AppleGothic"/>
                        </a:rPr>
                        <a:t>Lecture 2</a:t>
                      </a:r>
                    </a:p>
                  </a:txBody>
                  <a:tcPr marL="114300" marR="114300" marT="95250" marB="95250">
                    <a:lnR w="9525">
                      <a:solidFill>
                        <a:srgbClr val="D7DFEA"/>
                      </a:solidFill>
                      <a:prstDash val="solid"/>
                    </a:lnR>
                    <a:lnB w="9525">
                      <a:solidFill>
                        <a:srgbClr val="D7DFEA"/>
                      </a:solidFill>
                      <a:prstDash val="solid"/>
                    </a:lnB>
                  </a:tcPr>
                </a:tc>
                <a:tc>
                  <a:txBody>
                    <a:bodyPr/>
                    <a:lstStyle/>
                    <a:p>
                      <a:r>
                        <a:rPr sz="1800">
                          <a:solidFill>
                            <a:srgbClr val="15243B"/>
                          </a:solidFill>
                          <a:latin typeface="AppleGothic"/>
                          <a:ea typeface="AppleGothic"/>
                          <a:cs typeface="AppleGothic"/>
                        </a:rPr>
                        <a:t>측정값과 실패 조건</a:t>
                      </a:r>
                    </a:p>
                  </a:txBody>
                  <a:tcPr marL="114300" marR="114300" marT="95250" marB="95250">
                    <a:lnR w="9525">
                      <a:solidFill>
                        <a:srgbClr val="D7DFEA"/>
                      </a:solidFill>
                      <a:prstDash val="solid"/>
                    </a:lnR>
                    <a:lnB w="9525">
                      <a:solidFill>
                        <a:srgbClr val="D7DFEA"/>
                      </a:solidFill>
                      <a:prstDash val="solid"/>
                    </a:lnB>
                  </a:tcPr>
                </a:tc>
              </a:tr>
              <a:tr h="590550">
                <a:tc>
                  <a:txBody>
                    <a:bodyPr/>
                    <a:lstStyle/>
                    <a:p>
                      <a:r>
                        <a:rPr sz="1800">
                          <a:solidFill>
                            <a:srgbClr val="15243B"/>
                          </a:solidFill>
                          <a:latin typeface="AppleGothic"/>
                          <a:ea typeface="AppleGothic"/>
                          <a:cs typeface="AppleGothic"/>
                        </a:rPr>
                        <a:t>2D</a:t>
                      </a:r>
                    </a:p>
                  </a:txBody>
                  <a:tcPr marL="114300" marR="114300" marT="95250" marB="95250">
                    <a:lnL w="9525">
                      <a:solidFill>
                        <a:srgbClr val="D7DFEA"/>
                      </a:solidFill>
                      <a:prstDash val="solid"/>
                    </a:lnL>
                    <a:lnR w="9525">
                      <a:solidFill>
                        <a:srgbClr val="D7DFEA"/>
                      </a:solidFill>
                      <a:prstDash val="solid"/>
                    </a:lnR>
                    <a:lnB w="9525">
                      <a:solidFill>
                        <a:srgbClr val="D7DFEA"/>
                      </a:solidFill>
                      <a:prstDash val="solid"/>
                    </a:lnB>
                  </a:tcPr>
                </a:tc>
                <a:tc>
                  <a:txBody>
                    <a:bodyPr/>
                    <a:lstStyle/>
                    <a:p>
                      <a:r>
                        <a:rPr sz="1800">
                          <a:solidFill>
                            <a:srgbClr val="15243B"/>
                          </a:solidFill>
                          <a:latin typeface="AppleGothic"/>
                          <a:ea typeface="AppleGothic"/>
                          <a:cs typeface="AppleGothic"/>
                        </a:rPr>
                        <a:t>Lectures 3–8</a:t>
                      </a:r>
                    </a:p>
                  </a:txBody>
                  <a:tcPr marL="114300" marR="114300" marT="95250" marB="95250">
                    <a:lnR w="9525">
                      <a:solidFill>
                        <a:srgbClr val="D7DFEA"/>
                      </a:solidFill>
                      <a:prstDash val="solid"/>
                    </a:lnR>
                    <a:lnB w="9525">
                      <a:solidFill>
                        <a:srgbClr val="D7DFEA"/>
                      </a:solidFill>
                      <a:prstDash val="solid"/>
                    </a:lnB>
                  </a:tcPr>
                </a:tc>
                <a:tc>
                  <a:txBody>
                    <a:bodyPr/>
                    <a:lstStyle/>
                    <a:p>
                      <a:r>
                        <a:rPr sz="1800">
                          <a:solidFill>
                            <a:srgbClr val="15243B"/>
                          </a:solidFill>
                          <a:latin typeface="AppleGothic"/>
                          <a:ea typeface="AppleGothic"/>
                          <a:cs typeface="AppleGothic"/>
                        </a:rPr>
                        <a:t>표현, 검출, 분할</a:t>
                      </a:r>
                    </a:p>
                  </a:txBody>
                  <a:tcPr marL="114300" marR="114300" marT="95250" marB="95250">
                    <a:lnR w="9525">
                      <a:solidFill>
                        <a:srgbClr val="D7DFEA"/>
                      </a:solidFill>
                      <a:prstDash val="solid"/>
                    </a:lnR>
                    <a:lnB w="9525">
                      <a:solidFill>
                        <a:srgbClr val="D7DFEA"/>
                      </a:solidFill>
                      <a:prstDash val="solid"/>
                    </a:lnB>
                  </a:tcPr>
                </a:tc>
              </a:tr>
              <a:tr h="590550">
                <a:tc>
                  <a:txBody>
                    <a:bodyPr/>
                    <a:lstStyle/>
                    <a:p>
                      <a:r>
                        <a:rPr sz="1800">
                          <a:solidFill>
                            <a:srgbClr val="15243B"/>
                          </a:solidFill>
                          <a:latin typeface="AppleGothic"/>
                          <a:ea typeface="AppleGothic"/>
                          <a:cs typeface="AppleGothic"/>
                        </a:rPr>
                        <a:t>3D</a:t>
                      </a:r>
                    </a:p>
                  </a:txBody>
                  <a:tcPr marL="114300" marR="114300" marT="95250" marB="95250">
                    <a:lnL w="9525">
                      <a:solidFill>
                        <a:srgbClr val="D7DFEA"/>
                      </a:solidFill>
                      <a:prstDash val="solid"/>
                    </a:lnL>
                    <a:lnR w="9525">
                      <a:solidFill>
                        <a:srgbClr val="D7DFEA"/>
                      </a:solidFill>
                      <a:prstDash val="solid"/>
                    </a:lnR>
                    <a:lnB w="9525">
                      <a:solidFill>
                        <a:srgbClr val="D7DFEA"/>
                      </a:solidFill>
                      <a:prstDash val="solid"/>
                    </a:lnB>
                  </a:tcPr>
                </a:tc>
                <a:tc>
                  <a:txBody>
                    <a:bodyPr/>
                    <a:lstStyle/>
                    <a:p>
                      <a:r>
                        <a:rPr sz="1800">
                          <a:solidFill>
                            <a:srgbClr val="15243B"/>
                          </a:solidFill>
                          <a:latin typeface="AppleGothic"/>
                          <a:ea typeface="AppleGothic"/>
                          <a:cs typeface="AppleGothic"/>
                        </a:rPr>
                        <a:t>Lectures 9–11</a:t>
                      </a:r>
                    </a:p>
                  </a:txBody>
                  <a:tcPr marL="114300" marR="114300" marT="95250" marB="95250">
                    <a:lnR w="9525">
                      <a:solidFill>
                        <a:srgbClr val="D7DFEA"/>
                      </a:solidFill>
                      <a:prstDash val="solid"/>
                    </a:lnR>
                    <a:lnB w="9525">
                      <a:solidFill>
                        <a:srgbClr val="D7DFEA"/>
                      </a:solidFill>
                      <a:prstDash val="solid"/>
                    </a:lnB>
                  </a:tcPr>
                </a:tc>
                <a:tc>
                  <a:txBody>
                    <a:bodyPr/>
                    <a:lstStyle/>
                    <a:p>
                      <a:r>
                        <a:rPr sz="1800">
                          <a:solidFill>
                            <a:srgbClr val="15243B"/>
                          </a:solidFill>
                          <a:latin typeface="AppleGothic"/>
                          <a:ea typeface="AppleGothic"/>
                          <a:cs typeface="AppleGothic"/>
                        </a:rPr>
                        <a:t>깊이, point, fusion</a:t>
                      </a:r>
                    </a:p>
                  </a:txBody>
                  <a:tcPr marL="114300" marR="114300" marT="95250" marB="95250">
                    <a:lnR w="9525">
                      <a:solidFill>
                        <a:srgbClr val="D7DFEA"/>
                      </a:solidFill>
                      <a:prstDash val="solid"/>
                    </a:lnR>
                    <a:lnB w="9525">
                      <a:solidFill>
                        <a:srgbClr val="D7DFEA"/>
                      </a:solidFill>
                      <a:prstDash val="solid"/>
                    </a:lnB>
                  </a:tcPr>
                </a:tc>
              </a:tr>
              <a:tr h="590550">
                <a:tc>
                  <a:txBody>
                    <a:bodyPr/>
                    <a:lstStyle/>
                    <a:p>
                      <a:r>
                        <a:rPr sz="1800">
                          <a:solidFill>
                            <a:srgbClr val="15243B"/>
                          </a:solidFill>
                          <a:latin typeface="AppleGothic"/>
                          <a:ea typeface="AppleGothic"/>
                          <a:cs typeface="AppleGothic"/>
                        </a:rPr>
                        <a:t>Practice</a:t>
                      </a:r>
                    </a:p>
                  </a:txBody>
                  <a:tcPr marL="114300" marR="114300" marT="95250" marB="95250">
                    <a:lnL w="9525">
                      <a:solidFill>
                        <a:srgbClr val="D7DFEA"/>
                      </a:solidFill>
                      <a:prstDash val="solid"/>
                    </a:lnL>
                    <a:lnR w="9525">
                      <a:solidFill>
                        <a:srgbClr val="D7DFEA"/>
                      </a:solidFill>
                      <a:prstDash val="solid"/>
                    </a:lnR>
                    <a:lnB w="9525">
                      <a:solidFill>
                        <a:srgbClr val="D7DFEA"/>
                      </a:solidFill>
                      <a:prstDash val="solid"/>
                    </a:lnB>
                  </a:tcPr>
                </a:tc>
                <a:tc>
                  <a:txBody>
                    <a:bodyPr/>
                    <a:lstStyle/>
                    <a:p>
                      <a:r>
                        <a:rPr sz="1800">
                          <a:solidFill>
                            <a:srgbClr val="15243B"/>
                          </a:solidFill>
                          <a:latin typeface="AppleGothic"/>
                          <a:ea typeface="AppleGothic"/>
                          <a:cs typeface="AppleGothic"/>
                        </a:rPr>
                        <a:t>Assignment 1, Labs 1–2</a:t>
                      </a:r>
                    </a:p>
                  </a:txBody>
                  <a:tcPr marL="114300" marR="114300" marT="95250" marB="95250">
                    <a:lnR w="9525">
                      <a:solidFill>
                        <a:srgbClr val="D7DFEA"/>
                      </a:solidFill>
                      <a:prstDash val="solid"/>
                    </a:lnR>
                    <a:lnB w="9525">
                      <a:solidFill>
                        <a:srgbClr val="D7DFEA"/>
                      </a:solidFill>
                      <a:prstDash val="solid"/>
                    </a:lnB>
                  </a:tcPr>
                </a:tc>
                <a:tc>
                  <a:txBody>
                    <a:bodyPr/>
                    <a:lstStyle/>
                    <a:p>
                      <a:r>
                        <a:rPr sz="1800">
                          <a:solidFill>
                            <a:srgbClr val="15243B"/>
                          </a:solidFill>
                          <a:latin typeface="AppleGothic"/>
                          <a:ea typeface="AppleGothic"/>
                          <a:cs typeface="AppleGothic"/>
                        </a:rPr>
                        <a:t>계산과 tensor 흐름</a:t>
                      </a:r>
                    </a:p>
                  </a:txBody>
                  <a:tcPr marL="114300" marR="114300" marT="95250" marB="95250">
                    <a:lnR w="9525">
                      <a:solidFill>
                        <a:srgbClr val="D7DFEA"/>
                      </a:solidFill>
                      <a:prstDash val="solid"/>
                    </a:lnR>
                    <a:lnB w="9525">
                      <a:solidFill>
                        <a:srgbClr val="D7DFEA"/>
                      </a:solidFill>
                      <a:prstDash val="solid"/>
                    </a:lnB>
                  </a:tcPr>
                </a:tc>
              </a:tr>
            </a:tbl>
          </a:graphicData>
        </a:graphic>
      </p:graphicFrame>
      <p:sp>
        <p:nvSpPr>
          <p:cNvPr id="4" name="">
            <a:extLst xmlns:a="http://schemas.openxmlformats.org/drawingml/2006/main">
              <a:ext uri="{FF2B5EF4-FFF2-40B4-BE49-F238E27FC236}">
                <a16:creationId xmlns:a16="http://schemas.microsoft.com/office/drawing/2014/main" id="{AB56B129-44A6-4CF7-A5FC-1ED765FDA731}"/>
              </a:ext>
            </a:extLst>
          </p:cNvPr>
          <p:cNvSpPr>
            <a:spLocks xmlns:a="http://schemas.openxmlformats.org/drawingml/2006/main" noGrp="1"/>
          </p:cNvSpPr>
          <p:nvPr/>
        </p:nvSpPr>
        <p:spPr>
          <a:xfrm xmlns:a="http://schemas.openxmlformats.org/drawingml/2006/main">
            <a:off x="533400" y="5391150"/>
            <a:ext cx="11125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15243B"/>
                </a:solidFill>
                <a:latin typeface="AppleGothic"/>
                <a:ea typeface="AppleGothic"/>
                <a:cs typeface="AppleGothic"/>
              </a:defRPr>
            </a:defPPr>
            <a:lvl1pPr>
              <a:defRPr sz="1800" b="0">
                <a:solidFill>
                  <a:srgbClr val="15243B"/>
                </a:solidFill>
                <a:latin typeface="AppleGothic"/>
                <a:ea typeface="AppleGothic"/>
                <a:cs typeface="AppleGothic"/>
              </a:defRPr>
            </a:lvl1pPr>
            <a:lvl2pPr>
              <a:defRPr sz="1800" b="0">
                <a:solidFill>
                  <a:srgbClr val="15243B"/>
                </a:solidFill>
                <a:latin typeface="AppleGothic"/>
                <a:ea typeface="AppleGothic"/>
                <a:cs typeface="AppleGothic"/>
              </a:defRPr>
            </a:lvl2pPr>
            <a:lvl3pPr>
              <a:defRPr sz="1800" b="0">
                <a:solidFill>
                  <a:srgbClr val="15243B"/>
                </a:solidFill>
                <a:latin typeface="AppleGothic"/>
                <a:ea typeface="AppleGothic"/>
                <a:cs typeface="AppleGothic"/>
              </a:defRPr>
            </a:lvl3pPr>
            <a:lvl4pPr>
              <a:defRPr sz="1800" b="0">
                <a:solidFill>
                  <a:srgbClr val="15243B"/>
                </a:solidFill>
                <a:latin typeface="AppleGothic"/>
                <a:ea typeface="AppleGothic"/>
                <a:cs typeface="AppleGothic"/>
              </a:defRPr>
            </a:lvl4pPr>
            <a:lvl5pPr>
              <a:defRPr sz="1800" b="0">
                <a:solidFill>
                  <a:srgbClr val="15243B"/>
                </a:solidFill>
                <a:latin typeface="AppleGothic"/>
                <a:ea typeface="AppleGothic"/>
                <a:cs typeface="AppleGothic"/>
              </a:defRPr>
            </a:lvl5pPr>
            <a:lvl6pPr>
              <a:defRPr sz="1800" b="0">
                <a:solidFill>
                  <a:srgbClr val="15243B"/>
                </a:solidFill>
                <a:latin typeface="AppleGothic"/>
                <a:ea typeface="AppleGothic"/>
                <a:cs typeface="AppleGothic"/>
              </a:defRPr>
            </a:lvl6pPr>
            <a:lvl7pPr>
              <a:defRPr sz="1800" b="0">
                <a:solidFill>
                  <a:srgbClr val="15243B"/>
                </a:solidFill>
                <a:latin typeface="AppleGothic"/>
                <a:ea typeface="AppleGothic"/>
                <a:cs typeface="AppleGothic"/>
              </a:defRPr>
            </a:lvl7pPr>
            <a:lvl8pPr>
              <a:defRPr sz="1800" b="0">
                <a:solidFill>
                  <a:srgbClr val="15243B"/>
                </a:solidFill>
                <a:latin typeface="AppleGothic"/>
                <a:ea typeface="AppleGothic"/>
                <a:cs typeface="AppleGothic"/>
              </a:defRPr>
            </a:lvl8pPr>
            <a:lvl9pPr>
              <a:defRPr sz="1800" b="0">
                <a:solidFill>
                  <a:srgbClr val="15243B"/>
                </a:solidFill>
                <a:latin typeface="AppleGothic"/>
                <a:ea typeface="AppleGothic"/>
                <a:cs typeface="AppleGothic"/>
              </a:defRPr>
            </a:lvl9pPr>
          </a:lstStyle>
          <a:p xmlns:a="http://schemas.openxmlformats.org/drawingml/2006/main">
            <a:pPr>
              <a:defRPr sz="1800" b="0">
                <a:solidFill>
                  <a:srgbClr val="15243B"/>
                </a:solidFill>
                <a:latin typeface="AppleGothic"/>
                <a:ea typeface="AppleGothic"/>
                <a:cs typeface="AppleGothic"/>
              </a:defRPr>
            </a:pPr>
            <a:r>
              <a:rPr sz="1800" b="0">
                <a:solidFill>
                  <a:srgbClr val="15243B"/>
                </a:solidFill>
                <a:latin typeface="AppleGothic"/>
                <a:ea typeface="AppleGothic"/>
                <a:cs typeface="AppleGothic"/>
              </a:rPr>
              <a:t>계산은 좌표, IoU, AP, box offset, voxel index를 중심으로 본다.</a:t>
            </a:r>
          </a:p>
          <a:p xmlns:a="http://schemas.openxmlformats.org/drawingml/2006/main">
            <a:pPr>
              <a:defRPr sz="1800" b="0">
                <a:solidFill>
                  <a:srgbClr val="15243B"/>
                </a:solidFill>
                <a:latin typeface="AppleGothic"/>
                <a:ea typeface="AppleGothic"/>
                <a:cs typeface="AppleGothic"/>
              </a:defRPr>
            </a:pPr>
            <a:r>
              <a:rPr sz="1800" b="0">
                <a:solidFill>
                  <a:srgbClr val="15243B"/>
                </a:solidFill>
                <a:latin typeface="AppleGothic"/>
                <a:ea typeface="AppleGothic"/>
                <a:cs typeface="AppleGothic"/>
              </a:rPr>
              <a:t>논문은 문제의식과 바꾼 연산을 연결해서 비교한다.</a:t>
            </a:r>
          </a:p>
        </p:txBody>
      </p:sp>
      <p:sp>
        <p:nvSpPr>
          <p:cNvPr id="5" name="">
            <a:extLst xmlns:a="http://schemas.openxmlformats.org/drawingml/2006/main">
              <a:ext uri="{FF2B5EF4-FFF2-40B4-BE49-F238E27FC236}">
                <a16:creationId xmlns:a16="http://schemas.microsoft.com/office/drawing/2014/main" id="{6BBC8777-27F6-4ADA-998B-F27F6035F961}"/>
              </a:ext>
            </a:extLst>
          </p:cNvPr>
          <p:cNvSpPr>
            <a:spLocks xmlns:a="http://schemas.openxmlformats.org/drawingml/2006/main" noGrp="1"/>
          </p:cNvSpPr>
          <p:nvPr/>
        </p:nvSpPr>
        <p:spPr>
          <a:xfrm xmlns:a="http://schemas.openxmlformats.org/drawingml/2006/main">
            <a:off x="11144250" y="6400800"/>
            <a:ext cx="5143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62748C"/>
                </a:solidFill>
                <a:latin typeface="AppleGothic"/>
                <a:ea typeface="AppleGothic"/>
                <a:cs typeface="AppleGothic"/>
              </a:defRPr>
            </a:defPPr>
            <a:lvl1pPr>
              <a:defRPr sz="1350" b="0">
                <a:solidFill>
                  <a:srgbClr val="62748C"/>
                </a:solidFill>
                <a:latin typeface="AppleGothic"/>
                <a:ea typeface="AppleGothic"/>
                <a:cs typeface="AppleGothic"/>
              </a:defRPr>
            </a:lvl1pPr>
            <a:lvl2pPr>
              <a:defRPr sz="1350" b="0">
                <a:solidFill>
                  <a:srgbClr val="62748C"/>
                </a:solidFill>
                <a:latin typeface="AppleGothic"/>
                <a:ea typeface="AppleGothic"/>
                <a:cs typeface="AppleGothic"/>
              </a:defRPr>
            </a:lvl2pPr>
            <a:lvl3pPr>
              <a:defRPr sz="1350" b="0">
                <a:solidFill>
                  <a:srgbClr val="62748C"/>
                </a:solidFill>
                <a:latin typeface="AppleGothic"/>
                <a:ea typeface="AppleGothic"/>
                <a:cs typeface="AppleGothic"/>
              </a:defRPr>
            </a:lvl3pPr>
            <a:lvl4pPr>
              <a:defRPr sz="1350" b="0">
                <a:solidFill>
                  <a:srgbClr val="62748C"/>
                </a:solidFill>
                <a:latin typeface="AppleGothic"/>
                <a:ea typeface="AppleGothic"/>
                <a:cs typeface="AppleGothic"/>
              </a:defRPr>
            </a:lvl4pPr>
            <a:lvl5pPr>
              <a:defRPr sz="1350" b="0">
                <a:solidFill>
                  <a:srgbClr val="62748C"/>
                </a:solidFill>
                <a:latin typeface="AppleGothic"/>
                <a:ea typeface="AppleGothic"/>
                <a:cs typeface="AppleGothic"/>
              </a:defRPr>
            </a:lvl5pPr>
            <a:lvl6pPr>
              <a:defRPr sz="1350" b="0">
                <a:solidFill>
                  <a:srgbClr val="62748C"/>
                </a:solidFill>
                <a:latin typeface="AppleGothic"/>
                <a:ea typeface="AppleGothic"/>
                <a:cs typeface="AppleGothic"/>
              </a:defRPr>
            </a:lvl6pPr>
            <a:lvl7pPr>
              <a:defRPr sz="1350" b="0">
                <a:solidFill>
                  <a:srgbClr val="62748C"/>
                </a:solidFill>
                <a:latin typeface="AppleGothic"/>
                <a:ea typeface="AppleGothic"/>
                <a:cs typeface="AppleGothic"/>
              </a:defRPr>
            </a:lvl7pPr>
            <a:lvl8pPr>
              <a:defRPr sz="1350" b="0">
                <a:solidFill>
                  <a:srgbClr val="62748C"/>
                </a:solidFill>
                <a:latin typeface="AppleGothic"/>
                <a:ea typeface="AppleGothic"/>
                <a:cs typeface="AppleGothic"/>
              </a:defRPr>
            </a:lvl8pPr>
            <a:lvl9pPr>
              <a:defRPr sz="1350" b="0">
                <a:solidFill>
                  <a:srgbClr val="62748C"/>
                </a:solidFill>
                <a:latin typeface="AppleGothic"/>
                <a:ea typeface="AppleGothic"/>
                <a:cs typeface="AppleGothic"/>
              </a:defRPr>
            </a:lvl9pPr>
          </a:lstStyle>
          <a:p xmlns:a="http://schemas.openxmlformats.org/drawingml/2006/main">
            <a:pPr>
              <a:defRPr sz="1350" b="0">
                <a:solidFill>
                  <a:srgbClr val="62748C"/>
                </a:solidFill>
                <a:latin typeface="AppleGothic"/>
                <a:ea typeface="AppleGothic"/>
                <a:cs typeface="AppleGothic"/>
              </a:defRPr>
            </a:pPr>
            <a:r>
              <a:rPr sz="1350" b="0">
                <a:solidFill>
                  <a:srgbClr val="62748C"/>
                </a:solidFill>
                <a:latin typeface="AppleGothic"/>
                <a:ea typeface="AppleGothic"/>
                <a:cs typeface="AppleGothic"/>
              </a:rPr>
              <a:t>02</a:t>
            </a:r>
          </a:p>
        </p:txBody>
      </p:sp>
    </p:spTree>
    <p:extLst>
      <p:ext uri="{BB962C8B-B14F-4D97-AF65-F5344CB8AC3E}">
        <p14:creationId xmlns:p14="http://schemas.microsoft.com/office/powerpoint/2010/main" val="1675841001"/>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F1FA2050-05FD-4806-84BA-D899550E0D7A}"/>
              </a:ext>
            </a:extLst>
          </p:cNvPr>
          <p:cNvSpPr>
            <a:spLocks xmlns:a="http://schemas.openxmlformats.org/drawingml/2006/main" noGrp="1"/>
          </p:cNvSpPr>
          <p:nvPr/>
        </p:nvSpPr>
        <p:spPr>
          <a:xfrm xmlns:a="http://schemas.openxmlformats.org/drawingml/2006/main">
            <a:off x="533400" y="342900"/>
            <a:ext cx="111252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150" b="1">
                <a:solidFill>
                  <a:srgbClr val="15243B"/>
                </a:solidFill>
                <a:latin typeface="AppleGothic"/>
                <a:ea typeface="AppleGothic"/>
                <a:cs typeface="AppleGothic"/>
              </a:defRPr>
            </a:defPPr>
            <a:lvl1pPr>
              <a:defRPr sz="3150" b="1">
                <a:solidFill>
                  <a:srgbClr val="15243B"/>
                </a:solidFill>
                <a:latin typeface="AppleGothic"/>
                <a:ea typeface="AppleGothic"/>
                <a:cs typeface="AppleGothic"/>
              </a:defRPr>
            </a:lvl1pPr>
            <a:lvl2pPr>
              <a:defRPr sz="3150" b="1">
                <a:solidFill>
                  <a:srgbClr val="15243B"/>
                </a:solidFill>
                <a:latin typeface="AppleGothic"/>
                <a:ea typeface="AppleGothic"/>
                <a:cs typeface="AppleGothic"/>
              </a:defRPr>
            </a:lvl2pPr>
            <a:lvl3pPr>
              <a:defRPr sz="3150" b="1">
                <a:solidFill>
                  <a:srgbClr val="15243B"/>
                </a:solidFill>
                <a:latin typeface="AppleGothic"/>
                <a:ea typeface="AppleGothic"/>
                <a:cs typeface="AppleGothic"/>
              </a:defRPr>
            </a:lvl3pPr>
            <a:lvl4pPr>
              <a:defRPr sz="3150" b="1">
                <a:solidFill>
                  <a:srgbClr val="15243B"/>
                </a:solidFill>
                <a:latin typeface="AppleGothic"/>
                <a:ea typeface="AppleGothic"/>
                <a:cs typeface="AppleGothic"/>
              </a:defRPr>
            </a:lvl4pPr>
            <a:lvl5pPr>
              <a:defRPr sz="3150" b="1">
                <a:solidFill>
                  <a:srgbClr val="15243B"/>
                </a:solidFill>
                <a:latin typeface="AppleGothic"/>
                <a:ea typeface="AppleGothic"/>
                <a:cs typeface="AppleGothic"/>
              </a:defRPr>
            </a:lvl5pPr>
            <a:lvl6pPr>
              <a:defRPr sz="3150" b="1">
                <a:solidFill>
                  <a:srgbClr val="15243B"/>
                </a:solidFill>
                <a:latin typeface="AppleGothic"/>
                <a:ea typeface="AppleGothic"/>
                <a:cs typeface="AppleGothic"/>
              </a:defRPr>
            </a:lvl6pPr>
            <a:lvl7pPr>
              <a:defRPr sz="3150" b="1">
                <a:solidFill>
                  <a:srgbClr val="15243B"/>
                </a:solidFill>
                <a:latin typeface="AppleGothic"/>
                <a:ea typeface="AppleGothic"/>
                <a:cs typeface="AppleGothic"/>
              </a:defRPr>
            </a:lvl7pPr>
            <a:lvl8pPr>
              <a:defRPr sz="3150" b="1">
                <a:solidFill>
                  <a:srgbClr val="15243B"/>
                </a:solidFill>
                <a:latin typeface="AppleGothic"/>
                <a:ea typeface="AppleGothic"/>
                <a:cs typeface="AppleGothic"/>
              </a:defRPr>
            </a:lvl8pPr>
            <a:lvl9pPr>
              <a:defRPr sz="3150" b="1">
                <a:solidFill>
                  <a:srgbClr val="15243B"/>
                </a:solidFill>
                <a:latin typeface="AppleGothic"/>
                <a:ea typeface="AppleGothic"/>
                <a:cs typeface="AppleGothic"/>
              </a:defRPr>
            </a:lvl9pPr>
          </a:lstStyle>
          <a:p xmlns:a="http://schemas.openxmlformats.org/drawingml/2006/main">
            <a:pPr>
              <a:defRPr sz="3150" b="1">
                <a:solidFill>
                  <a:srgbClr val="15243B"/>
                </a:solidFill>
                <a:latin typeface="AppleGothic"/>
                <a:ea typeface="AppleGothic"/>
                <a:cs typeface="AppleGothic"/>
              </a:defRPr>
            </a:pPr>
            <a:r>
              <a:rPr sz="3150" b="1">
                <a:solidFill>
                  <a:srgbClr val="15243B"/>
                </a:solidFill>
                <a:latin typeface="AppleGothic"/>
                <a:ea typeface="AppleGothic"/>
                <a:cs typeface="AppleGothic"/>
              </a:rPr>
              <a:t>Sensor Modalities</a:t>
            </a:r>
          </a:p>
        </p:txBody>
      </p:sp>
      <p:sp>
        <p:nvSpPr>
          <p:cNvPr id="2" name="">
            <a:extLst xmlns:a="http://schemas.openxmlformats.org/drawingml/2006/main">
              <a:ext uri="{FF2B5EF4-FFF2-40B4-BE49-F238E27FC236}">
                <a16:creationId xmlns:a16="http://schemas.microsoft.com/office/drawing/2014/main" id="{72FEC084-8A41-4ECE-8B69-38542F8EB424}"/>
              </a:ext>
            </a:extLst>
          </p:cNvPr>
          <p:cNvSpPr>
            <a:spLocks xmlns:a="http://schemas.openxmlformats.org/drawingml/2006/main" noGrp="1"/>
          </p:cNvSpPr>
          <p:nvPr/>
        </p:nvSpPr>
        <p:spPr>
          <a:xfrm xmlns:a="http://schemas.openxmlformats.org/drawingml/2006/main">
            <a:off x="533400" y="1066800"/>
            <a:ext cx="111252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1">
                <a:solidFill>
                  <a:srgbClr val="2164CB"/>
                </a:solidFill>
                <a:latin typeface="AppleGothic"/>
                <a:ea typeface="AppleGothic"/>
                <a:cs typeface="AppleGothic"/>
              </a:defRPr>
            </a:defPPr>
            <a:lvl1pPr>
              <a:defRPr sz="2175" b="1">
                <a:solidFill>
                  <a:srgbClr val="2164CB"/>
                </a:solidFill>
                <a:latin typeface="AppleGothic"/>
                <a:ea typeface="AppleGothic"/>
                <a:cs typeface="AppleGothic"/>
              </a:defRPr>
            </a:lvl1pPr>
            <a:lvl2pPr>
              <a:defRPr sz="2175" b="1">
                <a:solidFill>
                  <a:srgbClr val="2164CB"/>
                </a:solidFill>
                <a:latin typeface="AppleGothic"/>
                <a:ea typeface="AppleGothic"/>
                <a:cs typeface="AppleGothic"/>
              </a:defRPr>
            </a:lvl2pPr>
            <a:lvl3pPr>
              <a:defRPr sz="2175" b="1">
                <a:solidFill>
                  <a:srgbClr val="2164CB"/>
                </a:solidFill>
                <a:latin typeface="AppleGothic"/>
                <a:ea typeface="AppleGothic"/>
                <a:cs typeface="AppleGothic"/>
              </a:defRPr>
            </a:lvl3pPr>
            <a:lvl4pPr>
              <a:defRPr sz="2175" b="1">
                <a:solidFill>
                  <a:srgbClr val="2164CB"/>
                </a:solidFill>
                <a:latin typeface="AppleGothic"/>
                <a:ea typeface="AppleGothic"/>
                <a:cs typeface="AppleGothic"/>
              </a:defRPr>
            </a:lvl4pPr>
            <a:lvl5pPr>
              <a:defRPr sz="2175" b="1">
                <a:solidFill>
                  <a:srgbClr val="2164CB"/>
                </a:solidFill>
                <a:latin typeface="AppleGothic"/>
                <a:ea typeface="AppleGothic"/>
                <a:cs typeface="AppleGothic"/>
              </a:defRPr>
            </a:lvl5pPr>
            <a:lvl6pPr>
              <a:defRPr sz="2175" b="1">
                <a:solidFill>
                  <a:srgbClr val="2164CB"/>
                </a:solidFill>
                <a:latin typeface="AppleGothic"/>
                <a:ea typeface="AppleGothic"/>
                <a:cs typeface="AppleGothic"/>
              </a:defRPr>
            </a:lvl6pPr>
            <a:lvl7pPr>
              <a:defRPr sz="2175" b="1">
                <a:solidFill>
                  <a:srgbClr val="2164CB"/>
                </a:solidFill>
                <a:latin typeface="AppleGothic"/>
                <a:ea typeface="AppleGothic"/>
                <a:cs typeface="AppleGothic"/>
              </a:defRPr>
            </a:lvl7pPr>
            <a:lvl8pPr>
              <a:defRPr sz="2175" b="1">
                <a:solidFill>
                  <a:srgbClr val="2164CB"/>
                </a:solidFill>
                <a:latin typeface="AppleGothic"/>
                <a:ea typeface="AppleGothic"/>
                <a:cs typeface="AppleGothic"/>
              </a:defRPr>
            </a:lvl8pPr>
            <a:lvl9pPr>
              <a:defRPr sz="2175" b="1">
                <a:solidFill>
                  <a:srgbClr val="2164CB"/>
                </a:solidFill>
                <a:latin typeface="AppleGothic"/>
                <a:ea typeface="AppleGothic"/>
                <a:cs typeface="AppleGothic"/>
              </a:defRPr>
            </a:lvl9pPr>
          </a:lstStyle>
          <a:p xmlns:a="http://schemas.openxmlformats.org/drawingml/2006/main">
            <a:pPr>
              <a:defRPr sz="2175" b="1">
                <a:solidFill>
                  <a:srgbClr val="2164CB"/>
                </a:solidFill>
                <a:latin typeface="AppleGothic"/>
                <a:ea typeface="AppleGothic"/>
                <a:cs typeface="AppleGothic"/>
              </a:defRPr>
            </a:pPr>
            <a:r>
              <a:rPr sz="2175" b="1">
                <a:solidFill>
                  <a:srgbClr val="2164CB"/>
                </a:solidFill>
                <a:latin typeface="AppleGothic"/>
                <a:ea typeface="AppleGothic"/>
                <a:cs typeface="AppleGothic"/>
              </a:rPr>
              <a:t>센서마다 직접 측정하는 물리량과 실패 조건이 다르다</a:t>
            </a:r>
          </a:p>
        </p:txBody>
      </p:sp>
      <p:graphicFrame>
        <p:nvGraphicFramePr>
          <p:cNvPr id="3" name="">
            <a:extLst xmlns:a="http://schemas.openxmlformats.org/drawingml/2006/main">
              <a:ext uri="{FF2B5EF4-FFF2-40B4-BE49-F238E27FC236}">
                <a16:creationId xmlns:a16="http://schemas.microsoft.com/office/drawing/2014/main" id="{AA540C3A-33FC-4780-9790-6D7A72D738D7}"/>
              </a:ext>
            </a:extLst>
          </p:cNvPr>
          <p:cNvGraphicFramePr/>
          <p:nvPr/>
        </p:nvGraphicFramePr>
        <p:xfrm>
          <a:off xmlns:a="http://schemas.openxmlformats.org/drawingml/2006/main" x="533400" y="2057400"/>
          <a:ext xmlns:a="http://schemas.openxmlformats.org/drawingml/2006/main" cx="11125200" cy="2952750"/>
        </p:xfrm>
        <a:graphic xmlns:a="http://schemas.openxmlformats.org/drawingml/2006/main">
          <a:graphicData uri="http://schemas.openxmlformats.org/drawingml/2006/table">
            <a:tbl>
              <a:tblPr/>
              <a:tblGrid>
                <a:gridCol w="2781300"/>
                <a:gridCol w="2781300"/>
                <a:gridCol w="2781300"/>
                <a:gridCol w="2781300"/>
              </a:tblGrid>
              <a:tr h="590550">
                <a:tc>
                  <a:txBody>
                    <a:bodyPr/>
                    <a:lstStyle/>
                    <a:p>
                      <a:r>
                        <a:rPr sz="1800" b="1">
                          <a:solidFill>
                            <a:srgbClr val="2164CB"/>
                          </a:solidFill>
                          <a:latin typeface="AppleGothic"/>
                          <a:ea typeface="AppleGothic"/>
                          <a:cs typeface="AppleGothic"/>
                        </a:rPr>
                        <a:t>Sensor</a:t>
                      </a:r>
                    </a:p>
                  </a:txBody>
                  <a:tcPr marL="114300" marR="114300" marT="95250" marB="95250">
                    <a:lnL w="9525">
                      <a:solidFill>
                        <a:srgbClr val="D7DFEA"/>
                      </a:solidFill>
                      <a:prstDash val="solid"/>
                    </a:lnL>
                    <a:lnR w="9525">
                      <a:solidFill>
                        <a:srgbClr val="D7DFEA"/>
                      </a:solidFill>
                      <a:prstDash val="solid"/>
                    </a:lnR>
                    <a:lnT w="9525">
                      <a:solidFill>
                        <a:srgbClr val="D7DFEA"/>
                      </a:solidFill>
                      <a:prstDash val="solid"/>
                    </a:lnT>
                    <a:lnB w="9525">
                      <a:solidFill>
                        <a:srgbClr val="D7DFEA"/>
                      </a:solidFill>
                      <a:prstDash val="solid"/>
                    </a:lnB>
                    <a:solidFill>
                      <a:srgbClr val="EAF1FC"/>
                    </a:solidFill>
                  </a:tcPr>
                </a:tc>
                <a:tc>
                  <a:txBody>
                    <a:bodyPr/>
                    <a:lstStyle/>
                    <a:p>
                      <a:r>
                        <a:rPr sz="1800" b="1">
                          <a:solidFill>
                            <a:srgbClr val="2164CB"/>
                          </a:solidFill>
                          <a:latin typeface="AppleGothic"/>
                          <a:ea typeface="AppleGothic"/>
                          <a:cs typeface="AppleGothic"/>
                        </a:rPr>
                        <a:t>Direct signal</a:t>
                      </a:r>
                    </a:p>
                  </a:txBody>
                  <a:tcPr marL="114300" marR="114300" marT="95250" marB="95250">
                    <a:lnR w="9525">
                      <a:solidFill>
                        <a:srgbClr val="D7DFEA"/>
                      </a:solidFill>
                      <a:prstDash val="solid"/>
                    </a:lnR>
                    <a:lnT w="9525">
                      <a:solidFill>
                        <a:srgbClr val="D7DFEA"/>
                      </a:solidFill>
                      <a:prstDash val="solid"/>
                    </a:lnT>
                    <a:lnB w="9525">
                      <a:solidFill>
                        <a:srgbClr val="D7DFEA"/>
                      </a:solidFill>
                      <a:prstDash val="solid"/>
                    </a:lnB>
                    <a:solidFill>
                      <a:srgbClr val="EAF1FC"/>
                    </a:solidFill>
                  </a:tcPr>
                </a:tc>
                <a:tc>
                  <a:txBody>
                    <a:bodyPr/>
                    <a:lstStyle/>
                    <a:p>
                      <a:r>
                        <a:rPr sz="1800" b="1">
                          <a:solidFill>
                            <a:srgbClr val="2164CB"/>
                          </a:solidFill>
                          <a:latin typeface="AppleGothic"/>
                          <a:ea typeface="AppleGothic"/>
                          <a:cs typeface="AppleGothic"/>
                        </a:rPr>
                        <a:t>Strength</a:t>
                      </a:r>
                    </a:p>
                  </a:txBody>
                  <a:tcPr marL="114300" marR="114300" marT="95250" marB="95250">
                    <a:lnR w="9525">
                      <a:solidFill>
                        <a:srgbClr val="D7DFEA"/>
                      </a:solidFill>
                      <a:prstDash val="solid"/>
                    </a:lnR>
                    <a:lnT w="9525">
                      <a:solidFill>
                        <a:srgbClr val="D7DFEA"/>
                      </a:solidFill>
                      <a:prstDash val="solid"/>
                    </a:lnT>
                    <a:lnB w="9525">
                      <a:solidFill>
                        <a:srgbClr val="D7DFEA"/>
                      </a:solidFill>
                      <a:prstDash val="solid"/>
                    </a:lnB>
                    <a:solidFill>
                      <a:srgbClr val="EAF1FC"/>
                    </a:solidFill>
                  </a:tcPr>
                </a:tc>
                <a:tc>
                  <a:txBody>
                    <a:bodyPr/>
                    <a:lstStyle/>
                    <a:p>
                      <a:r>
                        <a:rPr sz="1800" b="1">
                          <a:solidFill>
                            <a:srgbClr val="2164CB"/>
                          </a:solidFill>
                          <a:latin typeface="AppleGothic"/>
                          <a:ea typeface="AppleGothic"/>
                          <a:cs typeface="AppleGothic"/>
                        </a:rPr>
                        <a:t>Main limit</a:t>
                      </a:r>
                    </a:p>
                  </a:txBody>
                  <a:tcPr marL="114300" marR="114300" marT="95250" marB="95250">
                    <a:lnR w="9525">
                      <a:solidFill>
                        <a:srgbClr val="D7DFEA"/>
                      </a:solidFill>
                      <a:prstDash val="solid"/>
                    </a:lnR>
                    <a:lnT w="9525">
                      <a:solidFill>
                        <a:srgbClr val="D7DFEA"/>
                      </a:solidFill>
                      <a:prstDash val="solid"/>
                    </a:lnT>
                    <a:lnB w="9525">
                      <a:solidFill>
                        <a:srgbClr val="D7DFEA"/>
                      </a:solidFill>
                      <a:prstDash val="solid"/>
                    </a:lnB>
                    <a:solidFill>
                      <a:srgbClr val="EAF1FC"/>
                    </a:solidFill>
                  </a:tcPr>
                </a:tc>
              </a:tr>
              <a:tr h="590550">
                <a:tc>
                  <a:txBody>
                    <a:bodyPr/>
                    <a:lstStyle/>
                    <a:p>
                      <a:r>
                        <a:rPr sz="1800">
                          <a:solidFill>
                            <a:srgbClr val="15243B"/>
                          </a:solidFill>
                          <a:latin typeface="AppleGothic"/>
                          <a:ea typeface="AppleGothic"/>
                          <a:cs typeface="AppleGothic"/>
                        </a:rPr>
                        <a:t>Camera</a:t>
                      </a:r>
                    </a:p>
                  </a:txBody>
                  <a:tcPr marL="114300" marR="114300" marT="95250" marB="95250">
                    <a:lnL w="9525">
                      <a:solidFill>
                        <a:srgbClr val="D7DFEA"/>
                      </a:solidFill>
                      <a:prstDash val="solid"/>
                    </a:lnL>
                    <a:lnR w="9525">
                      <a:solidFill>
                        <a:srgbClr val="D7DFEA"/>
                      </a:solidFill>
                      <a:prstDash val="solid"/>
                    </a:lnR>
                    <a:lnB w="9525">
                      <a:solidFill>
                        <a:srgbClr val="D7DFEA"/>
                      </a:solidFill>
                      <a:prstDash val="solid"/>
                    </a:lnB>
                  </a:tcPr>
                </a:tc>
                <a:tc>
                  <a:txBody>
                    <a:bodyPr/>
                    <a:lstStyle/>
                    <a:p>
                      <a:r>
                        <a:rPr sz="1800">
                          <a:solidFill>
                            <a:srgbClr val="15243B"/>
                          </a:solidFill>
                          <a:latin typeface="AppleGothic"/>
                          <a:ea typeface="AppleGothic"/>
                          <a:cs typeface="AppleGothic"/>
                        </a:rPr>
                        <a:t>RGB intensity</a:t>
                      </a:r>
                    </a:p>
                  </a:txBody>
                  <a:tcPr marL="114300" marR="114300" marT="95250" marB="95250">
                    <a:lnR w="9525">
                      <a:solidFill>
                        <a:srgbClr val="D7DFEA"/>
                      </a:solidFill>
                      <a:prstDash val="solid"/>
                    </a:lnR>
                    <a:lnB w="9525">
                      <a:solidFill>
                        <a:srgbClr val="D7DFEA"/>
                      </a:solidFill>
                      <a:prstDash val="solid"/>
                    </a:lnB>
                  </a:tcPr>
                </a:tc>
                <a:tc>
                  <a:txBody>
                    <a:bodyPr/>
                    <a:lstStyle/>
                    <a:p>
                      <a:r>
                        <a:rPr sz="1800">
                          <a:solidFill>
                            <a:srgbClr val="15243B"/>
                          </a:solidFill>
                          <a:latin typeface="AppleGothic"/>
                          <a:ea typeface="AppleGothic"/>
                          <a:cs typeface="AppleGothic"/>
                        </a:rPr>
                        <a:t>class와 표지</a:t>
                      </a:r>
                    </a:p>
                  </a:txBody>
                  <a:tcPr marL="114300" marR="114300" marT="95250" marB="95250">
                    <a:lnR w="9525">
                      <a:solidFill>
                        <a:srgbClr val="D7DFEA"/>
                      </a:solidFill>
                      <a:prstDash val="solid"/>
                    </a:lnR>
                    <a:lnB w="9525">
                      <a:solidFill>
                        <a:srgbClr val="D7DFEA"/>
                      </a:solidFill>
                      <a:prstDash val="solid"/>
                    </a:lnB>
                  </a:tcPr>
                </a:tc>
                <a:tc>
                  <a:txBody>
                    <a:bodyPr/>
                    <a:lstStyle/>
                    <a:p>
                      <a:r>
                        <a:rPr sz="1800">
                          <a:solidFill>
                            <a:srgbClr val="15243B"/>
                          </a:solidFill>
                          <a:latin typeface="AppleGothic"/>
                          <a:ea typeface="AppleGothic"/>
                          <a:cs typeface="AppleGothic"/>
                        </a:rPr>
                        <a:t>조도와 depth</a:t>
                      </a:r>
                    </a:p>
                  </a:txBody>
                  <a:tcPr marL="114300" marR="114300" marT="95250" marB="95250">
                    <a:lnR w="9525">
                      <a:solidFill>
                        <a:srgbClr val="D7DFEA"/>
                      </a:solidFill>
                      <a:prstDash val="solid"/>
                    </a:lnR>
                    <a:lnB w="9525">
                      <a:solidFill>
                        <a:srgbClr val="D7DFEA"/>
                      </a:solidFill>
                      <a:prstDash val="solid"/>
                    </a:lnB>
                  </a:tcPr>
                </a:tc>
              </a:tr>
              <a:tr h="590550">
                <a:tc>
                  <a:txBody>
                    <a:bodyPr/>
                    <a:lstStyle/>
                    <a:p>
                      <a:r>
                        <a:rPr sz="1800">
                          <a:solidFill>
                            <a:srgbClr val="15243B"/>
                          </a:solidFill>
                          <a:latin typeface="AppleGothic"/>
                          <a:ea typeface="AppleGothic"/>
                          <a:cs typeface="AppleGothic"/>
                        </a:rPr>
                        <a:t>Stereo</a:t>
                      </a:r>
                    </a:p>
                  </a:txBody>
                  <a:tcPr marL="114300" marR="114300" marT="95250" marB="95250">
                    <a:lnL w="9525">
                      <a:solidFill>
                        <a:srgbClr val="D7DFEA"/>
                      </a:solidFill>
                      <a:prstDash val="solid"/>
                    </a:lnL>
                    <a:lnR w="9525">
                      <a:solidFill>
                        <a:srgbClr val="D7DFEA"/>
                      </a:solidFill>
                      <a:prstDash val="solid"/>
                    </a:lnR>
                    <a:lnB w="9525">
                      <a:solidFill>
                        <a:srgbClr val="D7DFEA"/>
                      </a:solidFill>
                      <a:prstDash val="solid"/>
                    </a:lnB>
                  </a:tcPr>
                </a:tc>
                <a:tc>
                  <a:txBody>
                    <a:bodyPr/>
                    <a:lstStyle/>
                    <a:p>
                      <a:r>
                        <a:rPr sz="1800">
                          <a:solidFill>
                            <a:srgbClr val="15243B"/>
                          </a:solidFill>
                          <a:latin typeface="AppleGothic"/>
                          <a:ea typeface="AppleGothic"/>
                          <a:cs typeface="AppleGothic"/>
                        </a:rPr>
                        <a:t>disparity</a:t>
                      </a:r>
                    </a:p>
                  </a:txBody>
                  <a:tcPr marL="114300" marR="114300" marT="95250" marB="95250">
                    <a:lnR w="9525">
                      <a:solidFill>
                        <a:srgbClr val="D7DFEA"/>
                      </a:solidFill>
                      <a:prstDash val="solid"/>
                    </a:lnR>
                    <a:lnB w="9525">
                      <a:solidFill>
                        <a:srgbClr val="D7DFEA"/>
                      </a:solidFill>
                      <a:prstDash val="solid"/>
                    </a:lnB>
                  </a:tcPr>
                </a:tc>
                <a:tc>
                  <a:txBody>
                    <a:bodyPr/>
                    <a:lstStyle/>
                    <a:p>
                      <a:r>
                        <a:rPr sz="1800">
                          <a:solidFill>
                            <a:srgbClr val="15243B"/>
                          </a:solidFill>
                          <a:latin typeface="AppleGothic"/>
                          <a:ea typeface="AppleGothic"/>
                          <a:cs typeface="AppleGothic"/>
                        </a:rPr>
                        <a:t>metric depth</a:t>
                      </a:r>
                    </a:p>
                  </a:txBody>
                  <a:tcPr marL="114300" marR="114300" marT="95250" marB="95250">
                    <a:lnR w="9525">
                      <a:solidFill>
                        <a:srgbClr val="D7DFEA"/>
                      </a:solidFill>
                      <a:prstDash val="solid"/>
                    </a:lnR>
                    <a:lnB w="9525">
                      <a:solidFill>
                        <a:srgbClr val="D7DFEA"/>
                      </a:solidFill>
                      <a:prstDash val="solid"/>
                    </a:lnB>
                  </a:tcPr>
                </a:tc>
                <a:tc>
                  <a:txBody>
                    <a:bodyPr/>
                    <a:lstStyle/>
                    <a:p>
                      <a:r>
                        <a:rPr sz="1800">
                          <a:solidFill>
                            <a:srgbClr val="15243B"/>
                          </a:solidFill>
                          <a:latin typeface="AppleGothic"/>
                          <a:ea typeface="AppleGothic"/>
                          <a:cs typeface="AppleGothic"/>
                        </a:rPr>
                        <a:t>대응점 오차</a:t>
                      </a:r>
                    </a:p>
                  </a:txBody>
                  <a:tcPr marL="114300" marR="114300" marT="95250" marB="95250">
                    <a:lnR w="9525">
                      <a:solidFill>
                        <a:srgbClr val="D7DFEA"/>
                      </a:solidFill>
                      <a:prstDash val="solid"/>
                    </a:lnR>
                    <a:lnB w="9525">
                      <a:solidFill>
                        <a:srgbClr val="D7DFEA"/>
                      </a:solidFill>
                      <a:prstDash val="solid"/>
                    </a:lnB>
                  </a:tcPr>
                </a:tc>
              </a:tr>
              <a:tr h="590550">
                <a:tc>
                  <a:txBody>
                    <a:bodyPr/>
                    <a:lstStyle/>
                    <a:p>
                      <a:r>
                        <a:rPr sz="1800">
                          <a:solidFill>
                            <a:srgbClr val="15243B"/>
                          </a:solidFill>
                          <a:latin typeface="AppleGothic"/>
                          <a:ea typeface="AppleGothic"/>
                          <a:cs typeface="AppleGothic"/>
                        </a:rPr>
                        <a:t>LiDAR</a:t>
                      </a:r>
                    </a:p>
                  </a:txBody>
                  <a:tcPr marL="114300" marR="114300" marT="95250" marB="95250">
                    <a:lnL w="9525">
                      <a:solidFill>
                        <a:srgbClr val="D7DFEA"/>
                      </a:solidFill>
                      <a:prstDash val="solid"/>
                    </a:lnL>
                    <a:lnR w="9525">
                      <a:solidFill>
                        <a:srgbClr val="D7DFEA"/>
                      </a:solidFill>
                      <a:prstDash val="solid"/>
                    </a:lnR>
                    <a:lnB w="9525">
                      <a:solidFill>
                        <a:srgbClr val="D7DFEA"/>
                      </a:solidFill>
                      <a:prstDash val="solid"/>
                    </a:lnB>
                  </a:tcPr>
                </a:tc>
                <a:tc>
                  <a:txBody>
                    <a:bodyPr/>
                    <a:lstStyle/>
                    <a:p>
                      <a:r>
                        <a:rPr sz="1800">
                          <a:solidFill>
                            <a:srgbClr val="15243B"/>
                          </a:solidFill>
                          <a:latin typeface="AppleGothic"/>
                          <a:ea typeface="AppleGothic"/>
                          <a:cs typeface="AppleGothic"/>
                        </a:rPr>
                        <a:t>range points</a:t>
                      </a:r>
                    </a:p>
                  </a:txBody>
                  <a:tcPr marL="114300" marR="114300" marT="95250" marB="95250">
                    <a:lnR w="9525">
                      <a:solidFill>
                        <a:srgbClr val="D7DFEA"/>
                      </a:solidFill>
                      <a:prstDash val="solid"/>
                    </a:lnR>
                    <a:lnB w="9525">
                      <a:solidFill>
                        <a:srgbClr val="D7DFEA"/>
                      </a:solidFill>
                      <a:prstDash val="solid"/>
                    </a:lnB>
                  </a:tcPr>
                </a:tc>
                <a:tc>
                  <a:txBody>
                    <a:bodyPr/>
                    <a:lstStyle/>
                    <a:p>
                      <a:r>
                        <a:rPr sz="1800">
                          <a:solidFill>
                            <a:srgbClr val="15243B"/>
                          </a:solidFill>
                          <a:latin typeface="AppleGothic"/>
                          <a:ea typeface="AppleGothic"/>
                          <a:cs typeface="AppleGothic"/>
                        </a:rPr>
                        <a:t>3D geometry</a:t>
                      </a:r>
                    </a:p>
                  </a:txBody>
                  <a:tcPr marL="114300" marR="114300" marT="95250" marB="95250">
                    <a:lnR w="9525">
                      <a:solidFill>
                        <a:srgbClr val="D7DFEA"/>
                      </a:solidFill>
                      <a:prstDash val="solid"/>
                    </a:lnR>
                    <a:lnB w="9525">
                      <a:solidFill>
                        <a:srgbClr val="D7DFEA"/>
                      </a:solidFill>
                      <a:prstDash val="solid"/>
                    </a:lnB>
                  </a:tcPr>
                </a:tc>
                <a:tc>
                  <a:txBody>
                    <a:bodyPr/>
                    <a:lstStyle/>
                    <a:p>
                      <a:r>
                        <a:rPr sz="1800">
                          <a:solidFill>
                            <a:srgbClr val="15243B"/>
                          </a:solidFill>
                          <a:latin typeface="AppleGothic"/>
                          <a:ea typeface="AppleGothic"/>
                          <a:cs typeface="AppleGothic"/>
                        </a:rPr>
                        <a:t>희소성과 날씨</a:t>
                      </a:r>
                    </a:p>
                  </a:txBody>
                  <a:tcPr marL="114300" marR="114300" marT="95250" marB="95250">
                    <a:lnR w="9525">
                      <a:solidFill>
                        <a:srgbClr val="D7DFEA"/>
                      </a:solidFill>
                      <a:prstDash val="solid"/>
                    </a:lnR>
                    <a:lnB w="9525">
                      <a:solidFill>
                        <a:srgbClr val="D7DFEA"/>
                      </a:solidFill>
                      <a:prstDash val="solid"/>
                    </a:lnB>
                  </a:tcPr>
                </a:tc>
              </a:tr>
              <a:tr h="590550">
                <a:tc>
                  <a:txBody>
                    <a:bodyPr/>
                    <a:lstStyle/>
                    <a:p>
                      <a:r>
                        <a:rPr sz="1800">
                          <a:solidFill>
                            <a:srgbClr val="15243B"/>
                          </a:solidFill>
                          <a:latin typeface="AppleGothic"/>
                          <a:ea typeface="AppleGothic"/>
                          <a:cs typeface="AppleGothic"/>
                        </a:rPr>
                        <a:t>RADAR</a:t>
                      </a:r>
                    </a:p>
                  </a:txBody>
                  <a:tcPr marL="114300" marR="114300" marT="95250" marB="95250">
                    <a:lnL w="9525">
                      <a:solidFill>
                        <a:srgbClr val="D7DFEA"/>
                      </a:solidFill>
                      <a:prstDash val="solid"/>
                    </a:lnL>
                    <a:lnR w="9525">
                      <a:solidFill>
                        <a:srgbClr val="D7DFEA"/>
                      </a:solidFill>
                      <a:prstDash val="solid"/>
                    </a:lnR>
                    <a:lnB w="9525">
                      <a:solidFill>
                        <a:srgbClr val="D7DFEA"/>
                      </a:solidFill>
                      <a:prstDash val="solid"/>
                    </a:lnB>
                  </a:tcPr>
                </a:tc>
                <a:tc>
                  <a:txBody>
                    <a:bodyPr/>
                    <a:lstStyle/>
                    <a:p>
                      <a:r>
                        <a:rPr sz="1800">
                          <a:solidFill>
                            <a:srgbClr val="15243B"/>
                          </a:solidFill>
                          <a:latin typeface="AppleGothic"/>
                          <a:ea typeface="AppleGothic"/>
                          <a:cs typeface="AppleGothic"/>
                        </a:rPr>
                        <a:t>range, Doppler</a:t>
                      </a:r>
                    </a:p>
                  </a:txBody>
                  <a:tcPr marL="114300" marR="114300" marT="95250" marB="95250">
                    <a:lnR w="9525">
                      <a:solidFill>
                        <a:srgbClr val="D7DFEA"/>
                      </a:solidFill>
                      <a:prstDash val="solid"/>
                    </a:lnR>
                    <a:lnB w="9525">
                      <a:solidFill>
                        <a:srgbClr val="D7DFEA"/>
                      </a:solidFill>
                      <a:prstDash val="solid"/>
                    </a:lnB>
                  </a:tcPr>
                </a:tc>
                <a:tc>
                  <a:txBody>
                    <a:bodyPr/>
                    <a:lstStyle/>
                    <a:p>
                      <a:r>
                        <a:rPr sz="1800">
                          <a:solidFill>
                            <a:srgbClr val="15243B"/>
                          </a:solidFill>
                          <a:latin typeface="AppleGothic"/>
                          <a:ea typeface="AppleGothic"/>
                          <a:cs typeface="AppleGothic"/>
                        </a:rPr>
                        <a:t>장거리와 속도</a:t>
                      </a:r>
                    </a:p>
                  </a:txBody>
                  <a:tcPr marL="114300" marR="114300" marT="95250" marB="95250">
                    <a:lnR w="9525">
                      <a:solidFill>
                        <a:srgbClr val="D7DFEA"/>
                      </a:solidFill>
                      <a:prstDash val="solid"/>
                    </a:lnR>
                    <a:lnB w="9525">
                      <a:solidFill>
                        <a:srgbClr val="D7DFEA"/>
                      </a:solidFill>
                      <a:prstDash val="solid"/>
                    </a:lnB>
                  </a:tcPr>
                </a:tc>
                <a:tc>
                  <a:txBody>
                    <a:bodyPr/>
                    <a:lstStyle/>
                    <a:p>
                      <a:r>
                        <a:rPr sz="1800">
                          <a:solidFill>
                            <a:srgbClr val="15243B"/>
                          </a:solidFill>
                          <a:latin typeface="AppleGothic"/>
                          <a:ea typeface="AppleGothic"/>
                          <a:cs typeface="AppleGothic"/>
                        </a:rPr>
                        <a:t>각해상도</a:t>
                      </a:r>
                    </a:p>
                  </a:txBody>
                  <a:tcPr marL="114300" marR="114300" marT="95250" marB="95250">
                    <a:lnR w="9525">
                      <a:solidFill>
                        <a:srgbClr val="D7DFEA"/>
                      </a:solidFill>
                      <a:prstDash val="solid"/>
                    </a:lnR>
                    <a:lnB w="9525">
                      <a:solidFill>
                        <a:srgbClr val="D7DFEA"/>
                      </a:solidFill>
                      <a:prstDash val="solid"/>
                    </a:lnB>
                  </a:tcPr>
                </a:tc>
              </a:tr>
            </a:tbl>
          </a:graphicData>
        </a:graphic>
      </p:graphicFrame>
      <p:sp>
        <p:nvSpPr>
          <p:cNvPr id="4" name="">
            <a:extLst xmlns:a="http://schemas.openxmlformats.org/drawingml/2006/main">
              <a:ext uri="{FF2B5EF4-FFF2-40B4-BE49-F238E27FC236}">
                <a16:creationId xmlns:a16="http://schemas.microsoft.com/office/drawing/2014/main" id="{B924C051-21B6-4D10-BA0A-CB2FF13FEA7F}"/>
              </a:ext>
            </a:extLst>
          </p:cNvPr>
          <p:cNvSpPr>
            <a:spLocks xmlns:a="http://schemas.openxmlformats.org/drawingml/2006/main" noGrp="1"/>
          </p:cNvSpPr>
          <p:nvPr/>
        </p:nvSpPr>
        <p:spPr>
          <a:xfrm xmlns:a="http://schemas.openxmlformats.org/drawingml/2006/main">
            <a:off x="533400" y="5391150"/>
            <a:ext cx="11125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15243B"/>
                </a:solidFill>
                <a:latin typeface="AppleGothic"/>
                <a:ea typeface="AppleGothic"/>
                <a:cs typeface="AppleGothic"/>
              </a:defRPr>
            </a:defPPr>
            <a:lvl1pPr>
              <a:defRPr sz="1800" b="0">
                <a:solidFill>
                  <a:srgbClr val="15243B"/>
                </a:solidFill>
                <a:latin typeface="AppleGothic"/>
                <a:ea typeface="AppleGothic"/>
                <a:cs typeface="AppleGothic"/>
              </a:defRPr>
            </a:lvl1pPr>
            <a:lvl2pPr>
              <a:defRPr sz="1800" b="0">
                <a:solidFill>
                  <a:srgbClr val="15243B"/>
                </a:solidFill>
                <a:latin typeface="AppleGothic"/>
                <a:ea typeface="AppleGothic"/>
                <a:cs typeface="AppleGothic"/>
              </a:defRPr>
            </a:lvl2pPr>
            <a:lvl3pPr>
              <a:defRPr sz="1800" b="0">
                <a:solidFill>
                  <a:srgbClr val="15243B"/>
                </a:solidFill>
                <a:latin typeface="AppleGothic"/>
                <a:ea typeface="AppleGothic"/>
                <a:cs typeface="AppleGothic"/>
              </a:defRPr>
            </a:lvl3pPr>
            <a:lvl4pPr>
              <a:defRPr sz="1800" b="0">
                <a:solidFill>
                  <a:srgbClr val="15243B"/>
                </a:solidFill>
                <a:latin typeface="AppleGothic"/>
                <a:ea typeface="AppleGothic"/>
                <a:cs typeface="AppleGothic"/>
              </a:defRPr>
            </a:lvl4pPr>
            <a:lvl5pPr>
              <a:defRPr sz="1800" b="0">
                <a:solidFill>
                  <a:srgbClr val="15243B"/>
                </a:solidFill>
                <a:latin typeface="AppleGothic"/>
                <a:ea typeface="AppleGothic"/>
                <a:cs typeface="AppleGothic"/>
              </a:defRPr>
            </a:lvl5pPr>
            <a:lvl6pPr>
              <a:defRPr sz="1800" b="0">
                <a:solidFill>
                  <a:srgbClr val="15243B"/>
                </a:solidFill>
                <a:latin typeface="AppleGothic"/>
                <a:ea typeface="AppleGothic"/>
                <a:cs typeface="AppleGothic"/>
              </a:defRPr>
            </a:lvl6pPr>
            <a:lvl7pPr>
              <a:defRPr sz="1800" b="0">
                <a:solidFill>
                  <a:srgbClr val="15243B"/>
                </a:solidFill>
                <a:latin typeface="AppleGothic"/>
                <a:ea typeface="AppleGothic"/>
                <a:cs typeface="AppleGothic"/>
              </a:defRPr>
            </a:lvl7pPr>
            <a:lvl8pPr>
              <a:defRPr sz="1800" b="0">
                <a:solidFill>
                  <a:srgbClr val="15243B"/>
                </a:solidFill>
                <a:latin typeface="AppleGothic"/>
                <a:ea typeface="AppleGothic"/>
                <a:cs typeface="AppleGothic"/>
              </a:defRPr>
            </a:lvl8pPr>
            <a:lvl9pPr>
              <a:defRPr sz="1800" b="0">
                <a:solidFill>
                  <a:srgbClr val="15243B"/>
                </a:solidFill>
                <a:latin typeface="AppleGothic"/>
                <a:ea typeface="AppleGothic"/>
                <a:cs typeface="AppleGothic"/>
              </a:defRPr>
            </a:lvl9pPr>
          </a:lstStyle>
          <a:p xmlns:a="http://schemas.openxmlformats.org/drawingml/2006/main">
            <a:pPr>
              <a:defRPr sz="1800" b="0">
                <a:solidFill>
                  <a:srgbClr val="15243B"/>
                </a:solidFill>
                <a:latin typeface="AppleGothic"/>
                <a:ea typeface="AppleGothic"/>
                <a:cs typeface="AppleGothic"/>
              </a:defRPr>
            </a:pPr>
            <a:r>
              <a:rPr sz="1800" b="0">
                <a:solidFill>
                  <a:srgbClr val="15243B"/>
                </a:solidFill>
                <a:latin typeface="AppleGothic"/>
                <a:ea typeface="AppleGothic"/>
                <a:cs typeface="AppleGothic"/>
              </a:rPr>
              <a:t>Camera는 의미와 texture에 강하지만 metric depth가 모호하다.</a:t>
            </a:r>
          </a:p>
          <a:p xmlns:a="http://schemas.openxmlformats.org/drawingml/2006/main">
            <a:pPr>
              <a:defRPr sz="1800" b="0">
                <a:solidFill>
                  <a:srgbClr val="15243B"/>
                </a:solidFill>
                <a:latin typeface="AppleGothic"/>
                <a:ea typeface="AppleGothic"/>
                <a:cs typeface="AppleGothic"/>
              </a:defRPr>
            </a:pPr>
            <a:r>
              <a:rPr sz="1800" b="0">
                <a:solidFill>
                  <a:srgbClr val="15243B"/>
                </a:solidFill>
                <a:latin typeface="AppleGothic"/>
                <a:ea typeface="AppleGothic"/>
                <a:cs typeface="AppleGothic"/>
              </a:rPr>
              <a:t>LiDAR는 3D geometry를 주고 RADAR는 range와 상대 속도에 강하다.</a:t>
            </a:r>
          </a:p>
        </p:txBody>
      </p:sp>
      <p:sp>
        <p:nvSpPr>
          <p:cNvPr id="5" name="">
            <a:extLst xmlns:a="http://schemas.openxmlformats.org/drawingml/2006/main">
              <a:ext uri="{FF2B5EF4-FFF2-40B4-BE49-F238E27FC236}">
                <a16:creationId xmlns:a16="http://schemas.microsoft.com/office/drawing/2014/main" id="{73FC59A6-3DA4-452B-87C9-E6AA7FC582CF}"/>
              </a:ext>
            </a:extLst>
          </p:cNvPr>
          <p:cNvSpPr>
            <a:spLocks xmlns:a="http://schemas.openxmlformats.org/drawingml/2006/main" noGrp="1"/>
          </p:cNvSpPr>
          <p:nvPr/>
        </p:nvSpPr>
        <p:spPr>
          <a:xfrm xmlns:a="http://schemas.openxmlformats.org/drawingml/2006/main">
            <a:off x="11144250" y="6400800"/>
            <a:ext cx="5143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62748C"/>
                </a:solidFill>
                <a:latin typeface="AppleGothic"/>
                <a:ea typeface="AppleGothic"/>
                <a:cs typeface="AppleGothic"/>
              </a:defRPr>
            </a:defPPr>
            <a:lvl1pPr>
              <a:defRPr sz="1350" b="0">
                <a:solidFill>
                  <a:srgbClr val="62748C"/>
                </a:solidFill>
                <a:latin typeface="AppleGothic"/>
                <a:ea typeface="AppleGothic"/>
                <a:cs typeface="AppleGothic"/>
              </a:defRPr>
            </a:lvl1pPr>
            <a:lvl2pPr>
              <a:defRPr sz="1350" b="0">
                <a:solidFill>
                  <a:srgbClr val="62748C"/>
                </a:solidFill>
                <a:latin typeface="AppleGothic"/>
                <a:ea typeface="AppleGothic"/>
                <a:cs typeface="AppleGothic"/>
              </a:defRPr>
            </a:lvl2pPr>
            <a:lvl3pPr>
              <a:defRPr sz="1350" b="0">
                <a:solidFill>
                  <a:srgbClr val="62748C"/>
                </a:solidFill>
                <a:latin typeface="AppleGothic"/>
                <a:ea typeface="AppleGothic"/>
                <a:cs typeface="AppleGothic"/>
              </a:defRPr>
            </a:lvl3pPr>
            <a:lvl4pPr>
              <a:defRPr sz="1350" b="0">
                <a:solidFill>
                  <a:srgbClr val="62748C"/>
                </a:solidFill>
                <a:latin typeface="AppleGothic"/>
                <a:ea typeface="AppleGothic"/>
                <a:cs typeface="AppleGothic"/>
              </a:defRPr>
            </a:lvl4pPr>
            <a:lvl5pPr>
              <a:defRPr sz="1350" b="0">
                <a:solidFill>
                  <a:srgbClr val="62748C"/>
                </a:solidFill>
                <a:latin typeface="AppleGothic"/>
                <a:ea typeface="AppleGothic"/>
                <a:cs typeface="AppleGothic"/>
              </a:defRPr>
            </a:lvl5pPr>
            <a:lvl6pPr>
              <a:defRPr sz="1350" b="0">
                <a:solidFill>
                  <a:srgbClr val="62748C"/>
                </a:solidFill>
                <a:latin typeface="AppleGothic"/>
                <a:ea typeface="AppleGothic"/>
                <a:cs typeface="AppleGothic"/>
              </a:defRPr>
            </a:lvl6pPr>
            <a:lvl7pPr>
              <a:defRPr sz="1350" b="0">
                <a:solidFill>
                  <a:srgbClr val="62748C"/>
                </a:solidFill>
                <a:latin typeface="AppleGothic"/>
                <a:ea typeface="AppleGothic"/>
                <a:cs typeface="AppleGothic"/>
              </a:defRPr>
            </a:lvl7pPr>
            <a:lvl8pPr>
              <a:defRPr sz="1350" b="0">
                <a:solidFill>
                  <a:srgbClr val="62748C"/>
                </a:solidFill>
                <a:latin typeface="AppleGothic"/>
                <a:ea typeface="AppleGothic"/>
                <a:cs typeface="AppleGothic"/>
              </a:defRPr>
            </a:lvl8pPr>
            <a:lvl9pPr>
              <a:defRPr sz="1350" b="0">
                <a:solidFill>
                  <a:srgbClr val="62748C"/>
                </a:solidFill>
                <a:latin typeface="AppleGothic"/>
                <a:ea typeface="AppleGothic"/>
                <a:cs typeface="AppleGothic"/>
              </a:defRPr>
            </a:lvl9pPr>
          </a:lstStyle>
          <a:p xmlns:a="http://schemas.openxmlformats.org/drawingml/2006/main">
            <a:pPr>
              <a:defRPr sz="1350" b="0">
                <a:solidFill>
                  <a:srgbClr val="62748C"/>
                </a:solidFill>
                <a:latin typeface="AppleGothic"/>
                <a:ea typeface="AppleGothic"/>
                <a:cs typeface="AppleGothic"/>
              </a:defRPr>
            </a:pPr>
            <a:r>
              <a:rPr sz="1350" b="0">
                <a:solidFill>
                  <a:srgbClr val="62748C"/>
                </a:solidFill>
                <a:latin typeface="AppleGothic"/>
                <a:ea typeface="AppleGothic"/>
                <a:cs typeface="AppleGothic"/>
              </a:rPr>
              <a:t>03</a:t>
            </a:r>
          </a:p>
        </p:txBody>
      </p:sp>
    </p:spTree>
    <p:extLst>
      <p:ext uri="{BB962C8B-B14F-4D97-AF65-F5344CB8AC3E}">
        <p14:creationId xmlns:p14="http://schemas.microsoft.com/office/powerpoint/2010/main" val="1872488668"/>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C5599C9-6CCE-4636-A20D-CC9770E6BC04}"/>
              </a:ext>
            </a:extLst>
          </p:cNvPr>
          <p:cNvSpPr>
            <a:spLocks xmlns:a="http://schemas.openxmlformats.org/drawingml/2006/main" noGrp="1"/>
          </p:cNvSpPr>
          <p:nvPr/>
        </p:nvSpPr>
        <p:spPr>
          <a:xfrm xmlns:a="http://schemas.openxmlformats.org/drawingml/2006/main">
            <a:off x="533400" y="342900"/>
            <a:ext cx="111252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150" b="1">
                <a:solidFill>
                  <a:srgbClr val="15243B"/>
                </a:solidFill>
                <a:latin typeface="AppleGothic"/>
                <a:ea typeface="AppleGothic"/>
                <a:cs typeface="AppleGothic"/>
              </a:defRPr>
            </a:defPPr>
            <a:lvl1pPr>
              <a:defRPr sz="3150" b="1">
                <a:solidFill>
                  <a:srgbClr val="15243B"/>
                </a:solidFill>
                <a:latin typeface="AppleGothic"/>
                <a:ea typeface="AppleGothic"/>
                <a:cs typeface="AppleGothic"/>
              </a:defRPr>
            </a:lvl1pPr>
            <a:lvl2pPr>
              <a:defRPr sz="3150" b="1">
                <a:solidFill>
                  <a:srgbClr val="15243B"/>
                </a:solidFill>
                <a:latin typeface="AppleGothic"/>
                <a:ea typeface="AppleGothic"/>
                <a:cs typeface="AppleGothic"/>
              </a:defRPr>
            </a:lvl2pPr>
            <a:lvl3pPr>
              <a:defRPr sz="3150" b="1">
                <a:solidFill>
                  <a:srgbClr val="15243B"/>
                </a:solidFill>
                <a:latin typeface="AppleGothic"/>
                <a:ea typeface="AppleGothic"/>
                <a:cs typeface="AppleGothic"/>
              </a:defRPr>
            </a:lvl3pPr>
            <a:lvl4pPr>
              <a:defRPr sz="3150" b="1">
                <a:solidFill>
                  <a:srgbClr val="15243B"/>
                </a:solidFill>
                <a:latin typeface="AppleGothic"/>
                <a:ea typeface="AppleGothic"/>
                <a:cs typeface="AppleGothic"/>
              </a:defRPr>
            </a:lvl4pPr>
            <a:lvl5pPr>
              <a:defRPr sz="3150" b="1">
                <a:solidFill>
                  <a:srgbClr val="15243B"/>
                </a:solidFill>
                <a:latin typeface="AppleGothic"/>
                <a:ea typeface="AppleGothic"/>
                <a:cs typeface="AppleGothic"/>
              </a:defRPr>
            </a:lvl5pPr>
            <a:lvl6pPr>
              <a:defRPr sz="3150" b="1">
                <a:solidFill>
                  <a:srgbClr val="15243B"/>
                </a:solidFill>
                <a:latin typeface="AppleGothic"/>
                <a:ea typeface="AppleGothic"/>
                <a:cs typeface="AppleGothic"/>
              </a:defRPr>
            </a:lvl6pPr>
            <a:lvl7pPr>
              <a:defRPr sz="3150" b="1">
                <a:solidFill>
                  <a:srgbClr val="15243B"/>
                </a:solidFill>
                <a:latin typeface="AppleGothic"/>
                <a:ea typeface="AppleGothic"/>
                <a:cs typeface="AppleGothic"/>
              </a:defRPr>
            </a:lvl7pPr>
            <a:lvl8pPr>
              <a:defRPr sz="3150" b="1">
                <a:solidFill>
                  <a:srgbClr val="15243B"/>
                </a:solidFill>
                <a:latin typeface="AppleGothic"/>
                <a:ea typeface="AppleGothic"/>
                <a:cs typeface="AppleGothic"/>
              </a:defRPr>
            </a:lvl8pPr>
            <a:lvl9pPr>
              <a:defRPr sz="3150" b="1">
                <a:solidFill>
                  <a:srgbClr val="15243B"/>
                </a:solidFill>
                <a:latin typeface="AppleGothic"/>
                <a:ea typeface="AppleGothic"/>
                <a:cs typeface="AppleGothic"/>
              </a:defRPr>
            </a:lvl9pPr>
          </a:lstStyle>
          <a:p xmlns:a="http://schemas.openxmlformats.org/drawingml/2006/main">
            <a:pPr>
              <a:defRPr sz="3150" b="1">
                <a:solidFill>
                  <a:srgbClr val="15243B"/>
                </a:solidFill>
                <a:latin typeface="AppleGothic"/>
                <a:ea typeface="AppleGothic"/>
                <a:cs typeface="AppleGothic"/>
              </a:defRPr>
            </a:pPr>
            <a:r>
              <a:rPr sz="3150" b="1">
                <a:solidFill>
                  <a:srgbClr val="15243B"/>
                </a:solidFill>
                <a:latin typeface="AppleGothic"/>
                <a:ea typeface="AppleGothic"/>
                <a:cs typeface="AppleGothic"/>
              </a:rPr>
              <a:t>LiDAR Geometry</a:t>
            </a:r>
          </a:p>
        </p:txBody>
      </p:sp>
      <p:sp>
        <p:nvSpPr>
          <p:cNvPr id="2" name="">
            <a:extLst xmlns:a="http://schemas.openxmlformats.org/drawingml/2006/main">
              <a:ext uri="{FF2B5EF4-FFF2-40B4-BE49-F238E27FC236}">
                <a16:creationId xmlns:a16="http://schemas.microsoft.com/office/drawing/2014/main" id="{EB5A197B-8750-418C-A3EC-200BAA54BD30}"/>
              </a:ext>
            </a:extLst>
          </p:cNvPr>
          <p:cNvSpPr>
            <a:spLocks xmlns:a="http://schemas.openxmlformats.org/drawingml/2006/main" noGrp="1"/>
          </p:cNvSpPr>
          <p:nvPr/>
        </p:nvSpPr>
        <p:spPr>
          <a:xfrm xmlns:a="http://schemas.openxmlformats.org/drawingml/2006/main">
            <a:off x="533400" y="1066800"/>
            <a:ext cx="111252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1">
                <a:solidFill>
                  <a:srgbClr val="2164CB"/>
                </a:solidFill>
                <a:latin typeface="AppleGothic"/>
                <a:ea typeface="AppleGothic"/>
                <a:cs typeface="AppleGothic"/>
              </a:defRPr>
            </a:defPPr>
            <a:lvl1pPr>
              <a:defRPr sz="2175" b="1">
                <a:solidFill>
                  <a:srgbClr val="2164CB"/>
                </a:solidFill>
                <a:latin typeface="AppleGothic"/>
                <a:ea typeface="AppleGothic"/>
                <a:cs typeface="AppleGothic"/>
              </a:defRPr>
            </a:lvl1pPr>
            <a:lvl2pPr>
              <a:defRPr sz="2175" b="1">
                <a:solidFill>
                  <a:srgbClr val="2164CB"/>
                </a:solidFill>
                <a:latin typeface="AppleGothic"/>
                <a:ea typeface="AppleGothic"/>
                <a:cs typeface="AppleGothic"/>
              </a:defRPr>
            </a:lvl2pPr>
            <a:lvl3pPr>
              <a:defRPr sz="2175" b="1">
                <a:solidFill>
                  <a:srgbClr val="2164CB"/>
                </a:solidFill>
                <a:latin typeface="AppleGothic"/>
                <a:ea typeface="AppleGothic"/>
                <a:cs typeface="AppleGothic"/>
              </a:defRPr>
            </a:lvl3pPr>
            <a:lvl4pPr>
              <a:defRPr sz="2175" b="1">
                <a:solidFill>
                  <a:srgbClr val="2164CB"/>
                </a:solidFill>
                <a:latin typeface="AppleGothic"/>
                <a:ea typeface="AppleGothic"/>
                <a:cs typeface="AppleGothic"/>
              </a:defRPr>
            </a:lvl4pPr>
            <a:lvl5pPr>
              <a:defRPr sz="2175" b="1">
                <a:solidFill>
                  <a:srgbClr val="2164CB"/>
                </a:solidFill>
                <a:latin typeface="AppleGothic"/>
                <a:ea typeface="AppleGothic"/>
                <a:cs typeface="AppleGothic"/>
              </a:defRPr>
            </a:lvl5pPr>
            <a:lvl6pPr>
              <a:defRPr sz="2175" b="1">
                <a:solidFill>
                  <a:srgbClr val="2164CB"/>
                </a:solidFill>
                <a:latin typeface="AppleGothic"/>
                <a:ea typeface="AppleGothic"/>
                <a:cs typeface="AppleGothic"/>
              </a:defRPr>
            </a:lvl6pPr>
            <a:lvl7pPr>
              <a:defRPr sz="2175" b="1">
                <a:solidFill>
                  <a:srgbClr val="2164CB"/>
                </a:solidFill>
                <a:latin typeface="AppleGothic"/>
                <a:ea typeface="AppleGothic"/>
                <a:cs typeface="AppleGothic"/>
              </a:defRPr>
            </a:lvl7pPr>
            <a:lvl8pPr>
              <a:defRPr sz="2175" b="1">
                <a:solidFill>
                  <a:srgbClr val="2164CB"/>
                </a:solidFill>
                <a:latin typeface="AppleGothic"/>
                <a:ea typeface="AppleGothic"/>
                <a:cs typeface="AppleGothic"/>
              </a:defRPr>
            </a:lvl8pPr>
            <a:lvl9pPr>
              <a:defRPr sz="2175" b="1">
                <a:solidFill>
                  <a:srgbClr val="2164CB"/>
                </a:solidFill>
                <a:latin typeface="AppleGothic"/>
                <a:ea typeface="AppleGothic"/>
                <a:cs typeface="AppleGothic"/>
              </a:defRPr>
            </a:lvl9pPr>
          </a:lstStyle>
          <a:p xmlns:a="http://schemas.openxmlformats.org/drawingml/2006/main">
            <a:pPr>
              <a:defRPr sz="2175" b="1">
                <a:solidFill>
                  <a:srgbClr val="2164CB"/>
                </a:solidFill>
                <a:latin typeface="AppleGothic"/>
                <a:ea typeface="AppleGothic"/>
                <a:cs typeface="AppleGothic"/>
              </a:defRPr>
            </a:pPr>
            <a:r>
              <a:rPr sz="2175" b="1">
                <a:solidFill>
                  <a:srgbClr val="2164CB"/>
                </a:solidFill>
                <a:latin typeface="AppleGothic"/>
                <a:ea typeface="AppleGothic"/>
                <a:cs typeface="AppleGothic"/>
              </a:rPr>
              <a:t>LiDAR point는 표면까지의 직접 거리 측정을 3D 좌표로 표현한다</a:t>
            </a:r>
          </a:p>
        </p:txBody>
      </p:sp>
      <p:pic>
        <p:nvPicPr>
          <p:cNvPr id="3" name="">
            <a:extLst xmlns:a="http://schemas.openxmlformats.org/drawingml/2006/main">
              <a:ext uri="{FF2B5EF4-FFF2-40B4-BE49-F238E27FC236}">
                <a16:creationId xmlns:a16="http://schemas.microsoft.com/office/drawing/2014/main" id="{80D831D0-153C-44BF-94F5-87A4BAEB477C}"/>
              </a:ext>
            </a:extLst>
          </p:cNvPr>
          <p:cNvPicPr>
            <a:picLocks xmlns:a="http://schemas.openxmlformats.org/drawingml/2006/main" noChangeAspect="1"/>
          </p:cNvPicPr>
          <p:nvPr/>
        </p:nvPicPr>
        <p:blipFill>
          <a:blip xmlns:r="http://schemas.openxmlformats.org/officeDocument/2006/relationships" xmlns:a="http://schemas.openxmlformats.org/drawingml/2006/main" r:embed="R50fecc3d96984981"/>
          <a:stretch xmlns:a="http://schemas.openxmlformats.org/drawingml/2006/main"/>
        </p:blipFill>
        <p:spPr>
          <a:xfrm xmlns:a="http://schemas.openxmlformats.org/drawingml/2006/main">
            <a:off x="802525" y="2057400"/>
            <a:ext cx="6605501" cy="3714750"/>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3AB1C8F1-4A20-47A7-B5A2-6FFF8F43BDF9}"/>
              </a:ext>
            </a:extLst>
          </p:cNvPr>
          <p:cNvSpPr>
            <a:spLocks xmlns:a="http://schemas.openxmlformats.org/drawingml/2006/main" noGrp="1"/>
          </p:cNvSpPr>
          <p:nvPr/>
        </p:nvSpPr>
        <p:spPr>
          <a:xfrm xmlns:a="http://schemas.openxmlformats.org/drawingml/2006/main">
            <a:off x="7981950" y="2114550"/>
            <a:ext cx="3676650" cy="3667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75" b="0">
                <a:solidFill>
                  <a:srgbClr val="15243B"/>
                </a:solidFill>
                <a:latin typeface="AppleGothic"/>
                <a:ea typeface="AppleGothic"/>
                <a:cs typeface="AppleGothic"/>
              </a:defRPr>
            </a:defPPr>
            <a:lvl1pPr>
              <a:defRPr sz="1875" b="0">
                <a:solidFill>
                  <a:srgbClr val="15243B"/>
                </a:solidFill>
                <a:latin typeface="AppleGothic"/>
                <a:ea typeface="AppleGothic"/>
                <a:cs typeface="AppleGothic"/>
              </a:defRPr>
            </a:lvl1pPr>
            <a:lvl2pPr>
              <a:defRPr sz="1875" b="0">
                <a:solidFill>
                  <a:srgbClr val="15243B"/>
                </a:solidFill>
                <a:latin typeface="AppleGothic"/>
                <a:ea typeface="AppleGothic"/>
                <a:cs typeface="AppleGothic"/>
              </a:defRPr>
            </a:lvl2pPr>
            <a:lvl3pPr>
              <a:defRPr sz="1875" b="0">
                <a:solidFill>
                  <a:srgbClr val="15243B"/>
                </a:solidFill>
                <a:latin typeface="AppleGothic"/>
                <a:ea typeface="AppleGothic"/>
                <a:cs typeface="AppleGothic"/>
              </a:defRPr>
            </a:lvl3pPr>
            <a:lvl4pPr>
              <a:defRPr sz="1875" b="0">
                <a:solidFill>
                  <a:srgbClr val="15243B"/>
                </a:solidFill>
                <a:latin typeface="AppleGothic"/>
                <a:ea typeface="AppleGothic"/>
                <a:cs typeface="AppleGothic"/>
              </a:defRPr>
            </a:lvl4pPr>
            <a:lvl5pPr>
              <a:defRPr sz="1875" b="0">
                <a:solidFill>
                  <a:srgbClr val="15243B"/>
                </a:solidFill>
                <a:latin typeface="AppleGothic"/>
                <a:ea typeface="AppleGothic"/>
                <a:cs typeface="AppleGothic"/>
              </a:defRPr>
            </a:lvl5pPr>
            <a:lvl6pPr>
              <a:defRPr sz="1875" b="0">
                <a:solidFill>
                  <a:srgbClr val="15243B"/>
                </a:solidFill>
                <a:latin typeface="AppleGothic"/>
                <a:ea typeface="AppleGothic"/>
                <a:cs typeface="AppleGothic"/>
              </a:defRPr>
            </a:lvl6pPr>
            <a:lvl7pPr>
              <a:defRPr sz="1875" b="0">
                <a:solidFill>
                  <a:srgbClr val="15243B"/>
                </a:solidFill>
                <a:latin typeface="AppleGothic"/>
                <a:ea typeface="AppleGothic"/>
                <a:cs typeface="AppleGothic"/>
              </a:defRPr>
            </a:lvl7pPr>
            <a:lvl8pPr>
              <a:defRPr sz="1875" b="0">
                <a:solidFill>
                  <a:srgbClr val="15243B"/>
                </a:solidFill>
                <a:latin typeface="AppleGothic"/>
                <a:ea typeface="AppleGothic"/>
                <a:cs typeface="AppleGothic"/>
              </a:defRPr>
            </a:lvl8pPr>
            <a:lvl9pPr>
              <a:defRPr sz="1875" b="0">
                <a:solidFill>
                  <a:srgbClr val="15243B"/>
                </a:solidFill>
                <a:latin typeface="AppleGothic"/>
                <a:ea typeface="AppleGothic"/>
                <a:cs typeface="AppleGothic"/>
              </a:defRPr>
            </a:lvl9pPr>
          </a:lstStyle>
          <a:p xmlns:a="http://schemas.openxmlformats.org/drawingml/2006/main">
            <a:pPr>
              <a:defRPr sz="1875" b="0">
                <a:solidFill>
                  <a:srgbClr val="15243B"/>
                </a:solidFill>
                <a:latin typeface="AppleGothic"/>
                <a:ea typeface="AppleGothic"/>
                <a:cs typeface="AppleGothic"/>
              </a:defRPr>
            </a:pPr>
            <a:r>
              <a:rPr sz="1875" b="0">
                <a:solidFill>
                  <a:srgbClr val="15243B"/>
                </a:solidFill>
                <a:latin typeface="AppleGothic"/>
                <a:ea typeface="AppleGothic"/>
                <a:cs typeface="AppleGothic"/>
              </a:rPr>
              <a:t>축과 단위를 먼저 읽고 점의 희소성이 거리와 가림에 따라 달라짐을 본다.</a:t>
            </a:r>
          </a:p>
          <a:p xmlns:a="http://schemas.openxmlformats.org/drawingml/2006/main">
            <a:r>
              <a:t/>
            </a:r>
          </a:p>
          <a:p xmlns:a="http://schemas.openxmlformats.org/drawingml/2006/main">
            <a:pPr>
              <a:defRPr sz="1875" b="0">
                <a:solidFill>
                  <a:srgbClr val="15243B"/>
                </a:solidFill>
                <a:latin typeface="AppleGothic"/>
                <a:ea typeface="AppleGothic"/>
                <a:cs typeface="AppleGothic"/>
              </a:defRPr>
            </a:pPr>
            <a:r>
              <a:rPr sz="1875" b="0">
                <a:solidFill>
                  <a:srgbClr val="15243B"/>
                </a:solidFill>
                <a:latin typeface="AppleGothic"/>
                <a:ea typeface="AppleGothic"/>
                <a:cs typeface="AppleGothic"/>
              </a:rPr>
              <a:t>Box는 point cloud와 같은 좌표계에 있어야 겹침과 거리를 계산할 수 있다.</a:t>
            </a:r>
          </a:p>
        </p:txBody>
      </p:sp>
      <p:sp>
        <p:nvSpPr>
          <p:cNvPr id="5" name="">
            <a:extLst xmlns:a="http://schemas.openxmlformats.org/drawingml/2006/main">
              <a:ext uri="{FF2B5EF4-FFF2-40B4-BE49-F238E27FC236}">
                <a16:creationId xmlns:a16="http://schemas.microsoft.com/office/drawing/2014/main" id="{98A46BAB-02A9-47E4-A20D-928557CCC69A}"/>
              </a:ext>
            </a:extLst>
          </p:cNvPr>
          <p:cNvSpPr>
            <a:spLocks xmlns:a="http://schemas.openxmlformats.org/drawingml/2006/main" noGrp="1"/>
          </p:cNvSpPr>
          <p:nvPr/>
        </p:nvSpPr>
        <p:spPr>
          <a:xfrm xmlns:a="http://schemas.openxmlformats.org/drawingml/2006/main">
            <a:off x="533400" y="5895975"/>
            <a:ext cx="1112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526378"/>
                </a:solidFill>
                <a:latin typeface="AppleGothic"/>
                <a:ea typeface="AppleGothic"/>
                <a:cs typeface="AppleGothic"/>
              </a:defRPr>
            </a:defPPr>
            <a:lvl1pPr>
              <a:defRPr sz="1350" b="0">
                <a:solidFill>
                  <a:srgbClr val="526378"/>
                </a:solidFill>
                <a:latin typeface="AppleGothic"/>
                <a:ea typeface="AppleGothic"/>
                <a:cs typeface="AppleGothic"/>
              </a:defRPr>
            </a:lvl1pPr>
            <a:lvl2pPr>
              <a:defRPr sz="1350" b="0">
                <a:solidFill>
                  <a:srgbClr val="526378"/>
                </a:solidFill>
                <a:latin typeface="AppleGothic"/>
                <a:ea typeface="AppleGothic"/>
                <a:cs typeface="AppleGothic"/>
              </a:defRPr>
            </a:lvl2pPr>
            <a:lvl3pPr>
              <a:defRPr sz="1350" b="0">
                <a:solidFill>
                  <a:srgbClr val="526378"/>
                </a:solidFill>
                <a:latin typeface="AppleGothic"/>
                <a:ea typeface="AppleGothic"/>
                <a:cs typeface="AppleGothic"/>
              </a:defRPr>
            </a:lvl3pPr>
            <a:lvl4pPr>
              <a:defRPr sz="1350" b="0">
                <a:solidFill>
                  <a:srgbClr val="526378"/>
                </a:solidFill>
                <a:latin typeface="AppleGothic"/>
                <a:ea typeface="AppleGothic"/>
                <a:cs typeface="AppleGothic"/>
              </a:defRPr>
            </a:lvl4pPr>
            <a:lvl5pPr>
              <a:defRPr sz="1350" b="0">
                <a:solidFill>
                  <a:srgbClr val="526378"/>
                </a:solidFill>
                <a:latin typeface="AppleGothic"/>
                <a:ea typeface="AppleGothic"/>
                <a:cs typeface="AppleGothic"/>
              </a:defRPr>
            </a:lvl5pPr>
            <a:lvl6pPr>
              <a:defRPr sz="1350" b="0">
                <a:solidFill>
                  <a:srgbClr val="526378"/>
                </a:solidFill>
                <a:latin typeface="AppleGothic"/>
                <a:ea typeface="AppleGothic"/>
                <a:cs typeface="AppleGothic"/>
              </a:defRPr>
            </a:lvl6pPr>
            <a:lvl7pPr>
              <a:defRPr sz="1350" b="0">
                <a:solidFill>
                  <a:srgbClr val="526378"/>
                </a:solidFill>
                <a:latin typeface="AppleGothic"/>
                <a:ea typeface="AppleGothic"/>
                <a:cs typeface="AppleGothic"/>
              </a:defRPr>
            </a:lvl7pPr>
            <a:lvl8pPr>
              <a:defRPr sz="1350" b="0">
                <a:solidFill>
                  <a:srgbClr val="526378"/>
                </a:solidFill>
                <a:latin typeface="AppleGothic"/>
                <a:ea typeface="AppleGothic"/>
                <a:cs typeface="AppleGothic"/>
              </a:defRPr>
            </a:lvl8pPr>
            <a:lvl9pPr>
              <a:defRPr sz="1350" b="0">
                <a:solidFill>
                  <a:srgbClr val="526378"/>
                </a:solidFill>
                <a:latin typeface="AppleGothic"/>
                <a:ea typeface="AppleGothic"/>
                <a:cs typeface="AppleGothic"/>
              </a:defRPr>
            </a:lvl9pPr>
          </a:lstStyle>
          <a:p xmlns:a="http://schemas.openxmlformats.org/drawingml/2006/main">
            <a:pPr>
              <a:defRPr sz="1350" b="0">
                <a:solidFill>
                  <a:srgbClr val="526378"/>
                </a:solidFill>
                <a:latin typeface="AppleGothic"/>
                <a:ea typeface="AppleGothic"/>
                <a:cs typeface="AppleGothic"/>
              </a:defRPr>
            </a:pPr>
            <a:r>
              <a:rPr sz="1350" b="0">
                <a:solidFill>
                  <a:srgbClr val="526378"/>
                </a:solidFill>
                <a:latin typeface="AppleGothic"/>
                <a:ea typeface="AppleGothic"/>
                <a:cs typeface="AppleGothic"/>
              </a:rPr>
              <a:t>Lecture 2, p. 17. LiDAR sample frame and 3D point cloud</a:t>
            </a:r>
          </a:p>
        </p:txBody>
      </p:sp>
      <p:sp>
        <p:nvSpPr>
          <p:cNvPr id="6" name="">
            <a:extLst xmlns:a="http://schemas.openxmlformats.org/drawingml/2006/main">
              <a:ext uri="{FF2B5EF4-FFF2-40B4-BE49-F238E27FC236}">
                <a16:creationId xmlns:a16="http://schemas.microsoft.com/office/drawing/2014/main" id="{51E6A95C-A575-42C2-A1DF-3551483FC19A}"/>
              </a:ext>
            </a:extLst>
          </p:cNvPr>
          <p:cNvSpPr>
            <a:spLocks xmlns:a="http://schemas.openxmlformats.org/drawingml/2006/main" noGrp="1"/>
          </p:cNvSpPr>
          <p:nvPr/>
        </p:nvSpPr>
        <p:spPr>
          <a:xfrm xmlns:a="http://schemas.openxmlformats.org/drawingml/2006/main">
            <a:off x="11144250" y="6400800"/>
            <a:ext cx="5143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62748C"/>
                </a:solidFill>
                <a:latin typeface="AppleGothic"/>
                <a:ea typeface="AppleGothic"/>
                <a:cs typeface="AppleGothic"/>
              </a:defRPr>
            </a:defPPr>
            <a:lvl1pPr>
              <a:defRPr sz="1350" b="0">
                <a:solidFill>
                  <a:srgbClr val="62748C"/>
                </a:solidFill>
                <a:latin typeface="AppleGothic"/>
                <a:ea typeface="AppleGothic"/>
                <a:cs typeface="AppleGothic"/>
              </a:defRPr>
            </a:lvl1pPr>
            <a:lvl2pPr>
              <a:defRPr sz="1350" b="0">
                <a:solidFill>
                  <a:srgbClr val="62748C"/>
                </a:solidFill>
                <a:latin typeface="AppleGothic"/>
                <a:ea typeface="AppleGothic"/>
                <a:cs typeface="AppleGothic"/>
              </a:defRPr>
            </a:lvl2pPr>
            <a:lvl3pPr>
              <a:defRPr sz="1350" b="0">
                <a:solidFill>
                  <a:srgbClr val="62748C"/>
                </a:solidFill>
                <a:latin typeface="AppleGothic"/>
                <a:ea typeface="AppleGothic"/>
                <a:cs typeface="AppleGothic"/>
              </a:defRPr>
            </a:lvl3pPr>
            <a:lvl4pPr>
              <a:defRPr sz="1350" b="0">
                <a:solidFill>
                  <a:srgbClr val="62748C"/>
                </a:solidFill>
                <a:latin typeface="AppleGothic"/>
                <a:ea typeface="AppleGothic"/>
                <a:cs typeface="AppleGothic"/>
              </a:defRPr>
            </a:lvl4pPr>
            <a:lvl5pPr>
              <a:defRPr sz="1350" b="0">
                <a:solidFill>
                  <a:srgbClr val="62748C"/>
                </a:solidFill>
                <a:latin typeface="AppleGothic"/>
                <a:ea typeface="AppleGothic"/>
                <a:cs typeface="AppleGothic"/>
              </a:defRPr>
            </a:lvl5pPr>
            <a:lvl6pPr>
              <a:defRPr sz="1350" b="0">
                <a:solidFill>
                  <a:srgbClr val="62748C"/>
                </a:solidFill>
                <a:latin typeface="AppleGothic"/>
                <a:ea typeface="AppleGothic"/>
                <a:cs typeface="AppleGothic"/>
              </a:defRPr>
            </a:lvl6pPr>
            <a:lvl7pPr>
              <a:defRPr sz="1350" b="0">
                <a:solidFill>
                  <a:srgbClr val="62748C"/>
                </a:solidFill>
                <a:latin typeface="AppleGothic"/>
                <a:ea typeface="AppleGothic"/>
                <a:cs typeface="AppleGothic"/>
              </a:defRPr>
            </a:lvl7pPr>
            <a:lvl8pPr>
              <a:defRPr sz="1350" b="0">
                <a:solidFill>
                  <a:srgbClr val="62748C"/>
                </a:solidFill>
                <a:latin typeface="AppleGothic"/>
                <a:ea typeface="AppleGothic"/>
                <a:cs typeface="AppleGothic"/>
              </a:defRPr>
            </a:lvl8pPr>
            <a:lvl9pPr>
              <a:defRPr sz="1350" b="0">
                <a:solidFill>
                  <a:srgbClr val="62748C"/>
                </a:solidFill>
                <a:latin typeface="AppleGothic"/>
                <a:ea typeface="AppleGothic"/>
                <a:cs typeface="AppleGothic"/>
              </a:defRPr>
            </a:lvl9pPr>
          </a:lstStyle>
          <a:p xmlns:a="http://schemas.openxmlformats.org/drawingml/2006/main">
            <a:pPr>
              <a:defRPr sz="1350" b="0">
                <a:solidFill>
                  <a:srgbClr val="62748C"/>
                </a:solidFill>
                <a:latin typeface="AppleGothic"/>
                <a:ea typeface="AppleGothic"/>
                <a:cs typeface="AppleGothic"/>
              </a:defRPr>
            </a:pPr>
            <a:r>
              <a:rPr sz="1350" b="0">
                <a:solidFill>
                  <a:srgbClr val="62748C"/>
                </a:solidFill>
                <a:latin typeface="AppleGothic"/>
                <a:ea typeface="AppleGothic"/>
                <a:cs typeface="AppleGothic"/>
              </a:rPr>
              <a:t>04</a:t>
            </a:r>
          </a:p>
        </p:txBody>
      </p:sp>
    </p:spTree>
    <p:extLst>
      <p:ext uri="{BB962C8B-B14F-4D97-AF65-F5344CB8AC3E}">
        <p14:creationId xmlns:p14="http://schemas.microsoft.com/office/powerpoint/2010/main" val="345443889"/>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03339A64-886C-4413-A76F-9D9565981A94}"/>
              </a:ext>
            </a:extLst>
          </p:cNvPr>
          <p:cNvSpPr>
            <a:spLocks xmlns:a="http://schemas.openxmlformats.org/drawingml/2006/main" noGrp="1"/>
          </p:cNvSpPr>
          <p:nvPr/>
        </p:nvSpPr>
        <p:spPr>
          <a:xfrm xmlns:a="http://schemas.openxmlformats.org/drawingml/2006/main">
            <a:off x="533400" y="342900"/>
            <a:ext cx="111252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150" b="1">
                <a:solidFill>
                  <a:srgbClr val="15243B"/>
                </a:solidFill>
                <a:latin typeface="AppleGothic"/>
                <a:ea typeface="AppleGothic"/>
                <a:cs typeface="AppleGothic"/>
              </a:defRPr>
            </a:defPPr>
            <a:lvl1pPr>
              <a:defRPr sz="3150" b="1">
                <a:solidFill>
                  <a:srgbClr val="15243B"/>
                </a:solidFill>
                <a:latin typeface="AppleGothic"/>
                <a:ea typeface="AppleGothic"/>
                <a:cs typeface="AppleGothic"/>
              </a:defRPr>
            </a:lvl1pPr>
            <a:lvl2pPr>
              <a:defRPr sz="3150" b="1">
                <a:solidFill>
                  <a:srgbClr val="15243B"/>
                </a:solidFill>
                <a:latin typeface="AppleGothic"/>
                <a:ea typeface="AppleGothic"/>
                <a:cs typeface="AppleGothic"/>
              </a:defRPr>
            </a:lvl2pPr>
            <a:lvl3pPr>
              <a:defRPr sz="3150" b="1">
                <a:solidFill>
                  <a:srgbClr val="15243B"/>
                </a:solidFill>
                <a:latin typeface="AppleGothic"/>
                <a:ea typeface="AppleGothic"/>
                <a:cs typeface="AppleGothic"/>
              </a:defRPr>
            </a:lvl3pPr>
            <a:lvl4pPr>
              <a:defRPr sz="3150" b="1">
                <a:solidFill>
                  <a:srgbClr val="15243B"/>
                </a:solidFill>
                <a:latin typeface="AppleGothic"/>
                <a:ea typeface="AppleGothic"/>
                <a:cs typeface="AppleGothic"/>
              </a:defRPr>
            </a:lvl4pPr>
            <a:lvl5pPr>
              <a:defRPr sz="3150" b="1">
                <a:solidFill>
                  <a:srgbClr val="15243B"/>
                </a:solidFill>
                <a:latin typeface="AppleGothic"/>
                <a:ea typeface="AppleGothic"/>
                <a:cs typeface="AppleGothic"/>
              </a:defRPr>
            </a:lvl5pPr>
            <a:lvl6pPr>
              <a:defRPr sz="3150" b="1">
                <a:solidFill>
                  <a:srgbClr val="15243B"/>
                </a:solidFill>
                <a:latin typeface="AppleGothic"/>
                <a:ea typeface="AppleGothic"/>
                <a:cs typeface="AppleGothic"/>
              </a:defRPr>
            </a:lvl6pPr>
            <a:lvl7pPr>
              <a:defRPr sz="3150" b="1">
                <a:solidFill>
                  <a:srgbClr val="15243B"/>
                </a:solidFill>
                <a:latin typeface="AppleGothic"/>
                <a:ea typeface="AppleGothic"/>
                <a:cs typeface="AppleGothic"/>
              </a:defRPr>
            </a:lvl7pPr>
            <a:lvl8pPr>
              <a:defRPr sz="3150" b="1">
                <a:solidFill>
                  <a:srgbClr val="15243B"/>
                </a:solidFill>
                <a:latin typeface="AppleGothic"/>
                <a:ea typeface="AppleGothic"/>
                <a:cs typeface="AppleGothic"/>
              </a:defRPr>
            </a:lvl8pPr>
            <a:lvl9pPr>
              <a:defRPr sz="3150" b="1">
                <a:solidFill>
                  <a:srgbClr val="15243B"/>
                </a:solidFill>
                <a:latin typeface="AppleGothic"/>
                <a:ea typeface="AppleGothic"/>
                <a:cs typeface="AppleGothic"/>
              </a:defRPr>
            </a:lvl9pPr>
          </a:lstStyle>
          <a:p xmlns:a="http://schemas.openxmlformats.org/drawingml/2006/main">
            <a:pPr>
              <a:defRPr sz="3150" b="1">
                <a:solidFill>
                  <a:srgbClr val="15243B"/>
                </a:solidFill>
                <a:latin typeface="AppleGothic"/>
                <a:ea typeface="AppleGothic"/>
                <a:cs typeface="AppleGothic"/>
              </a:defRPr>
            </a:pPr>
            <a:r>
              <a:rPr sz="3150" b="1">
                <a:solidFill>
                  <a:srgbClr val="15243B"/>
                </a:solidFill>
                <a:latin typeface="AppleGothic"/>
                <a:ea typeface="AppleGothic"/>
                <a:cs typeface="AppleGothic"/>
              </a:rPr>
              <a:t>Camera Projection</a:t>
            </a:r>
          </a:p>
        </p:txBody>
      </p:sp>
      <p:sp>
        <p:nvSpPr>
          <p:cNvPr id="2" name="">
            <a:extLst xmlns:a="http://schemas.openxmlformats.org/drawingml/2006/main">
              <a:ext uri="{FF2B5EF4-FFF2-40B4-BE49-F238E27FC236}">
                <a16:creationId xmlns:a16="http://schemas.microsoft.com/office/drawing/2014/main" id="{7A33A2ED-906B-4CA2-8592-B8436EC53B64}"/>
              </a:ext>
            </a:extLst>
          </p:cNvPr>
          <p:cNvSpPr>
            <a:spLocks xmlns:a="http://schemas.openxmlformats.org/drawingml/2006/main" noGrp="1"/>
          </p:cNvSpPr>
          <p:nvPr/>
        </p:nvSpPr>
        <p:spPr>
          <a:xfrm xmlns:a="http://schemas.openxmlformats.org/drawingml/2006/main">
            <a:off x="533400" y="1066800"/>
            <a:ext cx="111252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1">
                <a:solidFill>
                  <a:srgbClr val="2164CB"/>
                </a:solidFill>
                <a:latin typeface="AppleGothic"/>
                <a:ea typeface="AppleGothic"/>
                <a:cs typeface="AppleGothic"/>
              </a:defRPr>
            </a:defPPr>
            <a:lvl1pPr>
              <a:defRPr sz="2175" b="1">
                <a:solidFill>
                  <a:srgbClr val="2164CB"/>
                </a:solidFill>
                <a:latin typeface="AppleGothic"/>
                <a:ea typeface="AppleGothic"/>
                <a:cs typeface="AppleGothic"/>
              </a:defRPr>
            </a:lvl1pPr>
            <a:lvl2pPr>
              <a:defRPr sz="2175" b="1">
                <a:solidFill>
                  <a:srgbClr val="2164CB"/>
                </a:solidFill>
                <a:latin typeface="AppleGothic"/>
                <a:ea typeface="AppleGothic"/>
                <a:cs typeface="AppleGothic"/>
              </a:defRPr>
            </a:lvl2pPr>
            <a:lvl3pPr>
              <a:defRPr sz="2175" b="1">
                <a:solidFill>
                  <a:srgbClr val="2164CB"/>
                </a:solidFill>
                <a:latin typeface="AppleGothic"/>
                <a:ea typeface="AppleGothic"/>
                <a:cs typeface="AppleGothic"/>
              </a:defRPr>
            </a:lvl3pPr>
            <a:lvl4pPr>
              <a:defRPr sz="2175" b="1">
                <a:solidFill>
                  <a:srgbClr val="2164CB"/>
                </a:solidFill>
                <a:latin typeface="AppleGothic"/>
                <a:ea typeface="AppleGothic"/>
                <a:cs typeface="AppleGothic"/>
              </a:defRPr>
            </a:lvl4pPr>
            <a:lvl5pPr>
              <a:defRPr sz="2175" b="1">
                <a:solidFill>
                  <a:srgbClr val="2164CB"/>
                </a:solidFill>
                <a:latin typeface="AppleGothic"/>
                <a:ea typeface="AppleGothic"/>
                <a:cs typeface="AppleGothic"/>
              </a:defRPr>
            </a:lvl5pPr>
            <a:lvl6pPr>
              <a:defRPr sz="2175" b="1">
                <a:solidFill>
                  <a:srgbClr val="2164CB"/>
                </a:solidFill>
                <a:latin typeface="AppleGothic"/>
                <a:ea typeface="AppleGothic"/>
                <a:cs typeface="AppleGothic"/>
              </a:defRPr>
            </a:lvl6pPr>
            <a:lvl7pPr>
              <a:defRPr sz="2175" b="1">
                <a:solidFill>
                  <a:srgbClr val="2164CB"/>
                </a:solidFill>
                <a:latin typeface="AppleGothic"/>
                <a:ea typeface="AppleGothic"/>
                <a:cs typeface="AppleGothic"/>
              </a:defRPr>
            </a:lvl7pPr>
            <a:lvl8pPr>
              <a:defRPr sz="2175" b="1">
                <a:solidFill>
                  <a:srgbClr val="2164CB"/>
                </a:solidFill>
                <a:latin typeface="AppleGothic"/>
                <a:ea typeface="AppleGothic"/>
                <a:cs typeface="AppleGothic"/>
              </a:defRPr>
            </a:lvl8pPr>
            <a:lvl9pPr>
              <a:defRPr sz="2175" b="1">
                <a:solidFill>
                  <a:srgbClr val="2164CB"/>
                </a:solidFill>
                <a:latin typeface="AppleGothic"/>
                <a:ea typeface="AppleGothic"/>
                <a:cs typeface="AppleGothic"/>
              </a:defRPr>
            </a:lvl9pPr>
          </a:lstStyle>
          <a:p xmlns:a="http://schemas.openxmlformats.org/drawingml/2006/main">
            <a:pPr>
              <a:defRPr sz="2175" b="1">
                <a:solidFill>
                  <a:srgbClr val="2164CB"/>
                </a:solidFill>
                <a:latin typeface="AppleGothic"/>
                <a:ea typeface="AppleGothic"/>
                <a:cs typeface="AppleGothic"/>
              </a:defRPr>
            </a:pPr>
            <a:r>
              <a:rPr sz="2175" b="1">
                <a:solidFill>
                  <a:srgbClr val="2164CB"/>
                </a:solidFill>
                <a:latin typeface="AppleGothic"/>
                <a:ea typeface="AppleGothic"/>
                <a:cs typeface="AppleGothic"/>
              </a:rPr>
              <a:t>한 pixel은 하나의 3D 점이 아니라 camera center에서 뻗는 ray를 정한다</a:t>
            </a:r>
          </a:p>
        </p:txBody>
      </p:sp>
      <p:graphicFrame>
        <p:nvGraphicFramePr>
          <p:cNvPr id="3" name="">
            <a:extLst xmlns:a="http://schemas.openxmlformats.org/drawingml/2006/main">
              <a:ext uri="{FF2B5EF4-FFF2-40B4-BE49-F238E27FC236}">
                <a16:creationId xmlns:a16="http://schemas.microsoft.com/office/drawing/2014/main" id="{53F88781-C496-4596-9742-D7653ADE357C}"/>
              </a:ext>
            </a:extLst>
          </p:cNvPr>
          <p:cNvGraphicFramePr/>
          <p:nvPr/>
        </p:nvGraphicFramePr>
        <p:xfrm>
          <a:off xmlns:a="http://schemas.openxmlformats.org/drawingml/2006/main" x="533400" y="2057400"/>
          <a:ext xmlns:a="http://schemas.openxmlformats.org/drawingml/2006/main" cx="11125200" cy="2952750"/>
        </p:xfrm>
        <a:graphic xmlns:a="http://schemas.openxmlformats.org/drawingml/2006/main">
          <a:graphicData uri="http://schemas.openxmlformats.org/drawingml/2006/table">
            <a:tbl>
              <a:tblPr/>
              <a:tblGrid>
                <a:gridCol w="2781300"/>
                <a:gridCol w="2781300"/>
                <a:gridCol w="2781300"/>
                <a:gridCol w="2781300"/>
              </a:tblGrid>
              <a:tr h="590550">
                <a:tc>
                  <a:txBody>
                    <a:bodyPr/>
                    <a:lstStyle/>
                    <a:p>
                      <a:r>
                        <a:rPr sz="1800" b="1">
                          <a:solidFill>
                            <a:srgbClr val="2164CB"/>
                          </a:solidFill>
                          <a:latin typeface="AppleGothic"/>
                          <a:ea typeface="AppleGothic"/>
                          <a:cs typeface="AppleGothic"/>
                        </a:rPr>
                        <a:t>Stage</a:t>
                      </a:r>
                    </a:p>
                  </a:txBody>
                  <a:tcPr marL="114300" marR="114300" marT="95250" marB="95250">
                    <a:lnL w="9525">
                      <a:solidFill>
                        <a:srgbClr val="D7DFEA"/>
                      </a:solidFill>
                      <a:prstDash val="solid"/>
                    </a:lnL>
                    <a:lnR w="9525">
                      <a:solidFill>
                        <a:srgbClr val="D7DFEA"/>
                      </a:solidFill>
                      <a:prstDash val="solid"/>
                    </a:lnR>
                    <a:lnT w="9525">
                      <a:solidFill>
                        <a:srgbClr val="D7DFEA"/>
                      </a:solidFill>
                      <a:prstDash val="solid"/>
                    </a:lnT>
                    <a:lnB w="9525">
                      <a:solidFill>
                        <a:srgbClr val="D7DFEA"/>
                      </a:solidFill>
                      <a:prstDash val="solid"/>
                    </a:lnB>
                    <a:solidFill>
                      <a:srgbClr val="EAF1FC"/>
                    </a:solidFill>
                  </a:tcPr>
                </a:tc>
                <a:tc>
                  <a:txBody>
                    <a:bodyPr/>
                    <a:lstStyle/>
                    <a:p>
                      <a:r>
                        <a:rPr sz="1800" b="1">
                          <a:solidFill>
                            <a:srgbClr val="2164CB"/>
                          </a:solidFill>
                          <a:latin typeface="AppleGothic"/>
                          <a:ea typeface="AppleGothic"/>
                          <a:cs typeface="AppleGothic"/>
                        </a:rPr>
                        <a:t>Input</a:t>
                      </a:r>
                    </a:p>
                  </a:txBody>
                  <a:tcPr marL="114300" marR="114300" marT="95250" marB="95250">
                    <a:lnR w="9525">
                      <a:solidFill>
                        <a:srgbClr val="D7DFEA"/>
                      </a:solidFill>
                      <a:prstDash val="solid"/>
                    </a:lnR>
                    <a:lnT w="9525">
                      <a:solidFill>
                        <a:srgbClr val="D7DFEA"/>
                      </a:solidFill>
                      <a:prstDash val="solid"/>
                    </a:lnT>
                    <a:lnB w="9525">
                      <a:solidFill>
                        <a:srgbClr val="D7DFEA"/>
                      </a:solidFill>
                      <a:prstDash val="solid"/>
                    </a:lnB>
                    <a:solidFill>
                      <a:srgbClr val="EAF1FC"/>
                    </a:solidFill>
                  </a:tcPr>
                </a:tc>
                <a:tc>
                  <a:txBody>
                    <a:bodyPr/>
                    <a:lstStyle/>
                    <a:p>
                      <a:r>
                        <a:rPr sz="1800" b="1">
                          <a:solidFill>
                            <a:srgbClr val="2164CB"/>
                          </a:solidFill>
                          <a:latin typeface="AppleGothic"/>
                          <a:ea typeface="AppleGothic"/>
                          <a:cs typeface="AppleGothic"/>
                        </a:rPr>
                        <a:t>Operation</a:t>
                      </a:r>
                    </a:p>
                  </a:txBody>
                  <a:tcPr marL="114300" marR="114300" marT="95250" marB="95250">
                    <a:lnR w="9525">
                      <a:solidFill>
                        <a:srgbClr val="D7DFEA"/>
                      </a:solidFill>
                      <a:prstDash val="solid"/>
                    </a:lnR>
                    <a:lnT w="9525">
                      <a:solidFill>
                        <a:srgbClr val="D7DFEA"/>
                      </a:solidFill>
                      <a:prstDash val="solid"/>
                    </a:lnT>
                    <a:lnB w="9525">
                      <a:solidFill>
                        <a:srgbClr val="D7DFEA"/>
                      </a:solidFill>
                      <a:prstDash val="solid"/>
                    </a:lnB>
                    <a:solidFill>
                      <a:srgbClr val="EAF1FC"/>
                    </a:solidFill>
                  </a:tcPr>
                </a:tc>
                <a:tc>
                  <a:txBody>
                    <a:bodyPr/>
                    <a:lstStyle/>
                    <a:p>
                      <a:r>
                        <a:rPr sz="1800" b="1">
                          <a:solidFill>
                            <a:srgbClr val="2164CB"/>
                          </a:solidFill>
                          <a:latin typeface="AppleGothic"/>
                          <a:ea typeface="AppleGothic"/>
                          <a:cs typeface="AppleGothic"/>
                        </a:rPr>
                        <a:t>Output</a:t>
                      </a:r>
                    </a:p>
                  </a:txBody>
                  <a:tcPr marL="114300" marR="114300" marT="95250" marB="95250">
                    <a:lnR w="9525">
                      <a:solidFill>
                        <a:srgbClr val="D7DFEA"/>
                      </a:solidFill>
                      <a:prstDash val="solid"/>
                    </a:lnR>
                    <a:lnT w="9525">
                      <a:solidFill>
                        <a:srgbClr val="D7DFEA"/>
                      </a:solidFill>
                      <a:prstDash val="solid"/>
                    </a:lnT>
                    <a:lnB w="9525">
                      <a:solidFill>
                        <a:srgbClr val="D7DFEA"/>
                      </a:solidFill>
                      <a:prstDash val="solid"/>
                    </a:lnB>
                    <a:solidFill>
                      <a:srgbClr val="EAF1FC"/>
                    </a:solidFill>
                  </a:tcPr>
                </a:tc>
              </a:tr>
              <a:tr h="590550">
                <a:tc>
                  <a:txBody>
                    <a:bodyPr/>
                    <a:lstStyle/>
                    <a:p>
                      <a:r>
                        <a:rPr sz="1800">
                          <a:solidFill>
                            <a:srgbClr val="15243B"/>
                          </a:solidFill>
                          <a:latin typeface="AppleGothic"/>
                          <a:ea typeface="AppleGothic"/>
                          <a:cs typeface="AppleGothic"/>
                        </a:rPr>
                        <a:t>World</a:t>
                      </a:r>
                    </a:p>
                  </a:txBody>
                  <a:tcPr marL="114300" marR="114300" marT="95250" marB="95250">
                    <a:lnL w="9525">
                      <a:solidFill>
                        <a:srgbClr val="D7DFEA"/>
                      </a:solidFill>
                      <a:prstDash val="solid"/>
                    </a:lnL>
                    <a:lnR w="9525">
                      <a:solidFill>
                        <a:srgbClr val="D7DFEA"/>
                      </a:solidFill>
                      <a:prstDash val="solid"/>
                    </a:lnR>
                    <a:lnB w="9525">
                      <a:solidFill>
                        <a:srgbClr val="D7DFEA"/>
                      </a:solidFill>
                      <a:prstDash val="solid"/>
                    </a:lnB>
                  </a:tcPr>
                </a:tc>
                <a:tc>
                  <a:txBody>
                    <a:bodyPr/>
                    <a:lstStyle/>
                    <a:p>
                      <a:r>
                        <a:rPr sz="1800">
                          <a:solidFill>
                            <a:srgbClr val="15243B"/>
                          </a:solidFill>
                          <a:latin typeface="AppleGothic"/>
                          <a:ea typeface="AppleGothic"/>
                          <a:cs typeface="AppleGothic"/>
                        </a:rPr>
                        <a:t>X̃w</a:t>
                      </a:r>
                    </a:p>
                  </a:txBody>
                  <a:tcPr marL="114300" marR="114300" marT="95250" marB="95250">
                    <a:lnR w="9525">
                      <a:solidFill>
                        <a:srgbClr val="D7DFEA"/>
                      </a:solidFill>
                      <a:prstDash val="solid"/>
                    </a:lnR>
                    <a:lnB w="9525">
                      <a:solidFill>
                        <a:srgbClr val="D7DFEA"/>
                      </a:solidFill>
                      <a:prstDash val="solid"/>
                    </a:lnB>
                  </a:tcPr>
                </a:tc>
                <a:tc>
                  <a:txBody>
                    <a:bodyPr/>
                    <a:lstStyle/>
                    <a:p>
                      <a:r>
                        <a:rPr sz="1800">
                          <a:solidFill>
                            <a:srgbClr val="15243B"/>
                          </a:solidFill>
                          <a:latin typeface="AppleGothic"/>
                          <a:ea typeface="AppleGothic"/>
                          <a:cs typeface="AppleGothic"/>
                        </a:rPr>
                        <a:t>homogeneous point</a:t>
                      </a:r>
                    </a:p>
                  </a:txBody>
                  <a:tcPr marL="114300" marR="114300" marT="95250" marB="95250">
                    <a:lnR w="9525">
                      <a:solidFill>
                        <a:srgbClr val="D7DFEA"/>
                      </a:solidFill>
                      <a:prstDash val="solid"/>
                    </a:lnR>
                    <a:lnB w="9525">
                      <a:solidFill>
                        <a:srgbClr val="D7DFEA"/>
                      </a:solidFill>
                      <a:prstDash val="solid"/>
                    </a:lnB>
                  </a:tcPr>
                </a:tc>
                <a:tc>
                  <a:txBody>
                    <a:bodyPr/>
                    <a:lstStyle/>
                    <a:p>
                      <a:r>
                        <a:rPr sz="1800">
                          <a:solidFill>
                            <a:srgbClr val="15243B"/>
                          </a:solidFill>
                          <a:latin typeface="AppleGothic"/>
                          <a:ea typeface="AppleGothic"/>
                          <a:cs typeface="AppleGothic"/>
                        </a:rPr>
                        <a:t>3D position</a:t>
                      </a:r>
                    </a:p>
                  </a:txBody>
                  <a:tcPr marL="114300" marR="114300" marT="95250" marB="95250">
                    <a:lnR w="9525">
                      <a:solidFill>
                        <a:srgbClr val="D7DFEA"/>
                      </a:solidFill>
                      <a:prstDash val="solid"/>
                    </a:lnR>
                    <a:lnB w="9525">
                      <a:solidFill>
                        <a:srgbClr val="D7DFEA"/>
                      </a:solidFill>
                      <a:prstDash val="solid"/>
                    </a:lnB>
                  </a:tcPr>
                </a:tc>
              </a:tr>
              <a:tr h="590550">
                <a:tc>
                  <a:txBody>
                    <a:bodyPr/>
                    <a:lstStyle/>
                    <a:p>
                      <a:r>
                        <a:rPr sz="1800">
                          <a:solidFill>
                            <a:srgbClr val="15243B"/>
                          </a:solidFill>
                          <a:latin typeface="AppleGothic"/>
                          <a:ea typeface="AppleGothic"/>
                          <a:cs typeface="AppleGothic"/>
                        </a:rPr>
                        <a:t>Extrinsic</a:t>
                      </a:r>
                    </a:p>
                  </a:txBody>
                  <a:tcPr marL="114300" marR="114300" marT="95250" marB="95250">
                    <a:lnL w="9525">
                      <a:solidFill>
                        <a:srgbClr val="D7DFEA"/>
                      </a:solidFill>
                      <a:prstDash val="solid"/>
                    </a:lnL>
                    <a:lnR w="9525">
                      <a:solidFill>
                        <a:srgbClr val="D7DFEA"/>
                      </a:solidFill>
                      <a:prstDash val="solid"/>
                    </a:lnR>
                    <a:lnB w="9525">
                      <a:solidFill>
                        <a:srgbClr val="D7DFEA"/>
                      </a:solidFill>
                      <a:prstDash val="solid"/>
                    </a:lnB>
                  </a:tcPr>
                </a:tc>
                <a:tc>
                  <a:txBody>
                    <a:bodyPr/>
                    <a:lstStyle/>
                    <a:p>
                      <a:r>
                        <a:rPr sz="1800">
                          <a:solidFill>
                            <a:srgbClr val="15243B"/>
                          </a:solidFill>
                          <a:latin typeface="AppleGothic"/>
                          <a:ea typeface="AppleGothic"/>
                          <a:cs typeface="AppleGothic"/>
                        </a:rPr>
                        <a:t>R, t</a:t>
                      </a:r>
                    </a:p>
                  </a:txBody>
                  <a:tcPr marL="114300" marR="114300" marT="95250" marB="95250">
                    <a:lnR w="9525">
                      <a:solidFill>
                        <a:srgbClr val="D7DFEA"/>
                      </a:solidFill>
                      <a:prstDash val="solid"/>
                    </a:lnR>
                    <a:lnB w="9525">
                      <a:solidFill>
                        <a:srgbClr val="D7DFEA"/>
                      </a:solidFill>
                      <a:prstDash val="solid"/>
                    </a:lnB>
                  </a:tcPr>
                </a:tc>
                <a:tc>
                  <a:txBody>
                    <a:bodyPr/>
                    <a:lstStyle/>
                    <a:p>
                      <a:r>
                        <a:rPr sz="1800">
                          <a:solidFill>
                            <a:srgbClr val="15243B"/>
                          </a:solidFill>
                          <a:latin typeface="AppleGothic"/>
                          <a:ea typeface="AppleGothic"/>
                          <a:cs typeface="AppleGothic"/>
                        </a:rPr>
                        <a:t>world to camera</a:t>
                      </a:r>
                    </a:p>
                  </a:txBody>
                  <a:tcPr marL="114300" marR="114300" marT="95250" marB="95250">
                    <a:lnR w="9525">
                      <a:solidFill>
                        <a:srgbClr val="D7DFEA"/>
                      </a:solidFill>
                      <a:prstDash val="solid"/>
                    </a:lnR>
                    <a:lnB w="9525">
                      <a:solidFill>
                        <a:srgbClr val="D7DFEA"/>
                      </a:solidFill>
                      <a:prstDash val="solid"/>
                    </a:lnB>
                  </a:tcPr>
                </a:tc>
                <a:tc>
                  <a:txBody>
                    <a:bodyPr/>
                    <a:lstStyle/>
                    <a:p>
                      <a:r>
                        <a:rPr sz="1800">
                          <a:solidFill>
                            <a:srgbClr val="15243B"/>
                          </a:solidFill>
                          <a:latin typeface="AppleGothic"/>
                          <a:ea typeface="AppleGothic"/>
                          <a:cs typeface="AppleGothic"/>
                        </a:rPr>
                        <a:t>Xc</a:t>
                      </a:r>
                    </a:p>
                  </a:txBody>
                  <a:tcPr marL="114300" marR="114300" marT="95250" marB="95250">
                    <a:lnR w="9525">
                      <a:solidFill>
                        <a:srgbClr val="D7DFEA"/>
                      </a:solidFill>
                      <a:prstDash val="solid"/>
                    </a:lnR>
                    <a:lnB w="9525">
                      <a:solidFill>
                        <a:srgbClr val="D7DFEA"/>
                      </a:solidFill>
                      <a:prstDash val="solid"/>
                    </a:lnB>
                  </a:tcPr>
                </a:tc>
              </a:tr>
              <a:tr h="590550">
                <a:tc>
                  <a:txBody>
                    <a:bodyPr/>
                    <a:lstStyle/>
                    <a:p>
                      <a:r>
                        <a:rPr sz="1800">
                          <a:solidFill>
                            <a:srgbClr val="15243B"/>
                          </a:solidFill>
                          <a:latin typeface="AppleGothic"/>
                          <a:ea typeface="AppleGothic"/>
                          <a:cs typeface="AppleGothic"/>
                        </a:rPr>
                        <a:t>Intrinsic</a:t>
                      </a:r>
                    </a:p>
                  </a:txBody>
                  <a:tcPr marL="114300" marR="114300" marT="95250" marB="95250">
                    <a:lnL w="9525">
                      <a:solidFill>
                        <a:srgbClr val="D7DFEA"/>
                      </a:solidFill>
                      <a:prstDash val="solid"/>
                    </a:lnL>
                    <a:lnR w="9525">
                      <a:solidFill>
                        <a:srgbClr val="D7DFEA"/>
                      </a:solidFill>
                      <a:prstDash val="solid"/>
                    </a:lnR>
                    <a:lnB w="9525">
                      <a:solidFill>
                        <a:srgbClr val="D7DFEA"/>
                      </a:solidFill>
                      <a:prstDash val="solid"/>
                    </a:lnB>
                  </a:tcPr>
                </a:tc>
                <a:tc>
                  <a:txBody>
                    <a:bodyPr/>
                    <a:lstStyle/>
                    <a:p>
                      <a:r>
                        <a:rPr sz="1800">
                          <a:solidFill>
                            <a:srgbClr val="15243B"/>
                          </a:solidFill>
                          <a:latin typeface="AppleGothic"/>
                          <a:ea typeface="AppleGothic"/>
                          <a:cs typeface="AppleGothic"/>
                        </a:rPr>
                        <a:t>K</a:t>
                      </a:r>
                    </a:p>
                  </a:txBody>
                  <a:tcPr marL="114300" marR="114300" marT="95250" marB="95250">
                    <a:lnR w="9525">
                      <a:solidFill>
                        <a:srgbClr val="D7DFEA"/>
                      </a:solidFill>
                      <a:prstDash val="solid"/>
                    </a:lnR>
                    <a:lnB w="9525">
                      <a:solidFill>
                        <a:srgbClr val="D7DFEA"/>
                      </a:solidFill>
                      <a:prstDash val="solid"/>
                    </a:lnB>
                  </a:tcPr>
                </a:tc>
                <a:tc>
                  <a:txBody>
                    <a:bodyPr/>
                    <a:lstStyle/>
                    <a:p>
                      <a:r>
                        <a:rPr sz="1800">
                          <a:solidFill>
                            <a:srgbClr val="15243B"/>
                          </a:solidFill>
                          <a:latin typeface="AppleGothic"/>
                          <a:ea typeface="AppleGothic"/>
                          <a:cs typeface="AppleGothic"/>
                        </a:rPr>
                        <a:t>ray to pixel</a:t>
                      </a:r>
                    </a:p>
                  </a:txBody>
                  <a:tcPr marL="114300" marR="114300" marT="95250" marB="95250">
                    <a:lnR w="9525">
                      <a:solidFill>
                        <a:srgbClr val="D7DFEA"/>
                      </a:solidFill>
                      <a:prstDash val="solid"/>
                    </a:lnR>
                    <a:lnB w="9525">
                      <a:solidFill>
                        <a:srgbClr val="D7DFEA"/>
                      </a:solidFill>
                      <a:prstDash val="solid"/>
                    </a:lnB>
                  </a:tcPr>
                </a:tc>
                <a:tc>
                  <a:txBody>
                    <a:bodyPr/>
                    <a:lstStyle/>
                    <a:p>
                      <a:r>
                        <a:rPr sz="1800">
                          <a:solidFill>
                            <a:srgbClr val="15243B"/>
                          </a:solidFill>
                          <a:latin typeface="AppleGothic"/>
                          <a:ea typeface="AppleGothic"/>
                          <a:cs typeface="AppleGothic"/>
                        </a:rPr>
                        <a:t>u, v</a:t>
                      </a:r>
                    </a:p>
                  </a:txBody>
                  <a:tcPr marL="114300" marR="114300" marT="95250" marB="95250">
                    <a:lnR w="9525">
                      <a:solidFill>
                        <a:srgbClr val="D7DFEA"/>
                      </a:solidFill>
                      <a:prstDash val="solid"/>
                    </a:lnR>
                    <a:lnB w="9525">
                      <a:solidFill>
                        <a:srgbClr val="D7DFEA"/>
                      </a:solidFill>
                      <a:prstDash val="solid"/>
                    </a:lnB>
                  </a:tcPr>
                </a:tc>
              </a:tr>
              <a:tr h="590550">
                <a:tc>
                  <a:txBody>
                    <a:bodyPr/>
                    <a:lstStyle/>
                    <a:p>
                      <a:r>
                        <a:rPr sz="1800">
                          <a:solidFill>
                            <a:srgbClr val="15243B"/>
                          </a:solidFill>
                          <a:latin typeface="AppleGothic"/>
                          <a:ea typeface="AppleGothic"/>
                          <a:cs typeface="AppleGothic"/>
                        </a:rPr>
                        <a:t>Inverse</a:t>
                      </a:r>
                    </a:p>
                  </a:txBody>
                  <a:tcPr marL="114300" marR="114300" marT="95250" marB="95250">
                    <a:lnL w="9525">
                      <a:solidFill>
                        <a:srgbClr val="D7DFEA"/>
                      </a:solidFill>
                      <a:prstDash val="solid"/>
                    </a:lnL>
                    <a:lnR w="9525">
                      <a:solidFill>
                        <a:srgbClr val="D7DFEA"/>
                      </a:solidFill>
                      <a:prstDash val="solid"/>
                    </a:lnR>
                    <a:lnB w="9525">
                      <a:solidFill>
                        <a:srgbClr val="D7DFEA"/>
                      </a:solidFill>
                      <a:prstDash val="solid"/>
                    </a:lnB>
                  </a:tcPr>
                </a:tc>
                <a:tc>
                  <a:txBody>
                    <a:bodyPr/>
                    <a:lstStyle/>
                    <a:p>
                      <a:r>
                        <a:rPr sz="1800">
                          <a:solidFill>
                            <a:srgbClr val="15243B"/>
                          </a:solidFill>
                          <a:latin typeface="AppleGothic"/>
                          <a:ea typeface="AppleGothic"/>
                          <a:cs typeface="AppleGothic"/>
                        </a:rPr>
                        <a:t>u, v</a:t>
                      </a:r>
                    </a:p>
                  </a:txBody>
                  <a:tcPr marL="114300" marR="114300" marT="95250" marB="95250">
                    <a:lnR w="9525">
                      <a:solidFill>
                        <a:srgbClr val="D7DFEA"/>
                      </a:solidFill>
                      <a:prstDash val="solid"/>
                    </a:lnR>
                    <a:lnB w="9525">
                      <a:solidFill>
                        <a:srgbClr val="D7DFEA"/>
                      </a:solidFill>
                      <a:prstDash val="solid"/>
                    </a:lnB>
                  </a:tcPr>
                </a:tc>
                <a:tc>
                  <a:txBody>
                    <a:bodyPr/>
                    <a:lstStyle/>
                    <a:p>
                      <a:r>
                        <a:rPr sz="1800">
                          <a:solidFill>
                            <a:srgbClr val="15243B"/>
                          </a:solidFill>
                          <a:latin typeface="AppleGothic"/>
                          <a:ea typeface="AppleGothic"/>
                          <a:cs typeface="AppleGothic"/>
                        </a:rPr>
                        <a:t>depth required</a:t>
                      </a:r>
                    </a:p>
                  </a:txBody>
                  <a:tcPr marL="114300" marR="114300" marT="95250" marB="95250">
                    <a:lnR w="9525">
                      <a:solidFill>
                        <a:srgbClr val="D7DFEA"/>
                      </a:solidFill>
                      <a:prstDash val="solid"/>
                    </a:lnR>
                    <a:lnB w="9525">
                      <a:solidFill>
                        <a:srgbClr val="D7DFEA"/>
                      </a:solidFill>
                      <a:prstDash val="solid"/>
                    </a:lnB>
                  </a:tcPr>
                </a:tc>
                <a:tc>
                  <a:txBody>
                    <a:bodyPr/>
                    <a:lstStyle/>
                    <a:p>
                      <a:r>
                        <a:rPr sz="1800">
                          <a:solidFill>
                            <a:srgbClr val="15243B"/>
                          </a:solidFill>
                          <a:latin typeface="AppleGothic"/>
                          <a:ea typeface="AppleGothic"/>
                          <a:cs typeface="AppleGothic"/>
                        </a:rPr>
                        <a:t>3D point or ray</a:t>
                      </a:r>
                    </a:p>
                  </a:txBody>
                  <a:tcPr marL="114300" marR="114300" marT="95250" marB="95250">
                    <a:lnR w="9525">
                      <a:solidFill>
                        <a:srgbClr val="D7DFEA"/>
                      </a:solidFill>
                      <a:prstDash val="solid"/>
                    </a:lnR>
                    <a:lnB w="9525">
                      <a:solidFill>
                        <a:srgbClr val="D7DFEA"/>
                      </a:solidFill>
                      <a:prstDash val="solid"/>
                    </a:lnB>
                  </a:tcPr>
                </a:tc>
              </a:tr>
            </a:tbl>
          </a:graphicData>
        </a:graphic>
      </p:graphicFrame>
      <p:sp>
        <p:nvSpPr>
          <p:cNvPr id="4" name="">
            <a:extLst xmlns:a="http://schemas.openxmlformats.org/drawingml/2006/main">
              <a:ext uri="{FF2B5EF4-FFF2-40B4-BE49-F238E27FC236}">
                <a16:creationId xmlns:a16="http://schemas.microsoft.com/office/drawing/2014/main" id="{CBE5C840-B1BD-4759-81CD-0C9D94991A8F}"/>
              </a:ext>
            </a:extLst>
          </p:cNvPr>
          <p:cNvSpPr>
            <a:spLocks xmlns:a="http://schemas.openxmlformats.org/drawingml/2006/main" noGrp="1"/>
          </p:cNvSpPr>
          <p:nvPr/>
        </p:nvSpPr>
        <p:spPr>
          <a:xfrm xmlns:a="http://schemas.openxmlformats.org/drawingml/2006/main">
            <a:off x="533400" y="5391150"/>
            <a:ext cx="11125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15243B"/>
                </a:solidFill>
                <a:latin typeface="AppleGothic"/>
                <a:ea typeface="AppleGothic"/>
                <a:cs typeface="AppleGothic"/>
              </a:defRPr>
            </a:defPPr>
            <a:lvl1pPr>
              <a:defRPr sz="1800" b="0">
                <a:solidFill>
                  <a:srgbClr val="15243B"/>
                </a:solidFill>
                <a:latin typeface="AppleGothic"/>
                <a:ea typeface="AppleGothic"/>
                <a:cs typeface="AppleGothic"/>
              </a:defRPr>
            </a:lvl1pPr>
            <a:lvl2pPr>
              <a:defRPr sz="1800" b="0">
                <a:solidFill>
                  <a:srgbClr val="15243B"/>
                </a:solidFill>
                <a:latin typeface="AppleGothic"/>
                <a:ea typeface="AppleGothic"/>
                <a:cs typeface="AppleGothic"/>
              </a:defRPr>
            </a:lvl2pPr>
            <a:lvl3pPr>
              <a:defRPr sz="1800" b="0">
                <a:solidFill>
                  <a:srgbClr val="15243B"/>
                </a:solidFill>
                <a:latin typeface="AppleGothic"/>
                <a:ea typeface="AppleGothic"/>
                <a:cs typeface="AppleGothic"/>
              </a:defRPr>
            </a:lvl3pPr>
            <a:lvl4pPr>
              <a:defRPr sz="1800" b="0">
                <a:solidFill>
                  <a:srgbClr val="15243B"/>
                </a:solidFill>
                <a:latin typeface="AppleGothic"/>
                <a:ea typeface="AppleGothic"/>
                <a:cs typeface="AppleGothic"/>
              </a:defRPr>
            </a:lvl4pPr>
            <a:lvl5pPr>
              <a:defRPr sz="1800" b="0">
                <a:solidFill>
                  <a:srgbClr val="15243B"/>
                </a:solidFill>
                <a:latin typeface="AppleGothic"/>
                <a:ea typeface="AppleGothic"/>
                <a:cs typeface="AppleGothic"/>
              </a:defRPr>
            </a:lvl5pPr>
            <a:lvl6pPr>
              <a:defRPr sz="1800" b="0">
                <a:solidFill>
                  <a:srgbClr val="15243B"/>
                </a:solidFill>
                <a:latin typeface="AppleGothic"/>
                <a:ea typeface="AppleGothic"/>
                <a:cs typeface="AppleGothic"/>
              </a:defRPr>
            </a:lvl6pPr>
            <a:lvl7pPr>
              <a:defRPr sz="1800" b="0">
                <a:solidFill>
                  <a:srgbClr val="15243B"/>
                </a:solidFill>
                <a:latin typeface="AppleGothic"/>
                <a:ea typeface="AppleGothic"/>
                <a:cs typeface="AppleGothic"/>
              </a:defRPr>
            </a:lvl7pPr>
            <a:lvl8pPr>
              <a:defRPr sz="1800" b="0">
                <a:solidFill>
                  <a:srgbClr val="15243B"/>
                </a:solidFill>
                <a:latin typeface="AppleGothic"/>
                <a:ea typeface="AppleGothic"/>
                <a:cs typeface="AppleGothic"/>
              </a:defRPr>
            </a:lvl8pPr>
            <a:lvl9pPr>
              <a:defRPr sz="1800" b="0">
                <a:solidFill>
                  <a:srgbClr val="15243B"/>
                </a:solidFill>
                <a:latin typeface="AppleGothic"/>
                <a:ea typeface="AppleGothic"/>
                <a:cs typeface="AppleGothic"/>
              </a:defRPr>
            </a:lvl9pPr>
          </a:lstStyle>
          <a:p xmlns:a="http://schemas.openxmlformats.org/drawingml/2006/main">
            <a:pPr>
              <a:defRPr sz="1800" b="0">
                <a:solidFill>
                  <a:srgbClr val="15243B"/>
                </a:solidFill>
                <a:latin typeface="AppleGothic"/>
                <a:ea typeface="AppleGothic"/>
                <a:cs typeface="AppleGothic"/>
              </a:defRPr>
            </a:pPr>
            <a:r>
              <a:rPr sz="1800" b="0">
                <a:solidFill>
                  <a:srgbClr val="15243B"/>
                </a:solidFill>
                <a:latin typeface="AppleGothic"/>
                <a:ea typeface="AppleGothic"/>
                <a:cs typeface="AppleGothic"/>
              </a:rPr>
              <a:t>s [u,v,1]^T = K [R|t] X_w (homogeneous)</a:t>
            </a:r>
          </a:p>
          <a:p xmlns:a="http://schemas.openxmlformats.org/drawingml/2006/main">
            <a:pPr>
              <a:defRPr sz="1800" b="0">
                <a:solidFill>
                  <a:srgbClr val="15243B"/>
                </a:solidFill>
                <a:latin typeface="AppleGothic"/>
                <a:ea typeface="AppleGothic"/>
                <a:cs typeface="AppleGothic"/>
              </a:defRPr>
            </a:pPr>
            <a:r>
              <a:rPr sz="1800" b="0">
                <a:solidFill>
                  <a:srgbClr val="15243B"/>
                </a:solidFill>
                <a:latin typeface="AppleGothic"/>
                <a:ea typeface="AppleGothic"/>
                <a:cs typeface="AppleGothic"/>
              </a:rPr>
              <a:t>Extrinsic은 좌표계를, intrinsic은 ray를 pixel로 바꾼다.</a:t>
            </a:r>
          </a:p>
          <a:p xmlns:a="http://schemas.openxmlformats.org/drawingml/2006/main">
            <a:pPr>
              <a:defRPr sz="1800" b="0">
                <a:solidFill>
                  <a:srgbClr val="15243B"/>
                </a:solidFill>
                <a:latin typeface="AppleGothic"/>
                <a:ea typeface="AppleGothic"/>
                <a:cs typeface="AppleGothic"/>
              </a:defRPr>
            </a:pPr>
            <a:r>
              <a:rPr sz="1800" b="0">
                <a:solidFill>
                  <a:srgbClr val="15243B"/>
                </a:solidFill>
                <a:latin typeface="AppleGothic"/>
                <a:ea typeface="AppleGothic"/>
                <a:cs typeface="AppleGothic"/>
              </a:rPr>
              <a:t>Depth가 없으면 같은 ray 위의 여러 3D 위치가 같은 pixel에 투영된다.</a:t>
            </a:r>
          </a:p>
        </p:txBody>
      </p:sp>
      <p:sp>
        <p:nvSpPr>
          <p:cNvPr id="5" name="">
            <a:extLst xmlns:a="http://schemas.openxmlformats.org/drawingml/2006/main">
              <a:ext uri="{FF2B5EF4-FFF2-40B4-BE49-F238E27FC236}">
                <a16:creationId xmlns:a16="http://schemas.microsoft.com/office/drawing/2014/main" id="{388D704A-2FF0-43E4-B70A-E60CCDF32D32}"/>
              </a:ext>
            </a:extLst>
          </p:cNvPr>
          <p:cNvSpPr>
            <a:spLocks xmlns:a="http://schemas.openxmlformats.org/drawingml/2006/main" noGrp="1"/>
          </p:cNvSpPr>
          <p:nvPr/>
        </p:nvSpPr>
        <p:spPr>
          <a:xfrm xmlns:a="http://schemas.openxmlformats.org/drawingml/2006/main">
            <a:off x="11144250" y="6400800"/>
            <a:ext cx="5143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62748C"/>
                </a:solidFill>
                <a:latin typeface="AppleGothic"/>
                <a:ea typeface="AppleGothic"/>
                <a:cs typeface="AppleGothic"/>
              </a:defRPr>
            </a:defPPr>
            <a:lvl1pPr>
              <a:defRPr sz="1350" b="0">
                <a:solidFill>
                  <a:srgbClr val="62748C"/>
                </a:solidFill>
                <a:latin typeface="AppleGothic"/>
                <a:ea typeface="AppleGothic"/>
                <a:cs typeface="AppleGothic"/>
              </a:defRPr>
            </a:lvl1pPr>
            <a:lvl2pPr>
              <a:defRPr sz="1350" b="0">
                <a:solidFill>
                  <a:srgbClr val="62748C"/>
                </a:solidFill>
                <a:latin typeface="AppleGothic"/>
                <a:ea typeface="AppleGothic"/>
                <a:cs typeface="AppleGothic"/>
              </a:defRPr>
            </a:lvl2pPr>
            <a:lvl3pPr>
              <a:defRPr sz="1350" b="0">
                <a:solidFill>
                  <a:srgbClr val="62748C"/>
                </a:solidFill>
                <a:latin typeface="AppleGothic"/>
                <a:ea typeface="AppleGothic"/>
                <a:cs typeface="AppleGothic"/>
              </a:defRPr>
            </a:lvl3pPr>
            <a:lvl4pPr>
              <a:defRPr sz="1350" b="0">
                <a:solidFill>
                  <a:srgbClr val="62748C"/>
                </a:solidFill>
                <a:latin typeface="AppleGothic"/>
                <a:ea typeface="AppleGothic"/>
                <a:cs typeface="AppleGothic"/>
              </a:defRPr>
            </a:lvl4pPr>
            <a:lvl5pPr>
              <a:defRPr sz="1350" b="0">
                <a:solidFill>
                  <a:srgbClr val="62748C"/>
                </a:solidFill>
                <a:latin typeface="AppleGothic"/>
                <a:ea typeface="AppleGothic"/>
                <a:cs typeface="AppleGothic"/>
              </a:defRPr>
            </a:lvl5pPr>
            <a:lvl6pPr>
              <a:defRPr sz="1350" b="0">
                <a:solidFill>
                  <a:srgbClr val="62748C"/>
                </a:solidFill>
                <a:latin typeface="AppleGothic"/>
                <a:ea typeface="AppleGothic"/>
                <a:cs typeface="AppleGothic"/>
              </a:defRPr>
            </a:lvl6pPr>
            <a:lvl7pPr>
              <a:defRPr sz="1350" b="0">
                <a:solidFill>
                  <a:srgbClr val="62748C"/>
                </a:solidFill>
                <a:latin typeface="AppleGothic"/>
                <a:ea typeface="AppleGothic"/>
                <a:cs typeface="AppleGothic"/>
              </a:defRPr>
            </a:lvl7pPr>
            <a:lvl8pPr>
              <a:defRPr sz="1350" b="0">
                <a:solidFill>
                  <a:srgbClr val="62748C"/>
                </a:solidFill>
                <a:latin typeface="AppleGothic"/>
                <a:ea typeface="AppleGothic"/>
                <a:cs typeface="AppleGothic"/>
              </a:defRPr>
            </a:lvl8pPr>
            <a:lvl9pPr>
              <a:defRPr sz="1350" b="0">
                <a:solidFill>
                  <a:srgbClr val="62748C"/>
                </a:solidFill>
                <a:latin typeface="AppleGothic"/>
                <a:ea typeface="AppleGothic"/>
                <a:cs typeface="AppleGothic"/>
              </a:defRPr>
            </a:lvl9pPr>
          </a:lstStyle>
          <a:p xmlns:a="http://schemas.openxmlformats.org/drawingml/2006/main">
            <a:pPr>
              <a:defRPr sz="1350" b="0">
                <a:solidFill>
                  <a:srgbClr val="62748C"/>
                </a:solidFill>
                <a:latin typeface="AppleGothic"/>
                <a:ea typeface="AppleGothic"/>
                <a:cs typeface="AppleGothic"/>
              </a:defRPr>
            </a:pPr>
            <a:r>
              <a:rPr sz="1350" b="0">
                <a:solidFill>
                  <a:srgbClr val="62748C"/>
                </a:solidFill>
                <a:latin typeface="AppleGothic"/>
                <a:ea typeface="AppleGothic"/>
                <a:cs typeface="AppleGothic"/>
              </a:rPr>
              <a:t>05</a:t>
            </a:r>
          </a:p>
        </p:txBody>
      </p:sp>
    </p:spTree>
    <p:extLst>
      <p:ext uri="{BB962C8B-B14F-4D97-AF65-F5344CB8AC3E}">
        <p14:creationId xmlns:p14="http://schemas.microsoft.com/office/powerpoint/2010/main" val="273174742"/>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E34C3B0A-2674-4626-BC43-855CCB3624C8}"/>
              </a:ext>
            </a:extLst>
          </p:cNvPr>
          <p:cNvSpPr>
            <a:spLocks xmlns:a="http://schemas.openxmlformats.org/drawingml/2006/main" noGrp="1"/>
          </p:cNvSpPr>
          <p:nvPr/>
        </p:nvSpPr>
        <p:spPr>
          <a:xfrm xmlns:a="http://schemas.openxmlformats.org/drawingml/2006/main">
            <a:off x="533400" y="342900"/>
            <a:ext cx="111252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150" b="1">
                <a:solidFill>
                  <a:srgbClr val="15243B"/>
                </a:solidFill>
                <a:latin typeface="AppleGothic"/>
                <a:ea typeface="AppleGothic"/>
                <a:cs typeface="AppleGothic"/>
              </a:defRPr>
            </a:defPPr>
            <a:lvl1pPr>
              <a:defRPr sz="3150" b="1">
                <a:solidFill>
                  <a:srgbClr val="15243B"/>
                </a:solidFill>
                <a:latin typeface="AppleGothic"/>
                <a:ea typeface="AppleGothic"/>
                <a:cs typeface="AppleGothic"/>
              </a:defRPr>
            </a:lvl1pPr>
            <a:lvl2pPr>
              <a:defRPr sz="3150" b="1">
                <a:solidFill>
                  <a:srgbClr val="15243B"/>
                </a:solidFill>
                <a:latin typeface="AppleGothic"/>
                <a:ea typeface="AppleGothic"/>
                <a:cs typeface="AppleGothic"/>
              </a:defRPr>
            </a:lvl2pPr>
            <a:lvl3pPr>
              <a:defRPr sz="3150" b="1">
                <a:solidFill>
                  <a:srgbClr val="15243B"/>
                </a:solidFill>
                <a:latin typeface="AppleGothic"/>
                <a:ea typeface="AppleGothic"/>
                <a:cs typeface="AppleGothic"/>
              </a:defRPr>
            </a:lvl3pPr>
            <a:lvl4pPr>
              <a:defRPr sz="3150" b="1">
                <a:solidFill>
                  <a:srgbClr val="15243B"/>
                </a:solidFill>
                <a:latin typeface="AppleGothic"/>
                <a:ea typeface="AppleGothic"/>
                <a:cs typeface="AppleGothic"/>
              </a:defRPr>
            </a:lvl4pPr>
            <a:lvl5pPr>
              <a:defRPr sz="3150" b="1">
                <a:solidFill>
                  <a:srgbClr val="15243B"/>
                </a:solidFill>
                <a:latin typeface="AppleGothic"/>
                <a:ea typeface="AppleGothic"/>
                <a:cs typeface="AppleGothic"/>
              </a:defRPr>
            </a:lvl5pPr>
            <a:lvl6pPr>
              <a:defRPr sz="3150" b="1">
                <a:solidFill>
                  <a:srgbClr val="15243B"/>
                </a:solidFill>
                <a:latin typeface="AppleGothic"/>
                <a:ea typeface="AppleGothic"/>
                <a:cs typeface="AppleGothic"/>
              </a:defRPr>
            </a:lvl6pPr>
            <a:lvl7pPr>
              <a:defRPr sz="3150" b="1">
                <a:solidFill>
                  <a:srgbClr val="15243B"/>
                </a:solidFill>
                <a:latin typeface="AppleGothic"/>
                <a:ea typeface="AppleGothic"/>
                <a:cs typeface="AppleGothic"/>
              </a:defRPr>
            </a:lvl7pPr>
            <a:lvl8pPr>
              <a:defRPr sz="3150" b="1">
                <a:solidFill>
                  <a:srgbClr val="15243B"/>
                </a:solidFill>
                <a:latin typeface="AppleGothic"/>
                <a:ea typeface="AppleGothic"/>
                <a:cs typeface="AppleGothic"/>
              </a:defRPr>
            </a:lvl8pPr>
            <a:lvl9pPr>
              <a:defRPr sz="3150" b="1">
                <a:solidFill>
                  <a:srgbClr val="15243B"/>
                </a:solidFill>
                <a:latin typeface="AppleGothic"/>
                <a:ea typeface="AppleGothic"/>
                <a:cs typeface="AppleGothic"/>
              </a:defRPr>
            </a:lvl9pPr>
          </a:lstStyle>
          <a:p xmlns:a="http://schemas.openxmlformats.org/drawingml/2006/main">
            <a:pPr>
              <a:defRPr sz="3150" b="1">
                <a:solidFill>
                  <a:srgbClr val="15243B"/>
                </a:solidFill>
                <a:latin typeface="AppleGothic"/>
                <a:ea typeface="AppleGothic"/>
                <a:cs typeface="AppleGothic"/>
              </a:defRPr>
            </a:pPr>
            <a:r>
              <a:rPr sz="3150" b="1">
                <a:solidFill>
                  <a:srgbClr val="15243B"/>
                </a:solidFill>
                <a:latin typeface="AppleGothic"/>
                <a:ea typeface="AppleGothic"/>
                <a:cs typeface="AppleGothic"/>
              </a:rPr>
              <a:t>Stereo Depth</a:t>
            </a:r>
          </a:p>
        </p:txBody>
      </p:sp>
      <p:sp>
        <p:nvSpPr>
          <p:cNvPr id="2" name="">
            <a:extLst xmlns:a="http://schemas.openxmlformats.org/drawingml/2006/main">
              <a:ext uri="{FF2B5EF4-FFF2-40B4-BE49-F238E27FC236}">
                <a16:creationId xmlns:a16="http://schemas.microsoft.com/office/drawing/2014/main" id="{AEF87B01-9026-49DF-9506-E9A636451CF6}"/>
              </a:ext>
            </a:extLst>
          </p:cNvPr>
          <p:cNvSpPr>
            <a:spLocks xmlns:a="http://schemas.openxmlformats.org/drawingml/2006/main" noGrp="1"/>
          </p:cNvSpPr>
          <p:nvPr/>
        </p:nvSpPr>
        <p:spPr>
          <a:xfrm xmlns:a="http://schemas.openxmlformats.org/drawingml/2006/main">
            <a:off x="533400" y="1066800"/>
            <a:ext cx="111252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1">
                <a:solidFill>
                  <a:srgbClr val="2164CB"/>
                </a:solidFill>
                <a:latin typeface="AppleGothic"/>
                <a:ea typeface="AppleGothic"/>
                <a:cs typeface="AppleGothic"/>
              </a:defRPr>
            </a:defPPr>
            <a:lvl1pPr>
              <a:defRPr sz="2175" b="1">
                <a:solidFill>
                  <a:srgbClr val="2164CB"/>
                </a:solidFill>
                <a:latin typeface="AppleGothic"/>
                <a:ea typeface="AppleGothic"/>
                <a:cs typeface="AppleGothic"/>
              </a:defRPr>
            </a:lvl1pPr>
            <a:lvl2pPr>
              <a:defRPr sz="2175" b="1">
                <a:solidFill>
                  <a:srgbClr val="2164CB"/>
                </a:solidFill>
                <a:latin typeface="AppleGothic"/>
                <a:ea typeface="AppleGothic"/>
                <a:cs typeface="AppleGothic"/>
              </a:defRPr>
            </a:lvl2pPr>
            <a:lvl3pPr>
              <a:defRPr sz="2175" b="1">
                <a:solidFill>
                  <a:srgbClr val="2164CB"/>
                </a:solidFill>
                <a:latin typeface="AppleGothic"/>
                <a:ea typeface="AppleGothic"/>
                <a:cs typeface="AppleGothic"/>
              </a:defRPr>
            </a:lvl3pPr>
            <a:lvl4pPr>
              <a:defRPr sz="2175" b="1">
                <a:solidFill>
                  <a:srgbClr val="2164CB"/>
                </a:solidFill>
                <a:latin typeface="AppleGothic"/>
                <a:ea typeface="AppleGothic"/>
                <a:cs typeface="AppleGothic"/>
              </a:defRPr>
            </a:lvl4pPr>
            <a:lvl5pPr>
              <a:defRPr sz="2175" b="1">
                <a:solidFill>
                  <a:srgbClr val="2164CB"/>
                </a:solidFill>
                <a:latin typeface="AppleGothic"/>
                <a:ea typeface="AppleGothic"/>
                <a:cs typeface="AppleGothic"/>
              </a:defRPr>
            </a:lvl5pPr>
            <a:lvl6pPr>
              <a:defRPr sz="2175" b="1">
                <a:solidFill>
                  <a:srgbClr val="2164CB"/>
                </a:solidFill>
                <a:latin typeface="AppleGothic"/>
                <a:ea typeface="AppleGothic"/>
                <a:cs typeface="AppleGothic"/>
              </a:defRPr>
            </a:lvl6pPr>
            <a:lvl7pPr>
              <a:defRPr sz="2175" b="1">
                <a:solidFill>
                  <a:srgbClr val="2164CB"/>
                </a:solidFill>
                <a:latin typeface="AppleGothic"/>
                <a:ea typeface="AppleGothic"/>
                <a:cs typeface="AppleGothic"/>
              </a:defRPr>
            </a:lvl7pPr>
            <a:lvl8pPr>
              <a:defRPr sz="2175" b="1">
                <a:solidFill>
                  <a:srgbClr val="2164CB"/>
                </a:solidFill>
                <a:latin typeface="AppleGothic"/>
                <a:ea typeface="AppleGothic"/>
                <a:cs typeface="AppleGothic"/>
              </a:defRPr>
            </a:lvl8pPr>
            <a:lvl9pPr>
              <a:defRPr sz="2175" b="1">
                <a:solidFill>
                  <a:srgbClr val="2164CB"/>
                </a:solidFill>
                <a:latin typeface="AppleGothic"/>
                <a:ea typeface="AppleGothic"/>
                <a:cs typeface="AppleGothic"/>
              </a:defRPr>
            </a:lvl9pPr>
          </a:lstStyle>
          <a:p xmlns:a="http://schemas.openxmlformats.org/drawingml/2006/main">
            <a:pPr>
              <a:defRPr sz="2175" b="1">
                <a:solidFill>
                  <a:srgbClr val="2164CB"/>
                </a:solidFill>
                <a:latin typeface="AppleGothic"/>
                <a:ea typeface="AppleGothic"/>
                <a:cs typeface="AppleGothic"/>
              </a:defRPr>
            </a:pPr>
            <a:r>
              <a:rPr sz="2175" b="1">
                <a:solidFill>
                  <a:srgbClr val="2164CB"/>
                </a:solidFill>
                <a:latin typeface="AppleGothic"/>
                <a:ea typeface="AppleGothic"/>
                <a:cs typeface="AppleGothic"/>
              </a:rPr>
              <a:t>Stereo depth는 disparity가 작아질수록 작은 pixel 오차에 더 민감하다</a:t>
            </a:r>
          </a:p>
        </p:txBody>
      </p:sp>
      <p:graphicFrame>
        <p:nvGraphicFramePr>
          <p:cNvPr id="3" name="">
            <a:extLst xmlns:a="http://schemas.openxmlformats.org/drawingml/2006/main">
              <a:ext uri="{FF2B5EF4-FFF2-40B4-BE49-F238E27FC236}">
                <a16:creationId xmlns:a16="http://schemas.microsoft.com/office/drawing/2014/main" id="{8AC41092-133A-4F3F-9596-BD6749CC522B}"/>
              </a:ext>
            </a:extLst>
          </p:cNvPr>
          <p:cNvGraphicFramePr/>
          <p:nvPr/>
        </p:nvGraphicFramePr>
        <p:xfrm>
          <a:off xmlns:a="http://schemas.openxmlformats.org/drawingml/2006/main" x="533400" y="2057400"/>
          <a:ext xmlns:a="http://schemas.openxmlformats.org/drawingml/2006/main" cx="11125200" cy="2362200"/>
        </p:xfrm>
        <a:graphic xmlns:a="http://schemas.openxmlformats.org/drawingml/2006/main">
          <a:graphicData uri="http://schemas.openxmlformats.org/drawingml/2006/table">
            <a:tbl>
              <a:tblPr/>
              <a:tblGrid>
                <a:gridCol w="2781300"/>
                <a:gridCol w="2781300"/>
                <a:gridCol w="2781300"/>
                <a:gridCol w="2781300"/>
              </a:tblGrid>
              <a:tr h="590550">
                <a:tc>
                  <a:txBody>
                    <a:bodyPr/>
                    <a:lstStyle/>
                    <a:p>
                      <a:r>
                        <a:rPr sz="1800" b="1">
                          <a:solidFill>
                            <a:srgbClr val="2164CB"/>
                          </a:solidFill>
                          <a:latin typeface="AppleGothic"/>
                          <a:ea typeface="AppleGothic"/>
                          <a:cs typeface="AppleGothic"/>
                        </a:rPr>
                        <a:t>Disparity</a:t>
                      </a:r>
                    </a:p>
                  </a:txBody>
                  <a:tcPr marL="114300" marR="114300" marT="95250" marB="95250">
                    <a:lnL w="9525">
                      <a:solidFill>
                        <a:srgbClr val="D7DFEA"/>
                      </a:solidFill>
                      <a:prstDash val="solid"/>
                    </a:lnL>
                    <a:lnR w="9525">
                      <a:solidFill>
                        <a:srgbClr val="D7DFEA"/>
                      </a:solidFill>
                      <a:prstDash val="solid"/>
                    </a:lnR>
                    <a:lnT w="9525">
                      <a:solidFill>
                        <a:srgbClr val="D7DFEA"/>
                      </a:solidFill>
                      <a:prstDash val="solid"/>
                    </a:lnT>
                    <a:lnB w="9525">
                      <a:solidFill>
                        <a:srgbClr val="D7DFEA"/>
                      </a:solidFill>
                      <a:prstDash val="solid"/>
                    </a:lnB>
                    <a:solidFill>
                      <a:srgbClr val="EAF1FC"/>
                    </a:solidFill>
                  </a:tcPr>
                </a:tc>
                <a:tc>
                  <a:txBody>
                    <a:bodyPr/>
                    <a:lstStyle/>
                    <a:p>
                      <a:r>
                        <a:rPr sz="1800" b="1">
                          <a:solidFill>
                            <a:srgbClr val="2164CB"/>
                          </a:solidFill>
                          <a:latin typeface="AppleGothic"/>
                          <a:ea typeface="AppleGothic"/>
                          <a:cs typeface="AppleGothic"/>
                        </a:rPr>
                        <a:t>Depth</a:t>
                      </a:r>
                    </a:p>
                  </a:txBody>
                  <a:tcPr marL="114300" marR="114300" marT="95250" marB="95250">
                    <a:lnR w="9525">
                      <a:solidFill>
                        <a:srgbClr val="D7DFEA"/>
                      </a:solidFill>
                      <a:prstDash val="solid"/>
                    </a:lnR>
                    <a:lnT w="9525">
                      <a:solidFill>
                        <a:srgbClr val="D7DFEA"/>
                      </a:solidFill>
                      <a:prstDash val="solid"/>
                    </a:lnT>
                    <a:lnB w="9525">
                      <a:solidFill>
                        <a:srgbClr val="D7DFEA"/>
                      </a:solidFill>
                      <a:prstDash val="solid"/>
                    </a:lnB>
                    <a:solidFill>
                      <a:srgbClr val="EAF1FC"/>
                    </a:solidFill>
                  </a:tcPr>
                </a:tc>
                <a:tc>
                  <a:txBody>
                    <a:bodyPr/>
                    <a:lstStyle/>
                    <a:p>
                      <a:r>
                        <a:rPr sz="1800" b="1">
                          <a:solidFill>
                            <a:srgbClr val="2164CB"/>
                          </a:solidFill>
                          <a:latin typeface="AppleGothic"/>
                          <a:ea typeface="AppleGothic"/>
                          <a:cs typeface="AppleGothic"/>
                        </a:rPr>
                        <a:t>1 px error</a:t>
                      </a:r>
                    </a:p>
                  </a:txBody>
                  <a:tcPr marL="114300" marR="114300" marT="95250" marB="95250">
                    <a:lnR w="9525">
                      <a:solidFill>
                        <a:srgbClr val="D7DFEA"/>
                      </a:solidFill>
                      <a:prstDash val="solid"/>
                    </a:lnR>
                    <a:lnT w="9525">
                      <a:solidFill>
                        <a:srgbClr val="D7DFEA"/>
                      </a:solidFill>
                      <a:prstDash val="solid"/>
                    </a:lnT>
                    <a:lnB w="9525">
                      <a:solidFill>
                        <a:srgbClr val="D7DFEA"/>
                      </a:solidFill>
                      <a:prstDash val="solid"/>
                    </a:lnB>
                    <a:solidFill>
                      <a:srgbClr val="EAF1FC"/>
                    </a:solidFill>
                  </a:tcPr>
                </a:tc>
                <a:tc>
                  <a:txBody>
                    <a:bodyPr/>
                    <a:lstStyle/>
                    <a:p>
                      <a:r>
                        <a:rPr sz="1800" b="1">
                          <a:solidFill>
                            <a:srgbClr val="2164CB"/>
                          </a:solidFill>
                          <a:latin typeface="AppleGothic"/>
                          <a:ea typeface="AppleGothic"/>
                          <a:cs typeface="AppleGothic"/>
                        </a:rPr>
                        <a:t>Meaning</a:t>
                      </a:r>
                    </a:p>
                  </a:txBody>
                  <a:tcPr marL="114300" marR="114300" marT="95250" marB="95250">
                    <a:lnR w="9525">
                      <a:solidFill>
                        <a:srgbClr val="D7DFEA"/>
                      </a:solidFill>
                      <a:prstDash val="solid"/>
                    </a:lnR>
                    <a:lnT w="9525">
                      <a:solidFill>
                        <a:srgbClr val="D7DFEA"/>
                      </a:solidFill>
                      <a:prstDash val="solid"/>
                    </a:lnT>
                    <a:lnB w="9525">
                      <a:solidFill>
                        <a:srgbClr val="D7DFEA"/>
                      </a:solidFill>
                      <a:prstDash val="solid"/>
                    </a:lnB>
                    <a:solidFill>
                      <a:srgbClr val="EAF1FC"/>
                    </a:solidFill>
                  </a:tcPr>
                </a:tc>
              </a:tr>
              <a:tr h="590550">
                <a:tc>
                  <a:txBody>
                    <a:bodyPr/>
                    <a:lstStyle/>
                    <a:p>
                      <a:r>
                        <a:rPr sz="1800">
                          <a:solidFill>
                            <a:srgbClr val="15243B"/>
                          </a:solidFill>
                          <a:latin typeface="AppleGothic"/>
                          <a:ea typeface="AppleGothic"/>
                          <a:cs typeface="AppleGothic"/>
                        </a:rPr>
                        <a:t>35 px</a:t>
                      </a:r>
                    </a:p>
                  </a:txBody>
                  <a:tcPr marL="114300" marR="114300" marT="95250" marB="95250">
                    <a:lnL w="9525">
                      <a:solidFill>
                        <a:srgbClr val="D7DFEA"/>
                      </a:solidFill>
                      <a:prstDash val="solid"/>
                    </a:lnL>
                    <a:lnR w="9525">
                      <a:solidFill>
                        <a:srgbClr val="D7DFEA"/>
                      </a:solidFill>
                      <a:prstDash val="solid"/>
                    </a:lnR>
                    <a:lnB w="9525">
                      <a:solidFill>
                        <a:srgbClr val="D7DFEA"/>
                      </a:solidFill>
                      <a:prstDash val="solid"/>
                    </a:lnB>
                  </a:tcPr>
                </a:tc>
                <a:tc>
                  <a:txBody>
                    <a:bodyPr/>
                    <a:lstStyle/>
                    <a:p>
                      <a:r>
                        <a:rPr sz="1800">
                          <a:solidFill>
                            <a:srgbClr val="15243B"/>
                          </a:solidFill>
                          <a:latin typeface="AppleGothic"/>
                          <a:ea typeface="AppleGothic"/>
                          <a:cs typeface="AppleGothic"/>
                        </a:rPr>
                        <a:t>10.8 m</a:t>
                      </a:r>
                    </a:p>
                  </a:txBody>
                  <a:tcPr marL="114300" marR="114300" marT="95250" marB="95250">
                    <a:lnR w="9525">
                      <a:solidFill>
                        <a:srgbClr val="D7DFEA"/>
                      </a:solidFill>
                      <a:prstDash val="solid"/>
                    </a:lnR>
                    <a:lnB w="9525">
                      <a:solidFill>
                        <a:srgbClr val="D7DFEA"/>
                      </a:solidFill>
                      <a:prstDash val="solid"/>
                    </a:lnB>
                  </a:tcPr>
                </a:tc>
                <a:tc>
                  <a:txBody>
                    <a:bodyPr/>
                    <a:lstStyle/>
                    <a:p>
                      <a:r>
                        <a:rPr sz="1800">
                          <a:solidFill>
                            <a:srgbClr val="15243B"/>
                          </a:solidFill>
                          <a:latin typeface="AppleGothic"/>
                          <a:ea typeface="AppleGothic"/>
                          <a:cs typeface="AppleGothic"/>
                        </a:rPr>
                        <a:t>약 0.31 m</a:t>
                      </a:r>
                    </a:p>
                  </a:txBody>
                  <a:tcPr marL="114300" marR="114300" marT="95250" marB="95250">
                    <a:lnR w="9525">
                      <a:solidFill>
                        <a:srgbClr val="D7DFEA"/>
                      </a:solidFill>
                      <a:prstDash val="solid"/>
                    </a:lnR>
                    <a:lnB w="9525">
                      <a:solidFill>
                        <a:srgbClr val="D7DFEA"/>
                      </a:solidFill>
                      <a:prstDash val="solid"/>
                    </a:lnB>
                  </a:tcPr>
                </a:tc>
                <a:tc>
                  <a:txBody>
                    <a:bodyPr/>
                    <a:lstStyle/>
                    <a:p>
                      <a:r>
                        <a:rPr sz="1800">
                          <a:solidFill>
                            <a:srgbClr val="15243B"/>
                          </a:solidFill>
                          <a:latin typeface="AppleGothic"/>
                          <a:ea typeface="AppleGothic"/>
                          <a:cs typeface="AppleGothic"/>
                        </a:rPr>
                        <a:t>근거리</a:t>
                      </a:r>
                    </a:p>
                  </a:txBody>
                  <a:tcPr marL="114300" marR="114300" marT="95250" marB="95250">
                    <a:lnR w="9525">
                      <a:solidFill>
                        <a:srgbClr val="D7DFEA"/>
                      </a:solidFill>
                      <a:prstDash val="solid"/>
                    </a:lnR>
                    <a:lnB w="9525">
                      <a:solidFill>
                        <a:srgbClr val="D7DFEA"/>
                      </a:solidFill>
                      <a:prstDash val="solid"/>
                    </a:lnB>
                  </a:tcPr>
                </a:tc>
              </a:tr>
              <a:tr h="590550">
                <a:tc>
                  <a:txBody>
                    <a:bodyPr/>
                    <a:lstStyle/>
                    <a:p>
                      <a:r>
                        <a:rPr sz="1800">
                          <a:solidFill>
                            <a:srgbClr val="15243B"/>
                          </a:solidFill>
                          <a:latin typeface="AppleGothic"/>
                          <a:ea typeface="AppleGothic"/>
                          <a:cs typeface="AppleGothic"/>
                        </a:rPr>
                        <a:t>7 px</a:t>
                      </a:r>
                    </a:p>
                  </a:txBody>
                  <a:tcPr marL="114300" marR="114300" marT="95250" marB="95250">
                    <a:lnL w="9525">
                      <a:solidFill>
                        <a:srgbClr val="D7DFEA"/>
                      </a:solidFill>
                      <a:prstDash val="solid"/>
                    </a:lnL>
                    <a:lnR w="9525">
                      <a:solidFill>
                        <a:srgbClr val="D7DFEA"/>
                      </a:solidFill>
                      <a:prstDash val="solid"/>
                    </a:lnR>
                    <a:lnB w="9525">
                      <a:solidFill>
                        <a:srgbClr val="D7DFEA"/>
                      </a:solidFill>
                      <a:prstDash val="solid"/>
                    </a:lnB>
                  </a:tcPr>
                </a:tc>
                <a:tc>
                  <a:txBody>
                    <a:bodyPr/>
                    <a:lstStyle/>
                    <a:p>
                      <a:r>
                        <a:rPr sz="1800">
                          <a:solidFill>
                            <a:srgbClr val="15243B"/>
                          </a:solidFill>
                          <a:latin typeface="AppleGothic"/>
                          <a:ea typeface="AppleGothic"/>
                          <a:cs typeface="AppleGothic"/>
                        </a:rPr>
                        <a:t>54.0 m</a:t>
                      </a:r>
                    </a:p>
                  </a:txBody>
                  <a:tcPr marL="114300" marR="114300" marT="95250" marB="95250">
                    <a:lnR w="9525">
                      <a:solidFill>
                        <a:srgbClr val="D7DFEA"/>
                      </a:solidFill>
                      <a:prstDash val="solid"/>
                    </a:lnR>
                    <a:lnB w="9525">
                      <a:solidFill>
                        <a:srgbClr val="D7DFEA"/>
                      </a:solidFill>
                      <a:prstDash val="solid"/>
                    </a:lnB>
                  </a:tcPr>
                </a:tc>
                <a:tc>
                  <a:txBody>
                    <a:bodyPr/>
                    <a:lstStyle/>
                    <a:p>
                      <a:r>
                        <a:rPr sz="1800">
                          <a:solidFill>
                            <a:srgbClr val="15243B"/>
                          </a:solidFill>
                          <a:latin typeface="AppleGothic"/>
                          <a:ea typeface="AppleGothic"/>
                          <a:cs typeface="AppleGothic"/>
                        </a:rPr>
                        <a:t>약 7.71 m</a:t>
                      </a:r>
                    </a:p>
                  </a:txBody>
                  <a:tcPr marL="114300" marR="114300" marT="95250" marB="95250">
                    <a:lnR w="9525">
                      <a:solidFill>
                        <a:srgbClr val="D7DFEA"/>
                      </a:solidFill>
                      <a:prstDash val="solid"/>
                    </a:lnR>
                    <a:lnB w="9525">
                      <a:solidFill>
                        <a:srgbClr val="D7DFEA"/>
                      </a:solidFill>
                      <a:prstDash val="solid"/>
                    </a:lnB>
                  </a:tcPr>
                </a:tc>
                <a:tc>
                  <a:txBody>
                    <a:bodyPr/>
                    <a:lstStyle/>
                    <a:p>
                      <a:r>
                        <a:rPr sz="1800">
                          <a:solidFill>
                            <a:srgbClr val="15243B"/>
                          </a:solidFill>
                          <a:latin typeface="AppleGothic"/>
                          <a:ea typeface="AppleGothic"/>
                          <a:cs typeface="AppleGothic"/>
                        </a:rPr>
                        <a:t>원거리</a:t>
                      </a:r>
                    </a:p>
                  </a:txBody>
                  <a:tcPr marL="114300" marR="114300" marT="95250" marB="95250">
                    <a:lnR w="9525">
                      <a:solidFill>
                        <a:srgbClr val="D7DFEA"/>
                      </a:solidFill>
                      <a:prstDash val="solid"/>
                    </a:lnR>
                    <a:lnB w="9525">
                      <a:solidFill>
                        <a:srgbClr val="D7DFEA"/>
                      </a:solidFill>
                      <a:prstDash val="solid"/>
                    </a:lnB>
                  </a:tcPr>
                </a:tc>
              </a:tr>
              <a:tr h="590550">
                <a:tc>
                  <a:txBody>
                    <a:bodyPr/>
                    <a:lstStyle/>
                    <a:p>
                      <a:r>
                        <a:rPr sz="1800">
                          <a:solidFill>
                            <a:srgbClr val="15243B"/>
                          </a:solidFill>
                          <a:latin typeface="AppleGothic"/>
                          <a:ea typeface="AppleGothic"/>
                          <a:cs typeface="AppleGothic"/>
                        </a:rPr>
                        <a:t>0 px</a:t>
                      </a:r>
                    </a:p>
                  </a:txBody>
                  <a:tcPr marL="114300" marR="114300" marT="95250" marB="95250">
                    <a:lnL w="9525">
                      <a:solidFill>
                        <a:srgbClr val="D7DFEA"/>
                      </a:solidFill>
                      <a:prstDash val="solid"/>
                    </a:lnL>
                    <a:lnR w="9525">
                      <a:solidFill>
                        <a:srgbClr val="D7DFEA"/>
                      </a:solidFill>
                      <a:prstDash val="solid"/>
                    </a:lnR>
                    <a:lnB w="9525">
                      <a:solidFill>
                        <a:srgbClr val="D7DFEA"/>
                      </a:solidFill>
                      <a:prstDash val="solid"/>
                    </a:lnB>
                  </a:tcPr>
                </a:tc>
                <a:tc>
                  <a:txBody>
                    <a:bodyPr/>
                    <a:lstStyle/>
                    <a:p>
                      <a:r>
                        <a:rPr sz="1800">
                          <a:solidFill>
                            <a:srgbClr val="15243B"/>
                          </a:solidFill>
                          <a:latin typeface="AppleGothic"/>
                          <a:ea typeface="AppleGothic"/>
                          <a:cs typeface="AppleGothic"/>
                        </a:rPr>
                        <a:t>정의 불가</a:t>
                      </a:r>
                    </a:p>
                  </a:txBody>
                  <a:tcPr marL="114300" marR="114300" marT="95250" marB="95250">
                    <a:lnR w="9525">
                      <a:solidFill>
                        <a:srgbClr val="D7DFEA"/>
                      </a:solidFill>
                      <a:prstDash val="solid"/>
                    </a:lnR>
                    <a:lnB w="9525">
                      <a:solidFill>
                        <a:srgbClr val="D7DFEA"/>
                      </a:solidFill>
                      <a:prstDash val="solid"/>
                    </a:lnB>
                  </a:tcPr>
                </a:tc>
                <a:tc>
                  <a:txBody>
                    <a:bodyPr/>
                    <a:lstStyle/>
                    <a:p>
                      <a:r>
                        <a:rPr sz="1800">
                          <a:solidFill>
                            <a:srgbClr val="15243B"/>
                          </a:solidFill>
                          <a:latin typeface="AppleGothic"/>
                          <a:ea typeface="AppleGothic"/>
                          <a:cs typeface="AppleGothic"/>
                        </a:rPr>
                        <a:t>무한대 방향</a:t>
                      </a:r>
                    </a:p>
                  </a:txBody>
                  <a:tcPr marL="114300" marR="114300" marT="95250" marB="95250">
                    <a:lnR w="9525">
                      <a:solidFill>
                        <a:srgbClr val="D7DFEA"/>
                      </a:solidFill>
                      <a:prstDash val="solid"/>
                    </a:lnR>
                    <a:lnB w="9525">
                      <a:solidFill>
                        <a:srgbClr val="D7DFEA"/>
                      </a:solidFill>
                      <a:prstDash val="solid"/>
                    </a:lnB>
                  </a:tcPr>
                </a:tc>
                <a:tc>
                  <a:txBody>
                    <a:bodyPr/>
                    <a:lstStyle/>
                    <a:p>
                      <a:r>
                        <a:rPr sz="1800">
                          <a:solidFill>
                            <a:srgbClr val="15243B"/>
                          </a:solidFill>
                          <a:latin typeface="AppleGothic"/>
                          <a:ea typeface="AppleGothic"/>
                          <a:cs typeface="AppleGothic"/>
                        </a:rPr>
                        <a:t>대응 실패</a:t>
                      </a:r>
                    </a:p>
                  </a:txBody>
                  <a:tcPr marL="114300" marR="114300" marT="95250" marB="95250">
                    <a:lnR w="9525">
                      <a:solidFill>
                        <a:srgbClr val="D7DFEA"/>
                      </a:solidFill>
                      <a:prstDash val="solid"/>
                    </a:lnR>
                    <a:lnB w="9525">
                      <a:solidFill>
                        <a:srgbClr val="D7DFEA"/>
                      </a:solidFill>
                      <a:prstDash val="solid"/>
                    </a:lnB>
                  </a:tcPr>
                </a:tc>
              </a:tr>
            </a:tbl>
          </a:graphicData>
        </a:graphic>
      </p:graphicFrame>
      <p:sp>
        <p:nvSpPr>
          <p:cNvPr id="4" name="">
            <a:extLst xmlns:a="http://schemas.openxmlformats.org/drawingml/2006/main">
              <a:ext uri="{FF2B5EF4-FFF2-40B4-BE49-F238E27FC236}">
                <a16:creationId xmlns:a16="http://schemas.microsoft.com/office/drawing/2014/main" id="{FB12678B-53DF-48EF-BDF0-108FE1622507}"/>
              </a:ext>
            </a:extLst>
          </p:cNvPr>
          <p:cNvSpPr>
            <a:spLocks xmlns:a="http://schemas.openxmlformats.org/drawingml/2006/main" noGrp="1"/>
          </p:cNvSpPr>
          <p:nvPr/>
        </p:nvSpPr>
        <p:spPr>
          <a:xfrm xmlns:a="http://schemas.openxmlformats.org/drawingml/2006/main">
            <a:off x="533400" y="5391150"/>
            <a:ext cx="11125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15243B"/>
                </a:solidFill>
                <a:latin typeface="AppleGothic"/>
                <a:ea typeface="AppleGothic"/>
                <a:cs typeface="AppleGothic"/>
              </a:defRPr>
            </a:defPPr>
            <a:lvl1pPr>
              <a:defRPr sz="1800" b="0">
                <a:solidFill>
                  <a:srgbClr val="15243B"/>
                </a:solidFill>
                <a:latin typeface="AppleGothic"/>
                <a:ea typeface="AppleGothic"/>
                <a:cs typeface="AppleGothic"/>
              </a:defRPr>
            </a:lvl1pPr>
            <a:lvl2pPr>
              <a:defRPr sz="1800" b="0">
                <a:solidFill>
                  <a:srgbClr val="15243B"/>
                </a:solidFill>
                <a:latin typeface="AppleGothic"/>
                <a:ea typeface="AppleGothic"/>
                <a:cs typeface="AppleGothic"/>
              </a:defRPr>
            </a:lvl2pPr>
            <a:lvl3pPr>
              <a:defRPr sz="1800" b="0">
                <a:solidFill>
                  <a:srgbClr val="15243B"/>
                </a:solidFill>
                <a:latin typeface="AppleGothic"/>
                <a:ea typeface="AppleGothic"/>
                <a:cs typeface="AppleGothic"/>
              </a:defRPr>
            </a:lvl3pPr>
            <a:lvl4pPr>
              <a:defRPr sz="1800" b="0">
                <a:solidFill>
                  <a:srgbClr val="15243B"/>
                </a:solidFill>
                <a:latin typeface="AppleGothic"/>
                <a:ea typeface="AppleGothic"/>
                <a:cs typeface="AppleGothic"/>
              </a:defRPr>
            </a:lvl4pPr>
            <a:lvl5pPr>
              <a:defRPr sz="1800" b="0">
                <a:solidFill>
                  <a:srgbClr val="15243B"/>
                </a:solidFill>
                <a:latin typeface="AppleGothic"/>
                <a:ea typeface="AppleGothic"/>
                <a:cs typeface="AppleGothic"/>
              </a:defRPr>
            </a:lvl5pPr>
            <a:lvl6pPr>
              <a:defRPr sz="1800" b="0">
                <a:solidFill>
                  <a:srgbClr val="15243B"/>
                </a:solidFill>
                <a:latin typeface="AppleGothic"/>
                <a:ea typeface="AppleGothic"/>
                <a:cs typeface="AppleGothic"/>
              </a:defRPr>
            </a:lvl6pPr>
            <a:lvl7pPr>
              <a:defRPr sz="1800" b="0">
                <a:solidFill>
                  <a:srgbClr val="15243B"/>
                </a:solidFill>
                <a:latin typeface="AppleGothic"/>
                <a:ea typeface="AppleGothic"/>
                <a:cs typeface="AppleGothic"/>
              </a:defRPr>
            </a:lvl7pPr>
            <a:lvl8pPr>
              <a:defRPr sz="1800" b="0">
                <a:solidFill>
                  <a:srgbClr val="15243B"/>
                </a:solidFill>
                <a:latin typeface="AppleGothic"/>
                <a:ea typeface="AppleGothic"/>
                <a:cs typeface="AppleGothic"/>
              </a:defRPr>
            </a:lvl8pPr>
            <a:lvl9pPr>
              <a:defRPr sz="1800" b="0">
                <a:solidFill>
                  <a:srgbClr val="15243B"/>
                </a:solidFill>
                <a:latin typeface="AppleGothic"/>
                <a:ea typeface="AppleGothic"/>
                <a:cs typeface="AppleGothic"/>
              </a:defRPr>
            </a:lvl9pPr>
          </a:lstStyle>
          <a:p xmlns:a="http://schemas.openxmlformats.org/drawingml/2006/main">
            <a:pPr>
              <a:defRPr sz="1800" b="0">
                <a:solidFill>
                  <a:srgbClr val="15243B"/>
                </a:solidFill>
                <a:latin typeface="AppleGothic"/>
                <a:ea typeface="AppleGothic"/>
                <a:cs typeface="AppleGothic"/>
              </a:defRPr>
            </a:pPr>
            <a:r>
              <a:rPr sz="1800" b="0">
                <a:solidFill>
                  <a:srgbClr val="15243B"/>
                </a:solidFill>
                <a:latin typeface="AppleGothic"/>
                <a:ea typeface="AppleGothic"/>
                <a:cs typeface="AppleGothic"/>
              </a:rPr>
              <a:t>Rectification과 matched calibration 조건에서 Z = fB/d를 쓴다.</a:t>
            </a:r>
          </a:p>
          <a:p xmlns:a="http://schemas.openxmlformats.org/drawingml/2006/main">
            <a:pPr>
              <a:defRPr sz="1800" b="0">
                <a:solidFill>
                  <a:srgbClr val="15243B"/>
                </a:solidFill>
                <a:latin typeface="AppleGothic"/>
                <a:ea typeface="AppleGothic"/>
                <a:cs typeface="AppleGothic"/>
              </a:defRPr>
            </a:pPr>
            <a:r>
              <a:rPr sz="1800" b="0">
                <a:solidFill>
                  <a:srgbClr val="15243B"/>
                </a:solidFill>
                <a:latin typeface="AppleGothic"/>
                <a:ea typeface="AppleGothic"/>
                <a:cs typeface="AppleGothic"/>
              </a:rPr>
              <a:t>f=700 px, B=0.54 m이면 d=35 px에서 10.8 m, d=7 px에서 54 m다.</a:t>
            </a:r>
          </a:p>
        </p:txBody>
      </p:sp>
      <p:sp>
        <p:nvSpPr>
          <p:cNvPr id="5" name="">
            <a:extLst xmlns:a="http://schemas.openxmlformats.org/drawingml/2006/main">
              <a:ext uri="{FF2B5EF4-FFF2-40B4-BE49-F238E27FC236}">
                <a16:creationId xmlns:a16="http://schemas.microsoft.com/office/drawing/2014/main" id="{DEE18C26-9CE7-4FD6-BEA4-5FA796416531}"/>
              </a:ext>
            </a:extLst>
          </p:cNvPr>
          <p:cNvSpPr>
            <a:spLocks xmlns:a="http://schemas.openxmlformats.org/drawingml/2006/main" noGrp="1"/>
          </p:cNvSpPr>
          <p:nvPr/>
        </p:nvSpPr>
        <p:spPr>
          <a:xfrm xmlns:a="http://schemas.openxmlformats.org/drawingml/2006/main">
            <a:off x="11144250" y="6400800"/>
            <a:ext cx="5143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62748C"/>
                </a:solidFill>
                <a:latin typeface="AppleGothic"/>
                <a:ea typeface="AppleGothic"/>
                <a:cs typeface="AppleGothic"/>
              </a:defRPr>
            </a:defPPr>
            <a:lvl1pPr>
              <a:defRPr sz="1350" b="0">
                <a:solidFill>
                  <a:srgbClr val="62748C"/>
                </a:solidFill>
                <a:latin typeface="AppleGothic"/>
                <a:ea typeface="AppleGothic"/>
                <a:cs typeface="AppleGothic"/>
              </a:defRPr>
            </a:lvl1pPr>
            <a:lvl2pPr>
              <a:defRPr sz="1350" b="0">
                <a:solidFill>
                  <a:srgbClr val="62748C"/>
                </a:solidFill>
                <a:latin typeface="AppleGothic"/>
                <a:ea typeface="AppleGothic"/>
                <a:cs typeface="AppleGothic"/>
              </a:defRPr>
            </a:lvl2pPr>
            <a:lvl3pPr>
              <a:defRPr sz="1350" b="0">
                <a:solidFill>
                  <a:srgbClr val="62748C"/>
                </a:solidFill>
                <a:latin typeface="AppleGothic"/>
                <a:ea typeface="AppleGothic"/>
                <a:cs typeface="AppleGothic"/>
              </a:defRPr>
            </a:lvl3pPr>
            <a:lvl4pPr>
              <a:defRPr sz="1350" b="0">
                <a:solidFill>
                  <a:srgbClr val="62748C"/>
                </a:solidFill>
                <a:latin typeface="AppleGothic"/>
                <a:ea typeface="AppleGothic"/>
                <a:cs typeface="AppleGothic"/>
              </a:defRPr>
            </a:lvl4pPr>
            <a:lvl5pPr>
              <a:defRPr sz="1350" b="0">
                <a:solidFill>
                  <a:srgbClr val="62748C"/>
                </a:solidFill>
                <a:latin typeface="AppleGothic"/>
                <a:ea typeface="AppleGothic"/>
                <a:cs typeface="AppleGothic"/>
              </a:defRPr>
            </a:lvl5pPr>
            <a:lvl6pPr>
              <a:defRPr sz="1350" b="0">
                <a:solidFill>
                  <a:srgbClr val="62748C"/>
                </a:solidFill>
                <a:latin typeface="AppleGothic"/>
                <a:ea typeface="AppleGothic"/>
                <a:cs typeface="AppleGothic"/>
              </a:defRPr>
            </a:lvl6pPr>
            <a:lvl7pPr>
              <a:defRPr sz="1350" b="0">
                <a:solidFill>
                  <a:srgbClr val="62748C"/>
                </a:solidFill>
                <a:latin typeface="AppleGothic"/>
                <a:ea typeface="AppleGothic"/>
                <a:cs typeface="AppleGothic"/>
              </a:defRPr>
            </a:lvl7pPr>
            <a:lvl8pPr>
              <a:defRPr sz="1350" b="0">
                <a:solidFill>
                  <a:srgbClr val="62748C"/>
                </a:solidFill>
                <a:latin typeface="AppleGothic"/>
                <a:ea typeface="AppleGothic"/>
                <a:cs typeface="AppleGothic"/>
              </a:defRPr>
            </a:lvl8pPr>
            <a:lvl9pPr>
              <a:defRPr sz="1350" b="0">
                <a:solidFill>
                  <a:srgbClr val="62748C"/>
                </a:solidFill>
                <a:latin typeface="AppleGothic"/>
                <a:ea typeface="AppleGothic"/>
                <a:cs typeface="AppleGothic"/>
              </a:defRPr>
            </a:lvl9pPr>
          </a:lstStyle>
          <a:p xmlns:a="http://schemas.openxmlformats.org/drawingml/2006/main">
            <a:pPr>
              <a:defRPr sz="1350" b="0">
                <a:solidFill>
                  <a:srgbClr val="62748C"/>
                </a:solidFill>
                <a:latin typeface="AppleGothic"/>
                <a:ea typeface="AppleGothic"/>
                <a:cs typeface="AppleGothic"/>
              </a:defRPr>
            </a:pPr>
            <a:r>
              <a:rPr sz="1350" b="0">
                <a:solidFill>
                  <a:srgbClr val="62748C"/>
                </a:solidFill>
                <a:latin typeface="AppleGothic"/>
                <a:ea typeface="AppleGothic"/>
                <a:cs typeface="AppleGothic"/>
              </a:rPr>
              <a:t>06</a:t>
            </a:r>
          </a:p>
        </p:txBody>
      </p:sp>
    </p:spTree>
    <p:extLst>
      <p:ext uri="{BB962C8B-B14F-4D97-AF65-F5344CB8AC3E}">
        <p14:creationId xmlns:p14="http://schemas.microsoft.com/office/powerpoint/2010/main" val="519082804"/>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67A23343-F99E-4A2D-A038-EC918A5EBB0B}"/>
              </a:ext>
            </a:extLst>
          </p:cNvPr>
          <p:cNvSpPr>
            <a:spLocks xmlns:a="http://schemas.openxmlformats.org/drawingml/2006/main" noGrp="1"/>
          </p:cNvSpPr>
          <p:nvPr/>
        </p:nvSpPr>
        <p:spPr>
          <a:xfrm xmlns:a="http://schemas.openxmlformats.org/drawingml/2006/main">
            <a:off x="533400" y="342900"/>
            <a:ext cx="111252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150" b="1">
                <a:solidFill>
                  <a:srgbClr val="15243B"/>
                </a:solidFill>
                <a:latin typeface="AppleGothic"/>
                <a:ea typeface="AppleGothic"/>
                <a:cs typeface="AppleGothic"/>
              </a:defRPr>
            </a:defPPr>
            <a:lvl1pPr>
              <a:defRPr sz="3150" b="1">
                <a:solidFill>
                  <a:srgbClr val="15243B"/>
                </a:solidFill>
                <a:latin typeface="AppleGothic"/>
                <a:ea typeface="AppleGothic"/>
                <a:cs typeface="AppleGothic"/>
              </a:defRPr>
            </a:lvl1pPr>
            <a:lvl2pPr>
              <a:defRPr sz="3150" b="1">
                <a:solidFill>
                  <a:srgbClr val="15243B"/>
                </a:solidFill>
                <a:latin typeface="AppleGothic"/>
                <a:ea typeface="AppleGothic"/>
                <a:cs typeface="AppleGothic"/>
              </a:defRPr>
            </a:lvl2pPr>
            <a:lvl3pPr>
              <a:defRPr sz="3150" b="1">
                <a:solidFill>
                  <a:srgbClr val="15243B"/>
                </a:solidFill>
                <a:latin typeface="AppleGothic"/>
                <a:ea typeface="AppleGothic"/>
                <a:cs typeface="AppleGothic"/>
              </a:defRPr>
            </a:lvl3pPr>
            <a:lvl4pPr>
              <a:defRPr sz="3150" b="1">
                <a:solidFill>
                  <a:srgbClr val="15243B"/>
                </a:solidFill>
                <a:latin typeface="AppleGothic"/>
                <a:ea typeface="AppleGothic"/>
                <a:cs typeface="AppleGothic"/>
              </a:defRPr>
            </a:lvl4pPr>
            <a:lvl5pPr>
              <a:defRPr sz="3150" b="1">
                <a:solidFill>
                  <a:srgbClr val="15243B"/>
                </a:solidFill>
                <a:latin typeface="AppleGothic"/>
                <a:ea typeface="AppleGothic"/>
                <a:cs typeface="AppleGothic"/>
              </a:defRPr>
            </a:lvl5pPr>
            <a:lvl6pPr>
              <a:defRPr sz="3150" b="1">
                <a:solidFill>
                  <a:srgbClr val="15243B"/>
                </a:solidFill>
                <a:latin typeface="AppleGothic"/>
                <a:ea typeface="AppleGothic"/>
                <a:cs typeface="AppleGothic"/>
              </a:defRPr>
            </a:lvl6pPr>
            <a:lvl7pPr>
              <a:defRPr sz="3150" b="1">
                <a:solidFill>
                  <a:srgbClr val="15243B"/>
                </a:solidFill>
                <a:latin typeface="AppleGothic"/>
                <a:ea typeface="AppleGothic"/>
                <a:cs typeface="AppleGothic"/>
              </a:defRPr>
            </a:lvl7pPr>
            <a:lvl8pPr>
              <a:defRPr sz="3150" b="1">
                <a:solidFill>
                  <a:srgbClr val="15243B"/>
                </a:solidFill>
                <a:latin typeface="AppleGothic"/>
                <a:ea typeface="AppleGothic"/>
                <a:cs typeface="AppleGothic"/>
              </a:defRPr>
            </a:lvl8pPr>
            <a:lvl9pPr>
              <a:defRPr sz="3150" b="1">
                <a:solidFill>
                  <a:srgbClr val="15243B"/>
                </a:solidFill>
                <a:latin typeface="AppleGothic"/>
                <a:ea typeface="AppleGothic"/>
                <a:cs typeface="AppleGothic"/>
              </a:defRPr>
            </a:lvl9pPr>
          </a:lstStyle>
          <a:p xmlns:a="http://schemas.openxmlformats.org/drawingml/2006/main">
            <a:pPr>
              <a:defRPr sz="3150" b="1">
                <a:solidFill>
                  <a:srgbClr val="15243B"/>
                </a:solidFill>
                <a:latin typeface="AppleGothic"/>
                <a:ea typeface="AppleGothic"/>
                <a:cs typeface="AppleGothic"/>
              </a:defRPr>
            </a:pPr>
            <a:r>
              <a:rPr sz="3150" b="1">
                <a:solidFill>
                  <a:srgbClr val="15243B"/>
                </a:solidFill>
                <a:latin typeface="AppleGothic"/>
                <a:ea typeface="AppleGothic"/>
                <a:cs typeface="AppleGothic"/>
              </a:rPr>
              <a:t>Perception Tasks</a:t>
            </a:r>
          </a:p>
        </p:txBody>
      </p:sp>
      <p:sp>
        <p:nvSpPr>
          <p:cNvPr id="2" name="">
            <a:extLst xmlns:a="http://schemas.openxmlformats.org/drawingml/2006/main">
              <a:ext uri="{FF2B5EF4-FFF2-40B4-BE49-F238E27FC236}">
                <a16:creationId xmlns:a16="http://schemas.microsoft.com/office/drawing/2014/main" id="{A335DB26-F6E3-4E42-A190-ACE9590A80BB}"/>
              </a:ext>
            </a:extLst>
          </p:cNvPr>
          <p:cNvSpPr>
            <a:spLocks xmlns:a="http://schemas.openxmlformats.org/drawingml/2006/main" noGrp="1"/>
          </p:cNvSpPr>
          <p:nvPr/>
        </p:nvSpPr>
        <p:spPr>
          <a:xfrm xmlns:a="http://schemas.openxmlformats.org/drawingml/2006/main">
            <a:off x="533400" y="1066800"/>
            <a:ext cx="111252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1">
                <a:solidFill>
                  <a:srgbClr val="2164CB"/>
                </a:solidFill>
                <a:latin typeface="AppleGothic"/>
                <a:ea typeface="AppleGothic"/>
                <a:cs typeface="AppleGothic"/>
              </a:defRPr>
            </a:defPPr>
            <a:lvl1pPr>
              <a:defRPr sz="2175" b="1">
                <a:solidFill>
                  <a:srgbClr val="2164CB"/>
                </a:solidFill>
                <a:latin typeface="AppleGothic"/>
                <a:ea typeface="AppleGothic"/>
                <a:cs typeface="AppleGothic"/>
              </a:defRPr>
            </a:lvl1pPr>
            <a:lvl2pPr>
              <a:defRPr sz="2175" b="1">
                <a:solidFill>
                  <a:srgbClr val="2164CB"/>
                </a:solidFill>
                <a:latin typeface="AppleGothic"/>
                <a:ea typeface="AppleGothic"/>
                <a:cs typeface="AppleGothic"/>
              </a:defRPr>
            </a:lvl2pPr>
            <a:lvl3pPr>
              <a:defRPr sz="2175" b="1">
                <a:solidFill>
                  <a:srgbClr val="2164CB"/>
                </a:solidFill>
                <a:latin typeface="AppleGothic"/>
                <a:ea typeface="AppleGothic"/>
                <a:cs typeface="AppleGothic"/>
              </a:defRPr>
            </a:lvl3pPr>
            <a:lvl4pPr>
              <a:defRPr sz="2175" b="1">
                <a:solidFill>
                  <a:srgbClr val="2164CB"/>
                </a:solidFill>
                <a:latin typeface="AppleGothic"/>
                <a:ea typeface="AppleGothic"/>
                <a:cs typeface="AppleGothic"/>
              </a:defRPr>
            </a:lvl4pPr>
            <a:lvl5pPr>
              <a:defRPr sz="2175" b="1">
                <a:solidFill>
                  <a:srgbClr val="2164CB"/>
                </a:solidFill>
                <a:latin typeface="AppleGothic"/>
                <a:ea typeface="AppleGothic"/>
                <a:cs typeface="AppleGothic"/>
              </a:defRPr>
            </a:lvl5pPr>
            <a:lvl6pPr>
              <a:defRPr sz="2175" b="1">
                <a:solidFill>
                  <a:srgbClr val="2164CB"/>
                </a:solidFill>
                <a:latin typeface="AppleGothic"/>
                <a:ea typeface="AppleGothic"/>
                <a:cs typeface="AppleGothic"/>
              </a:defRPr>
            </a:lvl6pPr>
            <a:lvl7pPr>
              <a:defRPr sz="2175" b="1">
                <a:solidFill>
                  <a:srgbClr val="2164CB"/>
                </a:solidFill>
                <a:latin typeface="AppleGothic"/>
                <a:ea typeface="AppleGothic"/>
                <a:cs typeface="AppleGothic"/>
              </a:defRPr>
            </a:lvl7pPr>
            <a:lvl8pPr>
              <a:defRPr sz="2175" b="1">
                <a:solidFill>
                  <a:srgbClr val="2164CB"/>
                </a:solidFill>
                <a:latin typeface="AppleGothic"/>
                <a:ea typeface="AppleGothic"/>
                <a:cs typeface="AppleGothic"/>
              </a:defRPr>
            </a:lvl8pPr>
            <a:lvl9pPr>
              <a:defRPr sz="2175" b="1">
                <a:solidFill>
                  <a:srgbClr val="2164CB"/>
                </a:solidFill>
                <a:latin typeface="AppleGothic"/>
                <a:ea typeface="AppleGothic"/>
                <a:cs typeface="AppleGothic"/>
              </a:defRPr>
            </a:lvl9pPr>
          </a:lstStyle>
          <a:p xmlns:a="http://schemas.openxmlformats.org/drawingml/2006/main">
            <a:pPr>
              <a:defRPr sz="2175" b="1">
                <a:solidFill>
                  <a:srgbClr val="2164CB"/>
                </a:solidFill>
                <a:latin typeface="AppleGothic"/>
                <a:ea typeface="AppleGothic"/>
                <a:cs typeface="AppleGothic"/>
              </a:defRPr>
            </a:pPr>
            <a:r>
              <a:rPr sz="2175" b="1">
                <a:solidFill>
                  <a:srgbClr val="2164CB"/>
                </a:solidFill>
                <a:latin typeface="AppleGothic"/>
                <a:ea typeface="AppleGothic"/>
                <a:cs typeface="AppleGothic"/>
              </a:rPr>
              <a:t>Task가 바뀌면 출력 단위와 필요한 label도 바뀐다</a:t>
            </a:r>
          </a:p>
        </p:txBody>
      </p:sp>
      <p:graphicFrame>
        <p:nvGraphicFramePr>
          <p:cNvPr id="3" name="">
            <a:extLst xmlns:a="http://schemas.openxmlformats.org/drawingml/2006/main">
              <a:ext uri="{FF2B5EF4-FFF2-40B4-BE49-F238E27FC236}">
                <a16:creationId xmlns:a16="http://schemas.microsoft.com/office/drawing/2014/main" id="{9E4028E5-9A91-422A-8E87-2AC67FA41F01}"/>
              </a:ext>
            </a:extLst>
          </p:cNvPr>
          <p:cNvGraphicFramePr/>
          <p:nvPr/>
        </p:nvGraphicFramePr>
        <p:xfrm>
          <a:off xmlns:a="http://schemas.openxmlformats.org/drawingml/2006/main" x="533400" y="2057400"/>
          <a:ext xmlns:a="http://schemas.openxmlformats.org/drawingml/2006/main" cx="11125200" cy="3124200"/>
        </p:xfrm>
        <a:graphic xmlns:a="http://schemas.openxmlformats.org/drawingml/2006/main">
          <a:graphicData uri="http://schemas.openxmlformats.org/drawingml/2006/table">
            <a:tbl>
              <a:tblPr/>
              <a:tblGrid>
                <a:gridCol w="3708400"/>
                <a:gridCol w="3708400"/>
                <a:gridCol w="3708400"/>
              </a:tblGrid>
              <a:tr h="520700">
                <a:tc>
                  <a:txBody>
                    <a:bodyPr/>
                    <a:lstStyle/>
                    <a:p>
                      <a:r>
                        <a:rPr sz="1800" b="1">
                          <a:solidFill>
                            <a:srgbClr val="2164CB"/>
                          </a:solidFill>
                          <a:latin typeface="AppleGothic"/>
                          <a:ea typeface="AppleGothic"/>
                          <a:cs typeface="AppleGothic"/>
                        </a:rPr>
                        <a:t>Task</a:t>
                      </a:r>
                    </a:p>
                  </a:txBody>
                  <a:tcPr marL="114300" marR="114300" marT="95250" marB="95250">
                    <a:lnL w="9525">
                      <a:solidFill>
                        <a:srgbClr val="D7DFEA"/>
                      </a:solidFill>
                      <a:prstDash val="solid"/>
                    </a:lnL>
                    <a:lnR w="9525">
                      <a:solidFill>
                        <a:srgbClr val="D7DFEA"/>
                      </a:solidFill>
                      <a:prstDash val="solid"/>
                    </a:lnR>
                    <a:lnT w="9525">
                      <a:solidFill>
                        <a:srgbClr val="D7DFEA"/>
                      </a:solidFill>
                      <a:prstDash val="solid"/>
                    </a:lnT>
                    <a:lnB w="9525">
                      <a:solidFill>
                        <a:srgbClr val="D7DFEA"/>
                      </a:solidFill>
                      <a:prstDash val="solid"/>
                    </a:lnB>
                    <a:solidFill>
                      <a:srgbClr val="EAF1FC"/>
                    </a:solidFill>
                  </a:tcPr>
                </a:tc>
                <a:tc>
                  <a:txBody>
                    <a:bodyPr/>
                    <a:lstStyle/>
                    <a:p>
                      <a:r>
                        <a:rPr sz="1800" b="1">
                          <a:solidFill>
                            <a:srgbClr val="2164CB"/>
                          </a:solidFill>
                          <a:latin typeface="AppleGothic"/>
                          <a:ea typeface="AppleGothic"/>
                          <a:cs typeface="AppleGothic"/>
                        </a:rPr>
                        <a:t>Output</a:t>
                      </a:r>
                    </a:p>
                  </a:txBody>
                  <a:tcPr marL="114300" marR="114300" marT="95250" marB="95250">
                    <a:lnR w="9525">
                      <a:solidFill>
                        <a:srgbClr val="D7DFEA"/>
                      </a:solidFill>
                      <a:prstDash val="solid"/>
                    </a:lnR>
                    <a:lnT w="9525">
                      <a:solidFill>
                        <a:srgbClr val="D7DFEA"/>
                      </a:solidFill>
                      <a:prstDash val="solid"/>
                    </a:lnT>
                    <a:lnB w="9525">
                      <a:solidFill>
                        <a:srgbClr val="D7DFEA"/>
                      </a:solidFill>
                      <a:prstDash val="solid"/>
                    </a:lnB>
                    <a:solidFill>
                      <a:srgbClr val="EAF1FC"/>
                    </a:solidFill>
                  </a:tcPr>
                </a:tc>
                <a:tc>
                  <a:txBody>
                    <a:bodyPr/>
                    <a:lstStyle/>
                    <a:p>
                      <a:r>
                        <a:rPr sz="1800" b="1">
                          <a:solidFill>
                            <a:srgbClr val="2164CB"/>
                          </a:solidFill>
                          <a:latin typeface="AppleGothic"/>
                          <a:ea typeface="AppleGothic"/>
                          <a:cs typeface="AppleGothic"/>
                        </a:rPr>
                        <a:t>Question</a:t>
                      </a:r>
                    </a:p>
                  </a:txBody>
                  <a:tcPr marL="114300" marR="114300" marT="95250" marB="95250">
                    <a:lnR w="9525">
                      <a:solidFill>
                        <a:srgbClr val="D7DFEA"/>
                      </a:solidFill>
                      <a:prstDash val="solid"/>
                    </a:lnR>
                    <a:lnT w="9525">
                      <a:solidFill>
                        <a:srgbClr val="D7DFEA"/>
                      </a:solidFill>
                      <a:prstDash val="solid"/>
                    </a:lnT>
                    <a:lnB w="9525">
                      <a:solidFill>
                        <a:srgbClr val="D7DFEA"/>
                      </a:solidFill>
                      <a:prstDash val="solid"/>
                    </a:lnB>
                    <a:solidFill>
                      <a:srgbClr val="EAF1FC"/>
                    </a:solidFill>
                  </a:tcPr>
                </a:tc>
              </a:tr>
              <a:tr h="520700">
                <a:tc>
                  <a:txBody>
                    <a:bodyPr/>
                    <a:lstStyle/>
                    <a:p>
                      <a:r>
                        <a:rPr sz="1800">
                          <a:solidFill>
                            <a:srgbClr val="15243B"/>
                          </a:solidFill>
                          <a:latin typeface="AppleGothic"/>
                          <a:ea typeface="AppleGothic"/>
                          <a:cs typeface="AppleGothic"/>
                        </a:rPr>
                        <a:t>Classification</a:t>
                      </a:r>
                    </a:p>
                  </a:txBody>
                  <a:tcPr marL="114300" marR="114300" marT="95250" marB="95250">
                    <a:lnL w="9525">
                      <a:solidFill>
                        <a:srgbClr val="D7DFEA"/>
                      </a:solidFill>
                      <a:prstDash val="solid"/>
                    </a:lnL>
                    <a:lnR w="9525">
                      <a:solidFill>
                        <a:srgbClr val="D7DFEA"/>
                      </a:solidFill>
                      <a:prstDash val="solid"/>
                    </a:lnR>
                    <a:lnB w="9525">
                      <a:solidFill>
                        <a:srgbClr val="D7DFEA"/>
                      </a:solidFill>
                      <a:prstDash val="solid"/>
                    </a:lnB>
                  </a:tcPr>
                </a:tc>
                <a:tc>
                  <a:txBody>
                    <a:bodyPr/>
                    <a:lstStyle/>
                    <a:p>
                      <a:r>
                        <a:rPr sz="1800">
                          <a:solidFill>
                            <a:srgbClr val="15243B"/>
                          </a:solidFill>
                          <a:latin typeface="AppleGothic"/>
                          <a:ea typeface="AppleGothic"/>
                          <a:cs typeface="AppleGothic"/>
                        </a:rPr>
                        <a:t>class score</a:t>
                      </a:r>
                    </a:p>
                  </a:txBody>
                  <a:tcPr marL="114300" marR="114300" marT="95250" marB="95250">
                    <a:lnR w="9525">
                      <a:solidFill>
                        <a:srgbClr val="D7DFEA"/>
                      </a:solidFill>
                      <a:prstDash val="solid"/>
                    </a:lnR>
                    <a:lnB w="9525">
                      <a:solidFill>
                        <a:srgbClr val="D7DFEA"/>
                      </a:solidFill>
                      <a:prstDash val="solid"/>
                    </a:lnB>
                  </a:tcPr>
                </a:tc>
                <a:tc>
                  <a:txBody>
                    <a:bodyPr/>
                    <a:lstStyle/>
                    <a:p>
                      <a:r>
                        <a:rPr sz="1800">
                          <a:solidFill>
                            <a:srgbClr val="15243B"/>
                          </a:solidFill>
                          <a:latin typeface="AppleGothic"/>
                          <a:ea typeface="AppleGothic"/>
                          <a:cs typeface="AppleGothic"/>
                        </a:rPr>
                        <a:t>무엇인가</a:t>
                      </a:r>
                    </a:p>
                  </a:txBody>
                  <a:tcPr marL="114300" marR="114300" marT="95250" marB="95250">
                    <a:lnR w="9525">
                      <a:solidFill>
                        <a:srgbClr val="D7DFEA"/>
                      </a:solidFill>
                      <a:prstDash val="solid"/>
                    </a:lnR>
                    <a:lnB w="9525">
                      <a:solidFill>
                        <a:srgbClr val="D7DFEA"/>
                      </a:solidFill>
                      <a:prstDash val="solid"/>
                    </a:lnB>
                  </a:tcPr>
                </a:tc>
              </a:tr>
              <a:tr h="520700">
                <a:tc>
                  <a:txBody>
                    <a:bodyPr/>
                    <a:lstStyle/>
                    <a:p>
                      <a:r>
                        <a:rPr sz="1800">
                          <a:solidFill>
                            <a:srgbClr val="15243B"/>
                          </a:solidFill>
                          <a:latin typeface="AppleGothic"/>
                          <a:ea typeface="AppleGothic"/>
                          <a:cs typeface="AppleGothic"/>
                        </a:rPr>
                        <a:t>Localization</a:t>
                      </a:r>
                    </a:p>
                  </a:txBody>
                  <a:tcPr marL="114300" marR="114300" marT="95250" marB="95250">
                    <a:lnL w="9525">
                      <a:solidFill>
                        <a:srgbClr val="D7DFEA"/>
                      </a:solidFill>
                      <a:prstDash val="solid"/>
                    </a:lnL>
                    <a:lnR w="9525">
                      <a:solidFill>
                        <a:srgbClr val="D7DFEA"/>
                      </a:solidFill>
                      <a:prstDash val="solid"/>
                    </a:lnR>
                    <a:lnB w="9525">
                      <a:solidFill>
                        <a:srgbClr val="D7DFEA"/>
                      </a:solidFill>
                      <a:prstDash val="solid"/>
                    </a:lnB>
                  </a:tcPr>
                </a:tc>
                <a:tc>
                  <a:txBody>
                    <a:bodyPr/>
                    <a:lstStyle/>
                    <a:p>
                      <a:r>
                        <a:rPr sz="1800">
                          <a:solidFill>
                            <a:srgbClr val="15243B"/>
                          </a:solidFill>
                          <a:latin typeface="AppleGothic"/>
                          <a:ea typeface="AppleGothic"/>
                          <a:cs typeface="AppleGothic"/>
                        </a:rPr>
                        <a:t>class + one box</a:t>
                      </a:r>
                    </a:p>
                  </a:txBody>
                  <a:tcPr marL="114300" marR="114300" marT="95250" marB="95250">
                    <a:lnR w="9525">
                      <a:solidFill>
                        <a:srgbClr val="D7DFEA"/>
                      </a:solidFill>
                      <a:prstDash val="solid"/>
                    </a:lnR>
                    <a:lnB w="9525">
                      <a:solidFill>
                        <a:srgbClr val="D7DFEA"/>
                      </a:solidFill>
                      <a:prstDash val="solid"/>
                    </a:lnB>
                  </a:tcPr>
                </a:tc>
                <a:tc>
                  <a:txBody>
                    <a:bodyPr/>
                    <a:lstStyle/>
                    <a:p>
                      <a:r>
                        <a:rPr sz="1800">
                          <a:solidFill>
                            <a:srgbClr val="15243B"/>
                          </a:solidFill>
                          <a:latin typeface="AppleGothic"/>
                          <a:ea typeface="AppleGothic"/>
                          <a:cs typeface="AppleGothic"/>
                        </a:rPr>
                        <a:t>주 객체는 어디인가</a:t>
                      </a:r>
                    </a:p>
                  </a:txBody>
                  <a:tcPr marL="114300" marR="114300" marT="95250" marB="95250">
                    <a:lnR w="9525">
                      <a:solidFill>
                        <a:srgbClr val="D7DFEA"/>
                      </a:solidFill>
                      <a:prstDash val="solid"/>
                    </a:lnR>
                    <a:lnB w="9525">
                      <a:solidFill>
                        <a:srgbClr val="D7DFEA"/>
                      </a:solidFill>
                      <a:prstDash val="solid"/>
                    </a:lnB>
                  </a:tcPr>
                </a:tc>
              </a:tr>
              <a:tr h="520700">
                <a:tc>
                  <a:txBody>
                    <a:bodyPr/>
                    <a:lstStyle/>
                    <a:p>
                      <a:r>
                        <a:rPr sz="1800">
                          <a:solidFill>
                            <a:srgbClr val="15243B"/>
                          </a:solidFill>
                          <a:latin typeface="AppleGothic"/>
                          <a:ea typeface="AppleGothic"/>
                          <a:cs typeface="AppleGothic"/>
                        </a:rPr>
                        <a:t>Detection</a:t>
                      </a:r>
                    </a:p>
                  </a:txBody>
                  <a:tcPr marL="114300" marR="114300" marT="95250" marB="95250">
                    <a:lnL w="9525">
                      <a:solidFill>
                        <a:srgbClr val="D7DFEA"/>
                      </a:solidFill>
                      <a:prstDash val="solid"/>
                    </a:lnL>
                    <a:lnR w="9525">
                      <a:solidFill>
                        <a:srgbClr val="D7DFEA"/>
                      </a:solidFill>
                      <a:prstDash val="solid"/>
                    </a:lnR>
                    <a:lnB w="9525">
                      <a:solidFill>
                        <a:srgbClr val="D7DFEA"/>
                      </a:solidFill>
                      <a:prstDash val="solid"/>
                    </a:lnB>
                  </a:tcPr>
                </a:tc>
                <a:tc>
                  <a:txBody>
                    <a:bodyPr/>
                    <a:lstStyle/>
                    <a:p>
                      <a:r>
                        <a:rPr sz="1800">
                          <a:solidFill>
                            <a:srgbClr val="15243B"/>
                          </a:solidFill>
                          <a:latin typeface="AppleGothic"/>
                          <a:ea typeface="AppleGothic"/>
                          <a:cs typeface="AppleGothic"/>
                        </a:rPr>
                        <a:t>boxes + scores</a:t>
                      </a:r>
                    </a:p>
                  </a:txBody>
                  <a:tcPr marL="114300" marR="114300" marT="95250" marB="95250">
                    <a:lnR w="9525">
                      <a:solidFill>
                        <a:srgbClr val="D7DFEA"/>
                      </a:solidFill>
                      <a:prstDash val="solid"/>
                    </a:lnR>
                    <a:lnB w="9525">
                      <a:solidFill>
                        <a:srgbClr val="D7DFEA"/>
                      </a:solidFill>
                      <a:prstDash val="solid"/>
                    </a:lnB>
                  </a:tcPr>
                </a:tc>
                <a:tc>
                  <a:txBody>
                    <a:bodyPr/>
                    <a:lstStyle/>
                    <a:p>
                      <a:r>
                        <a:rPr sz="1800">
                          <a:solidFill>
                            <a:srgbClr val="15243B"/>
                          </a:solidFill>
                          <a:latin typeface="AppleGothic"/>
                          <a:ea typeface="AppleGothic"/>
                          <a:cs typeface="AppleGothic"/>
                        </a:rPr>
                        <a:t>각 객체는 어디인가</a:t>
                      </a:r>
                    </a:p>
                  </a:txBody>
                  <a:tcPr marL="114300" marR="114300" marT="95250" marB="95250">
                    <a:lnR w="9525">
                      <a:solidFill>
                        <a:srgbClr val="D7DFEA"/>
                      </a:solidFill>
                      <a:prstDash val="solid"/>
                    </a:lnR>
                    <a:lnB w="9525">
                      <a:solidFill>
                        <a:srgbClr val="D7DFEA"/>
                      </a:solidFill>
                      <a:prstDash val="solid"/>
                    </a:lnB>
                  </a:tcPr>
                </a:tc>
              </a:tr>
              <a:tr h="520700">
                <a:tc>
                  <a:txBody>
                    <a:bodyPr/>
                    <a:lstStyle/>
                    <a:p>
                      <a:r>
                        <a:rPr sz="1800">
                          <a:solidFill>
                            <a:srgbClr val="15243B"/>
                          </a:solidFill>
                          <a:latin typeface="AppleGothic"/>
                          <a:ea typeface="AppleGothic"/>
                          <a:cs typeface="AppleGothic"/>
                        </a:rPr>
                        <a:t>Semantic seg.</a:t>
                      </a:r>
                    </a:p>
                  </a:txBody>
                  <a:tcPr marL="114300" marR="114300" marT="95250" marB="95250">
                    <a:lnL w="9525">
                      <a:solidFill>
                        <a:srgbClr val="D7DFEA"/>
                      </a:solidFill>
                      <a:prstDash val="solid"/>
                    </a:lnL>
                    <a:lnR w="9525">
                      <a:solidFill>
                        <a:srgbClr val="D7DFEA"/>
                      </a:solidFill>
                      <a:prstDash val="solid"/>
                    </a:lnR>
                    <a:lnB w="9525">
                      <a:solidFill>
                        <a:srgbClr val="D7DFEA"/>
                      </a:solidFill>
                      <a:prstDash val="solid"/>
                    </a:lnB>
                  </a:tcPr>
                </a:tc>
                <a:tc>
                  <a:txBody>
                    <a:bodyPr/>
                    <a:lstStyle/>
                    <a:p>
                      <a:r>
                        <a:rPr sz="1800">
                          <a:solidFill>
                            <a:srgbClr val="15243B"/>
                          </a:solidFill>
                          <a:latin typeface="AppleGothic"/>
                          <a:ea typeface="AppleGothic"/>
                          <a:cs typeface="AppleGothic"/>
                        </a:rPr>
                        <a:t>pixel classes</a:t>
                      </a:r>
                    </a:p>
                  </a:txBody>
                  <a:tcPr marL="114300" marR="114300" marT="95250" marB="95250">
                    <a:lnR w="9525">
                      <a:solidFill>
                        <a:srgbClr val="D7DFEA"/>
                      </a:solidFill>
                      <a:prstDash val="solid"/>
                    </a:lnR>
                    <a:lnB w="9525">
                      <a:solidFill>
                        <a:srgbClr val="D7DFEA"/>
                      </a:solidFill>
                      <a:prstDash val="solid"/>
                    </a:lnB>
                  </a:tcPr>
                </a:tc>
                <a:tc>
                  <a:txBody>
                    <a:bodyPr/>
                    <a:lstStyle/>
                    <a:p>
                      <a:r>
                        <a:rPr sz="1800">
                          <a:solidFill>
                            <a:srgbClr val="15243B"/>
                          </a:solidFill>
                          <a:latin typeface="AppleGothic"/>
                          <a:ea typeface="AppleGothic"/>
                          <a:cs typeface="AppleGothic"/>
                        </a:rPr>
                        <a:t>각 pixel의 종류는</a:t>
                      </a:r>
                    </a:p>
                  </a:txBody>
                  <a:tcPr marL="114300" marR="114300" marT="95250" marB="95250">
                    <a:lnR w="9525">
                      <a:solidFill>
                        <a:srgbClr val="D7DFEA"/>
                      </a:solidFill>
                      <a:prstDash val="solid"/>
                    </a:lnR>
                    <a:lnB w="9525">
                      <a:solidFill>
                        <a:srgbClr val="D7DFEA"/>
                      </a:solidFill>
                      <a:prstDash val="solid"/>
                    </a:lnB>
                  </a:tcPr>
                </a:tc>
              </a:tr>
              <a:tr h="520700">
                <a:tc>
                  <a:txBody>
                    <a:bodyPr/>
                    <a:lstStyle/>
                    <a:p>
                      <a:r>
                        <a:rPr sz="1800">
                          <a:solidFill>
                            <a:srgbClr val="15243B"/>
                          </a:solidFill>
                          <a:latin typeface="AppleGothic"/>
                          <a:ea typeface="AppleGothic"/>
                          <a:cs typeface="AppleGothic"/>
                        </a:rPr>
                        <a:t>Instance seg.</a:t>
                      </a:r>
                    </a:p>
                  </a:txBody>
                  <a:tcPr marL="114300" marR="114300" marT="95250" marB="95250">
                    <a:lnL w="9525">
                      <a:solidFill>
                        <a:srgbClr val="D7DFEA"/>
                      </a:solidFill>
                      <a:prstDash val="solid"/>
                    </a:lnL>
                    <a:lnR w="9525">
                      <a:solidFill>
                        <a:srgbClr val="D7DFEA"/>
                      </a:solidFill>
                      <a:prstDash val="solid"/>
                    </a:lnR>
                    <a:lnB w="9525">
                      <a:solidFill>
                        <a:srgbClr val="D7DFEA"/>
                      </a:solidFill>
                      <a:prstDash val="solid"/>
                    </a:lnB>
                  </a:tcPr>
                </a:tc>
                <a:tc>
                  <a:txBody>
                    <a:bodyPr/>
                    <a:lstStyle/>
                    <a:p>
                      <a:r>
                        <a:rPr sz="1800">
                          <a:solidFill>
                            <a:srgbClr val="15243B"/>
                          </a:solidFill>
                          <a:latin typeface="AppleGothic"/>
                          <a:ea typeface="AppleGothic"/>
                          <a:cs typeface="AppleGothic"/>
                        </a:rPr>
                        <a:t>object masks</a:t>
                      </a:r>
                    </a:p>
                  </a:txBody>
                  <a:tcPr marL="114300" marR="114300" marT="95250" marB="95250">
                    <a:lnR w="9525">
                      <a:solidFill>
                        <a:srgbClr val="D7DFEA"/>
                      </a:solidFill>
                      <a:prstDash val="solid"/>
                    </a:lnR>
                    <a:lnB w="9525">
                      <a:solidFill>
                        <a:srgbClr val="D7DFEA"/>
                      </a:solidFill>
                      <a:prstDash val="solid"/>
                    </a:lnB>
                  </a:tcPr>
                </a:tc>
                <a:tc>
                  <a:txBody>
                    <a:bodyPr/>
                    <a:lstStyle/>
                    <a:p>
                      <a:r>
                        <a:rPr sz="1800">
                          <a:solidFill>
                            <a:srgbClr val="15243B"/>
                          </a:solidFill>
                          <a:latin typeface="AppleGothic"/>
                          <a:ea typeface="AppleGothic"/>
                          <a:cs typeface="AppleGothic"/>
                        </a:rPr>
                        <a:t>같은 class의 개체는</a:t>
                      </a:r>
                    </a:p>
                  </a:txBody>
                  <a:tcPr marL="114300" marR="114300" marT="95250" marB="95250">
                    <a:lnR w="9525">
                      <a:solidFill>
                        <a:srgbClr val="D7DFEA"/>
                      </a:solidFill>
                      <a:prstDash val="solid"/>
                    </a:lnR>
                    <a:lnB w="9525">
                      <a:solidFill>
                        <a:srgbClr val="D7DFEA"/>
                      </a:solidFill>
                      <a:prstDash val="solid"/>
                    </a:lnB>
                  </a:tcPr>
                </a:tc>
              </a:tr>
            </a:tbl>
          </a:graphicData>
        </a:graphic>
      </p:graphicFrame>
      <p:sp>
        <p:nvSpPr>
          <p:cNvPr id="4" name="">
            <a:extLst xmlns:a="http://schemas.openxmlformats.org/drawingml/2006/main">
              <a:ext uri="{FF2B5EF4-FFF2-40B4-BE49-F238E27FC236}">
                <a16:creationId xmlns:a16="http://schemas.microsoft.com/office/drawing/2014/main" id="{A30B858A-5980-4D54-A418-1DA12A64107D}"/>
              </a:ext>
            </a:extLst>
          </p:cNvPr>
          <p:cNvSpPr>
            <a:spLocks xmlns:a="http://schemas.openxmlformats.org/drawingml/2006/main" noGrp="1"/>
          </p:cNvSpPr>
          <p:nvPr/>
        </p:nvSpPr>
        <p:spPr>
          <a:xfrm xmlns:a="http://schemas.openxmlformats.org/drawingml/2006/main">
            <a:off x="533400" y="5391150"/>
            <a:ext cx="11125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15243B"/>
                </a:solidFill>
                <a:latin typeface="AppleGothic"/>
                <a:ea typeface="AppleGothic"/>
                <a:cs typeface="AppleGothic"/>
              </a:defRPr>
            </a:defPPr>
            <a:lvl1pPr>
              <a:defRPr sz="1800" b="0">
                <a:solidFill>
                  <a:srgbClr val="15243B"/>
                </a:solidFill>
                <a:latin typeface="AppleGothic"/>
                <a:ea typeface="AppleGothic"/>
                <a:cs typeface="AppleGothic"/>
              </a:defRPr>
            </a:lvl1pPr>
            <a:lvl2pPr>
              <a:defRPr sz="1800" b="0">
                <a:solidFill>
                  <a:srgbClr val="15243B"/>
                </a:solidFill>
                <a:latin typeface="AppleGothic"/>
                <a:ea typeface="AppleGothic"/>
                <a:cs typeface="AppleGothic"/>
              </a:defRPr>
            </a:lvl2pPr>
            <a:lvl3pPr>
              <a:defRPr sz="1800" b="0">
                <a:solidFill>
                  <a:srgbClr val="15243B"/>
                </a:solidFill>
                <a:latin typeface="AppleGothic"/>
                <a:ea typeface="AppleGothic"/>
                <a:cs typeface="AppleGothic"/>
              </a:defRPr>
            </a:lvl3pPr>
            <a:lvl4pPr>
              <a:defRPr sz="1800" b="0">
                <a:solidFill>
                  <a:srgbClr val="15243B"/>
                </a:solidFill>
                <a:latin typeface="AppleGothic"/>
                <a:ea typeface="AppleGothic"/>
                <a:cs typeface="AppleGothic"/>
              </a:defRPr>
            </a:lvl4pPr>
            <a:lvl5pPr>
              <a:defRPr sz="1800" b="0">
                <a:solidFill>
                  <a:srgbClr val="15243B"/>
                </a:solidFill>
                <a:latin typeface="AppleGothic"/>
                <a:ea typeface="AppleGothic"/>
                <a:cs typeface="AppleGothic"/>
              </a:defRPr>
            </a:lvl5pPr>
            <a:lvl6pPr>
              <a:defRPr sz="1800" b="0">
                <a:solidFill>
                  <a:srgbClr val="15243B"/>
                </a:solidFill>
                <a:latin typeface="AppleGothic"/>
                <a:ea typeface="AppleGothic"/>
                <a:cs typeface="AppleGothic"/>
              </a:defRPr>
            </a:lvl6pPr>
            <a:lvl7pPr>
              <a:defRPr sz="1800" b="0">
                <a:solidFill>
                  <a:srgbClr val="15243B"/>
                </a:solidFill>
                <a:latin typeface="AppleGothic"/>
                <a:ea typeface="AppleGothic"/>
                <a:cs typeface="AppleGothic"/>
              </a:defRPr>
            </a:lvl7pPr>
            <a:lvl8pPr>
              <a:defRPr sz="1800" b="0">
                <a:solidFill>
                  <a:srgbClr val="15243B"/>
                </a:solidFill>
                <a:latin typeface="AppleGothic"/>
                <a:ea typeface="AppleGothic"/>
                <a:cs typeface="AppleGothic"/>
              </a:defRPr>
            </a:lvl8pPr>
            <a:lvl9pPr>
              <a:defRPr sz="1800" b="0">
                <a:solidFill>
                  <a:srgbClr val="15243B"/>
                </a:solidFill>
                <a:latin typeface="AppleGothic"/>
                <a:ea typeface="AppleGothic"/>
                <a:cs typeface="AppleGothic"/>
              </a:defRPr>
            </a:lvl9pPr>
          </a:lstStyle>
          <a:p xmlns:a="http://schemas.openxmlformats.org/drawingml/2006/main">
            <a:pPr>
              <a:defRPr sz="1800" b="0">
                <a:solidFill>
                  <a:srgbClr val="15243B"/>
                </a:solidFill>
                <a:latin typeface="AppleGothic"/>
                <a:ea typeface="AppleGothic"/>
                <a:cs typeface="AppleGothic"/>
              </a:defRPr>
            </a:pPr>
            <a:r>
              <a:rPr sz="1800" b="0">
                <a:solidFill>
                  <a:srgbClr val="15243B"/>
                </a:solidFill>
                <a:latin typeface="AppleGothic"/>
                <a:ea typeface="AppleGothic"/>
                <a:cs typeface="AppleGothic"/>
              </a:rPr>
              <a:t>Classification은 image 하나에 class를 낸다.</a:t>
            </a:r>
          </a:p>
          <a:p xmlns:a="http://schemas.openxmlformats.org/drawingml/2006/main">
            <a:pPr>
              <a:defRPr sz="1800" b="0">
                <a:solidFill>
                  <a:srgbClr val="15243B"/>
                </a:solidFill>
                <a:latin typeface="AppleGothic"/>
                <a:ea typeface="AppleGothic"/>
                <a:cs typeface="AppleGothic"/>
              </a:defRPr>
            </a:pPr>
            <a:r>
              <a:rPr sz="1800" b="0">
                <a:solidFill>
                  <a:srgbClr val="15243B"/>
                </a:solidFill>
                <a:latin typeface="AppleGothic"/>
                <a:ea typeface="AppleGothic"/>
                <a:cs typeface="AppleGothic"/>
              </a:rPr>
              <a:t>Detection과 segmentation은 위치, 개체, pixel 수준 출력을 요구한다.</a:t>
            </a:r>
          </a:p>
        </p:txBody>
      </p:sp>
      <p:sp>
        <p:nvSpPr>
          <p:cNvPr id="5" name="">
            <a:extLst xmlns:a="http://schemas.openxmlformats.org/drawingml/2006/main">
              <a:ext uri="{FF2B5EF4-FFF2-40B4-BE49-F238E27FC236}">
                <a16:creationId xmlns:a16="http://schemas.microsoft.com/office/drawing/2014/main" id="{F6EA8421-1352-4E0B-A66A-8D7021E4F7A3}"/>
              </a:ext>
            </a:extLst>
          </p:cNvPr>
          <p:cNvSpPr>
            <a:spLocks xmlns:a="http://schemas.openxmlformats.org/drawingml/2006/main" noGrp="1"/>
          </p:cNvSpPr>
          <p:nvPr/>
        </p:nvSpPr>
        <p:spPr>
          <a:xfrm xmlns:a="http://schemas.openxmlformats.org/drawingml/2006/main">
            <a:off x="11144250" y="6400800"/>
            <a:ext cx="5143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62748C"/>
                </a:solidFill>
                <a:latin typeface="AppleGothic"/>
                <a:ea typeface="AppleGothic"/>
                <a:cs typeface="AppleGothic"/>
              </a:defRPr>
            </a:defPPr>
            <a:lvl1pPr>
              <a:defRPr sz="1350" b="0">
                <a:solidFill>
                  <a:srgbClr val="62748C"/>
                </a:solidFill>
                <a:latin typeface="AppleGothic"/>
                <a:ea typeface="AppleGothic"/>
                <a:cs typeface="AppleGothic"/>
              </a:defRPr>
            </a:lvl1pPr>
            <a:lvl2pPr>
              <a:defRPr sz="1350" b="0">
                <a:solidFill>
                  <a:srgbClr val="62748C"/>
                </a:solidFill>
                <a:latin typeface="AppleGothic"/>
                <a:ea typeface="AppleGothic"/>
                <a:cs typeface="AppleGothic"/>
              </a:defRPr>
            </a:lvl2pPr>
            <a:lvl3pPr>
              <a:defRPr sz="1350" b="0">
                <a:solidFill>
                  <a:srgbClr val="62748C"/>
                </a:solidFill>
                <a:latin typeface="AppleGothic"/>
                <a:ea typeface="AppleGothic"/>
                <a:cs typeface="AppleGothic"/>
              </a:defRPr>
            </a:lvl3pPr>
            <a:lvl4pPr>
              <a:defRPr sz="1350" b="0">
                <a:solidFill>
                  <a:srgbClr val="62748C"/>
                </a:solidFill>
                <a:latin typeface="AppleGothic"/>
                <a:ea typeface="AppleGothic"/>
                <a:cs typeface="AppleGothic"/>
              </a:defRPr>
            </a:lvl4pPr>
            <a:lvl5pPr>
              <a:defRPr sz="1350" b="0">
                <a:solidFill>
                  <a:srgbClr val="62748C"/>
                </a:solidFill>
                <a:latin typeface="AppleGothic"/>
                <a:ea typeface="AppleGothic"/>
                <a:cs typeface="AppleGothic"/>
              </a:defRPr>
            </a:lvl5pPr>
            <a:lvl6pPr>
              <a:defRPr sz="1350" b="0">
                <a:solidFill>
                  <a:srgbClr val="62748C"/>
                </a:solidFill>
                <a:latin typeface="AppleGothic"/>
                <a:ea typeface="AppleGothic"/>
                <a:cs typeface="AppleGothic"/>
              </a:defRPr>
            </a:lvl6pPr>
            <a:lvl7pPr>
              <a:defRPr sz="1350" b="0">
                <a:solidFill>
                  <a:srgbClr val="62748C"/>
                </a:solidFill>
                <a:latin typeface="AppleGothic"/>
                <a:ea typeface="AppleGothic"/>
                <a:cs typeface="AppleGothic"/>
              </a:defRPr>
            </a:lvl7pPr>
            <a:lvl8pPr>
              <a:defRPr sz="1350" b="0">
                <a:solidFill>
                  <a:srgbClr val="62748C"/>
                </a:solidFill>
                <a:latin typeface="AppleGothic"/>
                <a:ea typeface="AppleGothic"/>
                <a:cs typeface="AppleGothic"/>
              </a:defRPr>
            </a:lvl8pPr>
            <a:lvl9pPr>
              <a:defRPr sz="1350" b="0">
                <a:solidFill>
                  <a:srgbClr val="62748C"/>
                </a:solidFill>
                <a:latin typeface="AppleGothic"/>
                <a:ea typeface="AppleGothic"/>
                <a:cs typeface="AppleGothic"/>
              </a:defRPr>
            </a:lvl9pPr>
          </a:lstStyle>
          <a:p xmlns:a="http://schemas.openxmlformats.org/drawingml/2006/main">
            <a:pPr>
              <a:defRPr sz="1350" b="0">
                <a:solidFill>
                  <a:srgbClr val="62748C"/>
                </a:solidFill>
                <a:latin typeface="AppleGothic"/>
                <a:ea typeface="AppleGothic"/>
                <a:cs typeface="AppleGothic"/>
              </a:defRPr>
            </a:pPr>
            <a:r>
              <a:rPr sz="1350" b="0">
                <a:solidFill>
                  <a:srgbClr val="62748C"/>
                </a:solidFill>
                <a:latin typeface="AppleGothic"/>
                <a:ea typeface="AppleGothic"/>
                <a:cs typeface="AppleGothic"/>
              </a:rPr>
              <a:t>07</a:t>
            </a:r>
          </a:p>
        </p:txBody>
      </p:sp>
    </p:spTree>
    <p:extLst>
      <p:ext uri="{BB962C8B-B14F-4D97-AF65-F5344CB8AC3E}">
        <p14:creationId xmlns:p14="http://schemas.microsoft.com/office/powerpoint/2010/main" val="1082137755"/>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3451518-F491-4F6C-86EF-355E41FBE1A0}"/>
              </a:ext>
            </a:extLst>
          </p:cNvPr>
          <p:cNvSpPr>
            <a:spLocks xmlns:a="http://schemas.openxmlformats.org/drawingml/2006/main" noGrp="1"/>
          </p:cNvSpPr>
          <p:nvPr/>
        </p:nvSpPr>
        <p:spPr>
          <a:xfrm xmlns:a="http://schemas.openxmlformats.org/drawingml/2006/main">
            <a:off x="533400" y="342900"/>
            <a:ext cx="111252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150" b="1">
                <a:solidFill>
                  <a:srgbClr val="15243B"/>
                </a:solidFill>
                <a:latin typeface="AppleGothic"/>
                <a:ea typeface="AppleGothic"/>
                <a:cs typeface="AppleGothic"/>
              </a:defRPr>
            </a:defPPr>
            <a:lvl1pPr>
              <a:defRPr sz="3150" b="1">
                <a:solidFill>
                  <a:srgbClr val="15243B"/>
                </a:solidFill>
                <a:latin typeface="AppleGothic"/>
                <a:ea typeface="AppleGothic"/>
                <a:cs typeface="AppleGothic"/>
              </a:defRPr>
            </a:lvl1pPr>
            <a:lvl2pPr>
              <a:defRPr sz="3150" b="1">
                <a:solidFill>
                  <a:srgbClr val="15243B"/>
                </a:solidFill>
                <a:latin typeface="AppleGothic"/>
                <a:ea typeface="AppleGothic"/>
                <a:cs typeface="AppleGothic"/>
              </a:defRPr>
            </a:lvl2pPr>
            <a:lvl3pPr>
              <a:defRPr sz="3150" b="1">
                <a:solidFill>
                  <a:srgbClr val="15243B"/>
                </a:solidFill>
                <a:latin typeface="AppleGothic"/>
                <a:ea typeface="AppleGothic"/>
                <a:cs typeface="AppleGothic"/>
              </a:defRPr>
            </a:lvl3pPr>
            <a:lvl4pPr>
              <a:defRPr sz="3150" b="1">
                <a:solidFill>
                  <a:srgbClr val="15243B"/>
                </a:solidFill>
                <a:latin typeface="AppleGothic"/>
                <a:ea typeface="AppleGothic"/>
                <a:cs typeface="AppleGothic"/>
              </a:defRPr>
            </a:lvl4pPr>
            <a:lvl5pPr>
              <a:defRPr sz="3150" b="1">
                <a:solidFill>
                  <a:srgbClr val="15243B"/>
                </a:solidFill>
                <a:latin typeface="AppleGothic"/>
                <a:ea typeface="AppleGothic"/>
                <a:cs typeface="AppleGothic"/>
              </a:defRPr>
            </a:lvl5pPr>
            <a:lvl6pPr>
              <a:defRPr sz="3150" b="1">
                <a:solidFill>
                  <a:srgbClr val="15243B"/>
                </a:solidFill>
                <a:latin typeface="AppleGothic"/>
                <a:ea typeface="AppleGothic"/>
                <a:cs typeface="AppleGothic"/>
              </a:defRPr>
            </a:lvl6pPr>
            <a:lvl7pPr>
              <a:defRPr sz="3150" b="1">
                <a:solidFill>
                  <a:srgbClr val="15243B"/>
                </a:solidFill>
                <a:latin typeface="AppleGothic"/>
                <a:ea typeface="AppleGothic"/>
                <a:cs typeface="AppleGothic"/>
              </a:defRPr>
            </a:lvl7pPr>
            <a:lvl8pPr>
              <a:defRPr sz="3150" b="1">
                <a:solidFill>
                  <a:srgbClr val="15243B"/>
                </a:solidFill>
                <a:latin typeface="AppleGothic"/>
                <a:ea typeface="AppleGothic"/>
                <a:cs typeface="AppleGothic"/>
              </a:defRPr>
            </a:lvl8pPr>
            <a:lvl9pPr>
              <a:defRPr sz="3150" b="1">
                <a:solidFill>
                  <a:srgbClr val="15243B"/>
                </a:solidFill>
                <a:latin typeface="AppleGothic"/>
                <a:ea typeface="AppleGothic"/>
                <a:cs typeface="AppleGothic"/>
              </a:defRPr>
            </a:lvl9pPr>
          </a:lstStyle>
          <a:p xmlns:a="http://schemas.openxmlformats.org/drawingml/2006/main">
            <a:pPr>
              <a:defRPr sz="3150" b="1">
                <a:solidFill>
                  <a:srgbClr val="15243B"/>
                </a:solidFill>
                <a:latin typeface="AppleGothic"/>
                <a:ea typeface="AppleGothic"/>
                <a:cs typeface="AppleGothic"/>
              </a:defRPr>
            </a:pPr>
            <a:r>
              <a:rPr sz="3150" b="1">
                <a:solidFill>
                  <a:srgbClr val="15243B"/>
                </a:solidFill>
                <a:latin typeface="AppleGothic"/>
                <a:ea typeface="AppleGothic"/>
                <a:cs typeface="AppleGothic"/>
              </a:rPr>
              <a:t>Visual Backbones</a:t>
            </a:r>
          </a:p>
        </p:txBody>
      </p:sp>
      <p:sp>
        <p:nvSpPr>
          <p:cNvPr id="2" name="">
            <a:extLst xmlns:a="http://schemas.openxmlformats.org/drawingml/2006/main">
              <a:ext uri="{FF2B5EF4-FFF2-40B4-BE49-F238E27FC236}">
                <a16:creationId xmlns:a16="http://schemas.microsoft.com/office/drawing/2014/main" id="{30A71D7B-34FB-435C-A5A3-FBD086570438}"/>
              </a:ext>
            </a:extLst>
          </p:cNvPr>
          <p:cNvSpPr>
            <a:spLocks xmlns:a="http://schemas.openxmlformats.org/drawingml/2006/main" noGrp="1"/>
          </p:cNvSpPr>
          <p:nvPr/>
        </p:nvSpPr>
        <p:spPr>
          <a:xfrm xmlns:a="http://schemas.openxmlformats.org/drawingml/2006/main">
            <a:off x="533400" y="1066800"/>
            <a:ext cx="111252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1">
                <a:solidFill>
                  <a:srgbClr val="2164CB"/>
                </a:solidFill>
                <a:latin typeface="AppleGothic"/>
                <a:ea typeface="AppleGothic"/>
                <a:cs typeface="AppleGothic"/>
              </a:defRPr>
            </a:defPPr>
            <a:lvl1pPr>
              <a:defRPr sz="2175" b="1">
                <a:solidFill>
                  <a:srgbClr val="2164CB"/>
                </a:solidFill>
                <a:latin typeface="AppleGothic"/>
                <a:ea typeface="AppleGothic"/>
                <a:cs typeface="AppleGothic"/>
              </a:defRPr>
            </a:lvl1pPr>
            <a:lvl2pPr>
              <a:defRPr sz="2175" b="1">
                <a:solidFill>
                  <a:srgbClr val="2164CB"/>
                </a:solidFill>
                <a:latin typeface="AppleGothic"/>
                <a:ea typeface="AppleGothic"/>
                <a:cs typeface="AppleGothic"/>
              </a:defRPr>
            </a:lvl2pPr>
            <a:lvl3pPr>
              <a:defRPr sz="2175" b="1">
                <a:solidFill>
                  <a:srgbClr val="2164CB"/>
                </a:solidFill>
                <a:latin typeface="AppleGothic"/>
                <a:ea typeface="AppleGothic"/>
                <a:cs typeface="AppleGothic"/>
              </a:defRPr>
            </a:lvl3pPr>
            <a:lvl4pPr>
              <a:defRPr sz="2175" b="1">
                <a:solidFill>
                  <a:srgbClr val="2164CB"/>
                </a:solidFill>
                <a:latin typeface="AppleGothic"/>
                <a:ea typeface="AppleGothic"/>
                <a:cs typeface="AppleGothic"/>
              </a:defRPr>
            </a:lvl4pPr>
            <a:lvl5pPr>
              <a:defRPr sz="2175" b="1">
                <a:solidFill>
                  <a:srgbClr val="2164CB"/>
                </a:solidFill>
                <a:latin typeface="AppleGothic"/>
                <a:ea typeface="AppleGothic"/>
                <a:cs typeface="AppleGothic"/>
              </a:defRPr>
            </a:lvl5pPr>
            <a:lvl6pPr>
              <a:defRPr sz="2175" b="1">
                <a:solidFill>
                  <a:srgbClr val="2164CB"/>
                </a:solidFill>
                <a:latin typeface="AppleGothic"/>
                <a:ea typeface="AppleGothic"/>
                <a:cs typeface="AppleGothic"/>
              </a:defRPr>
            </a:lvl6pPr>
            <a:lvl7pPr>
              <a:defRPr sz="2175" b="1">
                <a:solidFill>
                  <a:srgbClr val="2164CB"/>
                </a:solidFill>
                <a:latin typeface="AppleGothic"/>
                <a:ea typeface="AppleGothic"/>
                <a:cs typeface="AppleGothic"/>
              </a:defRPr>
            </a:lvl7pPr>
            <a:lvl8pPr>
              <a:defRPr sz="2175" b="1">
                <a:solidFill>
                  <a:srgbClr val="2164CB"/>
                </a:solidFill>
                <a:latin typeface="AppleGothic"/>
                <a:ea typeface="AppleGothic"/>
                <a:cs typeface="AppleGothic"/>
              </a:defRPr>
            </a:lvl8pPr>
            <a:lvl9pPr>
              <a:defRPr sz="2175" b="1">
                <a:solidFill>
                  <a:srgbClr val="2164CB"/>
                </a:solidFill>
                <a:latin typeface="AppleGothic"/>
                <a:ea typeface="AppleGothic"/>
                <a:cs typeface="AppleGothic"/>
              </a:defRPr>
            </a:lvl9pPr>
          </a:lstStyle>
          <a:p xmlns:a="http://schemas.openxmlformats.org/drawingml/2006/main">
            <a:pPr>
              <a:defRPr sz="2175" b="1">
                <a:solidFill>
                  <a:srgbClr val="2164CB"/>
                </a:solidFill>
                <a:latin typeface="AppleGothic"/>
                <a:ea typeface="AppleGothic"/>
                <a:cs typeface="AppleGothic"/>
              </a:defRPr>
            </a:pPr>
            <a:r>
              <a:rPr sz="2175" b="1">
                <a:solidFill>
                  <a:srgbClr val="2164CB"/>
                </a:solidFill>
                <a:latin typeface="AppleGothic"/>
                <a:ea typeface="AppleGothic"/>
                <a:cs typeface="AppleGothic"/>
              </a:rPr>
              <a:t>Backbone은 입력을 feature로 바꾸고 detector head는 class와 위치를 예측한다</a:t>
            </a:r>
          </a:p>
        </p:txBody>
      </p:sp>
      <p:pic>
        <p:nvPicPr>
          <p:cNvPr id="3" name="">
            <a:extLst xmlns:a="http://schemas.openxmlformats.org/drawingml/2006/main">
              <a:ext uri="{FF2B5EF4-FFF2-40B4-BE49-F238E27FC236}">
                <a16:creationId xmlns:a16="http://schemas.microsoft.com/office/drawing/2014/main" id="{A5187DAA-3171-4DD2-A130-82107833175A}"/>
              </a:ext>
            </a:extLst>
          </p:cNvPr>
          <p:cNvPicPr>
            <a:picLocks xmlns:a="http://schemas.openxmlformats.org/drawingml/2006/main" noChangeAspect="1"/>
          </p:cNvPicPr>
          <p:nvPr/>
        </p:nvPicPr>
        <p:blipFill>
          <a:blip xmlns:r="http://schemas.openxmlformats.org/officeDocument/2006/relationships" xmlns:a="http://schemas.openxmlformats.org/drawingml/2006/main" r:embed="R1cfea58b0d5f4917"/>
          <a:stretch xmlns:a="http://schemas.openxmlformats.org/drawingml/2006/main"/>
        </p:blipFill>
        <p:spPr>
          <a:xfrm xmlns:a="http://schemas.openxmlformats.org/drawingml/2006/main">
            <a:off x="806940" y="2057400"/>
            <a:ext cx="6596670" cy="3714750"/>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AE2DAF09-3B3E-4B16-986E-A2C10EEE4838}"/>
              </a:ext>
            </a:extLst>
          </p:cNvPr>
          <p:cNvSpPr>
            <a:spLocks xmlns:a="http://schemas.openxmlformats.org/drawingml/2006/main" noGrp="1"/>
          </p:cNvSpPr>
          <p:nvPr/>
        </p:nvSpPr>
        <p:spPr>
          <a:xfrm xmlns:a="http://schemas.openxmlformats.org/drawingml/2006/main">
            <a:off x="7981950" y="2114550"/>
            <a:ext cx="3676650" cy="3667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75" b="0">
                <a:solidFill>
                  <a:srgbClr val="15243B"/>
                </a:solidFill>
                <a:latin typeface="AppleGothic"/>
                <a:ea typeface="AppleGothic"/>
                <a:cs typeface="AppleGothic"/>
              </a:defRPr>
            </a:defPPr>
            <a:lvl1pPr>
              <a:defRPr sz="1875" b="0">
                <a:solidFill>
                  <a:srgbClr val="15243B"/>
                </a:solidFill>
                <a:latin typeface="AppleGothic"/>
                <a:ea typeface="AppleGothic"/>
                <a:cs typeface="AppleGothic"/>
              </a:defRPr>
            </a:lvl1pPr>
            <a:lvl2pPr>
              <a:defRPr sz="1875" b="0">
                <a:solidFill>
                  <a:srgbClr val="15243B"/>
                </a:solidFill>
                <a:latin typeface="AppleGothic"/>
                <a:ea typeface="AppleGothic"/>
                <a:cs typeface="AppleGothic"/>
              </a:defRPr>
            </a:lvl2pPr>
            <a:lvl3pPr>
              <a:defRPr sz="1875" b="0">
                <a:solidFill>
                  <a:srgbClr val="15243B"/>
                </a:solidFill>
                <a:latin typeface="AppleGothic"/>
                <a:ea typeface="AppleGothic"/>
                <a:cs typeface="AppleGothic"/>
              </a:defRPr>
            </a:lvl3pPr>
            <a:lvl4pPr>
              <a:defRPr sz="1875" b="0">
                <a:solidFill>
                  <a:srgbClr val="15243B"/>
                </a:solidFill>
                <a:latin typeface="AppleGothic"/>
                <a:ea typeface="AppleGothic"/>
                <a:cs typeface="AppleGothic"/>
              </a:defRPr>
            </a:lvl4pPr>
            <a:lvl5pPr>
              <a:defRPr sz="1875" b="0">
                <a:solidFill>
                  <a:srgbClr val="15243B"/>
                </a:solidFill>
                <a:latin typeface="AppleGothic"/>
                <a:ea typeface="AppleGothic"/>
                <a:cs typeface="AppleGothic"/>
              </a:defRPr>
            </a:lvl5pPr>
            <a:lvl6pPr>
              <a:defRPr sz="1875" b="0">
                <a:solidFill>
                  <a:srgbClr val="15243B"/>
                </a:solidFill>
                <a:latin typeface="AppleGothic"/>
                <a:ea typeface="AppleGothic"/>
                <a:cs typeface="AppleGothic"/>
              </a:defRPr>
            </a:lvl6pPr>
            <a:lvl7pPr>
              <a:defRPr sz="1875" b="0">
                <a:solidFill>
                  <a:srgbClr val="15243B"/>
                </a:solidFill>
                <a:latin typeface="AppleGothic"/>
                <a:ea typeface="AppleGothic"/>
                <a:cs typeface="AppleGothic"/>
              </a:defRPr>
            </a:lvl7pPr>
            <a:lvl8pPr>
              <a:defRPr sz="1875" b="0">
                <a:solidFill>
                  <a:srgbClr val="15243B"/>
                </a:solidFill>
                <a:latin typeface="AppleGothic"/>
                <a:ea typeface="AppleGothic"/>
                <a:cs typeface="AppleGothic"/>
              </a:defRPr>
            </a:lvl8pPr>
            <a:lvl9pPr>
              <a:defRPr sz="1875" b="0">
                <a:solidFill>
                  <a:srgbClr val="15243B"/>
                </a:solidFill>
                <a:latin typeface="AppleGothic"/>
                <a:ea typeface="AppleGothic"/>
                <a:cs typeface="AppleGothic"/>
              </a:defRPr>
            </a:lvl9pPr>
          </a:lstStyle>
          <a:p xmlns:a="http://schemas.openxmlformats.org/drawingml/2006/main">
            <a:pPr>
              <a:defRPr sz="1875" b="0">
                <a:solidFill>
                  <a:srgbClr val="15243B"/>
                </a:solidFill>
                <a:latin typeface="AppleGothic"/>
                <a:ea typeface="AppleGothic"/>
                <a:cs typeface="AppleGothic"/>
              </a:defRPr>
            </a:pPr>
            <a:r>
              <a:rPr sz="1875" b="0">
                <a:solidFill>
                  <a:srgbClr val="15243B"/>
                </a:solidFill>
                <a:latin typeface="AppleGothic"/>
                <a:ea typeface="AppleGothic"/>
                <a:cs typeface="AppleGothic"/>
              </a:rPr>
              <a:t>VGG는 3×3 convolution을 쌓고 ResNet은 residual shortcut으로 깊은 최적화를 돕는다.</a:t>
            </a:r>
          </a:p>
          <a:p xmlns:a="http://schemas.openxmlformats.org/drawingml/2006/main">
            <a:r>
              <a:t/>
            </a:r>
          </a:p>
          <a:p xmlns:a="http://schemas.openxmlformats.org/drawingml/2006/main">
            <a:pPr>
              <a:defRPr sz="1875" b="0">
                <a:solidFill>
                  <a:srgbClr val="15243B"/>
                </a:solidFill>
                <a:latin typeface="AppleGothic"/>
                <a:ea typeface="AppleGothic"/>
                <a:cs typeface="AppleGothic"/>
              </a:defRPr>
            </a:pPr>
            <a:r>
              <a:rPr sz="1875" b="0">
                <a:solidFill>
                  <a:srgbClr val="15243B"/>
                </a:solidFill>
                <a:latin typeface="AppleGothic"/>
                <a:ea typeface="AppleGothic"/>
                <a:cs typeface="AppleGothic"/>
              </a:rPr>
              <a:t>ViT는 patch token과 위치 정보를 self-attention으로 결합한다.</a:t>
            </a:r>
          </a:p>
        </p:txBody>
      </p:sp>
      <p:sp>
        <p:nvSpPr>
          <p:cNvPr id="5" name="">
            <a:extLst xmlns:a="http://schemas.openxmlformats.org/drawingml/2006/main">
              <a:ext uri="{FF2B5EF4-FFF2-40B4-BE49-F238E27FC236}">
                <a16:creationId xmlns:a16="http://schemas.microsoft.com/office/drawing/2014/main" id="{F92B68E4-132D-48A3-BA78-2A8B5A378826}"/>
              </a:ext>
            </a:extLst>
          </p:cNvPr>
          <p:cNvSpPr>
            <a:spLocks xmlns:a="http://schemas.openxmlformats.org/drawingml/2006/main" noGrp="1"/>
          </p:cNvSpPr>
          <p:nvPr/>
        </p:nvSpPr>
        <p:spPr>
          <a:xfrm xmlns:a="http://schemas.openxmlformats.org/drawingml/2006/main">
            <a:off x="533400" y="5895975"/>
            <a:ext cx="1112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526378"/>
                </a:solidFill>
                <a:latin typeface="AppleGothic"/>
                <a:ea typeface="AppleGothic"/>
                <a:cs typeface="AppleGothic"/>
              </a:defRPr>
            </a:defPPr>
            <a:lvl1pPr>
              <a:defRPr sz="1350" b="0">
                <a:solidFill>
                  <a:srgbClr val="526378"/>
                </a:solidFill>
                <a:latin typeface="AppleGothic"/>
                <a:ea typeface="AppleGothic"/>
                <a:cs typeface="AppleGothic"/>
              </a:defRPr>
            </a:lvl1pPr>
            <a:lvl2pPr>
              <a:defRPr sz="1350" b="0">
                <a:solidFill>
                  <a:srgbClr val="526378"/>
                </a:solidFill>
                <a:latin typeface="AppleGothic"/>
                <a:ea typeface="AppleGothic"/>
                <a:cs typeface="AppleGothic"/>
              </a:defRPr>
            </a:lvl2pPr>
            <a:lvl3pPr>
              <a:defRPr sz="1350" b="0">
                <a:solidFill>
                  <a:srgbClr val="526378"/>
                </a:solidFill>
                <a:latin typeface="AppleGothic"/>
                <a:ea typeface="AppleGothic"/>
                <a:cs typeface="AppleGothic"/>
              </a:defRPr>
            </a:lvl3pPr>
            <a:lvl4pPr>
              <a:defRPr sz="1350" b="0">
                <a:solidFill>
                  <a:srgbClr val="526378"/>
                </a:solidFill>
                <a:latin typeface="AppleGothic"/>
                <a:ea typeface="AppleGothic"/>
                <a:cs typeface="AppleGothic"/>
              </a:defRPr>
            </a:lvl4pPr>
            <a:lvl5pPr>
              <a:defRPr sz="1350" b="0">
                <a:solidFill>
                  <a:srgbClr val="526378"/>
                </a:solidFill>
                <a:latin typeface="AppleGothic"/>
                <a:ea typeface="AppleGothic"/>
                <a:cs typeface="AppleGothic"/>
              </a:defRPr>
            </a:lvl5pPr>
            <a:lvl6pPr>
              <a:defRPr sz="1350" b="0">
                <a:solidFill>
                  <a:srgbClr val="526378"/>
                </a:solidFill>
                <a:latin typeface="AppleGothic"/>
                <a:ea typeface="AppleGothic"/>
                <a:cs typeface="AppleGothic"/>
              </a:defRPr>
            </a:lvl6pPr>
            <a:lvl7pPr>
              <a:defRPr sz="1350" b="0">
                <a:solidFill>
                  <a:srgbClr val="526378"/>
                </a:solidFill>
                <a:latin typeface="AppleGothic"/>
                <a:ea typeface="AppleGothic"/>
                <a:cs typeface="AppleGothic"/>
              </a:defRPr>
            </a:lvl7pPr>
            <a:lvl8pPr>
              <a:defRPr sz="1350" b="0">
                <a:solidFill>
                  <a:srgbClr val="526378"/>
                </a:solidFill>
                <a:latin typeface="AppleGothic"/>
                <a:ea typeface="AppleGothic"/>
                <a:cs typeface="AppleGothic"/>
              </a:defRPr>
            </a:lvl8pPr>
            <a:lvl9pPr>
              <a:defRPr sz="1350" b="0">
                <a:solidFill>
                  <a:srgbClr val="526378"/>
                </a:solidFill>
                <a:latin typeface="AppleGothic"/>
                <a:ea typeface="AppleGothic"/>
                <a:cs typeface="AppleGothic"/>
              </a:defRPr>
            </a:lvl9pPr>
          </a:lstStyle>
          <a:p xmlns:a="http://schemas.openxmlformats.org/drawingml/2006/main">
            <a:pPr>
              <a:defRPr sz="1350" b="0">
                <a:solidFill>
                  <a:srgbClr val="526378"/>
                </a:solidFill>
                <a:latin typeface="AppleGothic"/>
                <a:ea typeface="AppleGothic"/>
                <a:cs typeface="AppleGothic"/>
              </a:defRPr>
            </a:pPr>
            <a:r>
              <a:rPr sz="1350" b="0">
                <a:solidFill>
                  <a:srgbClr val="526378"/>
                </a:solidFill>
                <a:latin typeface="AppleGothic"/>
                <a:ea typeface="AppleGothic"/>
                <a:cs typeface="AppleGothic"/>
              </a:rPr>
              <a:t>Lecture 3, p. 53. ViT patch embedding and Transformer encoder</a:t>
            </a:r>
          </a:p>
        </p:txBody>
      </p:sp>
      <p:sp>
        <p:nvSpPr>
          <p:cNvPr id="6" name="">
            <a:extLst xmlns:a="http://schemas.openxmlformats.org/drawingml/2006/main">
              <a:ext uri="{FF2B5EF4-FFF2-40B4-BE49-F238E27FC236}">
                <a16:creationId xmlns:a16="http://schemas.microsoft.com/office/drawing/2014/main" id="{563170E9-CFF3-459B-AE3D-E587E2792E99}"/>
              </a:ext>
            </a:extLst>
          </p:cNvPr>
          <p:cNvSpPr>
            <a:spLocks xmlns:a="http://schemas.openxmlformats.org/drawingml/2006/main" noGrp="1"/>
          </p:cNvSpPr>
          <p:nvPr/>
        </p:nvSpPr>
        <p:spPr>
          <a:xfrm xmlns:a="http://schemas.openxmlformats.org/drawingml/2006/main">
            <a:off x="11144250" y="6400800"/>
            <a:ext cx="5143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62748C"/>
                </a:solidFill>
                <a:latin typeface="AppleGothic"/>
                <a:ea typeface="AppleGothic"/>
                <a:cs typeface="AppleGothic"/>
              </a:defRPr>
            </a:defPPr>
            <a:lvl1pPr>
              <a:defRPr sz="1350" b="0">
                <a:solidFill>
                  <a:srgbClr val="62748C"/>
                </a:solidFill>
                <a:latin typeface="AppleGothic"/>
                <a:ea typeface="AppleGothic"/>
                <a:cs typeface="AppleGothic"/>
              </a:defRPr>
            </a:lvl1pPr>
            <a:lvl2pPr>
              <a:defRPr sz="1350" b="0">
                <a:solidFill>
                  <a:srgbClr val="62748C"/>
                </a:solidFill>
                <a:latin typeface="AppleGothic"/>
                <a:ea typeface="AppleGothic"/>
                <a:cs typeface="AppleGothic"/>
              </a:defRPr>
            </a:lvl2pPr>
            <a:lvl3pPr>
              <a:defRPr sz="1350" b="0">
                <a:solidFill>
                  <a:srgbClr val="62748C"/>
                </a:solidFill>
                <a:latin typeface="AppleGothic"/>
                <a:ea typeface="AppleGothic"/>
                <a:cs typeface="AppleGothic"/>
              </a:defRPr>
            </a:lvl3pPr>
            <a:lvl4pPr>
              <a:defRPr sz="1350" b="0">
                <a:solidFill>
                  <a:srgbClr val="62748C"/>
                </a:solidFill>
                <a:latin typeface="AppleGothic"/>
                <a:ea typeface="AppleGothic"/>
                <a:cs typeface="AppleGothic"/>
              </a:defRPr>
            </a:lvl4pPr>
            <a:lvl5pPr>
              <a:defRPr sz="1350" b="0">
                <a:solidFill>
                  <a:srgbClr val="62748C"/>
                </a:solidFill>
                <a:latin typeface="AppleGothic"/>
                <a:ea typeface="AppleGothic"/>
                <a:cs typeface="AppleGothic"/>
              </a:defRPr>
            </a:lvl5pPr>
            <a:lvl6pPr>
              <a:defRPr sz="1350" b="0">
                <a:solidFill>
                  <a:srgbClr val="62748C"/>
                </a:solidFill>
                <a:latin typeface="AppleGothic"/>
                <a:ea typeface="AppleGothic"/>
                <a:cs typeface="AppleGothic"/>
              </a:defRPr>
            </a:lvl6pPr>
            <a:lvl7pPr>
              <a:defRPr sz="1350" b="0">
                <a:solidFill>
                  <a:srgbClr val="62748C"/>
                </a:solidFill>
                <a:latin typeface="AppleGothic"/>
                <a:ea typeface="AppleGothic"/>
                <a:cs typeface="AppleGothic"/>
              </a:defRPr>
            </a:lvl7pPr>
            <a:lvl8pPr>
              <a:defRPr sz="1350" b="0">
                <a:solidFill>
                  <a:srgbClr val="62748C"/>
                </a:solidFill>
                <a:latin typeface="AppleGothic"/>
                <a:ea typeface="AppleGothic"/>
                <a:cs typeface="AppleGothic"/>
              </a:defRPr>
            </a:lvl8pPr>
            <a:lvl9pPr>
              <a:defRPr sz="1350" b="0">
                <a:solidFill>
                  <a:srgbClr val="62748C"/>
                </a:solidFill>
                <a:latin typeface="AppleGothic"/>
                <a:ea typeface="AppleGothic"/>
                <a:cs typeface="AppleGothic"/>
              </a:defRPr>
            </a:lvl9pPr>
          </a:lstStyle>
          <a:p xmlns:a="http://schemas.openxmlformats.org/drawingml/2006/main">
            <a:pPr>
              <a:defRPr sz="1350" b="0">
                <a:solidFill>
                  <a:srgbClr val="62748C"/>
                </a:solidFill>
                <a:latin typeface="AppleGothic"/>
                <a:ea typeface="AppleGothic"/>
                <a:cs typeface="AppleGothic"/>
              </a:defRPr>
            </a:pPr>
            <a:r>
              <a:rPr sz="1350" b="0">
                <a:solidFill>
                  <a:srgbClr val="62748C"/>
                </a:solidFill>
                <a:latin typeface="AppleGothic"/>
                <a:ea typeface="AppleGothic"/>
                <a:cs typeface="AppleGothic"/>
              </a:rPr>
              <a:t>08</a:t>
            </a:r>
          </a:p>
        </p:txBody>
      </p:sp>
    </p:spTree>
    <p:extLst>
      <p:ext uri="{BB962C8B-B14F-4D97-AF65-F5344CB8AC3E}">
        <p14:creationId xmlns:p14="http://schemas.microsoft.com/office/powerpoint/2010/main" val="313783449"/>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24826E8C-A9AC-46D0-8B95-F3FD0D3F9DF9}"/>
              </a:ext>
            </a:extLst>
          </p:cNvPr>
          <p:cNvSpPr>
            <a:spLocks xmlns:a="http://schemas.openxmlformats.org/drawingml/2006/main" noGrp="1"/>
          </p:cNvSpPr>
          <p:nvPr/>
        </p:nvSpPr>
        <p:spPr>
          <a:xfrm xmlns:a="http://schemas.openxmlformats.org/drawingml/2006/main">
            <a:off x="533400" y="342900"/>
            <a:ext cx="111252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150" b="1">
                <a:solidFill>
                  <a:srgbClr val="15243B"/>
                </a:solidFill>
                <a:latin typeface="AppleGothic"/>
                <a:ea typeface="AppleGothic"/>
                <a:cs typeface="AppleGothic"/>
              </a:defRPr>
            </a:defPPr>
            <a:lvl1pPr>
              <a:defRPr sz="3150" b="1">
                <a:solidFill>
                  <a:srgbClr val="15243B"/>
                </a:solidFill>
                <a:latin typeface="AppleGothic"/>
                <a:ea typeface="AppleGothic"/>
                <a:cs typeface="AppleGothic"/>
              </a:defRPr>
            </a:lvl1pPr>
            <a:lvl2pPr>
              <a:defRPr sz="3150" b="1">
                <a:solidFill>
                  <a:srgbClr val="15243B"/>
                </a:solidFill>
                <a:latin typeface="AppleGothic"/>
                <a:ea typeface="AppleGothic"/>
                <a:cs typeface="AppleGothic"/>
              </a:defRPr>
            </a:lvl2pPr>
            <a:lvl3pPr>
              <a:defRPr sz="3150" b="1">
                <a:solidFill>
                  <a:srgbClr val="15243B"/>
                </a:solidFill>
                <a:latin typeface="AppleGothic"/>
                <a:ea typeface="AppleGothic"/>
                <a:cs typeface="AppleGothic"/>
              </a:defRPr>
            </a:lvl3pPr>
            <a:lvl4pPr>
              <a:defRPr sz="3150" b="1">
                <a:solidFill>
                  <a:srgbClr val="15243B"/>
                </a:solidFill>
                <a:latin typeface="AppleGothic"/>
                <a:ea typeface="AppleGothic"/>
                <a:cs typeface="AppleGothic"/>
              </a:defRPr>
            </a:lvl4pPr>
            <a:lvl5pPr>
              <a:defRPr sz="3150" b="1">
                <a:solidFill>
                  <a:srgbClr val="15243B"/>
                </a:solidFill>
                <a:latin typeface="AppleGothic"/>
                <a:ea typeface="AppleGothic"/>
                <a:cs typeface="AppleGothic"/>
              </a:defRPr>
            </a:lvl5pPr>
            <a:lvl6pPr>
              <a:defRPr sz="3150" b="1">
                <a:solidFill>
                  <a:srgbClr val="15243B"/>
                </a:solidFill>
                <a:latin typeface="AppleGothic"/>
                <a:ea typeface="AppleGothic"/>
                <a:cs typeface="AppleGothic"/>
              </a:defRPr>
            </a:lvl6pPr>
            <a:lvl7pPr>
              <a:defRPr sz="3150" b="1">
                <a:solidFill>
                  <a:srgbClr val="15243B"/>
                </a:solidFill>
                <a:latin typeface="AppleGothic"/>
                <a:ea typeface="AppleGothic"/>
                <a:cs typeface="AppleGothic"/>
              </a:defRPr>
            </a:lvl7pPr>
            <a:lvl8pPr>
              <a:defRPr sz="3150" b="1">
                <a:solidFill>
                  <a:srgbClr val="15243B"/>
                </a:solidFill>
                <a:latin typeface="AppleGothic"/>
                <a:ea typeface="AppleGothic"/>
                <a:cs typeface="AppleGothic"/>
              </a:defRPr>
            </a:lvl8pPr>
            <a:lvl9pPr>
              <a:defRPr sz="3150" b="1">
                <a:solidFill>
                  <a:srgbClr val="15243B"/>
                </a:solidFill>
                <a:latin typeface="AppleGothic"/>
                <a:ea typeface="AppleGothic"/>
                <a:cs typeface="AppleGothic"/>
              </a:defRPr>
            </a:lvl9pPr>
          </a:lstStyle>
          <a:p xmlns:a="http://schemas.openxmlformats.org/drawingml/2006/main">
            <a:pPr>
              <a:defRPr sz="3150" b="1">
                <a:solidFill>
                  <a:srgbClr val="15243B"/>
                </a:solidFill>
                <a:latin typeface="AppleGothic"/>
                <a:ea typeface="AppleGothic"/>
                <a:cs typeface="AppleGothic"/>
              </a:defRPr>
            </a:pPr>
            <a:r>
              <a:rPr sz="3150" b="1">
                <a:solidFill>
                  <a:srgbClr val="15243B"/>
                </a:solidFill>
                <a:latin typeface="AppleGothic"/>
                <a:ea typeface="AppleGothic"/>
                <a:cs typeface="AppleGothic"/>
              </a:rPr>
              <a:t>Intersection over Union</a:t>
            </a:r>
          </a:p>
        </p:txBody>
      </p:sp>
      <p:sp>
        <p:nvSpPr>
          <p:cNvPr id="2" name="">
            <a:extLst xmlns:a="http://schemas.openxmlformats.org/drawingml/2006/main">
              <a:ext uri="{FF2B5EF4-FFF2-40B4-BE49-F238E27FC236}">
                <a16:creationId xmlns:a16="http://schemas.microsoft.com/office/drawing/2014/main" id="{1F4F465B-DA8A-4155-9566-0AA303ED0274}"/>
              </a:ext>
            </a:extLst>
          </p:cNvPr>
          <p:cNvSpPr>
            <a:spLocks xmlns:a="http://schemas.openxmlformats.org/drawingml/2006/main" noGrp="1"/>
          </p:cNvSpPr>
          <p:nvPr/>
        </p:nvSpPr>
        <p:spPr>
          <a:xfrm xmlns:a="http://schemas.openxmlformats.org/drawingml/2006/main">
            <a:off x="533400" y="1066800"/>
            <a:ext cx="111252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1">
                <a:solidFill>
                  <a:srgbClr val="2164CB"/>
                </a:solidFill>
                <a:latin typeface="AppleGothic"/>
                <a:ea typeface="AppleGothic"/>
                <a:cs typeface="AppleGothic"/>
              </a:defRPr>
            </a:defPPr>
            <a:lvl1pPr>
              <a:defRPr sz="2175" b="1">
                <a:solidFill>
                  <a:srgbClr val="2164CB"/>
                </a:solidFill>
                <a:latin typeface="AppleGothic"/>
                <a:ea typeface="AppleGothic"/>
                <a:cs typeface="AppleGothic"/>
              </a:defRPr>
            </a:lvl1pPr>
            <a:lvl2pPr>
              <a:defRPr sz="2175" b="1">
                <a:solidFill>
                  <a:srgbClr val="2164CB"/>
                </a:solidFill>
                <a:latin typeface="AppleGothic"/>
                <a:ea typeface="AppleGothic"/>
                <a:cs typeface="AppleGothic"/>
              </a:defRPr>
            </a:lvl2pPr>
            <a:lvl3pPr>
              <a:defRPr sz="2175" b="1">
                <a:solidFill>
                  <a:srgbClr val="2164CB"/>
                </a:solidFill>
                <a:latin typeface="AppleGothic"/>
                <a:ea typeface="AppleGothic"/>
                <a:cs typeface="AppleGothic"/>
              </a:defRPr>
            </a:lvl3pPr>
            <a:lvl4pPr>
              <a:defRPr sz="2175" b="1">
                <a:solidFill>
                  <a:srgbClr val="2164CB"/>
                </a:solidFill>
                <a:latin typeface="AppleGothic"/>
                <a:ea typeface="AppleGothic"/>
                <a:cs typeface="AppleGothic"/>
              </a:defRPr>
            </a:lvl4pPr>
            <a:lvl5pPr>
              <a:defRPr sz="2175" b="1">
                <a:solidFill>
                  <a:srgbClr val="2164CB"/>
                </a:solidFill>
                <a:latin typeface="AppleGothic"/>
                <a:ea typeface="AppleGothic"/>
                <a:cs typeface="AppleGothic"/>
              </a:defRPr>
            </a:lvl5pPr>
            <a:lvl6pPr>
              <a:defRPr sz="2175" b="1">
                <a:solidFill>
                  <a:srgbClr val="2164CB"/>
                </a:solidFill>
                <a:latin typeface="AppleGothic"/>
                <a:ea typeface="AppleGothic"/>
                <a:cs typeface="AppleGothic"/>
              </a:defRPr>
            </a:lvl6pPr>
            <a:lvl7pPr>
              <a:defRPr sz="2175" b="1">
                <a:solidFill>
                  <a:srgbClr val="2164CB"/>
                </a:solidFill>
                <a:latin typeface="AppleGothic"/>
                <a:ea typeface="AppleGothic"/>
                <a:cs typeface="AppleGothic"/>
              </a:defRPr>
            </a:lvl7pPr>
            <a:lvl8pPr>
              <a:defRPr sz="2175" b="1">
                <a:solidFill>
                  <a:srgbClr val="2164CB"/>
                </a:solidFill>
                <a:latin typeface="AppleGothic"/>
                <a:ea typeface="AppleGothic"/>
                <a:cs typeface="AppleGothic"/>
              </a:defRPr>
            </a:lvl8pPr>
            <a:lvl9pPr>
              <a:defRPr sz="2175" b="1">
                <a:solidFill>
                  <a:srgbClr val="2164CB"/>
                </a:solidFill>
                <a:latin typeface="AppleGothic"/>
                <a:ea typeface="AppleGothic"/>
                <a:cs typeface="AppleGothic"/>
              </a:defRPr>
            </a:lvl9pPr>
          </a:lstStyle>
          <a:p xmlns:a="http://schemas.openxmlformats.org/drawingml/2006/main">
            <a:pPr>
              <a:defRPr sz="2175" b="1">
                <a:solidFill>
                  <a:srgbClr val="2164CB"/>
                </a:solidFill>
                <a:latin typeface="AppleGothic"/>
                <a:ea typeface="AppleGothic"/>
                <a:cs typeface="AppleGothic"/>
              </a:defRPr>
            </a:pPr>
            <a:r>
              <a:rPr sz="2175" b="1">
                <a:solidFill>
                  <a:srgbClr val="2164CB"/>
                </a:solidFill>
                <a:latin typeface="AppleGothic"/>
                <a:ea typeface="AppleGothic"/>
                <a:cs typeface="AppleGothic"/>
              </a:rPr>
              <a:t>IoU는 교집합 넓이를 합집합 넓이로 나눈 겹침 비율이다</a:t>
            </a:r>
          </a:p>
        </p:txBody>
      </p:sp>
      <p:pic>
        <p:nvPicPr>
          <p:cNvPr id="3" name="">
            <a:extLst xmlns:a="http://schemas.openxmlformats.org/drawingml/2006/main">
              <a:ext uri="{FF2B5EF4-FFF2-40B4-BE49-F238E27FC236}">
                <a16:creationId xmlns:a16="http://schemas.microsoft.com/office/drawing/2014/main" id="{BFC0F0AE-82B2-44E5-B8F6-6DAABB2934BE}"/>
              </a:ext>
            </a:extLst>
          </p:cNvPr>
          <p:cNvPicPr>
            <a:picLocks xmlns:a="http://schemas.openxmlformats.org/drawingml/2006/main" noChangeAspect="1"/>
          </p:cNvPicPr>
          <p:nvPr/>
        </p:nvPicPr>
        <p:blipFill>
          <a:blip xmlns:r="http://schemas.openxmlformats.org/officeDocument/2006/relationships" xmlns:a="http://schemas.openxmlformats.org/drawingml/2006/main" r:embed="R9d2cc960cc674b39"/>
          <a:stretch xmlns:a="http://schemas.openxmlformats.org/drawingml/2006/main"/>
        </p:blipFill>
        <p:spPr>
          <a:xfrm xmlns:a="http://schemas.openxmlformats.org/drawingml/2006/main">
            <a:off x="806940" y="2057400"/>
            <a:ext cx="6596670" cy="3714750"/>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AEE842BA-427D-490D-9DE6-43EB7EB99305}"/>
              </a:ext>
            </a:extLst>
          </p:cNvPr>
          <p:cNvSpPr>
            <a:spLocks xmlns:a="http://schemas.openxmlformats.org/drawingml/2006/main" noGrp="1"/>
          </p:cNvSpPr>
          <p:nvPr/>
        </p:nvSpPr>
        <p:spPr>
          <a:xfrm xmlns:a="http://schemas.openxmlformats.org/drawingml/2006/main">
            <a:off x="7981950" y="2114550"/>
            <a:ext cx="3676650" cy="3667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75" b="0">
                <a:solidFill>
                  <a:srgbClr val="15243B"/>
                </a:solidFill>
                <a:latin typeface="AppleGothic"/>
                <a:ea typeface="AppleGothic"/>
                <a:cs typeface="AppleGothic"/>
              </a:defRPr>
            </a:defPPr>
            <a:lvl1pPr>
              <a:defRPr sz="1875" b="0">
                <a:solidFill>
                  <a:srgbClr val="15243B"/>
                </a:solidFill>
                <a:latin typeface="AppleGothic"/>
                <a:ea typeface="AppleGothic"/>
                <a:cs typeface="AppleGothic"/>
              </a:defRPr>
            </a:lvl1pPr>
            <a:lvl2pPr>
              <a:defRPr sz="1875" b="0">
                <a:solidFill>
                  <a:srgbClr val="15243B"/>
                </a:solidFill>
                <a:latin typeface="AppleGothic"/>
                <a:ea typeface="AppleGothic"/>
                <a:cs typeface="AppleGothic"/>
              </a:defRPr>
            </a:lvl2pPr>
            <a:lvl3pPr>
              <a:defRPr sz="1875" b="0">
                <a:solidFill>
                  <a:srgbClr val="15243B"/>
                </a:solidFill>
                <a:latin typeface="AppleGothic"/>
                <a:ea typeface="AppleGothic"/>
                <a:cs typeface="AppleGothic"/>
              </a:defRPr>
            </a:lvl3pPr>
            <a:lvl4pPr>
              <a:defRPr sz="1875" b="0">
                <a:solidFill>
                  <a:srgbClr val="15243B"/>
                </a:solidFill>
                <a:latin typeface="AppleGothic"/>
                <a:ea typeface="AppleGothic"/>
                <a:cs typeface="AppleGothic"/>
              </a:defRPr>
            </a:lvl4pPr>
            <a:lvl5pPr>
              <a:defRPr sz="1875" b="0">
                <a:solidFill>
                  <a:srgbClr val="15243B"/>
                </a:solidFill>
                <a:latin typeface="AppleGothic"/>
                <a:ea typeface="AppleGothic"/>
                <a:cs typeface="AppleGothic"/>
              </a:defRPr>
            </a:lvl5pPr>
            <a:lvl6pPr>
              <a:defRPr sz="1875" b="0">
                <a:solidFill>
                  <a:srgbClr val="15243B"/>
                </a:solidFill>
                <a:latin typeface="AppleGothic"/>
                <a:ea typeface="AppleGothic"/>
                <a:cs typeface="AppleGothic"/>
              </a:defRPr>
            </a:lvl6pPr>
            <a:lvl7pPr>
              <a:defRPr sz="1875" b="0">
                <a:solidFill>
                  <a:srgbClr val="15243B"/>
                </a:solidFill>
                <a:latin typeface="AppleGothic"/>
                <a:ea typeface="AppleGothic"/>
                <a:cs typeface="AppleGothic"/>
              </a:defRPr>
            </a:lvl7pPr>
            <a:lvl8pPr>
              <a:defRPr sz="1875" b="0">
                <a:solidFill>
                  <a:srgbClr val="15243B"/>
                </a:solidFill>
                <a:latin typeface="AppleGothic"/>
                <a:ea typeface="AppleGothic"/>
                <a:cs typeface="AppleGothic"/>
              </a:defRPr>
            </a:lvl8pPr>
            <a:lvl9pPr>
              <a:defRPr sz="1875" b="0">
                <a:solidFill>
                  <a:srgbClr val="15243B"/>
                </a:solidFill>
                <a:latin typeface="AppleGothic"/>
                <a:ea typeface="AppleGothic"/>
                <a:cs typeface="AppleGothic"/>
              </a:defRPr>
            </a:lvl9pPr>
          </a:lstStyle>
          <a:p xmlns:a="http://schemas.openxmlformats.org/drawingml/2006/main">
            <a:pPr>
              <a:defRPr sz="1875" b="0">
                <a:solidFill>
                  <a:srgbClr val="15243B"/>
                </a:solidFill>
                <a:latin typeface="AppleGothic"/>
                <a:ea typeface="AppleGothic"/>
                <a:cs typeface="AppleGothic"/>
              </a:defRPr>
            </a:pPr>
            <a:r>
              <a:rPr sz="1875" b="0">
                <a:solidFill>
                  <a:srgbClr val="15243B"/>
                </a:solidFill>
                <a:latin typeface="AppleGothic"/>
                <a:ea typeface="AppleGothic"/>
                <a:cs typeface="AppleGothic"/>
              </a:rPr>
              <a:t>같은 IoU라도 anchor와 GT, prediction과 GT, prediction끼리의 비교를 구분한다.</a:t>
            </a:r>
          </a:p>
          <a:p xmlns:a="http://schemas.openxmlformats.org/drawingml/2006/main">
            <a:r>
              <a:t/>
            </a:r>
          </a:p>
          <a:p xmlns:a="http://schemas.openxmlformats.org/drawingml/2006/main">
            <a:pPr>
              <a:defRPr sz="1875" b="0">
                <a:solidFill>
                  <a:srgbClr val="15243B"/>
                </a:solidFill>
                <a:latin typeface="AppleGothic"/>
                <a:ea typeface="AppleGothic"/>
                <a:cs typeface="AppleGothic"/>
              </a:defRPr>
            </a:pPr>
            <a:r>
              <a:rPr sz="1875" b="0">
                <a:solidFill>
                  <a:srgbClr val="15243B"/>
                </a:solidFill>
                <a:latin typeface="AppleGothic"/>
                <a:ea typeface="AppleGothic"/>
                <a:cs typeface="AppleGothic"/>
              </a:rPr>
              <a:t>A와 B의 넓이가 16, 교집합이 8이면 IoU는 8/(16+16−8)=1/3이다.</a:t>
            </a:r>
          </a:p>
        </p:txBody>
      </p:sp>
      <p:sp>
        <p:nvSpPr>
          <p:cNvPr id="5" name="">
            <a:extLst xmlns:a="http://schemas.openxmlformats.org/drawingml/2006/main">
              <a:ext uri="{FF2B5EF4-FFF2-40B4-BE49-F238E27FC236}">
                <a16:creationId xmlns:a16="http://schemas.microsoft.com/office/drawing/2014/main" id="{62EF3E1C-5032-462C-83A3-F58CAFB5852A}"/>
              </a:ext>
            </a:extLst>
          </p:cNvPr>
          <p:cNvSpPr>
            <a:spLocks xmlns:a="http://schemas.openxmlformats.org/drawingml/2006/main" noGrp="1"/>
          </p:cNvSpPr>
          <p:nvPr/>
        </p:nvSpPr>
        <p:spPr>
          <a:xfrm xmlns:a="http://schemas.openxmlformats.org/drawingml/2006/main">
            <a:off x="533400" y="5895975"/>
            <a:ext cx="1112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526378"/>
                </a:solidFill>
                <a:latin typeface="AppleGothic"/>
                <a:ea typeface="AppleGothic"/>
                <a:cs typeface="AppleGothic"/>
              </a:defRPr>
            </a:defPPr>
            <a:lvl1pPr>
              <a:defRPr sz="1350" b="0">
                <a:solidFill>
                  <a:srgbClr val="526378"/>
                </a:solidFill>
                <a:latin typeface="AppleGothic"/>
                <a:ea typeface="AppleGothic"/>
                <a:cs typeface="AppleGothic"/>
              </a:defRPr>
            </a:lvl1pPr>
            <a:lvl2pPr>
              <a:defRPr sz="1350" b="0">
                <a:solidFill>
                  <a:srgbClr val="526378"/>
                </a:solidFill>
                <a:latin typeface="AppleGothic"/>
                <a:ea typeface="AppleGothic"/>
                <a:cs typeface="AppleGothic"/>
              </a:defRPr>
            </a:lvl2pPr>
            <a:lvl3pPr>
              <a:defRPr sz="1350" b="0">
                <a:solidFill>
                  <a:srgbClr val="526378"/>
                </a:solidFill>
                <a:latin typeface="AppleGothic"/>
                <a:ea typeface="AppleGothic"/>
                <a:cs typeface="AppleGothic"/>
              </a:defRPr>
            </a:lvl3pPr>
            <a:lvl4pPr>
              <a:defRPr sz="1350" b="0">
                <a:solidFill>
                  <a:srgbClr val="526378"/>
                </a:solidFill>
                <a:latin typeface="AppleGothic"/>
                <a:ea typeface="AppleGothic"/>
                <a:cs typeface="AppleGothic"/>
              </a:defRPr>
            </a:lvl4pPr>
            <a:lvl5pPr>
              <a:defRPr sz="1350" b="0">
                <a:solidFill>
                  <a:srgbClr val="526378"/>
                </a:solidFill>
                <a:latin typeface="AppleGothic"/>
                <a:ea typeface="AppleGothic"/>
                <a:cs typeface="AppleGothic"/>
              </a:defRPr>
            </a:lvl5pPr>
            <a:lvl6pPr>
              <a:defRPr sz="1350" b="0">
                <a:solidFill>
                  <a:srgbClr val="526378"/>
                </a:solidFill>
                <a:latin typeface="AppleGothic"/>
                <a:ea typeface="AppleGothic"/>
                <a:cs typeface="AppleGothic"/>
              </a:defRPr>
            </a:lvl6pPr>
            <a:lvl7pPr>
              <a:defRPr sz="1350" b="0">
                <a:solidFill>
                  <a:srgbClr val="526378"/>
                </a:solidFill>
                <a:latin typeface="AppleGothic"/>
                <a:ea typeface="AppleGothic"/>
                <a:cs typeface="AppleGothic"/>
              </a:defRPr>
            </a:lvl7pPr>
            <a:lvl8pPr>
              <a:defRPr sz="1350" b="0">
                <a:solidFill>
                  <a:srgbClr val="526378"/>
                </a:solidFill>
                <a:latin typeface="AppleGothic"/>
                <a:ea typeface="AppleGothic"/>
                <a:cs typeface="AppleGothic"/>
              </a:defRPr>
            </a:lvl8pPr>
            <a:lvl9pPr>
              <a:defRPr sz="1350" b="0">
                <a:solidFill>
                  <a:srgbClr val="526378"/>
                </a:solidFill>
                <a:latin typeface="AppleGothic"/>
                <a:ea typeface="AppleGothic"/>
                <a:cs typeface="AppleGothic"/>
              </a:defRPr>
            </a:lvl9pPr>
          </a:lstStyle>
          <a:p xmlns:a="http://schemas.openxmlformats.org/drawingml/2006/main">
            <a:pPr>
              <a:defRPr sz="1350" b="0">
                <a:solidFill>
                  <a:srgbClr val="526378"/>
                </a:solidFill>
                <a:latin typeface="AppleGothic"/>
                <a:ea typeface="AppleGothic"/>
                <a:cs typeface="AppleGothic"/>
              </a:defRPr>
            </a:pPr>
            <a:r>
              <a:rPr sz="1350" b="0">
                <a:solidFill>
                  <a:srgbClr val="526378"/>
                </a:solidFill>
                <a:latin typeface="AppleGothic"/>
                <a:ea typeface="AppleGothic"/>
                <a:cs typeface="AppleGothic"/>
              </a:rPr>
              <a:t>Lecture 4, p. 20. IoU increases as predicted and ground-truth boxes overlap</a:t>
            </a:r>
          </a:p>
        </p:txBody>
      </p:sp>
      <p:sp>
        <p:nvSpPr>
          <p:cNvPr id="6" name="">
            <a:extLst xmlns:a="http://schemas.openxmlformats.org/drawingml/2006/main">
              <a:ext uri="{FF2B5EF4-FFF2-40B4-BE49-F238E27FC236}">
                <a16:creationId xmlns:a16="http://schemas.microsoft.com/office/drawing/2014/main" id="{38BB77FE-1A71-4CB4-B54B-DCE1EB2AE132}"/>
              </a:ext>
            </a:extLst>
          </p:cNvPr>
          <p:cNvSpPr>
            <a:spLocks xmlns:a="http://schemas.openxmlformats.org/drawingml/2006/main" noGrp="1"/>
          </p:cNvSpPr>
          <p:nvPr/>
        </p:nvSpPr>
        <p:spPr>
          <a:xfrm xmlns:a="http://schemas.openxmlformats.org/drawingml/2006/main">
            <a:off x="11144250" y="6400800"/>
            <a:ext cx="5143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62748C"/>
                </a:solidFill>
                <a:latin typeface="AppleGothic"/>
                <a:ea typeface="AppleGothic"/>
                <a:cs typeface="AppleGothic"/>
              </a:defRPr>
            </a:defPPr>
            <a:lvl1pPr>
              <a:defRPr sz="1350" b="0">
                <a:solidFill>
                  <a:srgbClr val="62748C"/>
                </a:solidFill>
                <a:latin typeface="AppleGothic"/>
                <a:ea typeface="AppleGothic"/>
                <a:cs typeface="AppleGothic"/>
              </a:defRPr>
            </a:lvl1pPr>
            <a:lvl2pPr>
              <a:defRPr sz="1350" b="0">
                <a:solidFill>
                  <a:srgbClr val="62748C"/>
                </a:solidFill>
                <a:latin typeface="AppleGothic"/>
                <a:ea typeface="AppleGothic"/>
                <a:cs typeface="AppleGothic"/>
              </a:defRPr>
            </a:lvl2pPr>
            <a:lvl3pPr>
              <a:defRPr sz="1350" b="0">
                <a:solidFill>
                  <a:srgbClr val="62748C"/>
                </a:solidFill>
                <a:latin typeface="AppleGothic"/>
                <a:ea typeface="AppleGothic"/>
                <a:cs typeface="AppleGothic"/>
              </a:defRPr>
            </a:lvl3pPr>
            <a:lvl4pPr>
              <a:defRPr sz="1350" b="0">
                <a:solidFill>
                  <a:srgbClr val="62748C"/>
                </a:solidFill>
                <a:latin typeface="AppleGothic"/>
                <a:ea typeface="AppleGothic"/>
                <a:cs typeface="AppleGothic"/>
              </a:defRPr>
            </a:lvl4pPr>
            <a:lvl5pPr>
              <a:defRPr sz="1350" b="0">
                <a:solidFill>
                  <a:srgbClr val="62748C"/>
                </a:solidFill>
                <a:latin typeface="AppleGothic"/>
                <a:ea typeface="AppleGothic"/>
                <a:cs typeface="AppleGothic"/>
              </a:defRPr>
            </a:lvl5pPr>
            <a:lvl6pPr>
              <a:defRPr sz="1350" b="0">
                <a:solidFill>
                  <a:srgbClr val="62748C"/>
                </a:solidFill>
                <a:latin typeface="AppleGothic"/>
                <a:ea typeface="AppleGothic"/>
                <a:cs typeface="AppleGothic"/>
              </a:defRPr>
            </a:lvl6pPr>
            <a:lvl7pPr>
              <a:defRPr sz="1350" b="0">
                <a:solidFill>
                  <a:srgbClr val="62748C"/>
                </a:solidFill>
                <a:latin typeface="AppleGothic"/>
                <a:ea typeface="AppleGothic"/>
                <a:cs typeface="AppleGothic"/>
              </a:defRPr>
            </a:lvl7pPr>
            <a:lvl8pPr>
              <a:defRPr sz="1350" b="0">
                <a:solidFill>
                  <a:srgbClr val="62748C"/>
                </a:solidFill>
                <a:latin typeface="AppleGothic"/>
                <a:ea typeface="AppleGothic"/>
                <a:cs typeface="AppleGothic"/>
              </a:defRPr>
            </a:lvl8pPr>
            <a:lvl9pPr>
              <a:defRPr sz="1350" b="0">
                <a:solidFill>
                  <a:srgbClr val="62748C"/>
                </a:solidFill>
                <a:latin typeface="AppleGothic"/>
                <a:ea typeface="AppleGothic"/>
                <a:cs typeface="AppleGothic"/>
              </a:defRPr>
            </a:lvl9pPr>
          </a:lstStyle>
          <a:p xmlns:a="http://schemas.openxmlformats.org/drawingml/2006/main">
            <a:pPr>
              <a:defRPr sz="1350" b="0">
                <a:solidFill>
                  <a:srgbClr val="62748C"/>
                </a:solidFill>
                <a:latin typeface="AppleGothic"/>
                <a:ea typeface="AppleGothic"/>
                <a:cs typeface="AppleGothic"/>
              </a:defRPr>
            </a:pPr>
            <a:r>
              <a:rPr sz="1350" b="0">
                <a:solidFill>
                  <a:srgbClr val="62748C"/>
                </a:solidFill>
                <a:latin typeface="AppleGothic"/>
                <a:ea typeface="AppleGothic"/>
                <a:cs typeface="AppleGothic"/>
              </a:rPr>
              <a:t>09</a:t>
            </a:r>
          </a:p>
        </p:txBody>
      </p:sp>
    </p:spTree>
    <p:extLst>
      <p:ext uri="{BB962C8B-B14F-4D97-AF65-F5344CB8AC3E}">
        <p14:creationId xmlns:p14="http://schemas.microsoft.com/office/powerpoint/2010/main" val="516683161"/>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4EE1E692-5D2E-404C-AE82-2C988F4835D1}"/>
              </a:ext>
            </a:extLst>
          </p:cNvPr>
          <p:cNvSpPr>
            <a:spLocks xmlns:a="http://schemas.openxmlformats.org/drawingml/2006/main" noGrp="1"/>
          </p:cNvSpPr>
          <p:nvPr/>
        </p:nvSpPr>
        <p:spPr>
          <a:xfrm xmlns:a="http://schemas.openxmlformats.org/drawingml/2006/main">
            <a:off x="533400" y="342900"/>
            <a:ext cx="111252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150" b="1">
                <a:solidFill>
                  <a:srgbClr val="15243B"/>
                </a:solidFill>
                <a:latin typeface="AppleGothic"/>
                <a:ea typeface="AppleGothic"/>
                <a:cs typeface="AppleGothic"/>
              </a:defRPr>
            </a:defPPr>
            <a:lvl1pPr>
              <a:defRPr sz="3150" b="1">
                <a:solidFill>
                  <a:srgbClr val="15243B"/>
                </a:solidFill>
                <a:latin typeface="AppleGothic"/>
                <a:ea typeface="AppleGothic"/>
                <a:cs typeface="AppleGothic"/>
              </a:defRPr>
            </a:lvl1pPr>
            <a:lvl2pPr>
              <a:defRPr sz="3150" b="1">
                <a:solidFill>
                  <a:srgbClr val="15243B"/>
                </a:solidFill>
                <a:latin typeface="AppleGothic"/>
                <a:ea typeface="AppleGothic"/>
                <a:cs typeface="AppleGothic"/>
              </a:defRPr>
            </a:lvl2pPr>
            <a:lvl3pPr>
              <a:defRPr sz="3150" b="1">
                <a:solidFill>
                  <a:srgbClr val="15243B"/>
                </a:solidFill>
                <a:latin typeface="AppleGothic"/>
                <a:ea typeface="AppleGothic"/>
                <a:cs typeface="AppleGothic"/>
              </a:defRPr>
            </a:lvl3pPr>
            <a:lvl4pPr>
              <a:defRPr sz="3150" b="1">
                <a:solidFill>
                  <a:srgbClr val="15243B"/>
                </a:solidFill>
                <a:latin typeface="AppleGothic"/>
                <a:ea typeface="AppleGothic"/>
                <a:cs typeface="AppleGothic"/>
              </a:defRPr>
            </a:lvl4pPr>
            <a:lvl5pPr>
              <a:defRPr sz="3150" b="1">
                <a:solidFill>
                  <a:srgbClr val="15243B"/>
                </a:solidFill>
                <a:latin typeface="AppleGothic"/>
                <a:ea typeface="AppleGothic"/>
                <a:cs typeface="AppleGothic"/>
              </a:defRPr>
            </a:lvl5pPr>
            <a:lvl6pPr>
              <a:defRPr sz="3150" b="1">
                <a:solidFill>
                  <a:srgbClr val="15243B"/>
                </a:solidFill>
                <a:latin typeface="AppleGothic"/>
                <a:ea typeface="AppleGothic"/>
                <a:cs typeface="AppleGothic"/>
              </a:defRPr>
            </a:lvl6pPr>
            <a:lvl7pPr>
              <a:defRPr sz="3150" b="1">
                <a:solidFill>
                  <a:srgbClr val="15243B"/>
                </a:solidFill>
                <a:latin typeface="AppleGothic"/>
                <a:ea typeface="AppleGothic"/>
                <a:cs typeface="AppleGothic"/>
              </a:defRPr>
            </a:lvl7pPr>
            <a:lvl8pPr>
              <a:defRPr sz="3150" b="1">
                <a:solidFill>
                  <a:srgbClr val="15243B"/>
                </a:solidFill>
                <a:latin typeface="AppleGothic"/>
                <a:ea typeface="AppleGothic"/>
                <a:cs typeface="AppleGothic"/>
              </a:defRPr>
            </a:lvl8pPr>
            <a:lvl9pPr>
              <a:defRPr sz="3150" b="1">
                <a:solidFill>
                  <a:srgbClr val="15243B"/>
                </a:solidFill>
                <a:latin typeface="AppleGothic"/>
                <a:ea typeface="AppleGothic"/>
                <a:cs typeface="AppleGothic"/>
              </a:defRPr>
            </a:lvl9pPr>
          </a:lstStyle>
          <a:p xmlns:a="http://schemas.openxmlformats.org/drawingml/2006/main">
            <a:pPr>
              <a:defRPr sz="3150" b="1">
                <a:solidFill>
                  <a:srgbClr val="15243B"/>
                </a:solidFill>
                <a:latin typeface="AppleGothic"/>
                <a:ea typeface="AppleGothic"/>
                <a:cs typeface="AppleGothic"/>
              </a:defRPr>
            </a:pPr>
            <a:r>
              <a:rPr sz="3150" b="1">
                <a:solidFill>
                  <a:srgbClr val="15243B"/>
                </a:solidFill>
                <a:latin typeface="AppleGothic"/>
                <a:ea typeface="AppleGothic"/>
                <a:cs typeface="AppleGothic"/>
              </a:rPr>
              <a:t>Average Precision</a:t>
            </a:r>
          </a:p>
        </p:txBody>
      </p:sp>
      <p:sp>
        <p:nvSpPr>
          <p:cNvPr id="2" name="">
            <a:extLst xmlns:a="http://schemas.openxmlformats.org/drawingml/2006/main">
              <a:ext uri="{FF2B5EF4-FFF2-40B4-BE49-F238E27FC236}">
                <a16:creationId xmlns:a16="http://schemas.microsoft.com/office/drawing/2014/main" id="{A9408E99-3EEE-4140-AD51-60948E094271}"/>
              </a:ext>
            </a:extLst>
          </p:cNvPr>
          <p:cNvSpPr>
            <a:spLocks xmlns:a="http://schemas.openxmlformats.org/drawingml/2006/main" noGrp="1"/>
          </p:cNvSpPr>
          <p:nvPr/>
        </p:nvSpPr>
        <p:spPr>
          <a:xfrm xmlns:a="http://schemas.openxmlformats.org/drawingml/2006/main">
            <a:off x="533400" y="1066800"/>
            <a:ext cx="111252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1">
                <a:solidFill>
                  <a:srgbClr val="2164CB"/>
                </a:solidFill>
                <a:latin typeface="AppleGothic"/>
                <a:ea typeface="AppleGothic"/>
                <a:cs typeface="AppleGothic"/>
              </a:defRPr>
            </a:defPPr>
            <a:lvl1pPr>
              <a:defRPr sz="2175" b="1">
                <a:solidFill>
                  <a:srgbClr val="2164CB"/>
                </a:solidFill>
                <a:latin typeface="AppleGothic"/>
                <a:ea typeface="AppleGothic"/>
                <a:cs typeface="AppleGothic"/>
              </a:defRPr>
            </a:lvl1pPr>
            <a:lvl2pPr>
              <a:defRPr sz="2175" b="1">
                <a:solidFill>
                  <a:srgbClr val="2164CB"/>
                </a:solidFill>
                <a:latin typeface="AppleGothic"/>
                <a:ea typeface="AppleGothic"/>
                <a:cs typeface="AppleGothic"/>
              </a:defRPr>
            </a:lvl2pPr>
            <a:lvl3pPr>
              <a:defRPr sz="2175" b="1">
                <a:solidFill>
                  <a:srgbClr val="2164CB"/>
                </a:solidFill>
                <a:latin typeface="AppleGothic"/>
                <a:ea typeface="AppleGothic"/>
                <a:cs typeface="AppleGothic"/>
              </a:defRPr>
            </a:lvl3pPr>
            <a:lvl4pPr>
              <a:defRPr sz="2175" b="1">
                <a:solidFill>
                  <a:srgbClr val="2164CB"/>
                </a:solidFill>
                <a:latin typeface="AppleGothic"/>
                <a:ea typeface="AppleGothic"/>
                <a:cs typeface="AppleGothic"/>
              </a:defRPr>
            </a:lvl4pPr>
            <a:lvl5pPr>
              <a:defRPr sz="2175" b="1">
                <a:solidFill>
                  <a:srgbClr val="2164CB"/>
                </a:solidFill>
                <a:latin typeface="AppleGothic"/>
                <a:ea typeface="AppleGothic"/>
                <a:cs typeface="AppleGothic"/>
              </a:defRPr>
            </a:lvl5pPr>
            <a:lvl6pPr>
              <a:defRPr sz="2175" b="1">
                <a:solidFill>
                  <a:srgbClr val="2164CB"/>
                </a:solidFill>
                <a:latin typeface="AppleGothic"/>
                <a:ea typeface="AppleGothic"/>
                <a:cs typeface="AppleGothic"/>
              </a:defRPr>
            </a:lvl6pPr>
            <a:lvl7pPr>
              <a:defRPr sz="2175" b="1">
                <a:solidFill>
                  <a:srgbClr val="2164CB"/>
                </a:solidFill>
                <a:latin typeface="AppleGothic"/>
                <a:ea typeface="AppleGothic"/>
                <a:cs typeface="AppleGothic"/>
              </a:defRPr>
            </a:lvl7pPr>
            <a:lvl8pPr>
              <a:defRPr sz="2175" b="1">
                <a:solidFill>
                  <a:srgbClr val="2164CB"/>
                </a:solidFill>
                <a:latin typeface="AppleGothic"/>
                <a:ea typeface="AppleGothic"/>
                <a:cs typeface="AppleGothic"/>
              </a:defRPr>
            </a:lvl8pPr>
            <a:lvl9pPr>
              <a:defRPr sz="2175" b="1">
                <a:solidFill>
                  <a:srgbClr val="2164CB"/>
                </a:solidFill>
                <a:latin typeface="AppleGothic"/>
                <a:ea typeface="AppleGothic"/>
                <a:cs typeface="AppleGothic"/>
              </a:defRPr>
            </a:lvl9pPr>
          </a:lstStyle>
          <a:p xmlns:a="http://schemas.openxmlformats.org/drawingml/2006/main">
            <a:pPr>
              <a:defRPr sz="2175" b="1">
                <a:solidFill>
                  <a:srgbClr val="2164CB"/>
                </a:solidFill>
                <a:latin typeface="AppleGothic"/>
                <a:ea typeface="AppleGothic"/>
                <a:cs typeface="AppleGothic"/>
              </a:defRPr>
            </a:pPr>
            <a:r>
              <a:rPr sz="2175" b="1">
                <a:solidFill>
                  <a:srgbClr val="2164CB"/>
                </a:solidFill>
                <a:latin typeface="AppleGothic"/>
                <a:ea typeface="AppleGothic"/>
                <a:cs typeface="AppleGothic"/>
              </a:rPr>
              <a:t>AP는 confidence 순서로 만든 precision-recall curve의 면적이다</a:t>
            </a:r>
          </a:p>
        </p:txBody>
      </p:sp>
      <p:pic>
        <p:nvPicPr>
          <p:cNvPr id="3" name="">
            <a:extLst xmlns:a="http://schemas.openxmlformats.org/drawingml/2006/main">
              <a:ext uri="{FF2B5EF4-FFF2-40B4-BE49-F238E27FC236}">
                <a16:creationId xmlns:a16="http://schemas.microsoft.com/office/drawing/2014/main" id="{C202E545-D5E4-49C4-BE85-ACAA95A54EEE}"/>
              </a:ext>
            </a:extLst>
          </p:cNvPr>
          <p:cNvPicPr>
            <a:picLocks xmlns:a="http://schemas.openxmlformats.org/drawingml/2006/main" noChangeAspect="1"/>
          </p:cNvPicPr>
          <p:nvPr/>
        </p:nvPicPr>
        <p:blipFill>
          <a:blip xmlns:r="http://schemas.openxmlformats.org/officeDocument/2006/relationships" xmlns:a="http://schemas.openxmlformats.org/drawingml/2006/main" r:embed="Rdbcc13b605284372"/>
          <a:stretch xmlns:a="http://schemas.openxmlformats.org/drawingml/2006/main"/>
        </p:blipFill>
        <p:spPr>
          <a:xfrm xmlns:a="http://schemas.openxmlformats.org/drawingml/2006/main">
            <a:off x="802525" y="2057400"/>
            <a:ext cx="6605501" cy="3714750"/>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535DDE65-2E60-4C97-8491-7B0AAAFD8794}"/>
              </a:ext>
            </a:extLst>
          </p:cNvPr>
          <p:cNvSpPr>
            <a:spLocks xmlns:a="http://schemas.openxmlformats.org/drawingml/2006/main" noGrp="1"/>
          </p:cNvSpPr>
          <p:nvPr/>
        </p:nvSpPr>
        <p:spPr>
          <a:xfrm xmlns:a="http://schemas.openxmlformats.org/drawingml/2006/main">
            <a:off x="7981950" y="2114550"/>
            <a:ext cx="3676650" cy="3667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75" b="0">
                <a:solidFill>
                  <a:srgbClr val="15243B"/>
                </a:solidFill>
                <a:latin typeface="AppleGothic"/>
                <a:ea typeface="AppleGothic"/>
                <a:cs typeface="AppleGothic"/>
              </a:defRPr>
            </a:defPPr>
            <a:lvl1pPr>
              <a:defRPr sz="1875" b="0">
                <a:solidFill>
                  <a:srgbClr val="15243B"/>
                </a:solidFill>
                <a:latin typeface="AppleGothic"/>
                <a:ea typeface="AppleGothic"/>
                <a:cs typeface="AppleGothic"/>
              </a:defRPr>
            </a:lvl1pPr>
            <a:lvl2pPr>
              <a:defRPr sz="1875" b="0">
                <a:solidFill>
                  <a:srgbClr val="15243B"/>
                </a:solidFill>
                <a:latin typeface="AppleGothic"/>
                <a:ea typeface="AppleGothic"/>
                <a:cs typeface="AppleGothic"/>
              </a:defRPr>
            </a:lvl2pPr>
            <a:lvl3pPr>
              <a:defRPr sz="1875" b="0">
                <a:solidFill>
                  <a:srgbClr val="15243B"/>
                </a:solidFill>
                <a:latin typeface="AppleGothic"/>
                <a:ea typeface="AppleGothic"/>
                <a:cs typeface="AppleGothic"/>
              </a:defRPr>
            </a:lvl3pPr>
            <a:lvl4pPr>
              <a:defRPr sz="1875" b="0">
                <a:solidFill>
                  <a:srgbClr val="15243B"/>
                </a:solidFill>
                <a:latin typeface="AppleGothic"/>
                <a:ea typeface="AppleGothic"/>
                <a:cs typeface="AppleGothic"/>
              </a:defRPr>
            </a:lvl4pPr>
            <a:lvl5pPr>
              <a:defRPr sz="1875" b="0">
                <a:solidFill>
                  <a:srgbClr val="15243B"/>
                </a:solidFill>
                <a:latin typeface="AppleGothic"/>
                <a:ea typeface="AppleGothic"/>
                <a:cs typeface="AppleGothic"/>
              </a:defRPr>
            </a:lvl5pPr>
            <a:lvl6pPr>
              <a:defRPr sz="1875" b="0">
                <a:solidFill>
                  <a:srgbClr val="15243B"/>
                </a:solidFill>
                <a:latin typeface="AppleGothic"/>
                <a:ea typeface="AppleGothic"/>
                <a:cs typeface="AppleGothic"/>
              </a:defRPr>
            </a:lvl6pPr>
            <a:lvl7pPr>
              <a:defRPr sz="1875" b="0">
                <a:solidFill>
                  <a:srgbClr val="15243B"/>
                </a:solidFill>
                <a:latin typeface="AppleGothic"/>
                <a:ea typeface="AppleGothic"/>
                <a:cs typeface="AppleGothic"/>
              </a:defRPr>
            </a:lvl7pPr>
            <a:lvl8pPr>
              <a:defRPr sz="1875" b="0">
                <a:solidFill>
                  <a:srgbClr val="15243B"/>
                </a:solidFill>
                <a:latin typeface="AppleGothic"/>
                <a:ea typeface="AppleGothic"/>
                <a:cs typeface="AppleGothic"/>
              </a:defRPr>
            </a:lvl8pPr>
            <a:lvl9pPr>
              <a:defRPr sz="1875" b="0">
                <a:solidFill>
                  <a:srgbClr val="15243B"/>
                </a:solidFill>
                <a:latin typeface="AppleGothic"/>
                <a:ea typeface="AppleGothic"/>
                <a:cs typeface="AppleGothic"/>
              </a:defRPr>
            </a:lvl9pPr>
          </a:lstStyle>
          <a:p xmlns:a="http://schemas.openxmlformats.org/drawingml/2006/main">
            <a:pPr>
              <a:defRPr sz="1875" b="0">
                <a:solidFill>
                  <a:srgbClr val="15243B"/>
                </a:solidFill>
                <a:latin typeface="AppleGothic"/>
                <a:ea typeface="AppleGothic"/>
                <a:cs typeface="AppleGothic"/>
              </a:defRPr>
            </a:pPr>
            <a:r>
              <a:rPr sz="1875" b="0">
                <a:solidFill>
                  <a:srgbClr val="15243B"/>
                </a:solidFill>
                <a:latin typeface="AppleGothic"/>
                <a:ea typeface="AppleGothic"/>
                <a:cs typeface="AppleGothic"/>
              </a:rPr>
              <a:t>각 prediction은 같은 image와 class의 아직 쓰지 않은 GT에 한 번만 매칭한다.</a:t>
            </a:r>
          </a:p>
          <a:p xmlns:a="http://schemas.openxmlformats.org/drawingml/2006/main">
            <a:r>
              <a:t/>
            </a:r>
          </a:p>
          <a:p xmlns:a="http://schemas.openxmlformats.org/drawingml/2006/main">
            <a:pPr>
              <a:defRPr sz="1875" b="0">
                <a:solidFill>
                  <a:srgbClr val="15243B"/>
                </a:solidFill>
                <a:latin typeface="AppleGothic"/>
                <a:ea typeface="AppleGothic"/>
                <a:cs typeface="AppleGothic"/>
              </a:defRPr>
            </a:pPr>
            <a:r>
              <a:rPr sz="1875" b="0">
                <a:solidFill>
                  <a:srgbClr val="15243B"/>
                </a:solidFill>
                <a:latin typeface="AppleGothic"/>
                <a:ea typeface="AppleGothic"/>
                <a:cs typeface="AppleGothic"/>
              </a:rPr>
              <a:t>TP, FP, TP, TP, FP와 GT 4개인 예시의 all-points AP는 0.625다.</a:t>
            </a:r>
          </a:p>
        </p:txBody>
      </p:sp>
      <p:sp>
        <p:nvSpPr>
          <p:cNvPr id="5" name="">
            <a:extLst xmlns:a="http://schemas.openxmlformats.org/drawingml/2006/main">
              <a:ext uri="{FF2B5EF4-FFF2-40B4-BE49-F238E27FC236}">
                <a16:creationId xmlns:a16="http://schemas.microsoft.com/office/drawing/2014/main" id="{23F95ABD-8830-4ABB-A8C5-06CC7497B156}"/>
              </a:ext>
            </a:extLst>
          </p:cNvPr>
          <p:cNvSpPr>
            <a:spLocks xmlns:a="http://schemas.openxmlformats.org/drawingml/2006/main" noGrp="1"/>
          </p:cNvSpPr>
          <p:nvPr/>
        </p:nvSpPr>
        <p:spPr>
          <a:xfrm xmlns:a="http://schemas.openxmlformats.org/drawingml/2006/main">
            <a:off x="533400" y="5895975"/>
            <a:ext cx="1112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526378"/>
                </a:solidFill>
                <a:latin typeface="AppleGothic"/>
                <a:ea typeface="AppleGothic"/>
                <a:cs typeface="AppleGothic"/>
              </a:defRPr>
            </a:defPPr>
            <a:lvl1pPr>
              <a:defRPr sz="1350" b="0">
                <a:solidFill>
                  <a:srgbClr val="526378"/>
                </a:solidFill>
                <a:latin typeface="AppleGothic"/>
                <a:ea typeface="AppleGothic"/>
                <a:cs typeface="AppleGothic"/>
              </a:defRPr>
            </a:lvl1pPr>
            <a:lvl2pPr>
              <a:defRPr sz="1350" b="0">
                <a:solidFill>
                  <a:srgbClr val="526378"/>
                </a:solidFill>
                <a:latin typeface="AppleGothic"/>
                <a:ea typeface="AppleGothic"/>
                <a:cs typeface="AppleGothic"/>
              </a:defRPr>
            </a:lvl2pPr>
            <a:lvl3pPr>
              <a:defRPr sz="1350" b="0">
                <a:solidFill>
                  <a:srgbClr val="526378"/>
                </a:solidFill>
                <a:latin typeface="AppleGothic"/>
                <a:ea typeface="AppleGothic"/>
                <a:cs typeface="AppleGothic"/>
              </a:defRPr>
            </a:lvl3pPr>
            <a:lvl4pPr>
              <a:defRPr sz="1350" b="0">
                <a:solidFill>
                  <a:srgbClr val="526378"/>
                </a:solidFill>
                <a:latin typeface="AppleGothic"/>
                <a:ea typeface="AppleGothic"/>
                <a:cs typeface="AppleGothic"/>
              </a:defRPr>
            </a:lvl4pPr>
            <a:lvl5pPr>
              <a:defRPr sz="1350" b="0">
                <a:solidFill>
                  <a:srgbClr val="526378"/>
                </a:solidFill>
                <a:latin typeface="AppleGothic"/>
                <a:ea typeface="AppleGothic"/>
                <a:cs typeface="AppleGothic"/>
              </a:defRPr>
            </a:lvl5pPr>
            <a:lvl6pPr>
              <a:defRPr sz="1350" b="0">
                <a:solidFill>
                  <a:srgbClr val="526378"/>
                </a:solidFill>
                <a:latin typeface="AppleGothic"/>
                <a:ea typeface="AppleGothic"/>
                <a:cs typeface="AppleGothic"/>
              </a:defRPr>
            </a:lvl6pPr>
            <a:lvl7pPr>
              <a:defRPr sz="1350" b="0">
                <a:solidFill>
                  <a:srgbClr val="526378"/>
                </a:solidFill>
                <a:latin typeface="AppleGothic"/>
                <a:ea typeface="AppleGothic"/>
                <a:cs typeface="AppleGothic"/>
              </a:defRPr>
            </a:lvl7pPr>
            <a:lvl8pPr>
              <a:defRPr sz="1350" b="0">
                <a:solidFill>
                  <a:srgbClr val="526378"/>
                </a:solidFill>
                <a:latin typeface="AppleGothic"/>
                <a:ea typeface="AppleGothic"/>
                <a:cs typeface="AppleGothic"/>
              </a:defRPr>
            </a:lvl8pPr>
            <a:lvl9pPr>
              <a:defRPr sz="1350" b="0">
                <a:solidFill>
                  <a:srgbClr val="526378"/>
                </a:solidFill>
                <a:latin typeface="AppleGothic"/>
                <a:ea typeface="AppleGothic"/>
                <a:cs typeface="AppleGothic"/>
              </a:defRPr>
            </a:lvl9pPr>
          </a:lstStyle>
          <a:p xmlns:a="http://schemas.openxmlformats.org/drawingml/2006/main">
            <a:pPr>
              <a:defRPr sz="1350" b="0">
                <a:solidFill>
                  <a:srgbClr val="526378"/>
                </a:solidFill>
                <a:latin typeface="AppleGothic"/>
                <a:ea typeface="AppleGothic"/>
                <a:cs typeface="AppleGothic"/>
              </a:defRPr>
            </a:pPr>
            <a:r>
              <a:rPr sz="1350" b="0">
                <a:solidFill>
                  <a:srgbClr val="526378"/>
                </a:solidFill>
                <a:latin typeface="AppleGothic"/>
                <a:ea typeface="AppleGothic"/>
                <a:cs typeface="AppleGothic"/>
              </a:rPr>
              <a:t>Lecture 5, p. 12. First confidence-ranked detection gives precision 1 and recall 0.33</a:t>
            </a:r>
          </a:p>
        </p:txBody>
      </p:sp>
      <p:sp>
        <p:nvSpPr>
          <p:cNvPr id="6" name="">
            <a:extLst xmlns:a="http://schemas.openxmlformats.org/drawingml/2006/main">
              <a:ext uri="{FF2B5EF4-FFF2-40B4-BE49-F238E27FC236}">
                <a16:creationId xmlns:a16="http://schemas.microsoft.com/office/drawing/2014/main" id="{D9609F7E-5CB1-4A5D-ADF5-BA4719267CE1}"/>
              </a:ext>
            </a:extLst>
          </p:cNvPr>
          <p:cNvSpPr>
            <a:spLocks xmlns:a="http://schemas.openxmlformats.org/drawingml/2006/main" noGrp="1"/>
          </p:cNvSpPr>
          <p:nvPr/>
        </p:nvSpPr>
        <p:spPr>
          <a:xfrm xmlns:a="http://schemas.openxmlformats.org/drawingml/2006/main">
            <a:off x="11144250" y="6400800"/>
            <a:ext cx="5143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62748C"/>
                </a:solidFill>
                <a:latin typeface="AppleGothic"/>
                <a:ea typeface="AppleGothic"/>
                <a:cs typeface="AppleGothic"/>
              </a:defRPr>
            </a:defPPr>
            <a:lvl1pPr>
              <a:defRPr sz="1350" b="0">
                <a:solidFill>
                  <a:srgbClr val="62748C"/>
                </a:solidFill>
                <a:latin typeface="AppleGothic"/>
                <a:ea typeface="AppleGothic"/>
                <a:cs typeface="AppleGothic"/>
              </a:defRPr>
            </a:lvl1pPr>
            <a:lvl2pPr>
              <a:defRPr sz="1350" b="0">
                <a:solidFill>
                  <a:srgbClr val="62748C"/>
                </a:solidFill>
                <a:latin typeface="AppleGothic"/>
                <a:ea typeface="AppleGothic"/>
                <a:cs typeface="AppleGothic"/>
              </a:defRPr>
            </a:lvl2pPr>
            <a:lvl3pPr>
              <a:defRPr sz="1350" b="0">
                <a:solidFill>
                  <a:srgbClr val="62748C"/>
                </a:solidFill>
                <a:latin typeface="AppleGothic"/>
                <a:ea typeface="AppleGothic"/>
                <a:cs typeface="AppleGothic"/>
              </a:defRPr>
            </a:lvl3pPr>
            <a:lvl4pPr>
              <a:defRPr sz="1350" b="0">
                <a:solidFill>
                  <a:srgbClr val="62748C"/>
                </a:solidFill>
                <a:latin typeface="AppleGothic"/>
                <a:ea typeface="AppleGothic"/>
                <a:cs typeface="AppleGothic"/>
              </a:defRPr>
            </a:lvl4pPr>
            <a:lvl5pPr>
              <a:defRPr sz="1350" b="0">
                <a:solidFill>
                  <a:srgbClr val="62748C"/>
                </a:solidFill>
                <a:latin typeface="AppleGothic"/>
                <a:ea typeface="AppleGothic"/>
                <a:cs typeface="AppleGothic"/>
              </a:defRPr>
            </a:lvl5pPr>
            <a:lvl6pPr>
              <a:defRPr sz="1350" b="0">
                <a:solidFill>
                  <a:srgbClr val="62748C"/>
                </a:solidFill>
                <a:latin typeface="AppleGothic"/>
                <a:ea typeface="AppleGothic"/>
                <a:cs typeface="AppleGothic"/>
              </a:defRPr>
            </a:lvl6pPr>
            <a:lvl7pPr>
              <a:defRPr sz="1350" b="0">
                <a:solidFill>
                  <a:srgbClr val="62748C"/>
                </a:solidFill>
                <a:latin typeface="AppleGothic"/>
                <a:ea typeface="AppleGothic"/>
                <a:cs typeface="AppleGothic"/>
              </a:defRPr>
            </a:lvl7pPr>
            <a:lvl8pPr>
              <a:defRPr sz="1350" b="0">
                <a:solidFill>
                  <a:srgbClr val="62748C"/>
                </a:solidFill>
                <a:latin typeface="AppleGothic"/>
                <a:ea typeface="AppleGothic"/>
                <a:cs typeface="AppleGothic"/>
              </a:defRPr>
            </a:lvl8pPr>
            <a:lvl9pPr>
              <a:defRPr sz="1350" b="0">
                <a:solidFill>
                  <a:srgbClr val="62748C"/>
                </a:solidFill>
                <a:latin typeface="AppleGothic"/>
                <a:ea typeface="AppleGothic"/>
                <a:cs typeface="AppleGothic"/>
              </a:defRPr>
            </a:lvl9pPr>
          </a:lstStyle>
          <a:p xmlns:a="http://schemas.openxmlformats.org/drawingml/2006/main">
            <a:pPr>
              <a:defRPr sz="1350" b="0">
                <a:solidFill>
                  <a:srgbClr val="62748C"/>
                </a:solidFill>
                <a:latin typeface="AppleGothic"/>
                <a:ea typeface="AppleGothic"/>
                <a:cs typeface="AppleGothic"/>
              </a:defRPr>
            </a:pPr>
            <a:r>
              <a:rPr sz="1350" b="0">
                <a:solidFill>
                  <a:srgbClr val="62748C"/>
                </a:solidFill>
                <a:latin typeface="AppleGothic"/>
                <a:ea typeface="AppleGothic"/>
                <a:cs typeface="AppleGothic"/>
              </a:rPr>
              <a:t>10</a:t>
            </a:r>
          </a:p>
        </p:txBody>
      </p:sp>
    </p:spTree>
    <p:extLst>
      <p:ext uri="{BB962C8B-B14F-4D97-AF65-F5344CB8AC3E}">
        <p14:creationId xmlns:p14="http://schemas.microsoft.com/office/powerpoint/2010/main" val="2092505056"/>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B4E1561-E33F-4B14-AC03-B13E64742017}"/>
              </a:ext>
            </a:extLst>
          </p:cNvPr>
          <p:cNvSpPr>
            <a:spLocks xmlns:a="http://schemas.openxmlformats.org/drawingml/2006/main" noGrp="1"/>
          </p:cNvSpPr>
          <p:nvPr/>
        </p:nvSpPr>
        <p:spPr>
          <a:xfrm xmlns:a="http://schemas.openxmlformats.org/drawingml/2006/main">
            <a:off x="533400" y="342900"/>
            <a:ext cx="111252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150" b="1">
                <a:solidFill>
                  <a:srgbClr val="15243B"/>
                </a:solidFill>
                <a:latin typeface="AppleGothic"/>
                <a:ea typeface="AppleGothic"/>
                <a:cs typeface="AppleGothic"/>
              </a:defRPr>
            </a:defPPr>
            <a:lvl1pPr>
              <a:defRPr sz="3150" b="1">
                <a:solidFill>
                  <a:srgbClr val="15243B"/>
                </a:solidFill>
                <a:latin typeface="AppleGothic"/>
                <a:ea typeface="AppleGothic"/>
                <a:cs typeface="AppleGothic"/>
              </a:defRPr>
            </a:lvl1pPr>
            <a:lvl2pPr>
              <a:defRPr sz="3150" b="1">
                <a:solidFill>
                  <a:srgbClr val="15243B"/>
                </a:solidFill>
                <a:latin typeface="AppleGothic"/>
                <a:ea typeface="AppleGothic"/>
                <a:cs typeface="AppleGothic"/>
              </a:defRPr>
            </a:lvl2pPr>
            <a:lvl3pPr>
              <a:defRPr sz="3150" b="1">
                <a:solidFill>
                  <a:srgbClr val="15243B"/>
                </a:solidFill>
                <a:latin typeface="AppleGothic"/>
                <a:ea typeface="AppleGothic"/>
                <a:cs typeface="AppleGothic"/>
              </a:defRPr>
            </a:lvl3pPr>
            <a:lvl4pPr>
              <a:defRPr sz="3150" b="1">
                <a:solidFill>
                  <a:srgbClr val="15243B"/>
                </a:solidFill>
                <a:latin typeface="AppleGothic"/>
                <a:ea typeface="AppleGothic"/>
                <a:cs typeface="AppleGothic"/>
              </a:defRPr>
            </a:lvl4pPr>
            <a:lvl5pPr>
              <a:defRPr sz="3150" b="1">
                <a:solidFill>
                  <a:srgbClr val="15243B"/>
                </a:solidFill>
                <a:latin typeface="AppleGothic"/>
                <a:ea typeface="AppleGothic"/>
                <a:cs typeface="AppleGothic"/>
              </a:defRPr>
            </a:lvl5pPr>
            <a:lvl6pPr>
              <a:defRPr sz="3150" b="1">
                <a:solidFill>
                  <a:srgbClr val="15243B"/>
                </a:solidFill>
                <a:latin typeface="AppleGothic"/>
                <a:ea typeface="AppleGothic"/>
                <a:cs typeface="AppleGothic"/>
              </a:defRPr>
            </a:lvl6pPr>
            <a:lvl7pPr>
              <a:defRPr sz="3150" b="1">
                <a:solidFill>
                  <a:srgbClr val="15243B"/>
                </a:solidFill>
                <a:latin typeface="AppleGothic"/>
                <a:ea typeface="AppleGothic"/>
                <a:cs typeface="AppleGothic"/>
              </a:defRPr>
            </a:lvl7pPr>
            <a:lvl8pPr>
              <a:defRPr sz="3150" b="1">
                <a:solidFill>
                  <a:srgbClr val="15243B"/>
                </a:solidFill>
                <a:latin typeface="AppleGothic"/>
                <a:ea typeface="AppleGothic"/>
                <a:cs typeface="AppleGothic"/>
              </a:defRPr>
            </a:lvl8pPr>
            <a:lvl9pPr>
              <a:defRPr sz="3150" b="1">
                <a:solidFill>
                  <a:srgbClr val="15243B"/>
                </a:solidFill>
                <a:latin typeface="AppleGothic"/>
                <a:ea typeface="AppleGothic"/>
                <a:cs typeface="AppleGothic"/>
              </a:defRPr>
            </a:lvl9pPr>
          </a:lstStyle>
          <a:p xmlns:a="http://schemas.openxmlformats.org/drawingml/2006/main">
            <a:pPr>
              <a:defRPr sz="3150" b="1">
                <a:solidFill>
                  <a:srgbClr val="15243B"/>
                </a:solidFill>
                <a:latin typeface="AppleGothic"/>
                <a:ea typeface="AppleGothic"/>
                <a:cs typeface="AppleGothic"/>
              </a:defRPr>
            </a:pPr>
            <a:r>
              <a:rPr sz="3150" b="1">
                <a:solidFill>
                  <a:srgbClr val="15243B"/>
                </a:solidFill>
                <a:latin typeface="AppleGothic"/>
                <a:ea typeface="AppleGothic"/>
                <a:cs typeface="AppleGothic"/>
              </a:rPr>
              <a:t>R-CNN</a:t>
            </a:r>
          </a:p>
        </p:txBody>
      </p:sp>
      <p:sp>
        <p:nvSpPr>
          <p:cNvPr id="2" name="">
            <a:extLst xmlns:a="http://schemas.openxmlformats.org/drawingml/2006/main">
              <a:ext uri="{FF2B5EF4-FFF2-40B4-BE49-F238E27FC236}">
                <a16:creationId xmlns:a16="http://schemas.microsoft.com/office/drawing/2014/main" id="{8100B6A9-5827-42E9-93FC-23EA82D792BB}"/>
              </a:ext>
            </a:extLst>
          </p:cNvPr>
          <p:cNvSpPr>
            <a:spLocks xmlns:a="http://schemas.openxmlformats.org/drawingml/2006/main" noGrp="1"/>
          </p:cNvSpPr>
          <p:nvPr/>
        </p:nvSpPr>
        <p:spPr>
          <a:xfrm xmlns:a="http://schemas.openxmlformats.org/drawingml/2006/main">
            <a:off x="533400" y="1066800"/>
            <a:ext cx="111252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1">
                <a:solidFill>
                  <a:srgbClr val="2164CB"/>
                </a:solidFill>
                <a:latin typeface="AppleGothic"/>
                <a:ea typeface="AppleGothic"/>
                <a:cs typeface="AppleGothic"/>
              </a:defRPr>
            </a:defPPr>
            <a:lvl1pPr>
              <a:defRPr sz="2175" b="1">
                <a:solidFill>
                  <a:srgbClr val="2164CB"/>
                </a:solidFill>
                <a:latin typeface="AppleGothic"/>
                <a:ea typeface="AppleGothic"/>
                <a:cs typeface="AppleGothic"/>
              </a:defRPr>
            </a:lvl1pPr>
            <a:lvl2pPr>
              <a:defRPr sz="2175" b="1">
                <a:solidFill>
                  <a:srgbClr val="2164CB"/>
                </a:solidFill>
                <a:latin typeface="AppleGothic"/>
                <a:ea typeface="AppleGothic"/>
                <a:cs typeface="AppleGothic"/>
              </a:defRPr>
            </a:lvl2pPr>
            <a:lvl3pPr>
              <a:defRPr sz="2175" b="1">
                <a:solidFill>
                  <a:srgbClr val="2164CB"/>
                </a:solidFill>
                <a:latin typeface="AppleGothic"/>
                <a:ea typeface="AppleGothic"/>
                <a:cs typeface="AppleGothic"/>
              </a:defRPr>
            </a:lvl3pPr>
            <a:lvl4pPr>
              <a:defRPr sz="2175" b="1">
                <a:solidFill>
                  <a:srgbClr val="2164CB"/>
                </a:solidFill>
                <a:latin typeface="AppleGothic"/>
                <a:ea typeface="AppleGothic"/>
                <a:cs typeface="AppleGothic"/>
              </a:defRPr>
            </a:lvl4pPr>
            <a:lvl5pPr>
              <a:defRPr sz="2175" b="1">
                <a:solidFill>
                  <a:srgbClr val="2164CB"/>
                </a:solidFill>
                <a:latin typeface="AppleGothic"/>
                <a:ea typeface="AppleGothic"/>
                <a:cs typeface="AppleGothic"/>
              </a:defRPr>
            </a:lvl5pPr>
            <a:lvl6pPr>
              <a:defRPr sz="2175" b="1">
                <a:solidFill>
                  <a:srgbClr val="2164CB"/>
                </a:solidFill>
                <a:latin typeface="AppleGothic"/>
                <a:ea typeface="AppleGothic"/>
                <a:cs typeface="AppleGothic"/>
              </a:defRPr>
            </a:lvl6pPr>
            <a:lvl7pPr>
              <a:defRPr sz="2175" b="1">
                <a:solidFill>
                  <a:srgbClr val="2164CB"/>
                </a:solidFill>
                <a:latin typeface="AppleGothic"/>
                <a:ea typeface="AppleGothic"/>
                <a:cs typeface="AppleGothic"/>
              </a:defRPr>
            </a:lvl7pPr>
            <a:lvl8pPr>
              <a:defRPr sz="2175" b="1">
                <a:solidFill>
                  <a:srgbClr val="2164CB"/>
                </a:solidFill>
                <a:latin typeface="AppleGothic"/>
                <a:ea typeface="AppleGothic"/>
                <a:cs typeface="AppleGothic"/>
              </a:defRPr>
            </a:lvl8pPr>
            <a:lvl9pPr>
              <a:defRPr sz="2175" b="1">
                <a:solidFill>
                  <a:srgbClr val="2164CB"/>
                </a:solidFill>
                <a:latin typeface="AppleGothic"/>
                <a:ea typeface="AppleGothic"/>
                <a:cs typeface="AppleGothic"/>
              </a:defRPr>
            </a:lvl9pPr>
          </a:lstStyle>
          <a:p xmlns:a="http://schemas.openxmlformats.org/drawingml/2006/main">
            <a:pPr>
              <a:defRPr sz="2175" b="1">
                <a:solidFill>
                  <a:srgbClr val="2164CB"/>
                </a:solidFill>
                <a:latin typeface="AppleGothic"/>
                <a:ea typeface="AppleGothic"/>
                <a:cs typeface="AppleGothic"/>
              </a:defRPr>
            </a:pPr>
            <a:r>
              <a:rPr sz="2175" b="1">
                <a:solidFill>
                  <a:srgbClr val="2164CB"/>
                </a:solidFill>
                <a:latin typeface="AppleGothic"/>
                <a:ea typeface="AppleGothic"/>
                <a:cs typeface="AppleGothic"/>
              </a:rPr>
              <a:t>R-CNN은 약 2,000개 proposal마다 ConvNet을 반복해 계산한다</a:t>
            </a:r>
          </a:p>
        </p:txBody>
      </p:sp>
      <p:pic>
        <p:nvPicPr>
          <p:cNvPr id="3" name="">
            <a:extLst xmlns:a="http://schemas.openxmlformats.org/drawingml/2006/main">
              <a:ext uri="{FF2B5EF4-FFF2-40B4-BE49-F238E27FC236}">
                <a16:creationId xmlns:a16="http://schemas.microsoft.com/office/drawing/2014/main" id="{D30113F8-A8F9-407D-AA3B-9CD7D03DFCA5}"/>
              </a:ext>
            </a:extLst>
          </p:cNvPr>
          <p:cNvPicPr>
            <a:picLocks xmlns:a="http://schemas.openxmlformats.org/drawingml/2006/main" noChangeAspect="1"/>
          </p:cNvPicPr>
          <p:nvPr/>
        </p:nvPicPr>
        <p:blipFill>
          <a:blip xmlns:r="http://schemas.openxmlformats.org/officeDocument/2006/relationships" xmlns:a="http://schemas.openxmlformats.org/drawingml/2006/main" r:embed="Rcea9e3ce96364f2d"/>
          <a:stretch xmlns:a="http://schemas.openxmlformats.org/drawingml/2006/main"/>
        </p:blipFill>
        <p:spPr>
          <a:xfrm xmlns:a="http://schemas.openxmlformats.org/drawingml/2006/main">
            <a:off x="806940" y="2057400"/>
            <a:ext cx="6596670" cy="3714750"/>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31683A22-A866-40A1-937D-D412CEF01011}"/>
              </a:ext>
            </a:extLst>
          </p:cNvPr>
          <p:cNvSpPr>
            <a:spLocks xmlns:a="http://schemas.openxmlformats.org/drawingml/2006/main" noGrp="1"/>
          </p:cNvSpPr>
          <p:nvPr/>
        </p:nvSpPr>
        <p:spPr>
          <a:xfrm xmlns:a="http://schemas.openxmlformats.org/drawingml/2006/main">
            <a:off x="7981950" y="2114550"/>
            <a:ext cx="3676650" cy="3667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75" b="0">
                <a:solidFill>
                  <a:srgbClr val="15243B"/>
                </a:solidFill>
                <a:latin typeface="AppleGothic"/>
                <a:ea typeface="AppleGothic"/>
                <a:cs typeface="AppleGothic"/>
              </a:defRPr>
            </a:defPPr>
            <a:lvl1pPr>
              <a:defRPr sz="1875" b="0">
                <a:solidFill>
                  <a:srgbClr val="15243B"/>
                </a:solidFill>
                <a:latin typeface="AppleGothic"/>
                <a:ea typeface="AppleGothic"/>
                <a:cs typeface="AppleGothic"/>
              </a:defRPr>
            </a:lvl1pPr>
            <a:lvl2pPr>
              <a:defRPr sz="1875" b="0">
                <a:solidFill>
                  <a:srgbClr val="15243B"/>
                </a:solidFill>
                <a:latin typeface="AppleGothic"/>
                <a:ea typeface="AppleGothic"/>
                <a:cs typeface="AppleGothic"/>
              </a:defRPr>
            </a:lvl2pPr>
            <a:lvl3pPr>
              <a:defRPr sz="1875" b="0">
                <a:solidFill>
                  <a:srgbClr val="15243B"/>
                </a:solidFill>
                <a:latin typeface="AppleGothic"/>
                <a:ea typeface="AppleGothic"/>
                <a:cs typeface="AppleGothic"/>
              </a:defRPr>
            </a:lvl3pPr>
            <a:lvl4pPr>
              <a:defRPr sz="1875" b="0">
                <a:solidFill>
                  <a:srgbClr val="15243B"/>
                </a:solidFill>
                <a:latin typeface="AppleGothic"/>
                <a:ea typeface="AppleGothic"/>
                <a:cs typeface="AppleGothic"/>
              </a:defRPr>
            </a:lvl4pPr>
            <a:lvl5pPr>
              <a:defRPr sz="1875" b="0">
                <a:solidFill>
                  <a:srgbClr val="15243B"/>
                </a:solidFill>
                <a:latin typeface="AppleGothic"/>
                <a:ea typeface="AppleGothic"/>
                <a:cs typeface="AppleGothic"/>
              </a:defRPr>
            </a:lvl5pPr>
            <a:lvl6pPr>
              <a:defRPr sz="1875" b="0">
                <a:solidFill>
                  <a:srgbClr val="15243B"/>
                </a:solidFill>
                <a:latin typeface="AppleGothic"/>
                <a:ea typeface="AppleGothic"/>
                <a:cs typeface="AppleGothic"/>
              </a:defRPr>
            </a:lvl6pPr>
            <a:lvl7pPr>
              <a:defRPr sz="1875" b="0">
                <a:solidFill>
                  <a:srgbClr val="15243B"/>
                </a:solidFill>
                <a:latin typeface="AppleGothic"/>
                <a:ea typeface="AppleGothic"/>
                <a:cs typeface="AppleGothic"/>
              </a:defRPr>
            </a:lvl7pPr>
            <a:lvl8pPr>
              <a:defRPr sz="1875" b="0">
                <a:solidFill>
                  <a:srgbClr val="15243B"/>
                </a:solidFill>
                <a:latin typeface="AppleGothic"/>
                <a:ea typeface="AppleGothic"/>
                <a:cs typeface="AppleGothic"/>
              </a:defRPr>
            </a:lvl8pPr>
            <a:lvl9pPr>
              <a:defRPr sz="1875" b="0">
                <a:solidFill>
                  <a:srgbClr val="15243B"/>
                </a:solidFill>
                <a:latin typeface="AppleGothic"/>
                <a:ea typeface="AppleGothic"/>
                <a:cs typeface="AppleGothic"/>
              </a:defRPr>
            </a:lvl9pPr>
          </a:lstStyle>
          <a:p xmlns:a="http://schemas.openxmlformats.org/drawingml/2006/main">
            <a:pPr>
              <a:defRPr sz="1875" b="0">
                <a:solidFill>
                  <a:srgbClr val="15243B"/>
                </a:solidFill>
                <a:latin typeface="AppleGothic"/>
                <a:ea typeface="AppleGothic"/>
                <a:cs typeface="AppleGothic"/>
              </a:defRPr>
            </a:pPr>
            <a:r>
              <a:rPr sz="1875" b="0">
                <a:solidFill>
                  <a:srgbClr val="15243B"/>
                </a:solidFill>
                <a:latin typeface="AppleGothic"/>
                <a:ea typeface="AppleGothic"/>
                <a:cs typeface="AppleGothic"/>
              </a:rPr>
              <a:t>Selective Search가 후보를 만들고 각 region을 warp해 class와 box를 예측한다.</a:t>
            </a:r>
          </a:p>
          <a:p xmlns:a="http://schemas.openxmlformats.org/drawingml/2006/main">
            <a:r>
              <a:t/>
            </a:r>
          </a:p>
          <a:p xmlns:a="http://schemas.openxmlformats.org/drawingml/2006/main">
            <a:pPr>
              <a:defRPr sz="1875" b="0">
                <a:solidFill>
                  <a:srgbClr val="15243B"/>
                </a:solidFill>
                <a:latin typeface="AppleGothic"/>
                <a:ea typeface="AppleGothic"/>
                <a:cs typeface="AppleGothic"/>
              </a:defRPr>
            </a:pPr>
            <a:r>
              <a:rPr sz="1875" b="0">
                <a:solidFill>
                  <a:srgbClr val="15243B"/>
                </a:solidFill>
                <a:latin typeface="AppleGothic"/>
                <a:ea typeface="AppleGothic"/>
                <a:cs typeface="AppleGothic"/>
              </a:rPr>
              <a:t>겹치는 region이 같은 image feature를 반복 계산하는 점이 핵심 병목이다.</a:t>
            </a:r>
          </a:p>
        </p:txBody>
      </p:sp>
      <p:sp>
        <p:nvSpPr>
          <p:cNvPr id="5" name="">
            <a:extLst xmlns:a="http://schemas.openxmlformats.org/drawingml/2006/main">
              <a:ext uri="{FF2B5EF4-FFF2-40B4-BE49-F238E27FC236}">
                <a16:creationId xmlns:a16="http://schemas.microsoft.com/office/drawing/2014/main" id="{685F9FCA-F1DB-465C-9FC6-2B1E2B4E0B53}"/>
              </a:ext>
            </a:extLst>
          </p:cNvPr>
          <p:cNvSpPr>
            <a:spLocks xmlns:a="http://schemas.openxmlformats.org/drawingml/2006/main" noGrp="1"/>
          </p:cNvSpPr>
          <p:nvPr/>
        </p:nvSpPr>
        <p:spPr>
          <a:xfrm xmlns:a="http://schemas.openxmlformats.org/drawingml/2006/main">
            <a:off x="533400" y="5895975"/>
            <a:ext cx="1112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526378"/>
                </a:solidFill>
                <a:latin typeface="AppleGothic"/>
                <a:ea typeface="AppleGothic"/>
                <a:cs typeface="AppleGothic"/>
              </a:defRPr>
            </a:defPPr>
            <a:lvl1pPr>
              <a:defRPr sz="1350" b="0">
                <a:solidFill>
                  <a:srgbClr val="526378"/>
                </a:solidFill>
                <a:latin typeface="AppleGothic"/>
                <a:ea typeface="AppleGothic"/>
                <a:cs typeface="AppleGothic"/>
              </a:defRPr>
            </a:lvl1pPr>
            <a:lvl2pPr>
              <a:defRPr sz="1350" b="0">
                <a:solidFill>
                  <a:srgbClr val="526378"/>
                </a:solidFill>
                <a:latin typeface="AppleGothic"/>
                <a:ea typeface="AppleGothic"/>
                <a:cs typeface="AppleGothic"/>
              </a:defRPr>
            </a:lvl2pPr>
            <a:lvl3pPr>
              <a:defRPr sz="1350" b="0">
                <a:solidFill>
                  <a:srgbClr val="526378"/>
                </a:solidFill>
                <a:latin typeface="AppleGothic"/>
                <a:ea typeface="AppleGothic"/>
                <a:cs typeface="AppleGothic"/>
              </a:defRPr>
            </a:lvl3pPr>
            <a:lvl4pPr>
              <a:defRPr sz="1350" b="0">
                <a:solidFill>
                  <a:srgbClr val="526378"/>
                </a:solidFill>
                <a:latin typeface="AppleGothic"/>
                <a:ea typeface="AppleGothic"/>
                <a:cs typeface="AppleGothic"/>
              </a:defRPr>
            </a:lvl4pPr>
            <a:lvl5pPr>
              <a:defRPr sz="1350" b="0">
                <a:solidFill>
                  <a:srgbClr val="526378"/>
                </a:solidFill>
                <a:latin typeface="AppleGothic"/>
                <a:ea typeface="AppleGothic"/>
                <a:cs typeface="AppleGothic"/>
              </a:defRPr>
            </a:lvl5pPr>
            <a:lvl6pPr>
              <a:defRPr sz="1350" b="0">
                <a:solidFill>
                  <a:srgbClr val="526378"/>
                </a:solidFill>
                <a:latin typeface="AppleGothic"/>
                <a:ea typeface="AppleGothic"/>
                <a:cs typeface="AppleGothic"/>
              </a:defRPr>
            </a:lvl6pPr>
            <a:lvl7pPr>
              <a:defRPr sz="1350" b="0">
                <a:solidFill>
                  <a:srgbClr val="526378"/>
                </a:solidFill>
                <a:latin typeface="AppleGothic"/>
                <a:ea typeface="AppleGothic"/>
                <a:cs typeface="AppleGothic"/>
              </a:defRPr>
            </a:lvl7pPr>
            <a:lvl8pPr>
              <a:defRPr sz="1350" b="0">
                <a:solidFill>
                  <a:srgbClr val="526378"/>
                </a:solidFill>
                <a:latin typeface="AppleGothic"/>
                <a:ea typeface="AppleGothic"/>
                <a:cs typeface="AppleGothic"/>
              </a:defRPr>
            </a:lvl8pPr>
            <a:lvl9pPr>
              <a:defRPr sz="1350" b="0">
                <a:solidFill>
                  <a:srgbClr val="526378"/>
                </a:solidFill>
                <a:latin typeface="AppleGothic"/>
                <a:ea typeface="AppleGothic"/>
                <a:cs typeface="AppleGothic"/>
              </a:defRPr>
            </a:lvl9pPr>
          </a:lstStyle>
          <a:p xmlns:a="http://schemas.openxmlformats.org/drawingml/2006/main">
            <a:pPr>
              <a:defRPr sz="1350" b="0">
                <a:solidFill>
                  <a:srgbClr val="526378"/>
                </a:solidFill>
                <a:latin typeface="AppleGothic"/>
                <a:ea typeface="AppleGothic"/>
                <a:cs typeface="AppleGothic"/>
              </a:defRPr>
            </a:pPr>
            <a:r>
              <a:rPr sz="1350" b="0">
                <a:solidFill>
                  <a:srgbClr val="526378"/>
                </a:solidFill>
                <a:latin typeface="AppleGothic"/>
                <a:ea typeface="AppleGothic"/>
                <a:cs typeface="AppleGothic"/>
              </a:rPr>
              <a:t>Lecture 4, p. 32. Region-wise ConvNet computation in R-CNN</a:t>
            </a:r>
          </a:p>
        </p:txBody>
      </p:sp>
      <p:sp>
        <p:nvSpPr>
          <p:cNvPr id="6" name="">
            <a:extLst xmlns:a="http://schemas.openxmlformats.org/drawingml/2006/main">
              <a:ext uri="{FF2B5EF4-FFF2-40B4-BE49-F238E27FC236}">
                <a16:creationId xmlns:a16="http://schemas.microsoft.com/office/drawing/2014/main" id="{58DB0D0F-1367-41D3-BCCA-DE116EA272A7}"/>
              </a:ext>
            </a:extLst>
          </p:cNvPr>
          <p:cNvSpPr>
            <a:spLocks xmlns:a="http://schemas.openxmlformats.org/drawingml/2006/main" noGrp="1"/>
          </p:cNvSpPr>
          <p:nvPr/>
        </p:nvSpPr>
        <p:spPr>
          <a:xfrm xmlns:a="http://schemas.openxmlformats.org/drawingml/2006/main">
            <a:off x="11144250" y="6400800"/>
            <a:ext cx="5143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62748C"/>
                </a:solidFill>
                <a:latin typeface="AppleGothic"/>
                <a:ea typeface="AppleGothic"/>
                <a:cs typeface="AppleGothic"/>
              </a:defRPr>
            </a:defPPr>
            <a:lvl1pPr>
              <a:defRPr sz="1350" b="0">
                <a:solidFill>
                  <a:srgbClr val="62748C"/>
                </a:solidFill>
                <a:latin typeface="AppleGothic"/>
                <a:ea typeface="AppleGothic"/>
                <a:cs typeface="AppleGothic"/>
              </a:defRPr>
            </a:lvl1pPr>
            <a:lvl2pPr>
              <a:defRPr sz="1350" b="0">
                <a:solidFill>
                  <a:srgbClr val="62748C"/>
                </a:solidFill>
                <a:latin typeface="AppleGothic"/>
                <a:ea typeface="AppleGothic"/>
                <a:cs typeface="AppleGothic"/>
              </a:defRPr>
            </a:lvl2pPr>
            <a:lvl3pPr>
              <a:defRPr sz="1350" b="0">
                <a:solidFill>
                  <a:srgbClr val="62748C"/>
                </a:solidFill>
                <a:latin typeface="AppleGothic"/>
                <a:ea typeface="AppleGothic"/>
                <a:cs typeface="AppleGothic"/>
              </a:defRPr>
            </a:lvl3pPr>
            <a:lvl4pPr>
              <a:defRPr sz="1350" b="0">
                <a:solidFill>
                  <a:srgbClr val="62748C"/>
                </a:solidFill>
                <a:latin typeface="AppleGothic"/>
                <a:ea typeface="AppleGothic"/>
                <a:cs typeface="AppleGothic"/>
              </a:defRPr>
            </a:lvl4pPr>
            <a:lvl5pPr>
              <a:defRPr sz="1350" b="0">
                <a:solidFill>
                  <a:srgbClr val="62748C"/>
                </a:solidFill>
                <a:latin typeface="AppleGothic"/>
                <a:ea typeface="AppleGothic"/>
                <a:cs typeface="AppleGothic"/>
              </a:defRPr>
            </a:lvl5pPr>
            <a:lvl6pPr>
              <a:defRPr sz="1350" b="0">
                <a:solidFill>
                  <a:srgbClr val="62748C"/>
                </a:solidFill>
                <a:latin typeface="AppleGothic"/>
                <a:ea typeface="AppleGothic"/>
                <a:cs typeface="AppleGothic"/>
              </a:defRPr>
            </a:lvl6pPr>
            <a:lvl7pPr>
              <a:defRPr sz="1350" b="0">
                <a:solidFill>
                  <a:srgbClr val="62748C"/>
                </a:solidFill>
                <a:latin typeface="AppleGothic"/>
                <a:ea typeface="AppleGothic"/>
                <a:cs typeface="AppleGothic"/>
              </a:defRPr>
            </a:lvl7pPr>
            <a:lvl8pPr>
              <a:defRPr sz="1350" b="0">
                <a:solidFill>
                  <a:srgbClr val="62748C"/>
                </a:solidFill>
                <a:latin typeface="AppleGothic"/>
                <a:ea typeface="AppleGothic"/>
                <a:cs typeface="AppleGothic"/>
              </a:defRPr>
            </a:lvl8pPr>
            <a:lvl9pPr>
              <a:defRPr sz="1350" b="0">
                <a:solidFill>
                  <a:srgbClr val="62748C"/>
                </a:solidFill>
                <a:latin typeface="AppleGothic"/>
                <a:ea typeface="AppleGothic"/>
                <a:cs typeface="AppleGothic"/>
              </a:defRPr>
            </a:lvl9pPr>
          </a:lstStyle>
          <a:p xmlns:a="http://schemas.openxmlformats.org/drawingml/2006/main">
            <a:pPr>
              <a:defRPr sz="1350" b="0">
                <a:solidFill>
                  <a:srgbClr val="62748C"/>
                </a:solidFill>
                <a:latin typeface="AppleGothic"/>
                <a:ea typeface="AppleGothic"/>
                <a:cs typeface="AppleGothic"/>
              </a:defRPr>
            </a:pPr>
            <a:r>
              <a:rPr sz="1350" b="0">
                <a:solidFill>
                  <a:srgbClr val="62748C"/>
                </a:solidFill>
                <a:latin typeface="AppleGothic"/>
                <a:ea typeface="AppleGothic"/>
                <a:cs typeface="AppleGothic"/>
              </a:rPr>
              <a:t>11</a:t>
            </a:r>
          </a:p>
        </p:txBody>
      </p:sp>
    </p:spTree>
    <p:extLst>
      <p:ext uri="{BB962C8B-B14F-4D97-AF65-F5344CB8AC3E}">
        <p14:creationId xmlns:p14="http://schemas.microsoft.com/office/powerpoint/2010/main" val="1480794739"/>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8529C0F0-2B56-4E2F-8932-020982B08446}"/>
              </a:ext>
            </a:extLst>
          </p:cNvPr>
          <p:cNvSpPr>
            <a:spLocks xmlns:a="http://schemas.openxmlformats.org/drawingml/2006/main" noGrp="1"/>
          </p:cNvSpPr>
          <p:nvPr/>
        </p:nvSpPr>
        <p:spPr>
          <a:xfrm xmlns:a="http://schemas.openxmlformats.org/drawingml/2006/main">
            <a:off x="533400" y="342900"/>
            <a:ext cx="111252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150" b="1">
                <a:solidFill>
                  <a:srgbClr val="15243B"/>
                </a:solidFill>
                <a:latin typeface="AppleGothic"/>
                <a:ea typeface="AppleGothic"/>
                <a:cs typeface="AppleGothic"/>
              </a:defRPr>
            </a:defPPr>
            <a:lvl1pPr>
              <a:defRPr sz="3150" b="1">
                <a:solidFill>
                  <a:srgbClr val="15243B"/>
                </a:solidFill>
                <a:latin typeface="AppleGothic"/>
                <a:ea typeface="AppleGothic"/>
                <a:cs typeface="AppleGothic"/>
              </a:defRPr>
            </a:lvl1pPr>
            <a:lvl2pPr>
              <a:defRPr sz="3150" b="1">
                <a:solidFill>
                  <a:srgbClr val="15243B"/>
                </a:solidFill>
                <a:latin typeface="AppleGothic"/>
                <a:ea typeface="AppleGothic"/>
                <a:cs typeface="AppleGothic"/>
              </a:defRPr>
            </a:lvl2pPr>
            <a:lvl3pPr>
              <a:defRPr sz="3150" b="1">
                <a:solidFill>
                  <a:srgbClr val="15243B"/>
                </a:solidFill>
                <a:latin typeface="AppleGothic"/>
                <a:ea typeface="AppleGothic"/>
                <a:cs typeface="AppleGothic"/>
              </a:defRPr>
            </a:lvl3pPr>
            <a:lvl4pPr>
              <a:defRPr sz="3150" b="1">
                <a:solidFill>
                  <a:srgbClr val="15243B"/>
                </a:solidFill>
                <a:latin typeface="AppleGothic"/>
                <a:ea typeface="AppleGothic"/>
                <a:cs typeface="AppleGothic"/>
              </a:defRPr>
            </a:lvl4pPr>
            <a:lvl5pPr>
              <a:defRPr sz="3150" b="1">
                <a:solidFill>
                  <a:srgbClr val="15243B"/>
                </a:solidFill>
                <a:latin typeface="AppleGothic"/>
                <a:ea typeface="AppleGothic"/>
                <a:cs typeface="AppleGothic"/>
              </a:defRPr>
            </a:lvl5pPr>
            <a:lvl6pPr>
              <a:defRPr sz="3150" b="1">
                <a:solidFill>
                  <a:srgbClr val="15243B"/>
                </a:solidFill>
                <a:latin typeface="AppleGothic"/>
                <a:ea typeface="AppleGothic"/>
                <a:cs typeface="AppleGothic"/>
              </a:defRPr>
            </a:lvl6pPr>
            <a:lvl7pPr>
              <a:defRPr sz="3150" b="1">
                <a:solidFill>
                  <a:srgbClr val="15243B"/>
                </a:solidFill>
                <a:latin typeface="AppleGothic"/>
                <a:ea typeface="AppleGothic"/>
                <a:cs typeface="AppleGothic"/>
              </a:defRPr>
            </a:lvl7pPr>
            <a:lvl8pPr>
              <a:defRPr sz="3150" b="1">
                <a:solidFill>
                  <a:srgbClr val="15243B"/>
                </a:solidFill>
                <a:latin typeface="AppleGothic"/>
                <a:ea typeface="AppleGothic"/>
                <a:cs typeface="AppleGothic"/>
              </a:defRPr>
            </a:lvl8pPr>
            <a:lvl9pPr>
              <a:defRPr sz="3150" b="1">
                <a:solidFill>
                  <a:srgbClr val="15243B"/>
                </a:solidFill>
                <a:latin typeface="AppleGothic"/>
                <a:ea typeface="AppleGothic"/>
                <a:cs typeface="AppleGothic"/>
              </a:defRPr>
            </a:lvl9pPr>
          </a:lstStyle>
          <a:p xmlns:a="http://schemas.openxmlformats.org/drawingml/2006/main">
            <a:pPr>
              <a:defRPr sz="3150" b="1">
                <a:solidFill>
                  <a:srgbClr val="15243B"/>
                </a:solidFill>
                <a:latin typeface="AppleGothic"/>
                <a:ea typeface="AppleGothic"/>
                <a:cs typeface="AppleGothic"/>
              </a:defRPr>
            </a:pPr>
            <a:r>
              <a:rPr sz="3150" b="1">
                <a:solidFill>
                  <a:srgbClr val="15243B"/>
                </a:solidFill>
                <a:latin typeface="AppleGothic"/>
                <a:ea typeface="AppleGothic"/>
                <a:cs typeface="AppleGothic"/>
              </a:rPr>
              <a:t>Anchors and RPN</a:t>
            </a:r>
          </a:p>
        </p:txBody>
      </p:sp>
      <p:sp>
        <p:nvSpPr>
          <p:cNvPr id="2" name="">
            <a:extLst xmlns:a="http://schemas.openxmlformats.org/drawingml/2006/main">
              <a:ext uri="{FF2B5EF4-FFF2-40B4-BE49-F238E27FC236}">
                <a16:creationId xmlns:a16="http://schemas.microsoft.com/office/drawing/2014/main" id="{C2835C3B-FD73-4572-8AA3-87FE950B3B12}"/>
              </a:ext>
            </a:extLst>
          </p:cNvPr>
          <p:cNvSpPr>
            <a:spLocks xmlns:a="http://schemas.openxmlformats.org/drawingml/2006/main" noGrp="1"/>
          </p:cNvSpPr>
          <p:nvPr/>
        </p:nvSpPr>
        <p:spPr>
          <a:xfrm xmlns:a="http://schemas.openxmlformats.org/drawingml/2006/main">
            <a:off x="533400" y="1066800"/>
            <a:ext cx="111252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1">
                <a:solidFill>
                  <a:srgbClr val="2164CB"/>
                </a:solidFill>
                <a:latin typeface="AppleGothic"/>
                <a:ea typeface="AppleGothic"/>
                <a:cs typeface="AppleGothic"/>
              </a:defRPr>
            </a:defPPr>
            <a:lvl1pPr>
              <a:defRPr sz="2175" b="1">
                <a:solidFill>
                  <a:srgbClr val="2164CB"/>
                </a:solidFill>
                <a:latin typeface="AppleGothic"/>
                <a:ea typeface="AppleGothic"/>
                <a:cs typeface="AppleGothic"/>
              </a:defRPr>
            </a:lvl1pPr>
            <a:lvl2pPr>
              <a:defRPr sz="2175" b="1">
                <a:solidFill>
                  <a:srgbClr val="2164CB"/>
                </a:solidFill>
                <a:latin typeface="AppleGothic"/>
                <a:ea typeface="AppleGothic"/>
                <a:cs typeface="AppleGothic"/>
              </a:defRPr>
            </a:lvl2pPr>
            <a:lvl3pPr>
              <a:defRPr sz="2175" b="1">
                <a:solidFill>
                  <a:srgbClr val="2164CB"/>
                </a:solidFill>
                <a:latin typeface="AppleGothic"/>
                <a:ea typeface="AppleGothic"/>
                <a:cs typeface="AppleGothic"/>
              </a:defRPr>
            </a:lvl3pPr>
            <a:lvl4pPr>
              <a:defRPr sz="2175" b="1">
                <a:solidFill>
                  <a:srgbClr val="2164CB"/>
                </a:solidFill>
                <a:latin typeface="AppleGothic"/>
                <a:ea typeface="AppleGothic"/>
                <a:cs typeface="AppleGothic"/>
              </a:defRPr>
            </a:lvl4pPr>
            <a:lvl5pPr>
              <a:defRPr sz="2175" b="1">
                <a:solidFill>
                  <a:srgbClr val="2164CB"/>
                </a:solidFill>
                <a:latin typeface="AppleGothic"/>
                <a:ea typeface="AppleGothic"/>
                <a:cs typeface="AppleGothic"/>
              </a:defRPr>
            </a:lvl5pPr>
            <a:lvl6pPr>
              <a:defRPr sz="2175" b="1">
                <a:solidFill>
                  <a:srgbClr val="2164CB"/>
                </a:solidFill>
                <a:latin typeface="AppleGothic"/>
                <a:ea typeface="AppleGothic"/>
                <a:cs typeface="AppleGothic"/>
              </a:defRPr>
            </a:lvl6pPr>
            <a:lvl7pPr>
              <a:defRPr sz="2175" b="1">
                <a:solidFill>
                  <a:srgbClr val="2164CB"/>
                </a:solidFill>
                <a:latin typeface="AppleGothic"/>
                <a:ea typeface="AppleGothic"/>
                <a:cs typeface="AppleGothic"/>
              </a:defRPr>
            </a:lvl7pPr>
            <a:lvl8pPr>
              <a:defRPr sz="2175" b="1">
                <a:solidFill>
                  <a:srgbClr val="2164CB"/>
                </a:solidFill>
                <a:latin typeface="AppleGothic"/>
                <a:ea typeface="AppleGothic"/>
                <a:cs typeface="AppleGothic"/>
              </a:defRPr>
            </a:lvl8pPr>
            <a:lvl9pPr>
              <a:defRPr sz="2175" b="1">
                <a:solidFill>
                  <a:srgbClr val="2164CB"/>
                </a:solidFill>
                <a:latin typeface="AppleGothic"/>
                <a:ea typeface="AppleGothic"/>
                <a:cs typeface="AppleGothic"/>
              </a:defRPr>
            </a:lvl9pPr>
          </a:lstStyle>
          <a:p xmlns:a="http://schemas.openxmlformats.org/drawingml/2006/main">
            <a:pPr>
              <a:defRPr sz="2175" b="1">
                <a:solidFill>
                  <a:srgbClr val="2164CB"/>
                </a:solidFill>
                <a:latin typeface="AppleGothic"/>
                <a:ea typeface="AppleGothic"/>
                <a:cs typeface="AppleGothic"/>
              </a:defRPr>
            </a:pPr>
            <a:r>
              <a:rPr sz="2175" b="1">
                <a:solidFill>
                  <a:srgbClr val="2164CB"/>
                </a:solidFill>
                <a:latin typeface="AppleGothic"/>
                <a:ea typeface="AppleGothic"/>
                <a:cs typeface="AppleGothic"/>
              </a:rPr>
              <a:t>Anchor는 기준 box이고 RPN은 objectness와 box offset을 예측한다</a:t>
            </a:r>
          </a:p>
        </p:txBody>
      </p:sp>
      <p:pic>
        <p:nvPicPr>
          <p:cNvPr id="3" name="">
            <a:extLst xmlns:a="http://schemas.openxmlformats.org/drawingml/2006/main">
              <a:ext uri="{FF2B5EF4-FFF2-40B4-BE49-F238E27FC236}">
                <a16:creationId xmlns:a16="http://schemas.microsoft.com/office/drawing/2014/main" id="{B74F4D78-CCF2-4791-BF44-95AF91ABC8B0}"/>
              </a:ext>
            </a:extLst>
          </p:cNvPr>
          <p:cNvPicPr>
            <a:picLocks xmlns:a="http://schemas.openxmlformats.org/drawingml/2006/main" noChangeAspect="1"/>
          </p:cNvPicPr>
          <p:nvPr/>
        </p:nvPicPr>
        <p:blipFill>
          <a:blip xmlns:r="http://schemas.openxmlformats.org/officeDocument/2006/relationships" xmlns:a="http://schemas.openxmlformats.org/drawingml/2006/main" r:embed="R0ce30cec9a674599"/>
          <a:stretch xmlns:a="http://schemas.openxmlformats.org/drawingml/2006/main"/>
        </p:blipFill>
        <p:spPr>
          <a:xfrm xmlns:a="http://schemas.openxmlformats.org/drawingml/2006/main">
            <a:off x="806940" y="2057400"/>
            <a:ext cx="6596670" cy="3714750"/>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E48E222F-9153-45BE-87F6-41030EA07A36}"/>
              </a:ext>
            </a:extLst>
          </p:cNvPr>
          <p:cNvSpPr>
            <a:spLocks xmlns:a="http://schemas.openxmlformats.org/drawingml/2006/main" noGrp="1"/>
          </p:cNvSpPr>
          <p:nvPr/>
        </p:nvSpPr>
        <p:spPr>
          <a:xfrm xmlns:a="http://schemas.openxmlformats.org/drawingml/2006/main">
            <a:off x="7981950" y="2114550"/>
            <a:ext cx="3676650" cy="3667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75" b="0">
                <a:solidFill>
                  <a:srgbClr val="15243B"/>
                </a:solidFill>
                <a:latin typeface="AppleGothic"/>
                <a:ea typeface="AppleGothic"/>
                <a:cs typeface="AppleGothic"/>
              </a:defRPr>
            </a:defPPr>
            <a:lvl1pPr>
              <a:defRPr sz="1875" b="0">
                <a:solidFill>
                  <a:srgbClr val="15243B"/>
                </a:solidFill>
                <a:latin typeface="AppleGothic"/>
                <a:ea typeface="AppleGothic"/>
                <a:cs typeface="AppleGothic"/>
              </a:defRPr>
            </a:lvl1pPr>
            <a:lvl2pPr>
              <a:defRPr sz="1875" b="0">
                <a:solidFill>
                  <a:srgbClr val="15243B"/>
                </a:solidFill>
                <a:latin typeface="AppleGothic"/>
                <a:ea typeface="AppleGothic"/>
                <a:cs typeface="AppleGothic"/>
              </a:defRPr>
            </a:lvl2pPr>
            <a:lvl3pPr>
              <a:defRPr sz="1875" b="0">
                <a:solidFill>
                  <a:srgbClr val="15243B"/>
                </a:solidFill>
                <a:latin typeface="AppleGothic"/>
                <a:ea typeface="AppleGothic"/>
                <a:cs typeface="AppleGothic"/>
              </a:defRPr>
            </a:lvl3pPr>
            <a:lvl4pPr>
              <a:defRPr sz="1875" b="0">
                <a:solidFill>
                  <a:srgbClr val="15243B"/>
                </a:solidFill>
                <a:latin typeface="AppleGothic"/>
                <a:ea typeface="AppleGothic"/>
                <a:cs typeface="AppleGothic"/>
              </a:defRPr>
            </a:lvl4pPr>
            <a:lvl5pPr>
              <a:defRPr sz="1875" b="0">
                <a:solidFill>
                  <a:srgbClr val="15243B"/>
                </a:solidFill>
                <a:latin typeface="AppleGothic"/>
                <a:ea typeface="AppleGothic"/>
                <a:cs typeface="AppleGothic"/>
              </a:defRPr>
            </a:lvl5pPr>
            <a:lvl6pPr>
              <a:defRPr sz="1875" b="0">
                <a:solidFill>
                  <a:srgbClr val="15243B"/>
                </a:solidFill>
                <a:latin typeface="AppleGothic"/>
                <a:ea typeface="AppleGothic"/>
                <a:cs typeface="AppleGothic"/>
              </a:defRPr>
            </a:lvl6pPr>
            <a:lvl7pPr>
              <a:defRPr sz="1875" b="0">
                <a:solidFill>
                  <a:srgbClr val="15243B"/>
                </a:solidFill>
                <a:latin typeface="AppleGothic"/>
                <a:ea typeface="AppleGothic"/>
                <a:cs typeface="AppleGothic"/>
              </a:defRPr>
            </a:lvl7pPr>
            <a:lvl8pPr>
              <a:defRPr sz="1875" b="0">
                <a:solidFill>
                  <a:srgbClr val="15243B"/>
                </a:solidFill>
                <a:latin typeface="AppleGothic"/>
                <a:ea typeface="AppleGothic"/>
                <a:cs typeface="AppleGothic"/>
              </a:defRPr>
            </a:lvl8pPr>
            <a:lvl9pPr>
              <a:defRPr sz="1875" b="0">
                <a:solidFill>
                  <a:srgbClr val="15243B"/>
                </a:solidFill>
                <a:latin typeface="AppleGothic"/>
                <a:ea typeface="AppleGothic"/>
                <a:cs typeface="AppleGothic"/>
              </a:defRPr>
            </a:lvl9pPr>
          </a:lstStyle>
          <a:p xmlns:a="http://schemas.openxmlformats.org/drawingml/2006/main">
            <a:pPr>
              <a:defRPr sz="1875" b="0">
                <a:solidFill>
                  <a:srgbClr val="15243B"/>
                </a:solidFill>
                <a:latin typeface="AppleGothic"/>
                <a:ea typeface="AppleGothic"/>
                <a:cs typeface="AppleGothic"/>
              </a:defRPr>
            </a:pPr>
            <a:r>
              <a:rPr sz="1875" b="0">
                <a:solidFill>
                  <a:srgbClr val="15243B"/>
                </a:solidFill>
                <a:latin typeface="AppleGothic"/>
                <a:ea typeface="AppleGothic"/>
                <a:cs typeface="AppleGothic"/>
              </a:rPr>
              <a:t>Anchor (50,40,20,10)에서 GT (54,38,30,5)의 target은 (0.2,−0.2,0.4055,−0.6931)이다.</a:t>
            </a:r>
          </a:p>
          <a:p xmlns:a="http://schemas.openxmlformats.org/drawingml/2006/main">
            <a:r>
              <a:t/>
            </a:r>
          </a:p>
          <a:p xmlns:a="http://schemas.openxmlformats.org/drawingml/2006/main">
            <a:pPr>
              <a:defRPr sz="1875" b="0">
                <a:solidFill>
                  <a:srgbClr val="15243B"/>
                </a:solidFill>
                <a:latin typeface="AppleGothic"/>
                <a:ea typeface="AppleGothic"/>
                <a:cs typeface="AppleGothic"/>
              </a:defRPr>
            </a:pPr>
            <a:r>
              <a:rPr sz="1875" b="0">
                <a:solidFill>
                  <a:srgbClr val="15243B"/>
                </a:solidFill>
                <a:latin typeface="AppleGothic"/>
                <a:ea typeface="AppleGothic"/>
                <a:cs typeface="AppleGothic"/>
              </a:rPr>
              <a:t>Decode는 목표값을 되돌리는 검산이며 실제 prediction이 GT와 같다는 뜻이 아니다.</a:t>
            </a:r>
          </a:p>
        </p:txBody>
      </p:sp>
      <p:sp>
        <p:nvSpPr>
          <p:cNvPr id="5" name="">
            <a:extLst xmlns:a="http://schemas.openxmlformats.org/drawingml/2006/main">
              <a:ext uri="{FF2B5EF4-FFF2-40B4-BE49-F238E27FC236}">
                <a16:creationId xmlns:a16="http://schemas.microsoft.com/office/drawing/2014/main" id="{12B9015E-750F-48A4-8FE0-EC6D4524E22A}"/>
              </a:ext>
            </a:extLst>
          </p:cNvPr>
          <p:cNvSpPr>
            <a:spLocks xmlns:a="http://schemas.openxmlformats.org/drawingml/2006/main" noGrp="1"/>
          </p:cNvSpPr>
          <p:nvPr/>
        </p:nvSpPr>
        <p:spPr>
          <a:xfrm xmlns:a="http://schemas.openxmlformats.org/drawingml/2006/main">
            <a:off x="533400" y="5895975"/>
            <a:ext cx="1112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526378"/>
                </a:solidFill>
                <a:latin typeface="AppleGothic"/>
                <a:ea typeface="AppleGothic"/>
                <a:cs typeface="AppleGothic"/>
              </a:defRPr>
            </a:defPPr>
            <a:lvl1pPr>
              <a:defRPr sz="1350" b="0">
                <a:solidFill>
                  <a:srgbClr val="526378"/>
                </a:solidFill>
                <a:latin typeface="AppleGothic"/>
                <a:ea typeface="AppleGothic"/>
                <a:cs typeface="AppleGothic"/>
              </a:defRPr>
            </a:lvl1pPr>
            <a:lvl2pPr>
              <a:defRPr sz="1350" b="0">
                <a:solidFill>
                  <a:srgbClr val="526378"/>
                </a:solidFill>
                <a:latin typeface="AppleGothic"/>
                <a:ea typeface="AppleGothic"/>
                <a:cs typeface="AppleGothic"/>
              </a:defRPr>
            </a:lvl2pPr>
            <a:lvl3pPr>
              <a:defRPr sz="1350" b="0">
                <a:solidFill>
                  <a:srgbClr val="526378"/>
                </a:solidFill>
                <a:latin typeface="AppleGothic"/>
                <a:ea typeface="AppleGothic"/>
                <a:cs typeface="AppleGothic"/>
              </a:defRPr>
            </a:lvl3pPr>
            <a:lvl4pPr>
              <a:defRPr sz="1350" b="0">
                <a:solidFill>
                  <a:srgbClr val="526378"/>
                </a:solidFill>
                <a:latin typeface="AppleGothic"/>
                <a:ea typeface="AppleGothic"/>
                <a:cs typeface="AppleGothic"/>
              </a:defRPr>
            </a:lvl4pPr>
            <a:lvl5pPr>
              <a:defRPr sz="1350" b="0">
                <a:solidFill>
                  <a:srgbClr val="526378"/>
                </a:solidFill>
                <a:latin typeface="AppleGothic"/>
                <a:ea typeface="AppleGothic"/>
                <a:cs typeface="AppleGothic"/>
              </a:defRPr>
            </a:lvl5pPr>
            <a:lvl6pPr>
              <a:defRPr sz="1350" b="0">
                <a:solidFill>
                  <a:srgbClr val="526378"/>
                </a:solidFill>
                <a:latin typeface="AppleGothic"/>
                <a:ea typeface="AppleGothic"/>
                <a:cs typeface="AppleGothic"/>
              </a:defRPr>
            </a:lvl6pPr>
            <a:lvl7pPr>
              <a:defRPr sz="1350" b="0">
                <a:solidFill>
                  <a:srgbClr val="526378"/>
                </a:solidFill>
                <a:latin typeface="AppleGothic"/>
                <a:ea typeface="AppleGothic"/>
                <a:cs typeface="AppleGothic"/>
              </a:defRPr>
            </a:lvl7pPr>
            <a:lvl8pPr>
              <a:defRPr sz="1350" b="0">
                <a:solidFill>
                  <a:srgbClr val="526378"/>
                </a:solidFill>
                <a:latin typeface="AppleGothic"/>
                <a:ea typeface="AppleGothic"/>
                <a:cs typeface="AppleGothic"/>
              </a:defRPr>
            </a:lvl8pPr>
            <a:lvl9pPr>
              <a:defRPr sz="1350" b="0">
                <a:solidFill>
                  <a:srgbClr val="526378"/>
                </a:solidFill>
                <a:latin typeface="AppleGothic"/>
                <a:ea typeface="AppleGothic"/>
                <a:cs typeface="AppleGothic"/>
              </a:defRPr>
            </a:lvl9pPr>
          </a:lstStyle>
          <a:p xmlns:a="http://schemas.openxmlformats.org/drawingml/2006/main">
            <a:pPr>
              <a:defRPr sz="1350" b="0">
                <a:solidFill>
                  <a:srgbClr val="526378"/>
                </a:solidFill>
                <a:latin typeface="AppleGothic"/>
                <a:ea typeface="AppleGothic"/>
                <a:cs typeface="AppleGothic"/>
              </a:defRPr>
            </a:pPr>
            <a:r>
              <a:rPr sz="1350" b="0">
                <a:solidFill>
                  <a:srgbClr val="526378"/>
                </a:solidFill>
                <a:latin typeface="AppleGothic"/>
                <a:ea typeface="AppleGothic"/>
                <a:cs typeface="AppleGothic"/>
              </a:rPr>
              <a:t>Lecture 6, p. 16. RPN outputs objectness and four transforms for K anchors</a:t>
            </a:r>
          </a:p>
        </p:txBody>
      </p:sp>
      <p:sp>
        <p:nvSpPr>
          <p:cNvPr id="6" name="">
            <a:extLst xmlns:a="http://schemas.openxmlformats.org/drawingml/2006/main">
              <a:ext uri="{FF2B5EF4-FFF2-40B4-BE49-F238E27FC236}">
                <a16:creationId xmlns:a16="http://schemas.microsoft.com/office/drawing/2014/main" id="{A2A933EC-E7F6-4764-9367-40468A9AF3DB}"/>
              </a:ext>
            </a:extLst>
          </p:cNvPr>
          <p:cNvSpPr>
            <a:spLocks xmlns:a="http://schemas.openxmlformats.org/drawingml/2006/main" noGrp="1"/>
          </p:cNvSpPr>
          <p:nvPr/>
        </p:nvSpPr>
        <p:spPr>
          <a:xfrm xmlns:a="http://schemas.openxmlformats.org/drawingml/2006/main">
            <a:off x="11144250" y="6400800"/>
            <a:ext cx="5143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62748C"/>
                </a:solidFill>
                <a:latin typeface="AppleGothic"/>
                <a:ea typeface="AppleGothic"/>
                <a:cs typeface="AppleGothic"/>
              </a:defRPr>
            </a:defPPr>
            <a:lvl1pPr>
              <a:defRPr sz="1350" b="0">
                <a:solidFill>
                  <a:srgbClr val="62748C"/>
                </a:solidFill>
                <a:latin typeface="AppleGothic"/>
                <a:ea typeface="AppleGothic"/>
                <a:cs typeface="AppleGothic"/>
              </a:defRPr>
            </a:lvl1pPr>
            <a:lvl2pPr>
              <a:defRPr sz="1350" b="0">
                <a:solidFill>
                  <a:srgbClr val="62748C"/>
                </a:solidFill>
                <a:latin typeface="AppleGothic"/>
                <a:ea typeface="AppleGothic"/>
                <a:cs typeface="AppleGothic"/>
              </a:defRPr>
            </a:lvl2pPr>
            <a:lvl3pPr>
              <a:defRPr sz="1350" b="0">
                <a:solidFill>
                  <a:srgbClr val="62748C"/>
                </a:solidFill>
                <a:latin typeface="AppleGothic"/>
                <a:ea typeface="AppleGothic"/>
                <a:cs typeface="AppleGothic"/>
              </a:defRPr>
            </a:lvl3pPr>
            <a:lvl4pPr>
              <a:defRPr sz="1350" b="0">
                <a:solidFill>
                  <a:srgbClr val="62748C"/>
                </a:solidFill>
                <a:latin typeface="AppleGothic"/>
                <a:ea typeface="AppleGothic"/>
                <a:cs typeface="AppleGothic"/>
              </a:defRPr>
            </a:lvl4pPr>
            <a:lvl5pPr>
              <a:defRPr sz="1350" b="0">
                <a:solidFill>
                  <a:srgbClr val="62748C"/>
                </a:solidFill>
                <a:latin typeface="AppleGothic"/>
                <a:ea typeface="AppleGothic"/>
                <a:cs typeface="AppleGothic"/>
              </a:defRPr>
            </a:lvl5pPr>
            <a:lvl6pPr>
              <a:defRPr sz="1350" b="0">
                <a:solidFill>
                  <a:srgbClr val="62748C"/>
                </a:solidFill>
                <a:latin typeface="AppleGothic"/>
                <a:ea typeface="AppleGothic"/>
                <a:cs typeface="AppleGothic"/>
              </a:defRPr>
            </a:lvl6pPr>
            <a:lvl7pPr>
              <a:defRPr sz="1350" b="0">
                <a:solidFill>
                  <a:srgbClr val="62748C"/>
                </a:solidFill>
                <a:latin typeface="AppleGothic"/>
                <a:ea typeface="AppleGothic"/>
                <a:cs typeface="AppleGothic"/>
              </a:defRPr>
            </a:lvl7pPr>
            <a:lvl8pPr>
              <a:defRPr sz="1350" b="0">
                <a:solidFill>
                  <a:srgbClr val="62748C"/>
                </a:solidFill>
                <a:latin typeface="AppleGothic"/>
                <a:ea typeface="AppleGothic"/>
                <a:cs typeface="AppleGothic"/>
              </a:defRPr>
            </a:lvl8pPr>
            <a:lvl9pPr>
              <a:defRPr sz="1350" b="0">
                <a:solidFill>
                  <a:srgbClr val="62748C"/>
                </a:solidFill>
                <a:latin typeface="AppleGothic"/>
                <a:ea typeface="AppleGothic"/>
                <a:cs typeface="AppleGothic"/>
              </a:defRPr>
            </a:lvl9pPr>
          </a:lstStyle>
          <a:p xmlns:a="http://schemas.openxmlformats.org/drawingml/2006/main">
            <a:pPr>
              <a:defRPr sz="1350" b="0">
                <a:solidFill>
                  <a:srgbClr val="62748C"/>
                </a:solidFill>
                <a:latin typeface="AppleGothic"/>
                <a:ea typeface="AppleGothic"/>
                <a:cs typeface="AppleGothic"/>
              </a:defRPr>
            </a:pPr>
            <a:r>
              <a:rPr sz="1350" b="0">
                <a:solidFill>
                  <a:srgbClr val="62748C"/>
                </a:solidFill>
                <a:latin typeface="AppleGothic"/>
                <a:ea typeface="AppleGothic"/>
                <a:cs typeface="AppleGothic"/>
              </a:rPr>
              <a:t>12</a:t>
            </a:r>
          </a:p>
        </p:txBody>
      </p:sp>
    </p:spTree>
    <p:extLst>
      <p:ext uri="{BB962C8B-B14F-4D97-AF65-F5344CB8AC3E}">
        <p14:creationId xmlns:p14="http://schemas.microsoft.com/office/powerpoint/2010/main" val="1486495224"/>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6DE7A5A7-5DEB-469A-AE87-5EA64747A062}"/>
              </a:ext>
            </a:extLst>
          </p:cNvPr>
          <p:cNvSpPr>
            <a:spLocks xmlns:a="http://schemas.openxmlformats.org/drawingml/2006/main" noGrp="1"/>
          </p:cNvSpPr>
          <p:nvPr/>
        </p:nvSpPr>
        <p:spPr>
          <a:xfrm xmlns:a="http://schemas.openxmlformats.org/drawingml/2006/main">
            <a:off x="533400" y="342900"/>
            <a:ext cx="111252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150" b="1">
                <a:solidFill>
                  <a:srgbClr val="15243B"/>
                </a:solidFill>
                <a:latin typeface="AppleGothic"/>
                <a:ea typeface="AppleGothic"/>
                <a:cs typeface="AppleGothic"/>
              </a:defRPr>
            </a:defPPr>
            <a:lvl1pPr>
              <a:defRPr sz="3150" b="1">
                <a:solidFill>
                  <a:srgbClr val="15243B"/>
                </a:solidFill>
                <a:latin typeface="AppleGothic"/>
                <a:ea typeface="AppleGothic"/>
                <a:cs typeface="AppleGothic"/>
              </a:defRPr>
            </a:lvl1pPr>
            <a:lvl2pPr>
              <a:defRPr sz="3150" b="1">
                <a:solidFill>
                  <a:srgbClr val="15243B"/>
                </a:solidFill>
                <a:latin typeface="AppleGothic"/>
                <a:ea typeface="AppleGothic"/>
                <a:cs typeface="AppleGothic"/>
              </a:defRPr>
            </a:lvl2pPr>
            <a:lvl3pPr>
              <a:defRPr sz="3150" b="1">
                <a:solidFill>
                  <a:srgbClr val="15243B"/>
                </a:solidFill>
                <a:latin typeface="AppleGothic"/>
                <a:ea typeface="AppleGothic"/>
                <a:cs typeface="AppleGothic"/>
              </a:defRPr>
            </a:lvl3pPr>
            <a:lvl4pPr>
              <a:defRPr sz="3150" b="1">
                <a:solidFill>
                  <a:srgbClr val="15243B"/>
                </a:solidFill>
                <a:latin typeface="AppleGothic"/>
                <a:ea typeface="AppleGothic"/>
                <a:cs typeface="AppleGothic"/>
              </a:defRPr>
            </a:lvl4pPr>
            <a:lvl5pPr>
              <a:defRPr sz="3150" b="1">
                <a:solidFill>
                  <a:srgbClr val="15243B"/>
                </a:solidFill>
                <a:latin typeface="AppleGothic"/>
                <a:ea typeface="AppleGothic"/>
                <a:cs typeface="AppleGothic"/>
              </a:defRPr>
            </a:lvl5pPr>
            <a:lvl6pPr>
              <a:defRPr sz="3150" b="1">
                <a:solidFill>
                  <a:srgbClr val="15243B"/>
                </a:solidFill>
                <a:latin typeface="AppleGothic"/>
                <a:ea typeface="AppleGothic"/>
                <a:cs typeface="AppleGothic"/>
              </a:defRPr>
            </a:lvl6pPr>
            <a:lvl7pPr>
              <a:defRPr sz="3150" b="1">
                <a:solidFill>
                  <a:srgbClr val="15243B"/>
                </a:solidFill>
                <a:latin typeface="AppleGothic"/>
                <a:ea typeface="AppleGothic"/>
                <a:cs typeface="AppleGothic"/>
              </a:defRPr>
            </a:lvl7pPr>
            <a:lvl8pPr>
              <a:defRPr sz="3150" b="1">
                <a:solidFill>
                  <a:srgbClr val="15243B"/>
                </a:solidFill>
                <a:latin typeface="AppleGothic"/>
                <a:ea typeface="AppleGothic"/>
                <a:cs typeface="AppleGothic"/>
              </a:defRPr>
            </a:lvl8pPr>
            <a:lvl9pPr>
              <a:defRPr sz="3150" b="1">
                <a:solidFill>
                  <a:srgbClr val="15243B"/>
                </a:solidFill>
                <a:latin typeface="AppleGothic"/>
                <a:ea typeface="AppleGothic"/>
                <a:cs typeface="AppleGothic"/>
              </a:defRPr>
            </a:lvl9pPr>
          </a:lstStyle>
          <a:p xmlns:a="http://schemas.openxmlformats.org/drawingml/2006/main">
            <a:pPr>
              <a:defRPr sz="3150" b="1">
                <a:solidFill>
                  <a:srgbClr val="15243B"/>
                </a:solidFill>
                <a:latin typeface="AppleGothic"/>
                <a:ea typeface="AppleGothic"/>
                <a:cs typeface="AppleGothic"/>
              </a:defRPr>
            </a:pPr>
            <a:r>
              <a:rPr sz="3150" b="1">
                <a:solidFill>
                  <a:srgbClr val="15243B"/>
                </a:solidFill>
                <a:latin typeface="AppleGothic"/>
                <a:ea typeface="AppleGothic"/>
                <a:cs typeface="AppleGothic"/>
              </a:rPr>
              <a:t>Feature Pyramid Network</a:t>
            </a:r>
          </a:p>
        </p:txBody>
      </p:sp>
      <p:sp>
        <p:nvSpPr>
          <p:cNvPr id="2" name="">
            <a:extLst xmlns:a="http://schemas.openxmlformats.org/drawingml/2006/main">
              <a:ext uri="{FF2B5EF4-FFF2-40B4-BE49-F238E27FC236}">
                <a16:creationId xmlns:a16="http://schemas.microsoft.com/office/drawing/2014/main" id="{89EE7C7A-D86C-41DB-8521-2C64CEB1F421}"/>
              </a:ext>
            </a:extLst>
          </p:cNvPr>
          <p:cNvSpPr>
            <a:spLocks xmlns:a="http://schemas.openxmlformats.org/drawingml/2006/main" noGrp="1"/>
          </p:cNvSpPr>
          <p:nvPr/>
        </p:nvSpPr>
        <p:spPr>
          <a:xfrm xmlns:a="http://schemas.openxmlformats.org/drawingml/2006/main">
            <a:off x="533400" y="1066800"/>
            <a:ext cx="111252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1">
                <a:solidFill>
                  <a:srgbClr val="2164CB"/>
                </a:solidFill>
                <a:latin typeface="AppleGothic"/>
                <a:ea typeface="AppleGothic"/>
                <a:cs typeface="AppleGothic"/>
              </a:defRPr>
            </a:defPPr>
            <a:lvl1pPr>
              <a:defRPr sz="2175" b="1">
                <a:solidFill>
                  <a:srgbClr val="2164CB"/>
                </a:solidFill>
                <a:latin typeface="AppleGothic"/>
                <a:ea typeface="AppleGothic"/>
                <a:cs typeface="AppleGothic"/>
              </a:defRPr>
            </a:lvl1pPr>
            <a:lvl2pPr>
              <a:defRPr sz="2175" b="1">
                <a:solidFill>
                  <a:srgbClr val="2164CB"/>
                </a:solidFill>
                <a:latin typeface="AppleGothic"/>
                <a:ea typeface="AppleGothic"/>
                <a:cs typeface="AppleGothic"/>
              </a:defRPr>
            </a:lvl2pPr>
            <a:lvl3pPr>
              <a:defRPr sz="2175" b="1">
                <a:solidFill>
                  <a:srgbClr val="2164CB"/>
                </a:solidFill>
                <a:latin typeface="AppleGothic"/>
                <a:ea typeface="AppleGothic"/>
                <a:cs typeface="AppleGothic"/>
              </a:defRPr>
            </a:lvl3pPr>
            <a:lvl4pPr>
              <a:defRPr sz="2175" b="1">
                <a:solidFill>
                  <a:srgbClr val="2164CB"/>
                </a:solidFill>
                <a:latin typeface="AppleGothic"/>
                <a:ea typeface="AppleGothic"/>
                <a:cs typeface="AppleGothic"/>
              </a:defRPr>
            </a:lvl4pPr>
            <a:lvl5pPr>
              <a:defRPr sz="2175" b="1">
                <a:solidFill>
                  <a:srgbClr val="2164CB"/>
                </a:solidFill>
                <a:latin typeface="AppleGothic"/>
                <a:ea typeface="AppleGothic"/>
                <a:cs typeface="AppleGothic"/>
              </a:defRPr>
            </a:lvl5pPr>
            <a:lvl6pPr>
              <a:defRPr sz="2175" b="1">
                <a:solidFill>
                  <a:srgbClr val="2164CB"/>
                </a:solidFill>
                <a:latin typeface="AppleGothic"/>
                <a:ea typeface="AppleGothic"/>
                <a:cs typeface="AppleGothic"/>
              </a:defRPr>
            </a:lvl6pPr>
            <a:lvl7pPr>
              <a:defRPr sz="2175" b="1">
                <a:solidFill>
                  <a:srgbClr val="2164CB"/>
                </a:solidFill>
                <a:latin typeface="AppleGothic"/>
                <a:ea typeface="AppleGothic"/>
                <a:cs typeface="AppleGothic"/>
              </a:defRPr>
            </a:lvl7pPr>
            <a:lvl8pPr>
              <a:defRPr sz="2175" b="1">
                <a:solidFill>
                  <a:srgbClr val="2164CB"/>
                </a:solidFill>
                <a:latin typeface="AppleGothic"/>
                <a:ea typeface="AppleGothic"/>
                <a:cs typeface="AppleGothic"/>
              </a:defRPr>
            </a:lvl8pPr>
            <a:lvl9pPr>
              <a:defRPr sz="2175" b="1">
                <a:solidFill>
                  <a:srgbClr val="2164CB"/>
                </a:solidFill>
                <a:latin typeface="AppleGothic"/>
                <a:ea typeface="AppleGothic"/>
                <a:cs typeface="AppleGothic"/>
              </a:defRPr>
            </a:lvl9pPr>
          </a:lstStyle>
          <a:p xmlns:a="http://schemas.openxmlformats.org/drawingml/2006/main">
            <a:pPr>
              <a:defRPr sz="2175" b="1">
                <a:solidFill>
                  <a:srgbClr val="2164CB"/>
                </a:solidFill>
                <a:latin typeface="AppleGothic"/>
                <a:ea typeface="AppleGothic"/>
                <a:cs typeface="AppleGothic"/>
              </a:defRPr>
            </a:pPr>
            <a:r>
              <a:rPr sz="2175" b="1">
                <a:solidFill>
                  <a:srgbClr val="2164CB"/>
                </a:solidFill>
                <a:latin typeface="AppleGothic"/>
                <a:ea typeface="AppleGothic"/>
                <a:cs typeface="AppleGothic"/>
              </a:rPr>
              <a:t>FPN은 깊은 층의 의미 정보와 얕은 층의 세밀한 위치 정보를 합친다</a:t>
            </a:r>
          </a:p>
        </p:txBody>
      </p:sp>
      <p:pic>
        <p:nvPicPr>
          <p:cNvPr id="3" name="">
            <a:extLst xmlns:a="http://schemas.openxmlformats.org/drawingml/2006/main">
              <a:ext uri="{FF2B5EF4-FFF2-40B4-BE49-F238E27FC236}">
                <a16:creationId xmlns:a16="http://schemas.microsoft.com/office/drawing/2014/main" id="{01077B79-A6BC-4818-A572-B7BC86A26218}"/>
              </a:ext>
            </a:extLst>
          </p:cNvPr>
          <p:cNvPicPr>
            <a:picLocks xmlns:a="http://schemas.openxmlformats.org/drawingml/2006/main" noChangeAspect="1"/>
          </p:cNvPicPr>
          <p:nvPr/>
        </p:nvPicPr>
        <p:blipFill>
          <a:blip xmlns:r="http://schemas.openxmlformats.org/officeDocument/2006/relationships" xmlns:a="http://schemas.openxmlformats.org/drawingml/2006/main" r:embed="Rcfbe9410994a4bad"/>
          <a:stretch xmlns:a="http://schemas.openxmlformats.org/drawingml/2006/main"/>
        </p:blipFill>
        <p:spPr>
          <a:xfrm xmlns:a="http://schemas.openxmlformats.org/drawingml/2006/main">
            <a:off x="806940" y="2057400"/>
            <a:ext cx="6596670" cy="3714750"/>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F6206852-8ACE-4471-92B5-27D9FFC0F461}"/>
              </a:ext>
            </a:extLst>
          </p:cNvPr>
          <p:cNvSpPr>
            <a:spLocks xmlns:a="http://schemas.openxmlformats.org/drawingml/2006/main" noGrp="1"/>
          </p:cNvSpPr>
          <p:nvPr/>
        </p:nvSpPr>
        <p:spPr>
          <a:xfrm xmlns:a="http://schemas.openxmlformats.org/drawingml/2006/main">
            <a:off x="7981950" y="2114550"/>
            <a:ext cx="3676650" cy="3667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75" b="0">
                <a:solidFill>
                  <a:srgbClr val="15243B"/>
                </a:solidFill>
                <a:latin typeface="AppleGothic"/>
                <a:ea typeface="AppleGothic"/>
                <a:cs typeface="AppleGothic"/>
              </a:defRPr>
            </a:defPPr>
            <a:lvl1pPr>
              <a:defRPr sz="1875" b="0">
                <a:solidFill>
                  <a:srgbClr val="15243B"/>
                </a:solidFill>
                <a:latin typeface="AppleGothic"/>
                <a:ea typeface="AppleGothic"/>
                <a:cs typeface="AppleGothic"/>
              </a:defRPr>
            </a:lvl1pPr>
            <a:lvl2pPr>
              <a:defRPr sz="1875" b="0">
                <a:solidFill>
                  <a:srgbClr val="15243B"/>
                </a:solidFill>
                <a:latin typeface="AppleGothic"/>
                <a:ea typeface="AppleGothic"/>
                <a:cs typeface="AppleGothic"/>
              </a:defRPr>
            </a:lvl2pPr>
            <a:lvl3pPr>
              <a:defRPr sz="1875" b="0">
                <a:solidFill>
                  <a:srgbClr val="15243B"/>
                </a:solidFill>
                <a:latin typeface="AppleGothic"/>
                <a:ea typeface="AppleGothic"/>
                <a:cs typeface="AppleGothic"/>
              </a:defRPr>
            </a:lvl3pPr>
            <a:lvl4pPr>
              <a:defRPr sz="1875" b="0">
                <a:solidFill>
                  <a:srgbClr val="15243B"/>
                </a:solidFill>
                <a:latin typeface="AppleGothic"/>
                <a:ea typeface="AppleGothic"/>
                <a:cs typeface="AppleGothic"/>
              </a:defRPr>
            </a:lvl4pPr>
            <a:lvl5pPr>
              <a:defRPr sz="1875" b="0">
                <a:solidFill>
                  <a:srgbClr val="15243B"/>
                </a:solidFill>
                <a:latin typeface="AppleGothic"/>
                <a:ea typeface="AppleGothic"/>
                <a:cs typeface="AppleGothic"/>
              </a:defRPr>
            </a:lvl5pPr>
            <a:lvl6pPr>
              <a:defRPr sz="1875" b="0">
                <a:solidFill>
                  <a:srgbClr val="15243B"/>
                </a:solidFill>
                <a:latin typeface="AppleGothic"/>
                <a:ea typeface="AppleGothic"/>
                <a:cs typeface="AppleGothic"/>
              </a:defRPr>
            </a:lvl6pPr>
            <a:lvl7pPr>
              <a:defRPr sz="1875" b="0">
                <a:solidFill>
                  <a:srgbClr val="15243B"/>
                </a:solidFill>
                <a:latin typeface="AppleGothic"/>
                <a:ea typeface="AppleGothic"/>
                <a:cs typeface="AppleGothic"/>
              </a:defRPr>
            </a:lvl7pPr>
            <a:lvl8pPr>
              <a:defRPr sz="1875" b="0">
                <a:solidFill>
                  <a:srgbClr val="15243B"/>
                </a:solidFill>
                <a:latin typeface="AppleGothic"/>
                <a:ea typeface="AppleGothic"/>
                <a:cs typeface="AppleGothic"/>
              </a:defRPr>
            </a:lvl8pPr>
            <a:lvl9pPr>
              <a:defRPr sz="1875" b="0">
                <a:solidFill>
                  <a:srgbClr val="15243B"/>
                </a:solidFill>
                <a:latin typeface="AppleGothic"/>
                <a:ea typeface="AppleGothic"/>
                <a:cs typeface="AppleGothic"/>
              </a:defRPr>
            </a:lvl9pPr>
          </a:lstStyle>
          <a:p xmlns:a="http://schemas.openxmlformats.org/drawingml/2006/main">
            <a:pPr>
              <a:defRPr sz="1875" b="0">
                <a:solidFill>
                  <a:srgbClr val="15243B"/>
                </a:solidFill>
                <a:latin typeface="AppleGothic"/>
                <a:ea typeface="AppleGothic"/>
                <a:cs typeface="AppleGothic"/>
              </a:defRPr>
            </a:pPr>
            <a:r>
              <a:rPr sz="1875" b="0">
                <a:solidFill>
                  <a:srgbClr val="15243B"/>
                </a:solidFill>
                <a:latin typeface="AppleGothic"/>
                <a:ea typeface="AppleGothic"/>
                <a:cs typeface="AppleGothic"/>
              </a:rPr>
              <a:t>Top-down upsampling과 lateral connection이 여러 해상도의 feature를 만든다.</a:t>
            </a:r>
          </a:p>
          <a:p xmlns:a="http://schemas.openxmlformats.org/drawingml/2006/main">
            <a:r>
              <a:t/>
            </a:r>
          </a:p>
          <a:p xmlns:a="http://schemas.openxmlformats.org/drawingml/2006/main">
            <a:pPr>
              <a:defRPr sz="1875" b="0">
                <a:solidFill>
                  <a:srgbClr val="15243B"/>
                </a:solidFill>
                <a:latin typeface="AppleGothic"/>
                <a:ea typeface="AppleGothic"/>
                <a:cs typeface="AppleGothic"/>
              </a:defRPr>
            </a:pPr>
            <a:r>
              <a:rPr sz="1875" b="0">
                <a:solidFill>
                  <a:srgbClr val="15243B"/>
                </a:solidFill>
                <a:latin typeface="AppleGothic"/>
                <a:ea typeface="AppleGothic"/>
                <a:cs typeface="AppleGothic"/>
              </a:rPr>
              <a:t>FPN은 detector 전체가 아니라 RPN이나 dense head가 쓰는 multi-scale feature 구조다.</a:t>
            </a:r>
          </a:p>
        </p:txBody>
      </p:sp>
      <p:sp>
        <p:nvSpPr>
          <p:cNvPr id="5" name="">
            <a:extLst xmlns:a="http://schemas.openxmlformats.org/drawingml/2006/main">
              <a:ext uri="{FF2B5EF4-FFF2-40B4-BE49-F238E27FC236}">
                <a16:creationId xmlns:a16="http://schemas.microsoft.com/office/drawing/2014/main" id="{AF96048A-79DE-4CFE-BB8A-F3CB685A0B63}"/>
              </a:ext>
            </a:extLst>
          </p:cNvPr>
          <p:cNvSpPr>
            <a:spLocks xmlns:a="http://schemas.openxmlformats.org/drawingml/2006/main" noGrp="1"/>
          </p:cNvSpPr>
          <p:nvPr/>
        </p:nvSpPr>
        <p:spPr>
          <a:xfrm xmlns:a="http://schemas.openxmlformats.org/drawingml/2006/main">
            <a:off x="533400" y="5895975"/>
            <a:ext cx="1112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526378"/>
                </a:solidFill>
                <a:latin typeface="AppleGothic"/>
                <a:ea typeface="AppleGothic"/>
                <a:cs typeface="AppleGothic"/>
              </a:defRPr>
            </a:defPPr>
            <a:lvl1pPr>
              <a:defRPr sz="1350" b="0">
                <a:solidFill>
                  <a:srgbClr val="526378"/>
                </a:solidFill>
                <a:latin typeface="AppleGothic"/>
                <a:ea typeface="AppleGothic"/>
                <a:cs typeface="AppleGothic"/>
              </a:defRPr>
            </a:lvl1pPr>
            <a:lvl2pPr>
              <a:defRPr sz="1350" b="0">
                <a:solidFill>
                  <a:srgbClr val="526378"/>
                </a:solidFill>
                <a:latin typeface="AppleGothic"/>
                <a:ea typeface="AppleGothic"/>
                <a:cs typeface="AppleGothic"/>
              </a:defRPr>
            </a:lvl2pPr>
            <a:lvl3pPr>
              <a:defRPr sz="1350" b="0">
                <a:solidFill>
                  <a:srgbClr val="526378"/>
                </a:solidFill>
                <a:latin typeface="AppleGothic"/>
                <a:ea typeface="AppleGothic"/>
                <a:cs typeface="AppleGothic"/>
              </a:defRPr>
            </a:lvl3pPr>
            <a:lvl4pPr>
              <a:defRPr sz="1350" b="0">
                <a:solidFill>
                  <a:srgbClr val="526378"/>
                </a:solidFill>
                <a:latin typeface="AppleGothic"/>
                <a:ea typeface="AppleGothic"/>
                <a:cs typeface="AppleGothic"/>
              </a:defRPr>
            </a:lvl4pPr>
            <a:lvl5pPr>
              <a:defRPr sz="1350" b="0">
                <a:solidFill>
                  <a:srgbClr val="526378"/>
                </a:solidFill>
                <a:latin typeface="AppleGothic"/>
                <a:ea typeface="AppleGothic"/>
                <a:cs typeface="AppleGothic"/>
              </a:defRPr>
            </a:lvl5pPr>
            <a:lvl6pPr>
              <a:defRPr sz="1350" b="0">
                <a:solidFill>
                  <a:srgbClr val="526378"/>
                </a:solidFill>
                <a:latin typeface="AppleGothic"/>
                <a:ea typeface="AppleGothic"/>
                <a:cs typeface="AppleGothic"/>
              </a:defRPr>
            </a:lvl6pPr>
            <a:lvl7pPr>
              <a:defRPr sz="1350" b="0">
                <a:solidFill>
                  <a:srgbClr val="526378"/>
                </a:solidFill>
                <a:latin typeface="AppleGothic"/>
                <a:ea typeface="AppleGothic"/>
                <a:cs typeface="AppleGothic"/>
              </a:defRPr>
            </a:lvl7pPr>
            <a:lvl8pPr>
              <a:defRPr sz="1350" b="0">
                <a:solidFill>
                  <a:srgbClr val="526378"/>
                </a:solidFill>
                <a:latin typeface="AppleGothic"/>
                <a:ea typeface="AppleGothic"/>
                <a:cs typeface="AppleGothic"/>
              </a:defRPr>
            </a:lvl8pPr>
            <a:lvl9pPr>
              <a:defRPr sz="1350" b="0">
                <a:solidFill>
                  <a:srgbClr val="526378"/>
                </a:solidFill>
                <a:latin typeface="AppleGothic"/>
                <a:ea typeface="AppleGothic"/>
                <a:cs typeface="AppleGothic"/>
              </a:defRPr>
            </a:lvl9pPr>
          </a:lstStyle>
          <a:p xmlns:a="http://schemas.openxmlformats.org/drawingml/2006/main">
            <a:pPr>
              <a:defRPr sz="1350" b="0">
                <a:solidFill>
                  <a:srgbClr val="526378"/>
                </a:solidFill>
                <a:latin typeface="AppleGothic"/>
                <a:ea typeface="AppleGothic"/>
                <a:cs typeface="AppleGothic"/>
              </a:defRPr>
            </a:pPr>
            <a:r>
              <a:rPr sz="1350" b="0">
                <a:solidFill>
                  <a:srgbClr val="526378"/>
                </a:solidFill>
                <a:latin typeface="AppleGothic"/>
                <a:ea typeface="AppleGothic"/>
                <a:cs typeface="AppleGothic"/>
              </a:rPr>
              <a:t>Lecture 6, p. 31. Four scale-handling strategies and FPN</a:t>
            </a:r>
          </a:p>
        </p:txBody>
      </p:sp>
      <p:sp>
        <p:nvSpPr>
          <p:cNvPr id="6" name="">
            <a:extLst xmlns:a="http://schemas.openxmlformats.org/drawingml/2006/main">
              <a:ext uri="{FF2B5EF4-FFF2-40B4-BE49-F238E27FC236}">
                <a16:creationId xmlns:a16="http://schemas.microsoft.com/office/drawing/2014/main" id="{912DA71A-6E0F-42B2-BE82-BA986D2F1CAF}"/>
              </a:ext>
            </a:extLst>
          </p:cNvPr>
          <p:cNvSpPr>
            <a:spLocks xmlns:a="http://schemas.openxmlformats.org/drawingml/2006/main" noGrp="1"/>
          </p:cNvSpPr>
          <p:nvPr/>
        </p:nvSpPr>
        <p:spPr>
          <a:xfrm xmlns:a="http://schemas.openxmlformats.org/drawingml/2006/main">
            <a:off x="11144250" y="6400800"/>
            <a:ext cx="5143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62748C"/>
                </a:solidFill>
                <a:latin typeface="AppleGothic"/>
                <a:ea typeface="AppleGothic"/>
                <a:cs typeface="AppleGothic"/>
              </a:defRPr>
            </a:defPPr>
            <a:lvl1pPr>
              <a:defRPr sz="1350" b="0">
                <a:solidFill>
                  <a:srgbClr val="62748C"/>
                </a:solidFill>
                <a:latin typeface="AppleGothic"/>
                <a:ea typeface="AppleGothic"/>
                <a:cs typeface="AppleGothic"/>
              </a:defRPr>
            </a:lvl1pPr>
            <a:lvl2pPr>
              <a:defRPr sz="1350" b="0">
                <a:solidFill>
                  <a:srgbClr val="62748C"/>
                </a:solidFill>
                <a:latin typeface="AppleGothic"/>
                <a:ea typeface="AppleGothic"/>
                <a:cs typeface="AppleGothic"/>
              </a:defRPr>
            </a:lvl2pPr>
            <a:lvl3pPr>
              <a:defRPr sz="1350" b="0">
                <a:solidFill>
                  <a:srgbClr val="62748C"/>
                </a:solidFill>
                <a:latin typeface="AppleGothic"/>
                <a:ea typeface="AppleGothic"/>
                <a:cs typeface="AppleGothic"/>
              </a:defRPr>
            </a:lvl3pPr>
            <a:lvl4pPr>
              <a:defRPr sz="1350" b="0">
                <a:solidFill>
                  <a:srgbClr val="62748C"/>
                </a:solidFill>
                <a:latin typeface="AppleGothic"/>
                <a:ea typeface="AppleGothic"/>
                <a:cs typeface="AppleGothic"/>
              </a:defRPr>
            </a:lvl4pPr>
            <a:lvl5pPr>
              <a:defRPr sz="1350" b="0">
                <a:solidFill>
                  <a:srgbClr val="62748C"/>
                </a:solidFill>
                <a:latin typeface="AppleGothic"/>
                <a:ea typeface="AppleGothic"/>
                <a:cs typeface="AppleGothic"/>
              </a:defRPr>
            </a:lvl5pPr>
            <a:lvl6pPr>
              <a:defRPr sz="1350" b="0">
                <a:solidFill>
                  <a:srgbClr val="62748C"/>
                </a:solidFill>
                <a:latin typeface="AppleGothic"/>
                <a:ea typeface="AppleGothic"/>
                <a:cs typeface="AppleGothic"/>
              </a:defRPr>
            </a:lvl6pPr>
            <a:lvl7pPr>
              <a:defRPr sz="1350" b="0">
                <a:solidFill>
                  <a:srgbClr val="62748C"/>
                </a:solidFill>
                <a:latin typeface="AppleGothic"/>
                <a:ea typeface="AppleGothic"/>
                <a:cs typeface="AppleGothic"/>
              </a:defRPr>
            </a:lvl7pPr>
            <a:lvl8pPr>
              <a:defRPr sz="1350" b="0">
                <a:solidFill>
                  <a:srgbClr val="62748C"/>
                </a:solidFill>
                <a:latin typeface="AppleGothic"/>
                <a:ea typeface="AppleGothic"/>
                <a:cs typeface="AppleGothic"/>
              </a:defRPr>
            </a:lvl8pPr>
            <a:lvl9pPr>
              <a:defRPr sz="1350" b="0">
                <a:solidFill>
                  <a:srgbClr val="62748C"/>
                </a:solidFill>
                <a:latin typeface="AppleGothic"/>
                <a:ea typeface="AppleGothic"/>
                <a:cs typeface="AppleGothic"/>
              </a:defRPr>
            </a:lvl9pPr>
          </a:lstStyle>
          <a:p xmlns:a="http://schemas.openxmlformats.org/drawingml/2006/main">
            <a:pPr>
              <a:defRPr sz="1350" b="0">
                <a:solidFill>
                  <a:srgbClr val="62748C"/>
                </a:solidFill>
                <a:latin typeface="AppleGothic"/>
                <a:ea typeface="AppleGothic"/>
                <a:cs typeface="AppleGothic"/>
              </a:defRPr>
            </a:pPr>
            <a:r>
              <a:rPr sz="1350" b="0">
                <a:solidFill>
                  <a:srgbClr val="62748C"/>
                </a:solidFill>
                <a:latin typeface="AppleGothic"/>
                <a:ea typeface="AppleGothic"/>
                <a:cs typeface="AppleGothic"/>
              </a:rPr>
              <a:t>13</a:t>
            </a:r>
          </a:p>
        </p:txBody>
      </p:sp>
    </p:spTree>
    <p:extLst>
      <p:ext uri="{BB962C8B-B14F-4D97-AF65-F5344CB8AC3E}">
        <p14:creationId xmlns:p14="http://schemas.microsoft.com/office/powerpoint/2010/main" val="1899981538"/>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853BC2CE-C6BF-4C46-A5B8-F9D1332EF1ED}"/>
              </a:ext>
            </a:extLst>
          </p:cNvPr>
          <p:cNvSpPr>
            <a:spLocks xmlns:a="http://schemas.openxmlformats.org/drawingml/2006/main" noGrp="1"/>
          </p:cNvSpPr>
          <p:nvPr/>
        </p:nvSpPr>
        <p:spPr>
          <a:xfrm xmlns:a="http://schemas.openxmlformats.org/drawingml/2006/main">
            <a:off x="533400" y="342900"/>
            <a:ext cx="111252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150" b="1">
                <a:solidFill>
                  <a:srgbClr val="15243B"/>
                </a:solidFill>
                <a:latin typeface="AppleGothic"/>
                <a:ea typeface="AppleGothic"/>
                <a:cs typeface="AppleGothic"/>
              </a:defRPr>
            </a:defPPr>
            <a:lvl1pPr>
              <a:defRPr sz="3150" b="1">
                <a:solidFill>
                  <a:srgbClr val="15243B"/>
                </a:solidFill>
                <a:latin typeface="AppleGothic"/>
                <a:ea typeface="AppleGothic"/>
                <a:cs typeface="AppleGothic"/>
              </a:defRPr>
            </a:lvl1pPr>
            <a:lvl2pPr>
              <a:defRPr sz="3150" b="1">
                <a:solidFill>
                  <a:srgbClr val="15243B"/>
                </a:solidFill>
                <a:latin typeface="AppleGothic"/>
                <a:ea typeface="AppleGothic"/>
                <a:cs typeface="AppleGothic"/>
              </a:defRPr>
            </a:lvl2pPr>
            <a:lvl3pPr>
              <a:defRPr sz="3150" b="1">
                <a:solidFill>
                  <a:srgbClr val="15243B"/>
                </a:solidFill>
                <a:latin typeface="AppleGothic"/>
                <a:ea typeface="AppleGothic"/>
                <a:cs typeface="AppleGothic"/>
              </a:defRPr>
            </a:lvl3pPr>
            <a:lvl4pPr>
              <a:defRPr sz="3150" b="1">
                <a:solidFill>
                  <a:srgbClr val="15243B"/>
                </a:solidFill>
                <a:latin typeface="AppleGothic"/>
                <a:ea typeface="AppleGothic"/>
                <a:cs typeface="AppleGothic"/>
              </a:defRPr>
            </a:lvl4pPr>
            <a:lvl5pPr>
              <a:defRPr sz="3150" b="1">
                <a:solidFill>
                  <a:srgbClr val="15243B"/>
                </a:solidFill>
                <a:latin typeface="AppleGothic"/>
                <a:ea typeface="AppleGothic"/>
                <a:cs typeface="AppleGothic"/>
              </a:defRPr>
            </a:lvl5pPr>
            <a:lvl6pPr>
              <a:defRPr sz="3150" b="1">
                <a:solidFill>
                  <a:srgbClr val="15243B"/>
                </a:solidFill>
                <a:latin typeface="AppleGothic"/>
                <a:ea typeface="AppleGothic"/>
                <a:cs typeface="AppleGothic"/>
              </a:defRPr>
            </a:lvl6pPr>
            <a:lvl7pPr>
              <a:defRPr sz="3150" b="1">
                <a:solidFill>
                  <a:srgbClr val="15243B"/>
                </a:solidFill>
                <a:latin typeface="AppleGothic"/>
                <a:ea typeface="AppleGothic"/>
                <a:cs typeface="AppleGothic"/>
              </a:defRPr>
            </a:lvl7pPr>
            <a:lvl8pPr>
              <a:defRPr sz="3150" b="1">
                <a:solidFill>
                  <a:srgbClr val="15243B"/>
                </a:solidFill>
                <a:latin typeface="AppleGothic"/>
                <a:ea typeface="AppleGothic"/>
                <a:cs typeface="AppleGothic"/>
              </a:defRPr>
            </a:lvl8pPr>
            <a:lvl9pPr>
              <a:defRPr sz="3150" b="1">
                <a:solidFill>
                  <a:srgbClr val="15243B"/>
                </a:solidFill>
                <a:latin typeface="AppleGothic"/>
                <a:ea typeface="AppleGothic"/>
                <a:cs typeface="AppleGothic"/>
              </a:defRPr>
            </a:lvl9pPr>
          </a:lstStyle>
          <a:p xmlns:a="http://schemas.openxmlformats.org/drawingml/2006/main">
            <a:pPr>
              <a:defRPr sz="3150" b="1">
                <a:solidFill>
                  <a:srgbClr val="15243B"/>
                </a:solidFill>
                <a:latin typeface="AppleGothic"/>
                <a:ea typeface="AppleGothic"/>
                <a:cs typeface="AppleGothic"/>
              </a:defRPr>
            </a:pPr>
            <a:r>
              <a:rPr sz="3150" b="1">
                <a:solidFill>
                  <a:srgbClr val="15243B"/>
                </a:solidFill>
                <a:latin typeface="AppleGothic"/>
                <a:ea typeface="AppleGothic"/>
                <a:cs typeface="AppleGothic"/>
              </a:rPr>
              <a:t>RetinaNet</a:t>
            </a:r>
          </a:p>
        </p:txBody>
      </p:sp>
      <p:sp>
        <p:nvSpPr>
          <p:cNvPr id="2" name="">
            <a:extLst xmlns:a="http://schemas.openxmlformats.org/drawingml/2006/main">
              <a:ext uri="{FF2B5EF4-FFF2-40B4-BE49-F238E27FC236}">
                <a16:creationId xmlns:a16="http://schemas.microsoft.com/office/drawing/2014/main" id="{97B8D2EF-4337-4FB0-9F9D-54717CC8A268}"/>
              </a:ext>
            </a:extLst>
          </p:cNvPr>
          <p:cNvSpPr>
            <a:spLocks xmlns:a="http://schemas.openxmlformats.org/drawingml/2006/main" noGrp="1"/>
          </p:cNvSpPr>
          <p:nvPr/>
        </p:nvSpPr>
        <p:spPr>
          <a:xfrm xmlns:a="http://schemas.openxmlformats.org/drawingml/2006/main">
            <a:off x="533400" y="1066800"/>
            <a:ext cx="111252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1">
                <a:solidFill>
                  <a:srgbClr val="2164CB"/>
                </a:solidFill>
                <a:latin typeface="AppleGothic"/>
                <a:ea typeface="AppleGothic"/>
                <a:cs typeface="AppleGothic"/>
              </a:defRPr>
            </a:defPPr>
            <a:lvl1pPr>
              <a:defRPr sz="2175" b="1">
                <a:solidFill>
                  <a:srgbClr val="2164CB"/>
                </a:solidFill>
                <a:latin typeface="AppleGothic"/>
                <a:ea typeface="AppleGothic"/>
                <a:cs typeface="AppleGothic"/>
              </a:defRPr>
            </a:lvl1pPr>
            <a:lvl2pPr>
              <a:defRPr sz="2175" b="1">
                <a:solidFill>
                  <a:srgbClr val="2164CB"/>
                </a:solidFill>
                <a:latin typeface="AppleGothic"/>
                <a:ea typeface="AppleGothic"/>
                <a:cs typeface="AppleGothic"/>
              </a:defRPr>
            </a:lvl2pPr>
            <a:lvl3pPr>
              <a:defRPr sz="2175" b="1">
                <a:solidFill>
                  <a:srgbClr val="2164CB"/>
                </a:solidFill>
                <a:latin typeface="AppleGothic"/>
                <a:ea typeface="AppleGothic"/>
                <a:cs typeface="AppleGothic"/>
              </a:defRPr>
            </a:lvl3pPr>
            <a:lvl4pPr>
              <a:defRPr sz="2175" b="1">
                <a:solidFill>
                  <a:srgbClr val="2164CB"/>
                </a:solidFill>
                <a:latin typeface="AppleGothic"/>
                <a:ea typeface="AppleGothic"/>
                <a:cs typeface="AppleGothic"/>
              </a:defRPr>
            </a:lvl4pPr>
            <a:lvl5pPr>
              <a:defRPr sz="2175" b="1">
                <a:solidFill>
                  <a:srgbClr val="2164CB"/>
                </a:solidFill>
                <a:latin typeface="AppleGothic"/>
                <a:ea typeface="AppleGothic"/>
                <a:cs typeface="AppleGothic"/>
              </a:defRPr>
            </a:lvl5pPr>
            <a:lvl6pPr>
              <a:defRPr sz="2175" b="1">
                <a:solidFill>
                  <a:srgbClr val="2164CB"/>
                </a:solidFill>
                <a:latin typeface="AppleGothic"/>
                <a:ea typeface="AppleGothic"/>
                <a:cs typeface="AppleGothic"/>
              </a:defRPr>
            </a:lvl6pPr>
            <a:lvl7pPr>
              <a:defRPr sz="2175" b="1">
                <a:solidFill>
                  <a:srgbClr val="2164CB"/>
                </a:solidFill>
                <a:latin typeface="AppleGothic"/>
                <a:ea typeface="AppleGothic"/>
                <a:cs typeface="AppleGothic"/>
              </a:defRPr>
            </a:lvl7pPr>
            <a:lvl8pPr>
              <a:defRPr sz="2175" b="1">
                <a:solidFill>
                  <a:srgbClr val="2164CB"/>
                </a:solidFill>
                <a:latin typeface="AppleGothic"/>
                <a:ea typeface="AppleGothic"/>
                <a:cs typeface="AppleGothic"/>
              </a:defRPr>
            </a:lvl8pPr>
            <a:lvl9pPr>
              <a:defRPr sz="2175" b="1">
                <a:solidFill>
                  <a:srgbClr val="2164CB"/>
                </a:solidFill>
                <a:latin typeface="AppleGothic"/>
                <a:ea typeface="AppleGothic"/>
                <a:cs typeface="AppleGothic"/>
              </a:defRPr>
            </a:lvl9pPr>
          </a:lstStyle>
          <a:p xmlns:a="http://schemas.openxmlformats.org/drawingml/2006/main">
            <a:pPr>
              <a:defRPr sz="2175" b="1">
                <a:solidFill>
                  <a:srgbClr val="2164CB"/>
                </a:solidFill>
                <a:latin typeface="AppleGothic"/>
                <a:ea typeface="AppleGothic"/>
                <a:cs typeface="AppleGothic"/>
              </a:defRPr>
            </a:pPr>
            <a:r>
              <a:rPr sz="2175" b="1">
                <a:solidFill>
                  <a:srgbClr val="2164CB"/>
                </a:solidFill>
                <a:latin typeface="AppleGothic"/>
                <a:ea typeface="AppleGothic"/>
                <a:cs typeface="AppleGothic"/>
              </a:rPr>
              <a:t>RetinaNet은 dense anchors의 심한 foreground-background 불균형을 다룬다</a:t>
            </a:r>
          </a:p>
        </p:txBody>
      </p:sp>
      <p:pic>
        <p:nvPicPr>
          <p:cNvPr id="3" name="">
            <a:extLst xmlns:a="http://schemas.openxmlformats.org/drawingml/2006/main">
              <a:ext uri="{FF2B5EF4-FFF2-40B4-BE49-F238E27FC236}">
                <a16:creationId xmlns:a16="http://schemas.microsoft.com/office/drawing/2014/main" id="{F4C1808C-326E-4AC3-A57F-CF9F44D3CE70}"/>
              </a:ext>
            </a:extLst>
          </p:cNvPr>
          <p:cNvPicPr>
            <a:picLocks xmlns:a="http://schemas.openxmlformats.org/drawingml/2006/main" noChangeAspect="1"/>
          </p:cNvPicPr>
          <p:nvPr/>
        </p:nvPicPr>
        <p:blipFill>
          <a:blip xmlns:r="http://schemas.openxmlformats.org/officeDocument/2006/relationships" xmlns:a="http://schemas.openxmlformats.org/drawingml/2006/main" r:embed="R8274fd99c6a149ce"/>
          <a:stretch xmlns:a="http://schemas.openxmlformats.org/drawingml/2006/main"/>
        </p:blipFill>
        <p:spPr>
          <a:xfrm xmlns:a="http://schemas.openxmlformats.org/drawingml/2006/main">
            <a:off x="806940" y="2057400"/>
            <a:ext cx="6596670" cy="3714750"/>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133EE556-398D-4B0D-AD3A-EBD1AA1F8220}"/>
              </a:ext>
            </a:extLst>
          </p:cNvPr>
          <p:cNvSpPr>
            <a:spLocks xmlns:a="http://schemas.openxmlformats.org/drawingml/2006/main" noGrp="1"/>
          </p:cNvSpPr>
          <p:nvPr/>
        </p:nvSpPr>
        <p:spPr>
          <a:xfrm xmlns:a="http://schemas.openxmlformats.org/drawingml/2006/main">
            <a:off x="7981950" y="2114550"/>
            <a:ext cx="3676650" cy="3667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75" b="0">
                <a:solidFill>
                  <a:srgbClr val="15243B"/>
                </a:solidFill>
                <a:latin typeface="AppleGothic"/>
                <a:ea typeface="AppleGothic"/>
                <a:cs typeface="AppleGothic"/>
              </a:defRPr>
            </a:defPPr>
            <a:lvl1pPr>
              <a:defRPr sz="1875" b="0">
                <a:solidFill>
                  <a:srgbClr val="15243B"/>
                </a:solidFill>
                <a:latin typeface="AppleGothic"/>
                <a:ea typeface="AppleGothic"/>
                <a:cs typeface="AppleGothic"/>
              </a:defRPr>
            </a:lvl1pPr>
            <a:lvl2pPr>
              <a:defRPr sz="1875" b="0">
                <a:solidFill>
                  <a:srgbClr val="15243B"/>
                </a:solidFill>
                <a:latin typeface="AppleGothic"/>
                <a:ea typeface="AppleGothic"/>
                <a:cs typeface="AppleGothic"/>
              </a:defRPr>
            </a:lvl2pPr>
            <a:lvl3pPr>
              <a:defRPr sz="1875" b="0">
                <a:solidFill>
                  <a:srgbClr val="15243B"/>
                </a:solidFill>
                <a:latin typeface="AppleGothic"/>
                <a:ea typeface="AppleGothic"/>
                <a:cs typeface="AppleGothic"/>
              </a:defRPr>
            </a:lvl3pPr>
            <a:lvl4pPr>
              <a:defRPr sz="1875" b="0">
                <a:solidFill>
                  <a:srgbClr val="15243B"/>
                </a:solidFill>
                <a:latin typeface="AppleGothic"/>
                <a:ea typeface="AppleGothic"/>
                <a:cs typeface="AppleGothic"/>
              </a:defRPr>
            </a:lvl4pPr>
            <a:lvl5pPr>
              <a:defRPr sz="1875" b="0">
                <a:solidFill>
                  <a:srgbClr val="15243B"/>
                </a:solidFill>
                <a:latin typeface="AppleGothic"/>
                <a:ea typeface="AppleGothic"/>
                <a:cs typeface="AppleGothic"/>
              </a:defRPr>
            </a:lvl5pPr>
            <a:lvl6pPr>
              <a:defRPr sz="1875" b="0">
                <a:solidFill>
                  <a:srgbClr val="15243B"/>
                </a:solidFill>
                <a:latin typeface="AppleGothic"/>
                <a:ea typeface="AppleGothic"/>
                <a:cs typeface="AppleGothic"/>
              </a:defRPr>
            </a:lvl6pPr>
            <a:lvl7pPr>
              <a:defRPr sz="1875" b="0">
                <a:solidFill>
                  <a:srgbClr val="15243B"/>
                </a:solidFill>
                <a:latin typeface="AppleGothic"/>
                <a:ea typeface="AppleGothic"/>
                <a:cs typeface="AppleGothic"/>
              </a:defRPr>
            </a:lvl7pPr>
            <a:lvl8pPr>
              <a:defRPr sz="1875" b="0">
                <a:solidFill>
                  <a:srgbClr val="15243B"/>
                </a:solidFill>
                <a:latin typeface="AppleGothic"/>
                <a:ea typeface="AppleGothic"/>
                <a:cs typeface="AppleGothic"/>
              </a:defRPr>
            </a:lvl8pPr>
            <a:lvl9pPr>
              <a:defRPr sz="1875" b="0">
                <a:solidFill>
                  <a:srgbClr val="15243B"/>
                </a:solidFill>
                <a:latin typeface="AppleGothic"/>
                <a:ea typeface="AppleGothic"/>
                <a:cs typeface="AppleGothic"/>
              </a:defRPr>
            </a:lvl9pPr>
          </a:lstStyle>
          <a:p xmlns:a="http://schemas.openxmlformats.org/drawingml/2006/main">
            <a:pPr>
              <a:defRPr sz="1875" b="0">
                <a:solidFill>
                  <a:srgbClr val="15243B"/>
                </a:solidFill>
                <a:latin typeface="AppleGothic"/>
                <a:ea typeface="AppleGothic"/>
                <a:cs typeface="AppleGothic"/>
              </a:defRPr>
            </a:pPr>
            <a:r>
              <a:rPr sz="1875" b="0">
                <a:solidFill>
                  <a:srgbClr val="15243B"/>
                </a:solidFill>
                <a:latin typeface="AppleGothic"/>
                <a:ea typeface="AppleGothic"/>
                <a:cs typeface="AppleGothic"/>
              </a:rPr>
              <a:t>FPN의 각 위치와 anchor에서 class score와 box offset을 예측한다.</a:t>
            </a:r>
          </a:p>
          <a:p xmlns:a="http://schemas.openxmlformats.org/drawingml/2006/main">
            <a:r>
              <a:t/>
            </a:r>
          </a:p>
          <a:p xmlns:a="http://schemas.openxmlformats.org/drawingml/2006/main">
            <a:pPr>
              <a:defRPr sz="1875" b="0">
                <a:solidFill>
                  <a:srgbClr val="15243B"/>
                </a:solidFill>
                <a:latin typeface="AppleGothic"/>
                <a:ea typeface="AppleGothic"/>
                <a:cs typeface="AppleGothic"/>
              </a:defRPr>
            </a:pPr>
            <a:r>
              <a:rPr sz="1875" b="0">
                <a:solidFill>
                  <a:srgbClr val="15243B"/>
                </a:solidFill>
                <a:latin typeface="AppleGothic"/>
                <a:ea typeface="AppleGothic"/>
                <a:cs typeface="AppleGothic"/>
              </a:rPr>
              <a:t>Focal loss는 쉬운 negative를 삭제하지 않고 해당 gradient의 비중을 줄인다.</a:t>
            </a:r>
          </a:p>
        </p:txBody>
      </p:sp>
      <p:sp>
        <p:nvSpPr>
          <p:cNvPr id="5" name="">
            <a:extLst xmlns:a="http://schemas.openxmlformats.org/drawingml/2006/main">
              <a:ext uri="{FF2B5EF4-FFF2-40B4-BE49-F238E27FC236}">
                <a16:creationId xmlns:a16="http://schemas.microsoft.com/office/drawing/2014/main" id="{D44F51EB-5708-4D13-9C1D-3A694F591590}"/>
              </a:ext>
            </a:extLst>
          </p:cNvPr>
          <p:cNvSpPr>
            <a:spLocks xmlns:a="http://schemas.openxmlformats.org/drawingml/2006/main" noGrp="1"/>
          </p:cNvSpPr>
          <p:nvPr/>
        </p:nvSpPr>
        <p:spPr>
          <a:xfrm xmlns:a="http://schemas.openxmlformats.org/drawingml/2006/main">
            <a:off x="533400" y="5895975"/>
            <a:ext cx="1112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526378"/>
                </a:solidFill>
                <a:latin typeface="AppleGothic"/>
                <a:ea typeface="AppleGothic"/>
                <a:cs typeface="AppleGothic"/>
              </a:defRPr>
            </a:defPPr>
            <a:lvl1pPr>
              <a:defRPr sz="1350" b="0">
                <a:solidFill>
                  <a:srgbClr val="526378"/>
                </a:solidFill>
                <a:latin typeface="AppleGothic"/>
                <a:ea typeface="AppleGothic"/>
                <a:cs typeface="AppleGothic"/>
              </a:defRPr>
            </a:lvl1pPr>
            <a:lvl2pPr>
              <a:defRPr sz="1350" b="0">
                <a:solidFill>
                  <a:srgbClr val="526378"/>
                </a:solidFill>
                <a:latin typeface="AppleGothic"/>
                <a:ea typeface="AppleGothic"/>
                <a:cs typeface="AppleGothic"/>
              </a:defRPr>
            </a:lvl2pPr>
            <a:lvl3pPr>
              <a:defRPr sz="1350" b="0">
                <a:solidFill>
                  <a:srgbClr val="526378"/>
                </a:solidFill>
                <a:latin typeface="AppleGothic"/>
                <a:ea typeface="AppleGothic"/>
                <a:cs typeface="AppleGothic"/>
              </a:defRPr>
            </a:lvl3pPr>
            <a:lvl4pPr>
              <a:defRPr sz="1350" b="0">
                <a:solidFill>
                  <a:srgbClr val="526378"/>
                </a:solidFill>
                <a:latin typeface="AppleGothic"/>
                <a:ea typeface="AppleGothic"/>
                <a:cs typeface="AppleGothic"/>
              </a:defRPr>
            </a:lvl4pPr>
            <a:lvl5pPr>
              <a:defRPr sz="1350" b="0">
                <a:solidFill>
                  <a:srgbClr val="526378"/>
                </a:solidFill>
                <a:latin typeface="AppleGothic"/>
                <a:ea typeface="AppleGothic"/>
                <a:cs typeface="AppleGothic"/>
              </a:defRPr>
            </a:lvl5pPr>
            <a:lvl6pPr>
              <a:defRPr sz="1350" b="0">
                <a:solidFill>
                  <a:srgbClr val="526378"/>
                </a:solidFill>
                <a:latin typeface="AppleGothic"/>
                <a:ea typeface="AppleGothic"/>
                <a:cs typeface="AppleGothic"/>
              </a:defRPr>
            </a:lvl6pPr>
            <a:lvl7pPr>
              <a:defRPr sz="1350" b="0">
                <a:solidFill>
                  <a:srgbClr val="526378"/>
                </a:solidFill>
                <a:latin typeface="AppleGothic"/>
                <a:ea typeface="AppleGothic"/>
                <a:cs typeface="AppleGothic"/>
              </a:defRPr>
            </a:lvl7pPr>
            <a:lvl8pPr>
              <a:defRPr sz="1350" b="0">
                <a:solidFill>
                  <a:srgbClr val="526378"/>
                </a:solidFill>
                <a:latin typeface="AppleGothic"/>
                <a:ea typeface="AppleGothic"/>
                <a:cs typeface="AppleGothic"/>
              </a:defRPr>
            </a:lvl8pPr>
            <a:lvl9pPr>
              <a:defRPr sz="1350" b="0">
                <a:solidFill>
                  <a:srgbClr val="526378"/>
                </a:solidFill>
                <a:latin typeface="AppleGothic"/>
                <a:ea typeface="AppleGothic"/>
                <a:cs typeface="AppleGothic"/>
              </a:defRPr>
            </a:lvl9pPr>
          </a:lstStyle>
          <a:p xmlns:a="http://schemas.openxmlformats.org/drawingml/2006/main">
            <a:pPr>
              <a:defRPr sz="1350" b="0">
                <a:solidFill>
                  <a:srgbClr val="526378"/>
                </a:solidFill>
                <a:latin typeface="AppleGothic"/>
                <a:ea typeface="AppleGothic"/>
                <a:cs typeface="AppleGothic"/>
              </a:defRPr>
            </a:pPr>
            <a:r>
              <a:rPr sz="1350" b="0">
                <a:solidFill>
                  <a:srgbClr val="526378"/>
                </a:solidFill>
                <a:latin typeface="AppleGothic"/>
                <a:ea typeface="AppleGothic"/>
                <a:cs typeface="AppleGothic"/>
              </a:rPr>
              <a:t>Lecture 7, p. 9. Anchor-based dense classification and regression heads</a:t>
            </a:r>
          </a:p>
        </p:txBody>
      </p:sp>
      <p:sp>
        <p:nvSpPr>
          <p:cNvPr id="6" name="">
            <a:extLst xmlns:a="http://schemas.openxmlformats.org/drawingml/2006/main">
              <a:ext uri="{FF2B5EF4-FFF2-40B4-BE49-F238E27FC236}">
                <a16:creationId xmlns:a16="http://schemas.microsoft.com/office/drawing/2014/main" id="{0370C25C-F27D-466E-95D0-D86189614E25}"/>
              </a:ext>
            </a:extLst>
          </p:cNvPr>
          <p:cNvSpPr>
            <a:spLocks xmlns:a="http://schemas.openxmlformats.org/drawingml/2006/main" noGrp="1"/>
          </p:cNvSpPr>
          <p:nvPr/>
        </p:nvSpPr>
        <p:spPr>
          <a:xfrm xmlns:a="http://schemas.openxmlformats.org/drawingml/2006/main">
            <a:off x="11144250" y="6400800"/>
            <a:ext cx="5143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62748C"/>
                </a:solidFill>
                <a:latin typeface="AppleGothic"/>
                <a:ea typeface="AppleGothic"/>
                <a:cs typeface="AppleGothic"/>
              </a:defRPr>
            </a:defPPr>
            <a:lvl1pPr>
              <a:defRPr sz="1350" b="0">
                <a:solidFill>
                  <a:srgbClr val="62748C"/>
                </a:solidFill>
                <a:latin typeface="AppleGothic"/>
                <a:ea typeface="AppleGothic"/>
                <a:cs typeface="AppleGothic"/>
              </a:defRPr>
            </a:lvl1pPr>
            <a:lvl2pPr>
              <a:defRPr sz="1350" b="0">
                <a:solidFill>
                  <a:srgbClr val="62748C"/>
                </a:solidFill>
                <a:latin typeface="AppleGothic"/>
                <a:ea typeface="AppleGothic"/>
                <a:cs typeface="AppleGothic"/>
              </a:defRPr>
            </a:lvl2pPr>
            <a:lvl3pPr>
              <a:defRPr sz="1350" b="0">
                <a:solidFill>
                  <a:srgbClr val="62748C"/>
                </a:solidFill>
                <a:latin typeface="AppleGothic"/>
                <a:ea typeface="AppleGothic"/>
                <a:cs typeface="AppleGothic"/>
              </a:defRPr>
            </a:lvl3pPr>
            <a:lvl4pPr>
              <a:defRPr sz="1350" b="0">
                <a:solidFill>
                  <a:srgbClr val="62748C"/>
                </a:solidFill>
                <a:latin typeface="AppleGothic"/>
                <a:ea typeface="AppleGothic"/>
                <a:cs typeface="AppleGothic"/>
              </a:defRPr>
            </a:lvl4pPr>
            <a:lvl5pPr>
              <a:defRPr sz="1350" b="0">
                <a:solidFill>
                  <a:srgbClr val="62748C"/>
                </a:solidFill>
                <a:latin typeface="AppleGothic"/>
                <a:ea typeface="AppleGothic"/>
                <a:cs typeface="AppleGothic"/>
              </a:defRPr>
            </a:lvl5pPr>
            <a:lvl6pPr>
              <a:defRPr sz="1350" b="0">
                <a:solidFill>
                  <a:srgbClr val="62748C"/>
                </a:solidFill>
                <a:latin typeface="AppleGothic"/>
                <a:ea typeface="AppleGothic"/>
                <a:cs typeface="AppleGothic"/>
              </a:defRPr>
            </a:lvl6pPr>
            <a:lvl7pPr>
              <a:defRPr sz="1350" b="0">
                <a:solidFill>
                  <a:srgbClr val="62748C"/>
                </a:solidFill>
                <a:latin typeface="AppleGothic"/>
                <a:ea typeface="AppleGothic"/>
                <a:cs typeface="AppleGothic"/>
              </a:defRPr>
            </a:lvl7pPr>
            <a:lvl8pPr>
              <a:defRPr sz="1350" b="0">
                <a:solidFill>
                  <a:srgbClr val="62748C"/>
                </a:solidFill>
                <a:latin typeface="AppleGothic"/>
                <a:ea typeface="AppleGothic"/>
                <a:cs typeface="AppleGothic"/>
              </a:defRPr>
            </a:lvl8pPr>
            <a:lvl9pPr>
              <a:defRPr sz="1350" b="0">
                <a:solidFill>
                  <a:srgbClr val="62748C"/>
                </a:solidFill>
                <a:latin typeface="AppleGothic"/>
                <a:ea typeface="AppleGothic"/>
                <a:cs typeface="AppleGothic"/>
              </a:defRPr>
            </a:lvl9pPr>
          </a:lstStyle>
          <a:p xmlns:a="http://schemas.openxmlformats.org/drawingml/2006/main">
            <a:pPr>
              <a:defRPr sz="1350" b="0">
                <a:solidFill>
                  <a:srgbClr val="62748C"/>
                </a:solidFill>
                <a:latin typeface="AppleGothic"/>
                <a:ea typeface="AppleGothic"/>
                <a:cs typeface="AppleGothic"/>
              </a:defRPr>
            </a:pPr>
            <a:r>
              <a:rPr sz="1350" b="0">
                <a:solidFill>
                  <a:srgbClr val="62748C"/>
                </a:solidFill>
                <a:latin typeface="AppleGothic"/>
                <a:ea typeface="AppleGothic"/>
                <a:cs typeface="AppleGothic"/>
              </a:rPr>
              <a:t>14</a:t>
            </a:r>
          </a:p>
        </p:txBody>
      </p:sp>
    </p:spTree>
    <p:extLst>
      <p:ext uri="{BB962C8B-B14F-4D97-AF65-F5344CB8AC3E}">
        <p14:creationId xmlns:p14="http://schemas.microsoft.com/office/powerpoint/2010/main" val="1523021030"/>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2352E14-AAFD-4BC0-BAE6-86734C7AF716}"/>
              </a:ext>
            </a:extLst>
          </p:cNvPr>
          <p:cNvSpPr>
            <a:spLocks xmlns:a="http://schemas.openxmlformats.org/drawingml/2006/main" noGrp="1"/>
          </p:cNvSpPr>
          <p:nvPr/>
        </p:nvSpPr>
        <p:spPr>
          <a:xfrm xmlns:a="http://schemas.openxmlformats.org/drawingml/2006/main">
            <a:off x="533400" y="342900"/>
            <a:ext cx="111252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150" b="1">
                <a:solidFill>
                  <a:srgbClr val="15243B"/>
                </a:solidFill>
                <a:latin typeface="AppleGothic"/>
                <a:ea typeface="AppleGothic"/>
                <a:cs typeface="AppleGothic"/>
              </a:defRPr>
            </a:defPPr>
            <a:lvl1pPr>
              <a:defRPr sz="3150" b="1">
                <a:solidFill>
                  <a:srgbClr val="15243B"/>
                </a:solidFill>
                <a:latin typeface="AppleGothic"/>
                <a:ea typeface="AppleGothic"/>
                <a:cs typeface="AppleGothic"/>
              </a:defRPr>
            </a:lvl1pPr>
            <a:lvl2pPr>
              <a:defRPr sz="3150" b="1">
                <a:solidFill>
                  <a:srgbClr val="15243B"/>
                </a:solidFill>
                <a:latin typeface="AppleGothic"/>
                <a:ea typeface="AppleGothic"/>
                <a:cs typeface="AppleGothic"/>
              </a:defRPr>
            </a:lvl2pPr>
            <a:lvl3pPr>
              <a:defRPr sz="3150" b="1">
                <a:solidFill>
                  <a:srgbClr val="15243B"/>
                </a:solidFill>
                <a:latin typeface="AppleGothic"/>
                <a:ea typeface="AppleGothic"/>
                <a:cs typeface="AppleGothic"/>
              </a:defRPr>
            </a:lvl3pPr>
            <a:lvl4pPr>
              <a:defRPr sz="3150" b="1">
                <a:solidFill>
                  <a:srgbClr val="15243B"/>
                </a:solidFill>
                <a:latin typeface="AppleGothic"/>
                <a:ea typeface="AppleGothic"/>
                <a:cs typeface="AppleGothic"/>
              </a:defRPr>
            </a:lvl4pPr>
            <a:lvl5pPr>
              <a:defRPr sz="3150" b="1">
                <a:solidFill>
                  <a:srgbClr val="15243B"/>
                </a:solidFill>
                <a:latin typeface="AppleGothic"/>
                <a:ea typeface="AppleGothic"/>
                <a:cs typeface="AppleGothic"/>
              </a:defRPr>
            </a:lvl5pPr>
            <a:lvl6pPr>
              <a:defRPr sz="3150" b="1">
                <a:solidFill>
                  <a:srgbClr val="15243B"/>
                </a:solidFill>
                <a:latin typeface="AppleGothic"/>
                <a:ea typeface="AppleGothic"/>
                <a:cs typeface="AppleGothic"/>
              </a:defRPr>
            </a:lvl6pPr>
            <a:lvl7pPr>
              <a:defRPr sz="3150" b="1">
                <a:solidFill>
                  <a:srgbClr val="15243B"/>
                </a:solidFill>
                <a:latin typeface="AppleGothic"/>
                <a:ea typeface="AppleGothic"/>
                <a:cs typeface="AppleGothic"/>
              </a:defRPr>
            </a:lvl7pPr>
            <a:lvl8pPr>
              <a:defRPr sz="3150" b="1">
                <a:solidFill>
                  <a:srgbClr val="15243B"/>
                </a:solidFill>
                <a:latin typeface="AppleGothic"/>
                <a:ea typeface="AppleGothic"/>
                <a:cs typeface="AppleGothic"/>
              </a:defRPr>
            </a:lvl8pPr>
            <a:lvl9pPr>
              <a:defRPr sz="3150" b="1">
                <a:solidFill>
                  <a:srgbClr val="15243B"/>
                </a:solidFill>
                <a:latin typeface="AppleGothic"/>
                <a:ea typeface="AppleGothic"/>
                <a:cs typeface="AppleGothic"/>
              </a:defRPr>
            </a:lvl9pPr>
          </a:lstStyle>
          <a:p xmlns:a="http://schemas.openxmlformats.org/drawingml/2006/main">
            <a:pPr>
              <a:defRPr sz="3150" b="1">
                <a:solidFill>
                  <a:srgbClr val="15243B"/>
                </a:solidFill>
                <a:latin typeface="AppleGothic"/>
                <a:ea typeface="AppleGothic"/>
                <a:cs typeface="AppleGothic"/>
              </a:defRPr>
            </a:pPr>
            <a:r>
              <a:rPr sz="3150" b="1">
                <a:solidFill>
                  <a:srgbClr val="15243B"/>
                </a:solidFill>
                <a:latin typeface="AppleGothic"/>
                <a:ea typeface="AppleGothic"/>
                <a:cs typeface="AppleGothic"/>
              </a:rPr>
              <a:t>FCOS</a:t>
            </a:r>
          </a:p>
        </p:txBody>
      </p:sp>
      <p:sp>
        <p:nvSpPr>
          <p:cNvPr id="2" name="">
            <a:extLst xmlns:a="http://schemas.openxmlformats.org/drawingml/2006/main">
              <a:ext uri="{FF2B5EF4-FFF2-40B4-BE49-F238E27FC236}">
                <a16:creationId xmlns:a16="http://schemas.microsoft.com/office/drawing/2014/main" id="{14EC4FE7-DDEE-4E30-BF15-AE10C09F3E27}"/>
              </a:ext>
            </a:extLst>
          </p:cNvPr>
          <p:cNvSpPr>
            <a:spLocks xmlns:a="http://schemas.openxmlformats.org/drawingml/2006/main" noGrp="1"/>
          </p:cNvSpPr>
          <p:nvPr/>
        </p:nvSpPr>
        <p:spPr>
          <a:xfrm xmlns:a="http://schemas.openxmlformats.org/drawingml/2006/main">
            <a:off x="533400" y="1066800"/>
            <a:ext cx="111252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1">
                <a:solidFill>
                  <a:srgbClr val="2164CB"/>
                </a:solidFill>
                <a:latin typeface="AppleGothic"/>
                <a:ea typeface="AppleGothic"/>
                <a:cs typeface="AppleGothic"/>
              </a:defRPr>
            </a:defPPr>
            <a:lvl1pPr>
              <a:defRPr sz="2175" b="1">
                <a:solidFill>
                  <a:srgbClr val="2164CB"/>
                </a:solidFill>
                <a:latin typeface="AppleGothic"/>
                <a:ea typeface="AppleGothic"/>
                <a:cs typeface="AppleGothic"/>
              </a:defRPr>
            </a:lvl1pPr>
            <a:lvl2pPr>
              <a:defRPr sz="2175" b="1">
                <a:solidFill>
                  <a:srgbClr val="2164CB"/>
                </a:solidFill>
                <a:latin typeface="AppleGothic"/>
                <a:ea typeface="AppleGothic"/>
                <a:cs typeface="AppleGothic"/>
              </a:defRPr>
            </a:lvl2pPr>
            <a:lvl3pPr>
              <a:defRPr sz="2175" b="1">
                <a:solidFill>
                  <a:srgbClr val="2164CB"/>
                </a:solidFill>
                <a:latin typeface="AppleGothic"/>
                <a:ea typeface="AppleGothic"/>
                <a:cs typeface="AppleGothic"/>
              </a:defRPr>
            </a:lvl3pPr>
            <a:lvl4pPr>
              <a:defRPr sz="2175" b="1">
                <a:solidFill>
                  <a:srgbClr val="2164CB"/>
                </a:solidFill>
                <a:latin typeface="AppleGothic"/>
                <a:ea typeface="AppleGothic"/>
                <a:cs typeface="AppleGothic"/>
              </a:defRPr>
            </a:lvl4pPr>
            <a:lvl5pPr>
              <a:defRPr sz="2175" b="1">
                <a:solidFill>
                  <a:srgbClr val="2164CB"/>
                </a:solidFill>
                <a:latin typeface="AppleGothic"/>
                <a:ea typeface="AppleGothic"/>
                <a:cs typeface="AppleGothic"/>
              </a:defRPr>
            </a:lvl5pPr>
            <a:lvl6pPr>
              <a:defRPr sz="2175" b="1">
                <a:solidFill>
                  <a:srgbClr val="2164CB"/>
                </a:solidFill>
                <a:latin typeface="AppleGothic"/>
                <a:ea typeface="AppleGothic"/>
                <a:cs typeface="AppleGothic"/>
              </a:defRPr>
            </a:lvl6pPr>
            <a:lvl7pPr>
              <a:defRPr sz="2175" b="1">
                <a:solidFill>
                  <a:srgbClr val="2164CB"/>
                </a:solidFill>
                <a:latin typeface="AppleGothic"/>
                <a:ea typeface="AppleGothic"/>
                <a:cs typeface="AppleGothic"/>
              </a:defRPr>
            </a:lvl7pPr>
            <a:lvl8pPr>
              <a:defRPr sz="2175" b="1">
                <a:solidFill>
                  <a:srgbClr val="2164CB"/>
                </a:solidFill>
                <a:latin typeface="AppleGothic"/>
                <a:ea typeface="AppleGothic"/>
                <a:cs typeface="AppleGothic"/>
              </a:defRPr>
            </a:lvl8pPr>
            <a:lvl9pPr>
              <a:defRPr sz="2175" b="1">
                <a:solidFill>
                  <a:srgbClr val="2164CB"/>
                </a:solidFill>
                <a:latin typeface="AppleGothic"/>
                <a:ea typeface="AppleGothic"/>
                <a:cs typeface="AppleGothic"/>
              </a:defRPr>
            </a:lvl9pPr>
          </a:lstStyle>
          <a:p xmlns:a="http://schemas.openxmlformats.org/drawingml/2006/main">
            <a:pPr>
              <a:defRPr sz="2175" b="1">
                <a:solidFill>
                  <a:srgbClr val="2164CB"/>
                </a:solidFill>
                <a:latin typeface="AppleGothic"/>
                <a:ea typeface="AppleGothic"/>
                <a:cs typeface="AppleGothic"/>
              </a:defRPr>
            </a:pPr>
            <a:r>
              <a:rPr sz="2175" b="1">
                <a:solidFill>
                  <a:srgbClr val="2164CB"/>
                </a:solidFill>
                <a:latin typeface="AppleGothic"/>
                <a:ea typeface="AppleGothic"/>
                <a:cs typeface="AppleGothic"/>
              </a:rPr>
              <a:t>FCOS는 anchor template 대신 위치에서 box 네 변까지의 거리를 예측한다</a:t>
            </a:r>
          </a:p>
        </p:txBody>
      </p:sp>
      <p:pic>
        <p:nvPicPr>
          <p:cNvPr id="3" name="">
            <a:extLst xmlns:a="http://schemas.openxmlformats.org/drawingml/2006/main">
              <a:ext uri="{FF2B5EF4-FFF2-40B4-BE49-F238E27FC236}">
                <a16:creationId xmlns:a16="http://schemas.microsoft.com/office/drawing/2014/main" id="{00E03297-6B57-480F-846E-1AB900157146}"/>
              </a:ext>
            </a:extLst>
          </p:cNvPr>
          <p:cNvPicPr>
            <a:picLocks xmlns:a="http://schemas.openxmlformats.org/drawingml/2006/main" noChangeAspect="1"/>
          </p:cNvPicPr>
          <p:nvPr/>
        </p:nvPicPr>
        <p:blipFill>
          <a:blip xmlns:r="http://schemas.openxmlformats.org/officeDocument/2006/relationships" xmlns:a="http://schemas.openxmlformats.org/drawingml/2006/main" r:embed="Rf8bbb0dc85e441fc"/>
          <a:stretch xmlns:a="http://schemas.openxmlformats.org/drawingml/2006/main"/>
        </p:blipFill>
        <p:spPr>
          <a:xfrm xmlns:a="http://schemas.openxmlformats.org/drawingml/2006/main">
            <a:off x="806940" y="2057400"/>
            <a:ext cx="6596670" cy="3714750"/>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81066C1F-382C-4AEF-BABF-C8905A676208}"/>
              </a:ext>
            </a:extLst>
          </p:cNvPr>
          <p:cNvSpPr>
            <a:spLocks xmlns:a="http://schemas.openxmlformats.org/drawingml/2006/main" noGrp="1"/>
          </p:cNvSpPr>
          <p:nvPr/>
        </p:nvSpPr>
        <p:spPr>
          <a:xfrm xmlns:a="http://schemas.openxmlformats.org/drawingml/2006/main">
            <a:off x="7981950" y="2114550"/>
            <a:ext cx="3676650" cy="3667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75" b="0">
                <a:solidFill>
                  <a:srgbClr val="15243B"/>
                </a:solidFill>
                <a:latin typeface="AppleGothic"/>
                <a:ea typeface="AppleGothic"/>
                <a:cs typeface="AppleGothic"/>
              </a:defRPr>
            </a:defPPr>
            <a:lvl1pPr>
              <a:defRPr sz="1875" b="0">
                <a:solidFill>
                  <a:srgbClr val="15243B"/>
                </a:solidFill>
                <a:latin typeface="AppleGothic"/>
                <a:ea typeface="AppleGothic"/>
                <a:cs typeface="AppleGothic"/>
              </a:defRPr>
            </a:lvl1pPr>
            <a:lvl2pPr>
              <a:defRPr sz="1875" b="0">
                <a:solidFill>
                  <a:srgbClr val="15243B"/>
                </a:solidFill>
                <a:latin typeface="AppleGothic"/>
                <a:ea typeface="AppleGothic"/>
                <a:cs typeface="AppleGothic"/>
              </a:defRPr>
            </a:lvl2pPr>
            <a:lvl3pPr>
              <a:defRPr sz="1875" b="0">
                <a:solidFill>
                  <a:srgbClr val="15243B"/>
                </a:solidFill>
                <a:latin typeface="AppleGothic"/>
                <a:ea typeface="AppleGothic"/>
                <a:cs typeface="AppleGothic"/>
              </a:defRPr>
            </a:lvl3pPr>
            <a:lvl4pPr>
              <a:defRPr sz="1875" b="0">
                <a:solidFill>
                  <a:srgbClr val="15243B"/>
                </a:solidFill>
                <a:latin typeface="AppleGothic"/>
                <a:ea typeface="AppleGothic"/>
                <a:cs typeface="AppleGothic"/>
              </a:defRPr>
            </a:lvl4pPr>
            <a:lvl5pPr>
              <a:defRPr sz="1875" b="0">
                <a:solidFill>
                  <a:srgbClr val="15243B"/>
                </a:solidFill>
                <a:latin typeface="AppleGothic"/>
                <a:ea typeface="AppleGothic"/>
                <a:cs typeface="AppleGothic"/>
              </a:defRPr>
            </a:lvl5pPr>
            <a:lvl6pPr>
              <a:defRPr sz="1875" b="0">
                <a:solidFill>
                  <a:srgbClr val="15243B"/>
                </a:solidFill>
                <a:latin typeface="AppleGothic"/>
                <a:ea typeface="AppleGothic"/>
                <a:cs typeface="AppleGothic"/>
              </a:defRPr>
            </a:lvl6pPr>
            <a:lvl7pPr>
              <a:defRPr sz="1875" b="0">
                <a:solidFill>
                  <a:srgbClr val="15243B"/>
                </a:solidFill>
                <a:latin typeface="AppleGothic"/>
                <a:ea typeface="AppleGothic"/>
                <a:cs typeface="AppleGothic"/>
              </a:defRPr>
            </a:lvl7pPr>
            <a:lvl8pPr>
              <a:defRPr sz="1875" b="0">
                <a:solidFill>
                  <a:srgbClr val="15243B"/>
                </a:solidFill>
                <a:latin typeface="AppleGothic"/>
                <a:ea typeface="AppleGothic"/>
                <a:cs typeface="AppleGothic"/>
              </a:defRPr>
            </a:lvl8pPr>
            <a:lvl9pPr>
              <a:defRPr sz="1875" b="0">
                <a:solidFill>
                  <a:srgbClr val="15243B"/>
                </a:solidFill>
                <a:latin typeface="AppleGothic"/>
                <a:ea typeface="AppleGothic"/>
                <a:cs typeface="AppleGothic"/>
              </a:defRPr>
            </a:lvl9pPr>
          </a:lstStyle>
          <a:p xmlns:a="http://schemas.openxmlformats.org/drawingml/2006/main">
            <a:pPr>
              <a:defRPr sz="1875" b="0">
                <a:solidFill>
                  <a:srgbClr val="15243B"/>
                </a:solidFill>
                <a:latin typeface="AppleGothic"/>
                <a:ea typeface="AppleGothic"/>
                <a:cs typeface="AppleGothic"/>
              </a:defRPr>
            </a:pPr>
            <a:r>
              <a:rPr sz="1875" b="0">
                <a:solidFill>
                  <a:srgbClr val="15243B"/>
                </a:solidFill>
                <a:latin typeface="AppleGothic"/>
                <a:ea typeface="AppleGothic"/>
                <a:cs typeface="AppleGothic"/>
              </a:rPr>
              <a:t>출력은 class, left-top-right-bottom 거리, centerness다.</a:t>
            </a:r>
          </a:p>
          <a:p xmlns:a="http://schemas.openxmlformats.org/drawingml/2006/main">
            <a:r>
              <a:t/>
            </a:r>
          </a:p>
          <a:p xmlns:a="http://schemas.openxmlformats.org/drawingml/2006/main">
            <a:pPr>
              <a:defRPr sz="1875" b="0">
                <a:solidFill>
                  <a:srgbClr val="15243B"/>
                </a:solidFill>
                <a:latin typeface="AppleGothic"/>
                <a:ea typeface="AppleGothic"/>
                <a:cs typeface="AppleGothic"/>
              </a:defRPr>
            </a:pPr>
            <a:r>
              <a:rPr sz="1875" b="0">
                <a:solidFill>
                  <a:srgbClr val="15243B"/>
                </a:solidFill>
                <a:latin typeface="AppleGothic"/>
                <a:ea typeface="AppleGothic"/>
                <a:cs typeface="AppleGothic"/>
              </a:rPr>
              <a:t>Anchor-free여도 positive location assignment와 NMS는 남는다.</a:t>
            </a:r>
          </a:p>
        </p:txBody>
      </p:sp>
      <p:sp>
        <p:nvSpPr>
          <p:cNvPr id="5" name="">
            <a:extLst xmlns:a="http://schemas.openxmlformats.org/drawingml/2006/main">
              <a:ext uri="{FF2B5EF4-FFF2-40B4-BE49-F238E27FC236}">
                <a16:creationId xmlns:a16="http://schemas.microsoft.com/office/drawing/2014/main" id="{65155BBC-0E57-4648-AFC6-FBA80152F391}"/>
              </a:ext>
            </a:extLst>
          </p:cNvPr>
          <p:cNvSpPr>
            <a:spLocks xmlns:a="http://schemas.openxmlformats.org/drawingml/2006/main" noGrp="1"/>
          </p:cNvSpPr>
          <p:nvPr/>
        </p:nvSpPr>
        <p:spPr>
          <a:xfrm xmlns:a="http://schemas.openxmlformats.org/drawingml/2006/main">
            <a:off x="533400" y="5895975"/>
            <a:ext cx="1112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526378"/>
                </a:solidFill>
                <a:latin typeface="AppleGothic"/>
                <a:ea typeface="AppleGothic"/>
                <a:cs typeface="AppleGothic"/>
              </a:defRPr>
            </a:defPPr>
            <a:lvl1pPr>
              <a:defRPr sz="1350" b="0">
                <a:solidFill>
                  <a:srgbClr val="526378"/>
                </a:solidFill>
                <a:latin typeface="AppleGothic"/>
                <a:ea typeface="AppleGothic"/>
                <a:cs typeface="AppleGothic"/>
              </a:defRPr>
            </a:lvl1pPr>
            <a:lvl2pPr>
              <a:defRPr sz="1350" b="0">
                <a:solidFill>
                  <a:srgbClr val="526378"/>
                </a:solidFill>
                <a:latin typeface="AppleGothic"/>
                <a:ea typeface="AppleGothic"/>
                <a:cs typeface="AppleGothic"/>
              </a:defRPr>
            </a:lvl2pPr>
            <a:lvl3pPr>
              <a:defRPr sz="1350" b="0">
                <a:solidFill>
                  <a:srgbClr val="526378"/>
                </a:solidFill>
                <a:latin typeface="AppleGothic"/>
                <a:ea typeface="AppleGothic"/>
                <a:cs typeface="AppleGothic"/>
              </a:defRPr>
            </a:lvl3pPr>
            <a:lvl4pPr>
              <a:defRPr sz="1350" b="0">
                <a:solidFill>
                  <a:srgbClr val="526378"/>
                </a:solidFill>
                <a:latin typeface="AppleGothic"/>
                <a:ea typeface="AppleGothic"/>
                <a:cs typeface="AppleGothic"/>
              </a:defRPr>
            </a:lvl4pPr>
            <a:lvl5pPr>
              <a:defRPr sz="1350" b="0">
                <a:solidFill>
                  <a:srgbClr val="526378"/>
                </a:solidFill>
                <a:latin typeface="AppleGothic"/>
                <a:ea typeface="AppleGothic"/>
                <a:cs typeface="AppleGothic"/>
              </a:defRPr>
            </a:lvl5pPr>
            <a:lvl6pPr>
              <a:defRPr sz="1350" b="0">
                <a:solidFill>
                  <a:srgbClr val="526378"/>
                </a:solidFill>
                <a:latin typeface="AppleGothic"/>
                <a:ea typeface="AppleGothic"/>
                <a:cs typeface="AppleGothic"/>
              </a:defRPr>
            </a:lvl6pPr>
            <a:lvl7pPr>
              <a:defRPr sz="1350" b="0">
                <a:solidFill>
                  <a:srgbClr val="526378"/>
                </a:solidFill>
                <a:latin typeface="AppleGothic"/>
                <a:ea typeface="AppleGothic"/>
                <a:cs typeface="AppleGothic"/>
              </a:defRPr>
            </a:lvl7pPr>
            <a:lvl8pPr>
              <a:defRPr sz="1350" b="0">
                <a:solidFill>
                  <a:srgbClr val="526378"/>
                </a:solidFill>
                <a:latin typeface="AppleGothic"/>
                <a:ea typeface="AppleGothic"/>
                <a:cs typeface="AppleGothic"/>
              </a:defRPr>
            </a:lvl8pPr>
            <a:lvl9pPr>
              <a:defRPr sz="1350" b="0">
                <a:solidFill>
                  <a:srgbClr val="526378"/>
                </a:solidFill>
                <a:latin typeface="AppleGothic"/>
                <a:ea typeface="AppleGothic"/>
                <a:cs typeface="AppleGothic"/>
              </a:defRPr>
            </a:lvl9pPr>
          </a:lstStyle>
          <a:p xmlns:a="http://schemas.openxmlformats.org/drawingml/2006/main">
            <a:pPr>
              <a:defRPr sz="1350" b="0">
                <a:solidFill>
                  <a:srgbClr val="526378"/>
                </a:solidFill>
                <a:latin typeface="AppleGothic"/>
                <a:ea typeface="AppleGothic"/>
                <a:cs typeface="AppleGothic"/>
              </a:defRPr>
            </a:pPr>
            <a:r>
              <a:rPr sz="1350" b="0">
                <a:solidFill>
                  <a:srgbClr val="526378"/>
                </a:solidFill>
                <a:latin typeface="AppleGothic"/>
                <a:ea typeface="AppleGothic"/>
                <a:cs typeface="AppleGothic"/>
              </a:rPr>
              <a:t>Lecture 7, p. 18. FCOS distances and centerness from each feature location</a:t>
            </a:r>
          </a:p>
        </p:txBody>
      </p:sp>
      <p:sp>
        <p:nvSpPr>
          <p:cNvPr id="6" name="">
            <a:extLst xmlns:a="http://schemas.openxmlformats.org/drawingml/2006/main">
              <a:ext uri="{FF2B5EF4-FFF2-40B4-BE49-F238E27FC236}">
                <a16:creationId xmlns:a16="http://schemas.microsoft.com/office/drawing/2014/main" id="{6AA5A211-F700-402B-B8AB-E6A564B60B99}"/>
              </a:ext>
            </a:extLst>
          </p:cNvPr>
          <p:cNvSpPr>
            <a:spLocks xmlns:a="http://schemas.openxmlformats.org/drawingml/2006/main" noGrp="1"/>
          </p:cNvSpPr>
          <p:nvPr/>
        </p:nvSpPr>
        <p:spPr>
          <a:xfrm xmlns:a="http://schemas.openxmlformats.org/drawingml/2006/main">
            <a:off x="11144250" y="6400800"/>
            <a:ext cx="5143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62748C"/>
                </a:solidFill>
                <a:latin typeface="AppleGothic"/>
                <a:ea typeface="AppleGothic"/>
                <a:cs typeface="AppleGothic"/>
              </a:defRPr>
            </a:defPPr>
            <a:lvl1pPr>
              <a:defRPr sz="1350" b="0">
                <a:solidFill>
                  <a:srgbClr val="62748C"/>
                </a:solidFill>
                <a:latin typeface="AppleGothic"/>
                <a:ea typeface="AppleGothic"/>
                <a:cs typeface="AppleGothic"/>
              </a:defRPr>
            </a:lvl1pPr>
            <a:lvl2pPr>
              <a:defRPr sz="1350" b="0">
                <a:solidFill>
                  <a:srgbClr val="62748C"/>
                </a:solidFill>
                <a:latin typeface="AppleGothic"/>
                <a:ea typeface="AppleGothic"/>
                <a:cs typeface="AppleGothic"/>
              </a:defRPr>
            </a:lvl2pPr>
            <a:lvl3pPr>
              <a:defRPr sz="1350" b="0">
                <a:solidFill>
                  <a:srgbClr val="62748C"/>
                </a:solidFill>
                <a:latin typeface="AppleGothic"/>
                <a:ea typeface="AppleGothic"/>
                <a:cs typeface="AppleGothic"/>
              </a:defRPr>
            </a:lvl3pPr>
            <a:lvl4pPr>
              <a:defRPr sz="1350" b="0">
                <a:solidFill>
                  <a:srgbClr val="62748C"/>
                </a:solidFill>
                <a:latin typeface="AppleGothic"/>
                <a:ea typeface="AppleGothic"/>
                <a:cs typeface="AppleGothic"/>
              </a:defRPr>
            </a:lvl4pPr>
            <a:lvl5pPr>
              <a:defRPr sz="1350" b="0">
                <a:solidFill>
                  <a:srgbClr val="62748C"/>
                </a:solidFill>
                <a:latin typeface="AppleGothic"/>
                <a:ea typeface="AppleGothic"/>
                <a:cs typeface="AppleGothic"/>
              </a:defRPr>
            </a:lvl5pPr>
            <a:lvl6pPr>
              <a:defRPr sz="1350" b="0">
                <a:solidFill>
                  <a:srgbClr val="62748C"/>
                </a:solidFill>
                <a:latin typeface="AppleGothic"/>
                <a:ea typeface="AppleGothic"/>
                <a:cs typeface="AppleGothic"/>
              </a:defRPr>
            </a:lvl6pPr>
            <a:lvl7pPr>
              <a:defRPr sz="1350" b="0">
                <a:solidFill>
                  <a:srgbClr val="62748C"/>
                </a:solidFill>
                <a:latin typeface="AppleGothic"/>
                <a:ea typeface="AppleGothic"/>
                <a:cs typeface="AppleGothic"/>
              </a:defRPr>
            </a:lvl7pPr>
            <a:lvl8pPr>
              <a:defRPr sz="1350" b="0">
                <a:solidFill>
                  <a:srgbClr val="62748C"/>
                </a:solidFill>
                <a:latin typeface="AppleGothic"/>
                <a:ea typeface="AppleGothic"/>
                <a:cs typeface="AppleGothic"/>
              </a:defRPr>
            </a:lvl8pPr>
            <a:lvl9pPr>
              <a:defRPr sz="1350" b="0">
                <a:solidFill>
                  <a:srgbClr val="62748C"/>
                </a:solidFill>
                <a:latin typeface="AppleGothic"/>
                <a:ea typeface="AppleGothic"/>
                <a:cs typeface="AppleGothic"/>
              </a:defRPr>
            </a:lvl9pPr>
          </a:lstStyle>
          <a:p xmlns:a="http://schemas.openxmlformats.org/drawingml/2006/main">
            <a:pPr>
              <a:defRPr sz="1350" b="0">
                <a:solidFill>
                  <a:srgbClr val="62748C"/>
                </a:solidFill>
                <a:latin typeface="AppleGothic"/>
                <a:ea typeface="AppleGothic"/>
                <a:cs typeface="AppleGothic"/>
              </a:defRPr>
            </a:pPr>
            <a:r>
              <a:rPr sz="1350" b="0">
                <a:solidFill>
                  <a:srgbClr val="62748C"/>
                </a:solidFill>
                <a:latin typeface="AppleGothic"/>
                <a:ea typeface="AppleGothic"/>
                <a:cs typeface="AppleGothic"/>
              </a:rPr>
              <a:t>15</a:t>
            </a:r>
          </a:p>
        </p:txBody>
      </p:sp>
    </p:spTree>
    <p:extLst>
      <p:ext uri="{BB962C8B-B14F-4D97-AF65-F5344CB8AC3E}">
        <p14:creationId xmlns:p14="http://schemas.microsoft.com/office/powerpoint/2010/main" val="1991220409"/>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22EE9472-806C-433C-B324-662BF42C4794}"/>
              </a:ext>
            </a:extLst>
          </p:cNvPr>
          <p:cNvSpPr>
            <a:spLocks xmlns:a="http://schemas.openxmlformats.org/drawingml/2006/main" noGrp="1"/>
          </p:cNvSpPr>
          <p:nvPr/>
        </p:nvSpPr>
        <p:spPr>
          <a:xfrm xmlns:a="http://schemas.openxmlformats.org/drawingml/2006/main">
            <a:off x="533400" y="342900"/>
            <a:ext cx="111252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150" b="1">
                <a:solidFill>
                  <a:srgbClr val="15243B"/>
                </a:solidFill>
                <a:latin typeface="AppleGothic"/>
                <a:ea typeface="AppleGothic"/>
                <a:cs typeface="AppleGothic"/>
              </a:defRPr>
            </a:defPPr>
            <a:lvl1pPr>
              <a:defRPr sz="3150" b="1">
                <a:solidFill>
                  <a:srgbClr val="15243B"/>
                </a:solidFill>
                <a:latin typeface="AppleGothic"/>
                <a:ea typeface="AppleGothic"/>
                <a:cs typeface="AppleGothic"/>
              </a:defRPr>
            </a:lvl1pPr>
            <a:lvl2pPr>
              <a:defRPr sz="3150" b="1">
                <a:solidFill>
                  <a:srgbClr val="15243B"/>
                </a:solidFill>
                <a:latin typeface="AppleGothic"/>
                <a:ea typeface="AppleGothic"/>
                <a:cs typeface="AppleGothic"/>
              </a:defRPr>
            </a:lvl2pPr>
            <a:lvl3pPr>
              <a:defRPr sz="3150" b="1">
                <a:solidFill>
                  <a:srgbClr val="15243B"/>
                </a:solidFill>
                <a:latin typeface="AppleGothic"/>
                <a:ea typeface="AppleGothic"/>
                <a:cs typeface="AppleGothic"/>
              </a:defRPr>
            </a:lvl3pPr>
            <a:lvl4pPr>
              <a:defRPr sz="3150" b="1">
                <a:solidFill>
                  <a:srgbClr val="15243B"/>
                </a:solidFill>
                <a:latin typeface="AppleGothic"/>
                <a:ea typeface="AppleGothic"/>
                <a:cs typeface="AppleGothic"/>
              </a:defRPr>
            </a:lvl4pPr>
            <a:lvl5pPr>
              <a:defRPr sz="3150" b="1">
                <a:solidFill>
                  <a:srgbClr val="15243B"/>
                </a:solidFill>
                <a:latin typeface="AppleGothic"/>
                <a:ea typeface="AppleGothic"/>
                <a:cs typeface="AppleGothic"/>
              </a:defRPr>
            </a:lvl5pPr>
            <a:lvl6pPr>
              <a:defRPr sz="3150" b="1">
                <a:solidFill>
                  <a:srgbClr val="15243B"/>
                </a:solidFill>
                <a:latin typeface="AppleGothic"/>
                <a:ea typeface="AppleGothic"/>
                <a:cs typeface="AppleGothic"/>
              </a:defRPr>
            </a:lvl6pPr>
            <a:lvl7pPr>
              <a:defRPr sz="3150" b="1">
                <a:solidFill>
                  <a:srgbClr val="15243B"/>
                </a:solidFill>
                <a:latin typeface="AppleGothic"/>
                <a:ea typeface="AppleGothic"/>
                <a:cs typeface="AppleGothic"/>
              </a:defRPr>
            </a:lvl7pPr>
            <a:lvl8pPr>
              <a:defRPr sz="3150" b="1">
                <a:solidFill>
                  <a:srgbClr val="15243B"/>
                </a:solidFill>
                <a:latin typeface="AppleGothic"/>
                <a:ea typeface="AppleGothic"/>
                <a:cs typeface="AppleGothic"/>
              </a:defRPr>
            </a:lvl8pPr>
            <a:lvl9pPr>
              <a:defRPr sz="3150" b="1">
                <a:solidFill>
                  <a:srgbClr val="15243B"/>
                </a:solidFill>
                <a:latin typeface="AppleGothic"/>
                <a:ea typeface="AppleGothic"/>
                <a:cs typeface="AppleGothic"/>
              </a:defRPr>
            </a:lvl9pPr>
          </a:lstStyle>
          <a:p xmlns:a="http://schemas.openxmlformats.org/drawingml/2006/main">
            <a:pPr>
              <a:defRPr sz="3150" b="1">
                <a:solidFill>
                  <a:srgbClr val="15243B"/>
                </a:solidFill>
                <a:latin typeface="AppleGothic"/>
                <a:ea typeface="AppleGothic"/>
                <a:cs typeface="AppleGothic"/>
              </a:defRPr>
            </a:pPr>
            <a:r>
              <a:rPr sz="3150" b="1">
                <a:solidFill>
                  <a:srgbClr val="15243B"/>
                </a:solidFill>
                <a:latin typeface="AppleGothic"/>
                <a:ea typeface="AppleGothic"/>
                <a:cs typeface="AppleGothic"/>
              </a:rPr>
              <a:t>Instance Segmentation</a:t>
            </a:r>
          </a:p>
        </p:txBody>
      </p:sp>
      <p:sp>
        <p:nvSpPr>
          <p:cNvPr id="2" name="">
            <a:extLst xmlns:a="http://schemas.openxmlformats.org/drawingml/2006/main">
              <a:ext uri="{FF2B5EF4-FFF2-40B4-BE49-F238E27FC236}">
                <a16:creationId xmlns:a16="http://schemas.microsoft.com/office/drawing/2014/main" id="{831A2C5C-69CE-4E46-8048-5D990A3D11FC}"/>
              </a:ext>
            </a:extLst>
          </p:cNvPr>
          <p:cNvSpPr>
            <a:spLocks xmlns:a="http://schemas.openxmlformats.org/drawingml/2006/main" noGrp="1"/>
          </p:cNvSpPr>
          <p:nvPr/>
        </p:nvSpPr>
        <p:spPr>
          <a:xfrm xmlns:a="http://schemas.openxmlformats.org/drawingml/2006/main">
            <a:off x="533400" y="1066800"/>
            <a:ext cx="111252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1">
                <a:solidFill>
                  <a:srgbClr val="2164CB"/>
                </a:solidFill>
                <a:latin typeface="AppleGothic"/>
                <a:ea typeface="AppleGothic"/>
                <a:cs typeface="AppleGothic"/>
              </a:defRPr>
            </a:defPPr>
            <a:lvl1pPr>
              <a:defRPr sz="2175" b="1">
                <a:solidFill>
                  <a:srgbClr val="2164CB"/>
                </a:solidFill>
                <a:latin typeface="AppleGothic"/>
                <a:ea typeface="AppleGothic"/>
                <a:cs typeface="AppleGothic"/>
              </a:defRPr>
            </a:lvl1pPr>
            <a:lvl2pPr>
              <a:defRPr sz="2175" b="1">
                <a:solidFill>
                  <a:srgbClr val="2164CB"/>
                </a:solidFill>
                <a:latin typeface="AppleGothic"/>
                <a:ea typeface="AppleGothic"/>
                <a:cs typeface="AppleGothic"/>
              </a:defRPr>
            </a:lvl2pPr>
            <a:lvl3pPr>
              <a:defRPr sz="2175" b="1">
                <a:solidFill>
                  <a:srgbClr val="2164CB"/>
                </a:solidFill>
                <a:latin typeface="AppleGothic"/>
                <a:ea typeface="AppleGothic"/>
                <a:cs typeface="AppleGothic"/>
              </a:defRPr>
            </a:lvl3pPr>
            <a:lvl4pPr>
              <a:defRPr sz="2175" b="1">
                <a:solidFill>
                  <a:srgbClr val="2164CB"/>
                </a:solidFill>
                <a:latin typeface="AppleGothic"/>
                <a:ea typeface="AppleGothic"/>
                <a:cs typeface="AppleGothic"/>
              </a:defRPr>
            </a:lvl4pPr>
            <a:lvl5pPr>
              <a:defRPr sz="2175" b="1">
                <a:solidFill>
                  <a:srgbClr val="2164CB"/>
                </a:solidFill>
                <a:latin typeface="AppleGothic"/>
                <a:ea typeface="AppleGothic"/>
                <a:cs typeface="AppleGothic"/>
              </a:defRPr>
            </a:lvl5pPr>
            <a:lvl6pPr>
              <a:defRPr sz="2175" b="1">
                <a:solidFill>
                  <a:srgbClr val="2164CB"/>
                </a:solidFill>
                <a:latin typeface="AppleGothic"/>
                <a:ea typeface="AppleGothic"/>
                <a:cs typeface="AppleGothic"/>
              </a:defRPr>
            </a:lvl6pPr>
            <a:lvl7pPr>
              <a:defRPr sz="2175" b="1">
                <a:solidFill>
                  <a:srgbClr val="2164CB"/>
                </a:solidFill>
                <a:latin typeface="AppleGothic"/>
                <a:ea typeface="AppleGothic"/>
                <a:cs typeface="AppleGothic"/>
              </a:defRPr>
            </a:lvl7pPr>
            <a:lvl8pPr>
              <a:defRPr sz="2175" b="1">
                <a:solidFill>
                  <a:srgbClr val="2164CB"/>
                </a:solidFill>
                <a:latin typeface="AppleGothic"/>
                <a:ea typeface="AppleGothic"/>
                <a:cs typeface="AppleGothic"/>
              </a:defRPr>
            </a:lvl8pPr>
            <a:lvl9pPr>
              <a:defRPr sz="2175" b="1">
                <a:solidFill>
                  <a:srgbClr val="2164CB"/>
                </a:solidFill>
                <a:latin typeface="AppleGothic"/>
                <a:ea typeface="AppleGothic"/>
                <a:cs typeface="AppleGothic"/>
              </a:defRPr>
            </a:lvl9pPr>
          </a:lstStyle>
          <a:p xmlns:a="http://schemas.openxmlformats.org/drawingml/2006/main">
            <a:pPr>
              <a:defRPr sz="2175" b="1">
                <a:solidFill>
                  <a:srgbClr val="2164CB"/>
                </a:solidFill>
                <a:latin typeface="AppleGothic"/>
                <a:ea typeface="AppleGothic"/>
                <a:cs typeface="AppleGothic"/>
              </a:defRPr>
            </a:pPr>
            <a:r>
              <a:rPr sz="2175" b="1">
                <a:solidFill>
                  <a:srgbClr val="2164CB"/>
                </a:solidFill>
                <a:latin typeface="AppleGothic"/>
                <a:ea typeface="AppleGothic"/>
                <a:cs typeface="AppleGothic"/>
              </a:rPr>
              <a:t>Instance segmentation은 같은 class의 객체도 서로 다른 mask로 분리한다</a:t>
            </a:r>
          </a:p>
        </p:txBody>
      </p:sp>
      <p:pic>
        <p:nvPicPr>
          <p:cNvPr id="3" name="">
            <a:extLst xmlns:a="http://schemas.openxmlformats.org/drawingml/2006/main">
              <a:ext uri="{FF2B5EF4-FFF2-40B4-BE49-F238E27FC236}">
                <a16:creationId xmlns:a16="http://schemas.microsoft.com/office/drawing/2014/main" id="{58597A0C-1B89-49F1-86EB-8EFF392F0F92}"/>
              </a:ext>
            </a:extLst>
          </p:cNvPr>
          <p:cNvPicPr>
            <a:picLocks xmlns:a="http://schemas.openxmlformats.org/drawingml/2006/main" noChangeAspect="1"/>
          </p:cNvPicPr>
          <p:nvPr/>
        </p:nvPicPr>
        <p:blipFill>
          <a:blip xmlns:r="http://schemas.openxmlformats.org/officeDocument/2006/relationships" xmlns:a="http://schemas.openxmlformats.org/drawingml/2006/main" r:embed="R504dae75506b4560"/>
          <a:stretch xmlns:a="http://schemas.openxmlformats.org/drawingml/2006/main"/>
        </p:blipFill>
        <p:spPr>
          <a:xfrm xmlns:a="http://schemas.openxmlformats.org/drawingml/2006/main">
            <a:off x="806940" y="2057400"/>
            <a:ext cx="6596670" cy="3714750"/>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76B0FF6A-2BD0-4D6B-9D0C-C97ADD0EFDC6}"/>
              </a:ext>
            </a:extLst>
          </p:cNvPr>
          <p:cNvSpPr>
            <a:spLocks xmlns:a="http://schemas.openxmlformats.org/drawingml/2006/main" noGrp="1"/>
          </p:cNvSpPr>
          <p:nvPr/>
        </p:nvSpPr>
        <p:spPr>
          <a:xfrm xmlns:a="http://schemas.openxmlformats.org/drawingml/2006/main">
            <a:off x="7981950" y="2114550"/>
            <a:ext cx="3676650" cy="3667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75" b="0">
                <a:solidFill>
                  <a:srgbClr val="15243B"/>
                </a:solidFill>
                <a:latin typeface="AppleGothic"/>
                <a:ea typeface="AppleGothic"/>
                <a:cs typeface="AppleGothic"/>
              </a:defRPr>
            </a:defPPr>
            <a:lvl1pPr>
              <a:defRPr sz="1875" b="0">
                <a:solidFill>
                  <a:srgbClr val="15243B"/>
                </a:solidFill>
                <a:latin typeface="AppleGothic"/>
                <a:ea typeface="AppleGothic"/>
                <a:cs typeface="AppleGothic"/>
              </a:defRPr>
            </a:lvl1pPr>
            <a:lvl2pPr>
              <a:defRPr sz="1875" b="0">
                <a:solidFill>
                  <a:srgbClr val="15243B"/>
                </a:solidFill>
                <a:latin typeface="AppleGothic"/>
                <a:ea typeface="AppleGothic"/>
                <a:cs typeface="AppleGothic"/>
              </a:defRPr>
            </a:lvl2pPr>
            <a:lvl3pPr>
              <a:defRPr sz="1875" b="0">
                <a:solidFill>
                  <a:srgbClr val="15243B"/>
                </a:solidFill>
                <a:latin typeface="AppleGothic"/>
                <a:ea typeface="AppleGothic"/>
                <a:cs typeface="AppleGothic"/>
              </a:defRPr>
            </a:lvl3pPr>
            <a:lvl4pPr>
              <a:defRPr sz="1875" b="0">
                <a:solidFill>
                  <a:srgbClr val="15243B"/>
                </a:solidFill>
                <a:latin typeface="AppleGothic"/>
                <a:ea typeface="AppleGothic"/>
                <a:cs typeface="AppleGothic"/>
              </a:defRPr>
            </a:lvl4pPr>
            <a:lvl5pPr>
              <a:defRPr sz="1875" b="0">
                <a:solidFill>
                  <a:srgbClr val="15243B"/>
                </a:solidFill>
                <a:latin typeface="AppleGothic"/>
                <a:ea typeface="AppleGothic"/>
                <a:cs typeface="AppleGothic"/>
              </a:defRPr>
            </a:lvl5pPr>
            <a:lvl6pPr>
              <a:defRPr sz="1875" b="0">
                <a:solidFill>
                  <a:srgbClr val="15243B"/>
                </a:solidFill>
                <a:latin typeface="AppleGothic"/>
                <a:ea typeface="AppleGothic"/>
                <a:cs typeface="AppleGothic"/>
              </a:defRPr>
            </a:lvl6pPr>
            <a:lvl7pPr>
              <a:defRPr sz="1875" b="0">
                <a:solidFill>
                  <a:srgbClr val="15243B"/>
                </a:solidFill>
                <a:latin typeface="AppleGothic"/>
                <a:ea typeface="AppleGothic"/>
                <a:cs typeface="AppleGothic"/>
              </a:defRPr>
            </a:lvl7pPr>
            <a:lvl8pPr>
              <a:defRPr sz="1875" b="0">
                <a:solidFill>
                  <a:srgbClr val="15243B"/>
                </a:solidFill>
                <a:latin typeface="AppleGothic"/>
                <a:ea typeface="AppleGothic"/>
                <a:cs typeface="AppleGothic"/>
              </a:defRPr>
            </a:lvl8pPr>
            <a:lvl9pPr>
              <a:defRPr sz="1875" b="0">
                <a:solidFill>
                  <a:srgbClr val="15243B"/>
                </a:solidFill>
                <a:latin typeface="AppleGothic"/>
                <a:ea typeface="AppleGothic"/>
                <a:cs typeface="AppleGothic"/>
              </a:defRPr>
            </a:lvl9pPr>
          </a:lstStyle>
          <a:p xmlns:a="http://schemas.openxmlformats.org/drawingml/2006/main">
            <a:pPr>
              <a:defRPr sz="1875" b="0">
                <a:solidFill>
                  <a:srgbClr val="15243B"/>
                </a:solidFill>
                <a:latin typeface="AppleGothic"/>
                <a:ea typeface="AppleGothic"/>
                <a:cs typeface="AppleGothic"/>
              </a:defRPr>
            </a:pPr>
            <a:r>
              <a:rPr sz="1875" b="0">
                <a:solidFill>
                  <a:srgbClr val="15243B"/>
                </a:solidFill>
                <a:latin typeface="AppleGothic"/>
                <a:ea typeface="AppleGothic"/>
                <a:cs typeface="AppleGothic"/>
              </a:rPr>
              <a:t>Mask R-CNN은 Faster R-CNN의 class와 box 경로에 object별 mask branch를 더한다.</a:t>
            </a:r>
          </a:p>
          <a:p xmlns:a="http://schemas.openxmlformats.org/drawingml/2006/main">
            <a:r>
              <a:t/>
            </a:r>
          </a:p>
          <a:p xmlns:a="http://schemas.openxmlformats.org/drawingml/2006/main">
            <a:pPr>
              <a:defRPr sz="1875" b="0">
                <a:solidFill>
                  <a:srgbClr val="15243B"/>
                </a:solidFill>
                <a:latin typeface="AppleGothic"/>
                <a:ea typeface="AppleGothic"/>
                <a:cs typeface="AppleGothic"/>
              </a:defRPr>
            </a:pPr>
            <a:r>
              <a:rPr sz="1875" b="0">
                <a:solidFill>
                  <a:srgbClr val="15243B"/>
                </a:solidFill>
                <a:latin typeface="AppleGothic"/>
                <a:ea typeface="AppleGothic"/>
                <a:cs typeface="AppleGothic"/>
              </a:rPr>
              <a:t>RoIAlign은 좌표 반올림을 피하고 mask 경계의 공간 정렬을 보존한다.</a:t>
            </a:r>
          </a:p>
        </p:txBody>
      </p:sp>
      <p:sp>
        <p:nvSpPr>
          <p:cNvPr id="5" name="">
            <a:extLst xmlns:a="http://schemas.openxmlformats.org/drawingml/2006/main">
              <a:ext uri="{FF2B5EF4-FFF2-40B4-BE49-F238E27FC236}">
                <a16:creationId xmlns:a16="http://schemas.microsoft.com/office/drawing/2014/main" id="{CC76448C-4C0E-46FF-A16D-C361380AF49A}"/>
              </a:ext>
            </a:extLst>
          </p:cNvPr>
          <p:cNvSpPr>
            <a:spLocks xmlns:a="http://schemas.openxmlformats.org/drawingml/2006/main" noGrp="1"/>
          </p:cNvSpPr>
          <p:nvPr/>
        </p:nvSpPr>
        <p:spPr>
          <a:xfrm xmlns:a="http://schemas.openxmlformats.org/drawingml/2006/main">
            <a:off x="533400" y="5895975"/>
            <a:ext cx="1112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526378"/>
                </a:solidFill>
                <a:latin typeface="AppleGothic"/>
                <a:ea typeface="AppleGothic"/>
                <a:cs typeface="AppleGothic"/>
              </a:defRPr>
            </a:defPPr>
            <a:lvl1pPr>
              <a:defRPr sz="1350" b="0">
                <a:solidFill>
                  <a:srgbClr val="526378"/>
                </a:solidFill>
                <a:latin typeface="AppleGothic"/>
                <a:ea typeface="AppleGothic"/>
                <a:cs typeface="AppleGothic"/>
              </a:defRPr>
            </a:lvl1pPr>
            <a:lvl2pPr>
              <a:defRPr sz="1350" b="0">
                <a:solidFill>
                  <a:srgbClr val="526378"/>
                </a:solidFill>
                <a:latin typeface="AppleGothic"/>
                <a:ea typeface="AppleGothic"/>
                <a:cs typeface="AppleGothic"/>
              </a:defRPr>
            </a:lvl2pPr>
            <a:lvl3pPr>
              <a:defRPr sz="1350" b="0">
                <a:solidFill>
                  <a:srgbClr val="526378"/>
                </a:solidFill>
                <a:latin typeface="AppleGothic"/>
                <a:ea typeface="AppleGothic"/>
                <a:cs typeface="AppleGothic"/>
              </a:defRPr>
            </a:lvl3pPr>
            <a:lvl4pPr>
              <a:defRPr sz="1350" b="0">
                <a:solidFill>
                  <a:srgbClr val="526378"/>
                </a:solidFill>
                <a:latin typeface="AppleGothic"/>
                <a:ea typeface="AppleGothic"/>
                <a:cs typeface="AppleGothic"/>
              </a:defRPr>
            </a:lvl4pPr>
            <a:lvl5pPr>
              <a:defRPr sz="1350" b="0">
                <a:solidFill>
                  <a:srgbClr val="526378"/>
                </a:solidFill>
                <a:latin typeface="AppleGothic"/>
                <a:ea typeface="AppleGothic"/>
                <a:cs typeface="AppleGothic"/>
              </a:defRPr>
            </a:lvl5pPr>
            <a:lvl6pPr>
              <a:defRPr sz="1350" b="0">
                <a:solidFill>
                  <a:srgbClr val="526378"/>
                </a:solidFill>
                <a:latin typeface="AppleGothic"/>
                <a:ea typeface="AppleGothic"/>
                <a:cs typeface="AppleGothic"/>
              </a:defRPr>
            </a:lvl6pPr>
            <a:lvl7pPr>
              <a:defRPr sz="1350" b="0">
                <a:solidFill>
                  <a:srgbClr val="526378"/>
                </a:solidFill>
                <a:latin typeface="AppleGothic"/>
                <a:ea typeface="AppleGothic"/>
                <a:cs typeface="AppleGothic"/>
              </a:defRPr>
            </a:lvl7pPr>
            <a:lvl8pPr>
              <a:defRPr sz="1350" b="0">
                <a:solidFill>
                  <a:srgbClr val="526378"/>
                </a:solidFill>
                <a:latin typeface="AppleGothic"/>
                <a:ea typeface="AppleGothic"/>
                <a:cs typeface="AppleGothic"/>
              </a:defRPr>
            </a:lvl8pPr>
            <a:lvl9pPr>
              <a:defRPr sz="1350" b="0">
                <a:solidFill>
                  <a:srgbClr val="526378"/>
                </a:solidFill>
                <a:latin typeface="AppleGothic"/>
                <a:ea typeface="AppleGothic"/>
                <a:cs typeface="AppleGothic"/>
              </a:defRPr>
            </a:lvl9pPr>
          </a:lstStyle>
          <a:p xmlns:a="http://schemas.openxmlformats.org/drawingml/2006/main">
            <a:pPr>
              <a:defRPr sz="1350" b="0">
                <a:solidFill>
                  <a:srgbClr val="526378"/>
                </a:solidFill>
                <a:latin typeface="AppleGothic"/>
                <a:ea typeface="AppleGothic"/>
                <a:cs typeface="AppleGothic"/>
              </a:defRPr>
            </a:pPr>
            <a:r>
              <a:rPr sz="1350" b="0">
                <a:solidFill>
                  <a:srgbClr val="526378"/>
                </a:solidFill>
                <a:latin typeface="AppleGothic"/>
                <a:ea typeface="AppleGothic"/>
                <a:cs typeface="AppleGothic"/>
              </a:rPr>
              <a:t>Lecture 8, p. 25. Separate masks for different object instances</a:t>
            </a:r>
          </a:p>
        </p:txBody>
      </p:sp>
      <p:sp>
        <p:nvSpPr>
          <p:cNvPr id="6" name="">
            <a:extLst xmlns:a="http://schemas.openxmlformats.org/drawingml/2006/main">
              <a:ext uri="{FF2B5EF4-FFF2-40B4-BE49-F238E27FC236}">
                <a16:creationId xmlns:a16="http://schemas.microsoft.com/office/drawing/2014/main" id="{82C1FB45-0132-42E4-BF0F-F3928CEE04CA}"/>
              </a:ext>
            </a:extLst>
          </p:cNvPr>
          <p:cNvSpPr>
            <a:spLocks xmlns:a="http://schemas.openxmlformats.org/drawingml/2006/main" noGrp="1"/>
          </p:cNvSpPr>
          <p:nvPr/>
        </p:nvSpPr>
        <p:spPr>
          <a:xfrm xmlns:a="http://schemas.openxmlformats.org/drawingml/2006/main">
            <a:off x="11144250" y="6400800"/>
            <a:ext cx="5143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62748C"/>
                </a:solidFill>
                <a:latin typeface="AppleGothic"/>
                <a:ea typeface="AppleGothic"/>
                <a:cs typeface="AppleGothic"/>
              </a:defRPr>
            </a:defPPr>
            <a:lvl1pPr>
              <a:defRPr sz="1350" b="0">
                <a:solidFill>
                  <a:srgbClr val="62748C"/>
                </a:solidFill>
                <a:latin typeface="AppleGothic"/>
                <a:ea typeface="AppleGothic"/>
                <a:cs typeface="AppleGothic"/>
              </a:defRPr>
            </a:lvl1pPr>
            <a:lvl2pPr>
              <a:defRPr sz="1350" b="0">
                <a:solidFill>
                  <a:srgbClr val="62748C"/>
                </a:solidFill>
                <a:latin typeface="AppleGothic"/>
                <a:ea typeface="AppleGothic"/>
                <a:cs typeface="AppleGothic"/>
              </a:defRPr>
            </a:lvl2pPr>
            <a:lvl3pPr>
              <a:defRPr sz="1350" b="0">
                <a:solidFill>
                  <a:srgbClr val="62748C"/>
                </a:solidFill>
                <a:latin typeface="AppleGothic"/>
                <a:ea typeface="AppleGothic"/>
                <a:cs typeface="AppleGothic"/>
              </a:defRPr>
            </a:lvl3pPr>
            <a:lvl4pPr>
              <a:defRPr sz="1350" b="0">
                <a:solidFill>
                  <a:srgbClr val="62748C"/>
                </a:solidFill>
                <a:latin typeface="AppleGothic"/>
                <a:ea typeface="AppleGothic"/>
                <a:cs typeface="AppleGothic"/>
              </a:defRPr>
            </a:lvl4pPr>
            <a:lvl5pPr>
              <a:defRPr sz="1350" b="0">
                <a:solidFill>
                  <a:srgbClr val="62748C"/>
                </a:solidFill>
                <a:latin typeface="AppleGothic"/>
                <a:ea typeface="AppleGothic"/>
                <a:cs typeface="AppleGothic"/>
              </a:defRPr>
            </a:lvl5pPr>
            <a:lvl6pPr>
              <a:defRPr sz="1350" b="0">
                <a:solidFill>
                  <a:srgbClr val="62748C"/>
                </a:solidFill>
                <a:latin typeface="AppleGothic"/>
                <a:ea typeface="AppleGothic"/>
                <a:cs typeface="AppleGothic"/>
              </a:defRPr>
            </a:lvl6pPr>
            <a:lvl7pPr>
              <a:defRPr sz="1350" b="0">
                <a:solidFill>
                  <a:srgbClr val="62748C"/>
                </a:solidFill>
                <a:latin typeface="AppleGothic"/>
                <a:ea typeface="AppleGothic"/>
                <a:cs typeface="AppleGothic"/>
              </a:defRPr>
            </a:lvl7pPr>
            <a:lvl8pPr>
              <a:defRPr sz="1350" b="0">
                <a:solidFill>
                  <a:srgbClr val="62748C"/>
                </a:solidFill>
                <a:latin typeface="AppleGothic"/>
                <a:ea typeface="AppleGothic"/>
                <a:cs typeface="AppleGothic"/>
              </a:defRPr>
            </a:lvl8pPr>
            <a:lvl9pPr>
              <a:defRPr sz="1350" b="0">
                <a:solidFill>
                  <a:srgbClr val="62748C"/>
                </a:solidFill>
                <a:latin typeface="AppleGothic"/>
                <a:ea typeface="AppleGothic"/>
                <a:cs typeface="AppleGothic"/>
              </a:defRPr>
            </a:lvl9pPr>
          </a:lstStyle>
          <a:p xmlns:a="http://schemas.openxmlformats.org/drawingml/2006/main">
            <a:pPr>
              <a:defRPr sz="1350" b="0">
                <a:solidFill>
                  <a:srgbClr val="62748C"/>
                </a:solidFill>
                <a:latin typeface="AppleGothic"/>
                <a:ea typeface="AppleGothic"/>
                <a:cs typeface="AppleGothic"/>
              </a:defRPr>
            </a:pPr>
            <a:r>
              <a:rPr sz="1350" b="0">
                <a:solidFill>
                  <a:srgbClr val="62748C"/>
                </a:solidFill>
                <a:latin typeface="AppleGothic"/>
                <a:ea typeface="AppleGothic"/>
                <a:cs typeface="AppleGothic"/>
              </a:rPr>
              <a:t>16</a:t>
            </a:r>
          </a:p>
        </p:txBody>
      </p:sp>
    </p:spTree>
    <p:extLst>
      <p:ext uri="{BB962C8B-B14F-4D97-AF65-F5344CB8AC3E}">
        <p14:creationId xmlns:p14="http://schemas.microsoft.com/office/powerpoint/2010/main" val="742130829"/>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D92EF74-BC98-4FF4-8CE4-5085879A3F8B}"/>
              </a:ext>
            </a:extLst>
          </p:cNvPr>
          <p:cNvSpPr>
            <a:spLocks xmlns:a="http://schemas.openxmlformats.org/drawingml/2006/main" noGrp="1"/>
          </p:cNvSpPr>
          <p:nvPr/>
        </p:nvSpPr>
        <p:spPr>
          <a:xfrm xmlns:a="http://schemas.openxmlformats.org/drawingml/2006/main">
            <a:off x="533400" y="342900"/>
            <a:ext cx="111252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150" b="1">
                <a:solidFill>
                  <a:srgbClr val="15243B"/>
                </a:solidFill>
                <a:latin typeface="AppleGothic"/>
                <a:ea typeface="AppleGothic"/>
                <a:cs typeface="AppleGothic"/>
              </a:defRPr>
            </a:defPPr>
            <a:lvl1pPr>
              <a:defRPr sz="3150" b="1">
                <a:solidFill>
                  <a:srgbClr val="15243B"/>
                </a:solidFill>
                <a:latin typeface="AppleGothic"/>
                <a:ea typeface="AppleGothic"/>
                <a:cs typeface="AppleGothic"/>
              </a:defRPr>
            </a:lvl1pPr>
            <a:lvl2pPr>
              <a:defRPr sz="3150" b="1">
                <a:solidFill>
                  <a:srgbClr val="15243B"/>
                </a:solidFill>
                <a:latin typeface="AppleGothic"/>
                <a:ea typeface="AppleGothic"/>
                <a:cs typeface="AppleGothic"/>
              </a:defRPr>
            </a:lvl2pPr>
            <a:lvl3pPr>
              <a:defRPr sz="3150" b="1">
                <a:solidFill>
                  <a:srgbClr val="15243B"/>
                </a:solidFill>
                <a:latin typeface="AppleGothic"/>
                <a:ea typeface="AppleGothic"/>
                <a:cs typeface="AppleGothic"/>
              </a:defRPr>
            </a:lvl3pPr>
            <a:lvl4pPr>
              <a:defRPr sz="3150" b="1">
                <a:solidFill>
                  <a:srgbClr val="15243B"/>
                </a:solidFill>
                <a:latin typeface="AppleGothic"/>
                <a:ea typeface="AppleGothic"/>
                <a:cs typeface="AppleGothic"/>
              </a:defRPr>
            </a:lvl4pPr>
            <a:lvl5pPr>
              <a:defRPr sz="3150" b="1">
                <a:solidFill>
                  <a:srgbClr val="15243B"/>
                </a:solidFill>
                <a:latin typeface="AppleGothic"/>
                <a:ea typeface="AppleGothic"/>
                <a:cs typeface="AppleGothic"/>
              </a:defRPr>
            </a:lvl5pPr>
            <a:lvl6pPr>
              <a:defRPr sz="3150" b="1">
                <a:solidFill>
                  <a:srgbClr val="15243B"/>
                </a:solidFill>
                <a:latin typeface="AppleGothic"/>
                <a:ea typeface="AppleGothic"/>
                <a:cs typeface="AppleGothic"/>
              </a:defRPr>
            </a:lvl6pPr>
            <a:lvl7pPr>
              <a:defRPr sz="3150" b="1">
                <a:solidFill>
                  <a:srgbClr val="15243B"/>
                </a:solidFill>
                <a:latin typeface="AppleGothic"/>
                <a:ea typeface="AppleGothic"/>
                <a:cs typeface="AppleGothic"/>
              </a:defRPr>
            </a:lvl7pPr>
            <a:lvl8pPr>
              <a:defRPr sz="3150" b="1">
                <a:solidFill>
                  <a:srgbClr val="15243B"/>
                </a:solidFill>
                <a:latin typeface="AppleGothic"/>
                <a:ea typeface="AppleGothic"/>
                <a:cs typeface="AppleGothic"/>
              </a:defRPr>
            </a:lvl8pPr>
            <a:lvl9pPr>
              <a:defRPr sz="3150" b="1">
                <a:solidFill>
                  <a:srgbClr val="15243B"/>
                </a:solidFill>
                <a:latin typeface="AppleGothic"/>
                <a:ea typeface="AppleGothic"/>
                <a:cs typeface="AppleGothic"/>
              </a:defRPr>
            </a:lvl9pPr>
          </a:lstStyle>
          <a:p xmlns:a="http://schemas.openxmlformats.org/drawingml/2006/main">
            <a:pPr>
              <a:defRPr sz="3150" b="1">
                <a:solidFill>
                  <a:srgbClr val="15243B"/>
                </a:solidFill>
                <a:latin typeface="AppleGothic"/>
                <a:ea typeface="AppleGothic"/>
                <a:cs typeface="AppleGothic"/>
              </a:defRPr>
            </a:pPr>
            <a:r>
              <a:rPr sz="3150" b="1">
                <a:solidFill>
                  <a:srgbClr val="15243B"/>
                </a:solidFill>
                <a:latin typeface="AppleGothic"/>
                <a:ea typeface="AppleGothic"/>
                <a:cs typeface="AppleGothic"/>
              </a:rPr>
              <a:t>Monocular 3D Ambiguity</a:t>
            </a:r>
          </a:p>
        </p:txBody>
      </p:sp>
      <p:sp>
        <p:nvSpPr>
          <p:cNvPr id="2" name="">
            <a:extLst xmlns:a="http://schemas.openxmlformats.org/drawingml/2006/main">
              <a:ext uri="{FF2B5EF4-FFF2-40B4-BE49-F238E27FC236}">
                <a16:creationId xmlns:a16="http://schemas.microsoft.com/office/drawing/2014/main" id="{8C35F88C-1326-4500-9EB1-A434BC57A356}"/>
              </a:ext>
            </a:extLst>
          </p:cNvPr>
          <p:cNvSpPr>
            <a:spLocks xmlns:a="http://schemas.openxmlformats.org/drawingml/2006/main" noGrp="1"/>
          </p:cNvSpPr>
          <p:nvPr/>
        </p:nvSpPr>
        <p:spPr>
          <a:xfrm xmlns:a="http://schemas.openxmlformats.org/drawingml/2006/main">
            <a:off x="533400" y="1066800"/>
            <a:ext cx="111252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1">
                <a:solidFill>
                  <a:srgbClr val="2164CB"/>
                </a:solidFill>
                <a:latin typeface="AppleGothic"/>
                <a:ea typeface="AppleGothic"/>
                <a:cs typeface="AppleGothic"/>
              </a:defRPr>
            </a:defPPr>
            <a:lvl1pPr>
              <a:defRPr sz="2175" b="1">
                <a:solidFill>
                  <a:srgbClr val="2164CB"/>
                </a:solidFill>
                <a:latin typeface="AppleGothic"/>
                <a:ea typeface="AppleGothic"/>
                <a:cs typeface="AppleGothic"/>
              </a:defRPr>
            </a:lvl1pPr>
            <a:lvl2pPr>
              <a:defRPr sz="2175" b="1">
                <a:solidFill>
                  <a:srgbClr val="2164CB"/>
                </a:solidFill>
                <a:latin typeface="AppleGothic"/>
                <a:ea typeface="AppleGothic"/>
                <a:cs typeface="AppleGothic"/>
              </a:defRPr>
            </a:lvl2pPr>
            <a:lvl3pPr>
              <a:defRPr sz="2175" b="1">
                <a:solidFill>
                  <a:srgbClr val="2164CB"/>
                </a:solidFill>
                <a:latin typeface="AppleGothic"/>
                <a:ea typeface="AppleGothic"/>
                <a:cs typeface="AppleGothic"/>
              </a:defRPr>
            </a:lvl3pPr>
            <a:lvl4pPr>
              <a:defRPr sz="2175" b="1">
                <a:solidFill>
                  <a:srgbClr val="2164CB"/>
                </a:solidFill>
                <a:latin typeface="AppleGothic"/>
                <a:ea typeface="AppleGothic"/>
                <a:cs typeface="AppleGothic"/>
              </a:defRPr>
            </a:lvl4pPr>
            <a:lvl5pPr>
              <a:defRPr sz="2175" b="1">
                <a:solidFill>
                  <a:srgbClr val="2164CB"/>
                </a:solidFill>
                <a:latin typeface="AppleGothic"/>
                <a:ea typeface="AppleGothic"/>
                <a:cs typeface="AppleGothic"/>
              </a:defRPr>
            </a:lvl5pPr>
            <a:lvl6pPr>
              <a:defRPr sz="2175" b="1">
                <a:solidFill>
                  <a:srgbClr val="2164CB"/>
                </a:solidFill>
                <a:latin typeface="AppleGothic"/>
                <a:ea typeface="AppleGothic"/>
                <a:cs typeface="AppleGothic"/>
              </a:defRPr>
            </a:lvl6pPr>
            <a:lvl7pPr>
              <a:defRPr sz="2175" b="1">
                <a:solidFill>
                  <a:srgbClr val="2164CB"/>
                </a:solidFill>
                <a:latin typeface="AppleGothic"/>
                <a:ea typeface="AppleGothic"/>
                <a:cs typeface="AppleGothic"/>
              </a:defRPr>
            </a:lvl7pPr>
            <a:lvl8pPr>
              <a:defRPr sz="2175" b="1">
                <a:solidFill>
                  <a:srgbClr val="2164CB"/>
                </a:solidFill>
                <a:latin typeface="AppleGothic"/>
                <a:ea typeface="AppleGothic"/>
                <a:cs typeface="AppleGothic"/>
              </a:defRPr>
            </a:lvl8pPr>
            <a:lvl9pPr>
              <a:defRPr sz="2175" b="1">
                <a:solidFill>
                  <a:srgbClr val="2164CB"/>
                </a:solidFill>
                <a:latin typeface="AppleGothic"/>
                <a:ea typeface="AppleGothic"/>
                <a:cs typeface="AppleGothic"/>
              </a:defRPr>
            </a:lvl9pPr>
          </a:lstStyle>
          <a:p xmlns:a="http://schemas.openxmlformats.org/drawingml/2006/main">
            <a:pPr>
              <a:defRPr sz="2175" b="1">
                <a:solidFill>
                  <a:srgbClr val="2164CB"/>
                </a:solidFill>
                <a:latin typeface="AppleGothic"/>
                <a:ea typeface="AppleGothic"/>
                <a:cs typeface="AppleGothic"/>
              </a:defRPr>
            </a:pPr>
            <a:r>
              <a:rPr sz="2175" b="1">
                <a:solidFill>
                  <a:srgbClr val="2164CB"/>
                </a:solidFill>
                <a:latin typeface="AppleGothic"/>
                <a:ea typeface="AppleGothic"/>
                <a:cs typeface="AppleGothic"/>
              </a:rPr>
              <a:t>단안 영상의 2D box는 3D 공간에서 하나의 frustum만 정한다</a:t>
            </a:r>
          </a:p>
        </p:txBody>
      </p:sp>
      <p:pic>
        <p:nvPicPr>
          <p:cNvPr id="3" name="">
            <a:extLst xmlns:a="http://schemas.openxmlformats.org/drawingml/2006/main">
              <a:ext uri="{FF2B5EF4-FFF2-40B4-BE49-F238E27FC236}">
                <a16:creationId xmlns:a16="http://schemas.microsoft.com/office/drawing/2014/main" id="{2975EDB5-8E15-4CCC-879C-05D247E1A074}"/>
              </a:ext>
            </a:extLst>
          </p:cNvPr>
          <p:cNvPicPr>
            <a:picLocks xmlns:a="http://schemas.openxmlformats.org/drawingml/2006/main" noChangeAspect="1"/>
          </p:cNvPicPr>
          <p:nvPr/>
        </p:nvPicPr>
        <p:blipFill>
          <a:blip xmlns:r="http://schemas.openxmlformats.org/officeDocument/2006/relationships" xmlns:a="http://schemas.openxmlformats.org/drawingml/2006/main" r:embed="R11cf6afdb3114b62"/>
          <a:stretch xmlns:a="http://schemas.openxmlformats.org/drawingml/2006/main"/>
        </p:blipFill>
        <p:spPr>
          <a:xfrm xmlns:a="http://schemas.openxmlformats.org/drawingml/2006/main">
            <a:off x="806940" y="2057400"/>
            <a:ext cx="6596670" cy="3714750"/>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9CF2C1C1-83CA-4683-9FE6-AB21F7FDF673}"/>
              </a:ext>
            </a:extLst>
          </p:cNvPr>
          <p:cNvSpPr>
            <a:spLocks xmlns:a="http://schemas.openxmlformats.org/drawingml/2006/main" noGrp="1"/>
          </p:cNvSpPr>
          <p:nvPr/>
        </p:nvSpPr>
        <p:spPr>
          <a:xfrm xmlns:a="http://schemas.openxmlformats.org/drawingml/2006/main">
            <a:off x="7981950" y="2114550"/>
            <a:ext cx="3676650" cy="3667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75" b="0">
                <a:solidFill>
                  <a:srgbClr val="15243B"/>
                </a:solidFill>
                <a:latin typeface="AppleGothic"/>
                <a:ea typeface="AppleGothic"/>
                <a:cs typeface="AppleGothic"/>
              </a:defRPr>
            </a:defPPr>
            <a:lvl1pPr>
              <a:defRPr sz="1875" b="0">
                <a:solidFill>
                  <a:srgbClr val="15243B"/>
                </a:solidFill>
                <a:latin typeface="AppleGothic"/>
                <a:ea typeface="AppleGothic"/>
                <a:cs typeface="AppleGothic"/>
              </a:defRPr>
            </a:lvl1pPr>
            <a:lvl2pPr>
              <a:defRPr sz="1875" b="0">
                <a:solidFill>
                  <a:srgbClr val="15243B"/>
                </a:solidFill>
                <a:latin typeface="AppleGothic"/>
                <a:ea typeface="AppleGothic"/>
                <a:cs typeface="AppleGothic"/>
              </a:defRPr>
            </a:lvl2pPr>
            <a:lvl3pPr>
              <a:defRPr sz="1875" b="0">
                <a:solidFill>
                  <a:srgbClr val="15243B"/>
                </a:solidFill>
                <a:latin typeface="AppleGothic"/>
                <a:ea typeface="AppleGothic"/>
                <a:cs typeface="AppleGothic"/>
              </a:defRPr>
            </a:lvl3pPr>
            <a:lvl4pPr>
              <a:defRPr sz="1875" b="0">
                <a:solidFill>
                  <a:srgbClr val="15243B"/>
                </a:solidFill>
                <a:latin typeface="AppleGothic"/>
                <a:ea typeface="AppleGothic"/>
                <a:cs typeface="AppleGothic"/>
              </a:defRPr>
            </a:lvl4pPr>
            <a:lvl5pPr>
              <a:defRPr sz="1875" b="0">
                <a:solidFill>
                  <a:srgbClr val="15243B"/>
                </a:solidFill>
                <a:latin typeface="AppleGothic"/>
                <a:ea typeface="AppleGothic"/>
                <a:cs typeface="AppleGothic"/>
              </a:defRPr>
            </a:lvl5pPr>
            <a:lvl6pPr>
              <a:defRPr sz="1875" b="0">
                <a:solidFill>
                  <a:srgbClr val="15243B"/>
                </a:solidFill>
                <a:latin typeface="AppleGothic"/>
                <a:ea typeface="AppleGothic"/>
                <a:cs typeface="AppleGothic"/>
              </a:defRPr>
            </a:lvl6pPr>
            <a:lvl7pPr>
              <a:defRPr sz="1875" b="0">
                <a:solidFill>
                  <a:srgbClr val="15243B"/>
                </a:solidFill>
                <a:latin typeface="AppleGothic"/>
                <a:ea typeface="AppleGothic"/>
                <a:cs typeface="AppleGothic"/>
              </a:defRPr>
            </a:lvl7pPr>
            <a:lvl8pPr>
              <a:defRPr sz="1875" b="0">
                <a:solidFill>
                  <a:srgbClr val="15243B"/>
                </a:solidFill>
                <a:latin typeface="AppleGothic"/>
                <a:ea typeface="AppleGothic"/>
                <a:cs typeface="AppleGothic"/>
              </a:defRPr>
            </a:lvl8pPr>
            <a:lvl9pPr>
              <a:defRPr sz="1875" b="0">
                <a:solidFill>
                  <a:srgbClr val="15243B"/>
                </a:solidFill>
                <a:latin typeface="AppleGothic"/>
                <a:ea typeface="AppleGothic"/>
                <a:cs typeface="AppleGothic"/>
              </a:defRPr>
            </a:lvl9pPr>
          </a:lstStyle>
          <a:p xmlns:a="http://schemas.openxmlformats.org/drawingml/2006/main">
            <a:pPr>
              <a:defRPr sz="1875" b="0">
                <a:solidFill>
                  <a:srgbClr val="15243B"/>
                </a:solidFill>
                <a:latin typeface="AppleGothic"/>
                <a:ea typeface="AppleGothic"/>
                <a:cs typeface="AppleGothic"/>
              </a:defRPr>
            </a:pPr>
            <a:r>
              <a:rPr sz="1875" b="0">
                <a:solidFill>
                  <a:srgbClr val="15243B"/>
                </a:solidFill>
                <a:latin typeface="AppleGothic"/>
                <a:ea typeface="AppleGothic"/>
                <a:cs typeface="AppleGothic"/>
              </a:rPr>
              <a:t>Frustum 안의 여러 위치와 크기가 같은 2D 관측을 만들 수 있다.</a:t>
            </a:r>
          </a:p>
          <a:p xmlns:a="http://schemas.openxmlformats.org/drawingml/2006/main">
            <a:r>
              <a:t/>
            </a:r>
          </a:p>
          <a:p xmlns:a="http://schemas.openxmlformats.org/drawingml/2006/main">
            <a:pPr>
              <a:defRPr sz="1875" b="0">
                <a:solidFill>
                  <a:srgbClr val="15243B"/>
                </a:solidFill>
                <a:latin typeface="AppleGothic"/>
                <a:ea typeface="AppleGothic"/>
                <a:cs typeface="AppleGothic"/>
              </a:defRPr>
            </a:pPr>
            <a:r>
              <a:rPr sz="1875" b="0">
                <a:solidFill>
                  <a:srgbClr val="15243B"/>
                </a:solidFill>
                <a:latin typeface="AppleGothic"/>
                <a:ea typeface="AppleGothic"/>
                <a:cs typeface="AppleGothic"/>
              </a:rPr>
              <a:t>Mono3D와 MonoRCNN은 prior와 geometry로 이 depth 모호성을 줄인다.</a:t>
            </a:r>
          </a:p>
        </p:txBody>
      </p:sp>
      <p:sp>
        <p:nvSpPr>
          <p:cNvPr id="5" name="">
            <a:extLst xmlns:a="http://schemas.openxmlformats.org/drawingml/2006/main">
              <a:ext uri="{FF2B5EF4-FFF2-40B4-BE49-F238E27FC236}">
                <a16:creationId xmlns:a16="http://schemas.microsoft.com/office/drawing/2014/main" id="{E5537348-4C6F-40FF-B8D7-3E1BE4F8A123}"/>
              </a:ext>
            </a:extLst>
          </p:cNvPr>
          <p:cNvSpPr>
            <a:spLocks xmlns:a="http://schemas.openxmlformats.org/drawingml/2006/main" noGrp="1"/>
          </p:cNvSpPr>
          <p:nvPr/>
        </p:nvSpPr>
        <p:spPr>
          <a:xfrm xmlns:a="http://schemas.openxmlformats.org/drawingml/2006/main">
            <a:off x="533400" y="5895975"/>
            <a:ext cx="1112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526378"/>
                </a:solidFill>
                <a:latin typeface="AppleGothic"/>
                <a:ea typeface="AppleGothic"/>
                <a:cs typeface="AppleGothic"/>
              </a:defRPr>
            </a:defPPr>
            <a:lvl1pPr>
              <a:defRPr sz="1350" b="0">
                <a:solidFill>
                  <a:srgbClr val="526378"/>
                </a:solidFill>
                <a:latin typeface="AppleGothic"/>
                <a:ea typeface="AppleGothic"/>
                <a:cs typeface="AppleGothic"/>
              </a:defRPr>
            </a:lvl1pPr>
            <a:lvl2pPr>
              <a:defRPr sz="1350" b="0">
                <a:solidFill>
                  <a:srgbClr val="526378"/>
                </a:solidFill>
                <a:latin typeface="AppleGothic"/>
                <a:ea typeface="AppleGothic"/>
                <a:cs typeface="AppleGothic"/>
              </a:defRPr>
            </a:lvl2pPr>
            <a:lvl3pPr>
              <a:defRPr sz="1350" b="0">
                <a:solidFill>
                  <a:srgbClr val="526378"/>
                </a:solidFill>
                <a:latin typeface="AppleGothic"/>
                <a:ea typeface="AppleGothic"/>
                <a:cs typeface="AppleGothic"/>
              </a:defRPr>
            </a:lvl3pPr>
            <a:lvl4pPr>
              <a:defRPr sz="1350" b="0">
                <a:solidFill>
                  <a:srgbClr val="526378"/>
                </a:solidFill>
                <a:latin typeface="AppleGothic"/>
                <a:ea typeface="AppleGothic"/>
                <a:cs typeface="AppleGothic"/>
              </a:defRPr>
            </a:lvl4pPr>
            <a:lvl5pPr>
              <a:defRPr sz="1350" b="0">
                <a:solidFill>
                  <a:srgbClr val="526378"/>
                </a:solidFill>
                <a:latin typeface="AppleGothic"/>
                <a:ea typeface="AppleGothic"/>
                <a:cs typeface="AppleGothic"/>
              </a:defRPr>
            </a:lvl5pPr>
            <a:lvl6pPr>
              <a:defRPr sz="1350" b="0">
                <a:solidFill>
                  <a:srgbClr val="526378"/>
                </a:solidFill>
                <a:latin typeface="AppleGothic"/>
                <a:ea typeface="AppleGothic"/>
                <a:cs typeface="AppleGothic"/>
              </a:defRPr>
            </a:lvl6pPr>
            <a:lvl7pPr>
              <a:defRPr sz="1350" b="0">
                <a:solidFill>
                  <a:srgbClr val="526378"/>
                </a:solidFill>
                <a:latin typeface="AppleGothic"/>
                <a:ea typeface="AppleGothic"/>
                <a:cs typeface="AppleGothic"/>
              </a:defRPr>
            </a:lvl7pPr>
            <a:lvl8pPr>
              <a:defRPr sz="1350" b="0">
                <a:solidFill>
                  <a:srgbClr val="526378"/>
                </a:solidFill>
                <a:latin typeface="AppleGothic"/>
                <a:ea typeface="AppleGothic"/>
                <a:cs typeface="AppleGothic"/>
              </a:defRPr>
            </a:lvl8pPr>
            <a:lvl9pPr>
              <a:defRPr sz="1350" b="0">
                <a:solidFill>
                  <a:srgbClr val="526378"/>
                </a:solidFill>
                <a:latin typeface="AppleGothic"/>
                <a:ea typeface="AppleGothic"/>
                <a:cs typeface="AppleGothic"/>
              </a:defRPr>
            </a:lvl9pPr>
          </a:lstStyle>
          <a:p xmlns:a="http://schemas.openxmlformats.org/drawingml/2006/main">
            <a:pPr>
              <a:defRPr sz="1350" b="0">
                <a:solidFill>
                  <a:srgbClr val="526378"/>
                </a:solidFill>
                <a:latin typeface="AppleGothic"/>
                <a:ea typeface="AppleGothic"/>
                <a:cs typeface="AppleGothic"/>
              </a:defRPr>
            </a:pPr>
            <a:r>
              <a:rPr sz="1350" b="0">
                <a:solidFill>
                  <a:srgbClr val="526378"/>
                </a:solidFill>
                <a:latin typeface="AppleGothic"/>
                <a:ea typeface="AppleGothic"/>
                <a:cs typeface="AppleGothic"/>
              </a:rPr>
              <a:t>Lecture 9, p. 18. Multiple 3D boxes can match one image observation</a:t>
            </a:r>
          </a:p>
        </p:txBody>
      </p:sp>
      <p:sp>
        <p:nvSpPr>
          <p:cNvPr id="6" name="">
            <a:extLst xmlns:a="http://schemas.openxmlformats.org/drawingml/2006/main">
              <a:ext uri="{FF2B5EF4-FFF2-40B4-BE49-F238E27FC236}">
                <a16:creationId xmlns:a16="http://schemas.microsoft.com/office/drawing/2014/main" id="{870C1537-D8FA-4D16-893C-550E0D0DF76A}"/>
              </a:ext>
            </a:extLst>
          </p:cNvPr>
          <p:cNvSpPr>
            <a:spLocks xmlns:a="http://schemas.openxmlformats.org/drawingml/2006/main" noGrp="1"/>
          </p:cNvSpPr>
          <p:nvPr/>
        </p:nvSpPr>
        <p:spPr>
          <a:xfrm xmlns:a="http://schemas.openxmlformats.org/drawingml/2006/main">
            <a:off x="11144250" y="6400800"/>
            <a:ext cx="5143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62748C"/>
                </a:solidFill>
                <a:latin typeface="AppleGothic"/>
                <a:ea typeface="AppleGothic"/>
                <a:cs typeface="AppleGothic"/>
              </a:defRPr>
            </a:defPPr>
            <a:lvl1pPr>
              <a:defRPr sz="1350" b="0">
                <a:solidFill>
                  <a:srgbClr val="62748C"/>
                </a:solidFill>
                <a:latin typeface="AppleGothic"/>
                <a:ea typeface="AppleGothic"/>
                <a:cs typeface="AppleGothic"/>
              </a:defRPr>
            </a:lvl1pPr>
            <a:lvl2pPr>
              <a:defRPr sz="1350" b="0">
                <a:solidFill>
                  <a:srgbClr val="62748C"/>
                </a:solidFill>
                <a:latin typeface="AppleGothic"/>
                <a:ea typeface="AppleGothic"/>
                <a:cs typeface="AppleGothic"/>
              </a:defRPr>
            </a:lvl2pPr>
            <a:lvl3pPr>
              <a:defRPr sz="1350" b="0">
                <a:solidFill>
                  <a:srgbClr val="62748C"/>
                </a:solidFill>
                <a:latin typeface="AppleGothic"/>
                <a:ea typeface="AppleGothic"/>
                <a:cs typeface="AppleGothic"/>
              </a:defRPr>
            </a:lvl3pPr>
            <a:lvl4pPr>
              <a:defRPr sz="1350" b="0">
                <a:solidFill>
                  <a:srgbClr val="62748C"/>
                </a:solidFill>
                <a:latin typeface="AppleGothic"/>
                <a:ea typeface="AppleGothic"/>
                <a:cs typeface="AppleGothic"/>
              </a:defRPr>
            </a:lvl4pPr>
            <a:lvl5pPr>
              <a:defRPr sz="1350" b="0">
                <a:solidFill>
                  <a:srgbClr val="62748C"/>
                </a:solidFill>
                <a:latin typeface="AppleGothic"/>
                <a:ea typeface="AppleGothic"/>
                <a:cs typeface="AppleGothic"/>
              </a:defRPr>
            </a:lvl5pPr>
            <a:lvl6pPr>
              <a:defRPr sz="1350" b="0">
                <a:solidFill>
                  <a:srgbClr val="62748C"/>
                </a:solidFill>
                <a:latin typeface="AppleGothic"/>
                <a:ea typeface="AppleGothic"/>
                <a:cs typeface="AppleGothic"/>
              </a:defRPr>
            </a:lvl6pPr>
            <a:lvl7pPr>
              <a:defRPr sz="1350" b="0">
                <a:solidFill>
                  <a:srgbClr val="62748C"/>
                </a:solidFill>
                <a:latin typeface="AppleGothic"/>
                <a:ea typeface="AppleGothic"/>
                <a:cs typeface="AppleGothic"/>
              </a:defRPr>
            </a:lvl7pPr>
            <a:lvl8pPr>
              <a:defRPr sz="1350" b="0">
                <a:solidFill>
                  <a:srgbClr val="62748C"/>
                </a:solidFill>
                <a:latin typeface="AppleGothic"/>
                <a:ea typeface="AppleGothic"/>
                <a:cs typeface="AppleGothic"/>
              </a:defRPr>
            </a:lvl8pPr>
            <a:lvl9pPr>
              <a:defRPr sz="1350" b="0">
                <a:solidFill>
                  <a:srgbClr val="62748C"/>
                </a:solidFill>
                <a:latin typeface="AppleGothic"/>
                <a:ea typeface="AppleGothic"/>
                <a:cs typeface="AppleGothic"/>
              </a:defRPr>
            </a:lvl9pPr>
          </a:lstStyle>
          <a:p xmlns:a="http://schemas.openxmlformats.org/drawingml/2006/main">
            <a:pPr>
              <a:defRPr sz="1350" b="0">
                <a:solidFill>
                  <a:srgbClr val="62748C"/>
                </a:solidFill>
                <a:latin typeface="AppleGothic"/>
                <a:ea typeface="AppleGothic"/>
                <a:cs typeface="AppleGothic"/>
              </a:defRPr>
            </a:pPr>
            <a:r>
              <a:rPr sz="1350" b="0">
                <a:solidFill>
                  <a:srgbClr val="62748C"/>
                </a:solidFill>
                <a:latin typeface="AppleGothic"/>
                <a:ea typeface="AppleGothic"/>
                <a:cs typeface="AppleGothic"/>
              </a:rPr>
              <a:t>17</a:t>
            </a:r>
          </a:p>
        </p:txBody>
      </p:sp>
    </p:spTree>
    <p:extLst>
      <p:ext uri="{BB962C8B-B14F-4D97-AF65-F5344CB8AC3E}">
        <p14:creationId xmlns:p14="http://schemas.microsoft.com/office/powerpoint/2010/main" val="361757024"/>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0D21E80-D5F2-4776-A8E6-0EC0BB751315}"/>
              </a:ext>
            </a:extLst>
          </p:cNvPr>
          <p:cNvSpPr>
            <a:spLocks xmlns:a="http://schemas.openxmlformats.org/drawingml/2006/main" noGrp="1"/>
          </p:cNvSpPr>
          <p:nvPr/>
        </p:nvSpPr>
        <p:spPr>
          <a:xfrm xmlns:a="http://schemas.openxmlformats.org/drawingml/2006/main">
            <a:off x="533400" y="342900"/>
            <a:ext cx="111252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150" b="1">
                <a:solidFill>
                  <a:srgbClr val="15243B"/>
                </a:solidFill>
                <a:latin typeface="AppleGothic"/>
                <a:ea typeface="AppleGothic"/>
                <a:cs typeface="AppleGothic"/>
              </a:defRPr>
            </a:defPPr>
            <a:lvl1pPr>
              <a:defRPr sz="3150" b="1">
                <a:solidFill>
                  <a:srgbClr val="15243B"/>
                </a:solidFill>
                <a:latin typeface="AppleGothic"/>
                <a:ea typeface="AppleGothic"/>
                <a:cs typeface="AppleGothic"/>
              </a:defRPr>
            </a:lvl1pPr>
            <a:lvl2pPr>
              <a:defRPr sz="3150" b="1">
                <a:solidFill>
                  <a:srgbClr val="15243B"/>
                </a:solidFill>
                <a:latin typeface="AppleGothic"/>
                <a:ea typeface="AppleGothic"/>
                <a:cs typeface="AppleGothic"/>
              </a:defRPr>
            </a:lvl2pPr>
            <a:lvl3pPr>
              <a:defRPr sz="3150" b="1">
                <a:solidFill>
                  <a:srgbClr val="15243B"/>
                </a:solidFill>
                <a:latin typeface="AppleGothic"/>
                <a:ea typeface="AppleGothic"/>
                <a:cs typeface="AppleGothic"/>
              </a:defRPr>
            </a:lvl3pPr>
            <a:lvl4pPr>
              <a:defRPr sz="3150" b="1">
                <a:solidFill>
                  <a:srgbClr val="15243B"/>
                </a:solidFill>
                <a:latin typeface="AppleGothic"/>
                <a:ea typeface="AppleGothic"/>
                <a:cs typeface="AppleGothic"/>
              </a:defRPr>
            </a:lvl4pPr>
            <a:lvl5pPr>
              <a:defRPr sz="3150" b="1">
                <a:solidFill>
                  <a:srgbClr val="15243B"/>
                </a:solidFill>
                <a:latin typeface="AppleGothic"/>
                <a:ea typeface="AppleGothic"/>
                <a:cs typeface="AppleGothic"/>
              </a:defRPr>
            </a:lvl5pPr>
            <a:lvl6pPr>
              <a:defRPr sz="3150" b="1">
                <a:solidFill>
                  <a:srgbClr val="15243B"/>
                </a:solidFill>
                <a:latin typeface="AppleGothic"/>
                <a:ea typeface="AppleGothic"/>
                <a:cs typeface="AppleGothic"/>
              </a:defRPr>
            </a:lvl6pPr>
            <a:lvl7pPr>
              <a:defRPr sz="3150" b="1">
                <a:solidFill>
                  <a:srgbClr val="15243B"/>
                </a:solidFill>
                <a:latin typeface="AppleGothic"/>
                <a:ea typeface="AppleGothic"/>
                <a:cs typeface="AppleGothic"/>
              </a:defRPr>
            </a:lvl7pPr>
            <a:lvl8pPr>
              <a:defRPr sz="3150" b="1">
                <a:solidFill>
                  <a:srgbClr val="15243B"/>
                </a:solidFill>
                <a:latin typeface="AppleGothic"/>
                <a:ea typeface="AppleGothic"/>
                <a:cs typeface="AppleGothic"/>
              </a:defRPr>
            </a:lvl8pPr>
            <a:lvl9pPr>
              <a:defRPr sz="3150" b="1">
                <a:solidFill>
                  <a:srgbClr val="15243B"/>
                </a:solidFill>
                <a:latin typeface="AppleGothic"/>
                <a:ea typeface="AppleGothic"/>
                <a:cs typeface="AppleGothic"/>
              </a:defRPr>
            </a:lvl9pPr>
          </a:lstStyle>
          <a:p xmlns:a="http://schemas.openxmlformats.org/drawingml/2006/main">
            <a:pPr>
              <a:defRPr sz="3150" b="1">
                <a:solidFill>
                  <a:srgbClr val="15243B"/>
                </a:solidFill>
                <a:latin typeface="AppleGothic"/>
                <a:ea typeface="AppleGothic"/>
                <a:cs typeface="AppleGothic"/>
              </a:defRPr>
            </a:pPr>
            <a:r>
              <a:rPr sz="3150" b="1">
                <a:solidFill>
                  <a:srgbClr val="15243B"/>
                </a:solidFill>
                <a:latin typeface="AppleGothic"/>
                <a:ea typeface="AppleGothic"/>
                <a:cs typeface="AppleGothic"/>
              </a:rPr>
              <a:t>Pseudo-LiDAR</a:t>
            </a:r>
          </a:p>
        </p:txBody>
      </p:sp>
      <p:sp>
        <p:nvSpPr>
          <p:cNvPr id="2" name="">
            <a:extLst xmlns:a="http://schemas.openxmlformats.org/drawingml/2006/main">
              <a:ext uri="{FF2B5EF4-FFF2-40B4-BE49-F238E27FC236}">
                <a16:creationId xmlns:a16="http://schemas.microsoft.com/office/drawing/2014/main" id="{CA2D39B2-B90E-4A0B-9697-9F78E580F0EB}"/>
              </a:ext>
            </a:extLst>
          </p:cNvPr>
          <p:cNvSpPr>
            <a:spLocks xmlns:a="http://schemas.openxmlformats.org/drawingml/2006/main" noGrp="1"/>
          </p:cNvSpPr>
          <p:nvPr/>
        </p:nvSpPr>
        <p:spPr>
          <a:xfrm xmlns:a="http://schemas.openxmlformats.org/drawingml/2006/main">
            <a:off x="533400" y="1066800"/>
            <a:ext cx="111252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1">
                <a:solidFill>
                  <a:srgbClr val="2164CB"/>
                </a:solidFill>
                <a:latin typeface="AppleGothic"/>
                <a:ea typeface="AppleGothic"/>
                <a:cs typeface="AppleGothic"/>
              </a:defRPr>
            </a:defPPr>
            <a:lvl1pPr>
              <a:defRPr sz="2175" b="1">
                <a:solidFill>
                  <a:srgbClr val="2164CB"/>
                </a:solidFill>
                <a:latin typeface="AppleGothic"/>
                <a:ea typeface="AppleGothic"/>
                <a:cs typeface="AppleGothic"/>
              </a:defRPr>
            </a:lvl1pPr>
            <a:lvl2pPr>
              <a:defRPr sz="2175" b="1">
                <a:solidFill>
                  <a:srgbClr val="2164CB"/>
                </a:solidFill>
                <a:latin typeface="AppleGothic"/>
                <a:ea typeface="AppleGothic"/>
                <a:cs typeface="AppleGothic"/>
              </a:defRPr>
            </a:lvl2pPr>
            <a:lvl3pPr>
              <a:defRPr sz="2175" b="1">
                <a:solidFill>
                  <a:srgbClr val="2164CB"/>
                </a:solidFill>
                <a:latin typeface="AppleGothic"/>
                <a:ea typeface="AppleGothic"/>
                <a:cs typeface="AppleGothic"/>
              </a:defRPr>
            </a:lvl3pPr>
            <a:lvl4pPr>
              <a:defRPr sz="2175" b="1">
                <a:solidFill>
                  <a:srgbClr val="2164CB"/>
                </a:solidFill>
                <a:latin typeface="AppleGothic"/>
                <a:ea typeface="AppleGothic"/>
                <a:cs typeface="AppleGothic"/>
              </a:defRPr>
            </a:lvl4pPr>
            <a:lvl5pPr>
              <a:defRPr sz="2175" b="1">
                <a:solidFill>
                  <a:srgbClr val="2164CB"/>
                </a:solidFill>
                <a:latin typeface="AppleGothic"/>
                <a:ea typeface="AppleGothic"/>
                <a:cs typeface="AppleGothic"/>
              </a:defRPr>
            </a:lvl5pPr>
            <a:lvl6pPr>
              <a:defRPr sz="2175" b="1">
                <a:solidFill>
                  <a:srgbClr val="2164CB"/>
                </a:solidFill>
                <a:latin typeface="AppleGothic"/>
                <a:ea typeface="AppleGothic"/>
                <a:cs typeface="AppleGothic"/>
              </a:defRPr>
            </a:lvl6pPr>
            <a:lvl7pPr>
              <a:defRPr sz="2175" b="1">
                <a:solidFill>
                  <a:srgbClr val="2164CB"/>
                </a:solidFill>
                <a:latin typeface="AppleGothic"/>
                <a:ea typeface="AppleGothic"/>
                <a:cs typeface="AppleGothic"/>
              </a:defRPr>
            </a:lvl7pPr>
            <a:lvl8pPr>
              <a:defRPr sz="2175" b="1">
                <a:solidFill>
                  <a:srgbClr val="2164CB"/>
                </a:solidFill>
                <a:latin typeface="AppleGothic"/>
                <a:ea typeface="AppleGothic"/>
                <a:cs typeface="AppleGothic"/>
              </a:defRPr>
            </a:lvl8pPr>
            <a:lvl9pPr>
              <a:defRPr sz="2175" b="1">
                <a:solidFill>
                  <a:srgbClr val="2164CB"/>
                </a:solidFill>
                <a:latin typeface="AppleGothic"/>
                <a:ea typeface="AppleGothic"/>
                <a:cs typeface="AppleGothic"/>
              </a:defRPr>
            </a:lvl9pPr>
          </a:lstStyle>
          <a:p xmlns:a="http://schemas.openxmlformats.org/drawingml/2006/main">
            <a:pPr>
              <a:defRPr sz="2175" b="1">
                <a:solidFill>
                  <a:srgbClr val="2164CB"/>
                </a:solidFill>
                <a:latin typeface="AppleGothic"/>
                <a:ea typeface="AppleGothic"/>
                <a:cs typeface="AppleGothic"/>
              </a:defRPr>
            </a:pPr>
            <a:r>
              <a:rPr sz="2175" b="1">
                <a:solidFill>
                  <a:srgbClr val="2164CB"/>
                </a:solidFill>
                <a:latin typeface="AppleGothic"/>
                <a:ea typeface="AppleGothic"/>
                <a:cs typeface="AppleGothic"/>
              </a:rPr>
              <a:t>Pseudo-LiDAR는 예측 depth를 metric 3D point cloud로 역투영한다</a:t>
            </a:r>
          </a:p>
        </p:txBody>
      </p:sp>
      <p:pic>
        <p:nvPicPr>
          <p:cNvPr id="3" name="">
            <a:extLst xmlns:a="http://schemas.openxmlformats.org/drawingml/2006/main">
              <a:ext uri="{FF2B5EF4-FFF2-40B4-BE49-F238E27FC236}">
                <a16:creationId xmlns:a16="http://schemas.microsoft.com/office/drawing/2014/main" id="{4BE567B4-F70C-4432-834A-31281695C0F6}"/>
              </a:ext>
            </a:extLst>
          </p:cNvPr>
          <p:cNvPicPr>
            <a:picLocks xmlns:a="http://schemas.openxmlformats.org/drawingml/2006/main" noChangeAspect="1"/>
          </p:cNvPicPr>
          <p:nvPr/>
        </p:nvPicPr>
        <p:blipFill>
          <a:blip xmlns:r="http://schemas.openxmlformats.org/officeDocument/2006/relationships" xmlns:a="http://schemas.openxmlformats.org/drawingml/2006/main" r:embed="R89677f85d4a94f40"/>
          <a:stretch xmlns:a="http://schemas.openxmlformats.org/drawingml/2006/main"/>
        </p:blipFill>
        <p:spPr>
          <a:xfrm xmlns:a="http://schemas.openxmlformats.org/drawingml/2006/main">
            <a:off x="806940" y="2057400"/>
            <a:ext cx="6596670" cy="3714750"/>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89EE63E5-0C7A-47A4-8B92-481D9737408A}"/>
              </a:ext>
            </a:extLst>
          </p:cNvPr>
          <p:cNvSpPr>
            <a:spLocks xmlns:a="http://schemas.openxmlformats.org/drawingml/2006/main" noGrp="1"/>
          </p:cNvSpPr>
          <p:nvPr/>
        </p:nvSpPr>
        <p:spPr>
          <a:xfrm xmlns:a="http://schemas.openxmlformats.org/drawingml/2006/main">
            <a:off x="7981950" y="2114550"/>
            <a:ext cx="3676650" cy="3667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75" b="0">
                <a:solidFill>
                  <a:srgbClr val="15243B"/>
                </a:solidFill>
                <a:latin typeface="AppleGothic"/>
                <a:ea typeface="AppleGothic"/>
                <a:cs typeface="AppleGothic"/>
              </a:defRPr>
            </a:defPPr>
            <a:lvl1pPr>
              <a:defRPr sz="1875" b="0">
                <a:solidFill>
                  <a:srgbClr val="15243B"/>
                </a:solidFill>
                <a:latin typeface="AppleGothic"/>
                <a:ea typeface="AppleGothic"/>
                <a:cs typeface="AppleGothic"/>
              </a:defRPr>
            </a:lvl1pPr>
            <a:lvl2pPr>
              <a:defRPr sz="1875" b="0">
                <a:solidFill>
                  <a:srgbClr val="15243B"/>
                </a:solidFill>
                <a:latin typeface="AppleGothic"/>
                <a:ea typeface="AppleGothic"/>
                <a:cs typeface="AppleGothic"/>
              </a:defRPr>
            </a:lvl2pPr>
            <a:lvl3pPr>
              <a:defRPr sz="1875" b="0">
                <a:solidFill>
                  <a:srgbClr val="15243B"/>
                </a:solidFill>
                <a:latin typeface="AppleGothic"/>
                <a:ea typeface="AppleGothic"/>
                <a:cs typeface="AppleGothic"/>
              </a:defRPr>
            </a:lvl3pPr>
            <a:lvl4pPr>
              <a:defRPr sz="1875" b="0">
                <a:solidFill>
                  <a:srgbClr val="15243B"/>
                </a:solidFill>
                <a:latin typeface="AppleGothic"/>
                <a:ea typeface="AppleGothic"/>
                <a:cs typeface="AppleGothic"/>
              </a:defRPr>
            </a:lvl4pPr>
            <a:lvl5pPr>
              <a:defRPr sz="1875" b="0">
                <a:solidFill>
                  <a:srgbClr val="15243B"/>
                </a:solidFill>
                <a:latin typeface="AppleGothic"/>
                <a:ea typeface="AppleGothic"/>
                <a:cs typeface="AppleGothic"/>
              </a:defRPr>
            </a:lvl5pPr>
            <a:lvl6pPr>
              <a:defRPr sz="1875" b="0">
                <a:solidFill>
                  <a:srgbClr val="15243B"/>
                </a:solidFill>
                <a:latin typeface="AppleGothic"/>
                <a:ea typeface="AppleGothic"/>
                <a:cs typeface="AppleGothic"/>
              </a:defRPr>
            </a:lvl6pPr>
            <a:lvl7pPr>
              <a:defRPr sz="1875" b="0">
                <a:solidFill>
                  <a:srgbClr val="15243B"/>
                </a:solidFill>
                <a:latin typeface="AppleGothic"/>
                <a:ea typeface="AppleGothic"/>
                <a:cs typeface="AppleGothic"/>
              </a:defRPr>
            </a:lvl7pPr>
            <a:lvl8pPr>
              <a:defRPr sz="1875" b="0">
                <a:solidFill>
                  <a:srgbClr val="15243B"/>
                </a:solidFill>
                <a:latin typeface="AppleGothic"/>
                <a:ea typeface="AppleGothic"/>
                <a:cs typeface="AppleGothic"/>
              </a:defRPr>
            </a:lvl8pPr>
            <a:lvl9pPr>
              <a:defRPr sz="1875" b="0">
                <a:solidFill>
                  <a:srgbClr val="15243B"/>
                </a:solidFill>
                <a:latin typeface="AppleGothic"/>
                <a:ea typeface="AppleGothic"/>
                <a:cs typeface="AppleGothic"/>
              </a:defRPr>
            </a:lvl9pPr>
          </a:lstStyle>
          <a:p xmlns:a="http://schemas.openxmlformats.org/drawingml/2006/main">
            <a:pPr>
              <a:defRPr sz="1875" b="0">
                <a:solidFill>
                  <a:srgbClr val="15243B"/>
                </a:solidFill>
                <a:latin typeface="AppleGothic"/>
                <a:ea typeface="AppleGothic"/>
                <a:cs typeface="AppleGothic"/>
              </a:defRPr>
            </a:pPr>
            <a:r>
              <a:rPr sz="1875" b="0">
                <a:solidFill>
                  <a:srgbClr val="15243B"/>
                </a:solidFill>
                <a:latin typeface="AppleGothic"/>
                <a:ea typeface="AppleGothic"/>
                <a:cs typeface="AppleGothic"/>
              </a:rPr>
              <a:t>Image grid보다 3D 이웃 관계를 드러내 LiDAR detector를 적용할 수 있다.</a:t>
            </a:r>
          </a:p>
          <a:p xmlns:a="http://schemas.openxmlformats.org/drawingml/2006/main">
            <a:r>
              <a:t/>
            </a:r>
          </a:p>
          <a:p xmlns:a="http://schemas.openxmlformats.org/drawingml/2006/main">
            <a:pPr>
              <a:defRPr sz="1875" b="0">
                <a:solidFill>
                  <a:srgbClr val="15243B"/>
                </a:solidFill>
                <a:latin typeface="AppleGothic"/>
                <a:ea typeface="AppleGothic"/>
                <a:cs typeface="AppleGothic"/>
              </a:defRPr>
            </a:pPr>
            <a:r>
              <a:rPr sz="1875" b="0">
                <a:solidFill>
                  <a:srgbClr val="15243B"/>
                </a:solidFill>
                <a:latin typeface="AppleGothic"/>
                <a:ea typeface="AppleGothic"/>
                <a:cs typeface="AppleGothic"/>
              </a:rPr>
              <a:t>표현을 바꿔도 잘못 추정한 depth와 calibration 오차는 그대로 남는다.</a:t>
            </a:r>
          </a:p>
        </p:txBody>
      </p:sp>
      <p:sp>
        <p:nvSpPr>
          <p:cNvPr id="5" name="">
            <a:extLst xmlns:a="http://schemas.openxmlformats.org/drawingml/2006/main">
              <a:ext uri="{FF2B5EF4-FFF2-40B4-BE49-F238E27FC236}">
                <a16:creationId xmlns:a16="http://schemas.microsoft.com/office/drawing/2014/main" id="{F982B54B-1B4C-45F3-AD11-AB2372374549}"/>
              </a:ext>
            </a:extLst>
          </p:cNvPr>
          <p:cNvSpPr>
            <a:spLocks xmlns:a="http://schemas.openxmlformats.org/drawingml/2006/main" noGrp="1"/>
          </p:cNvSpPr>
          <p:nvPr/>
        </p:nvSpPr>
        <p:spPr>
          <a:xfrm xmlns:a="http://schemas.openxmlformats.org/drawingml/2006/main">
            <a:off x="533400" y="5895975"/>
            <a:ext cx="1112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526378"/>
                </a:solidFill>
                <a:latin typeface="AppleGothic"/>
                <a:ea typeface="AppleGothic"/>
                <a:cs typeface="AppleGothic"/>
              </a:defRPr>
            </a:defPPr>
            <a:lvl1pPr>
              <a:defRPr sz="1350" b="0">
                <a:solidFill>
                  <a:srgbClr val="526378"/>
                </a:solidFill>
                <a:latin typeface="AppleGothic"/>
                <a:ea typeface="AppleGothic"/>
                <a:cs typeface="AppleGothic"/>
              </a:defRPr>
            </a:lvl1pPr>
            <a:lvl2pPr>
              <a:defRPr sz="1350" b="0">
                <a:solidFill>
                  <a:srgbClr val="526378"/>
                </a:solidFill>
                <a:latin typeface="AppleGothic"/>
                <a:ea typeface="AppleGothic"/>
                <a:cs typeface="AppleGothic"/>
              </a:defRPr>
            </a:lvl2pPr>
            <a:lvl3pPr>
              <a:defRPr sz="1350" b="0">
                <a:solidFill>
                  <a:srgbClr val="526378"/>
                </a:solidFill>
                <a:latin typeface="AppleGothic"/>
                <a:ea typeface="AppleGothic"/>
                <a:cs typeface="AppleGothic"/>
              </a:defRPr>
            </a:lvl3pPr>
            <a:lvl4pPr>
              <a:defRPr sz="1350" b="0">
                <a:solidFill>
                  <a:srgbClr val="526378"/>
                </a:solidFill>
                <a:latin typeface="AppleGothic"/>
                <a:ea typeface="AppleGothic"/>
                <a:cs typeface="AppleGothic"/>
              </a:defRPr>
            </a:lvl4pPr>
            <a:lvl5pPr>
              <a:defRPr sz="1350" b="0">
                <a:solidFill>
                  <a:srgbClr val="526378"/>
                </a:solidFill>
                <a:latin typeface="AppleGothic"/>
                <a:ea typeface="AppleGothic"/>
                <a:cs typeface="AppleGothic"/>
              </a:defRPr>
            </a:lvl5pPr>
            <a:lvl6pPr>
              <a:defRPr sz="1350" b="0">
                <a:solidFill>
                  <a:srgbClr val="526378"/>
                </a:solidFill>
                <a:latin typeface="AppleGothic"/>
                <a:ea typeface="AppleGothic"/>
                <a:cs typeface="AppleGothic"/>
              </a:defRPr>
            </a:lvl6pPr>
            <a:lvl7pPr>
              <a:defRPr sz="1350" b="0">
                <a:solidFill>
                  <a:srgbClr val="526378"/>
                </a:solidFill>
                <a:latin typeface="AppleGothic"/>
                <a:ea typeface="AppleGothic"/>
                <a:cs typeface="AppleGothic"/>
              </a:defRPr>
            </a:lvl7pPr>
            <a:lvl8pPr>
              <a:defRPr sz="1350" b="0">
                <a:solidFill>
                  <a:srgbClr val="526378"/>
                </a:solidFill>
                <a:latin typeface="AppleGothic"/>
                <a:ea typeface="AppleGothic"/>
                <a:cs typeface="AppleGothic"/>
              </a:defRPr>
            </a:lvl8pPr>
            <a:lvl9pPr>
              <a:defRPr sz="1350" b="0">
                <a:solidFill>
                  <a:srgbClr val="526378"/>
                </a:solidFill>
                <a:latin typeface="AppleGothic"/>
                <a:ea typeface="AppleGothic"/>
                <a:cs typeface="AppleGothic"/>
              </a:defRPr>
            </a:lvl9pPr>
          </a:lstStyle>
          <a:p xmlns:a="http://schemas.openxmlformats.org/drawingml/2006/main">
            <a:pPr>
              <a:defRPr sz="1350" b="0">
                <a:solidFill>
                  <a:srgbClr val="526378"/>
                </a:solidFill>
                <a:latin typeface="AppleGothic"/>
                <a:ea typeface="AppleGothic"/>
                <a:cs typeface="AppleGothic"/>
              </a:defRPr>
            </a:pPr>
            <a:r>
              <a:rPr sz="1350" b="0">
                <a:solidFill>
                  <a:srgbClr val="526378"/>
                </a:solidFill>
                <a:latin typeface="AppleGothic"/>
                <a:ea typeface="AppleGothic"/>
                <a:cs typeface="AppleGothic"/>
              </a:rPr>
              <a:t>Lecture 9, p. 36. Image depth to pseudo point cloud and 3D detector</a:t>
            </a:r>
          </a:p>
        </p:txBody>
      </p:sp>
      <p:sp>
        <p:nvSpPr>
          <p:cNvPr id="6" name="">
            <a:extLst xmlns:a="http://schemas.openxmlformats.org/drawingml/2006/main">
              <a:ext uri="{FF2B5EF4-FFF2-40B4-BE49-F238E27FC236}">
                <a16:creationId xmlns:a16="http://schemas.microsoft.com/office/drawing/2014/main" id="{D54F7B88-12D2-456D-8DAE-A4105246CA1B}"/>
              </a:ext>
            </a:extLst>
          </p:cNvPr>
          <p:cNvSpPr>
            <a:spLocks xmlns:a="http://schemas.openxmlformats.org/drawingml/2006/main" noGrp="1"/>
          </p:cNvSpPr>
          <p:nvPr/>
        </p:nvSpPr>
        <p:spPr>
          <a:xfrm xmlns:a="http://schemas.openxmlformats.org/drawingml/2006/main">
            <a:off x="11144250" y="6400800"/>
            <a:ext cx="5143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62748C"/>
                </a:solidFill>
                <a:latin typeface="AppleGothic"/>
                <a:ea typeface="AppleGothic"/>
                <a:cs typeface="AppleGothic"/>
              </a:defRPr>
            </a:defPPr>
            <a:lvl1pPr>
              <a:defRPr sz="1350" b="0">
                <a:solidFill>
                  <a:srgbClr val="62748C"/>
                </a:solidFill>
                <a:latin typeface="AppleGothic"/>
                <a:ea typeface="AppleGothic"/>
                <a:cs typeface="AppleGothic"/>
              </a:defRPr>
            </a:lvl1pPr>
            <a:lvl2pPr>
              <a:defRPr sz="1350" b="0">
                <a:solidFill>
                  <a:srgbClr val="62748C"/>
                </a:solidFill>
                <a:latin typeface="AppleGothic"/>
                <a:ea typeface="AppleGothic"/>
                <a:cs typeface="AppleGothic"/>
              </a:defRPr>
            </a:lvl2pPr>
            <a:lvl3pPr>
              <a:defRPr sz="1350" b="0">
                <a:solidFill>
                  <a:srgbClr val="62748C"/>
                </a:solidFill>
                <a:latin typeface="AppleGothic"/>
                <a:ea typeface="AppleGothic"/>
                <a:cs typeface="AppleGothic"/>
              </a:defRPr>
            </a:lvl3pPr>
            <a:lvl4pPr>
              <a:defRPr sz="1350" b="0">
                <a:solidFill>
                  <a:srgbClr val="62748C"/>
                </a:solidFill>
                <a:latin typeface="AppleGothic"/>
                <a:ea typeface="AppleGothic"/>
                <a:cs typeface="AppleGothic"/>
              </a:defRPr>
            </a:lvl4pPr>
            <a:lvl5pPr>
              <a:defRPr sz="1350" b="0">
                <a:solidFill>
                  <a:srgbClr val="62748C"/>
                </a:solidFill>
                <a:latin typeface="AppleGothic"/>
                <a:ea typeface="AppleGothic"/>
                <a:cs typeface="AppleGothic"/>
              </a:defRPr>
            </a:lvl5pPr>
            <a:lvl6pPr>
              <a:defRPr sz="1350" b="0">
                <a:solidFill>
                  <a:srgbClr val="62748C"/>
                </a:solidFill>
                <a:latin typeface="AppleGothic"/>
                <a:ea typeface="AppleGothic"/>
                <a:cs typeface="AppleGothic"/>
              </a:defRPr>
            </a:lvl6pPr>
            <a:lvl7pPr>
              <a:defRPr sz="1350" b="0">
                <a:solidFill>
                  <a:srgbClr val="62748C"/>
                </a:solidFill>
                <a:latin typeface="AppleGothic"/>
                <a:ea typeface="AppleGothic"/>
                <a:cs typeface="AppleGothic"/>
              </a:defRPr>
            </a:lvl7pPr>
            <a:lvl8pPr>
              <a:defRPr sz="1350" b="0">
                <a:solidFill>
                  <a:srgbClr val="62748C"/>
                </a:solidFill>
                <a:latin typeface="AppleGothic"/>
                <a:ea typeface="AppleGothic"/>
                <a:cs typeface="AppleGothic"/>
              </a:defRPr>
            </a:lvl8pPr>
            <a:lvl9pPr>
              <a:defRPr sz="1350" b="0">
                <a:solidFill>
                  <a:srgbClr val="62748C"/>
                </a:solidFill>
                <a:latin typeface="AppleGothic"/>
                <a:ea typeface="AppleGothic"/>
                <a:cs typeface="AppleGothic"/>
              </a:defRPr>
            </a:lvl9pPr>
          </a:lstStyle>
          <a:p xmlns:a="http://schemas.openxmlformats.org/drawingml/2006/main">
            <a:pPr>
              <a:defRPr sz="1350" b="0">
                <a:solidFill>
                  <a:srgbClr val="62748C"/>
                </a:solidFill>
                <a:latin typeface="AppleGothic"/>
                <a:ea typeface="AppleGothic"/>
                <a:cs typeface="AppleGothic"/>
              </a:defRPr>
            </a:pPr>
            <a:r>
              <a:rPr sz="1350" b="0">
                <a:solidFill>
                  <a:srgbClr val="62748C"/>
                </a:solidFill>
                <a:latin typeface="AppleGothic"/>
                <a:ea typeface="AppleGothic"/>
                <a:cs typeface="AppleGothic"/>
              </a:rPr>
              <a:t>18</a:t>
            </a:r>
          </a:p>
        </p:txBody>
      </p:sp>
    </p:spTree>
    <p:extLst>
      <p:ext uri="{BB962C8B-B14F-4D97-AF65-F5344CB8AC3E}">
        <p14:creationId xmlns:p14="http://schemas.microsoft.com/office/powerpoint/2010/main" val="80318074"/>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D3294C9-DBD0-4CA2-B3B1-8BBF7179D317}"/>
              </a:ext>
            </a:extLst>
          </p:cNvPr>
          <p:cNvSpPr>
            <a:spLocks xmlns:a="http://schemas.openxmlformats.org/drawingml/2006/main" noGrp="1"/>
          </p:cNvSpPr>
          <p:nvPr/>
        </p:nvSpPr>
        <p:spPr>
          <a:xfrm xmlns:a="http://schemas.openxmlformats.org/drawingml/2006/main">
            <a:off x="533400" y="342900"/>
            <a:ext cx="111252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150" b="1">
                <a:solidFill>
                  <a:srgbClr val="15243B"/>
                </a:solidFill>
                <a:latin typeface="AppleGothic"/>
                <a:ea typeface="AppleGothic"/>
                <a:cs typeface="AppleGothic"/>
              </a:defRPr>
            </a:defPPr>
            <a:lvl1pPr>
              <a:defRPr sz="3150" b="1">
                <a:solidFill>
                  <a:srgbClr val="15243B"/>
                </a:solidFill>
                <a:latin typeface="AppleGothic"/>
                <a:ea typeface="AppleGothic"/>
                <a:cs typeface="AppleGothic"/>
              </a:defRPr>
            </a:lvl1pPr>
            <a:lvl2pPr>
              <a:defRPr sz="3150" b="1">
                <a:solidFill>
                  <a:srgbClr val="15243B"/>
                </a:solidFill>
                <a:latin typeface="AppleGothic"/>
                <a:ea typeface="AppleGothic"/>
                <a:cs typeface="AppleGothic"/>
              </a:defRPr>
            </a:lvl2pPr>
            <a:lvl3pPr>
              <a:defRPr sz="3150" b="1">
                <a:solidFill>
                  <a:srgbClr val="15243B"/>
                </a:solidFill>
                <a:latin typeface="AppleGothic"/>
                <a:ea typeface="AppleGothic"/>
                <a:cs typeface="AppleGothic"/>
              </a:defRPr>
            </a:lvl3pPr>
            <a:lvl4pPr>
              <a:defRPr sz="3150" b="1">
                <a:solidFill>
                  <a:srgbClr val="15243B"/>
                </a:solidFill>
                <a:latin typeface="AppleGothic"/>
                <a:ea typeface="AppleGothic"/>
                <a:cs typeface="AppleGothic"/>
              </a:defRPr>
            </a:lvl4pPr>
            <a:lvl5pPr>
              <a:defRPr sz="3150" b="1">
                <a:solidFill>
                  <a:srgbClr val="15243B"/>
                </a:solidFill>
                <a:latin typeface="AppleGothic"/>
                <a:ea typeface="AppleGothic"/>
                <a:cs typeface="AppleGothic"/>
              </a:defRPr>
            </a:lvl5pPr>
            <a:lvl6pPr>
              <a:defRPr sz="3150" b="1">
                <a:solidFill>
                  <a:srgbClr val="15243B"/>
                </a:solidFill>
                <a:latin typeface="AppleGothic"/>
                <a:ea typeface="AppleGothic"/>
                <a:cs typeface="AppleGothic"/>
              </a:defRPr>
            </a:lvl6pPr>
            <a:lvl7pPr>
              <a:defRPr sz="3150" b="1">
                <a:solidFill>
                  <a:srgbClr val="15243B"/>
                </a:solidFill>
                <a:latin typeface="AppleGothic"/>
                <a:ea typeface="AppleGothic"/>
                <a:cs typeface="AppleGothic"/>
              </a:defRPr>
            </a:lvl7pPr>
            <a:lvl8pPr>
              <a:defRPr sz="3150" b="1">
                <a:solidFill>
                  <a:srgbClr val="15243B"/>
                </a:solidFill>
                <a:latin typeface="AppleGothic"/>
                <a:ea typeface="AppleGothic"/>
                <a:cs typeface="AppleGothic"/>
              </a:defRPr>
            </a:lvl8pPr>
            <a:lvl9pPr>
              <a:defRPr sz="3150" b="1">
                <a:solidFill>
                  <a:srgbClr val="15243B"/>
                </a:solidFill>
                <a:latin typeface="AppleGothic"/>
                <a:ea typeface="AppleGothic"/>
                <a:cs typeface="AppleGothic"/>
              </a:defRPr>
            </a:lvl9pPr>
          </a:lstStyle>
          <a:p xmlns:a="http://schemas.openxmlformats.org/drawingml/2006/main">
            <a:pPr>
              <a:defRPr sz="3150" b="1">
                <a:solidFill>
                  <a:srgbClr val="15243B"/>
                </a:solidFill>
                <a:latin typeface="AppleGothic"/>
                <a:ea typeface="AppleGothic"/>
                <a:cs typeface="AppleGothic"/>
              </a:defRPr>
            </a:pPr>
            <a:r>
              <a:rPr sz="3150" b="1">
                <a:solidFill>
                  <a:srgbClr val="15243B"/>
                </a:solidFill>
                <a:latin typeface="AppleGothic"/>
                <a:ea typeface="AppleGothic"/>
                <a:cs typeface="AppleGothic"/>
              </a:rPr>
              <a:t>PointNet</a:t>
            </a:r>
          </a:p>
        </p:txBody>
      </p:sp>
      <p:sp>
        <p:nvSpPr>
          <p:cNvPr id="2" name="">
            <a:extLst xmlns:a="http://schemas.openxmlformats.org/drawingml/2006/main">
              <a:ext uri="{FF2B5EF4-FFF2-40B4-BE49-F238E27FC236}">
                <a16:creationId xmlns:a16="http://schemas.microsoft.com/office/drawing/2014/main" id="{5E0980A9-6CEE-41C1-B655-FEBF33D41588}"/>
              </a:ext>
            </a:extLst>
          </p:cNvPr>
          <p:cNvSpPr>
            <a:spLocks xmlns:a="http://schemas.openxmlformats.org/drawingml/2006/main" noGrp="1"/>
          </p:cNvSpPr>
          <p:nvPr/>
        </p:nvSpPr>
        <p:spPr>
          <a:xfrm xmlns:a="http://schemas.openxmlformats.org/drawingml/2006/main">
            <a:off x="533400" y="1066800"/>
            <a:ext cx="111252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1">
                <a:solidFill>
                  <a:srgbClr val="2164CB"/>
                </a:solidFill>
                <a:latin typeface="AppleGothic"/>
                <a:ea typeface="AppleGothic"/>
                <a:cs typeface="AppleGothic"/>
              </a:defRPr>
            </a:defPPr>
            <a:lvl1pPr>
              <a:defRPr sz="2175" b="1">
                <a:solidFill>
                  <a:srgbClr val="2164CB"/>
                </a:solidFill>
                <a:latin typeface="AppleGothic"/>
                <a:ea typeface="AppleGothic"/>
                <a:cs typeface="AppleGothic"/>
              </a:defRPr>
            </a:lvl1pPr>
            <a:lvl2pPr>
              <a:defRPr sz="2175" b="1">
                <a:solidFill>
                  <a:srgbClr val="2164CB"/>
                </a:solidFill>
                <a:latin typeface="AppleGothic"/>
                <a:ea typeface="AppleGothic"/>
                <a:cs typeface="AppleGothic"/>
              </a:defRPr>
            </a:lvl2pPr>
            <a:lvl3pPr>
              <a:defRPr sz="2175" b="1">
                <a:solidFill>
                  <a:srgbClr val="2164CB"/>
                </a:solidFill>
                <a:latin typeface="AppleGothic"/>
                <a:ea typeface="AppleGothic"/>
                <a:cs typeface="AppleGothic"/>
              </a:defRPr>
            </a:lvl3pPr>
            <a:lvl4pPr>
              <a:defRPr sz="2175" b="1">
                <a:solidFill>
                  <a:srgbClr val="2164CB"/>
                </a:solidFill>
                <a:latin typeface="AppleGothic"/>
                <a:ea typeface="AppleGothic"/>
                <a:cs typeface="AppleGothic"/>
              </a:defRPr>
            </a:lvl4pPr>
            <a:lvl5pPr>
              <a:defRPr sz="2175" b="1">
                <a:solidFill>
                  <a:srgbClr val="2164CB"/>
                </a:solidFill>
                <a:latin typeface="AppleGothic"/>
                <a:ea typeface="AppleGothic"/>
                <a:cs typeface="AppleGothic"/>
              </a:defRPr>
            </a:lvl5pPr>
            <a:lvl6pPr>
              <a:defRPr sz="2175" b="1">
                <a:solidFill>
                  <a:srgbClr val="2164CB"/>
                </a:solidFill>
                <a:latin typeface="AppleGothic"/>
                <a:ea typeface="AppleGothic"/>
                <a:cs typeface="AppleGothic"/>
              </a:defRPr>
            </a:lvl6pPr>
            <a:lvl7pPr>
              <a:defRPr sz="2175" b="1">
                <a:solidFill>
                  <a:srgbClr val="2164CB"/>
                </a:solidFill>
                <a:latin typeface="AppleGothic"/>
                <a:ea typeface="AppleGothic"/>
                <a:cs typeface="AppleGothic"/>
              </a:defRPr>
            </a:lvl7pPr>
            <a:lvl8pPr>
              <a:defRPr sz="2175" b="1">
                <a:solidFill>
                  <a:srgbClr val="2164CB"/>
                </a:solidFill>
                <a:latin typeface="AppleGothic"/>
                <a:ea typeface="AppleGothic"/>
                <a:cs typeface="AppleGothic"/>
              </a:defRPr>
            </a:lvl8pPr>
            <a:lvl9pPr>
              <a:defRPr sz="2175" b="1">
                <a:solidFill>
                  <a:srgbClr val="2164CB"/>
                </a:solidFill>
                <a:latin typeface="AppleGothic"/>
                <a:ea typeface="AppleGothic"/>
                <a:cs typeface="AppleGothic"/>
              </a:defRPr>
            </a:lvl9pPr>
          </a:lstStyle>
          <a:p xmlns:a="http://schemas.openxmlformats.org/drawingml/2006/main">
            <a:pPr>
              <a:defRPr sz="2175" b="1">
                <a:solidFill>
                  <a:srgbClr val="2164CB"/>
                </a:solidFill>
                <a:latin typeface="AppleGothic"/>
                <a:ea typeface="AppleGothic"/>
                <a:cs typeface="AppleGothic"/>
              </a:defRPr>
            </a:pPr>
            <a:r>
              <a:rPr sz="2175" b="1">
                <a:solidFill>
                  <a:srgbClr val="2164CB"/>
                </a:solidFill>
                <a:latin typeface="AppleGothic"/>
                <a:ea typeface="AppleGothic"/>
                <a:cs typeface="AppleGothic"/>
              </a:rPr>
              <a:t>Shared MLP과 symmetric max pooling이 point 순서에 무관한 global feature를 만든다</a:t>
            </a:r>
          </a:p>
        </p:txBody>
      </p:sp>
      <p:pic>
        <p:nvPicPr>
          <p:cNvPr id="3" name="">
            <a:extLst xmlns:a="http://schemas.openxmlformats.org/drawingml/2006/main">
              <a:ext uri="{FF2B5EF4-FFF2-40B4-BE49-F238E27FC236}">
                <a16:creationId xmlns:a16="http://schemas.microsoft.com/office/drawing/2014/main" id="{7F9D80DC-4EE5-42D0-B700-AFF2E5EEFF37}"/>
              </a:ext>
            </a:extLst>
          </p:cNvPr>
          <p:cNvPicPr>
            <a:picLocks xmlns:a="http://schemas.openxmlformats.org/drawingml/2006/main" noChangeAspect="1"/>
          </p:cNvPicPr>
          <p:nvPr/>
        </p:nvPicPr>
        <p:blipFill>
          <a:blip xmlns:r="http://schemas.openxmlformats.org/officeDocument/2006/relationships" xmlns:a="http://schemas.openxmlformats.org/drawingml/2006/main" r:embed="Rfd15f5f6ab5e4498"/>
          <a:stretch xmlns:a="http://schemas.openxmlformats.org/drawingml/2006/main"/>
        </p:blipFill>
        <p:spPr>
          <a:xfrm xmlns:a="http://schemas.openxmlformats.org/drawingml/2006/main">
            <a:off x="806940" y="2057400"/>
            <a:ext cx="6596670" cy="3714750"/>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8BFA69CD-E0E6-46CF-9F8D-040D3C965673}"/>
              </a:ext>
            </a:extLst>
          </p:cNvPr>
          <p:cNvSpPr>
            <a:spLocks xmlns:a="http://schemas.openxmlformats.org/drawingml/2006/main" noGrp="1"/>
          </p:cNvSpPr>
          <p:nvPr/>
        </p:nvSpPr>
        <p:spPr>
          <a:xfrm xmlns:a="http://schemas.openxmlformats.org/drawingml/2006/main">
            <a:off x="7981950" y="2114550"/>
            <a:ext cx="3676650" cy="3667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75" b="0">
                <a:solidFill>
                  <a:srgbClr val="15243B"/>
                </a:solidFill>
                <a:latin typeface="AppleGothic"/>
                <a:ea typeface="AppleGothic"/>
                <a:cs typeface="AppleGothic"/>
              </a:defRPr>
            </a:defPPr>
            <a:lvl1pPr>
              <a:defRPr sz="1875" b="0">
                <a:solidFill>
                  <a:srgbClr val="15243B"/>
                </a:solidFill>
                <a:latin typeface="AppleGothic"/>
                <a:ea typeface="AppleGothic"/>
                <a:cs typeface="AppleGothic"/>
              </a:defRPr>
            </a:lvl1pPr>
            <a:lvl2pPr>
              <a:defRPr sz="1875" b="0">
                <a:solidFill>
                  <a:srgbClr val="15243B"/>
                </a:solidFill>
                <a:latin typeface="AppleGothic"/>
                <a:ea typeface="AppleGothic"/>
                <a:cs typeface="AppleGothic"/>
              </a:defRPr>
            </a:lvl2pPr>
            <a:lvl3pPr>
              <a:defRPr sz="1875" b="0">
                <a:solidFill>
                  <a:srgbClr val="15243B"/>
                </a:solidFill>
                <a:latin typeface="AppleGothic"/>
                <a:ea typeface="AppleGothic"/>
                <a:cs typeface="AppleGothic"/>
              </a:defRPr>
            </a:lvl3pPr>
            <a:lvl4pPr>
              <a:defRPr sz="1875" b="0">
                <a:solidFill>
                  <a:srgbClr val="15243B"/>
                </a:solidFill>
                <a:latin typeface="AppleGothic"/>
                <a:ea typeface="AppleGothic"/>
                <a:cs typeface="AppleGothic"/>
              </a:defRPr>
            </a:lvl4pPr>
            <a:lvl5pPr>
              <a:defRPr sz="1875" b="0">
                <a:solidFill>
                  <a:srgbClr val="15243B"/>
                </a:solidFill>
                <a:latin typeface="AppleGothic"/>
                <a:ea typeface="AppleGothic"/>
                <a:cs typeface="AppleGothic"/>
              </a:defRPr>
            </a:lvl5pPr>
            <a:lvl6pPr>
              <a:defRPr sz="1875" b="0">
                <a:solidFill>
                  <a:srgbClr val="15243B"/>
                </a:solidFill>
                <a:latin typeface="AppleGothic"/>
                <a:ea typeface="AppleGothic"/>
                <a:cs typeface="AppleGothic"/>
              </a:defRPr>
            </a:lvl6pPr>
            <a:lvl7pPr>
              <a:defRPr sz="1875" b="0">
                <a:solidFill>
                  <a:srgbClr val="15243B"/>
                </a:solidFill>
                <a:latin typeface="AppleGothic"/>
                <a:ea typeface="AppleGothic"/>
                <a:cs typeface="AppleGothic"/>
              </a:defRPr>
            </a:lvl7pPr>
            <a:lvl8pPr>
              <a:defRPr sz="1875" b="0">
                <a:solidFill>
                  <a:srgbClr val="15243B"/>
                </a:solidFill>
                <a:latin typeface="AppleGothic"/>
                <a:ea typeface="AppleGothic"/>
                <a:cs typeface="AppleGothic"/>
              </a:defRPr>
            </a:lvl8pPr>
            <a:lvl9pPr>
              <a:defRPr sz="1875" b="0">
                <a:solidFill>
                  <a:srgbClr val="15243B"/>
                </a:solidFill>
                <a:latin typeface="AppleGothic"/>
                <a:ea typeface="AppleGothic"/>
                <a:cs typeface="AppleGothic"/>
              </a:defRPr>
            </a:lvl9pPr>
          </a:lstStyle>
          <a:p xmlns:a="http://schemas.openxmlformats.org/drawingml/2006/main">
            <a:pPr>
              <a:defRPr sz="1875" b="0">
                <a:solidFill>
                  <a:srgbClr val="15243B"/>
                </a:solidFill>
                <a:latin typeface="AppleGothic"/>
                <a:ea typeface="AppleGothic"/>
                <a:cs typeface="AppleGothic"/>
              </a:defRPr>
            </a:pPr>
            <a:r>
              <a:rPr sz="1875" b="0">
                <a:solidFill>
                  <a:srgbClr val="15243B"/>
                </a:solidFill>
                <a:latin typeface="AppleGothic"/>
                <a:ea typeface="AppleGothic"/>
                <a:cs typeface="AppleGothic"/>
              </a:rPr>
              <a:t>특징이 p1=(1,5), p2=(4,2), p3=(3,7)이면 max는 (4,7)이다.</a:t>
            </a:r>
          </a:p>
          <a:p xmlns:a="http://schemas.openxmlformats.org/drawingml/2006/main">
            <a:r>
              <a:t/>
            </a:r>
          </a:p>
          <a:p xmlns:a="http://schemas.openxmlformats.org/drawingml/2006/main">
            <a:pPr>
              <a:defRPr sz="1875" b="0">
                <a:solidFill>
                  <a:srgbClr val="15243B"/>
                </a:solidFill>
                <a:latin typeface="AppleGothic"/>
                <a:ea typeface="AppleGothic"/>
                <a:cs typeface="AppleGothic"/>
              </a:defRPr>
            </a:pPr>
            <a:r>
              <a:rPr sz="1875" b="0">
                <a:solidFill>
                  <a:srgbClr val="15243B"/>
                </a:solidFill>
                <a:latin typeface="AppleGothic"/>
                <a:ea typeface="AppleGothic"/>
                <a:cs typeface="AppleGothic"/>
              </a:rPr>
              <a:t>점 순서를 바꿔도 후보 값 집합과 max가 같지만 좌표 회전 불변성까지 보장하지는 않는다.</a:t>
            </a:r>
          </a:p>
        </p:txBody>
      </p:sp>
      <p:sp>
        <p:nvSpPr>
          <p:cNvPr id="5" name="">
            <a:extLst xmlns:a="http://schemas.openxmlformats.org/drawingml/2006/main">
              <a:ext uri="{FF2B5EF4-FFF2-40B4-BE49-F238E27FC236}">
                <a16:creationId xmlns:a16="http://schemas.microsoft.com/office/drawing/2014/main" id="{07FA9D90-6173-47DA-94C4-5AB7F034CE06}"/>
              </a:ext>
            </a:extLst>
          </p:cNvPr>
          <p:cNvSpPr>
            <a:spLocks xmlns:a="http://schemas.openxmlformats.org/drawingml/2006/main" noGrp="1"/>
          </p:cNvSpPr>
          <p:nvPr/>
        </p:nvSpPr>
        <p:spPr>
          <a:xfrm xmlns:a="http://schemas.openxmlformats.org/drawingml/2006/main">
            <a:off x="533400" y="5895975"/>
            <a:ext cx="1112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526378"/>
                </a:solidFill>
                <a:latin typeface="AppleGothic"/>
                <a:ea typeface="AppleGothic"/>
                <a:cs typeface="AppleGothic"/>
              </a:defRPr>
            </a:defPPr>
            <a:lvl1pPr>
              <a:defRPr sz="1350" b="0">
                <a:solidFill>
                  <a:srgbClr val="526378"/>
                </a:solidFill>
                <a:latin typeface="AppleGothic"/>
                <a:ea typeface="AppleGothic"/>
                <a:cs typeface="AppleGothic"/>
              </a:defRPr>
            </a:lvl1pPr>
            <a:lvl2pPr>
              <a:defRPr sz="1350" b="0">
                <a:solidFill>
                  <a:srgbClr val="526378"/>
                </a:solidFill>
                <a:latin typeface="AppleGothic"/>
                <a:ea typeface="AppleGothic"/>
                <a:cs typeface="AppleGothic"/>
              </a:defRPr>
            </a:lvl2pPr>
            <a:lvl3pPr>
              <a:defRPr sz="1350" b="0">
                <a:solidFill>
                  <a:srgbClr val="526378"/>
                </a:solidFill>
                <a:latin typeface="AppleGothic"/>
                <a:ea typeface="AppleGothic"/>
                <a:cs typeface="AppleGothic"/>
              </a:defRPr>
            </a:lvl3pPr>
            <a:lvl4pPr>
              <a:defRPr sz="1350" b="0">
                <a:solidFill>
                  <a:srgbClr val="526378"/>
                </a:solidFill>
                <a:latin typeface="AppleGothic"/>
                <a:ea typeface="AppleGothic"/>
                <a:cs typeface="AppleGothic"/>
              </a:defRPr>
            </a:lvl4pPr>
            <a:lvl5pPr>
              <a:defRPr sz="1350" b="0">
                <a:solidFill>
                  <a:srgbClr val="526378"/>
                </a:solidFill>
                <a:latin typeface="AppleGothic"/>
                <a:ea typeface="AppleGothic"/>
                <a:cs typeface="AppleGothic"/>
              </a:defRPr>
            </a:lvl5pPr>
            <a:lvl6pPr>
              <a:defRPr sz="1350" b="0">
                <a:solidFill>
                  <a:srgbClr val="526378"/>
                </a:solidFill>
                <a:latin typeface="AppleGothic"/>
                <a:ea typeface="AppleGothic"/>
                <a:cs typeface="AppleGothic"/>
              </a:defRPr>
            </a:lvl6pPr>
            <a:lvl7pPr>
              <a:defRPr sz="1350" b="0">
                <a:solidFill>
                  <a:srgbClr val="526378"/>
                </a:solidFill>
                <a:latin typeface="AppleGothic"/>
                <a:ea typeface="AppleGothic"/>
                <a:cs typeface="AppleGothic"/>
              </a:defRPr>
            </a:lvl7pPr>
            <a:lvl8pPr>
              <a:defRPr sz="1350" b="0">
                <a:solidFill>
                  <a:srgbClr val="526378"/>
                </a:solidFill>
                <a:latin typeface="AppleGothic"/>
                <a:ea typeface="AppleGothic"/>
                <a:cs typeface="AppleGothic"/>
              </a:defRPr>
            </a:lvl8pPr>
            <a:lvl9pPr>
              <a:defRPr sz="1350" b="0">
                <a:solidFill>
                  <a:srgbClr val="526378"/>
                </a:solidFill>
                <a:latin typeface="AppleGothic"/>
                <a:ea typeface="AppleGothic"/>
                <a:cs typeface="AppleGothic"/>
              </a:defRPr>
            </a:lvl9pPr>
          </a:lstStyle>
          <a:p xmlns:a="http://schemas.openxmlformats.org/drawingml/2006/main">
            <a:pPr>
              <a:defRPr sz="1350" b="0">
                <a:solidFill>
                  <a:srgbClr val="526378"/>
                </a:solidFill>
                <a:latin typeface="AppleGothic"/>
                <a:ea typeface="AppleGothic"/>
                <a:cs typeface="AppleGothic"/>
              </a:defRPr>
            </a:pPr>
            <a:r>
              <a:rPr sz="1350" b="0">
                <a:solidFill>
                  <a:srgbClr val="526378"/>
                </a:solidFill>
                <a:latin typeface="AppleGothic"/>
                <a:ea typeface="AppleGothic"/>
                <a:cs typeface="AppleGothic"/>
              </a:rPr>
              <a:t>Lecture 10, p. 12. Point-wise MLP, max pooling, and global feature</a:t>
            </a:r>
          </a:p>
        </p:txBody>
      </p:sp>
      <p:sp>
        <p:nvSpPr>
          <p:cNvPr id="6" name="">
            <a:extLst xmlns:a="http://schemas.openxmlformats.org/drawingml/2006/main">
              <a:ext uri="{FF2B5EF4-FFF2-40B4-BE49-F238E27FC236}">
                <a16:creationId xmlns:a16="http://schemas.microsoft.com/office/drawing/2014/main" id="{FA00665C-D419-4B90-BC8C-1D55888ECA01}"/>
              </a:ext>
            </a:extLst>
          </p:cNvPr>
          <p:cNvSpPr>
            <a:spLocks xmlns:a="http://schemas.openxmlformats.org/drawingml/2006/main" noGrp="1"/>
          </p:cNvSpPr>
          <p:nvPr/>
        </p:nvSpPr>
        <p:spPr>
          <a:xfrm xmlns:a="http://schemas.openxmlformats.org/drawingml/2006/main">
            <a:off x="11144250" y="6400800"/>
            <a:ext cx="5143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62748C"/>
                </a:solidFill>
                <a:latin typeface="AppleGothic"/>
                <a:ea typeface="AppleGothic"/>
                <a:cs typeface="AppleGothic"/>
              </a:defRPr>
            </a:defPPr>
            <a:lvl1pPr>
              <a:defRPr sz="1350" b="0">
                <a:solidFill>
                  <a:srgbClr val="62748C"/>
                </a:solidFill>
                <a:latin typeface="AppleGothic"/>
                <a:ea typeface="AppleGothic"/>
                <a:cs typeface="AppleGothic"/>
              </a:defRPr>
            </a:lvl1pPr>
            <a:lvl2pPr>
              <a:defRPr sz="1350" b="0">
                <a:solidFill>
                  <a:srgbClr val="62748C"/>
                </a:solidFill>
                <a:latin typeface="AppleGothic"/>
                <a:ea typeface="AppleGothic"/>
                <a:cs typeface="AppleGothic"/>
              </a:defRPr>
            </a:lvl2pPr>
            <a:lvl3pPr>
              <a:defRPr sz="1350" b="0">
                <a:solidFill>
                  <a:srgbClr val="62748C"/>
                </a:solidFill>
                <a:latin typeface="AppleGothic"/>
                <a:ea typeface="AppleGothic"/>
                <a:cs typeface="AppleGothic"/>
              </a:defRPr>
            </a:lvl3pPr>
            <a:lvl4pPr>
              <a:defRPr sz="1350" b="0">
                <a:solidFill>
                  <a:srgbClr val="62748C"/>
                </a:solidFill>
                <a:latin typeface="AppleGothic"/>
                <a:ea typeface="AppleGothic"/>
                <a:cs typeface="AppleGothic"/>
              </a:defRPr>
            </a:lvl4pPr>
            <a:lvl5pPr>
              <a:defRPr sz="1350" b="0">
                <a:solidFill>
                  <a:srgbClr val="62748C"/>
                </a:solidFill>
                <a:latin typeface="AppleGothic"/>
                <a:ea typeface="AppleGothic"/>
                <a:cs typeface="AppleGothic"/>
              </a:defRPr>
            </a:lvl5pPr>
            <a:lvl6pPr>
              <a:defRPr sz="1350" b="0">
                <a:solidFill>
                  <a:srgbClr val="62748C"/>
                </a:solidFill>
                <a:latin typeface="AppleGothic"/>
                <a:ea typeface="AppleGothic"/>
                <a:cs typeface="AppleGothic"/>
              </a:defRPr>
            </a:lvl6pPr>
            <a:lvl7pPr>
              <a:defRPr sz="1350" b="0">
                <a:solidFill>
                  <a:srgbClr val="62748C"/>
                </a:solidFill>
                <a:latin typeface="AppleGothic"/>
                <a:ea typeface="AppleGothic"/>
                <a:cs typeface="AppleGothic"/>
              </a:defRPr>
            </a:lvl7pPr>
            <a:lvl8pPr>
              <a:defRPr sz="1350" b="0">
                <a:solidFill>
                  <a:srgbClr val="62748C"/>
                </a:solidFill>
                <a:latin typeface="AppleGothic"/>
                <a:ea typeface="AppleGothic"/>
                <a:cs typeface="AppleGothic"/>
              </a:defRPr>
            </a:lvl8pPr>
            <a:lvl9pPr>
              <a:defRPr sz="1350" b="0">
                <a:solidFill>
                  <a:srgbClr val="62748C"/>
                </a:solidFill>
                <a:latin typeface="AppleGothic"/>
                <a:ea typeface="AppleGothic"/>
                <a:cs typeface="AppleGothic"/>
              </a:defRPr>
            </a:lvl9pPr>
          </a:lstStyle>
          <a:p xmlns:a="http://schemas.openxmlformats.org/drawingml/2006/main">
            <a:pPr>
              <a:defRPr sz="1350" b="0">
                <a:solidFill>
                  <a:srgbClr val="62748C"/>
                </a:solidFill>
                <a:latin typeface="AppleGothic"/>
                <a:ea typeface="AppleGothic"/>
                <a:cs typeface="AppleGothic"/>
              </a:defRPr>
            </a:pPr>
            <a:r>
              <a:rPr sz="1350" b="0">
                <a:solidFill>
                  <a:srgbClr val="62748C"/>
                </a:solidFill>
                <a:latin typeface="AppleGothic"/>
                <a:ea typeface="AppleGothic"/>
                <a:cs typeface="AppleGothic"/>
              </a:rPr>
              <a:t>19</a:t>
            </a:r>
          </a:p>
        </p:txBody>
      </p:sp>
    </p:spTree>
    <p:extLst>
      <p:ext uri="{BB962C8B-B14F-4D97-AF65-F5344CB8AC3E}">
        <p14:creationId xmlns:p14="http://schemas.microsoft.com/office/powerpoint/2010/main" val="876738889"/>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612F8D18-1356-4378-8872-D2ECA7FBBF6C}"/>
              </a:ext>
            </a:extLst>
          </p:cNvPr>
          <p:cNvSpPr>
            <a:spLocks xmlns:a="http://schemas.openxmlformats.org/drawingml/2006/main" noGrp="1"/>
          </p:cNvSpPr>
          <p:nvPr/>
        </p:nvSpPr>
        <p:spPr>
          <a:xfrm xmlns:a="http://schemas.openxmlformats.org/drawingml/2006/main">
            <a:off x="533400" y="342900"/>
            <a:ext cx="111252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150" b="1">
                <a:solidFill>
                  <a:srgbClr val="15243B"/>
                </a:solidFill>
                <a:latin typeface="AppleGothic"/>
                <a:ea typeface="AppleGothic"/>
                <a:cs typeface="AppleGothic"/>
              </a:defRPr>
            </a:defPPr>
            <a:lvl1pPr>
              <a:defRPr sz="3150" b="1">
                <a:solidFill>
                  <a:srgbClr val="15243B"/>
                </a:solidFill>
                <a:latin typeface="AppleGothic"/>
                <a:ea typeface="AppleGothic"/>
                <a:cs typeface="AppleGothic"/>
              </a:defRPr>
            </a:lvl1pPr>
            <a:lvl2pPr>
              <a:defRPr sz="3150" b="1">
                <a:solidFill>
                  <a:srgbClr val="15243B"/>
                </a:solidFill>
                <a:latin typeface="AppleGothic"/>
                <a:ea typeface="AppleGothic"/>
                <a:cs typeface="AppleGothic"/>
              </a:defRPr>
            </a:lvl2pPr>
            <a:lvl3pPr>
              <a:defRPr sz="3150" b="1">
                <a:solidFill>
                  <a:srgbClr val="15243B"/>
                </a:solidFill>
                <a:latin typeface="AppleGothic"/>
                <a:ea typeface="AppleGothic"/>
                <a:cs typeface="AppleGothic"/>
              </a:defRPr>
            </a:lvl3pPr>
            <a:lvl4pPr>
              <a:defRPr sz="3150" b="1">
                <a:solidFill>
                  <a:srgbClr val="15243B"/>
                </a:solidFill>
                <a:latin typeface="AppleGothic"/>
                <a:ea typeface="AppleGothic"/>
                <a:cs typeface="AppleGothic"/>
              </a:defRPr>
            </a:lvl4pPr>
            <a:lvl5pPr>
              <a:defRPr sz="3150" b="1">
                <a:solidFill>
                  <a:srgbClr val="15243B"/>
                </a:solidFill>
                <a:latin typeface="AppleGothic"/>
                <a:ea typeface="AppleGothic"/>
                <a:cs typeface="AppleGothic"/>
              </a:defRPr>
            </a:lvl5pPr>
            <a:lvl6pPr>
              <a:defRPr sz="3150" b="1">
                <a:solidFill>
                  <a:srgbClr val="15243B"/>
                </a:solidFill>
                <a:latin typeface="AppleGothic"/>
                <a:ea typeface="AppleGothic"/>
                <a:cs typeface="AppleGothic"/>
              </a:defRPr>
            </a:lvl6pPr>
            <a:lvl7pPr>
              <a:defRPr sz="3150" b="1">
                <a:solidFill>
                  <a:srgbClr val="15243B"/>
                </a:solidFill>
                <a:latin typeface="AppleGothic"/>
                <a:ea typeface="AppleGothic"/>
                <a:cs typeface="AppleGothic"/>
              </a:defRPr>
            </a:lvl7pPr>
            <a:lvl8pPr>
              <a:defRPr sz="3150" b="1">
                <a:solidFill>
                  <a:srgbClr val="15243B"/>
                </a:solidFill>
                <a:latin typeface="AppleGothic"/>
                <a:ea typeface="AppleGothic"/>
                <a:cs typeface="AppleGothic"/>
              </a:defRPr>
            </a:lvl8pPr>
            <a:lvl9pPr>
              <a:defRPr sz="3150" b="1">
                <a:solidFill>
                  <a:srgbClr val="15243B"/>
                </a:solidFill>
                <a:latin typeface="AppleGothic"/>
                <a:ea typeface="AppleGothic"/>
                <a:cs typeface="AppleGothic"/>
              </a:defRPr>
            </a:lvl9pPr>
          </a:lstStyle>
          <a:p xmlns:a="http://schemas.openxmlformats.org/drawingml/2006/main">
            <a:pPr>
              <a:defRPr sz="3150" b="1">
                <a:solidFill>
                  <a:srgbClr val="15243B"/>
                </a:solidFill>
                <a:latin typeface="AppleGothic"/>
                <a:ea typeface="AppleGothic"/>
                <a:cs typeface="AppleGothic"/>
              </a:defRPr>
            </a:pPr>
            <a:r>
              <a:rPr sz="3150" b="1">
                <a:solidFill>
                  <a:srgbClr val="15243B"/>
                </a:solidFill>
                <a:latin typeface="AppleGothic"/>
                <a:ea typeface="AppleGothic"/>
                <a:cs typeface="AppleGothic"/>
              </a:rPr>
              <a:t>3D Representations</a:t>
            </a:r>
          </a:p>
        </p:txBody>
      </p:sp>
      <p:sp>
        <p:nvSpPr>
          <p:cNvPr id="2" name="">
            <a:extLst xmlns:a="http://schemas.openxmlformats.org/drawingml/2006/main">
              <a:ext uri="{FF2B5EF4-FFF2-40B4-BE49-F238E27FC236}">
                <a16:creationId xmlns:a16="http://schemas.microsoft.com/office/drawing/2014/main" id="{0AB4DCB5-952A-4992-A71B-75C5FD265520}"/>
              </a:ext>
            </a:extLst>
          </p:cNvPr>
          <p:cNvSpPr>
            <a:spLocks xmlns:a="http://schemas.openxmlformats.org/drawingml/2006/main" noGrp="1"/>
          </p:cNvSpPr>
          <p:nvPr/>
        </p:nvSpPr>
        <p:spPr>
          <a:xfrm xmlns:a="http://schemas.openxmlformats.org/drawingml/2006/main">
            <a:off x="533400" y="1066800"/>
            <a:ext cx="111252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1">
                <a:solidFill>
                  <a:srgbClr val="2164CB"/>
                </a:solidFill>
                <a:latin typeface="AppleGothic"/>
                <a:ea typeface="AppleGothic"/>
                <a:cs typeface="AppleGothic"/>
              </a:defRPr>
            </a:defPPr>
            <a:lvl1pPr>
              <a:defRPr sz="2175" b="1">
                <a:solidFill>
                  <a:srgbClr val="2164CB"/>
                </a:solidFill>
                <a:latin typeface="AppleGothic"/>
                <a:ea typeface="AppleGothic"/>
                <a:cs typeface="AppleGothic"/>
              </a:defRPr>
            </a:lvl1pPr>
            <a:lvl2pPr>
              <a:defRPr sz="2175" b="1">
                <a:solidFill>
                  <a:srgbClr val="2164CB"/>
                </a:solidFill>
                <a:latin typeface="AppleGothic"/>
                <a:ea typeface="AppleGothic"/>
                <a:cs typeface="AppleGothic"/>
              </a:defRPr>
            </a:lvl2pPr>
            <a:lvl3pPr>
              <a:defRPr sz="2175" b="1">
                <a:solidFill>
                  <a:srgbClr val="2164CB"/>
                </a:solidFill>
                <a:latin typeface="AppleGothic"/>
                <a:ea typeface="AppleGothic"/>
                <a:cs typeface="AppleGothic"/>
              </a:defRPr>
            </a:lvl3pPr>
            <a:lvl4pPr>
              <a:defRPr sz="2175" b="1">
                <a:solidFill>
                  <a:srgbClr val="2164CB"/>
                </a:solidFill>
                <a:latin typeface="AppleGothic"/>
                <a:ea typeface="AppleGothic"/>
                <a:cs typeface="AppleGothic"/>
              </a:defRPr>
            </a:lvl4pPr>
            <a:lvl5pPr>
              <a:defRPr sz="2175" b="1">
                <a:solidFill>
                  <a:srgbClr val="2164CB"/>
                </a:solidFill>
                <a:latin typeface="AppleGothic"/>
                <a:ea typeface="AppleGothic"/>
                <a:cs typeface="AppleGothic"/>
              </a:defRPr>
            </a:lvl5pPr>
            <a:lvl6pPr>
              <a:defRPr sz="2175" b="1">
                <a:solidFill>
                  <a:srgbClr val="2164CB"/>
                </a:solidFill>
                <a:latin typeface="AppleGothic"/>
                <a:ea typeface="AppleGothic"/>
                <a:cs typeface="AppleGothic"/>
              </a:defRPr>
            </a:lvl6pPr>
            <a:lvl7pPr>
              <a:defRPr sz="2175" b="1">
                <a:solidFill>
                  <a:srgbClr val="2164CB"/>
                </a:solidFill>
                <a:latin typeface="AppleGothic"/>
                <a:ea typeface="AppleGothic"/>
                <a:cs typeface="AppleGothic"/>
              </a:defRPr>
            </a:lvl7pPr>
            <a:lvl8pPr>
              <a:defRPr sz="2175" b="1">
                <a:solidFill>
                  <a:srgbClr val="2164CB"/>
                </a:solidFill>
                <a:latin typeface="AppleGothic"/>
                <a:ea typeface="AppleGothic"/>
                <a:cs typeface="AppleGothic"/>
              </a:defRPr>
            </a:lvl8pPr>
            <a:lvl9pPr>
              <a:defRPr sz="2175" b="1">
                <a:solidFill>
                  <a:srgbClr val="2164CB"/>
                </a:solidFill>
                <a:latin typeface="AppleGothic"/>
                <a:ea typeface="AppleGothic"/>
                <a:cs typeface="AppleGothic"/>
              </a:defRPr>
            </a:lvl9pPr>
          </a:lstStyle>
          <a:p xmlns:a="http://schemas.openxmlformats.org/drawingml/2006/main">
            <a:pPr>
              <a:defRPr sz="2175" b="1">
                <a:solidFill>
                  <a:srgbClr val="2164CB"/>
                </a:solidFill>
                <a:latin typeface="AppleGothic"/>
                <a:ea typeface="AppleGothic"/>
                <a:cs typeface="AppleGothic"/>
              </a:defRPr>
            </a:pPr>
            <a:r>
              <a:rPr sz="2175" b="1">
                <a:solidFill>
                  <a:srgbClr val="2164CB"/>
                </a:solidFill>
                <a:latin typeface="AppleGothic"/>
                <a:ea typeface="AppleGothic"/>
                <a:cs typeface="AppleGothic"/>
              </a:rPr>
              <a:t>같은 point cloud도 표현에 따라 보존 정보와 계산 구조가 달라진다</a:t>
            </a:r>
          </a:p>
        </p:txBody>
      </p:sp>
      <p:graphicFrame>
        <p:nvGraphicFramePr>
          <p:cNvPr id="3" name="">
            <a:extLst xmlns:a="http://schemas.openxmlformats.org/drawingml/2006/main">
              <a:ext uri="{FF2B5EF4-FFF2-40B4-BE49-F238E27FC236}">
                <a16:creationId xmlns:a16="http://schemas.microsoft.com/office/drawing/2014/main" id="{874777DD-5125-4AF3-830D-302FE6397967}"/>
              </a:ext>
            </a:extLst>
          </p:cNvPr>
          <p:cNvGraphicFramePr/>
          <p:nvPr/>
        </p:nvGraphicFramePr>
        <p:xfrm>
          <a:off xmlns:a="http://schemas.openxmlformats.org/drawingml/2006/main" x="533400" y="2057400"/>
          <a:ext xmlns:a="http://schemas.openxmlformats.org/drawingml/2006/main" cx="11125200" cy="2952750"/>
        </p:xfrm>
        <a:graphic xmlns:a="http://schemas.openxmlformats.org/drawingml/2006/main">
          <a:graphicData uri="http://schemas.openxmlformats.org/drawingml/2006/table">
            <a:tbl>
              <a:tblPr/>
              <a:tblGrid>
                <a:gridCol w="2781300"/>
                <a:gridCol w="2781300"/>
                <a:gridCol w="2781300"/>
                <a:gridCol w="2781300"/>
              </a:tblGrid>
              <a:tr h="590550">
                <a:tc>
                  <a:txBody>
                    <a:bodyPr/>
                    <a:lstStyle/>
                    <a:p>
                      <a:r>
                        <a:rPr sz="1800" b="1">
                          <a:solidFill>
                            <a:srgbClr val="2164CB"/>
                          </a:solidFill>
                          <a:latin typeface="AppleGothic"/>
                          <a:ea typeface="AppleGothic"/>
                          <a:cs typeface="AppleGothic"/>
                        </a:rPr>
                        <a:t>Representation</a:t>
                      </a:r>
                    </a:p>
                  </a:txBody>
                  <a:tcPr marL="114300" marR="114300" marT="95250" marB="95250">
                    <a:lnL w="9525">
                      <a:solidFill>
                        <a:srgbClr val="D7DFEA"/>
                      </a:solidFill>
                      <a:prstDash val="solid"/>
                    </a:lnL>
                    <a:lnR w="9525">
                      <a:solidFill>
                        <a:srgbClr val="D7DFEA"/>
                      </a:solidFill>
                      <a:prstDash val="solid"/>
                    </a:lnR>
                    <a:lnT w="9525">
                      <a:solidFill>
                        <a:srgbClr val="D7DFEA"/>
                      </a:solidFill>
                      <a:prstDash val="solid"/>
                    </a:lnT>
                    <a:lnB w="9525">
                      <a:solidFill>
                        <a:srgbClr val="D7DFEA"/>
                      </a:solidFill>
                      <a:prstDash val="solid"/>
                    </a:lnB>
                    <a:solidFill>
                      <a:srgbClr val="EAF1FC"/>
                    </a:solidFill>
                  </a:tcPr>
                </a:tc>
                <a:tc>
                  <a:txBody>
                    <a:bodyPr/>
                    <a:lstStyle/>
                    <a:p>
                      <a:r>
                        <a:rPr sz="1800" b="1">
                          <a:solidFill>
                            <a:srgbClr val="2164CB"/>
                          </a:solidFill>
                          <a:latin typeface="AppleGothic"/>
                          <a:ea typeface="AppleGothic"/>
                          <a:cs typeface="AppleGothic"/>
                        </a:rPr>
                        <a:t>Preserves</a:t>
                      </a:r>
                    </a:p>
                  </a:txBody>
                  <a:tcPr marL="114300" marR="114300" marT="95250" marB="95250">
                    <a:lnR w="9525">
                      <a:solidFill>
                        <a:srgbClr val="D7DFEA"/>
                      </a:solidFill>
                      <a:prstDash val="solid"/>
                    </a:lnR>
                    <a:lnT w="9525">
                      <a:solidFill>
                        <a:srgbClr val="D7DFEA"/>
                      </a:solidFill>
                      <a:prstDash val="solid"/>
                    </a:lnT>
                    <a:lnB w="9525">
                      <a:solidFill>
                        <a:srgbClr val="D7DFEA"/>
                      </a:solidFill>
                      <a:prstDash val="solid"/>
                    </a:lnB>
                    <a:solidFill>
                      <a:srgbClr val="EAF1FC"/>
                    </a:solidFill>
                  </a:tcPr>
                </a:tc>
                <a:tc>
                  <a:txBody>
                    <a:bodyPr/>
                    <a:lstStyle/>
                    <a:p>
                      <a:r>
                        <a:rPr sz="1800" b="1">
                          <a:solidFill>
                            <a:srgbClr val="2164CB"/>
                          </a:solidFill>
                          <a:latin typeface="AppleGothic"/>
                          <a:ea typeface="AppleGothic"/>
                          <a:cs typeface="AppleGothic"/>
                        </a:rPr>
                        <a:t>Tradeoff</a:t>
                      </a:r>
                    </a:p>
                  </a:txBody>
                  <a:tcPr marL="114300" marR="114300" marT="95250" marB="95250">
                    <a:lnR w="9525">
                      <a:solidFill>
                        <a:srgbClr val="D7DFEA"/>
                      </a:solidFill>
                      <a:prstDash val="solid"/>
                    </a:lnR>
                    <a:lnT w="9525">
                      <a:solidFill>
                        <a:srgbClr val="D7DFEA"/>
                      </a:solidFill>
                      <a:prstDash val="solid"/>
                    </a:lnT>
                    <a:lnB w="9525">
                      <a:solidFill>
                        <a:srgbClr val="D7DFEA"/>
                      </a:solidFill>
                      <a:prstDash val="solid"/>
                    </a:lnB>
                    <a:solidFill>
                      <a:srgbClr val="EAF1FC"/>
                    </a:solidFill>
                  </a:tcPr>
                </a:tc>
                <a:tc>
                  <a:txBody>
                    <a:bodyPr/>
                    <a:lstStyle/>
                    <a:p>
                      <a:r>
                        <a:rPr sz="1800" b="1">
                          <a:solidFill>
                            <a:srgbClr val="2164CB"/>
                          </a:solidFill>
                          <a:latin typeface="AppleGothic"/>
                          <a:ea typeface="AppleGothic"/>
                          <a:cs typeface="AppleGothic"/>
                        </a:rPr>
                        <a:t>Example</a:t>
                      </a:r>
                    </a:p>
                  </a:txBody>
                  <a:tcPr marL="114300" marR="114300" marT="95250" marB="95250">
                    <a:lnR w="9525">
                      <a:solidFill>
                        <a:srgbClr val="D7DFEA"/>
                      </a:solidFill>
                      <a:prstDash val="solid"/>
                    </a:lnR>
                    <a:lnT w="9525">
                      <a:solidFill>
                        <a:srgbClr val="D7DFEA"/>
                      </a:solidFill>
                      <a:prstDash val="solid"/>
                    </a:lnT>
                    <a:lnB w="9525">
                      <a:solidFill>
                        <a:srgbClr val="D7DFEA"/>
                      </a:solidFill>
                      <a:prstDash val="solid"/>
                    </a:lnB>
                    <a:solidFill>
                      <a:srgbClr val="EAF1FC"/>
                    </a:solidFill>
                  </a:tcPr>
                </a:tc>
              </a:tr>
              <a:tr h="590550">
                <a:tc>
                  <a:txBody>
                    <a:bodyPr/>
                    <a:lstStyle/>
                    <a:p>
                      <a:r>
                        <a:rPr sz="1800">
                          <a:solidFill>
                            <a:srgbClr val="15243B"/>
                          </a:solidFill>
                          <a:latin typeface="AppleGothic"/>
                          <a:ea typeface="AppleGothic"/>
                          <a:cs typeface="AppleGothic"/>
                        </a:rPr>
                        <a:t>Raw points</a:t>
                      </a:r>
                    </a:p>
                  </a:txBody>
                  <a:tcPr marL="114300" marR="114300" marT="95250" marB="95250">
                    <a:lnL w="9525">
                      <a:solidFill>
                        <a:srgbClr val="D7DFEA"/>
                      </a:solidFill>
                      <a:prstDash val="solid"/>
                    </a:lnL>
                    <a:lnR w="9525">
                      <a:solidFill>
                        <a:srgbClr val="D7DFEA"/>
                      </a:solidFill>
                      <a:prstDash val="solid"/>
                    </a:lnR>
                    <a:lnB w="9525">
                      <a:solidFill>
                        <a:srgbClr val="D7DFEA"/>
                      </a:solidFill>
                      <a:prstDash val="solid"/>
                    </a:lnB>
                  </a:tcPr>
                </a:tc>
                <a:tc>
                  <a:txBody>
                    <a:bodyPr/>
                    <a:lstStyle/>
                    <a:p>
                      <a:r>
                        <a:rPr sz="1800">
                          <a:solidFill>
                            <a:srgbClr val="15243B"/>
                          </a:solidFill>
                          <a:latin typeface="AppleGothic"/>
                          <a:ea typeface="AppleGothic"/>
                          <a:cs typeface="AppleGothic"/>
                        </a:rPr>
                        <a:t>개별 3D 측정</a:t>
                      </a:r>
                    </a:p>
                  </a:txBody>
                  <a:tcPr marL="114300" marR="114300" marT="95250" marB="95250">
                    <a:lnR w="9525">
                      <a:solidFill>
                        <a:srgbClr val="D7DFEA"/>
                      </a:solidFill>
                      <a:prstDash val="solid"/>
                    </a:lnR>
                    <a:lnB w="9525">
                      <a:solidFill>
                        <a:srgbClr val="D7DFEA"/>
                      </a:solidFill>
                      <a:prstDash val="solid"/>
                    </a:lnB>
                  </a:tcPr>
                </a:tc>
                <a:tc>
                  <a:txBody>
                    <a:bodyPr/>
                    <a:lstStyle/>
                    <a:p>
                      <a:r>
                        <a:rPr sz="1800">
                          <a:solidFill>
                            <a:srgbClr val="15243B"/>
                          </a:solidFill>
                          <a:latin typeface="AppleGothic"/>
                          <a:ea typeface="AppleGothic"/>
                          <a:cs typeface="AppleGothic"/>
                        </a:rPr>
                        <a:t>불규칙 집합</a:t>
                      </a:r>
                    </a:p>
                  </a:txBody>
                  <a:tcPr marL="114300" marR="114300" marT="95250" marB="95250">
                    <a:lnR w="9525">
                      <a:solidFill>
                        <a:srgbClr val="D7DFEA"/>
                      </a:solidFill>
                      <a:prstDash val="solid"/>
                    </a:lnR>
                    <a:lnB w="9525">
                      <a:solidFill>
                        <a:srgbClr val="D7DFEA"/>
                      </a:solidFill>
                      <a:prstDash val="solid"/>
                    </a:lnB>
                  </a:tcPr>
                </a:tc>
                <a:tc>
                  <a:txBody>
                    <a:bodyPr/>
                    <a:lstStyle/>
                    <a:p>
                      <a:r>
                        <a:rPr sz="1800">
                          <a:solidFill>
                            <a:srgbClr val="15243B"/>
                          </a:solidFill>
                          <a:latin typeface="AppleGothic"/>
                          <a:ea typeface="AppleGothic"/>
                          <a:cs typeface="AppleGothic"/>
                        </a:rPr>
                        <a:t>PointNet</a:t>
                      </a:r>
                    </a:p>
                  </a:txBody>
                  <a:tcPr marL="114300" marR="114300" marT="95250" marB="95250">
                    <a:lnR w="9525">
                      <a:solidFill>
                        <a:srgbClr val="D7DFEA"/>
                      </a:solidFill>
                      <a:prstDash val="solid"/>
                    </a:lnR>
                    <a:lnB w="9525">
                      <a:solidFill>
                        <a:srgbClr val="D7DFEA"/>
                      </a:solidFill>
                      <a:prstDash val="solid"/>
                    </a:lnB>
                  </a:tcPr>
                </a:tc>
              </a:tr>
              <a:tr h="590550">
                <a:tc>
                  <a:txBody>
                    <a:bodyPr/>
                    <a:lstStyle/>
                    <a:p>
                      <a:r>
                        <a:rPr sz="1800">
                          <a:solidFill>
                            <a:srgbClr val="15243B"/>
                          </a:solidFill>
                          <a:latin typeface="AppleGothic"/>
                          <a:ea typeface="AppleGothic"/>
                          <a:cs typeface="AppleGothic"/>
                        </a:rPr>
                        <a:t>Voxels</a:t>
                      </a:r>
                    </a:p>
                  </a:txBody>
                  <a:tcPr marL="114300" marR="114300" marT="95250" marB="95250">
                    <a:lnL w="9525">
                      <a:solidFill>
                        <a:srgbClr val="D7DFEA"/>
                      </a:solidFill>
                      <a:prstDash val="solid"/>
                    </a:lnL>
                    <a:lnR w="9525">
                      <a:solidFill>
                        <a:srgbClr val="D7DFEA"/>
                      </a:solidFill>
                      <a:prstDash val="solid"/>
                    </a:lnR>
                    <a:lnB w="9525">
                      <a:solidFill>
                        <a:srgbClr val="D7DFEA"/>
                      </a:solidFill>
                      <a:prstDash val="solid"/>
                    </a:lnB>
                  </a:tcPr>
                </a:tc>
                <a:tc>
                  <a:txBody>
                    <a:bodyPr/>
                    <a:lstStyle/>
                    <a:p>
                      <a:r>
                        <a:rPr sz="1800">
                          <a:solidFill>
                            <a:srgbClr val="15243B"/>
                          </a:solidFill>
                          <a:latin typeface="AppleGothic"/>
                          <a:ea typeface="AppleGothic"/>
                          <a:cs typeface="AppleGothic"/>
                        </a:rPr>
                        <a:t>3D local grid</a:t>
                      </a:r>
                    </a:p>
                  </a:txBody>
                  <a:tcPr marL="114300" marR="114300" marT="95250" marB="95250">
                    <a:lnR w="9525">
                      <a:solidFill>
                        <a:srgbClr val="D7DFEA"/>
                      </a:solidFill>
                      <a:prstDash val="solid"/>
                    </a:lnR>
                    <a:lnB w="9525">
                      <a:solidFill>
                        <a:srgbClr val="D7DFEA"/>
                      </a:solidFill>
                      <a:prstDash val="solid"/>
                    </a:lnB>
                  </a:tcPr>
                </a:tc>
                <a:tc>
                  <a:txBody>
                    <a:bodyPr/>
                    <a:lstStyle/>
                    <a:p>
                      <a:r>
                        <a:rPr sz="1800">
                          <a:solidFill>
                            <a:srgbClr val="15243B"/>
                          </a:solidFill>
                          <a:latin typeface="AppleGothic"/>
                          <a:ea typeface="AppleGothic"/>
                          <a:cs typeface="AppleGothic"/>
                        </a:rPr>
                        <a:t>양자화와 sparse 계산</a:t>
                      </a:r>
                    </a:p>
                  </a:txBody>
                  <a:tcPr marL="114300" marR="114300" marT="95250" marB="95250">
                    <a:lnR w="9525">
                      <a:solidFill>
                        <a:srgbClr val="D7DFEA"/>
                      </a:solidFill>
                      <a:prstDash val="solid"/>
                    </a:lnR>
                    <a:lnB w="9525">
                      <a:solidFill>
                        <a:srgbClr val="D7DFEA"/>
                      </a:solidFill>
                      <a:prstDash val="solid"/>
                    </a:lnB>
                  </a:tcPr>
                </a:tc>
                <a:tc>
                  <a:txBody>
                    <a:bodyPr/>
                    <a:lstStyle/>
                    <a:p>
                      <a:r>
                        <a:rPr sz="1800">
                          <a:solidFill>
                            <a:srgbClr val="15243B"/>
                          </a:solidFill>
                          <a:latin typeface="AppleGothic"/>
                          <a:ea typeface="AppleGothic"/>
                          <a:cs typeface="AppleGothic"/>
                        </a:rPr>
                        <a:t>VoxelNet</a:t>
                      </a:r>
                    </a:p>
                  </a:txBody>
                  <a:tcPr marL="114300" marR="114300" marT="95250" marB="95250">
                    <a:lnR w="9525">
                      <a:solidFill>
                        <a:srgbClr val="D7DFEA"/>
                      </a:solidFill>
                      <a:prstDash val="solid"/>
                    </a:lnR>
                    <a:lnB w="9525">
                      <a:solidFill>
                        <a:srgbClr val="D7DFEA"/>
                      </a:solidFill>
                      <a:prstDash val="solid"/>
                    </a:lnB>
                  </a:tcPr>
                </a:tc>
              </a:tr>
              <a:tr h="590550">
                <a:tc>
                  <a:txBody>
                    <a:bodyPr/>
                    <a:lstStyle/>
                    <a:p>
                      <a:r>
                        <a:rPr sz="1800">
                          <a:solidFill>
                            <a:srgbClr val="15243B"/>
                          </a:solidFill>
                          <a:latin typeface="AppleGothic"/>
                          <a:ea typeface="AppleGothic"/>
                          <a:cs typeface="AppleGothic"/>
                        </a:rPr>
                        <a:t>BEV</a:t>
                      </a:r>
                    </a:p>
                  </a:txBody>
                  <a:tcPr marL="114300" marR="114300" marT="95250" marB="95250">
                    <a:lnL w="9525">
                      <a:solidFill>
                        <a:srgbClr val="D7DFEA"/>
                      </a:solidFill>
                      <a:prstDash val="solid"/>
                    </a:lnL>
                    <a:lnR w="9525">
                      <a:solidFill>
                        <a:srgbClr val="D7DFEA"/>
                      </a:solidFill>
                      <a:prstDash val="solid"/>
                    </a:lnR>
                    <a:lnB w="9525">
                      <a:solidFill>
                        <a:srgbClr val="D7DFEA"/>
                      </a:solidFill>
                      <a:prstDash val="solid"/>
                    </a:lnB>
                  </a:tcPr>
                </a:tc>
                <a:tc>
                  <a:txBody>
                    <a:bodyPr/>
                    <a:lstStyle/>
                    <a:p>
                      <a:r>
                        <a:rPr sz="1800">
                          <a:solidFill>
                            <a:srgbClr val="15243B"/>
                          </a:solidFill>
                          <a:latin typeface="AppleGothic"/>
                          <a:ea typeface="AppleGothic"/>
                          <a:cs typeface="AppleGothic"/>
                        </a:rPr>
                        <a:t>지면 footprint</a:t>
                      </a:r>
                    </a:p>
                  </a:txBody>
                  <a:tcPr marL="114300" marR="114300" marT="95250" marB="95250">
                    <a:lnR w="9525">
                      <a:solidFill>
                        <a:srgbClr val="D7DFEA"/>
                      </a:solidFill>
                      <a:prstDash val="solid"/>
                    </a:lnR>
                    <a:lnB w="9525">
                      <a:solidFill>
                        <a:srgbClr val="D7DFEA"/>
                      </a:solidFill>
                      <a:prstDash val="solid"/>
                    </a:lnB>
                  </a:tcPr>
                </a:tc>
                <a:tc>
                  <a:txBody>
                    <a:bodyPr/>
                    <a:lstStyle/>
                    <a:p>
                      <a:r>
                        <a:rPr sz="1800">
                          <a:solidFill>
                            <a:srgbClr val="15243B"/>
                          </a:solidFill>
                          <a:latin typeface="AppleGothic"/>
                          <a:ea typeface="AppleGothic"/>
                          <a:cs typeface="AppleGothic"/>
                        </a:rPr>
                        <a:t>height 요약</a:t>
                      </a:r>
                    </a:p>
                  </a:txBody>
                  <a:tcPr marL="114300" marR="114300" marT="95250" marB="95250">
                    <a:lnR w="9525">
                      <a:solidFill>
                        <a:srgbClr val="D7DFEA"/>
                      </a:solidFill>
                      <a:prstDash val="solid"/>
                    </a:lnR>
                    <a:lnB w="9525">
                      <a:solidFill>
                        <a:srgbClr val="D7DFEA"/>
                      </a:solidFill>
                      <a:prstDash val="solid"/>
                    </a:lnB>
                  </a:tcPr>
                </a:tc>
                <a:tc>
                  <a:txBody>
                    <a:bodyPr/>
                    <a:lstStyle/>
                    <a:p>
                      <a:r>
                        <a:rPr sz="1800">
                          <a:solidFill>
                            <a:srgbClr val="15243B"/>
                          </a:solidFill>
                          <a:latin typeface="AppleGothic"/>
                          <a:ea typeface="AppleGothic"/>
                          <a:cs typeface="AppleGothic"/>
                        </a:rPr>
                        <a:t>PIXOR</a:t>
                      </a:r>
                    </a:p>
                  </a:txBody>
                  <a:tcPr marL="114300" marR="114300" marT="95250" marB="95250">
                    <a:lnR w="9525">
                      <a:solidFill>
                        <a:srgbClr val="D7DFEA"/>
                      </a:solidFill>
                      <a:prstDash val="solid"/>
                    </a:lnR>
                    <a:lnB w="9525">
                      <a:solidFill>
                        <a:srgbClr val="D7DFEA"/>
                      </a:solidFill>
                      <a:prstDash val="solid"/>
                    </a:lnB>
                  </a:tcPr>
                </a:tc>
              </a:tr>
              <a:tr h="590550">
                <a:tc>
                  <a:txBody>
                    <a:bodyPr/>
                    <a:lstStyle/>
                    <a:p>
                      <a:r>
                        <a:rPr sz="1800">
                          <a:solidFill>
                            <a:srgbClr val="15243B"/>
                          </a:solidFill>
                          <a:latin typeface="AppleGothic"/>
                          <a:ea typeface="AppleGothic"/>
                          <a:cs typeface="AppleGothic"/>
                        </a:rPr>
                        <a:t>Image projection</a:t>
                      </a:r>
                    </a:p>
                  </a:txBody>
                  <a:tcPr marL="114300" marR="114300" marT="95250" marB="95250">
                    <a:lnL w="9525">
                      <a:solidFill>
                        <a:srgbClr val="D7DFEA"/>
                      </a:solidFill>
                      <a:prstDash val="solid"/>
                    </a:lnL>
                    <a:lnR w="9525">
                      <a:solidFill>
                        <a:srgbClr val="D7DFEA"/>
                      </a:solidFill>
                      <a:prstDash val="solid"/>
                    </a:lnR>
                    <a:lnB w="9525">
                      <a:solidFill>
                        <a:srgbClr val="D7DFEA"/>
                      </a:solidFill>
                      <a:prstDash val="solid"/>
                    </a:lnB>
                  </a:tcPr>
                </a:tc>
                <a:tc>
                  <a:txBody>
                    <a:bodyPr/>
                    <a:lstStyle/>
                    <a:p>
                      <a:r>
                        <a:rPr sz="1800">
                          <a:solidFill>
                            <a:srgbClr val="15243B"/>
                          </a:solidFill>
                          <a:latin typeface="AppleGothic"/>
                          <a:ea typeface="AppleGothic"/>
                          <a:cs typeface="AppleGothic"/>
                        </a:rPr>
                        <a:t>RGB 대응</a:t>
                      </a:r>
                    </a:p>
                  </a:txBody>
                  <a:tcPr marL="114300" marR="114300" marT="95250" marB="95250">
                    <a:lnR w="9525">
                      <a:solidFill>
                        <a:srgbClr val="D7DFEA"/>
                      </a:solidFill>
                      <a:prstDash val="solid"/>
                    </a:lnR>
                    <a:lnB w="9525">
                      <a:solidFill>
                        <a:srgbClr val="D7DFEA"/>
                      </a:solidFill>
                      <a:prstDash val="solid"/>
                    </a:lnB>
                  </a:tcPr>
                </a:tc>
                <a:tc>
                  <a:txBody>
                    <a:bodyPr/>
                    <a:lstStyle/>
                    <a:p>
                      <a:r>
                        <a:rPr sz="1800">
                          <a:solidFill>
                            <a:srgbClr val="15243B"/>
                          </a:solidFill>
                          <a:latin typeface="AppleGothic"/>
                          <a:ea typeface="AppleGothic"/>
                          <a:cs typeface="AppleGothic"/>
                        </a:rPr>
                        <a:t>가림과 희소성</a:t>
                      </a:r>
                    </a:p>
                  </a:txBody>
                  <a:tcPr marL="114300" marR="114300" marT="95250" marB="95250">
                    <a:lnR w="9525">
                      <a:solidFill>
                        <a:srgbClr val="D7DFEA"/>
                      </a:solidFill>
                      <a:prstDash val="solid"/>
                    </a:lnR>
                    <a:lnB w="9525">
                      <a:solidFill>
                        <a:srgbClr val="D7DFEA"/>
                      </a:solidFill>
                      <a:prstDash val="solid"/>
                    </a:lnB>
                  </a:tcPr>
                </a:tc>
                <a:tc>
                  <a:txBody>
                    <a:bodyPr/>
                    <a:lstStyle/>
                    <a:p>
                      <a:r>
                        <a:rPr sz="1800">
                          <a:solidFill>
                            <a:srgbClr val="15243B"/>
                          </a:solidFill>
                          <a:latin typeface="AppleGothic"/>
                          <a:ea typeface="AppleGothic"/>
                          <a:cs typeface="AppleGothic"/>
                        </a:rPr>
                        <a:t>Fusion</a:t>
                      </a:r>
                    </a:p>
                  </a:txBody>
                  <a:tcPr marL="114300" marR="114300" marT="95250" marB="95250">
                    <a:lnR w="9525">
                      <a:solidFill>
                        <a:srgbClr val="D7DFEA"/>
                      </a:solidFill>
                      <a:prstDash val="solid"/>
                    </a:lnR>
                    <a:lnB w="9525">
                      <a:solidFill>
                        <a:srgbClr val="D7DFEA"/>
                      </a:solidFill>
                      <a:prstDash val="solid"/>
                    </a:lnB>
                  </a:tcPr>
                </a:tc>
              </a:tr>
            </a:tbl>
          </a:graphicData>
        </a:graphic>
      </p:graphicFrame>
      <p:sp>
        <p:nvSpPr>
          <p:cNvPr id="4" name="">
            <a:extLst xmlns:a="http://schemas.openxmlformats.org/drawingml/2006/main">
              <a:ext uri="{FF2B5EF4-FFF2-40B4-BE49-F238E27FC236}">
                <a16:creationId xmlns:a16="http://schemas.microsoft.com/office/drawing/2014/main" id="{6568B451-B335-45ED-BA92-3EC944FCDC68}"/>
              </a:ext>
            </a:extLst>
          </p:cNvPr>
          <p:cNvSpPr>
            <a:spLocks xmlns:a="http://schemas.openxmlformats.org/drawingml/2006/main" noGrp="1"/>
          </p:cNvSpPr>
          <p:nvPr/>
        </p:nvSpPr>
        <p:spPr>
          <a:xfrm xmlns:a="http://schemas.openxmlformats.org/drawingml/2006/main">
            <a:off x="533400" y="5391150"/>
            <a:ext cx="11125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15243B"/>
                </a:solidFill>
                <a:latin typeface="AppleGothic"/>
                <a:ea typeface="AppleGothic"/>
                <a:cs typeface="AppleGothic"/>
              </a:defRPr>
            </a:defPPr>
            <a:lvl1pPr>
              <a:defRPr sz="1800" b="0">
                <a:solidFill>
                  <a:srgbClr val="15243B"/>
                </a:solidFill>
                <a:latin typeface="AppleGothic"/>
                <a:ea typeface="AppleGothic"/>
                <a:cs typeface="AppleGothic"/>
              </a:defRPr>
            </a:lvl1pPr>
            <a:lvl2pPr>
              <a:defRPr sz="1800" b="0">
                <a:solidFill>
                  <a:srgbClr val="15243B"/>
                </a:solidFill>
                <a:latin typeface="AppleGothic"/>
                <a:ea typeface="AppleGothic"/>
                <a:cs typeface="AppleGothic"/>
              </a:defRPr>
            </a:lvl2pPr>
            <a:lvl3pPr>
              <a:defRPr sz="1800" b="0">
                <a:solidFill>
                  <a:srgbClr val="15243B"/>
                </a:solidFill>
                <a:latin typeface="AppleGothic"/>
                <a:ea typeface="AppleGothic"/>
                <a:cs typeface="AppleGothic"/>
              </a:defRPr>
            </a:lvl3pPr>
            <a:lvl4pPr>
              <a:defRPr sz="1800" b="0">
                <a:solidFill>
                  <a:srgbClr val="15243B"/>
                </a:solidFill>
                <a:latin typeface="AppleGothic"/>
                <a:ea typeface="AppleGothic"/>
                <a:cs typeface="AppleGothic"/>
              </a:defRPr>
            </a:lvl4pPr>
            <a:lvl5pPr>
              <a:defRPr sz="1800" b="0">
                <a:solidFill>
                  <a:srgbClr val="15243B"/>
                </a:solidFill>
                <a:latin typeface="AppleGothic"/>
                <a:ea typeface="AppleGothic"/>
                <a:cs typeface="AppleGothic"/>
              </a:defRPr>
            </a:lvl5pPr>
            <a:lvl6pPr>
              <a:defRPr sz="1800" b="0">
                <a:solidFill>
                  <a:srgbClr val="15243B"/>
                </a:solidFill>
                <a:latin typeface="AppleGothic"/>
                <a:ea typeface="AppleGothic"/>
                <a:cs typeface="AppleGothic"/>
              </a:defRPr>
            </a:lvl6pPr>
            <a:lvl7pPr>
              <a:defRPr sz="1800" b="0">
                <a:solidFill>
                  <a:srgbClr val="15243B"/>
                </a:solidFill>
                <a:latin typeface="AppleGothic"/>
                <a:ea typeface="AppleGothic"/>
                <a:cs typeface="AppleGothic"/>
              </a:defRPr>
            </a:lvl7pPr>
            <a:lvl8pPr>
              <a:defRPr sz="1800" b="0">
                <a:solidFill>
                  <a:srgbClr val="15243B"/>
                </a:solidFill>
                <a:latin typeface="AppleGothic"/>
                <a:ea typeface="AppleGothic"/>
                <a:cs typeface="AppleGothic"/>
              </a:defRPr>
            </a:lvl8pPr>
            <a:lvl9pPr>
              <a:defRPr sz="1800" b="0">
                <a:solidFill>
                  <a:srgbClr val="15243B"/>
                </a:solidFill>
                <a:latin typeface="AppleGothic"/>
                <a:ea typeface="AppleGothic"/>
                <a:cs typeface="AppleGothic"/>
              </a:defRPr>
            </a:lvl9pPr>
          </a:lstStyle>
          <a:p xmlns:a="http://schemas.openxmlformats.org/drawingml/2006/main">
            <a:pPr>
              <a:defRPr sz="1800" b="0">
                <a:solidFill>
                  <a:srgbClr val="15243B"/>
                </a:solidFill>
                <a:latin typeface="AppleGothic"/>
                <a:ea typeface="AppleGothic"/>
                <a:cs typeface="AppleGothic"/>
              </a:defRPr>
            </a:pPr>
            <a:r>
              <a:rPr sz="1800" b="0">
                <a:solidFill>
                  <a:srgbClr val="15243B"/>
                </a:solidFill>
                <a:latin typeface="AppleGothic"/>
                <a:ea typeface="AppleGothic"/>
                <a:cs typeface="AppleGothic"/>
              </a:rPr>
              <a:t>Point는 개별 측정을 유지하고 voxel은 3D grid 이웃을 만든다.</a:t>
            </a:r>
          </a:p>
          <a:p xmlns:a="http://schemas.openxmlformats.org/drawingml/2006/main">
            <a:pPr>
              <a:defRPr sz="1800" b="0">
                <a:solidFill>
                  <a:srgbClr val="15243B"/>
                </a:solidFill>
                <a:latin typeface="AppleGothic"/>
                <a:ea typeface="AppleGothic"/>
                <a:cs typeface="AppleGothic"/>
              </a:defRPr>
            </a:pPr>
            <a:r>
              <a:rPr sz="1800" b="0">
                <a:solidFill>
                  <a:srgbClr val="15243B"/>
                </a:solidFill>
                <a:latin typeface="AppleGothic"/>
                <a:ea typeface="AppleGothic"/>
                <a:cs typeface="AppleGothic"/>
              </a:rPr>
              <a:t>BEV는 높이를 channel이나 통계로 요약해 2D convolution을 쉽게 한다.</a:t>
            </a:r>
          </a:p>
        </p:txBody>
      </p:sp>
      <p:sp>
        <p:nvSpPr>
          <p:cNvPr id="5" name="">
            <a:extLst xmlns:a="http://schemas.openxmlformats.org/drawingml/2006/main">
              <a:ext uri="{FF2B5EF4-FFF2-40B4-BE49-F238E27FC236}">
                <a16:creationId xmlns:a16="http://schemas.microsoft.com/office/drawing/2014/main" id="{17F4F514-DE6C-4563-972A-8B1F027C02C3}"/>
              </a:ext>
            </a:extLst>
          </p:cNvPr>
          <p:cNvSpPr>
            <a:spLocks xmlns:a="http://schemas.openxmlformats.org/drawingml/2006/main" noGrp="1"/>
          </p:cNvSpPr>
          <p:nvPr/>
        </p:nvSpPr>
        <p:spPr>
          <a:xfrm xmlns:a="http://schemas.openxmlformats.org/drawingml/2006/main">
            <a:off x="11144250" y="6400800"/>
            <a:ext cx="5143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62748C"/>
                </a:solidFill>
                <a:latin typeface="AppleGothic"/>
                <a:ea typeface="AppleGothic"/>
                <a:cs typeface="AppleGothic"/>
              </a:defRPr>
            </a:defPPr>
            <a:lvl1pPr>
              <a:defRPr sz="1350" b="0">
                <a:solidFill>
                  <a:srgbClr val="62748C"/>
                </a:solidFill>
                <a:latin typeface="AppleGothic"/>
                <a:ea typeface="AppleGothic"/>
                <a:cs typeface="AppleGothic"/>
              </a:defRPr>
            </a:lvl1pPr>
            <a:lvl2pPr>
              <a:defRPr sz="1350" b="0">
                <a:solidFill>
                  <a:srgbClr val="62748C"/>
                </a:solidFill>
                <a:latin typeface="AppleGothic"/>
                <a:ea typeface="AppleGothic"/>
                <a:cs typeface="AppleGothic"/>
              </a:defRPr>
            </a:lvl2pPr>
            <a:lvl3pPr>
              <a:defRPr sz="1350" b="0">
                <a:solidFill>
                  <a:srgbClr val="62748C"/>
                </a:solidFill>
                <a:latin typeface="AppleGothic"/>
                <a:ea typeface="AppleGothic"/>
                <a:cs typeface="AppleGothic"/>
              </a:defRPr>
            </a:lvl3pPr>
            <a:lvl4pPr>
              <a:defRPr sz="1350" b="0">
                <a:solidFill>
                  <a:srgbClr val="62748C"/>
                </a:solidFill>
                <a:latin typeface="AppleGothic"/>
                <a:ea typeface="AppleGothic"/>
                <a:cs typeface="AppleGothic"/>
              </a:defRPr>
            </a:lvl4pPr>
            <a:lvl5pPr>
              <a:defRPr sz="1350" b="0">
                <a:solidFill>
                  <a:srgbClr val="62748C"/>
                </a:solidFill>
                <a:latin typeface="AppleGothic"/>
                <a:ea typeface="AppleGothic"/>
                <a:cs typeface="AppleGothic"/>
              </a:defRPr>
            </a:lvl5pPr>
            <a:lvl6pPr>
              <a:defRPr sz="1350" b="0">
                <a:solidFill>
                  <a:srgbClr val="62748C"/>
                </a:solidFill>
                <a:latin typeface="AppleGothic"/>
                <a:ea typeface="AppleGothic"/>
                <a:cs typeface="AppleGothic"/>
              </a:defRPr>
            </a:lvl6pPr>
            <a:lvl7pPr>
              <a:defRPr sz="1350" b="0">
                <a:solidFill>
                  <a:srgbClr val="62748C"/>
                </a:solidFill>
                <a:latin typeface="AppleGothic"/>
                <a:ea typeface="AppleGothic"/>
                <a:cs typeface="AppleGothic"/>
              </a:defRPr>
            </a:lvl7pPr>
            <a:lvl8pPr>
              <a:defRPr sz="1350" b="0">
                <a:solidFill>
                  <a:srgbClr val="62748C"/>
                </a:solidFill>
                <a:latin typeface="AppleGothic"/>
                <a:ea typeface="AppleGothic"/>
                <a:cs typeface="AppleGothic"/>
              </a:defRPr>
            </a:lvl8pPr>
            <a:lvl9pPr>
              <a:defRPr sz="1350" b="0">
                <a:solidFill>
                  <a:srgbClr val="62748C"/>
                </a:solidFill>
                <a:latin typeface="AppleGothic"/>
                <a:ea typeface="AppleGothic"/>
                <a:cs typeface="AppleGothic"/>
              </a:defRPr>
            </a:lvl9pPr>
          </a:lstStyle>
          <a:p xmlns:a="http://schemas.openxmlformats.org/drawingml/2006/main">
            <a:pPr>
              <a:defRPr sz="1350" b="0">
                <a:solidFill>
                  <a:srgbClr val="62748C"/>
                </a:solidFill>
                <a:latin typeface="AppleGothic"/>
                <a:ea typeface="AppleGothic"/>
                <a:cs typeface="AppleGothic"/>
              </a:defRPr>
            </a:pPr>
            <a:r>
              <a:rPr sz="1350" b="0">
                <a:solidFill>
                  <a:srgbClr val="62748C"/>
                </a:solidFill>
                <a:latin typeface="AppleGothic"/>
                <a:ea typeface="AppleGothic"/>
                <a:cs typeface="AppleGothic"/>
              </a:rPr>
              <a:t>20</a:t>
            </a:r>
          </a:p>
        </p:txBody>
      </p:sp>
    </p:spTree>
    <p:extLst>
      <p:ext uri="{BB962C8B-B14F-4D97-AF65-F5344CB8AC3E}">
        <p14:creationId xmlns:p14="http://schemas.microsoft.com/office/powerpoint/2010/main" val="2144929693"/>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8676F95-2905-4CC6-A319-64D9028ADF07}"/>
              </a:ext>
            </a:extLst>
          </p:cNvPr>
          <p:cNvSpPr>
            <a:spLocks xmlns:a="http://schemas.openxmlformats.org/drawingml/2006/main" noGrp="1"/>
          </p:cNvSpPr>
          <p:nvPr/>
        </p:nvSpPr>
        <p:spPr>
          <a:xfrm xmlns:a="http://schemas.openxmlformats.org/drawingml/2006/main">
            <a:off x="533400" y="342900"/>
            <a:ext cx="111252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150" b="1">
                <a:solidFill>
                  <a:srgbClr val="15243B"/>
                </a:solidFill>
                <a:latin typeface="AppleGothic"/>
                <a:ea typeface="AppleGothic"/>
                <a:cs typeface="AppleGothic"/>
              </a:defRPr>
            </a:defPPr>
            <a:lvl1pPr>
              <a:defRPr sz="3150" b="1">
                <a:solidFill>
                  <a:srgbClr val="15243B"/>
                </a:solidFill>
                <a:latin typeface="AppleGothic"/>
                <a:ea typeface="AppleGothic"/>
                <a:cs typeface="AppleGothic"/>
              </a:defRPr>
            </a:lvl1pPr>
            <a:lvl2pPr>
              <a:defRPr sz="3150" b="1">
                <a:solidFill>
                  <a:srgbClr val="15243B"/>
                </a:solidFill>
                <a:latin typeface="AppleGothic"/>
                <a:ea typeface="AppleGothic"/>
                <a:cs typeface="AppleGothic"/>
              </a:defRPr>
            </a:lvl2pPr>
            <a:lvl3pPr>
              <a:defRPr sz="3150" b="1">
                <a:solidFill>
                  <a:srgbClr val="15243B"/>
                </a:solidFill>
                <a:latin typeface="AppleGothic"/>
                <a:ea typeface="AppleGothic"/>
                <a:cs typeface="AppleGothic"/>
              </a:defRPr>
            </a:lvl3pPr>
            <a:lvl4pPr>
              <a:defRPr sz="3150" b="1">
                <a:solidFill>
                  <a:srgbClr val="15243B"/>
                </a:solidFill>
                <a:latin typeface="AppleGothic"/>
                <a:ea typeface="AppleGothic"/>
                <a:cs typeface="AppleGothic"/>
              </a:defRPr>
            </a:lvl4pPr>
            <a:lvl5pPr>
              <a:defRPr sz="3150" b="1">
                <a:solidFill>
                  <a:srgbClr val="15243B"/>
                </a:solidFill>
                <a:latin typeface="AppleGothic"/>
                <a:ea typeface="AppleGothic"/>
                <a:cs typeface="AppleGothic"/>
              </a:defRPr>
            </a:lvl5pPr>
            <a:lvl6pPr>
              <a:defRPr sz="3150" b="1">
                <a:solidFill>
                  <a:srgbClr val="15243B"/>
                </a:solidFill>
                <a:latin typeface="AppleGothic"/>
                <a:ea typeface="AppleGothic"/>
                <a:cs typeface="AppleGothic"/>
              </a:defRPr>
            </a:lvl6pPr>
            <a:lvl7pPr>
              <a:defRPr sz="3150" b="1">
                <a:solidFill>
                  <a:srgbClr val="15243B"/>
                </a:solidFill>
                <a:latin typeface="AppleGothic"/>
                <a:ea typeface="AppleGothic"/>
                <a:cs typeface="AppleGothic"/>
              </a:defRPr>
            </a:lvl7pPr>
            <a:lvl8pPr>
              <a:defRPr sz="3150" b="1">
                <a:solidFill>
                  <a:srgbClr val="15243B"/>
                </a:solidFill>
                <a:latin typeface="AppleGothic"/>
                <a:ea typeface="AppleGothic"/>
                <a:cs typeface="AppleGothic"/>
              </a:defRPr>
            </a:lvl8pPr>
            <a:lvl9pPr>
              <a:defRPr sz="3150" b="1">
                <a:solidFill>
                  <a:srgbClr val="15243B"/>
                </a:solidFill>
                <a:latin typeface="AppleGothic"/>
                <a:ea typeface="AppleGothic"/>
                <a:cs typeface="AppleGothic"/>
              </a:defRPr>
            </a:lvl9pPr>
          </a:lstStyle>
          <a:p xmlns:a="http://schemas.openxmlformats.org/drawingml/2006/main">
            <a:pPr>
              <a:defRPr sz="3150" b="1">
                <a:solidFill>
                  <a:srgbClr val="15243B"/>
                </a:solidFill>
                <a:latin typeface="AppleGothic"/>
                <a:ea typeface="AppleGothic"/>
                <a:cs typeface="AppleGothic"/>
              </a:defRPr>
            </a:pPr>
            <a:r>
              <a:rPr sz="3150" b="1">
                <a:solidFill>
                  <a:srgbClr val="15243B"/>
                </a:solidFill>
                <a:latin typeface="AppleGothic"/>
                <a:ea typeface="AppleGothic"/>
                <a:cs typeface="AppleGothic"/>
              </a:rPr>
              <a:t>VoxelNet</a:t>
            </a:r>
          </a:p>
        </p:txBody>
      </p:sp>
      <p:sp>
        <p:nvSpPr>
          <p:cNvPr id="2" name="">
            <a:extLst xmlns:a="http://schemas.openxmlformats.org/drawingml/2006/main">
              <a:ext uri="{FF2B5EF4-FFF2-40B4-BE49-F238E27FC236}">
                <a16:creationId xmlns:a16="http://schemas.microsoft.com/office/drawing/2014/main" id="{251D8AF9-D2A0-4E92-BE89-CA91B3DC7160}"/>
              </a:ext>
            </a:extLst>
          </p:cNvPr>
          <p:cNvSpPr>
            <a:spLocks xmlns:a="http://schemas.openxmlformats.org/drawingml/2006/main" noGrp="1"/>
          </p:cNvSpPr>
          <p:nvPr/>
        </p:nvSpPr>
        <p:spPr>
          <a:xfrm xmlns:a="http://schemas.openxmlformats.org/drawingml/2006/main">
            <a:off x="533400" y="1066800"/>
            <a:ext cx="111252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1">
                <a:solidFill>
                  <a:srgbClr val="2164CB"/>
                </a:solidFill>
                <a:latin typeface="AppleGothic"/>
                <a:ea typeface="AppleGothic"/>
                <a:cs typeface="AppleGothic"/>
              </a:defRPr>
            </a:defPPr>
            <a:lvl1pPr>
              <a:defRPr sz="2175" b="1">
                <a:solidFill>
                  <a:srgbClr val="2164CB"/>
                </a:solidFill>
                <a:latin typeface="AppleGothic"/>
                <a:ea typeface="AppleGothic"/>
                <a:cs typeface="AppleGothic"/>
              </a:defRPr>
            </a:lvl1pPr>
            <a:lvl2pPr>
              <a:defRPr sz="2175" b="1">
                <a:solidFill>
                  <a:srgbClr val="2164CB"/>
                </a:solidFill>
                <a:latin typeface="AppleGothic"/>
                <a:ea typeface="AppleGothic"/>
                <a:cs typeface="AppleGothic"/>
              </a:defRPr>
            </a:lvl2pPr>
            <a:lvl3pPr>
              <a:defRPr sz="2175" b="1">
                <a:solidFill>
                  <a:srgbClr val="2164CB"/>
                </a:solidFill>
                <a:latin typeface="AppleGothic"/>
                <a:ea typeface="AppleGothic"/>
                <a:cs typeface="AppleGothic"/>
              </a:defRPr>
            </a:lvl3pPr>
            <a:lvl4pPr>
              <a:defRPr sz="2175" b="1">
                <a:solidFill>
                  <a:srgbClr val="2164CB"/>
                </a:solidFill>
                <a:latin typeface="AppleGothic"/>
                <a:ea typeface="AppleGothic"/>
                <a:cs typeface="AppleGothic"/>
              </a:defRPr>
            </a:lvl4pPr>
            <a:lvl5pPr>
              <a:defRPr sz="2175" b="1">
                <a:solidFill>
                  <a:srgbClr val="2164CB"/>
                </a:solidFill>
                <a:latin typeface="AppleGothic"/>
                <a:ea typeface="AppleGothic"/>
                <a:cs typeface="AppleGothic"/>
              </a:defRPr>
            </a:lvl5pPr>
            <a:lvl6pPr>
              <a:defRPr sz="2175" b="1">
                <a:solidFill>
                  <a:srgbClr val="2164CB"/>
                </a:solidFill>
                <a:latin typeface="AppleGothic"/>
                <a:ea typeface="AppleGothic"/>
                <a:cs typeface="AppleGothic"/>
              </a:defRPr>
            </a:lvl6pPr>
            <a:lvl7pPr>
              <a:defRPr sz="2175" b="1">
                <a:solidFill>
                  <a:srgbClr val="2164CB"/>
                </a:solidFill>
                <a:latin typeface="AppleGothic"/>
                <a:ea typeface="AppleGothic"/>
                <a:cs typeface="AppleGothic"/>
              </a:defRPr>
            </a:lvl7pPr>
            <a:lvl8pPr>
              <a:defRPr sz="2175" b="1">
                <a:solidFill>
                  <a:srgbClr val="2164CB"/>
                </a:solidFill>
                <a:latin typeface="AppleGothic"/>
                <a:ea typeface="AppleGothic"/>
                <a:cs typeface="AppleGothic"/>
              </a:defRPr>
            </a:lvl8pPr>
            <a:lvl9pPr>
              <a:defRPr sz="2175" b="1">
                <a:solidFill>
                  <a:srgbClr val="2164CB"/>
                </a:solidFill>
                <a:latin typeface="AppleGothic"/>
                <a:ea typeface="AppleGothic"/>
                <a:cs typeface="AppleGothic"/>
              </a:defRPr>
            </a:lvl9pPr>
          </a:lstStyle>
          <a:p xmlns:a="http://schemas.openxmlformats.org/drawingml/2006/main">
            <a:pPr>
              <a:defRPr sz="2175" b="1">
                <a:solidFill>
                  <a:srgbClr val="2164CB"/>
                </a:solidFill>
                <a:latin typeface="AppleGothic"/>
                <a:ea typeface="AppleGothic"/>
                <a:cs typeface="AppleGothic"/>
              </a:defRPr>
            </a:pPr>
            <a:r>
              <a:rPr sz="2175" b="1">
                <a:solidFill>
                  <a:srgbClr val="2164CB"/>
                </a:solidFill>
                <a:latin typeface="AppleGothic"/>
                <a:ea typeface="AppleGothic"/>
                <a:cs typeface="AppleGothic"/>
              </a:rPr>
              <a:t>VoxelNet은 voxel 내부의 point 특징을 학습하고 3D grid에서 이웃 정보를 모은다</a:t>
            </a:r>
          </a:p>
        </p:txBody>
      </p:sp>
      <p:pic>
        <p:nvPicPr>
          <p:cNvPr id="3" name="">
            <a:extLst xmlns:a="http://schemas.openxmlformats.org/drawingml/2006/main">
              <a:ext uri="{FF2B5EF4-FFF2-40B4-BE49-F238E27FC236}">
                <a16:creationId xmlns:a16="http://schemas.microsoft.com/office/drawing/2014/main" id="{84993686-69AB-412D-8E25-CCB1A7F9B2FF}"/>
              </a:ext>
            </a:extLst>
          </p:cNvPr>
          <p:cNvPicPr>
            <a:picLocks xmlns:a="http://schemas.openxmlformats.org/drawingml/2006/main" noChangeAspect="1"/>
          </p:cNvPicPr>
          <p:nvPr/>
        </p:nvPicPr>
        <p:blipFill>
          <a:blip xmlns:r="http://schemas.openxmlformats.org/officeDocument/2006/relationships" xmlns:a="http://schemas.openxmlformats.org/drawingml/2006/main" r:embed="R6a8536912a3c425b"/>
          <a:stretch xmlns:a="http://schemas.openxmlformats.org/drawingml/2006/main"/>
        </p:blipFill>
        <p:spPr>
          <a:xfrm xmlns:a="http://schemas.openxmlformats.org/drawingml/2006/main">
            <a:off x="802525" y="2057400"/>
            <a:ext cx="6605501" cy="3714750"/>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8162945E-471B-4A73-9161-C004BFD59BBE}"/>
              </a:ext>
            </a:extLst>
          </p:cNvPr>
          <p:cNvSpPr>
            <a:spLocks xmlns:a="http://schemas.openxmlformats.org/drawingml/2006/main" noGrp="1"/>
          </p:cNvSpPr>
          <p:nvPr/>
        </p:nvSpPr>
        <p:spPr>
          <a:xfrm xmlns:a="http://schemas.openxmlformats.org/drawingml/2006/main">
            <a:off x="7981950" y="2114550"/>
            <a:ext cx="3676650" cy="3667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75" b="0">
                <a:solidFill>
                  <a:srgbClr val="15243B"/>
                </a:solidFill>
                <a:latin typeface="AppleGothic"/>
                <a:ea typeface="AppleGothic"/>
                <a:cs typeface="AppleGothic"/>
              </a:defRPr>
            </a:defPPr>
            <a:lvl1pPr>
              <a:defRPr sz="1875" b="0">
                <a:solidFill>
                  <a:srgbClr val="15243B"/>
                </a:solidFill>
                <a:latin typeface="AppleGothic"/>
                <a:ea typeface="AppleGothic"/>
                <a:cs typeface="AppleGothic"/>
              </a:defRPr>
            </a:lvl1pPr>
            <a:lvl2pPr>
              <a:defRPr sz="1875" b="0">
                <a:solidFill>
                  <a:srgbClr val="15243B"/>
                </a:solidFill>
                <a:latin typeface="AppleGothic"/>
                <a:ea typeface="AppleGothic"/>
                <a:cs typeface="AppleGothic"/>
              </a:defRPr>
            </a:lvl2pPr>
            <a:lvl3pPr>
              <a:defRPr sz="1875" b="0">
                <a:solidFill>
                  <a:srgbClr val="15243B"/>
                </a:solidFill>
                <a:latin typeface="AppleGothic"/>
                <a:ea typeface="AppleGothic"/>
                <a:cs typeface="AppleGothic"/>
              </a:defRPr>
            </a:lvl3pPr>
            <a:lvl4pPr>
              <a:defRPr sz="1875" b="0">
                <a:solidFill>
                  <a:srgbClr val="15243B"/>
                </a:solidFill>
                <a:latin typeface="AppleGothic"/>
                <a:ea typeface="AppleGothic"/>
                <a:cs typeface="AppleGothic"/>
              </a:defRPr>
            </a:lvl4pPr>
            <a:lvl5pPr>
              <a:defRPr sz="1875" b="0">
                <a:solidFill>
                  <a:srgbClr val="15243B"/>
                </a:solidFill>
                <a:latin typeface="AppleGothic"/>
                <a:ea typeface="AppleGothic"/>
                <a:cs typeface="AppleGothic"/>
              </a:defRPr>
            </a:lvl5pPr>
            <a:lvl6pPr>
              <a:defRPr sz="1875" b="0">
                <a:solidFill>
                  <a:srgbClr val="15243B"/>
                </a:solidFill>
                <a:latin typeface="AppleGothic"/>
                <a:ea typeface="AppleGothic"/>
                <a:cs typeface="AppleGothic"/>
              </a:defRPr>
            </a:lvl6pPr>
            <a:lvl7pPr>
              <a:defRPr sz="1875" b="0">
                <a:solidFill>
                  <a:srgbClr val="15243B"/>
                </a:solidFill>
                <a:latin typeface="AppleGothic"/>
                <a:ea typeface="AppleGothic"/>
                <a:cs typeface="AppleGothic"/>
              </a:defRPr>
            </a:lvl7pPr>
            <a:lvl8pPr>
              <a:defRPr sz="1875" b="0">
                <a:solidFill>
                  <a:srgbClr val="15243B"/>
                </a:solidFill>
                <a:latin typeface="AppleGothic"/>
                <a:ea typeface="AppleGothic"/>
                <a:cs typeface="AppleGothic"/>
              </a:defRPr>
            </a:lvl8pPr>
            <a:lvl9pPr>
              <a:defRPr sz="1875" b="0">
                <a:solidFill>
                  <a:srgbClr val="15243B"/>
                </a:solidFill>
                <a:latin typeface="AppleGothic"/>
                <a:ea typeface="AppleGothic"/>
                <a:cs typeface="AppleGothic"/>
              </a:defRPr>
            </a:lvl9pPr>
          </a:lstStyle>
          <a:p xmlns:a="http://schemas.openxmlformats.org/drawingml/2006/main">
            <a:pPr>
              <a:defRPr sz="1875" b="0">
                <a:solidFill>
                  <a:srgbClr val="15243B"/>
                </a:solidFill>
                <a:latin typeface="AppleGothic"/>
                <a:ea typeface="AppleGothic"/>
                <a:cs typeface="AppleGothic"/>
              </a:defRPr>
            </a:pPr>
            <a:r>
              <a:rPr sz="1875" b="0">
                <a:solidFill>
                  <a:srgbClr val="15243B"/>
                </a:solidFill>
                <a:latin typeface="AppleGothic"/>
                <a:ea typeface="AppleGothic"/>
                <a:cs typeface="AppleGothic"/>
              </a:rPr>
              <a:t>VFE는 point 특징과 voxel별 max feature를 결합해 sparse voxel tensor를 만든다.</a:t>
            </a:r>
          </a:p>
          <a:p xmlns:a="http://schemas.openxmlformats.org/drawingml/2006/main">
            <a:r>
              <a:t/>
            </a:r>
          </a:p>
          <a:p xmlns:a="http://schemas.openxmlformats.org/drawingml/2006/main">
            <a:pPr>
              <a:defRPr sz="1875" b="0">
                <a:solidFill>
                  <a:srgbClr val="15243B"/>
                </a:solidFill>
                <a:latin typeface="AppleGothic"/>
                <a:ea typeface="AppleGothic"/>
                <a:cs typeface="AppleGothic"/>
              </a:defRPr>
            </a:pPr>
            <a:r>
              <a:rPr sz="1875" b="0">
                <a:solidFill>
                  <a:srgbClr val="15243B"/>
                </a:solidFill>
                <a:latin typeface="AppleGothic"/>
                <a:ea typeface="AppleGothic"/>
                <a:cs typeface="AppleGothic"/>
              </a:rPr>
              <a:t>3D convolution 뒤 height 정보를 channel로 합쳐 BEV detection head에 전달한다.</a:t>
            </a:r>
          </a:p>
        </p:txBody>
      </p:sp>
      <p:sp>
        <p:nvSpPr>
          <p:cNvPr id="5" name="">
            <a:extLst xmlns:a="http://schemas.openxmlformats.org/drawingml/2006/main">
              <a:ext uri="{FF2B5EF4-FFF2-40B4-BE49-F238E27FC236}">
                <a16:creationId xmlns:a16="http://schemas.microsoft.com/office/drawing/2014/main" id="{98A26289-A306-49D3-9F84-13ADCAE36597}"/>
              </a:ext>
            </a:extLst>
          </p:cNvPr>
          <p:cNvSpPr>
            <a:spLocks xmlns:a="http://schemas.openxmlformats.org/drawingml/2006/main" noGrp="1"/>
          </p:cNvSpPr>
          <p:nvPr/>
        </p:nvSpPr>
        <p:spPr>
          <a:xfrm xmlns:a="http://schemas.openxmlformats.org/drawingml/2006/main">
            <a:off x="533400" y="5895975"/>
            <a:ext cx="1112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526378"/>
                </a:solidFill>
                <a:latin typeface="AppleGothic"/>
                <a:ea typeface="AppleGothic"/>
                <a:cs typeface="AppleGothic"/>
              </a:defRPr>
            </a:defPPr>
            <a:lvl1pPr>
              <a:defRPr sz="1350" b="0">
                <a:solidFill>
                  <a:srgbClr val="526378"/>
                </a:solidFill>
                <a:latin typeface="AppleGothic"/>
                <a:ea typeface="AppleGothic"/>
                <a:cs typeface="AppleGothic"/>
              </a:defRPr>
            </a:lvl1pPr>
            <a:lvl2pPr>
              <a:defRPr sz="1350" b="0">
                <a:solidFill>
                  <a:srgbClr val="526378"/>
                </a:solidFill>
                <a:latin typeface="AppleGothic"/>
                <a:ea typeface="AppleGothic"/>
                <a:cs typeface="AppleGothic"/>
              </a:defRPr>
            </a:lvl2pPr>
            <a:lvl3pPr>
              <a:defRPr sz="1350" b="0">
                <a:solidFill>
                  <a:srgbClr val="526378"/>
                </a:solidFill>
                <a:latin typeface="AppleGothic"/>
                <a:ea typeface="AppleGothic"/>
                <a:cs typeface="AppleGothic"/>
              </a:defRPr>
            </a:lvl3pPr>
            <a:lvl4pPr>
              <a:defRPr sz="1350" b="0">
                <a:solidFill>
                  <a:srgbClr val="526378"/>
                </a:solidFill>
                <a:latin typeface="AppleGothic"/>
                <a:ea typeface="AppleGothic"/>
                <a:cs typeface="AppleGothic"/>
              </a:defRPr>
            </a:lvl4pPr>
            <a:lvl5pPr>
              <a:defRPr sz="1350" b="0">
                <a:solidFill>
                  <a:srgbClr val="526378"/>
                </a:solidFill>
                <a:latin typeface="AppleGothic"/>
                <a:ea typeface="AppleGothic"/>
                <a:cs typeface="AppleGothic"/>
              </a:defRPr>
            </a:lvl5pPr>
            <a:lvl6pPr>
              <a:defRPr sz="1350" b="0">
                <a:solidFill>
                  <a:srgbClr val="526378"/>
                </a:solidFill>
                <a:latin typeface="AppleGothic"/>
                <a:ea typeface="AppleGothic"/>
                <a:cs typeface="AppleGothic"/>
              </a:defRPr>
            </a:lvl6pPr>
            <a:lvl7pPr>
              <a:defRPr sz="1350" b="0">
                <a:solidFill>
                  <a:srgbClr val="526378"/>
                </a:solidFill>
                <a:latin typeface="AppleGothic"/>
                <a:ea typeface="AppleGothic"/>
                <a:cs typeface="AppleGothic"/>
              </a:defRPr>
            </a:lvl7pPr>
            <a:lvl8pPr>
              <a:defRPr sz="1350" b="0">
                <a:solidFill>
                  <a:srgbClr val="526378"/>
                </a:solidFill>
                <a:latin typeface="AppleGothic"/>
                <a:ea typeface="AppleGothic"/>
                <a:cs typeface="AppleGothic"/>
              </a:defRPr>
            </a:lvl8pPr>
            <a:lvl9pPr>
              <a:defRPr sz="1350" b="0">
                <a:solidFill>
                  <a:srgbClr val="526378"/>
                </a:solidFill>
                <a:latin typeface="AppleGothic"/>
                <a:ea typeface="AppleGothic"/>
                <a:cs typeface="AppleGothic"/>
              </a:defRPr>
            </a:lvl9pPr>
          </a:lstStyle>
          <a:p xmlns:a="http://schemas.openxmlformats.org/drawingml/2006/main">
            <a:pPr>
              <a:defRPr sz="1350" b="0">
                <a:solidFill>
                  <a:srgbClr val="526378"/>
                </a:solidFill>
                <a:latin typeface="AppleGothic"/>
                <a:ea typeface="AppleGothic"/>
                <a:cs typeface="AppleGothic"/>
              </a:defRPr>
            </a:pPr>
            <a:r>
              <a:rPr sz="1350" b="0">
                <a:solidFill>
                  <a:srgbClr val="526378"/>
                </a:solidFill>
                <a:latin typeface="AppleGothic"/>
                <a:ea typeface="AppleGothic"/>
                <a:cs typeface="AppleGothic"/>
              </a:rPr>
              <a:t>Lecture 10, p. 29. Voxel partition, grouping, sampling, and VFE</a:t>
            </a:r>
          </a:p>
        </p:txBody>
      </p:sp>
      <p:sp>
        <p:nvSpPr>
          <p:cNvPr id="6" name="">
            <a:extLst xmlns:a="http://schemas.openxmlformats.org/drawingml/2006/main">
              <a:ext uri="{FF2B5EF4-FFF2-40B4-BE49-F238E27FC236}">
                <a16:creationId xmlns:a16="http://schemas.microsoft.com/office/drawing/2014/main" id="{41DEA3CC-7AF4-40D5-98A2-1DF7949C2353}"/>
              </a:ext>
            </a:extLst>
          </p:cNvPr>
          <p:cNvSpPr>
            <a:spLocks xmlns:a="http://schemas.openxmlformats.org/drawingml/2006/main" noGrp="1"/>
          </p:cNvSpPr>
          <p:nvPr/>
        </p:nvSpPr>
        <p:spPr>
          <a:xfrm xmlns:a="http://schemas.openxmlformats.org/drawingml/2006/main">
            <a:off x="11144250" y="6400800"/>
            <a:ext cx="5143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62748C"/>
                </a:solidFill>
                <a:latin typeface="AppleGothic"/>
                <a:ea typeface="AppleGothic"/>
                <a:cs typeface="AppleGothic"/>
              </a:defRPr>
            </a:defPPr>
            <a:lvl1pPr>
              <a:defRPr sz="1350" b="0">
                <a:solidFill>
                  <a:srgbClr val="62748C"/>
                </a:solidFill>
                <a:latin typeface="AppleGothic"/>
                <a:ea typeface="AppleGothic"/>
                <a:cs typeface="AppleGothic"/>
              </a:defRPr>
            </a:lvl1pPr>
            <a:lvl2pPr>
              <a:defRPr sz="1350" b="0">
                <a:solidFill>
                  <a:srgbClr val="62748C"/>
                </a:solidFill>
                <a:latin typeface="AppleGothic"/>
                <a:ea typeface="AppleGothic"/>
                <a:cs typeface="AppleGothic"/>
              </a:defRPr>
            </a:lvl2pPr>
            <a:lvl3pPr>
              <a:defRPr sz="1350" b="0">
                <a:solidFill>
                  <a:srgbClr val="62748C"/>
                </a:solidFill>
                <a:latin typeface="AppleGothic"/>
                <a:ea typeface="AppleGothic"/>
                <a:cs typeface="AppleGothic"/>
              </a:defRPr>
            </a:lvl3pPr>
            <a:lvl4pPr>
              <a:defRPr sz="1350" b="0">
                <a:solidFill>
                  <a:srgbClr val="62748C"/>
                </a:solidFill>
                <a:latin typeface="AppleGothic"/>
                <a:ea typeface="AppleGothic"/>
                <a:cs typeface="AppleGothic"/>
              </a:defRPr>
            </a:lvl4pPr>
            <a:lvl5pPr>
              <a:defRPr sz="1350" b="0">
                <a:solidFill>
                  <a:srgbClr val="62748C"/>
                </a:solidFill>
                <a:latin typeface="AppleGothic"/>
                <a:ea typeface="AppleGothic"/>
                <a:cs typeface="AppleGothic"/>
              </a:defRPr>
            </a:lvl5pPr>
            <a:lvl6pPr>
              <a:defRPr sz="1350" b="0">
                <a:solidFill>
                  <a:srgbClr val="62748C"/>
                </a:solidFill>
                <a:latin typeface="AppleGothic"/>
                <a:ea typeface="AppleGothic"/>
                <a:cs typeface="AppleGothic"/>
              </a:defRPr>
            </a:lvl6pPr>
            <a:lvl7pPr>
              <a:defRPr sz="1350" b="0">
                <a:solidFill>
                  <a:srgbClr val="62748C"/>
                </a:solidFill>
                <a:latin typeface="AppleGothic"/>
                <a:ea typeface="AppleGothic"/>
                <a:cs typeface="AppleGothic"/>
              </a:defRPr>
            </a:lvl7pPr>
            <a:lvl8pPr>
              <a:defRPr sz="1350" b="0">
                <a:solidFill>
                  <a:srgbClr val="62748C"/>
                </a:solidFill>
                <a:latin typeface="AppleGothic"/>
                <a:ea typeface="AppleGothic"/>
                <a:cs typeface="AppleGothic"/>
              </a:defRPr>
            </a:lvl8pPr>
            <a:lvl9pPr>
              <a:defRPr sz="1350" b="0">
                <a:solidFill>
                  <a:srgbClr val="62748C"/>
                </a:solidFill>
                <a:latin typeface="AppleGothic"/>
                <a:ea typeface="AppleGothic"/>
                <a:cs typeface="AppleGothic"/>
              </a:defRPr>
            </a:lvl9pPr>
          </a:lstStyle>
          <a:p xmlns:a="http://schemas.openxmlformats.org/drawingml/2006/main">
            <a:pPr>
              <a:defRPr sz="1350" b="0">
                <a:solidFill>
                  <a:srgbClr val="62748C"/>
                </a:solidFill>
                <a:latin typeface="AppleGothic"/>
                <a:ea typeface="AppleGothic"/>
                <a:cs typeface="AppleGothic"/>
              </a:defRPr>
            </a:pPr>
            <a:r>
              <a:rPr sz="1350" b="0">
                <a:solidFill>
                  <a:srgbClr val="62748C"/>
                </a:solidFill>
                <a:latin typeface="AppleGothic"/>
                <a:ea typeface="AppleGothic"/>
                <a:cs typeface="AppleGothic"/>
              </a:rPr>
              <a:t>21</a:t>
            </a:r>
          </a:p>
        </p:txBody>
      </p:sp>
    </p:spTree>
    <p:extLst>
      <p:ext uri="{BB962C8B-B14F-4D97-AF65-F5344CB8AC3E}">
        <p14:creationId xmlns:p14="http://schemas.microsoft.com/office/powerpoint/2010/main" val="1571148843"/>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EB4D42B5-14D0-4D5D-8B55-57B371481BC0}"/>
              </a:ext>
            </a:extLst>
          </p:cNvPr>
          <p:cNvSpPr>
            <a:spLocks xmlns:a="http://schemas.openxmlformats.org/drawingml/2006/main" noGrp="1"/>
          </p:cNvSpPr>
          <p:nvPr/>
        </p:nvSpPr>
        <p:spPr>
          <a:xfrm xmlns:a="http://schemas.openxmlformats.org/drawingml/2006/main">
            <a:off x="533400" y="342900"/>
            <a:ext cx="111252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150" b="1">
                <a:solidFill>
                  <a:srgbClr val="15243B"/>
                </a:solidFill>
                <a:latin typeface="AppleGothic"/>
                <a:ea typeface="AppleGothic"/>
                <a:cs typeface="AppleGothic"/>
              </a:defRPr>
            </a:defPPr>
            <a:lvl1pPr>
              <a:defRPr sz="3150" b="1">
                <a:solidFill>
                  <a:srgbClr val="15243B"/>
                </a:solidFill>
                <a:latin typeface="AppleGothic"/>
                <a:ea typeface="AppleGothic"/>
                <a:cs typeface="AppleGothic"/>
              </a:defRPr>
            </a:lvl1pPr>
            <a:lvl2pPr>
              <a:defRPr sz="3150" b="1">
                <a:solidFill>
                  <a:srgbClr val="15243B"/>
                </a:solidFill>
                <a:latin typeface="AppleGothic"/>
                <a:ea typeface="AppleGothic"/>
                <a:cs typeface="AppleGothic"/>
              </a:defRPr>
            </a:lvl2pPr>
            <a:lvl3pPr>
              <a:defRPr sz="3150" b="1">
                <a:solidFill>
                  <a:srgbClr val="15243B"/>
                </a:solidFill>
                <a:latin typeface="AppleGothic"/>
                <a:ea typeface="AppleGothic"/>
                <a:cs typeface="AppleGothic"/>
              </a:defRPr>
            </a:lvl3pPr>
            <a:lvl4pPr>
              <a:defRPr sz="3150" b="1">
                <a:solidFill>
                  <a:srgbClr val="15243B"/>
                </a:solidFill>
                <a:latin typeface="AppleGothic"/>
                <a:ea typeface="AppleGothic"/>
                <a:cs typeface="AppleGothic"/>
              </a:defRPr>
            </a:lvl4pPr>
            <a:lvl5pPr>
              <a:defRPr sz="3150" b="1">
                <a:solidFill>
                  <a:srgbClr val="15243B"/>
                </a:solidFill>
                <a:latin typeface="AppleGothic"/>
                <a:ea typeface="AppleGothic"/>
                <a:cs typeface="AppleGothic"/>
              </a:defRPr>
            </a:lvl5pPr>
            <a:lvl6pPr>
              <a:defRPr sz="3150" b="1">
                <a:solidFill>
                  <a:srgbClr val="15243B"/>
                </a:solidFill>
                <a:latin typeface="AppleGothic"/>
                <a:ea typeface="AppleGothic"/>
                <a:cs typeface="AppleGothic"/>
              </a:defRPr>
            </a:lvl6pPr>
            <a:lvl7pPr>
              <a:defRPr sz="3150" b="1">
                <a:solidFill>
                  <a:srgbClr val="15243B"/>
                </a:solidFill>
                <a:latin typeface="AppleGothic"/>
                <a:ea typeface="AppleGothic"/>
                <a:cs typeface="AppleGothic"/>
              </a:defRPr>
            </a:lvl7pPr>
            <a:lvl8pPr>
              <a:defRPr sz="3150" b="1">
                <a:solidFill>
                  <a:srgbClr val="15243B"/>
                </a:solidFill>
                <a:latin typeface="AppleGothic"/>
                <a:ea typeface="AppleGothic"/>
                <a:cs typeface="AppleGothic"/>
              </a:defRPr>
            </a:lvl8pPr>
            <a:lvl9pPr>
              <a:defRPr sz="3150" b="1">
                <a:solidFill>
                  <a:srgbClr val="15243B"/>
                </a:solidFill>
                <a:latin typeface="AppleGothic"/>
                <a:ea typeface="AppleGothic"/>
                <a:cs typeface="AppleGothic"/>
              </a:defRPr>
            </a:lvl9pPr>
          </a:lstStyle>
          <a:p xmlns:a="http://schemas.openxmlformats.org/drawingml/2006/main">
            <a:pPr>
              <a:defRPr sz="3150" b="1">
                <a:solidFill>
                  <a:srgbClr val="15243B"/>
                </a:solidFill>
                <a:latin typeface="AppleGothic"/>
                <a:ea typeface="AppleGothic"/>
                <a:cs typeface="AppleGothic"/>
              </a:defRPr>
            </a:pPr>
            <a:r>
              <a:rPr sz="3150" b="1">
                <a:solidFill>
                  <a:srgbClr val="15243B"/>
                </a:solidFill>
                <a:latin typeface="AppleGothic"/>
                <a:ea typeface="AppleGothic"/>
                <a:cs typeface="AppleGothic"/>
              </a:rPr>
              <a:t>Frustum PointNets</a:t>
            </a:r>
          </a:p>
        </p:txBody>
      </p:sp>
      <p:sp>
        <p:nvSpPr>
          <p:cNvPr id="2" name="">
            <a:extLst xmlns:a="http://schemas.openxmlformats.org/drawingml/2006/main">
              <a:ext uri="{FF2B5EF4-FFF2-40B4-BE49-F238E27FC236}">
                <a16:creationId xmlns:a16="http://schemas.microsoft.com/office/drawing/2014/main" id="{22F147B0-E92B-42DC-B674-66FC38DCA161}"/>
              </a:ext>
            </a:extLst>
          </p:cNvPr>
          <p:cNvSpPr>
            <a:spLocks xmlns:a="http://schemas.openxmlformats.org/drawingml/2006/main" noGrp="1"/>
          </p:cNvSpPr>
          <p:nvPr/>
        </p:nvSpPr>
        <p:spPr>
          <a:xfrm xmlns:a="http://schemas.openxmlformats.org/drawingml/2006/main">
            <a:off x="533400" y="1066800"/>
            <a:ext cx="111252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1">
                <a:solidFill>
                  <a:srgbClr val="2164CB"/>
                </a:solidFill>
                <a:latin typeface="AppleGothic"/>
                <a:ea typeface="AppleGothic"/>
                <a:cs typeface="AppleGothic"/>
              </a:defRPr>
            </a:defPPr>
            <a:lvl1pPr>
              <a:defRPr sz="2175" b="1">
                <a:solidFill>
                  <a:srgbClr val="2164CB"/>
                </a:solidFill>
                <a:latin typeface="AppleGothic"/>
                <a:ea typeface="AppleGothic"/>
                <a:cs typeface="AppleGothic"/>
              </a:defRPr>
            </a:lvl1pPr>
            <a:lvl2pPr>
              <a:defRPr sz="2175" b="1">
                <a:solidFill>
                  <a:srgbClr val="2164CB"/>
                </a:solidFill>
                <a:latin typeface="AppleGothic"/>
                <a:ea typeface="AppleGothic"/>
                <a:cs typeface="AppleGothic"/>
              </a:defRPr>
            </a:lvl2pPr>
            <a:lvl3pPr>
              <a:defRPr sz="2175" b="1">
                <a:solidFill>
                  <a:srgbClr val="2164CB"/>
                </a:solidFill>
                <a:latin typeface="AppleGothic"/>
                <a:ea typeface="AppleGothic"/>
                <a:cs typeface="AppleGothic"/>
              </a:defRPr>
            </a:lvl3pPr>
            <a:lvl4pPr>
              <a:defRPr sz="2175" b="1">
                <a:solidFill>
                  <a:srgbClr val="2164CB"/>
                </a:solidFill>
                <a:latin typeface="AppleGothic"/>
                <a:ea typeface="AppleGothic"/>
                <a:cs typeface="AppleGothic"/>
              </a:defRPr>
            </a:lvl4pPr>
            <a:lvl5pPr>
              <a:defRPr sz="2175" b="1">
                <a:solidFill>
                  <a:srgbClr val="2164CB"/>
                </a:solidFill>
                <a:latin typeface="AppleGothic"/>
                <a:ea typeface="AppleGothic"/>
                <a:cs typeface="AppleGothic"/>
              </a:defRPr>
            </a:lvl5pPr>
            <a:lvl6pPr>
              <a:defRPr sz="2175" b="1">
                <a:solidFill>
                  <a:srgbClr val="2164CB"/>
                </a:solidFill>
                <a:latin typeface="AppleGothic"/>
                <a:ea typeface="AppleGothic"/>
                <a:cs typeface="AppleGothic"/>
              </a:defRPr>
            </a:lvl6pPr>
            <a:lvl7pPr>
              <a:defRPr sz="2175" b="1">
                <a:solidFill>
                  <a:srgbClr val="2164CB"/>
                </a:solidFill>
                <a:latin typeface="AppleGothic"/>
                <a:ea typeface="AppleGothic"/>
                <a:cs typeface="AppleGothic"/>
              </a:defRPr>
            </a:lvl7pPr>
            <a:lvl8pPr>
              <a:defRPr sz="2175" b="1">
                <a:solidFill>
                  <a:srgbClr val="2164CB"/>
                </a:solidFill>
                <a:latin typeface="AppleGothic"/>
                <a:ea typeface="AppleGothic"/>
                <a:cs typeface="AppleGothic"/>
              </a:defRPr>
            </a:lvl8pPr>
            <a:lvl9pPr>
              <a:defRPr sz="2175" b="1">
                <a:solidFill>
                  <a:srgbClr val="2164CB"/>
                </a:solidFill>
                <a:latin typeface="AppleGothic"/>
                <a:ea typeface="AppleGothic"/>
                <a:cs typeface="AppleGothic"/>
              </a:defRPr>
            </a:lvl9pPr>
          </a:lstStyle>
          <a:p xmlns:a="http://schemas.openxmlformats.org/drawingml/2006/main">
            <a:pPr>
              <a:defRPr sz="2175" b="1">
                <a:solidFill>
                  <a:srgbClr val="2164CB"/>
                </a:solidFill>
                <a:latin typeface="AppleGothic"/>
                <a:ea typeface="AppleGothic"/>
                <a:cs typeface="AppleGothic"/>
              </a:defRPr>
            </a:pPr>
            <a:r>
              <a:rPr sz="2175" b="1">
                <a:solidFill>
                  <a:srgbClr val="2164CB"/>
                </a:solidFill>
                <a:latin typeface="AppleGothic"/>
                <a:ea typeface="AppleGothic"/>
                <a:cs typeface="AppleGothic"/>
              </a:rPr>
              <a:t>Frustum PointNets는 image box로 3D 탐색 범위를 줄인 뒤 point를 처리한다</a:t>
            </a:r>
          </a:p>
        </p:txBody>
      </p:sp>
      <p:pic>
        <p:nvPicPr>
          <p:cNvPr id="3" name="">
            <a:extLst xmlns:a="http://schemas.openxmlformats.org/drawingml/2006/main">
              <a:ext uri="{FF2B5EF4-FFF2-40B4-BE49-F238E27FC236}">
                <a16:creationId xmlns:a16="http://schemas.microsoft.com/office/drawing/2014/main" id="{9939C3F1-9730-41BC-9739-AB66A13B216F}"/>
              </a:ext>
            </a:extLst>
          </p:cNvPr>
          <p:cNvPicPr>
            <a:picLocks xmlns:a="http://schemas.openxmlformats.org/drawingml/2006/main" noChangeAspect="1"/>
          </p:cNvPicPr>
          <p:nvPr/>
        </p:nvPicPr>
        <p:blipFill>
          <a:blip xmlns:r="http://schemas.openxmlformats.org/officeDocument/2006/relationships" xmlns:a="http://schemas.openxmlformats.org/drawingml/2006/main" r:embed="Rc4c10ecd63064f2c"/>
          <a:stretch xmlns:a="http://schemas.openxmlformats.org/drawingml/2006/main"/>
        </p:blipFill>
        <p:spPr>
          <a:xfrm xmlns:a="http://schemas.openxmlformats.org/drawingml/2006/main">
            <a:off x="806940" y="2057400"/>
            <a:ext cx="6596670" cy="3714750"/>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AC6B3BF8-3E26-478C-AB92-BAA5DC3B93FC}"/>
              </a:ext>
            </a:extLst>
          </p:cNvPr>
          <p:cNvSpPr>
            <a:spLocks xmlns:a="http://schemas.openxmlformats.org/drawingml/2006/main" noGrp="1"/>
          </p:cNvSpPr>
          <p:nvPr/>
        </p:nvSpPr>
        <p:spPr>
          <a:xfrm xmlns:a="http://schemas.openxmlformats.org/drawingml/2006/main">
            <a:off x="7981950" y="2114550"/>
            <a:ext cx="3676650" cy="3667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75" b="0">
                <a:solidFill>
                  <a:srgbClr val="15243B"/>
                </a:solidFill>
                <a:latin typeface="AppleGothic"/>
                <a:ea typeface="AppleGothic"/>
                <a:cs typeface="AppleGothic"/>
              </a:defRPr>
            </a:defPPr>
            <a:lvl1pPr>
              <a:defRPr sz="1875" b="0">
                <a:solidFill>
                  <a:srgbClr val="15243B"/>
                </a:solidFill>
                <a:latin typeface="AppleGothic"/>
                <a:ea typeface="AppleGothic"/>
                <a:cs typeface="AppleGothic"/>
              </a:defRPr>
            </a:lvl1pPr>
            <a:lvl2pPr>
              <a:defRPr sz="1875" b="0">
                <a:solidFill>
                  <a:srgbClr val="15243B"/>
                </a:solidFill>
                <a:latin typeface="AppleGothic"/>
                <a:ea typeface="AppleGothic"/>
                <a:cs typeface="AppleGothic"/>
              </a:defRPr>
            </a:lvl2pPr>
            <a:lvl3pPr>
              <a:defRPr sz="1875" b="0">
                <a:solidFill>
                  <a:srgbClr val="15243B"/>
                </a:solidFill>
                <a:latin typeface="AppleGothic"/>
                <a:ea typeface="AppleGothic"/>
                <a:cs typeface="AppleGothic"/>
              </a:defRPr>
            </a:lvl3pPr>
            <a:lvl4pPr>
              <a:defRPr sz="1875" b="0">
                <a:solidFill>
                  <a:srgbClr val="15243B"/>
                </a:solidFill>
                <a:latin typeface="AppleGothic"/>
                <a:ea typeface="AppleGothic"/>
                <a:cs typeface="AppleGothic"/>
              </a:defRPr>
            </a:lvl4pPr>
            <a:lvl5pPr>
              <a:defRPr sz="1875" b="0">
                <a:solidFill>
                  <a:srgbClr val="15243B"/>
                </a:solidFill>
                <a:latin typeface="AppleGothic"/>
                <a:ea typeface="AppleGothic"/>
                <a:cs typeface="AppleGothic"/>
              </a:defRPr>
            </a:lvl5pPr>
            <a:lvl6pPr>
              <a:defRPr sz="1875" b="0">
                <a:solidFill>
                  <a:srgbClr val="15243B"/>
                </a:solidFill>
                <a:latin typeface="AppleGothic"/>
                <a:ea typeface="AppleGothic"/>
                <a:cs typeface="AppleGothic"/>
              </a:defRPr>
            </a:lvl6pPr>
            <a:lvl7pPr>
              <a:defRPr sz="1875" b="0">
                <a:solidFill>
                  <a:srgbClr val="15243B"/>
                </a:solidFill>
                <a:latin typeface="AppleGothic"/>
                <a:ea typeface="AppleGothic"/>
                <a:cs typeface="AppleGothic"/>
              </a:defRPr>
            </a:lvl7pPr>
            <a:lvl8pPr>
              <a:defRPr sz="1875" b="0">
                <a:solidFill>
                  <a:srgbClr val="15243B"/>
                </a:solidFill>
                <a:latin typeface="AppleGothic"/>
                <a:ea typeface="AppleGothic"/>
                <a:cs typeface="AppleGothic"/>
              </a:defRPr>
            </a:lvl8pPr>
            <a:lvl9pPr>
              <a:defRPr sz="1875" b="0">
                <a:solidFill>
                  <a:srgbClr val="15243B"/>
                </a:solidFill>
                <a:latin typeface="AppleGothic"/>
                <a:ea typeface="AppleGothic"/>
                <a:cs typeface="AppleGothic"/>
              </a:defRPr>
            </a:lvl9pPr>
          </a:lstStyle>
          <a:p xmlns:a="http://schemas.openxmlformats.org/drawingml/2006/main">
            <a:pPr>
              <a:defRPr sz="1875" b="0">
                <a:solidFill>
                  <a:srgbClr val="15243B"/>
                </a:solidFill>
                <a:latin typeface="AppleGothic"/>
                <a:ea typeface="AppleGothic"/>
                <a:cs typeface="AppleGothic"/>
              </a:defRPr>
            </a:pPr>
            <a:r>
              <a:rPr sz="1875" b="0">
                <a:solidFill>
                  <a:srgbClr val="15243B"/>
                </a:solidFill>
                <a:latin typeface="AppleGothic"/>
                <a:ea typeface="AppleGothic"/>
                <a:cs typeface="AppleGothic"/>
              </a:rPr>
              <a:t>객체 point 분리, 중심 보정, amodal 3D box 추정이 세 단계로 이어진다.</a:t>
            </a:r>
          </a:p>
          <a:p xmlns:a="http://schemas.openxmlformats.org/drawingml/2006/main">
            <a:r>
              <a:t/>
            </a:r>
          </a:p>
          <a:p xmlns:a="http://schemas.openxmlformats.org/drawingml/2006/main">
            <a:pPr>
              <a:defRPr sz="1875" b="0">
                <a:solidFill>
                  <a:srgbClr val="15243B"/>
                </a:solidFill>
                <a:latin typeface="AppleGothic"/>
                <a:ea typeface="AppleGothic"/>
                <a:cs typeface="AppleGothic"/>
              </a:defRPr>
            </a:pPr>
            <a:r>
              <a:rPr sz="1875" b="0">
                <a:solidFill>
                  <a:srgbClr val="15243B"/>
                </a:solidFill>
                <a:latin typeface="AppleGothic"/>
                <a:ea typeface="AppleGothic"/>
                <a:cs typeface="AppleGothic"/>
              </a:rPr>
              <a:t>2D detector가 객체를 놓치면 frustum이 생기지 않아 뒤 단계도 복구하기 어렵다.</a:t>
            </a:r>
          </a:p>
        </p:txBody>
      </p:sp>
      <p:sp>
        <p:nvSpPr>
          <p:cNvPr id="5" name="">
            <a:extLst xmlns:a="http://schemas.openxmlformats.org/drawingml/2006/main">
              <a:ext uri="{FF2B5EF4-FFF2-40B4-BE49-F238E27FC236}">
                <a16:creationId xmlns:a16="http://schemas.microsoft.com/office/drawing/2014/main" id="{E161363E-83E2-4595-8C47-077D80FF7FD1}"/>
              </a:ext>
            </a:extLst>
          </p:cNvPr>
          <p:cNvSpPr>
            <a:spLocks xmlns:a="http://schemas.openxmlformats.org/drawingml/2006/main" noGrp="1"/>
          </p:cNvSpPr>
          <p:nvPr/>
        </p:nvSpPr>
        <p:spPr>
          <a:xfrm xmlns:a="http://schemas.openxmlformats.org/drawingml/2006/main">
            <a:off x="533400" y="5895975"/>
            <a:ext cx="1112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526378"/>
                </a:solidFill>
                <a:latin typeface="AppleGothic"/>
                <a:ea typeface="AppleGothic"/>
                <a:cs typeface="AppleGothic"/>
              </a:defRPr>
            </a:defPPr>
            <a:lvl1pPr>
              <a:defRPr sz="1350" b="0">
                <a:solidFill>
                  <a:srgbClr val="526378"/>
                </a:solidFill>
                <a:latin typeface="AppleGothic"/>
                <a:ea typeface="AppleGothic"/>
                <a:cs typeface="AppleGothic"/>
              </a:defRPr>
            </a:lvl1pPr>
            <a:lvl2pPr>
              <a:defRPr sz="1350" b="0">
                <a:solidFill>
                  <a:srgbClr val="526378"/>
                </a:solidFill>
                <a:latin typeface="AppleGothic"/>
                <a:ea typeface="AppleGothic"/>
                <a:cs typeface="AppleGothic"/>
              </a:defRPr>
            </a:lvl2pPr>
            <a:lvl3pPr>
              <a:defRPr sz="1350" b="0">
                <a:solidFill>
                  <a:srgbClr val="526378"/>
                </a:solidFill>
                <a:latin typeface="AppleGothic"/>
                <a:ea typeface="AppleGothic"/>
                <a:cs typeface="AppleGothic"/>
              </a:defRPr>
            </a:lvl3pPr>
            <a:lvl4pPr>
              <a:defRPr sz="1350" b="0">
                <a:solidFill>
                  <a:srgbClr val="526378"/>
                </a:solidFill>
                <a:latin typeface="AppleGothic"/>
                <a:ea typeface="AppleGothic"/>
                <a:cs typeface="AppleGothic"/>
              </a:defRPr>
            </a:lvl4pPr>
            <a:lvl5pPr>
              <a:defRPr sz="1350" b="0">
                <a:solidFill>
                  <a:srgbClr val="526378"/>
                </a:solidFill>
                <a:latin typeface="AppleGothic"/>
                <a:ea typeface="AppleGothic"/>
                <a:cs typeface="AppleGothic"/>
              </a:defRPr>
            </a:lvl5pPr>
            <a:lvl6pPr>
              <a:defRPr sz="1350" b="0">
                <a:solidFill>
                  <a:srgbClr val="526378"/>
                </a:solidFill>
                <a:latin typeface="AppleGothic"/>
                <a:ea typeface="AppleGothic"/>
                <a:cs typeface="AppleGothic"/>
              </a:defRPr>
            </a:lvl6pPr>
            <a:lvl7pPr>
              <a:defRPr sz="1350" b="0">
                <a:solidFill>
                  <a:srgbClr val="526378"/>
                </a:solidFill>
                <a:latin typeface="AppleGothic"/>
                <a:ea typeface="AppleGothic"/>
                <a:cs typeface="AppleGothic"/>
              </a:defRPr>
            </a:lvl7pPr>
            <a:lvl8pPr>
              <a:defRPr sz="1350" b="0">
                <a:solidFill>
                  <a:srgbClr val="526378"/>
                </a:solidFill>
                <a:latin typeface="AppleGothic"/>
                <a:ea typeface="AppleGothic"/>
                <a:cs typeface="AppleGothic"/>
              </a:defRPr>
            </a:lvl8pPr>
            <a:lvl9pPr>
              <a:defRPr sz="1350" b="0">
                <a:solidFill>
                  <a:srgbClr val="526378"/>
                </a:solidFill>
                <a:latin typeface="AppleGothic"/>
                <a:ea typeface="AppleGothic"/>
                <a:cs typeface="AppleGothic"/>
              </a:defRPr>
            </a:lvl9pPr>
          </a:lstStyle>
          <a:p xmlns:a="http://schemas.openxmlformats.org/drawingml/2006/main">
            <a:pPr>
              <a:defRPr sz="1350" b="0">
                <a:solidFill>
                  <a:srgbClr val="526378"/>
                </a:solidFill>
                <a:latin typeface="AppleGothic"/>
                <a:ea typeface="AppleGothic"/>
                <a:cs typeface="AppleGothic"/>
              </a:defRPr>
            </a:pPr>
            <a:r>
              <a:rPr sz="1350" b="0">
                <a:solidFill>
                  <a:srgbClr val="526378"/>
                </a:solidFill>
                <a:latin typeface="AppleGothic"/>
                <a:ea typeface="AppleGothic"/>
                <a:cs typeface="AppleGothic"/>
              </a:rPr>
              <a:t>Lecture 11, p. 14. Image proposal, point segmentation, and 3D box estimation</a:t>
            </a:r>
          </a:p>
        </p:txBody>
      </p:sp>
      <p:sp>
        <p:nvSpPr>
          <p:cNvPr id="6" name="">
            <a:extLst xmlns:a="http://schemas.openxmlformats.org/drawingml/2006/main">
              <a:ext uri="{FF2B5EF4-FFF2-40B4-BE49-F238E27FC236}">
                <a16:creationId xmlns:a16="http://schemas.microsoft.com/office/drawing/2014/main" id="{738A4B78-A67B-42AF-B485-C6F3E5A1AF6D}"/>
              </a:ext>
            </a:extLst>
          </p:cNvPr>
          <p:cNvSpPr>
            <a:spLocks xmlns:a="http://schemas.openxmlformats.org/drawingml/2006/main" noGrp="1"/>
          </p:cNvSpPr>
          <p:nvPr/>
        </p:nvSpPr>
        <p:spPr>
          <a:xfrm xmlns:a="http://schemas.openxmlformats.org/drawingml/2006/main">
            <a:off x="11144250" y="6400800"/>
            <a:ext cx="5143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62748C"/>
                </a:solidFill>
                <a:latin typeface="AppleGothic"/>
                <a:ea typeface="AppleGothic"/>
                <a:cs typeface="AppleGothic"/>
              </a:defRPr>
            </a:defPPr>
            <a:lvl1pPr>
              <a:defRPr sz="1350" b="0">
                <a:solidFill>
                  <a:srgbClr val="62748C"/>
                </a:solidFill>
                <a:latin typeface="AppleGothic"/>
                <a:ea typeface="AppleGothic"/>
                <a:cs typeface="AppleGothic"/>
              </a:defRPr>
            </a:lvl1pPr>
            <a:lvl2pPr>
              <a:defRPr sz="1350" b="0">
                <a:solidFill>
                  <a:srgbClr val="62748C"/>
                </a:solidFill>
                <a:latin typeface="AppleGothic"/>
                <a:ea typeface="AppleGothic"/>
                <a:cs typeface="AppleGothic"/>
              </a:defRPr>
            </a:lvl2pPr>
            <a:lvl3pPr>
              <a:defRPr sz="1350" b="0">
                <a:solidFill>
                  <a:srgbClr val="62748C"/>
                </a:solidFill>
                <a:latin typeface="AppleGothic"/>
                <a:ea typeface="AppleGothic"/>
                <a:cs typeface="AppleGothic"/>
              </a:defRPr>
            </a:lvl3pPr>
            <a:lvl4pPr>
              <a:defRPr sz="1350" b="0">
                <a:solidFill>
                  <a:srgbClr val="62748C"/>
                </a:solidFill>
                <a:latin typeface="AppleGothic"/>
                <a:ea typeface="AppleGothic"/>
                <a:cs typeface="AppleGothic"/>
              </a:defRPr>
            </a:lvl4pPr>
            <a:lvl5pPr>
              <a:defRPr sz="1350" b="0">
                <a:solidFill>
                  <a:srgbClr val="62748C"/>
                </a:solidFill>
                <a:latin typeface="AppleGothic"/>
                <a:ea typeface="AppleGothic"/>
                <a:cs typeface="AppleGothic"/>
              </a:defRPr>
            </a:lvl5pPr>
            <a:lvl6pPr>
              <a:defRPr sz="1350" b="0">
                <a:solidFill>
                  <a:srgbClr val="62748C"/>
                </a:solidFill>
                <a:latin typeface="AppleGothic"/>
                <a:ea typeface="AppleGothic"/>
                <a:cs typeface="AppleGothic"/>
              </a:defRPr>
            </a:lvl6pPr>
            <a:lvl7pPr>
              <a:defRPr sz="1350" b="0">
                <a:solidFill>
                  <a:srgbClr val="62748C"/>
                </a:solidFill>
                <a:latin typeface="AppleGothic"/>
                <a:ea typeface="AppleGothic"/>
                <a:cs typeface="AppleGothic"/>
              </a:defRPr>
            </a:lvl7pPr>
            <a:lvl8pPr>
              <a:defRPr sz="1350" b="0">
                <a:solidFill>
                  <a:srgbClr val="62748C"/>
                </a:solidFill>
                <a:latin typeface="AppleGothic"/>
                <a:ea typeface="AppleGothic"/>
                <a:cs typeface="AppleGothic"/>
              </a:defRPr>
            </a:lvl8pPr>
            <a:lvl9pPr>
              <a:defRPr sz="1350" b="0">
                <a:solidFill>
                  <a:srgbClr val="62748C"/>
                </a:solidFill>
                <a:latin typeface="AppleGothic"/>
                <a:ea typeface="AppleGothic"/>
                <a:cs typeface="AppleGothic"/>
              </a:defRPr>
            </a:lvl9pPr>
          </a:lstStyle>
          <a:p xmlns:a="http://schemas.openxmlformats.org/drawingml/2006/main">
            <a:pPr>
              <a:defRPr sz="1350" b="0">
                <a:solidFill>
                  <a:srgbClr val="62748C"/>
                </a:solidFill>
                <a:latin typeface="AppleGothic"/>
                <a:ea typeface="AppleGothic"/>
                <a:cs typeface="AppleGothic"/>
              </a:defRPr>
            </a:pPr>
            <a:r>
              <a:rPr sz="1350" b="0">
                <a:solidFill>
                  <a:srgbClr val="62748C"/>
                </a:solidFill>
                <a:latin typeface="AppleGothic"/>
                <a:ea typeface="AppleGothic"/>
                <a:cs typeface="AppleGothic"/>
              </a:rPr>
              <a:t>22</a:t>
            </a:r>
          </a:p>
        </p:txBody>
      </p:sp>
    </p:spTree>
    <p:extLst>
      <p:ext uri="{BB962C8B-B14F-4D97-AF65-F5344CB8AC3E}">
        <p14:creationId xmlns:p14="http://schemas.microsoft.com/office/powerpoint/2010/main" val="827627813"/>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D86AAEB-7BB5-4E6C-9DF5-02DA48135B93}"/>
              </a:ext>
            </a:extLst>
          </p:cNvPr>
          <p:cNvSpPr>
            <a:spLocks xmlns:a="http://schemas.openxmlformats.org/drawingml/2006/main" noGrp="1"/>
          </p:cNvSpPr>
          <p:nvPr/>
        </p:nvSpPr>
        <p:spPr>
          <a:xfrm xmlns:a="http://schemas.openxmlformats.org/drawingml/2006/main">
            <a:off x="533400" y="342900"/>
            <a:ext cx="111252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150" b="1">
                <a:solidFill>
                  <a:srgbClr val="15243B"/>
                </a:solidFill>
                <a:latin typeface="AppleGothic"/>
                <a:ea typeface="AppleGothic"/>
                <a:cs typeface="AppleGothic"/>
              </a:defRPr>
            </a:defPPr>
            <a:lvl1pPr>
              <a:defRPr sz="3150" b="1">
                <a:solidFill>
                  <a:srgbClr val="15243B"/>
                </a:solidFill>
                <a:latin typeface="AppleGothic"/>
                <a:ea typeface="AppleGothic"/>
                <a:cs typeface="AppleGothic"/>
              </a:defRPr>
            </a:lvl1pPr>
            <a:lvl2pPr>
              <a:defRPr sz="3150" b="1">
                <a:solidFill>
                  <a:srgbClr val="15243B"/>
                </a:solidFill>
                <a:latin typeface="AppleGothic"/>
                <a:ea typeface="AppleGothic"/>
                <a:cs typeface="AppleGothic"/>
              </a:defRPr>
            </a:lvl2pPr>
            <a:lvl3pPr>
              <a:defRPr sz="3150" b="1">
                <a:solidFill>
                  <a:srgbClr val="15243B"/>
                </a:solidFill>
                <a:latin typeface="AppleGothic"/>
                <a:ea typeface="AppleGothic"/>
                <a:cs typeface="AppleGothic"/>
              </a:defRPr>
            </a:lvl3pPr>
            <a:lvl4pPr>
              <a:defRPr sz="3150" b="1">
                <a:solidFill>
                  <a:srgbClr val="15243B"/>
                </a:solidFill>
                <a:latin typeface="AppleGothic"/>
                <a:ea typeface="AppleGothic"/>
                <a:cs typeface="AppleGothic"/>
              </a:defRPr>
            </a:lvl4pPr>
            <a:lvl5pPr>
              <a:defRPr sz="3150" b="1">
                <a:solidFill>
                  <a:srgbClr val="15243B"/>
                </a:solidFill>
                <a:latin typeface="AppleGothic"/>
                <a:ea typeface="AppleGothic"/>
                <a:cs typeface="AppleGothic"/>
              </a:defRPr>
            </a:lvl5pPr>
            <a:lvl6pPr>
              <a:defRPr sz="3150" b="1">
                <a:solidFill>
                  <a:srgbClr val="15243B"/>
                </a:solidFill>
                <a:latin typeface="AppleGothic"/>
                <a:ea typeface="AppleGothic"/>
                <a:cs typeface="AppleGothic"/>
              </a:defRPr>
            </a:lvl6pPr>
            <a:lvl7pPr>
              <a:defRPr sz="3150" b="1">
                <a:solidFill>
                  <a:srgbClr val="15243B"/>
                </a:solidFill>
                <a:latin typeface="AppleGothic"/>
                <a:ea typeface="AppleGothic"/>
                <a:cs typeface="AppleGothic"/>
              </a:defRPr>
            </a:lvl7pPr>
            <a:lvl8pPr>
              <a:defRPr sz="3150" b="1">
                <a:solidFill>
                  <a:srgbClr val="15243B"/>
                </a:solidFill>
                <a:latin typeface="AppleGothic"/>
                <a:ea typeface="AppleGothic"/>
                <a:cs typeface="AppleGothic"/>
              </a:defRPr>
            </a:lvl8pPr>
            <a:lvl9pPr>
              <a:defRPr sz="3150" b="1">
                <a:solidFill>
                  <a:srgbClr val="15243B"/>
                </a:solidFill>
                <a:latin typeface="AppleGothic"/>
                <a:ea typeface="AppleGothic"/>
                <a:cs typeface="AppleGothic"/>
              </a:defRPr>
            </a:lvl9pPr>
          </a:lstStyle>
          <a:p xmlns:a="http://schemas.openxmlformats.org/drawingml/2006/main">
            <a:pPr>
              <a:defRPr sz="3150" b="1">
                <a:solidFill>
                  <a:srgbClr val="15243B"/>
                </a:solidFill>
                <a:latin typeface="AppleGothic"/>
                <a:ea typeface="AppleGothic"/>
                <a:cs typeface="AppleGothic"/>
              </a:defRPr>
            </a:pPr>
            <a:r>
              <a:rPr sz="3150" b="1">
                <a:solidFill>
                  <a:srgbClr val="15243B"/>
                </a:solidFill>
                <a:latin typeface="AppleGothic"/>
                <a:ea typeface="AppleGothic"/>
                <a:cs typeface="AppleGothic"/>
              </a:rPr>
              <a:t>MV3D Fusion</a:t>
            </a:r>
          </a:p>
        </p:txBody>
      </p:sp>
      <p:sp>
        <p:nvSpPr>
          <p:cNvPr id="2" name="">
            <a:extLst xmlns:a="http://schemas.openxmlformats.org/drawingml/2006/main">
              <a:ext uri="{FF2B5EF4-FFF2-40B4-BE49-F238E27FC236}">
                <a16:creationId xmlns:a16="http://schemas.microsoft.com/office/drawing/2014/main" id="{FB7BEE99-38FC-4837-8699-02C6A4AD6EEB}"/>
              </a:ext>
            </a:extLst>
          </p:cNvPr>
          <p:cNvSpPr>
            <a:spLocks xmlns:a="http://schemas.openxmlformats.org/drawingml/2006/main" noGrp="1"/>
          </p:cNvSpPr>
          <p:nvPr/>
        </p:nvSpPr>
        <p:spPr>
          <a:xfrm xmlns:a="http://schemas.openxmlformats.org/drawingml/2006/main">
            <a:off x="533400" y="1066800"/>
            <a:ext cx="111252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1">
                <a:solidFill>
                  <a:srgbClr val="2164CB"/>
                </a:solidFill>
                <a:latin typeface="AppleGothic"/>
                <a:ea typeface="AppleGothic"/>
                <a:cs typeface="AppleGothic"/>
              </a:defRPr>
            </a:defPPr>
            <a:lvl1pPr>
              <a:defRPr sz="2175" b="1">
                <a:solidFill>
                  <a:srgbClr val="2164CB"/>
                </a:solidFill>
                <a:latin typeface="AppleGothic"/>
                <a:ea typeface="AppleGothic"/>
                <a:cs typeface="AppleGothic"/>
              </a:defRPr>
            </a:lvl1pPr>
            <a:lvl2pPr>
              <a:defRPr sz="2175" b="1">
                <a:solidFill>
                  <a:srgbClr val="2164CB"/>
                </a:solidFill>
                <a:latin typeface="AppleGothic"/>
                <a:ea typeface="AppleGothic"/>
                <a:cs typeface="AppleGothic"/>
              </a:defRPr>
            </a:lvl2pPr>
            <a:lvl3pPr>
              <a:defRPr sz="2175" b="1">
                <a:solidFill>
                  <a:srgbClr val="2164CB"/>
                </a:solidFill>
                <a:latin typeface="AppleGothic"/>
                <a:ea typeface="AppleGothic"/>
                <a:cs typeface="AppleGothic"/>
              </a:defRPr>
            </a:lvl3pPr>
            <a:lvl4pPr>
              <a:defRPr sz="2175" b="1">
                <a:solidFill>
                  <a:srgbClr val="2164CB"/>
                </a:solidFill>
                <a:latin typeface="AppleGothic"/>
                <a:ea typeface="AppleGothic"/>
                <a:cs typeface="AppleGothic"/>
              </a:defRPr>
            </a:lvl4pPr>
            <a:lvl5pPr>
              <a:defRPr sz="2175" b="1">
                <a:solidFill>
                  <a:srgbClr val="2164CB"/>
                </a:solidFill>
                <a:latin typeface="AppleGothic"/>
                <a:ea typeface="AppleGothic"/>
                <a:cs typeface="AppleGothic"/>
              </a:defRPr>
            </a:lvl5pPr>
            <a:lvl6pPr>
              <a:defRPr sz="2175" b="1">
                <a:solidFill>
                  <a:srgbClr val="2164CB"/>
                </a:solidFill>
                <a:latin typeface="AppleGothic"/>
                <a:ea typeface="AppleGothic"/>
                <a:cs typeface="AppleGothic"/>
              </a:defRPr>
            </a:lvl6pPr>
            <a:lvl7pPr>
              <a:defRPr sz="2175" b="1">
                <a:solidFill>
                  <a:srgbClr val="2164CB"/>
                </a:solidFill>
                <a:latin typeface="AppleGothic"/>
                <a:ea typeface="AppleGothic"/>
                <a:cs typeface="AppleGothic"/>
              </a:defRPr>
            </a:lvl7pPr>
            <a:lvl8pPr>
              <a:defRPr sz="2175" b="1">
                <a:solidFill>
                  <a:srgbClr val="2164CB"/>
                </a:solidFill>
                <a:latin typeface="AppleGothic"/>
                <a:ea typeface="AppleGothic"/>
                <a:cs typeface="AppleGothic"/>
              </a:defRPr>
            </a:lvl8pPr>
            <a:lvl9pPr>
              <a:defRPr sz="2175" b="1">
                <a:solidFill>
                  <a:srgbClr val="2164CB"/>
                </a:solidFill>
                <a:latin typeface="AppleGothic"/>
                <a:ea typeface="AppleGothic"/>
                <a:cs typeface="AppleGothic"/>
              </a:defRPr>
            </a:lvl9pPr>
          </a:lstStyle>
          <a:p xmlns:a="http://schemas.openxmlformats.org/drawingml/2006/main">
            <a:pPr>
              <a:defRPr sz="2175" b="1">
                <a:solidFill>
                  <a:srgbClr val="2164CB"/>
                </a:solidFill>
                <a:latin typeface="AppleGothic"/>
                <a:ea typeface="AppleGothic"/>
                <a:cs typeface="AppleGothic"/>
              </a:defRPr>
            </a:pPr>
            <a:r>
              <a:rPr sz="2175" b="1">
                <a:solidFill>
                  <a:srgbClr val="2164CB"/>
                </a:solidFill>
                <a:latin typeface="AppleGothic"/>
                <a:ea typeface="AppleGothic"/>
                <a:cs typeface="AppleGothic"/>
              </a:rPr>
              <a:t>MV3D는 LiDAR BEV proposal을 여러 view에 투영해 feature를 결합한다</a:t>
            </a:r>
          </a:p>
        </p:txBody>
      </p:sp>
      <p:pic>
        <p:nvPicPr>
          <p:cNvPr id="3" name="">
            <a:extLst xmlns:a="http://schemas.openxmlformats.org/drawingml/2006/main">
              <a:ext uri="{FF2B5EF4-FFF2-40B4-BE49-F238E27FC236}">
                <a16:creationId xmlns:a16="http://schemas.microsoft.com/office/drawing/2014/main" id="{5703D8AA-311C-4186-81E8-69D529B0A9A0}"/>
              </a:ext>
            </a:extLst>
          </p:cNvPr>
          <p:cNvPicPr>
            <a:picLocks xmlns:a="http://schemas.openxmlformats.org/drawingml/2006/main" noChangeAspect="1"/>
          </p:cNvPicPr>
          <p:nvPr/>
        </p:nvPicPr>
        <p:blipFill>
          <a:blip xmlns:r="http://schemas.openxmlformats.org/officeDocument/2006/relationships" xmlns:a="http://schemas.openxmlformats.org/drawingml/2006/main" r:embed="R3026230e148b45a5"/>
          <a:stretch xmlns:a="http://schemas.openxmlformats.org/drawingml/2006/main"/>
        </p:blipFill>
        <p:spPr>
          <a:xfrm xmlns:a="http://schemas.openxmlformats.org/drawingml/2006/main">
            <a:off x="802525" y="2057400"/>
            <a:ext cx="6605501" cy="3714750"/>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342C942D-2C68-4A52-9CF7-2611F5EDAEBF}"/>
              </a:ext>
            </a:extLst>
          </p:cNvPr>
          <p:cNvSpPr>
            <a:spLocks xmlns:a="http://schemas.openxmlformats.org/drawingml/2006/main" noGrp="1"/>
          </p:cNvSpPr>
          <p:nvPr/>
        </p:nvSpPr>
        <p:spPr>
          <a:xfrm xmlns:a="http://schemas.openxmlformats.org/drawingml/2006/main">
            <a:off x="7981950" y="2114550"/>
            <a:ext cx="3676650" cy="3667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75" b="0">
                <a:solidFill>
                  <a:srgbClr val="15243B"/>
                </a:solidFill>
                <a:latin typeface="AppleGothic"/>
                <a:ea typeface="AppleGothic"/>
                <a:cs typeface="AppleGothic"/>
              </a:defRPr>
            </a:defPPr>
            <a:lvl1pPr>
              <a:defRPr sz="1875" b="0">
                <a:solidFill>
                  <a:srgbClr val="15243B"/>
                </a:solidFill>
                <a:latin typeface="AppleGothic"/>
                <a:ea typeface="AppleGothic"/>
                <a:cs typeface="AppleGothic"/>
              </a:defRPr>
            </a:lvl1pPr>
            <a:lvl2pPr>
              <a:defRPr sz="1875" b="0">
                <a:solidFill>
                  <a:srgbClr val="15243B"/>
                </a:solidFill>
                <a:latin typeface="AppleGothic"/>
                <a:ea typeface="AppleGothic"/>
                <a:cs typeface="AppleGothic"/>
              </a:defRPr>
            </a:lvl2pPr>
            <a:lvl3pPr>
              <a:defRPr sz="1875" b="0">
                <a:solidFill>
                  <a:srgbClr val="15243B"/>
                </a:solidFill>
                <a:latin typeface="AppleGothic"/>
                <a:ea typeface="AppleGothic"/>
                <a:cs typeface="AppleGothic"/>
              </a:defRPr>
            </a:lvl3pPr>
            <a:lvl4pPr>
              <a:defRPr sz="1875" b="0">
                <a:solidFill>
                  <a:srgbClr val="15243B"/>
                </a:solidFill>
                <a:latin typeface="AppleGothic"/>
                <a:ea typeface="AppleGothic"/>
                <a:cs typeface="AppleGothic"/>
              </a:defRPr>
            </a:lvl4pPr>
            <a:lvl5pPr>
              <a:defRPr sz="1875" b="0">
                <a:solidFill>
                  <a:srgbClr val="15243B"/>
                </a:solidFill>
                <a:latin typeface="AppleGothic"/>
                <a:ea typeface="AppleGothic"/>
                <a:cs typeface="AppleGothic"/>
              </a:defRPr>
            </a:lvl5pPr>
            <a:lvl6pPr>
              <a:defRPr sz="1875" b="0">
                <a:solidFill>
                  <a:srgbClr val="15243B"/>
                </a:solidFill>
                <a:latin typeface="AppleGothic"/>
                <a:ea typeface="AppleGothic"/>
                <a:cs typeface="AppleGothic"/>
              </a:defRPr>
            </a:lvl6pPr>
            <a:lvl7pPr>
              <a:defRPr sz="1875" b="0">
                <a:solidFill>
                  <a:srgbClr val="15243B"/>
                </a:solidFill>
                <a:latin typeface="AppleGothic"/>
                <a:ea typeface="AppleGothic"/>
                <a:cs typeface="AppleGothic"/>
              </a:defRPr>
            </a:lvl7pPr>
            <a:lvl8pPr>
              <a:defRPr sz="1875" b="0">
                <a:solidFill>
                  <a:srgbClr val="15243B"/>
                </a:solidFill>
                <a:latin typeface="AppleGothic"/>
                <a:ea typeface="AppleGothic"/>
                <a:cs typeface="AppleGothic"/>
              </a:defRPr>
            </a:lvl8pPr>
            <a:lvl9pPr>
              <a:defRPr sz="1875" b="0">
                <a:solidFill>
                  <a:srgbClr val="15243B"/>
                </a:solidFill>
                <a:latin typeface="AppleGothic"/>
                <a:ea typeface="AppleGothic"/>
                <a:cs typeface="AppleGothic"/>
              </a:defRPr>
            </a:lvl9pPr>
          </a:lstStyle>
          <a:p xmlns:a="http://schemas.openxmlformats.org/drawingml/2006/main">
            <a:pPr>
              <a:defRPr sz="1875" b="0">
                <a:solidFill>
                  <a:srgbClr val="15243B"/>
                </a:solidFill>
                <a:latin typeface="AppleGothic"/>
                <a:ea typeface="AppleGothic"/>
                <a:cs typeface="AppleGothic"/>
              </a:defRPr>
            </a:pPr>
            <a:r>
              <a:rPr sz="1875" b="0">
                <a:solidFill>
                  <a:srgbClr val="15243B"/>
                </a:solidFill>
                <a:latin typeface="AppleGothic"/>
                <a:ea typeface="AppleGothic"/>
                <a:cs typeface="AppleGothic"/>
              </a:rPr>
              <a:t>BEV, LiDAR front view, RGB의 RoI feature를 같은 3D proposal 단위로 맞춘다.</a:t>
            </a:r>
          </a:p>
          <a:p xmlns:a="http://schemas.openxmlformats.org/drawingml/2006/main">
            <a:r>
              <a:t/>
            </a:r>
          </a:p>
          <a:p xmlns:a="http://schemas.openxmlformats.org/drawingml/2006/main">
            <a:pPr>
              <a:defRPr sz="1875" b="0">
                <a:solidFill>
                  <a:srgbClr val="15243B"/>
                </a:solidFill>
                <a:latin typeface="AppleGothic"/>
                <a:ea typeface="AppleGothic"/>
                <a:cs typeface="AppleGothic"/>
              </a:defRPr>
            </a:pPr>
            <a:r>
              <a:rPr sz="1875" b="0">
                <a:solidFill>
                  <a:srgbClr val="15243B"/>
                </a:solidFill>
                <a:latin typeface="AppleGothic"/>
                <a:ea typeface="AppleGothic"/>
                <a:cs typeface="AppleGothic"/>
              </a:rPr>
              <a:t>Calibration이나 BEV proposal이 틀리면 deep fusion 뒤에도 오류가 남는다.</a:t>
            </a:r>
          </a:p>
        </p:txBody>
      </p:sp>
      <p:sp>
        <p:nvSpPr>
          <p:cNvPr id="5" name="">
            <a:extLst xmlns:a="http://schemas.openxmlformats.org/drawingml/2006/main">
              <a:ext uri="{FF2B5EF4-FFF2-40B4-BE49-F238E27FC236}">
                <a16:creationId xmlns:a16="http://schemas.microsoft.com/office/drawing/2014/main" id="{EA78E980-48B9-42CF-A35D-7BEA41CBF269}"/>
              </a:ext>
            </a:extLst>
          </p:cNvPr>
          <p:cNvSpPr>
            <a:spLocks xmlns:a="http://schemas.openxmlformats.org/drawingml/2006/main" noGrp="1"/>
          </p:cNvSpPr>
          <p:nvPr/>
        </p:nvSpPr>
        <p:spPr>
          <a:xfrm xmlns:a="http://schemas.openxmlformats.org/drawingml/2006/main">
            <a:off x="533400" y="5895975"/>
            <a:ext cx="1112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526378"/>
                </a:solidFill>
                <a:latin typeface="AppleGothic"/>
                <a:ea typeface="AppleGothic"/>
                <a:cs typeface="AppleGothic"/>
              </a:defRPr>
            </a:defPPr>
            <a:lvl1pPr>
              <a:defRPr sz="1350" b="0">
                <a:solidFill>
                  <a:srgbClr val="526378"/>
                </a:solidFill>
                <a:latin typeface="AppleGothic"/>
                <a:ea typeface="AppleGothic"/>
                <a:cs typeface="AppleGothic"/>
              </a:defRPr>
            </a:lvl1pPr>
            <a:lvl2pPr>
              <a:defRPr sz="1350" b="0">
                <a:solidFill>
                  <a:srgbClr val="526378"/>
                </a:solidFill>
                <a:latin typeface="AppleGothic"/>
                <a:ea typeface="AppleGothic"/>
                <a:cs typeface="AppleGothic"/>
              </a:defRPr>
            </a:lvl2pPr>
            <a:lvl3pPr>
              <a:defRPr sz="1350" b="0">
                <a:solidFill>
                  <a:srgbClr val="526378"/>
                </a:solidFill>
                <a:latin typeface="AppleGothic"/>
                <a:ea typeface="AppleGothic"/>
                <a:cs typeface="AppleGothic"/>
              </a:defRPr>
            </a:lvl3pPr>
            <a:lvl4pPr>
              <a:defRPr sz="1350" b="0">
                <a:solidFill>
                  <a:srgbClr val="526378"/>
                </a:solidFill>
                <a:latin typeface="AppleGothic"/>
                <a:ea typeface="AppleGothic"/>
                <a:cs typeface="AppleGothic"/>
              </a:defRPr>
            </a:lvl4pPr>
            <a:lvl5pPr>
              <a:defRPr sz="1350" b="0">
                <a:solidFill>
                  <a:srgbClr val="526378"/>
                </a:solidFill>
                <a:latin typeface="AppleGothic"/>
                <a:ea typeface="AppleGothic"/>
                <a:cs typeface="AppleGothic"/>
              </a:defRPr>
            </a:lvl5pPr>
            <a:lvl6pPr>
              <a:defRPr sz="1350" b="0">
                <a:solidFill>
                  <a:srgbClr val="526378"/>
                </a:solidFill>
                <a:latin typeface="AppleGothic"/>
                <a:ea typeface="AppleGothic"/>
                <a:cs typeface="AppleGothic"/>
              </a:defRPr>
            </a:lvl6pPr>
            <a:lvl7pPr>
              <a:defRPr sz="1350" b="0">
                <a:solidFill>
                  <a:srgbClr val="526378"/>
                </a:solidFill>
                <a:latin typeface="AppleGothic"/>
                <a:ea typeface="AppleGothic"/>
                <a:cs typeface="AppleGothic"/>
              </a:defRPr>
            </a:lvl7pPr>
            <a:lvl8pPr>
              <a:defRPr sz="1350" b="0">
                <a:solidFill>
                  <a:srgbClr val="526378"/>
                </a:solidFill>
                <a:latin typeface="AppleGothic"/>
                <a:ea typeface="AppleGothic"/>
                <a:cs typeface="AppleGothic"/>
              </a:defRPr>
            </a:lvl8pPr>
            <a:lvl9pPr>
              <a:defRPr sz="1350" b="0">
                <a:solidFill>
                  <a:srgbClr val="526378"/>
                </a:solidFill>
                <a:latin typeface="AppleGothic"/>
                <a:ea typeface="AppleGothic"/>
                <a:cs typeface="AppleGothic"/>
              </a:defRPr>
            </a:lvl9pPr>
          </a:lstStyle>
          <a:p xmlns:a="http://schemas.openxmlformats.org/drawingml/2006/main">
            <a:pPr>
              <a:defRPr sz="1350" b="0">
                <a:solidFill>
                  <a:srgbClr val="526378"/>
                </a:solidFill>
                <a:latin typeface="AppleGothic"/>
                <a:ea typeface="AppleGothic"/>
                <a:cs typeface="AppleGothic"/>
              </a:defRPr>
            </a:pPr>
            <a:r>
              <a:rPr sz="1350" b="0">
                <a:solidFill>
                  <a:srgbClr val="526378"/>
                </a:solidFill>
                <a:latin typeface="AppleGothic"/>
                <a:ea typeface="AppleGothic"/>
                <a:cs typeface="AppleGothic"/>
              </a:rPr>
              <a:t>Lecture 11, p. 21. BEV proposals and deep fusion across three views</a:t>
            </a:r>
          </a:p>
        </p:txBody>
      </p:sp>
      <p:sp>
        <p:nvSpPr>
          <p:cNvPr id="6" name="">
            <a:extLst xmlns:a="http://schemas.openxmlformats.org/drawingml/2006/main">
              <a:ext uri="{FF2B5EF4-FFF2-40B4-BE49-F238E27FC236}">
                <a16:creationId xmlns:a16="http://schemas.microsoft.com/office/drawing/2014/main" id="{278FE076-0E28-444F-8FFA-2BE963ED8992}"/>
              </a:ext>
            </a:extLst>
          </p:cNvPr>
          <p:cNvSpPr>
            <a:spLocks xmlns:a="http://schemas.openxmlformats.org/drawingml/2006/main" noGrp="1"/>
          </p:cNvSpPr>
          <p:nvPr/>
        </p:nvSpPr>
        <p:spPr>
          <a:xfrm xmlns:a="http://schemas.openxmlformats.org/drawingml/2006/main">
            <a:off x="11144250" y="6400800"/>
            <a:ext cx="5143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62748C"/>
                </a:solidFill>
                <a:latin typeface="AppleGothic"/>
                <a:ea typeface="AppleGothic"/>
                <a:cs typeface="AppleGothic"/>
              </a:defRPr>
            </a:defPPr>
            <a:lvl1pPr>
              <a:defRPr sz="1350" b="0">
                <a:solidFill>
                  <a:srgbClr val="62748C"/>
                </a:solidFill>
                <a:latin typeface="AppleGothic"/>
                <a:ea typeface="AppleGothic"/>
                <a:cs typeface="AppleGothic"/>
              </a:defRPr>
            </a:lvl1pPr>
            <a:lvl2pPr>
              <a:defRPr sz="1350" b="0">
                <a:solidFill>
                  <a:srgbClr val="62748C"/>
                </a:solidFill>
                <a:latin typeface="AppleGothic"/>
                <a:ea typeface="AppleGothic"/>
                <a:cs typeface="AppleGothic"/>
              </a:defRPr>
            </a:lvl2pPr>
            <a:lvl3pPr>
              <a:defRPr sz="1350" b="0">
                <a:solidFill>
                  <a:srgbClr val="62748C"/>
                </a:solidFill>
                <a:latin typeface="AppleGothic"/>
                <a:ea typeface="AppleGothic"/>
                <a:cs typeface="AppleGothic"/>
              </a:defRPr>
            </a:lvl3pPr>
            <a:lvl4pPr>
              <a:defRPr sz="1350" b="0">
                <a:solidFill>
                  <a:srgbClr val="62748C"/>
                </a:solidFill>
                <a:latin typeface="AppleGothic"/>
                <a:ea typeface="AppleGothic"/>
                <a:cs typeface="AppleGothic"/>
              </a:defRPr>
            </a:lvl4pPr>
            <a:lvl5pPr>
              <a:defRPr sz="1350" b="0">
                <a:solidFill>
                  <a:srgbClr val="62748C"/>
                </a:solidFill>
                <a:latin typeface="AppleGothic"/>
                <a:ea typeface="AppleGothic"/>
                <a:cs typeface="AppleGothic"/>
              </a:defRPr>
            </a:lvl5pPr>
            <a:lvl6pPr>
              <a:defRPr sz="1350" b="0">
                <a:solidFill>
                  <a:srgbClr val="62748C"/>
                </a:solidFill>
                <a:latin typeface="AppleGothic"/>
                <a:ea typeface="AppleGothic"/>
                <a:cs typeface="AppleGothic"/>
              </a:defRPr>
            </a:lvl6pPr>
            <a:lvl7pPr>
              <a:defRPr sz="1350" b="0">
                <a:solidFill>
                  <a:srgbClr val="62748C"/>
                </a:solidFill>
                <a:latin typeface="AppleGothic"/>
                <a:ea typeface="AppleGothic"/>
                <a:cs typeface="AppleGothic"/>
              </a:defRPr>
            </a:lvl7pPr>
            <a:lvl8pPr>
              <a:defRPr sz="1350" b="0">
                <a:solidFill>
                  <a:srgbClr val="62748C"/>
                </a:solidFill>
                <a:latin typeface="AppleGothic"/>
                <a:ea typeface="AppleGothic"/>
                <a:cs typeface="AppleGothic"/>
              </a:defRPr>
            </a:lvl8pPr>
            <a:lvl9pPr>
              <a:defRPr sz="1350" b="0">
                <a:solidFill>
                  <a:srgbClr val="62748C"/>
                </a:solidFill>
                <a:latin typeface="AppleGothic"/>
                <a:ea typeface="AppleGothic"/>
                <a:cs typeface="AppleGothic"/>
              </a:defRPr>
            </a:lvl9pPr>
          </a:lstStyle>
          <a:p xmlns:a="http://schemas.openxmlformats.org/drawingml/2006/main">
            <a:pPr>
              <a:defRPr sz="1350" b="0">
                <a:solidFill>
                  <a:srgbClr val="62748C"/>
                </a:solidFill>
                <a:latin typeface="AppleGothic"/>
                <a:ea typeface="AppleGothic"/>
                <a:cs typeface="AppleGothic"/>
              </a:defRPr>
            </a:pPr>
            <a:r>
              <a:rPr sz="1350" b="0">
                <a:solidFill>
                  <a:srgbClr val="62748C"/>
                </a:solidFill>
                <a:latin typeface="AppleGothic"/>
                <a:ea typeface="AppleGothic"/>
                <a:cs typeface="AppleGothic"/>
              </a:rPr>
              <a:t>23</a:t>
            </a:r>
          </a:p>
        </p:txBody>
      </p:sp>
    </p:spTree>
    <p:extLst>
      <p:ext uri="{BB962C8B-B14F-4D97-AF65-F5344CB8AC3E}">
        <p14:creationId xmlns:p14="http://schemas.microsoft.com/office/powerpoint/2010/main" val="1389708155"/>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F515C6E-BACC-4598-8E26-0E4B2E7B8D62}"/>
              </a:ext>
            </a:extLst>
          </p:cNvPr>
          <p:cNvSpPr>
            <a:spLocks xmlns:a="http://schemas.openxmlformats.org/drawingml/2006/main" noGrp="1"/>
          </p:cNvSpPr>
          <p:nvPr/>
        </p:nvSpPr>
        <p:spPr>
          <a:xfrm xmlns:a="http://schemas.openxmlformats.org/drawingml/2006/main">
            <a:off x="533400" y="342900"/>
            <a:ext cx="111252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150" b="1">
                <a:solidFill>
                  <a:srgbClr val="15243B"/>
                </a:solidFill>
                <a:latin typeface="AppleGothic"/>
                <a:ea typeface="AppleGothic"/>
                <a:cs typeface="AppleGothic"/>
              </a:defRPr>
            </a:defPPr>
            <a:lvl1pPr>
              <a:defRPr sz="3150" b="1">
                <a:solidFill>
                  <a:srgbClr val="15243B"/>
                </a:solidFill>
                <a:latin typeface="AppleGothic"/>
                <a:ea typeface="AppleGothic"/>
                <a:cs typeface="AppleGothic"/>
              </a:defRPr>
            </a:lvl1pPr>
            <a:lvl2pPr>
              <a:defRPr sz="3150" b="1">
                <a:solidFill>
                  <a:srgbClr val="15243B"/>
                </a:solidFill>
                <a:latin typeface="AppleGothic"/>
                <a:ea typeface="AppleGothic"/>
                <a:cs typeface="AppleGothic"/>
              </a:defRPr>
            </a:lvl2pPr>
            <a:lvl3pPr>
              <a:defRPr sz="3150" b="1">
                <a:solidFill>
                  <a:srgbClr val="15243B"/>
                </a:solidFill>
                <a:latin typeface="AppleGothic"/>
                <a:ea typeface="AppleGothic"/>
                <a:cs typeface="AppleGothic"/>
              </a:defRPr>
            </a:lvl3pPr>
            <a:lvl4pPr>
              <a:defRPr sz="3150" b="1">
                <a:solidFill>
                  <a:srgbClr val="15243B"/>
                </a:solidFill>
                <a:latin typeface="AppleGothic"/>
                <a:ea typeface="AppleGothic"/>
                <a:cs typeface="AppleGothic"/>
              </a:defRPr>
            </a:lvl4pPr>
            <a:lvl5pPr>
              <a:defRPr sz="3150" b="1">
                <a:solidFill>
                  <a:srgbClr val="15243B"/>
                </a:solidFill>
                <a:latin typeface="AppleGothic"/>
                <a:ea typeface="AppleGothic"/>
                <a:cs typeface="AppleGothic"/>
              </a:defRPr>
            </a:lvl5pPr>
            <a:lvl6pPr>
              <a:defRPr sz="3150" b="1">
                <a:solidFill>
                  <a:srgbClr val="15243B"/>
                </a:solidFill>
                <a:latin typeface="AppleGothic"/>
                <a:ea typeface="AppleGothic"/>
                <a:cs typeface="AppleGothic"/>
              </a:defRPr>
            </a:lvl6pPr>
            <a:lvl7pPr>
              <a:defRPr sz="3150" b="1">
                <a:solidFill>
                  <a:srgbClr val="15243B"/>
                </a:solidFill>
                <a:latin typeface="AppleGothic"/>
                <a:ea typeface="AppleGothic"/>
                <a:cs typeface="AppleGothic"/>
              </a:defRPr>
            </a:lvl7pPr>
            <a:lvl8pPr>
              <a:defRPr sz="3150" b="1">
                <a:solidFill>
                  <a:srgbClr val="15243B"/>
                </a:solidFill>
                <a:latin typeface="AppleGothic"/>
                <a:ea typeface="AppleGothic"/>
                <a:cs typeface="AppleGothic"/>
              </a:defRPr>
            </a:lvl8pPr>
            <a:lvl9pPr>
              <a:defRPr sz="3150" b="1">
                <a:solidFill>
                  <a:srgbClr val="15243B"/>
                </a:solidFill>
                <a:latin typeface="AppleGothic"/>
                <a:ea typeface="AppleGothic"/>
                <a:cs typeface="AppleGothic"/>
              </a:defRPr>
            </a:lvl9pPr>
          </a:lstStyle>
          <a:p xmlns:a="http://schemas.openxmlformats.org/drawingml/2006/main">
            <a:pPr>
              <a:defRPr sz="3150" b="1">
                <a:solidFill>
                  <a:srgbClr val="15243B"/>
                </a:solidFill>
                <a:latin typeface="AppleGothic"/>
                <a:ea typeface="AppleGothic"/>
                <a:cs typeface="AppleGothic"/>
              </a:defRPr>
            </a:pPr>
            <a:r>
              <a:rPr sz="3150" b="1">
                <a:solidFill>
                  <a:srgbClr val="15243B"/>
                </a:solidFill>
                <a:latin typeface="AppleGothic"/>
                <a:ea typeface="AppleGothic"/>
                <a:cs typeface="AppleGothic"/>
              </a:rPr>
              <a:t>Lab 1 Evidence</a:t>
            </a:r>
          </a:p>
        </p:txBody>
      </p:sp>
      <p:sp>
        <p:nvSpPr>
          <p:cNvPr id="2" name="">
            <a:extLst xmlns:a="http://schemas.openxmlformats.org/drawingml/2006/main">
              <a:ext uri="{FF2B5EF4-FFF2-40B4-BE49-F238E27FC236}">
                <a16:creationId xmlns:a16="http://schemas.microsoft.com/office/drawing/2014/main" id="{EF5BDF00-8B75-4789-A5D2-6D7A730BA519}"/>
              </a:ext>
            </a:extLst>
          </p:cNvPr>
          <p:cNvSpPr>
            <a:spLocks xmlns:a="http://schemas.openxmlformats.org/drawingml/2006/main" noGrp="1"/>
          </p:cNvSpPr>
          <p:nvPr/>
        </p:nvSpPr>
        <p:spPr>
          <a:xfrm xmlns:a="http://schemas.openxmlformats.org/drawingml/2006/main">
            <a:off x="533400" y="1066800"/>
            <a:ext cx="111252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1">
                <a:solidFill>
                  <a:srgbClr val="2164CB"/>
                </a:solidFill>
                <a:latin typeface="AppleGothic"/>
                <a:ea typeface="AppleGothic"/>
                <a:cs typeface="AppleGothic"/>
              </a:defRPr>
            </a:defPPr>
            <a:lvl1pPr>
              <a:defRPr sz="2175" b="1">
                <a:solidFill>
                  <a:srgbClr val="2164CB"/>
                </a:solidFill>
                <a:latin typeface="AppleGothic"/>
                <a:ea typeface="AppleGothic"/>
                <a:cs typeface="AppleGothic"/>
              </a:defRPr>
            </a:lvl1pPr>
            <a:lvl2pPr>
              <a:defRPr sz="2175" b="1">
                <a:solidFill>
                  <a:srgbClr val="2164CB"/>
                </a:solidFill>
                <a:latin typeface="AppleGothic"/>
                <a:ea typeface="AppleGothic"/>
                <a:cs typeface="AppleGothic"/>
              </a:defRPr>
            </a:lvl2pPr>
            <a:lvl3pPr>
              <a:defRPr sz="2175" b="1">
                <a:solidFill>
                  <a:srgbClr val="2164CB"/>
                </a:solidFill>
                <a:latin typeface="AppleGothic"/>
                <a:ea typeface="AppleGothic"/>
                <a:cs typeface="AppleGothic"/>
              </a:defRPr>
            </a:lvl3pPr>
            <a:lvl4pPr>
              <a:defRPr sz="2175" b="1">
                <a:solidFill>
                  <a:srgbClr val="2164CB"/>
                </a:solidFill>
                <a:latin typeface="AppleGothic"/>
                <a:ea typeface="AppleGothic"/>
                <a:cs typeface="AppleGothic"/>
              </a:defRPr>
            </a:lvl4pPr>
            <a:lvl5pPr>
              <a:defRPr sz="2175" b="1">
                <a:solidFill>
                  <a:srgbClr val="2164CB"/>
                </a:solidFill>
                <a:latin typeface="AppleGothic"/>
                <a:ea typeface="AppleGothic"/>
                <a:cs typeface="AppleGothic"/>
              </a:defRPr>
            </a:lvl5pPr>
            <a:lvl6pPr>
              <a:defRPr sz="2175" b="1">
                <a:solidFill>
                  <a:srgbClr val="2164CB"/>
                </a:solidFill>
                <a:latin typeface="AppleGothic"/>
                <a:ea typeface="AppleGothic"/>
                <a:cs typeface="AppleGothic"/>
              </a:defRPr>
            </a:lvl6pPr>
            <a:lvl7pPr>
              <a:defRPr sz="2175" b="1">
                <a:solidFill>
                  <a:srgbClr val="2164CB"/>
                </a:solidFill>
                <a:latin typeface="AppleGothic"/>
                <a:ea typeface="AppleGothic"/>
                <a:cs typeface="AppleGothic"/>
              </a:defRPr>
            </a:lvl7pPr>
            <a:lvl8pPr>
              <a:defRPr sz="2175" b="1">
                <a:solidFill>
                  <a:srgbClr val="2164CB"/>
                </a:solidFill>
                <a:latin typeface="AppleGothic"/>
                <a:ea typeface="AppleGothic"/>
                <a:cs typeface="AppleGothic"/>
              </a:defRPr>
            </a:lvl8pPr>
            <a:lvl9pPr>
              <a:defRPr sz="2175" b="1">
                <a:solidFill>
                  <a:srgbClr val="2164CB"/>
                </a:solidFill>
                <a:latin typeface="AppleGothic"/>
                <a:ea typeface="AppleGothic"/>
                <a:cs typeface="AppleGothic"/>
              </a:defRPr>
            </a:lvl9pPr>
          </a:lstStyle>
          <a:p xmlns:a="http://schemas.openxmlformats.org/drawingml/2006/main">
            <a:pPr>
              <a:defRPr sz="2175" b="1">
                <a:solidFill>
                  <a:srgbClr val="2164CB"/>
                </a:solidFill>
                <a:latin typeface="AppleGothic"/>
                <a:ea typeface="AppleGothic"/>
                <a:cs typeface="AppleGothic"/>
              </a:defRPr>
            </a:pPr>
            <a:r>
              <a:rPr sz="2175" b="1">
                <a:solidFill>
                  <a:srgbClr val="2164CB"/>
                </a:solidFill>
                <a:latin typeface="AppleGothic"/>
                <a:ea typeface="AppleGothic"/>
                <a:cs typeface="AppleGothic"/>
              </a:rPr>
              <a:t>Lab 1은 two-stage proposal과 one-stage dense prediction을 같은 image에서 추적한다</a:t>
            </a:r>
          </a:p>
        </p:txBody>
      </p:sp>
      <p:pic>
        <p:nvPicPr>
          <p:cNvPr id="3" name="">
            <a:extLst xmlns:a="http://schemas.openxmlformats.org/drawingml/2006/main">
              <a:ext uri="{FF2B5EF4-FFF2-40B4-BE49-F238E27FC236}">
                <a16:creationId xmlns:a16="http://schemas.microsoft.com/office/drawing/2014/main" id="{4156D741-D2D3-4ED6-A408-FEB236548E2A}"/>
              </a:ext>
            </a:extLst>
          </p:cNvPr>
          <p:cNvPicPr>
            <a:picLocks xmlns:a="http://schemas.openxmlformats.org/drawingml/2006/main" noChangeAspect="1"/>
          </p:cNvPicPr>
          <p:nvPr/>
        </p:nvPicPr>
        <p:blipFill>
          <a:blip xmlns:r="http://schemas.openxmlformats.org/officeDocument/2006/relationships" xmlns:a="http://schemas.openxmlformats.org/drawingml/2006/main" r:embed="R890fa2c26e81424f"/>
          <a:stretch xmlns:a="http://schemas.openxmlformats.org/drawingml/2006/main"/>
        </p:blipFill>
        <p:spPr>
          <a:xfrm xmlns:a="http://schemas.openxmlformats.org/drawingml/2006/main">
            <a:off x="533400" y="2536427"/>
            <a:ext cx="7143750" cy="275669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ABF94FA1-5E69-4786-9F47-B7BB36EDAC81}"/>
              </a:ext>
            </a:extLst>
          </p:cNvPr>
          <p:cNvSpPr>
            <a:spLocks xmlns:a="http://schemas.openxmlformats.org/drawingml/2006/main" noGrp="1"/>
          </p:cNvSpPr>
          <p:nvPr/>
        </p:nvSpPr>
        <p:spPr>
          <a:xfrm xmlns:a="http://schemas.openxmlformats.org/drawingml/2006/main">
            <a:off x="7981950" y="2114550"/>
            <a:ext cx="3676650" cy="3667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75" b="0">
                <a:solidFill>
                  <a:srgbClr val="15243B"/>
                </a:solidFill>
                <a:latin typeface="AppleGothic"/>
                <a:ea typeface="AppleGothic"/>
                <a:cs typeface="AppleGothic"/>
              </a:defRPr>
            </a:defPPr>
            <a:lvl1pPr>
              <a:defRPr sz="1875" b="0">
                <a:solidFill>
                  <a:srgbClr val="15243B"/>
                </a:solidFill>
                <a:latin typeface="AppleGothic"/>
                <a:ea typeface="AppleGothic"/>
                <a:cs typeface="AppleGothic"/>
              </a:defRPr>
            </a:lvl1pPr>
            <a:lvl2pPr>
              <a:defRPr sz="1875" b="0">
                <a:solidFill>
                  <a:srgbClr val="15243B"/>
                </a:solidFill>
                <a:latin typeface="AppleGothic"/>
                <a:ea typeface="AppleGothic"/>
                <a:cs typeface="AppleGothic"/>
              </a:defRPr>
            </a:lvl2pPr>
            <a:lvl3pPr>
              <a:defRPr sz="1875" b="0">
                <a:solidFill>
                  <a:srgbClr val="15243B"/>
                </a:solidFill>
                <a:latin typeface="AppleGothic"/>
                <a:ea typeface="AppleGothic"/>
                <a:cs typeface="AppleGothic"/>
              </a:defRPr>
            </a:lvl3pPr>
            <a:lvl4pPr>
              <a:defRPr sz="1875" b="0">
                <a:solidFill>
                  <a:srgbClr val="15243B"/>
                </a:solidFill>
                <a:latin typeface="AppleGothic"/>
                <a:ea typeface="AppleGothic"/>
                <a:cs typeface="AppleGothic"/>
              </a:defRPr>
            </a:lvl4pPr>
            <a:lvl5pPr>
              <a:defRPr sz="1875" b="0">
                <a:solidFill>
                  <a:srgbClr val="15243B"/>
                </a:solidFill>
                <a:latin typeface="AppleGothic"/>
                <a:ea typeface="AppleGothic"/>
                <a:cs typeface="AppleGothic"/>
              </a:defRPr>
            </a:lvl5pPr>
            <a:lvl6pPr>
              <a:defRPr sz="1875" b="0">
                <a:solidFill>
                  <a:srgbClr val="15243B"/>
                </a:solidFill>
                <a:latin typeface="AppleGothic"/>
                <a:ea typeface="AppleGothic"/>
                <a:cs typeface="AppleGothic"/>
              </a:defRPr>
            </a:lvl6pPr>
            <a:lvl7pPr>
              <a:defRPr sz="1875" b="0">
                <a:solidFill>
                  <a:srgbClr val="15243B"/>
                </a:solidFill>
                <a:latin typeface="AppleGothic"/>
                <a:ea typeface="AppleGothic"/>
                <a:cs typeface="AppleGothic"/>
              </a:defRPr>
            </a:lvl7pPr>
            <a:lvl8pPr>
              <a:defRPr sz="1875" b="0">
                <a:solidFill>
                  <a:srgbClr val="15243B"/>
                </a:solidFill>
                <a:latin typeface="AppleGothic"/>
                <a:ea typeface="AppleGothic"/>
                <a:cs typeface="AppleGothic"/>
              </a:defRPr>
            </a:lvl8pPr>
            <a:lvl9pPr>
              <a:defRPr sz="1875" b="0">
                <a:solidFill>
                  <a:srgbClr val="15243B"/>
                </a:solidFill>
                <a:latin typeface="AppleGothic"/>
                <a:ea typeface="AppleGothic"/>
                <a:cs typeface="AppleGothic"/>
              </a:defRPr>
            </a:lvl9pPr>
          </a:lstStyle>
          <a:p xmlns:a="http://schemas.openxmlformats.org/drawingml/2006/main">
            <a:pPr>
              <a:defRPr sz="1875" b="0">
                <a:solidFill>
                  <a:srgbClr val="15243B"/>
                </a:solidFill>
                <a:latin typeface="AppleGothic"/>
                <a:ea typeface="AppleGothic"/>
                <a:cs typeface="AppleGothic"/>
              </a:defRPr>
            </a:pPr>
            <a:r>
              <a:rPr sz="1875" b="0">
                <a:solidFill>
                  <a:srgbClr val="15243B"/>
                </a:solidFill>
                <a:latin typeface="AppleGothic"/>
                <a:ea typeface="AppleGothic"/>
                <a:cs typeface="AppleGothic"/>
              </a:rPr>
              <a:t>청록 box는 RPN top-50 proposal이고 흰 점선은 GT다.</a:t>
            </a:r>
          </a:p>
          <a:p xmlns:a="http://schemas.openxmlformats.org/drawingml/2006/main">
            <a:r>
              <a:t/>
            </a:r>
          </a:p>
          <a:p xmlns:a="http://schemas.openxmlformats.org/drawingml/2006/main">
            <a:pPr>
              <a:defRPr sz="1875" b="0">
                <a:solidFill>
                  <a:srgbClr val="15243B"/>
                </a:solidFill>
                <a:latin typeface="AppleGothic"/>
                <a:ea typeface="AppleGothic"/>
                <a:cs typeface="AppleGothic"/>
              </a:defRPr>
            </a:pPr>
            <a:r>
              <a:rPr sz="1875" b="0">
                <a:solidFill>
                  <a:srgbClr val="15243B"/>
                </a:solidFill>
                <a:latin typeface="AppleGothic"/>
                <a:ea typeface="AppleGothic"/>
                <a:cs typeface="AppleGothic"/>
              </a:rPr>
              <a:t>초기화와 COCO 모델의 차이는 저장된 한 출력이며 proposal 수만으로 성능을 판정할 수 없다.</a:t>
            </a:r>
          </a:p>
        </p:txBody>
      </p:sp>
      <p:sp>
        <p:nvSpPr>
          <p:cNvPr id="5" name="">
            <a:extLst xmlns:a="http://schemas.openxmlformats.org/drawingml/2006/main">
              <a:ext uri="{FF2B5EF4-FFF2-40B4-BE49-F238E27FC236}">
                <a16:creationId xmlns:a16="http://schemas.microsoft.com/office/drawing/2014/main" id="{44ADA398-4C54-4604-8E9E-DF1768E5F2A4}"/>
              </a:ext>
            </a:extLst>
          </p:cNvPr>
          <p:cNvSpPr>
            <a:spLocks xmlns:a="http://schemas.openxmlformats.org/drawingml/2006/main" noGrp="1"/>
          </p:cNvSpPr>
          <p:nvPr/>
        </p:nvSpPr>
        <p:spPr>
          <a:xfrm xmlns:a="http://schemas.openxmlformats.org/drawingml/2006/main">
            <a:off x="533400" y="5895975"/>
            <a:ext cx="1112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526378"/>
                </a:solidFill>
                <a:latin typeface="AppleGothic"/>
                <a:ea typeface="AppleGothic"/>
                <a:cs typeface="AppleGothic"/>
              </a:defRPr>
            </a:defPPr>
            <a:lvl1pPr>
              <a:defRPr sz="1350" b="0">
                <a:solidFill>
                  <a:srgbClr val="526378"/>
                </a:solidFill>
                <a:latin typeface="AppleGothic"/>
                <a:ea typeface="AppleGothic"/>
                <a:cs typeface="AppleGothic"/>
              </a:defRPr>
            </a:lvl1pPr>
            <a:lvl2pPr>
              <a:defRPr sz="1350" b="0">
                <a:solidFill>
                  <a:srgbClr val="526378"/>
                </a:solidFill>
                <a:latin typeface="AppleGothic"/>
                <a:ea typeface="AppleGothic"/>
                <a:cs typeface="AppleGothic"/>
              </a:defRPr>
            </a:lvl2pPr>
            <a:lvl3pPr>
              <a:defRPr sz="1350" b="0">
                <a:solidFill>
                  <a:srgbClr val="526378"/>
                </a:solidFill>
                <a:latin typeface="AppleGothic"/>
                <a:ea typeface="AppleGothic"/>
                <a:cs typeface="AppleGothic"/>
              </a:defRPr>
            </a:lvl3pPr>
            <a:lvl4pPr>
              <a:defRPr sz="1350" b="0">
                <a:solidFill>
                  <a:srgbClr val="526378"/>
                </a:solidFill>
                <a:latin typeface="AppleGothic"/>
                <a:ea typeface="AppleGothic"/>
                <a:cs typeface="AppleGothic"/>
              </a:defRPr>
            </a:lvl4pPr>
            <a:lvl5pPr>
              <a:defRPr sz="1350" b="0">
                <a:solidFill>
                  <a:srgbClr val="526378"/>
                </a:solidFill>
                <a:latin typeface="AppleGothic"/>
                <a:ea typeface="AppleGothic"/>
                <a:cs typeface="AppleGothic"/>
              </a:defRPr>
            </a:lvl5pPr>
            <a:lvl6pPr>
              <a:defRPr sz="1350" b="0">
                <a:solidFill>
                  <a:srgbClr val="526378"/>
                </a:solidFill>
                <a:latin typeface="AppleGothic"/>
                <a:ea typeface="AppleGothic"/>
                <a:cs typeface="AppleGothic"/>
              </a:defRPr>
            </a:lvl6pPr>
            <a:lvl7pPr>
              <a:defRPr sz="1350" b="0">
                <a:solidFill>
                  <a:srgbClr val="526378"/>
                </a:solidFill>
                <a:latin typeface="AppleGothic"/>
                <a:ea typeface="AppleGothic"/>
                <a:cs typeface="AppleGothic"/>
              </a:defRPr>
            </a:lvl7pPr>
            <a:lvl8pPr>
              <a:defRPr sz="1350" b="0">
                <a:solidFill>
                  <a:srgbClr val="526378"/>
                </a:solidFill>
                <a:latin typeface="AppleGothic"/>
                <a:ea typeface="AppleGothic"/>
                <a:cs typeface="AppleGothic"/>
              </a:defRPr>
            </a:lvl8pPr>
            <a:lvl9pPr>
              <a:defRPr sz="1350" b="0">
                <a:solidFill>
                  <a:srgbClr val="526378"/>
                </a:solidFill>
                <a:latin typeface="AppleGothic"/>
                <a:ea typeface="AppleGothic"/>
                <a:cs typeface="AppleGothic"/>
              </a:defRPr>
            </a:lvl9pPr>
          </a:lstStyle>
          <a:p xmlns:a="http://schemas.openxmlformats.org/drawingml/2006/main">
            <a:pPr>
              <a:defRPr sz="1350" b="0">
                <a:solidFill>
                  <a:srgbClr val="526378"/>
                </a:solidFill>
                <a:latin typeface="AppleGothic"/>
                <a:ea typeface="AppleGothic"/>
                <a:cs typeface="AppleGothic"/>
              </a:defRPr>
            </a:pPr>
            <a:r>
              <a:rPr sz="1350" b="0">
                <a:solidFill>
                  <a:srgbClr val="526378"/>
                </a:solidFill>
                <a:latin typeface="AppleGothic"/>
                <a:ea typeface="AppleGothic"/>
                <a:cs typeface="AppleGothic"/>
              </a:rPr>
              <a:t>Lab 1 solution notebook, cell 27. Saved RPN proposals before final classification</a:t>
            </a:r>
          </a:p>
        </p:txBody>
      </p:sp>
      <p:sp>
        <p:nvSpPr>
          <p:cNvPr id="6" name="">
            <a:extLst xmlns:a="http://schemas.openxmlformats.org/drawingml/2006/main">
              <a:ext uri="{FF2B5EF4-FFF2-40B4-BE49-F238E27FC236}">
                <a16:creationId xmlns:a16="http://schemas.microsoft.com/office/drawing/2014/main" id="{9E47310C-7558-4C2F-8877-6DCAB0ADC7F3}"/>
              </a:ext>
            </a:extLst>
          </p:cNvPr>
          <p:cNvSpPr>
            <a:spLocks xmlns:a="http://schemas.openxmlformats.org/drawingml/2006/main" noGrp="1"/>
          </p:cNvSpPr>
          <p:nvPr/>
        </p:nvSpPr>
        <p:spPr>
          <a:xfrm xmlns:a="http://schemas.openxmlformats.org/drawingml/2006/main">
            <a:off x="11144250" y="6400800"/>
            <a:ext cx="5143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62748C"/>
                </a:solidFill>
                <a:latin typeface="AppleGothic"/>
                <a:ea typeface="AppleGothic"/>
                <a:cs typeface="AppleGothic"/>
              </a:defRPr>
            </a:defPPr>
            <a:lvl1pPr>
              <a:defRPr sz="1350" b="0">
                <a:solidFill>
                  <a:srgbClr val="62748C"/>
                </a:solidFill>
                <a:latin typeface="AppleGothic"/>
                <a:ea typeface="AppleGothic"/>
                <a:cs typeface="AppleGothic"/>
              </a:defRPr>
            </a:lvl1pPr>
            <a:lvl2pPr>
              <a:defRPr sz="1350" b="0">
                <a:solidFill>
                  <a:srgbClr val="62748C"/>
                </a:solidFill>
                <a:latin typeface="AppleGothic"/>
                <a:ea typeface="AppleGothic"/>
                <a:cs typeface="AppleGothic"/>
              </a:defRPr>
            </a:lvl2pPr>
            <a:lvl3pPr>
              <a:defRPr sz="1350" b="0">
                <a:solidFill>
                  <a:srgbClr val="62748C"/>
                </a:solidFill>
                <a:latin typeface="AppleGothic"/>
                <a:ea typeface="AppleGothic"/>
                <a:cs typeface="AppleGothic"/>
              </a:defRPr>
            </a:lvl3pPr>
            <a:lvl4pPr>
              <a:defRPr sz="1350" b="0">
                <a:solidFill>
                  <a:srgbClr val="62748C"/>
                </a:solidFill>
                <a:latin typeface="AppleGothic"/>
                <a:ea typeface="AppleGothic"/>
                <a:cs typeface="AppleGothic"/>
              </a:defRPr>
            </a:lvl4pPr>
            <a:lvl5pPr>
              <a:defRPr sz="1350" b="0">
                <a:solidFill>
                  <a:srgbClr val="62748C"/>
                </a:solidFill>
                <a:latin typeface="AppleGothic"/>
                <a:ea typeface="AppleGothic"/>
                <a:cs typeface="AppleGothic"/>
              </a:defRPr>
            </a:lvl5pPr>
            <a:lvl6pPr>
              <a:defRPr sz="1350" b="0">
                <a:solidFill>
                  <a:srgbClr val="62748C"/>
                </a:solidFill>
                <a:latin typeface="AppleGothic"/>
                <a:ea typeface="AppleGothic"/>
                <a:cs typeface="AppleGothic"/>
              </a:defRPr>
            </a:lvl6pPr>
            <a:lvl7pPr>
              <a:defRPr sz="1350" b="0">
                <a:solidFill>
                  <a:srgbClr val="62748C"/>
                </a:solidFill>
                <a:latin typeface="AppleGothic"/>
                <a:ea typeface="AppleGothic"/>
                <a:cs typeface="AppleGothic"/>
              </a:defRPr>
            </a:lvl7pPr>
            <a:lvl8pPr>
              <a:defRPr sz="1350" b="0">
                <a:solidFill>
                  <a:srgbClr val="62748C"/>
                </a:solidFill>
                <a:latin typeface="AppleGothic"/>
                <a:ea typeface="AppleGothic"/>
                <a:cs typeface="AppleGothic"/>
              </a:defRPr>
            </a:lvl8pPr>
            <a:lvl9pPr>
              <a:defRPr sz="1350" b="0">
                <a:solidFill>
                  <a:srgbClr val="62748C"/>
                </a:solidFill>
                <a:latin typeface="AppleGothic"/>
                <a:ea typeface="AppleGothic"/>
                <a:cs typeface="AppleGothic"/>
              </a:defRPr>
            </a:lvl9pPr>
          </a:lstStyle>
          <a:p xmlns:a="http://schemas.openxmlformats.org/drawingml/2006/main">
            <a:pPr>
              <a:defRPr sz="1350" b="0">
                <a:solidFill>
                  <a:srgbClr val="62748C"/>
                </a:solidFill>
                <a:latin typeface="AppleGothic"/>
                <a:ea typeface="AppleGothic"/>
                <a:cs typeface="AppleGothic"/>
              </a:defRPr>
            </a:pPr>
            <a:r>
              <a:rPr sz="1350" b="0">
                <a:solidFill>
                  <a:srgbClr val="62748C"/>
                </a:solidFill>
                <a:latin typeface="AppleGothic"/>
                <a:ea typeface="AppleGothic"/>
                <a:cs typeface="AppleGothic"/>
              </a:rPr>
              <a:t>24</a:t>
            </a:r>
          </a:p>
        </p:txBody>
      </p:sp>
    </p:spTree>
    <p:extLst>
      <p:ext uri="{BB962C8B-B14F-4D97-AF65-F5344CB8AC3E}">
        <p14:creationId xmlns:p14="http://schemas.microsoft.com/office/powerpoint/2010/main" val="132531144"/>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B15FC525-A29C-4076-926B-6A54887D4482}"/>
              </a:ext>
            </a:extLst>
          </p:cNvPr>
          <p:cNvSpPr>
            <a:spLocks xmlns:a="http://schemas.openxmlformats.org/drawingml/2006/main" noGrp="1"/>
          </p:cNvSpPr>
          <p:nvPr/>
        </p:nvSpPr>
        <p:spPr>
          <a:xfrm xmlns:a="http://schemas.openxmlformats.org/drawingml/2006/main">
            <a:off x="533400" y="342900"/>
            <a:ext cx="111252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150" b="1">
                <a:solidFill>
                  <a:srgbClr val="15243B"/>
                </a:solidFill>
                <a:latin typeface="AppleGothic"/>
                <a:ea typeface="AppleGothic"/>
                <a:cs typeface="AppleGothic"/>
              </a:defRPr>
            </a:defPPr>
            <a:lvl1pPr>
              <a:defRPr sz="3150" b="1">
                <a:solidFill>
                  <a:srgbClr val="15243B"/>
                </a:solidFill>
                <a:latin typeface="AppleGothic"/>
                <a:ea typeface="AppleGothic"/>
                <a:cs typeface="AppleGothic"/>
              </a:defRPr>
            </a:lvl1pPr>
            <a:lvl2pPr>
              <a:defRPr sz="3150" b="1">
                <a:solidFill>
                  <a:srgbClr val="15243B"/>
                </a:solidFill>
                <a:latin typeface="AppleGothic"/>
                <a:ea typeface="AppleGothic"/>
                <a:cs typeface="AppleGothic"/>
              </a:defRPr>
            </a:lvl2pPr>
            <a:lvl3pPr>
              <a:defRPr sz="3150" b="1">
                <a:solidFill>
                  <a:srgbClr val="15243B"/>
                </a:solidFill>
                <a:latin typeface="AppleGothic"/>
                <a:ea typeface="AppleGothic"/>
                <a:cs typeface="AppleGothic"/>
              </a:defRPr>
            </a:lvl3pPr>
            <a:lvl4pPr>
              <a:defRPr sz="3150" b="1">
                <a:solidFill>
                  <a:srgbClr val="15243B"/>
                </a:solidFill>
                <a:latin typeface="AppleGothic"/>
                <a:ea typeface="AppleGothic"/>
                <a:cs typeface="AppleGothic"/>
              </a:defRPr>
            </a:lvl4pPr>
            <a:lvl5pPr>
              <a:defRPr sz="3150" b="1">
                <a:solidFill>
                  <a:srgbClr val="15243B"/>
                </a:solidFill>
                <a:latin typeface="AppleGothic"/>
                <a:ea typeface="AppleGothic"/>
                <a:cs typeface="AppleGothic"/>
              </a:defRPr>
            </a:lvl5pPr>
            <a:lvl6pPr>
              <a:defRPr sz="3150" b="1">
                <a:solidFill>
                  <a:srgbClr val="15243B"/>
                </a:solidFill>
                <a:latin typeface="AppleGothic"/>
                <a:ea typeface="AppleGothic"/>
                <a:cs typeface="AppleGothic"/>
              </a:defRPr>
            </a:lvl6pPr>
            <a:lvl7pPr>
              <a:defRPr sz="3150" b="1">
                <a:solidFill>
                  <a:srgbClr val="15243B"/>
                </a:solidFill>
                <a:latin typeface="AppleGothic"/>
                <a:ea typeface="AppleGothic"/>
                <a:cs typeface="AppleGothic"/>
              </a:defRPr>
            </a:lvl7pPr>
            <a:lvl8pPr>
              <a:defRPr sz="3150" b="1">
                <a:solidFill>
                  <a:srgbClr val="15243B"/>
                </a:solidFill>
                <a:latin typeface="AppleGothic"/>
                <a:ea typeface="AppleGothic"/>
                <a:cs typeface="AppleGothic"/>
              </a:defRPr>
            </a:lvl8pPr>
            <a:lvl9pPr>
              <a:defRPr sz="3150" b="1">
                <a:solidFill>
                  <a:srgbClr val="15243B"/>
                </a:solidFill>
                <a:latin typeface="AppleGothic"/>
                <a:ea typeface="AppleGothic"/>
                <a:cs typeface="AppleGothic"/>
              </a:defRPr>
            </a:lvl9pPr>
          </a:lstStyle>
          <a:p xmlns:a="http://schemas.openxmlformats.org/drawingml/2006/main">
            <a:pPr>
              <a:defRPr sz="3150" b="1">
                <a:solidFill>
                  <a:srgbClr val="15243B"/>
                </a:solidFill>
                <a:latin typeface="AppleGothic"/>
                <a:ea typeface="AppleGothic"/>
                <a:cs typeface="AppleGothic"/>
              </a:defRPr>
            </a:pPr>
            <a:r>
              <a:rPr sz="3150" b="1">
                <a:solidFill>
                  <a:srgbClr val="15243B"/>
                </a:solidFill>
                <a:latin typeface="AppleGothic"/>
                <a:ea typeface="AppleGothic"/>
                <a:cs typeface="AppleGothic"/>
              </a:rPr>
              <a:t>FPN Levels and Anchor Fit</a:t>
            </a:r>
          </a:p>
        </p:txBody>
      </p:sp>
      <p:sp>
        <p:nvSpPr>
          <p:cNvPr id="2" name="">
            <a:extLst xmlns:a="http://schemas.openxmlformats.org/drawingml/2006/main">
              <a:ext uri="{FF2B5EF4-FFF2-40B4-BE49-F238E27FC236}">
                <a16:creationId xmlns:a16="http://schemas.microsoft.com/office/drawing/2014/main" id="{7940FBFF-F981-4B06-B091-2BC06D307610}"/>
              </a:ext>
            </a:extLst>
          </p:cNvPr>
          <p:cNvSpPr>
            <a:spLocks xmlns:a="http://schemas.openxmlformats.org/drawingml/2006/main" noGrp="1"/>
          </p:cNvSpPr>
          <p:nvPr/>
        </p:nvSpPr>
        <p:spPr>
          <a:xfrm xmlns:a="http://schemas.openxmlformats.org/drawingml/2006/main">
            <a:off x="533400" y="1066800"/>
            <a:ext cx="111252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1">
                <a:solidFill>
                  <a:srgbClr val="2164CB"/>
                </a:solidFill>
                <a:latin typeface="AppleGothic"/>
                <a:ea typeface="AppleGothic"/>
                <a:cs typeface="AppleGothic"/>
              </a:defRPr>
            </a:defPPr>
            <a:lvl1pPr>
              <a:defRPr sz="2175" b="1">
                <a:solidFill>
                  <a:srgbClr val="2164CB"/>
                </a:solidFill>
                <a:latin typeface="AppleGothic"/>
                <a:ea typeface="AppleGothic"/>
                <a:cs typeface="AppleGothic"/>
              </a:defRPr>
            </a:lvl1pPr>
            <a:lvl2pPr>
              <a:defRPr sz="2175" b="1">
                <a:solidFill>
                  <a:srgbClr val="2164CB"/>
                </a:solidFill>
                <a:latin typeface="AppleGothic"/>
                <a:ea typeface="AppleGothic"/>
                <a:cs typeface="AppleGothic"/>
              </a:defRPr>
            </a:lvl2pPr>
            <a:lvl3pPr>
              <a:defRPr sz="2175" b="1">
                <a:solidFill>
                  <a:srgbClr val="2164CB"/>
                </a:solidFill>
                <a:latin typeface="AppleGothic"/>
                <a:ea typeface="AppleGothic"/>
                <a:cs typeface="AppleGothic"/>
              </a:defRPr>
            </a:lvl3pPr>
            <a:lvl4pPr>
              <a:defRPr sz="2175" b="1">
                <a:solidFill>
                  <a:srgbClr val="2164CB"/>
                </a:solidFill>
                <a:latin typeface="AppleGothic"/>
                <a:ea typeface="AppleGothic"/>
                <a:cs typeface="AppleGothic"/>
              </a:defRPr>
            </a:lvl4pPr>
            <a:lvl5pPr>
              <a:defRPr sz="2175" b="1">
                <a:solidFill>
                  <a:srgbClr val="2164CB"/>
                </a:solidFill>
                <a:latin typeface="AppleGothic"/>
                <a:ea typeface="AppleGothic"/>
                <a:cs typeface="AppleGothic"/>
              </a:defRPr>
            </a:lvl5pPr>
            <a:lvl6pPr>
              <a:defRPr sz="2175" b="1">
                <a:solidFill>
                  <a:srgbClr val="2164CB"/>
                </a:solidFill>
                <a:latin typeface="AppleGothic"/>
                <a:ea typeface="AppleGothic"/>
                <a:cs typeface="AppleGothic"/>
              </a:defRPr>
            </a:lvl6pPr>
            <a:lvl7pPr>
              <a:defRPr sz="2175" b="1">
                <a:solidFill>
                  <a:srgbClr val="2164CB"/>
                </a:solidFill>
                <a:latin typeface="AppleGothic"/>
                <a:ea typeface="AppleGothic"/>
                <a:cs typeface="AppleGothic"/>
              </a:defRPr>
            </a:lvl7pPr>
            <a:lvl8pPr>
              <a:defRPr sz="2175" b="1">
                <a:solidFill>
                  <a:srgbClr val="2164CB"/>
                </a:solidFill>
                <a:latin typeface="AppleGothic"/>
                <a:ea typeface="AppleGothic"/>
                <a:cs typeface="AppleGothic"/>
              </a:defRPr>
            </a:lvl8pPr>
            <a:lvl9pPr>
              <a:defRPr sz="2175" b="1">
                <a:solidFill>
                  <a:srgbClr val="2164CB"/>
                </a:solidFill>
                <a:latin typeface="AppleGothic"/>
                <a:ea typeface="AppleGothic"/>
                <a:cs typeface="AppleGothic"/>
              </a:defRPr>
            </a:lvl9pPr>
          </a:lstStyle>
          <a:p xmlns:a="http://schemas.openxmlformats.org/drawingml/2006/main">
            <a:pPr>
              <a:defRPr sz="2175" b="1">
                <a:solidFill>
                  <a:srgbClr val="2164CB"/>
                </a:solidFill>
                <a:latin typeface="AppleGothic"/>
                <a:ea typeface="AppleGothic"/>
                <a:cs typeface="AppleGothic"/>
              </a:defRPr>
            </a:pPr>
            <a:r>
              <a:rPr sz="2175" b="1">
                <a:solidFill>
                  <a:srgbClr val="2164CB"/>
                </a:solidFill>
                <a:latin typeface="AppleGothic"/>
                <a:ea typeface="AppleGothic"/>
                <a:cs typeface="AppleGothic"/>
              </a:rPr>
              <a:t>작은 객체는 촘촘한 feature level에서, 큰 객체는 큰 anchor에서 더 잘 맞을 수 있다</a:t>
            </a:r>
          </a:p>
        </p:txBody>
      </p:sp>
      <p:graphicFrame>
        <p:nvGraphicFramePr>
          <p:cNvPr id="3" name="">
            <a:extLst xmlns:a="http://schemas.openxmlformats.org/drawingml/2006/main">
              <a:ext uri="{FF2B5EF4-FFF2-40B4-BE49-F238E27FC236}">
                <a16:creationId xmlns:a16="http://schemas.microsoft.com/office/drawing/2014/main" id="{0C573931-0516-45B3-BC0D-3405568FFC05}"/>
              </a:ext>
            </a:extLst>
          </p:cNvPr>
          <p:cNvGraphicFramePr/>
          <p:nvPr/>
        </p:nvGraphicFramePr>
        <p:xfrm>
          <a:off xmlns:a="http://schemas.openxmlformats.org/drawingml/2006/main" x="533400" y="2057400"/>
          <a:ext xmlns:a="http://schemas.openxmlformats.org/drawingml/2006/main" cx="11125200" cy="2952750"/>
        </p:xfrm>
        <a:graphic xmlns:a="http://schemas.openxmlformats.org/drawingml/2006/main">
          <a:graphicData uri="http://schemas.openxmlformats.org/drawingml/2006/table">
            <a:tbl>
              <a:tblPr/>
              <a:tblGrid>
                <a:gridCol w="3708400"/>
                <a:gridCol w="3708400"/>
                <a:gridCol w="3708400"/>
              </a:tblGrid>
              <a:tr h="590550">
                <a:tc>
                  <a:txBody>
                    <a:bodyPr/>
                    <a:lstStyle/>
                    <a:p>
                      <a:r>
                        <a:rPr sz="1800" b="1">
                          <a:solidFill>
                            <a:srgbClr val="2164CB"/>
                          </a:solidFill>
                          <a:latin typeface="AppleGothic"/>
                          <a:ea typeface="AppleGothic"/>
                          <a:cs typeface="AppleGothic"/>
                        </a:rPr>
                        <a:t>Level</a:t>
                      </a:r>
                    </a:p>
                  </a:txBody>
                  <a:tcPr marL="114300" marR="114300" marT="95250" marB="95250">
                    <a:lnL w="9525">
                      <a:solidFill>
                        <a:srgbClr val="D7DFEA"/>
                      </a:solidFill>
                      <a:prstDash val="solid"/>
                    </a:lnL>
                    <a:lnR w="9525">
                      <a:solidFill>
                        <a:srgbClr val="D7DFEA"/>
                      </a:solidFill>
                      <a:prstDash val="solid"/>
                    </a:lnR>
                    <a:lnT w="9525">
                      <a:solidFill>
                        <a:srgbClr val="D7DFEA"/>
                      </a:solidFill>
                      <a:prstDash val="solid"/>
                    </a:lnT>
                    <a:lnB w="9525">
                      <a:solidFill>
                        <a:srgbClr val="D7DFEA"/>
                      </a:solidFill>
                      <a:prstDash val="solid"/>
                    </a:lnB>
                    <a:solidFill>
                      <a:srgbClr val="EAF1FC"/>
                    </a:solidFill>
                  </a:tcPr>
                </a:tc>
                <a:tc>
                  <a:txBody>
                    <a:bodyPr/>
                    <a:lstStyle/>
                    <a:p>
                      <a:r>
                        <a:rPr sz="1800" b="1">
                          <a:solidFill>
                            <a:srgbClr val="2164CB"/>
                          </a:solidFill>
                          <a:latin typeface="AppleGothic"/>
                          <a:ea typeface="AppleGothic"/>
                          <a:cs typeface="AppleGothic"/>
                        </a:rPr>
                        <a:t>Anchor scale</a:t>
                      </a:r>
                    </a:p>
                  </a:txBody>
                  <a:tcPr marL="114300" marR="114300" marT="95250" marB="95250">
                    <a:lnR w="9525">
                      <a:solidFill>
                        <a:srgbClr val="D7DFEA"/>
                      </a:solidFill>
                      <a:prstDash val="solid"/>
                    </a:lnR>
                    <a:lnT w="9525">
                      <a:solidFill>
                        <a:srgbClr val="D7DFEA"/>
                      </a:solidFill>
                      <a:prstDash val="solid"/>
                    </a:lnT>
                    <a:lnB w="9525">
                      <a:solidFill>
                        <a:srgbClr val="D7DFEA"/>
                      </a:solidFill>
                      <a:prstDash val="solid"/>
                    </a:lnB>
                    <a:solidFill>
                      <a:srgbClr val="EAF1FC"/>
                    </a:solidFill>
                  </a:tcPr>
                </a:tc>
                <a:tc>
                  <a:txBody>
                    <a:bodyPr/>
                    <a:lstStyle/>
                    <a:p>
                      <a:r>
                        <a:rPr sz="1800" b="1">
                          <a:solidFill>
                            <a:srgbClr val="2164CB"/>
                          </a:solidFill>
                          <a:latin typeface="AppleGothic"/>
                          <a:ea typeface="AppleGothic"/>
                          <a:cs typeface="AppleGothic"/>
                        </a:rPr>
                        <a:t>Saved GT 2: best IoU</a:t>
                      </a:r>
                    </a:p>
                  </a:txBody>
                  <a:tcPr marL="114300" marR="114300" marT="95250" marB="95250">
                    <a:lnR w="9525">
                      <a:solidFill>
                        <a:srgbClr val="D7DFEA"/>
                      </a:solidFill>
                      <a:prstDash val="solid"/>
                    </a:lnR>
                    <a:lnT w="9525">
                      <a:solidFill>
                        <a:srgbClr val="D7DFEA"/>
                      </a:solidFill>
                      <a:prstDash val="solid"/>
                    </a:lnT>
                    <a:lnB w="9525">
                      <a:solidFill>
                        <a:srgbClr val="D7DFEA"/>
                      </a:solidFill>
                      <a:prstDash val="solid"/>
                    </a:lnB>
                    <a:solidFill>
                      <a:srgbClr val="EAF1FC"/>
                    </a:solidFill>
                  </a:tcPr>
                </a:tc>
              </a:tr>
              <a:tr h="590550">
                <a:tc>
                  <a:txBody>
                    <a:bodyPr/>
                    <a:lstStyle/>
                    <a:p>
                      <a:r>
                        <a:rPr sz="1800">
                          <a:solidFill>
                            <a:srgbClr val="15243B"/>
                          </a:solidFill>
                          <a:latin typeface="AppleGothic"/>
                          <a:ea typeface="AppleGothic"/>
                          <a:cs typeface="AppleGothic"/>
                        </a:rPr>
                        <a:t>P2</a:t>
                      </a:r>
                    </a:p>
                  </a:txBody>
                  <a:tcPr marL="114300" marR="114300" marT="95250" marB="95250">
                    <a:lnL w="9525">
                      <a:solidFill>
                        <a:srgbClr val="D7DFEA"/>
                      </a:solidFill>
                      <a:prstDash val="solid"/>
                    </a:lnL>
                    <a:lnR w="9525">
                      <a:solidFill>
                        <a:srgbClr val="D7DFEA"/>
                      </a:solidFill>
                      <a:prstDash val="solid"/>
                    </a:lnR>
                    <a:lnB w="9525">
                      <a:solidFill>
                        <a:srgbClr val="D7DFEA"/>
                      </a:solidFill>
                      <a:prstDash val="solid"/>
                    </a:lnB>
                  </a:tcPr>
                </a:tc>
                <a:tc>
                  <a:txBody>
                    <a:bodyPr/>
                    <a:lstStyle/>
                    <a:p>
                      <a:r>
                        <a:rPr sz="1800">
                          <a:solidFill>
                            <a:srgbClr val="15243B"/>
                          </a:solidFill>
                          <a:latin typeface="AppleGothic"/>
                          <a:ea typeface="AppleGothic"/>
                          <a:cs typeface="AppleGothic"/>
                        </a:rPr>
                        <a:t>32 px · 촘촘한 grid</a:t>
                      </a:r>
                    </a:p>
                  </a:txBody>
                  <a:tcPr marL="114300" marR="114300" marT="95250" marB="95250">
                    <a:lnR w="9525">
                      <a:solidFill>
                        <a:srgbClr val="D7DFEA"/>
                      </a:solidFill>
                      <a:prstDash val="solid"/>
                    </a:lnR>
                    <a:lnB w="9525">
                      <a:solidFill>
                        <a:srgbClr val="D7DFEA"/>
                      </a:solidFill>
                      <a:prstDash val="solid"/>
                    </a:lnB>
                  </a:tcPr>
                </a:tc>
                <a:tc>
                  <a:txBody>
                    <a:bodyPr/>
                    <a:lstStyle/>
                    <a:p>
                      <a:r>
                        <a:rPr sz="1800">
                          <a:solidFill>
                            <a:srgbClr val="15243B"/>
                          </a:solidFill>
                          <a:latin typeface="AppleGothic"/>
                          <a:ea typeface="AppleGothic"/>
                          <a:cs typeface="AppleGothic"/>
                        </a:rPr>
                        <a:t>0.01</a:t>
                      </a:r>
                    </a:p>
                  </a:txBody>
                  <a:tcPr marL="114300" marR="114300" marT="95250" marB="95250">
                    <a:lnR w="9525">
                      <a:solidFill>
                        <a:srgbClr val="D7DFEA"/>
                      </a:solidFill>
                      <a:prstDash val="solid"/>
                    </a:lnR>
                    <a:lnB w="9525">
                      <a:solidFill>
                        <a:srgbClr val="D7DFEA"/>
                      </a:solidFill>
                      <a:prstDash val="solid"/>
                    </a:lnB>
                  </a:tcPr>
                </a:tc>
              </a:tr>
              <a:tr h="590550">
                <a:tc>
                  <a:txBody>
                    <a:bodyPr/>
                    <a:lstStyle/>
                    <a:p>
                      <a:r>
                        <a:rPr sz="1800">
                          <a:solidFill>
                            <a:srgbClr val="15243B"/>
                          </a:solidFill>
                          <a:latin typeface="AppleGothic"/>
                          <a:ea typeface="AppleGothic"/>
                          <a:cs typeface="AppleGothic"/>
                        </a:rPr>
                        <a:t>P3 / P4</a:t>
                      </a:r>
                    </a:p>
                  </a:txBody>
                  <a:tcPr marL="114300" marR="114300" marT="95250" marB="95250">
                    <a:lnL w="9525">
                      <a:solidFill>
                        <a:srgbClr val="D7DFEA"/>
                      </a:solidFill>
                      <a:prstDash val="solid"/>
                    </a:lnL>
                    <a:lnR w="9525">
                      <a:solidFill>
                        <a:srgbClr val="D7DFEA"/>
                      </a:solidFill>
                      <a:prstDash val="solid"/>
                    </a:lnR>
                    <a:lnB w="9525">
                      <a:solidFill>
                        <a:srgbClr val="D7DFEA"/>
                      </a:solidFill>
                      <a:prstDash val="solid"/>
                    </a:lnB>
                  </a:tcPr>
                </a:tc>
                <a:tc>
                  <a:txBody>
                    <a:bodyPr/>
                    <a:lstStyle/>
                    <a:p>
                      <a:r>
                        <a:rPr sz="1800">
                          <a:solidFill>
                            <a:srgbClr val="15243B"/>
                          </a:solidFill>
                          <a:latin typeface="AppleGothic"/>
                          <a:ea typeface="AppleGothic"/>
                          <a:cs typeface="AppleGothic"/>
                        </a:rPr>
                        <a:t>64 / 128 px</a:t>
                      </a:r>
                    </a:p>
                  </a:txBody>
                  <a:tcPr marL="114300" marR="114300" marT="95250" marB="95250">
                    <a:lnR w="9525">
                      <a:solidFill>
                        <a:srgbClr val="D7DFEA"/>
                      </a:solidFill>
                      <a:prstDash val="solid"/>
                    </a:lnR>
                    <a:lnB w="9525">
                      <a:solidFill>
                        <a:srgbClr val="D7DFEA"/>
                      </a:solidFill>
                      <a:prstDash val="solid"/>
                    </a:lnB>
                  </a:tcPr>
                </a:tc>
                <a:tc>
                  <a:txBody>
                    <a:bodyPr/>
                    <a:lstStyle/>
                    <a:p>
                      <a:r>
                        <a:rPr sz="1800">
                          <a:solidFill>
                            <a:srgbClr val="15243B"/>
                          </a:solidFill>
                          <a:latin typeface="AppleGothic"/>
                          <a:ea typeface="AppleGothic"/>
                          <a:cs typeface="AppleGothic"/>
                        </a:rPr>
                        <a:t>0.05 / 0.18</a:t>
                      </a:r>
                    </a:p>
                  </a:txBody>
                  <a:tcPr marL="114300" marR="114300" marT="95250" marB="95250">
                    <a:lnR w="9525">
                      <a:solidFill>
                        <a:srgbClr val="D7DFEA"/>
                      </a:solidFill>
                      <a:prstDash val="solid"/>
                    </a:lnR>
                    <a:lnB w="9525">
                      <a:solidFill>
                        <a:srgbClr val="D7DFEA"/>
                      </a:solidFill>
                      <a:prstDash val="solid"/>
                    </a:lnB>
                  </a:tcPr>
                </a:tc>
              </a:tr>
              <a:tr h="590550">
                <a:tc>
                  <a:txBody>
                    <a:bodyPr/>
                    <a:lstStyle/>
                    <a:p>
                      <a:r>
                        <a:rPr sz="1800">
                          <a:solidFill>
                            <a:srgbClr val="15243B"/>
                          </a:solidFill>
                          <a:latin typeface="AppleGothic"/>
                          <a:ea typeface="AppleGothic"/>
                          <a:cs typeface="AppleGothic"/>
                        </a:rPr>
                        <a:t>P5</a:t>
                      </a:r>
                    </a:p>
                  </a:txBody>
                  <a:tcPr marL="114300" marR="114300" marT="95250" marB="95250">
                    <a:lnL w="9525">
                      <a:solidFill>
                        <a:srgbClr val="D7DFEA"/>
                      </a:solidFill>
                      <a:prstDash val="solid"/>
                    </a:lnL>
                    <a:lnR w="9525">
                      <a:solidFill>
                        <a:srgbClr val="D7DFEA"/>
                      </a:solidFill>
                      <a:prstDash val="solid"/>
                    </a:lnR>
                    <a:lnB w="9525">
                      <a:solidFill>
                        <a:srgbClr val="D7DFEA"/>
                      </a:solidFill>
                      <a:prstDash val="solid"/>
                    </a:lnB>
                  </a:tcPr>
                </a:tc>
                <a:tc>
                  <a:txBody>
                    <a:bodyPr/>
                    <a:lstStyle/>
                    <a:p>
                      <a:r>
                        <a:rPr sz="1800">
                          <a:solidFill>
                            <a:srgbClr val="15243B"/>
                          </a:solidFill>
                          <a:latin typeface="AppleGothic"/>
                          <a:ea typeface="AppleGothic"/>
                          <a:cs typeface="AppleGothic"/>
                        </a:rPr>
                        <a:t>256 px</a:t>
                      </a:r>
                    </a:p>
                  </a:txBody>
                  <a:tcPr marL="114300" marR="114300" marT="95250" marB="95250">
                    <a:lnR w="9525">
                      <a:solidFill>
                        <a:srgbClr val="D7DFEA"/>
                      </a:solidFill>
                      <a:prstDash val="solid"/>
                    </a:lnR>
                    <a:lnB w="9525">
                      <a:solidFill>
                        <a:srgbClr val="D7DFEA"/>
                      </a:solidFill>
                      <a:prstDash val="solid"/>
                    </a:lnB>
                  </a:tcPr>
                </a:tc>
                <a:tc>
                  <a:txBody>
                    <a:bodyPr/>
                    <a:lstStyle/>
                    <a:p>
                      <a:r>
                        <a:rPr sz="1800">
                          <a:solidFill>
                            <a:srgbClr val="15243B"/>
                          </a:solidFill>
                          <a:latin typeface="AppleGothic"/>
                          <a:ea typeface="AppleGothic"/>
                          <a:cs typeface="AppleGothic"/>
                        </a:rPr>
                        <a:t>0.73 · h/w = 2</a:t>
                      </a:r>
                    </a:p>
                  </a:txBody>
                  <a:tcPr marL="114300" marR="114300" marT="95250" marB="95250">
                    <a:lnR w="9525">
                      <a:solidFill>
                        <a:srgbClr val="D7DFEA"/>
                      </a:solidFill>
                      <a:prstDash val="solid"/>
                    </a:lnR>
                    <a:lnB w="9525">
                      <a:solidFill>
                        <a:srgbClr val="D7DFEA"/>
                      </a:solidFill>
                      <a:prstDash val="solid"/>
                    </a:lnB>
                  </a:tcPr>
                </a:tc>
              </a:tr>
              <a:tr h="590550">
                <a:tc>
                  <a:txBody>
                    <a:bodyPr/>
                    <a:lstStyle/>
                    <a:p>
                      <a:r>
                        <a:rPr sz="1800">
                          <a:solidFill>
                            <a:srgbClr val="15243B"/>
                          </a:solidFill>
                          <a:latin typeface="AppleGothic"/>
                          <a:ea typeface="AppleGothic"/>
                          <a:cs typeface="AppleGothic"/>
                        </a:rPr>
                        <a:t>P6</a:t>
                      </a:r>
                    </a:p>
                  </a:txBody>
                  <a:tcPr marL="114300" marR="114300" marT="95250" marB="95250">
                    <a:lnL w="9525">
                      <a:solidFill>
                        <a:srgbClr val="D7DFEA"/>
                      </a:solidFill>
                      <a:prstDash val="solid"/>
                    </a:lnL>
                    <a:lnR w="9525">
                      <a:solidFill>
                        <a:srgbClr val="D7DFEA"/>
                      </a:solidFill>
                      <a:prstDash val="solid"/>
                    </a:lnR>
                    <a:lnB w="9525">
                      <a:solidFill>
                        <a:srgbClr val="D7DFEA"/>
                      </a:solidFill>
                      <a:prstDash val="solid"/>
                    </a:lnB>
                  </a:tcPr>
                </a:tc>
                <a:tc>
                  <a:txBody>
                    <a:bodyPr/>
                    <a:lstStyle/>
                    <a:p>
                      <a:r>
                        <a:rPr sz="1800">
                          <a:solidFill>
                            <a:srgbClr val="15243B"/>
                          </a:solidFill>
                          <a:latin typeface="AppleGothic"/>
                          <a:ea typeface="AppleGothic"/>
                          <a:cs typeface="AppleGothic"/>
                        </a:rPr>
                        <a:t>512 px · 성긴 grid</a:t>
                      </a:r>
                    </a:p>
                  </a:txBody>
                  <a:tcPr marL="114300" marR="114300" marT="95250" marB="95250">
                    <a:lnR w="9525">
                      <a:solidFill>
                        <a:srgbClr val="D7DFEA"/>
                      </a:solidFill>
                      <a:prstDash val="solid"/>
                    </a:lnR>
                    <a:lnB w="9525">
                      <a:solidFill>
                        <a:srgbClr val="D7DFEA"/>
                      </a:solidFill>
                      <a:prstDash val="solid"/>
                    </a:lnB>
                  </a:tcPr>
                </a:tc>
                <a:tc>
                  <a:txBody>
                    <a:bodyPr/>
                    <a:lstStyle/>
                    <a:p>
                      <a:r>
                        <a:rPr sz="1800">
                          <a:solidFill>
                            <a:srgbClr val="15243B"/>
                          </a:solidFill>
                          <a:latin typeface="AppleGothic"/>
                          <a:ea typeface="AppleGothic"/>
                          <a:cs typeface="AppleGothic"/>
                        </a:rPr>
                        <a:t>0.34</a:t>
                      </a:r>
                    </a:p>
                  </a:txBody>
                  <a:tcPr marL="114300" marR="114300" marT="95250" marB="95250">
                    <a:lnR w="9525">
                      <a:solidFill>
                        <a:srgbClr val="D7DFEA"/>
                      </a:solidFill>
                      <a:prstDash val="solid"/>
                    </a:lnR>
                    <a:lnB w="9525">
                      <a:solidFill>
                        <a:srgbClr val="D7DFEA"/>
                      </a:solidFill>
                      <a:prstDash val="solid"/>
                    </a:lnB>
                  </a:tcPr>
                </a:tc>
              </a:tr>
            </a:tbl>
          </a:graphicData>
        </a:graphic>
      </p:graphicFrame>
      <p:sp>
        <p:nvSpPr>
          <p:cNvPr id="4" name="">
            <a:extLst xmlns:a="http://schemas.openxmlformats.org/drawingml/2006/main">
              <a:ext uri="{FF2B5EF4-FFF2-40B4-BE49-F238E27FC236}">
                <a16:creationId xmlns:a16="http://schemas.microsoft.com/office/drawing/2014/main" id="{56C98E27-80B9-449A-8FD5-13E8F1E2EE7D}"/>
              </a:ext>
            </a:extLst>
          </p:cNvPr>
          <p:cNvSpPr>
            <a:spLocks xmlns:a="http://schemas.openxmlformats.org/drawingml/2006/main" noGrp="1"/>
          </p:cNvSpPr>
          <p:nvPr/>
        </p:nvSpPr>
        <p:spPr>
          <a:xfrm xmlns:a="http://schemas.openxmlformats.org/drawingml/2006/main">
            <a:off x="533400" y="5391150"/>
            <a:ext cx="11125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15243B"/>
                </a:solidFill>
                <a:latin typeface="AppleGothic"/>
                <a:ea typeface="AppleGothic"/>
                <a:cs typeface="AppleGothic"/>
              </a:defRPr>
            </a:defPPr>
            <a:lvl1pPr>
              <a:defRPr sz="1800" b="0">
                <a:solidFill>
                  <a:srgbClr val="15243B"/>
                </a:solidFill>
                <a:latin typeface="AppleGothic"/>
                <a:ea typeface="AppleGothic"/>
                <a:cs typeface="AppleGothic"/>
              </a:defRPr>
            </a:lvl1pPr>
            <a:lvl2pPr>
              <a:defRPr sz="1800" b="0">
                <a:solidFill>
                  <a:srgbClr val="15243B"/>
                </a:solidFill>
                <a:latin typeface="AppleGothic"/>
                <a:ea typeface="AppleGothic"/>
                <a:cs typeface="AppleGothic"/>
              </a:defRPr>
            </a:lvl2pPr>
            <a:lvl3pPr>
              <a:defRPr sz="1800" b="0">
                <a:solidFill>
                  <a:srgbClr val="15243B"/>
                </a:solidFill>
                <a:latin typeface="AppleGothic"/>
                <a:ea typeface="AppleGothic"/>
                <a:cs typeface="AppleGothic"/>
              </a:defRPr>
            </a:lvl3pPr>
            <a:lvl4pPr>
              <a:defRPr sz="1800" b="0">
                <a:solidFill>
                  <a:srgbClr val="15243B"/>
                </a:solidFill>
                <a:latin typeface="AppleGothic"/>
                <a:ea typeface="AppleGothic"/>
                <a:cs typeface="AppleGothic"/>
              </a:defRPr>
            </a:lvl4pPr>
            <a:lvl5pPr>
              <a:defRPr sz="1800" b="0">
                <a:solidFill>
                  <a:srgbClr val="15243B"/>
                </a:solidFill>
                <a:latin typeface="AppleGothic"/>
                <a:ea typeface="AppleGothic"/>
                <a:cs typeface="AppleGothic"/>
              </a:defRPr>
            </a:lvl5pPr>
            <a:lvl6pPr>
              <a:defRPr sz="1800" b="0">
                <a:solidFill>
                  <a:srgbClr val="15243B"/>
                </a:solidFill>
                <a:latin typeface="AppleGothic"/>
                <a:ea typeface="AppleGothic"/>
                <a:cs typeface="AppleGothic"/>
              </a:defRPr>
            </a:lvl6pPr>
            <a:lvl7pPr>
              <a:defRPr sz="1800" b="0">
                <a:solidFill>
                  <a:srgbClr val="15243B"/>
                </a:solidFill>
                <a:latin typeface="AppleGothic"/>
                <a:ea typeface="AppleGothic"/>
                <a:cs typeface="AppleGothic"/>
              </a:defRPr>
            </a:lvl7pPr>
            <a:lvl8pPr>
              <a:defRPr sz="1800" b="0">
                <a:solidFill>
                  <a:srgbClr val="15243B"/>
                </a:solidFill>
                <a:latin typeface="AppleGothic"/>
                <a:ea typeface="AppleGothic"/>
                <a:cs typeface="AppleGothic"/>
              </a:defRPr>
            </a:lvl8pPr>
            <a:lvl9pPr>
              <a:defRPr sz="1800" b="0">
                <a:solidFill>
                  <a:srgbClr val="15243B"/>
                </a:solidFill>
                <a:latin typeface="AppleGothic"/>
                <a:ea typeface="AppleGothic"/>
                <a:cs typeface="AppleGothic"/>
              </a:defRPr>
            </a:lvl9pPr>
          </a:lstStyle>
          <a:p xmlns:a="http://schemas.openxmlformats.org/drawingml/2006/main">
            <a:pPr>
              <a:defRPr sz="1800" b="0">
                <a:solidFill>
                  <a:srgbClr val="15243B"/>
                </a:solidFill>
                <a:latin typeface="AppleGothic"/>
                <a:ea typeface="AppleGothic"/>
                <a:cs typeface="AppleGothic"/>
              </a:defRPr>
            </a:pPr>
            <a:r>
              <a:rPr sz="1800" b="0">
                <a:solidFill>
                  <a:srgbClr val="15243B"/>
                </a:solidFill>
                <a:latin typeface="AppleGothic"/>
                <a:ea typeface="AppleGothic"/>
                <a:cs typeface="AppleGothic"/>
              </a:rPr>
              <a:t>같은 GT 중심에 놓은 15개 template의 비교다. 모든 객체가 P5에 맞는다는 뜻은 아니다.</a:t>
            </a:r>
          </a:p>
          <a:p xmlns:a="http://schemas.openxmlformats.org/drawingml/2006/main">
            <a:pPr>
              <a:defRPr sz="1800" b="0">
                <a:solidFill>
                  <a:srgbClr val="15243B"/>
                </a:solidFill>
                <a:latin typeface="AppleGothic"/>
                <a:ea typeface="AppleGothic"/>
                <a:cs typeface="AppleGothic"/>
              </a:defRPr>
            </a:pPr>
            <a:r>
              <a:rPr sz="1800" b="0">
                <a:solidFill>
                  <a:srgbClr val="15243B"/>
                </a:solidFill>
                <a:latin typeface="AppleGothic"/>
                <a:ea typeface="AppleGothic"/>
                <a:cs typeface="AppleGothic"/>
              </a:rPr>
              <a:t>P2는 작은 객체의 위치를 세밀하게 나누지만 anchor 크기·비율도 함께 맞아야 한다.</a:t>
            </a:r>
          </a:p>
        </p:txBody>
      </p:sp>
      <p:sp>
        <p:nvSpPr>
          <p:cNvPr id="5" name="">
            <a:extLst xmlns:a="http://schemas.openxmlformats.org/drawingml/2006/main">
              <a:ext uri="{FF2B5EF4-FFF2-40B4-BE49-F238E27FC236}">
                <a16:creationId xmlns:a16="http://schemas.microsoft.com/office/drawing/2014/main" id="{D51E7C10-B452-467E-BC35-96D948D861F9}"/>
              </a:ext>
            </a:extLst>
          </p:cNvPr>
          <p:cNvSpPr>
            <a:spLocks xmlns:a="http://schemas.openxmlformats.org/drawingml/2006/main" noGrp="1"/>
          </p:cNvSpPr>
          <p:nvPr/>
        </p:nvSpPr>
        <p:spPr>
          <a:xfrm xmlns:a="http://schemas.openxmlformats.org/drawingml/2006/main">
            <a:off x="11144250" y="6400800"/>
            <a:ext cx="5143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62748C"/>
                </a:solidFill>
                <a:latin typeface="AppleGothic"/>
                <a:ea typeface="AppleGothic"/>
                <a:cs typeface="AppleGothic"/>
              </a:defRPr>
            </a:defPPr>
            <a:lvl1pPr>
              <a:defRPr sz="1350" b="0">
                <a:solidFill>
                  <a:srgbClr val="62748C"/>
                </a:solidFill>
                <a:latin typeface="AppleGothic"/>
                <a:ea typeface="AppleGothic"/>
                <a:cs typeface="AppleGothic"/>
              </a:defRPr>
            </a:lvl1pPr>
            <a:lvl2pPr>
              <a:defRPr sz="1350" b="0">
                <a:solidFill>
                  <a:srgbClr val="62748C"/>
                </a:solidFill>
                <a:latin typeface="AppleGothic"/>
                <a:ea typeface="AppleGothic"/>
                <a:cs typeface="AppleGothic"/>
              </a:defRPr>
            </a:lvl2pPr>
            <a:lvl3pPr>
              <a:defRPr sz="1350" b="0">
                <a:solidFill>
                  <a:srgbClr val="62748C"/>
                </a:solidFill>
                <a:latin typeface="AppleGothic"/>
                <a:ea typeface="AppleGothic"/>
                <a:cs typeface="AppleGothic"/>
              </a:defRPr>
            </a:lvl3pPr>
            <a:lvl4pPr>
              <a:defRPr sz="1350" b="0">
                <a:solidFill>
                  <a:srgbClr val="62748C"/>
                </a:solidFill>
                <a:latin typeface="AppleGothic"/>
                <a:ea typeface="AppleGothic"/>
                <a:cs typeface="AppleGothic"/>
              </a:defRPr>
            </a:lvl4pPr>
            <a:lvl5pPr>
              <a:defRPr sz="1350" b="0">
                <a:solidFill>
                  <a:srgbClr val="62748C"/>
                </a:solidFill>
                <a:latin typeface="AppleGothic"/>
                <a:ea typeface="AppleGothic"/>
                <a:cs typeface="AppleGothic"/>
              </a:defRPr>
            </a:lvl5pPr>
            <a:lvl6pPr>
              <a:defRPr sz="1350" b="0">
                <a:solidFill>
                  <a:srgbClr val="62748C"/>
                </a:solidFill>
                <a:latin typeface="AppleGothic"/>
                <a:ea typeface="AppleGothic"/>
                <a:cs typeface="AppleGothic"/>
              </a:defRPr>
            </a:lvl6pPr>
            <a:lvl7pPr>
              <a:defRPr sz="1350" b="0">
                <a:solidFill>
                  <a:srgbClr val="62748C"/>
                </a:solidFill>
                <a:latin typeface="AppleGothic"/>
                <a:ea typeface="AppleGothic"/>
                <a:cs typeface="AppleGothic"/>
              </a:defRPr>
            </a:lvl7pPr>
            <a:lvl8pPr>
              <a:defRPr sz="1350" b="0">
                <a:solidFill>
                  <a:srgbClr val="62748C"/>
                </a:solidFill>
                <a:latin typeface="AppleGothic"/>
                <a:ea typeface="AppleGothic"/>
                <a:cs typeface="AppleGothic"/>
              </a:defRPr>
            </a:lvl8pPr>
            <a:lvl9pPr>
              <a:defRPr sz="1350" b="0">
                <a:solidFill>
                  <a:srgbClr val="62748C"/>
                </a:solidFill>
                <a:latin typeface="AppleGothic"/>
                <a:ea typeface="AppleGothic"/>
                <a:cs typeface="AppleGothic"/>
              </a:defRPr>
            </a:lvl9pPr>
          </a:lstStyle>
          <a:p xmlns:a="http://schemas.openxmlformats.org/drawingml/2006/main">
            <a:pPr>
              <a:defRPr sz="1350" b="0">
                <a:solidFill>
                  <a:srgbClr val="62748C"/>
                </a:solidFill>
                <a:latin typeface="AppleGothic"/>
                <a:ea typeface="AppleGothic"/>
                <a:cs typeface="AppleGothic"/>
              </a:defRPr>
            </a:pPr>
            <a:r>
              <a:rPr sz="1350" b="0">
                <a:solidFill>
                  <a:srgbClr val="62748C"/>
                </a:solidFill>
                <a:latin typeface="AppleGothic"/>
                <a:ea typeface="AppleGothic"/>
                <a:cs typeface="AppleGothic"/>
              </a:rPr>
              <a:t>25</a:t>
            </a:r>
          </a:p>
        </p:txBody>
      </p:sp>
    </p:spTree>
    <p:extLst>
      <p:ext uri="{BB962C8B-B14F-4D97-AF65-F5344CB8AC3E}">
        <p14:creationId xmlns:p14="http://schemas.microsoft.com/office/powerpoint/2010/main" val="1085307178"/>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C8C72C01-990A-4069-A4B4-2D8F1B241737}"/>
              </a:ext>
            </a:extLst>
          </p:cNvPr>
          <p:cNvSpPr>
            <a:spLocks xmlns:a="http://schemas.openxmlformats.org/drawingml/2006/main" noGrp="1"/>
          </p:cNvSpPr>
          <p:nvPr/>
        </p:nvSpPr>
        <p:spPr>
          <a:xfrm xmlns:a="http://schemas.openxmlformats.org/drawingml/2006/main">
            <a:off x="533400" y="342900"/>
            <a:ext cx="111252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150" b="1">
                <a:solidFill>
                  <a:srgbClr val="15243B"/>
                </a:solidFill>
                <a:latin typeface="AppleGothic"/>
                <a:ea typeface="AppleGothic"/>
                <a:cs typeface="AppleGothic"/>
              </a:defRPr>
            </a:defPPr>
            <a:lvl1pPr>
              <a:defRPr sz="3150" b="1">
                <a:solidFill>
                  <a:srgbClr val="15243B"/>
                </a:solidFill>
                <a:latin typeface="AppleGothic"/>
                <a:ea typeface="AppleGothic"/>
                <a:cs typeface="AppleGothic"/>
              </a:defRPr>
            </a:lvl1pPr>
            <a:lvl2pPr>
              <a:defRPr sz="3150" b="1">
                <a:solidFill>
                  <a:srgbClr val="15243B"/>
                </a:solidFill>
                <a:latin typeface="AppleGothic"/>
                <a:ea typeface="AppleGothic"/>
                <a:cs typeface="AppleGothic"/>
              </a:defRPr>
            </a:lvl2pPr>
            <a:lvl3pPr>
              <a:defRPr sz="3150" b="1">
                <a:solidFill>
                  <a:srgbClr val="15243B"/>
                </a:solidFill>
                <a:latin typeface="AppleGothic"/>
                <a:ea typeface="AppleGothic"/>
                <a:cs typeface="AppleGothic"/>
              </a:defRPr>
            </a:lvl3pPr>
            <a:lvl4pPr>
              <a:defRPr sz="3150" b="1">
                <a:solidFill>
                  <a:srgbClr val="15243B"/>
                </a:solidFill>
                <a:latin typeface="AppleGothic"/>
                <a:ea typeface="AppleGothic"/>
                <a:cs typeface="AppleGothic"/>
              </a:defRPr>
            </a:lvl4pPr>
            <a:lvl5pPr>
              <a:defRPr sz="3150" b="1">
                <a:solidFill>
                  <a:srgbClr val="15243B"/>
                </a:solidFill>
                <a:latin typeface="AppleGothic"/>
                <a:ea typeface="AppleGothic"/>
                <a:cs typeface="AppleGothic"/>
              </a:defRPr>
            </a:lvl5pPr>
            <a:lvl6pPr>
              <a:defRPr sz="3150" b="1">
                <a:solidFill>
                  <a:srgbClr val="15243B"/>
                </a:solidFill>
                <a:latin typeface="AppleGothic"/>
                <a:ea typeface="AppleGothic"/>
                <a:cs typeface="AppleGothic"/>
              </a:defRPr>
            </a:lvl6pPr>
            <a:lvl7pPr>
              <a:defRPr sz="3150" b="1">
                <a:solidFill>
                  <a:srgbClr val="15243B"/>
                </a:solidFill>
                <a:latin typeface="AppleGothic"/>
                <a:ea typeface="AppleGothic"/>
                <a:cs typeface="AppleGothic"/>
              </a:defRPr>
            </a:lvl7pPr>
            <a:lvl8pPr>
              <a:defRPr sz="3150" b="1">
                <a:solidFill>
                  <a:srgbClr val="15243B"/>
                </a:solidFill>
                <a:latin typeface="AppleGothic"/>
                <a:ea typeface="AppleGothic"/>
                <a:cs typeface="AppleGothic"/>
              </a:defRPr>
            </a:lvl8pPr>
            <a:lvl9pPr>
              <a:defRPr sz="3150" b="1">
                <a:solidFill>
                  <a:srgbClr val="15243B"/>
                </a:solidFill>
                <a:latin typeface="AppleGothic"/>
                <a:ea typeface="AppleGothic"/>
                <a:cs typeface="AppleGothic"/>
              </a:defRPr>
            </a:lvl9pPr>
          </a:lstStyle>
          <a:p xmlns:a="http://schemas.openxmlformats.org/drawingml/2006/main">
            <a:pPr>
              <a:defRPr sz="3150" b="1">
                <a:solidFill>
                  <a:srgbClr val="15243B"/>
                </a:solidFill>
                <a:latin typeface="AppleGothic"/>
                <a:ea typeface="AppleGothic"/>
                <a:cs typeface="AppleGothic"/>
              </a:defRPr>
            </a:pPr>
            <a:r>
              <a:rPr sz="3150" b="1">
                <a:solidFill>
                  <a:srgbClr val="15243B"/>
                </a:solidFill>
                <a:latin typeface="AppleGothic"/>
                <a:ea typeface="AppleGothic"/>
                <a:cs typeface="AppleGothic"/>
              </a:rPr>
              <a:t>RPN Targets and Sampling</a:t>
            </a:r>
          </a:p>
        </p:txBody>
      </p:sp>
      <p:sp>
        <p:nvSpPr>
          <p:cNvPr id="2" name="">
            <a:extLst xmlns:a="http://schemas.openxmlformats.org/drawingml/2006/main">
              <a:ext uri="{FF2B5EF4-FFF2-40B4-BE49-F238E27FC236}">
                <a16:creationId xmlns:a16="http://schemas.microsoft.com/office/drawing/2014/main" id="{DAA80B7B-EB6E-47F3-83A5-F6D08EB6956E}"/>
              </a:ext>
            </a:extLst>
          </p:cNvPr>
          <p:cNvSpPr>
            <a:spLocks xmlns:a="http://schemas.openxmlformats.org/drawingml/2006/main" noGrp="1"/>
          </p:cNvSpPr>
          <p:nvPr/>
        </p:nvSpPr>
        <p:spPr>
          <a:xfrm xmlns:a="http://schemas.openxmlformats.org/drawingml/2006/main">
            <a:off x="533400" y="1066800"/>
            <a:ext cx="111252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1">
                <a:solidFill>
                  <a:srgbClr val="2164CB"/>
                </a:solidFill>
                <a:latin typeface="AppleGothic"/>
                <a:ea typeface="AppleGothic"/>
                <a:cs typeface="AppleGothic"/>
              </a:defRPr>
            </a:defPPr>
            <a:lvl1pPr>
              <a:defRPr sz="2175" b="1">
                <a:solidFill>
                  <a:srgbClr val="2164CB"/>
                </a:solidFill>
                <a:latin typeface="AppleGothic"/>
                <a:ea typeface="AppleGothic"/>
                <a:cs typeface="AppleGothic"/>
              </a:defRPr>
            </a:lvl1pPr>
            <a:lvl2pPr>
              <a:defRPr sz="2175" b="1">
                <a:solidFill>
                  <a:srgbClr val="2164CB"/>
                </a:solidFill>
                <a:latin typeface="AppleGothic"/>
                <a:ea typeface="AppleGothic"/>
                <a:cs typeface="AppleGothic"/>
              </a:defRPr>
            </a:lvl2pPr>
            <a:lvl3pPr>
              <a:defRPr sz="2175" b="1">
                <a:solidFill>
                  <a:srgbClr val="2164CB"/>
                </a:solidFill>
                <a:latin typeface="AppleGothic"/>
                <a:ea typeface="AppleGothic"/>
                <a:cs typeface="AppleGothic"/>
              </a:defRPr>
            </a:lvl3pPr>
            <a:lvl4pPr>
              <a:defRPr sz="2175" b="1">
                <a:solidFill>
                  <a:srgbClr val="2164CB"/>
                </a:solidFill>
                <a:latin typeface="AppleGothic"/>
                <a:ea typeface="AppleGothic"/>
                <a:cs typeface="AppleGothic"/>
              </a:defRPr>
            </a:lvl4pPr>
            <a:lvl5pPr>
              <a:defRPr sz="2175" b="1">
                <a:solidFill>
                  <a:srgbClr val="2164CB"/>
                </a:solidFill>
                <a:latin typeface="AppleGothic"/>
                <a:ea typeface="AppleGothic"/>
                <a:cs typeface="AppleGothic"/>
              </a:defRPr>
            </a:lvl5pPr>
            <a:lvl6pPr>
              <a:defRPr sz="2175" b="1">
                <a:solidFill>
                  <a:srgbClr val="2164CB"/>
                </a:solidFill>
                <a:latin typeface="AppleGothic"/>
                <a:ea typeface="AppleGothic"/>
                <a:cs typeface="AppleGothic"/>
              </a:defRPr>
            </a:lvl6pPr>
            <a:lvl7pPr>
              <a:defRPr sz="2175" b="1">
                <a:solidFill>
                  <a:srgbClr val="2164CB"/>
                </a:solidFill>
                <a:latin typeface="AppleGothic"/>
                <a:ea typeface="AppleGothic"/>
                <a:cs typeface="AppleGothic"/>
              </a:defRPr>
            </a:lvl7pPr>
            <a:lvl8pPr>
              <a:defRPr sz="2175" b="1">
                <a:solidFill>
                  <a:srgbClr val="2164CB"/>
                </a:solidFill>
                <a:latin typeface="AppleGothic"/>
                <a:ea typeface="AppleGothic"/>
                <a:cs typeface="AppleGothic"/>
              </a:defRPr>
            </a:lvl8pPr>
            <a:lvl9pPr>
              <a:defRPr sz="2175" b="1">
                <a:solidFill>
                  <a:srgbClr val="2164CB"/>
                </a:solidFill>
                <a:latin typeface="AppleGothic"/>
                <a:ea typeface="AppleGothic"/>
                <a:cs typeface="AppleGothic"/>
              </a:defRPr>
            </a:lvl9pPr>
          </a:lstStyle>
          <a:p xmlns:a="http://schemas.openxmlformats.org/drawingml/2006/main">
            <a:pPr>
              <a:defRPr sz="2175" b="1">
                <a:solidFill>
                  <a:srgbClr val="2164CB"/>
                </a:solidFill>
                <a:latin typeface="AppleGothic"/>
                <a:ea typeface="AppleGothic"/>
                <a:cs typeface="AppleGothic"/>
              </a:defRPr>
            </a:pPr>
            <a:r>
              <a:rPr sz="2175" b="1">
                <a:solidFill>
                  <a:srgbClr val="2164CB"/>
                </a:solidFill>
                <a:latin typeface="AppleGothic"/>
                <a:ea typeface="AppleGothic"/>
                <a:cs typeface="AppleGothic"/>
              </a:rPr>
              <a:t>Anchor와 GT가 label·offset target을 정하고, network는 objectness와 offset을 학습한다</a:t>
            </a:r>
          </a:p>
        </p:txBody>
      </p:sp>
      <p:graphicFrame>
        <p:nvGraphicFramePr>
          <p:cNvPr id="3" name="">
            <a:extLst xmlns:a="http://schemas.openxmlformats.org/drawingml/2006/main">
              <a:ext uri="{FF2B5EF4-FFF2-40B4-BE49-F238E27FC236}">
                <a16:creationId xmlns:a16="http://schemas.microsoft.com/office/drawing/2014/main" id="{0C9BC39A-EF8E-46EC-B990-1D8C6DB32582}"/>
              </a:ext>
            </a:extLst>
          </p:cNvPr>
          <p:cNvGraphicFramePr/>
          <p:nvPr/>
        </p:nvGraphicFramePr>
        <p:xfrm>
          <a:off xmlns:a="http://schemas.openxmlformats.org/drawingml/2006/main" x="533400" y="2057400"/>
          <a:ext xmlns:a="http://schemas.openxmlformats.org/drawingml/2006/main" cx="11125200" cy="2952750"/>
        </p:xfrm>
        <a:graphic xmlns:a="http://schemas.openxmlformats.org/drawingml/2006/main">
          <a:graphicData uri="http://schemas.openxmlformats.org/drawingml/2006/table">
            <a:tbl>
              <a:tblPr/>
              <a:tblGrid>
                <a:gridCol w="3708400"/>
                <a:gridCol w="3708400"/>
                <a:gridCol w="3708400"/>
              </a:tblGrid>
              <a:tr h="590550">
                <a:tc>
                  <a:txBody>
                    <a:bodyPr/>
                    <a:lstStyle/>
                    <a:p>
                      <a:r>
                        <a:rPr sz="1800" b="1">
                          <a:solidFill>
                            <a:srgbClr val="2164CB"/>
                          </a:solidFill>
                          <a:latin typeface="AppleGothic"/>
                          <a:ea typeface="AppleGothic"/>
                          <a:cs typeface="AppleGothic"/>
                        </a:rPr>
                        <a:t>Target</a:t>
                      </a:r>
                    </a:p>
                  </a:txBody>
                  <a:tcPr marL="114300" marR="114300" marT="95250" marB="95250">
                    <a:lnL w="9525">
                      <a:solidFill>
                        <a:srgbClr val="D7DFEA"/>
                      </a:solidFill>
                      <a:prstDash val="solid"/>
                    </a:lnL>
                    <a:lnR w="9525">
                      <a:solidFill>
                        <a:srgbClr val="D7DFEA"/>
                      </a:solidFill>
                      <a:prstDash val="solid"/>
                    </a:lnR>
                    <a:lnT w="9525">
                      <a:solidFill>
                        <a:srgbClr val="D7DFEA"/>
                      </a:solidFill>
                      <a:prstDash val="solid"/>
                    </a:lnT>
                    <a:lnB w="9525">
                      <a:solidFill>
                        <a:srgbClr val="D7DFEA"/>
                      </a:solidFill>
                      <a:prstDash val="solid"/>
                    </a:lnB>
                    <a:solidFill>
                      <a:srgbClr val="EAF1FC"/>
                    </a:solidFill>
                  </a:tcPr>
                </a:tc>
                <a:tc>
                  <a:txBody>
                    <a:bodyPr/>
                    <a:lstStyle/>
                    <a:p>
                      <a:r>
                        <a:rPr sz="1800" b="1">
                          <a:solidFill>
                            <a:srgbClr val="2164CB"/>
                          </a:solidFill>
                          <a:latin typeface="AppleGothic"/>
                          <a:ea typeface="AppleGothic"/>
                          <a:cs typeface="AppleGothic"/>
                        </a:rPr>
                        <a:t>Assignment rule</a:t>
                      </a:r>
                    </a:p>
                  </a:txBody>
                  <a:tcPr marL="114300" marR="114300" marT="95250" marB="95250">
                    <a:lnR w="9525">
                      <a:solidFill>
                        <a:srgbClr val="D7DFEA"/>
                      </a:solidFill>
                      <a:prstDash val="solid"/>
                    </a:lnR>
                    <a:lnT w="9525">
                      <a:solidFill>
                        <a:srgbClr val="D7DFEA"/>
                      </a:solidFill>
                      <a:prstDash val="solid"/>
                    </a:lnT>
                    <a:lnB w="9525">
                      <a:solidFill>
                        <a:srgbClr val="D7DFEA"/>
                      </a:solidFill>
                      <a:prstDash val="solid"/>
                    </a:lnB>
                    <a:solidFill>
                      <a:srgbClr val="EAF1FC"/>
                    </a:solidFill>
                  </a:tcPr>
                </a:tc>
                <a:tc>
                  <a:txBody>
                    <a:bodyPr/>
                    <a:lstStyle/>
                    <a:p>
                      <a:r>
                        <a:rPr sz="1800" b="1">
                          <a:solidFill>
                            <a:srgbClr val="2164CB"/>
                          </a:solidFill>
                          <a:latin typeface="AppleGothic"/>
                          <a:ea typeface="AppleGothic"/>
                          <a:cs typeface="AppleGothic"/>
                        </a:rPr>
                        <a:t>Saved count</a:t>
                      </a:r>
                    </a:p>
                  </a:txBody>
                  <a:tcPr marL="114300" marR="114300" marT="95250" marB="95250">
                    <a:lnR w="9525">
                      <a:solidFill>
                        <a:srgbClr val="D7DFEA"/>
                      </a:solidFill>
                      <a:prstDash val="solid"/>
                    </a:lnR>
                    <a:lnT w="9525">
                      <a:solidFill>
                        <a:srgbClr val="D7DFEA"/>
                      </a:solidFill>
                      <a:prstDash val="solid"/>
                    </a:lnT>
                    <a:lnB w="9525">
                      <a:solidFill>
                        <a:srgbClr val="D7DFEA"/>
                      </a:solidFill>
                      <a:prstDash val="solid"/>
                    </a:lnB>
                    <a:solidFill>
                      <a:srgbClr val="EAF1FC"/>
                    </a:solidFill>
                  </a:tcPr>
                </a:tc>
              </a:tr>
              <a:tr h="590550">
                <a:tc>
                  <a:txBody>
                    <a:bodyPr/>
                    <a:lstStyle/>
                    <a:p>
                      <a:r>
                        <a:rPr sz="1800">
                          <a:solidFill>
                            <a:srgbClr val="15243B"/>
                          </a:solidFill>
                          <a:latin typeface="AppleGothic"/>
                          <a:ea typeface="AppleGothic"/>
                          <a:cs typeface="AppleGothic"/>
                        </a:rPr>
                        <a:t>Positive</a:t>
                      </a:r>
                    </a:p>
                  </a:txBody>
                  <a:tcPr marL="114300" marR="114300" marT="95250" marB="95250">
                    <a:lnL w="9525">
                      <a:solidFill>
                        <a:srgbClr val="D7DFEA"/>
                      </a:solidFill>
                      <a:prstDash val="solid"/>
                    </a:lnL>
                    <a:lnR w="9525">
                      <a:solidFill>
                        <a:srgbClr val="D7DFEA"/>
                      </a:solidFill>
                      <a:prstDash val="solid"/>
                    </a:lnR>
                    <a:lnB w="9525">
                      <a:solidFill>
                        <a:srgbClr val="D7DFEA"/>
                      </a:solidFill>
                      <a:prstDash val="solid"/>
                    </a:lnB>
                  </a:tcPr>
                </a:tc>
                <a:tc>
                  <a:txBody>
                    <a:bodyPr/>
                    <a:lstStyle/>
                    <a:p>
                      <a:r>
                        <a:rPr sz="1800">
                          <a:solidFill>
                            <a:srgbClr val="15243B"/>
                          </a:solidFill>
                          <a:latin typeface="AppleGothic"/>
                          <a:ea typeface="AppleGothic"/>
                          <a:cs typeface="AppleGothic"/>
                        </a:rPr>
                        <a:t>IoU ≥ 0.7 또는 low-quality match</a:t>
                      </a:r>
                    </a:p>
                  </a:txBody>
                  <a:tcPr marL="114300" marR="114300" marT="95250" marB="95250">
                    <a:lnR w="9525">
                      <a:solidFill>
                        <a:srgbClr val="D7DFEA"/>
                      </a:solidFill>
                      <a:prstDash val="solid"/>
                    </a:lnR>
                    <a:lnB w="9525">
                      <a:solidFill>
                        <a:srgbClr val="D7DFEA"/>
                      </a:solidFill>
                      <a:prstDash val="solid"/>
                    </a:lnB>
                  </a:tcPr>
                </a:tc>
                <a:tc>
                  <a:txBody>
                    <a:bodyPr/>
                    <a:lstStyle/>
                    <a:p>
                      <a:r>
                        <a:rPr sz="1800">
                          <a:solidFill>
                            <a:srgbClr val="15243B"/>
                          </a:solidFill>
                          <a:latin typeface="AppleGothic"/>
                          <a:ea typeface="AppleGothic"/>
                          <a:cs typeface="AppleGothic"/>
                        </a:rPr>
                        <a:t>17</a:t>
                      </a:r>
                    </a:p>
                  </a:txBody>
                  <a:tcPr marL="114300" marR="114300" marT="95250" marB="95250">
                    <a:lnR w="9525">
                      <a:solidFill>
                        <a:srgbClr val="D7DFEA"/>
                      </a:solidFill>
                      <a:prstDash val="solid"/>
                    </a:lnR>
                    <a:lnB w="9525">
                      <a:solidFill>
                        <a:srgbClr val="D7DFEA"/>
                      </a:solidFill>
                      <a:prstDash val="solid"/>
                    </a:lnB>
                  </a:tcPr>
                </a:tc>
              </a:tr>
              <a:tr h="590550">
                <a:tc>
                  <a:txBody>
                    <a:bodyPr/>
                    <a:lstStyle/>
                    <a:p>
                      <a:r>
                        <a:rPr sz="1800">
                          <a:solidFill>
                            <a:srgbClr val="15243B"/>
                          </a:solidFill>
                          <a:latin typeface="AppleGothic"/>
                          <a:ea typeface="AppleGothic"/>
                          <a:cs typeface="AppleGothic"/>
                        </a:rPr>
                        <a:t>Negative</a:t>
                      </a:r>
                    </a:p>
                  </a:txBody>
                  <a:tcPr marL="114300" marR="114300" marT="95250" marB="95250">
                    <a:lnL w="9525">
                      <a:solidFill>
                        <a:srgbClr val="D7DFEA"/>
                      </a:solidFill>
                      <a:prstDash val="solid"/>
                    </a:lnL>
                    <a:lnR w="9525">
                      <a:solidFill>
                        <a:srgbClr val="D7DFEA"/>
                      </a:solidFill>
                      <a:prstDash val="solid"/>
                    </a:lnR>
                    <a:lnB w="9525">
                      <a:solidFill>
                        <a:srgbClr val="D7DFEA"/>
                      </a:solidFill>
                      <a:prstDash val="solid"/>
                    </a:lnB>
                  </a:tcPr>
                </a:tc>
                <a:tc>
                  <a:txBody>
                    <a:bodyPr/>
                    <a:lstStyle/>
                    <a:p>
                      <a:r>
                        <a:rPr sz="1800">
                          <a:solidFill>
                            <a:srgbClr val="15243B"/>
                          </a:solidFill>
                          <a:latin typeface="AppleGothic"/>
                          <a:ea typeface="AppleGothic"/>
                          <a:cs typeface="AppleGothic"/>
                        </a:rPr>
                        <a:t>IoU &lt; 0.3 · positive 제외</a:t>
                      </a:r>
                    </a:p>
                  </a:txBody>
                  <a:tcPr marL="114300" marR="114300" marT="95250" marB="95250">
                    <a:lnR w="9525">
                      <a:solidFill>
                        <a:srgbClr val="D7DFEA"/>
                      </a:solidFill>
                      <a:prstDash val="solid"/>
                    </a:lnR>
                    <a:lnB w="9525">
                      <a:solidFill>
                        <a:srgbClr val="D7DFEA"/>
                      </a:solidFill>
                      <a:prstDash val="solid"/>
                    </a:lnB>
                  </a:tcPr>
                </a:tc>
                <a:tc>
                  <a:txBody>
                    <a:bodyPr/>
                    <a:lstStyle/>
                    <a:p>
                      <a:r>
                        <a:rPr sz="1800">
                          <a:solidFill>
                            <a:srgbClr val="15243B"/>
                          </a:solidFill>
                          <a:latin typeface="AppleGothic"/>
                          <a:ea typeface="AppleGothic"/>
                          <a:cs typeface="AppleGothic"/>
                        </a:rPr>
                        <a:t>125,811</a:t>
                      </a:r>
                    </a:p>
                  </a:txBody>
                  <a:tcPr marL="114300" marR="114300" marT="95250" marB="95250">
                    <a:lnR w="9525">
                      <a:solidFill>
                        <a:srgbClr val="D7DFEA"/>
                      </a:solidFill>
                      <a:prstDash val="solid"/>
                    </a:lnR>
                    <a:lnB w="9525">
                      <a:solidFill>
                        <a:srgbClr val="D7DFEA"/>
                      </a:solidFill>
                      <a:prstDash val="solid"/>
                    </a:lnB>
                  </a:tcPr>
                </a:tc>
              </a:tr>
              <a:tr h="590550">
                <a:tc>
                  <a:txBody>
                    <a:bodyPr/>
                    <a:lstStyle/>
                    <a:p>
                      <a:r>
                        <a:rPr sz="1800">
                          <a:solidFill>
                            <a:srgbClr val="15243B"/>
                          </a:solidFill>
                          <a:latin typeface="AppleGothic"/>
                          <a:ea typeface="AppleGothic"/>
                          <a:cs typeface="AppleGothic"/>
                        </a:rPr>
                        <a:t>Ignore</a:t>
                      </a:r>
                    </a:p>
                  </a:txBody>
                  <a:tcPr marL="114300" marR="114300" marT="95250" marB="95250">
                    <a:lnL w="9525">
                      <a:solidFill>
                        <a:srgbClr val="D7DFEA"/>
                      </a:solidFill>
                      <a:prstDash val="solid"/>
                    </a:lnL>
                    <a:lnR w="9525">
                      <a:solidFill>
                        <a:srgbClr val="D7DFEA"/>
                      </a:solidFill>
                      <a:prstDash val="solid"/>
                    </a:lnR>
                    <a:lnB w="9525">
                      <a:solidFill>
                        <a:srgbClr val="D7DFEA"/>
                      </a:solidFill>
                      <a:prstDash val="solid"/>
                    </a:lnB>
                  </a:tcPr>
                </a:tc>
                <a:tc>
                  <a:txBody>
                    <a:bodyPr/>
                    <a:lstStyle/>
                    <a:p>
                      <a:r>
                        <a:rPr sz="1800">
                          <a:solidFill>
                            <a:srgbClr val="15243B"/>
                          </a:solidFill>
                          <a:latin typeface="AppleGothic"/>
                          <a:ea typeface="AppleGothic"/>
                          <a:cs typeface="AppleGothic"/>
                        </a:rPr>
                        <a:t>어느 학습 label에도 미배정</a:t>
                      </a:r>
                    </a:p>
                  </a:txBody>
                  <a:tcPr marL="114300" marR="114300" marT="95250" marB="95250">
                    <a:lnR w="9525">
                      <a:solidFill>
                        <a:srgbClr val="D7DFEA"/>
                      </a:solidFill>
                      <a:prstDash val="solid"/>
                    </a:lnR>
                    <a:lnB w="9525">
                      <a:solidFill>
                        <a:srgbClr val="D7DFEA"/>
                      </a:solidFill>
                      <a:prstDash val="solid"/>
                    </a:lnB>
                  </a:tcPr>
                </a:tc>
                <a:tc>
                  <a:txBody>
                    <a:bodyPr/>
                    <a:lstStyle/>
                    <a:p>
                      <a:r>
                        <a:rPr sz="1800">
                          <a:solidFill>
                            <a:srgbClr val="15243B"/>
                          </a:solidFill>
                          <a:latin typeface="AppleGothic"/>
                          <a:ea typeface="AppleGothic"/>
                          <a:cs typeface="AppleGothic"/>
                        </a:rPr>
                        <a:t>532</a:t>
                      </a:r>
                    </a:p>
                  </a:txBody>
                  <a:tcPr marL="114300" marR="114300" marT="95250" marB="95250">
                    <a:lnR w="9525">
                      <a:solidFill>
                        <a:srgbClr val="D7DFEA"/>
                      </a:solidFill>
                      <a:prstDash val="solid"/>
                    </a:lnR>
                    <a:lnB w="9525">
                      <a:solidFill>
                        <a:srgbClr val="D7DFEA"/>
                      </a:solidFill>
                      <a:prstDash val="solid"/>
                    </a:lnB>
                  </a:tcPr>
                </a:tc>
              </a:tr>
              <a:tr h="590550">
                <a:tc>
                  <a:txBody>
                    <a:bodyPr/>
                    <a:lstStyle/>
                    <a:p>
                      <a:r>
                        <a:rPr sz="1800">
                          <a:solidFill>
                            <a:srgbClr val="15243B"/>
                          </a:solidFill>
                          <a:latin typeface="AppleGothic"/>
                          <a:ea typeface="AppleGothic"/>
                          <a:cs typeface="AppleGothic"/>
                        </a:rPr>
                        <a:t>Sample</a:t>
                      </a:r>
                    </a:p>
                  </a:txBody>
                  <a:tcPr marL="114300" marR="114300" marT="95250" marB="95250">
                    <a:lnL w="9525">
                      <a:solidFill>
                        <a:srgbClr val="D7DFEA"/>
                      </a:solidFill>
                      <a:prstDash val="solid"/>
                    </a:lnL>
                    <a:lnR w="9525">
                      <a:solidFill>
                        <a:srgbClr val="D7DFEA"/>
                      </a:solidFill>
                      <a:prstDash val="solid"/>
                    </a:lnR>
                    <a:lnB w="9525">
                      <a:solidFill>
                        <a:srgbClr val="D7DFEA"/>
                      </a:solidFill>
                      <a:prstDash val="solid"/>
                    </a:lnB>
                  </a:tcPr>
                </a:tc>
                <a:tc>
                  <a:txBody>
                    <a:bodyPr/>
                    <a:lstStyle/>
                    <a:p>
                      <a:r>
                        <a:rPr sz="1800">
                          <a:solidFill>
                            <a:srgbClr val="15243B"/>
                          </a:solidFill>
                          <a:latin typeface="AppleGothic"/>
                          <a:ea typeface="AppleGothic"/>
                          <a:cs typeface="AppleGothic"/>
                        </a:rPr>
                        <a:t>총 256 · positive 최대 128</a:t>
                      </a:r>
                    </a:p>
                  </a:txBody>
                  <a:tcPr marL="114300" marR="114300" marT="95250" marB="95250">
                    <a:lnR w="9525">
                      <a:solidFill>
                        <a:srgbClr val="D7DFEA"/>
                      </a:solidFill>
                      <a:prstDash val="solid"/>
                    </a:lnR>
                    <a:lnB w="9525">
                      <a:solidFill>
                        <a:srgbClr val="D7DFEA"/>
                      </a:solidFill>
                      <a:prstDash val="solid"/>
                    </a:lnB>
                  </a:tcPr>
                </a:tc>
                <a:tc>
                  <a:txBody>
                    <a:bodyPr/>
                    <a:lstStyle/>
                    <a:p>
                      <a:r>
                        <a:rPr sz="1800">
                          <a:solidFill>
                            <a:srgbClr val="15243B"/>
                          </a:solidFill>
                          <a:latin typeface="AppleGothic"/>
                          <a:ea typeface="AppleGothic"/>
                          <a:cs typeface="AppleGothic"/>
                        </a:rPr>
                        <a:t>17 positive + 239 negative</a:t>
                      </a:r>
                    </a:p>
                  </a:txBody>
                  <a:tcPr marL="114300" marR="114300" marT="95250" marB="95250">
                    <a:lnR w="9525">
                      <a:solidFill>
                        <a:srgbClr val="D7DFEA"/>
                      </a:solidFill>
                      <a:prstDash val="solid"/>
                    </a:lnR>
                    <a:lnB w="9525">
                      <a:solidFill>
                        <a:srgbClr val="D7DFEA"/>
                      </a:solidFill>
                      <a:prstDash val="solid"/>
                    </a:lnB>
                  </a:tcPr>
                </a:tc>
              </a:tr>
            </a:tbl>
          </a:graphicData>
        </a:graphic>
      </p:graphicFrame>
      <p:sp>
        <p:nvSpPr>
          <p:cNvPr id="4" name="">
            <a:extLst xmlns:a="http://schemas.openxmlformats.org/drawingml/2006/main">
              <a:ext uri="{FF2B5EF4-FFF2-40B4-BE49-F238E27FC236}">
                <a16:creationId xmlns:a16="http://schemas.microsoft.com/office/drawing/2014/main" id="{9124918E-C082-4303-930D-1C6B3CD8F439}"/>
              </a:ext>
            </a:extLst>
          </p:cNvPr>
          <p:cNvSpPr>
            <a:spLocks xmlns:a="http://schemas.openxmlformats.org/drawingml/2006/main" noGrp="1"/>
          </p:cNvSpPr>
          <p:nvPr/>
        </p:nvSpPr>
        <p:spPr>
          <a:xfrm xmlns:a="http://schemas.openxmlformats.org/drawingml/2006/main">
            <a:off x="533400" y="5391150"/>
            <a:ext cx="11125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15243B"/>
                </a:solidFill>
                <a:latin typeface="AppleGothic"/>
                <a:ea typeface="AppleGothic"/>
                <a:cs typeface="AppleGothic"/>
              </a:defRPr>
            </a:defPPr>
            <a:lvl1pPr>
              <a:defRPr sz="1800" b="0">
                <a:solidFill>
                  <a:srgbClr val="15243B"/>
                </a:solidFill>
                <a:latin typeface="AppleGothic"/>
                <a:ea typeface="AppleGothic"/>
                <a:cs typeface="AppleGothic"/>
              </a:defRPr>
            </a:lvl1pPr>
            <a:lvl2pPr>
              <a:defRPr sz="1800" b="0">
                <a:solidFill>
                  <a:srgbClr val="15243B"/>
                </a:solidFill>
                <a:latin typeface="AppleGothic"/>
                <a:ea typeface="AppleGothic"/>
                <a:cs typeface="AppleGothic"/>
              </a:defRPr>
            </a:lvl2pPr>
            <a:lvl3pPr>
              <a:defRPr sz="1800" b="0">
                <a:solidFill>
                  <a:srgbClr val="15243B"/>
                </a:solidFill>
                <a:latin typeface="AppleGothic"/>
                <a:ea typeface="AppleGothic"/>
                <a:cs typeface="AppleGothic"/>
              </a:defRPr>
            </a:lvl3pPr>
            <a:lvl4pPr>
              <a:defRPr sz="1800" b="0">
                <a:solidFill>
                  <a:srgbClr val="15243B"/>
                </a:solidFill>
                <a:latin typeface="AppleGothic"/>
                <a:ea typeface="AppleGothic"/>
                <a:cs typeface="AppleGothic"/>
              </a:defRPr>
            </a:lvl4pPr>
            <a:lvl5pPr>
              <a:defRPr sz="1800" b="0">
                <a:solidFill>
                  <a:srgbClr val="15243B"/>
                </a:solidFill>
                <a:latin typeface="AppleGothic"/>
                <a:ea typeface="AppleGothic"/>
                <a:cs typeface="AppleGothic"/>
              </a:defRPr>
            </a:lvl5pPr>
            <a:lvl6pPr>
              <a:defRPr sz="1800" b="0">
                <a:solidFill>
                  <a:srgbClr val="15243B"/>
                </a:solidFill>
                <a:latin typeface="AppleGothic"/>
                <a:ea typeface="AppleGothic"/>
                <a:cs typeface="AppleGothic"/>
              </a:defRPr>
            </a:lvl6pPr>
            <a:lvl7pPr>
              <a:defRPr sz="1800" b="0">
                <a:solidFill>
                  <a:srgbClr val="15243B"/>
                </a:solidFill>
                <a:latin typeface="AppleGothic"/>
                <a:ea typeface="AppleGothic"/>
                <a:cs typeface="AppleGothic"/>
              </a:defRPr>
            </a:lvl7pPr>
            <a:lvl8pPr>
              <a:defRPr sz="1800" b="0">
                <a:solidFill>
                  <a:srgbClr val="15243B"/>
                </a:solidFill>
                <a:latin typeface="AppleGothic"/>
                <a:ea typeface="AppleGothic"/>
                <a:cs typeface="AppleGothic"/>
              </a:defRPr>
            </a:lvl8pPr>
            <a:lvl9pPr>
              <a:defRPr sz="1800" b="0">
                <a:solidFill>
                  <a:srgbClr val="15243B"/>
                </a:solidFill>
                <a:latin typeface="AppleGothic"/>
                <a:ea typeface="AppleGothic"/>
                <a:cs typeface="AppleGothic"/>
              </a:defRPr>
            </a:lvl9pPr>
          </a:lstStyle>
          <a:p xmlns:a="http://schemas.openxmlformats.org/drawingml/2006/main">
            <a:pPr>
              <a:defRPr sz="1800" b="0">
                <a:solidFill>
                  <a:srgbClr val="15243B"/>
                </a:solidFill>
                <a:latin typeface="AppleGothic"/>
                <a:ea typeface="AppleGothic"/>
                <a:cs typeface="AppleGothic"/>
              </a:defRPr>
            </a:pPr>
            <a:r>
              <a:rPr sz="1800" b="0">
                <a:solidFill>
                  <a:srgbClr val="15243B"/>
                </a:solidFill>
                <a:latin typeface="AppleGothic"/>
                <a:ea typeface="AppleGothic"/>
                <a:cs typeface="AppleGothic"/>
              </a:rPr>
              <a:t>Positive가 17개뿐이면 128개로 늘리지 않고 남은 239개를 negative로 채운다.</a:t>
            </a:r>
          </a:p>
          <a:p xmlns:a="http://schemas.openxmlformats.org/drawingml/2006/main">
            <a:pPr>
              <a:defRPr sz="1800" b="0">
                <a:solidFill>
                  <a:srgbClr val="15243B"/>
                </a:solidFill>
                <a:latin typeface="AppleGothic"/>
                <a:ea typeface="AppleGothic"/>
                <a:cs typeface="AppleGothic"/>
              </a:defRPr>
            </a:pPr>
            <a:r>
              <a:rPr sz="1800" b="0">
                <a:solidFill>
                  <a:srgbClr val="15243B"/>
                </a:solidFill>
                <a:latin typeface="AppleGothic"/>
                <a:ea typeface="AppleGothic"/>
                <a:cs typeface="AppleGothic"/>
              </a:rPr>
              <a:t>Ignore는 classification에서 제외하고, box regression은 positive에만 적용한다.</a:t>
            </a:r>
          </a:p>
        </p:txBody>
      </p:sp>
      <p:sp>
        <p:nvSpPr>
          <p:cNvPr id="5" name="">
            <a:extLst xmlns:a="http://schemas.openxmlformats.org/drawingml/2006/main">
              <a:ext uri="{FF2B5EF4-FFF2-40B4-BE49-F238E27FC236}">
                <a16:creationId xmlns:a16="http://schemas.microsoft.com/office/drawing/2014/main" id="{395BC378-5F2E-4F2F-816F-A99EB4294887}"/>
              </a:ext>
            </a:extLst>
          </p:cNvPr>
          <p:cNvSpPr>
            <a:spLocks xmlns:a="http://schemas.openxmlformats.org/drawingml/2006/main" noGrp="1"/>
          </p:cNvSpPr>
          <p:nvPr/>
        </p:nvSpPr>
        <p:spPr>
          <a:xfrm xmlns:a="http://schemas.openxmlformats.org/drawingml/2006/main">
            <a:off x="11144250" y="6400800"/>
            <a:ext cx="5143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62748C"/>
                </a:solidFill>
                <a:latin typeface="AppleGothic"/>
                <a:ea typeface="AppleGothic"/>
                <a:cs typeface="AppleGothic"/>
              </a:defRPr>
            </a:defPPr>
            <a:lvl1pPr>
              <a:defRPr sz="1350" b="0">
                <a:solidFill>
                  <a:srgbClr val="62748C"/>
                </a:solidFill>
                <a:latin typeface="AppleGothic"/>
                <a:ea typeface="AppleGothic"/>
                <a:cs typeface="AppleGothic"/>
              </a:defRPr>
            </a:lvl1pPr>
            <a:lvl2pPr>
              <a:defRPr sz="1350" b="0">
                <a:solidFill>
                  <a:srgbClr val="62748C"/>
                </a:solidFill>
                <a:latin typeface="AppleGothic"/>
                <a:ea typeface="AppleGothic"/>
                <a:cs typeface="AppleGothic"/>
              </a:defRPr>
            </a:lvl2pPr>
            <a:lvl3pPr>
              <a:defRPr sz="1350" b="0">
                <a:solidFill>
                  <a:srgbClr val="62748C"/>
                </a:solidFill>
                <a:latin typeface="AppleGothic"/>
                <a:ea typeface="AppleGothic"/>
                <a:cs typeface="AppleGothic"/>
              </a:defRPr>
            </a:lvl3pPr>
            <a:lvl4pPr>
              <a:defRPr sz="1350" b="0">
                <a:solidFill>
                  <a:srgbClr val="62748C"/>
                </a:solidFill>
                <a:latin typeface="AppleGothic"/>
                <a:ea typeface="AppleGothic"/>
                <a:cs typeface="AppleGothic"/>
              </a:defRPr>
            </a:lvl4pPr>
            <a:lvl5pPr>
              <a:defRPr sz="1350" b="0">
                <a:solidFill>
                  <a:srgbClr val="62748C"/>
                </a:solidFill>
                <a:latin typeface="AppleGothic"/>
                <a:ea typeface="AppleGothic"/>
                <a:cs typeface="AppleGothic"/>
              </a:defRPr>
            </a:lvl5pPr>
            <a:lvl6pPr>
              <a:defRPr sz="1350" b="0">
                <a:solidFill>
                  <a:srgbClr val="62748C"/>
                </a:solidFill>
                <a:latin typeface="AppleGothic"/>
                <a:ea typeface="AppleGothic"/>
                <a:cs typeface="AppleGothic"/>
              </a:defRPr>
            </a:lvl6pPr>
            <a:lvl7pPr>
              <a:defRPr sz="1350" b="0">
                <a:solidFill>
                  <a:srgbClr val="62748C"/>
                </a:solidFill>
                <a:latin typeface="AppleGothic"/>
                <a:ea typeface="AppleGothic"/>
                <a:cs typeface="AppleGothic"/>
              </a:defRPr>
            </a:lvl7pPr>
            <a:lvl8pPr>
              <a:defRPr sz="1350" b="0">
                <a:solidFill>
                  <a:srgbClr val="62748C"/>
                </a:solidFill>
                <a:latin typeface="AppleGothic"/>
                <a:ea typeface="AppleGothic"/>
                <a:cs typeface="AppleGothic"/>
              </a:defRPr>
            </a:lvl8pPr>
            <a:lvl9pPr>
              <a:defRPr sz="1350" b="0">
                <a:solidFill>
                  <a:srgbClr val="62748C"/>
                </a:solidFill>
                <a:latin typeface="AppleGothic"/>
                <a:ea typeface="AppleGothic"/>
                <a:cs typeface="AppleGothic"/>
              </a:defRPr>
            </a:lvl9pPr>
          </a:lstStyle>
          <a:p xmlns:a="http://schemas.openxmlformats.org/drawingml/2006/main">
            <a:pPr>
              <a:defRPr sz="1350" b="0">
                <a:solidFill>
                  <a:srgbClr val="62748C"/>
                </a:solidFill>
                <a:latin typeface="AppleGothic"/>
                <a:ea typeface="AppleGothic"/>
                <a:cs typeface="AppleGothic"/>
              </a:defRPr>
            </a:pPr>
            <a:r>
              <a:rPr sz="1350" b="0">
                <a:solidFill>
                  <a:srgbClr val="62748C"/>
                </a:solidFill>
                <a:latin typeface="AppleGothic"/>
                <a:ea typeface="AppleGothic"/>
                <a:cs typeface="AppleGothic"/>
              </a:rPr>
              <a:t>26</a:t>
            </a:r>
          </a:p>
        </p:txBody>
      </p:sp>
    </p:spTree>
    <p:extLst>
      <p:ext uri="{BB962C8B-B14F-4D97-AF65-F5344CB8AC3E}">
        <p14:creationId xmlns:p14="http://schemas.microsoft.com/office/powerpoint/2010/main" val="1141332742"/>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E3414289-1FE2-4868-86CA-EC74D430D3B6}"/>
              </a:ext>
            </a:extLst>
          </p:cNvPr>
          <p:cNvSpPr>
            <a:spLocks xmlns:a="http://schemas.openxmlformats.org/drawingml/2006/main" noGrp="1"/>
          </p:cNvSpPr>
          <p:nvPr/>
        </p:nvSpPr>
        <p:spPr>
          <a:xfrm xmlns:a="http://schemas.openxmlformats.org/drawingml/2006/main">
            <a:off x="533400" y="342900"/>
            <a:ext cx="111252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150" b="1">
                <a:solidFill>
                  <a:srgbClr val="15243B"/>
                </a:solidFill>
                <a:latin typeface="AppleGothic"/>
                <a:ea typeface="AppleGothic"/>
                <a:cs typeface="AppleGothic"/>
              </a:defRPr>
            </a:defPPr>
            <a:lvl1pPr>
              <a:defRPr sz="3150" b="1">
                <a:solidFill>
                  <a:srgbClr val="15243B"/>
                </a:solidFill>
                <a:latin typeface="AppleGothic"/>
                <a:ea typeface="AppleGothic"/>
                <a:cs typeface="AppleGothic"/>
              </a:defRPr>
            </a:lvl1pPr>
            <a:lvl2pPr>
              <a:defRPr sz="3150" b="1">
                <a:solidFill>
                  <a:srgbClr val="15243B"/>
                </a:solidFill>
                <a:latin typeface="AppleGothic"/>
                <a:ea typeface="AppleGothic"/>
                <a:cs typeface="AppleGothic"/>
              </a:defRPr>
            </a:lvl2pPr>
            <a:lvl3pPr>
              <a:defRPr sz="3150" b="1">
                <a:solidFill>
                  <a:srgbClr val="15243B"/>
                </a:solidFill>
                <a:latin typeface="AppleGothic"/>
                <a:ea typeface="AppleGothic"/>
                <a:cs typeface="AppleGothic"/>
              </a:defRPr>
            </a:lvl3pPr>
            <a:lvl4pPr>
              <a:defRPr sz="3150" b="1">
                <a:solidFill>
                  <a:srgbClr val="15243B"/>
                </a:solidFill>
                <a:latin typeface="AppleGothic"/>
                <a:ea typeface="AppleGothic"/>
                <a:cs typeface="AppleGothic"/>
              </a:defRPr>
            </a:lvl4pPr>
            <a:lvl5pPr>
              <a:defRPr sz="3150" b="1">
                <a:solidFill>
                  <a:srgbClr val="15243B"/>
                </a:solidFill>
                <a:latin typeface="AppleGothic"/>
                <a:ea typeface="AppleGothic"/>
                <a:cs typeface="AppleGothic"/>
              </a:defRPr>
            </a:lvl5pPr>
            <a:lvl6pPr>
              <a:defRPr sz="3150" b="1">
                <a:solidFill>
                  <a:srgbClr val="15243B"/>
                </a:solidFill>
                <a:latin typeface="AppleGothic"/>
                <a:ea typeface="AppleGothic"/>
                <a:cs typeface="AppleGothic"/>
              </a:defRPr>
            </a:lvl6pPr>
            <a:lvl7pPr>
              <a:defRPr sz="3150" b="1">
                <a:solidFill>
                  <a:srgbClr val="15243B"/>
                </a:solidFill>
                <a:latin typeface="AppleGothic"/>
                <a:ea typeface="AppleGothic"/>
                <a:cs typeface="AppleGothic"/>
              </a:defRPr>
            </a:lvl7pPr>
            <a:lvl8pPr>
              <a:defRPr sz="3150" b="1">
                <a:solidFill>
                  <a:srgbClr val="15243B"/>
                </a:solidFill>
                <a:latin typeface="AppleGothic"/>
                <a:ea typeface="AppleGothic"/>
                <a:cs typeface="AppleGothic"/>
              </a:defRPr>
            </a:lvl8pPr>
            <a:lvl9pPr>
              <a:defRPr sz="3150" b="1">
                <a:solidFill>
                  <a:srgbClr val="15243B"/>
                </a:solidFill>
                <a:latin typeface="AppleGothic"/>
                <a:ea typeface="AppleGothic"/>
                <a:cs typeface="AppleGothic"/>
              </a:defRPr>
            </a:lvl9pPr>
          </a:lstStyle>
          <a:p xmlns:a="http://schemas.openxmlformats.org/drawingml/2006/main">
            <a:pPr>
              <a:defRPr sz="3150" b="1">
                <a:solidFill>
                  <a:srgbClr val="15243B"/>
                </a:solidFill>
                <a:latin typeface="AppleGothic"/>
                <a:ea typeface="AppleGothic"/>
                <a:cs typeface="AppleGothic"/>
              </a:defRPr>
            </a:pPr>
            <a:r>
              <a:rPr sz="3150" b="1">
                <a:solidFill>
                  <a:srgbClr val="15243B"/>
                </a:solidFill>
                <a:latin typeface="AppleGothic"/>
                <a:ea typeface="AppleGothic"/>
                <a:cs typeface="AppleGothic"/>
              </a:rPr>
              <a:t>RPN Proposal Filtering</a:t>
            </a:r>
          </a:p>
        </p:txBody>
      </p:sp>
      <p:sp>
        <p:nvSpPr>
          <p:cNvPr id="2" name="">
            <a:extLst xmlns:a="http://schemas.openxmlformats.org/drawingml/2006/main">
              <a:ext uri="{FF2B5EF4-FFF2-40B4-BE49-F238E27FC236}">
                <a16:creationId xmlns:a16="http://schemas.microsoft.com/office/drawing/2014/main" id="{083AB9A9-6556-489A-92C5-9BE40B24153C}"/>
              </a:ext>
            </a:extLst>
          </p:cNvPr>
          <p:cNvSpPr>
            <a:spLocks xmlns:a="http://schemas.openxmlformats.org/drawingml/2006/main" noGrp="1"/>
          </p:cNvSpPr>
          <p:nvPr/>
        </p:nvSpPr>
        <p:spPr>
          <a:xfrm xmlns:a="http://schemas.openxmlformats.org/drawingml/2006/main">
            <a:off x="533400" y="1066800"/>
            <a:ext cx="111252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1">
                <a:solidFill>
                  <a:srgbClr val="2164CB"/>
                </a:solidFill>
                <a:latin typeface="AppleGothic"/>
                <a:ea typeface="AppleGothic"/>
                <a:cs typeface="AppleGothic"/>
              </a:defRPr>
            </a:defPPr>
            <a:lvl1pPr>
              <a:defRPr sz="2175" b="1">
                <a:solidFill>
                  <a:srgbClr val="2164CB"/>
                </a:solidFill>
                <a:latin typeface="AppleGothic"/>
                <a:ea typeface="AppleGothic"/>
                <a:cs typeface="AppleGothic"/>
              </a:defRPr>
            </a:lvl1pPr>
            <a:lvl2pPr>
              <a:defRPr sz="2175" b="1">
                <a:solidFill>
                  <a:srgbClr val="2164CB"/>
                </a:solidFill>
                <a:latin typeface="AppleGothic"/>
                <a:ea typeface="AppleGothic"/>
                <a:cs typeface="AppleGothic"/>
              </a:defRPr>
            </a:lvl2pPr>
            <a:lvl3pPr>
              <a:defRPr sz="2175" b="1">
                <a:solidFill>
                  <a:srgbClr val="2164CB"/>
                </a:solidFill>
                <a:latin typeface="AppleGothic"/>
                <a:ea typeface="AppleGothic"/>
                <a:cs typeface="AppleGothic"/>
              </a:defRPr>
            </a:lvl3pPr>
            <a:lvl4pPr>
              <a:defRPr sz="2175" b="1">
                <a:solidFill>
                  <a:srgbClr val="2164CB"/>
                </a:solidFill>
                <a:latin typeface="AppleGothic"/>
                <a:ea typeface="AppleGothic"/>
                <a:cs typeface="AppleGothic"/>
              </a:defRPr>
            </a:lvl4pPr>
            <a:lvl5pPr>
              <a:defRPr sz="2175" b="1">
                <a:solidFill>
                  <a:srgbClr val="2164CB"/>
                </a:solidFill>
                <a:latin typeface="AppleGothic"/>
                <a:ea typeface="AppleGothic"/>
                <a:cs typeface="AppleGothic"/>
              </a:defRPr>
            </a:lvl5pPr>
            <a:lvl6pPr>
              <a:defRPr sz="2175" b="1">
                <a:solidFill>
                  <a:srgbClr val="2164CB"/>
                </a:solidFill>
                <a:latin typeface="AppleGothic"/>
                <a:ea typeface="AppleGothic"/>
                <a:cs typeface="AppleGothic"/>
              </a:defRPr>
            </a:lvl6pPr>
            <a:lvl7pPr>
              <a:defRPr sz="2175" b="1">
                <a:solidFill>
                  <a:srgbClr val="2164CB"/>
                </a:solidFill>
                <a:latin typeface="AppleGothic"/>
                <a:ea typeface="AppleGothic"/>
                <a:cs typeface="AppleGothic"/>
              </a:defRPr>
            </a:lvl7pPr>
            <a:lvl8pPr>
              <a:defRPr sz="2175" b="1">
                <a:solidFill>
                  <a:srgbClr val="2164CB"/>
                </a:solidFill>
                <a:latin typeface="AppleGothic"/>
                <a:ea typeface="AppleGothic"/>
                <a:cs typeface="AppleGothic"/>
              </a:defRPr>
            </a:lvl8pPr>
            <a:lvl9pPr>
              <a:defRPr sz="2175" b="1">
                <a:solidFill>
                  <a:srgbClr val="2164CB"/>
                </a:solidFill>
                <a:latin typeface="AppleGothic"/>
                <a:ea typeface="AppleGothic"/>
                <a:cs typeface="AppleGothic"/>
              </a:defRPr>
            </a:lvl9pPr>
          </a:lstStyle>
          <a:p xmlns:a="http://schemas.openxmlformats.org/drawingml/2006/main">
            <a:pPr>
              <a:defRPr sz="2175" b="1">
                <a:solidFill>
                  <a:srgbClr val="2164CB"/>
                </a:solidFill>
                <a:latin typeface="AppleGothic"/>
                <a:ea typeface="AppleGothic"/>
                <a:cs typeface="AppleGothic"/>
              </a:defRPr>
            </a:pPr>
            <a:r>
              <a:rPr sz="2175" b="1">
                <a:solidFill>
                  <a:srgbClr val="2164CB"/>
                </a:solidFill>
                <a:latin typeface="AppleGothic"/>
                <a:ea typeface="AppleGothic"/>
                <a:cs typeface="AppleGothic"/>
              </a:rPr>
              <a:t>NMS는 겹치는 후보를 줄인다. 후보 수 감소와 최종 검출 성공은 같은 지표가 아니다</a:t>
            </a:r>
          </a:p>
        </p:txBody>
      </p:sp>
      <p:pic>
        <p:nvPicPr>
          <p:cNvPr id="3" name="">
            <a:extLst xmlns:a="http://schemas.openxmlformats.org/drawingml/2006/main">
              <a:ext uri="{FF2B5EF4-FFF2-40B4-BE49-F238E27FC236}">
                <a16:creationId xmlns:a16="http://schemas.microsoft.com/office/drawing/2014/main" id="{32E9BBBA-3DE3-441E-8CB4-0829656B254D}"/>
              </a:ext>
            </a:extLst>
          </p:cNvPr>
          <p:cNvPicPr>
            <a:picLocks xmlns:a="http://schemas.openxmlformats.org/drawingml/2006/main" noChangeAspect="1"/>
          </p:cNvPicPr>
          <p:nvPr/>
        </p:nvPicPr>
        <p:blipFill>
          <a:blip xmlns:r="http://schemas.openxmlformats.org/officeDocument/2006/relationships" xmlns:a="http://schemas.openxmlformats.org/drawingml/2006/main" r:embed="Rf89cde04dd814b9c"/>
          <a:stretch xmlns:a="http://schemas.openxmlformats.org/drawingml/2006/main"/>
        </p:blipFill>
        <p:spPr>
          <a:xfrm xmlns:a="http://schemas.openxmlformats.org/drawingml/2006/main">
            <a:off x="533400" y="2629178"/>
            <a:ext cx="7143750" cy="2571194"/>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39C94A21-8080-42FE-BAE5-D7D6397D87C4}"/>
              </a:ext>
            </a:extLst>
          </p:cNvPr>
          <p:cNvSpPr>
            <a:spLocks xmlns:a="http://schemas.openxmlformats.org/drawingml/2006/main" noGrp="1"/>
          </p:cNvSpPr>
          <p:nvPr/>
        </p:nvSpPr>
        <p:spPr>
          <a:xfrm xmlns:a="http://schemas.openxmlformats.org/drawingml/2006/main">
            <a:off x="7981950" y="2114550"/>
            <a:ext cx="3676650" cy="3667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75" b="0">
                <a:solidFill>
                  <a:srgbClr val="15243B"/>
                </a:solidFill>
                <a:latin typeface="AppleGothic"/>
                <a:ea typeface="AppleGothic"/>
                <a:cs typeface="AppleGothic"/>
              </a:defRPr>
            </a:defPPr>
            <a:lvl1pPr>
              <a:defRPr sz="1875" b="0">
                <a:solidFill>
                  <a:srgbClr val="15243B"/>
                </a:solidFill>
                <a:latin typeface="AppleGothic"/>
                <a:ea typeface="AppleGothic"/>
                <a:cs typeface="AppleGothic"/>
              </a:defRPr>
            </a:lvl1pPr>
            <a:lvl2pPr>
              <a:defRPr sz="1875" b="0">
                <a:solidFill>
                  <a:srgbClr val="15243B"/>
                </a:solidFill>
                <a:latin typeface="AppleGothic"/>
                <a:ea typeface="AppleGothic"/>
                <a:cs typeface="AppleGothic"/>
              </a:defRPr>
            </a:lvl2pPr>
            <a:lvl3pPr>
              <a:defRPr sz="1875" b="0">
                <a:solidFill>
                  <a:srgbClr val="15243B"/>
                </a:solidFill>
                <a:latin typeface="AppleGothic"/>
                <a:ea typeface="AppleGothic"/>
                <a:cs typeface="AppleGothic"/>
              </a:defRPr>
            </a:lvl3pPr>
            <a:lvl4pPr>
              <a:defRPr sz="1875" b="0">
                <a:solidFill>
                  <a:srgbClr val="15243B"/>
                </a:solidFill>
                <a:latin typeface="AppleGothic"/>
                <a:ea typeface="AppleGothic"/>
                <a:cs typeface="AppleGothic"/>
              </a:defRPr>
            </a:lvl4pPr>
            <a:lvl5pPr>
              <a:defRPr sz="1875" b="0">
                <a:solidFill>
                  <a:srgbClr val="15243B"/>
                </a:solidFill>
                <a:latin typeface="AppleGothic"/>
                <a:ea typeface="AppleGothic"/>
                <a:cs typeface="AppleGothic"/>
              </a:defRPr>
            </a:lvl5pPr>
            <a:lvl6pPr>
              <a:defRPr sz="1875" b="0">
                <a:solidFill>
                  <a:srgbClr val="15243B"/>
                </a:solidFill>
                <a:latin typeface="AppleGothic"/>
                <a:ea typeface="AppleGothic"/>
                <a:cs typeface="AppleGothic"/>
              </a:defRPr>
            </a:lvl6pPr>
            <a:lvl7pPr>
              <a:defRPr sz="1875" b="0">
                <a:solidFill>
                  <a:srgbClr val="15243B"/>
                </a:solidFill>
                <a:latin typeface="AppleGothic"/>
                <a:ea typeface="AppleGothic"/>
                <a:cs typeface="AppleGothic"/>
              </a:defRPr>
            </a:lvl7pPr>
            <a:lvl8pPr>
              <a:defRPr sz="1875" b="0">
                <a:solidFill>
                  <a:srgbClr val="15243B"/>
                </a:solidFill>
                <a:latin typeface="AppleGothic"/>
                <a:ea typeface="AppleGothic"/>
                <a:cs typeface="AppleGothic"/>
              </a:defRPr>
            </a:lvl8pPr>
            <a:lvl9pPr>
              <a:defRPr sz="1875" b="0">
                <a:solidFill>
                  <a:srgbClr val="15243B"/>
                </a:solidFill>
                <a:latin typeface="AppleGothic"/>
                <a:ea typeface="AppleGothic"/>
                <a:cs typeface="AppleGothic"/>
              </a:defRPr>
            </a:lvl9pPr>
          </a:lstStyle>
          <a:p xmlns:a="http://schemas.openxmlformats.org/drawingml/2006/main">
            <a:pPr>
              <a:defRPr sz="1875" b="0">
                <a:solidFill>
                  <a:srgbClr val="15243B"/>
                </a:solidFill>
                <a:latin typeface="AppleGothic"/>
                <a:ea typeface="AppleGothic"/>
                <a:cs typeface="AppleGothic"/>
              </a:defRPr>
            </a:pPr>
            <a:r>
              <a:rPr sz="1875" b="0">
                <a:solidFill>
                  <a:srgbClr val="15243B"/>
                </a:solidFill>
                <a:latin typeface="AppleGothic"/>
                <a:ea typeface="AppleGothic"/>
                <a:cs typeface="AppleGothic"/>
              </a:rPr>
              <a:t>GT 3 주변 후보는 91→13개다. 흰 점선은 GT, 노랑은 후처리 전, 청록은 후처리 뒤다.</a:t>
            </a:r>
          </a:p>
          <a:p xmlns:a="http://schemas.openxmlformats.org/drawingml/2006/main">
            <a:r>
              <a:t/>
            </a:r>
          </a:p>
          <a:p xmlns:a="http://schemas.openxmlformats.org/drawingml/2006/main">
            <a:pPr>
              <a:defRPr sz="1875" b="0">
                <a:solidFill>
                  <a:srgbClr val="15243B"/>
                </a:solidFill>
                <a:latin typeface="AppleGothic"/>
                <a:ea typeface="AppleGothic"/>
                <a:cs typeface="AppleGothic"/>
              </a:defRPr>
            </a:pPr>
            <a:r>
              <a:rPr sz="1875" b="0">
                <a:solidFill>
                  <a:srgbClr val="15243B"/>
                </a:solidFill>
                <a:latin typeface="AppleGothic"/>
                <a:ea typeface="AppleGothic"/>
                <a:cs typeface="AppleGothic"/>
              </a:rPr>
              <a:t>RPN NMS는 0.7, 최종 box NMS는 0.5다. NMS가 객체당 box 하나를 보장하지는 않는다.</a:t>
            </a:r>
          </a:p>
        </p:txBody>
      </p:sp>
      <p:sp>
        <p:nvSpPr>
          <p:cNvPr id="5" name="">
            <a:extLst xmlns:a="http://schemas.openxmlformats.org/drawingml/2006/main">
              <a:ext uri="{FF2B5EF4-FFF2-40B4-BE49-F238E27FC236}">
                <a16:creationId xmlns:a16="http://schemas.microsoft.com/office/drawing/2014/main" id="{9D0B34E5-2875-4FF5-B997-389F2E05AD61}"/>
              </a:ext>
            </a:extLst>
          </p:cNvPr>
          <p:cNvSpPr>
            <a:spLocks xmlns:a="http://schemas.openxmlformats.org/drawingml/2006/main" noGrp="1"/>
          </p:cNvSpPr>
          <p:nvPr/>
        </p:nvSpPr>
        <p:spPr>
          <a:xfrm xmlns:a="http://schemas.openxmlformats.org/drawingml/2006/main">
            <a:off x="533400" y="5895975"/>
            <a:ext cx="1112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526378"/>
                </a:solidFill>
                <a:latin typeface="AppleGothic"/>
                <a:ea typeface="AppleGothic"/>
                <a:cs typeface="AppleGothic"/>
              </a:defRPr>
            </a:defPPr>
            <a:lvl1pPr>
              <a:defRPr sz="1350" b="0">
                <a:solidFill>
                  <a:srgbClr val="526378"/>
                </a:solidFill>
                <a:latin typeface="AppleGothic"/>
                <a:ea typeface="AppleGothic"/>
                <a:cs typeface="AppleGothic"/>
              </a:defRPr>
            </a:lvl1pPr>
            <a:lvl2pPr>
              <a:defRPr sz="1350" b="0">
                <a:solidFill>
                  <a:srgbClr val="526378"/>
                </a:solidFill>
                <a:latin typeface="AppleGothic"/>
                <a:ea typeface="AppleGothic"/>
                <a:cs typeface="AppleGothic"/>
              </a:defRPr>
            </a:lvl2pPr>
            <a:lvl3pPr>
              <a:defRPr sz="1350" b="0">
                <a:solidFill>
                  <a:srgbClr val="526378"/>
                </a:solidFill>
                <a:latin typeface="AppleGothic"/>
                <a:ea typeface="AppleGothic"/>
                <a:cs typeface="AppleGothic"/>
              </a:defRPr>
            </a:lvl3pPr>
            <a:lvl4pPr>
              <a:defRPr sz="1350" b="0">
                <a:solidFill>
                  <a:srgbClr val="526378"/>
                </a:solidFill>
                <a:latin typeface="AppleGothic"/>
                <a:ea typeface="AppleGothic"/>
                <a:cs typeface="AppleGothic"/>
              </a:defRPr>
            </a:lvl4pPr>
            <a:lvl5pPr>
              <a:defRPr sz="1350" b="0">
                <a:solidFill>
                  <a:srgbClr val="526378"/>
                </a:solidFill>
                <a:latin typeface="AppleGothic"/>
                <a:ea typeface="AppleGothic"/>
                <a:cs typeface="AppleGothic"/>
              </a:defRPr>
            </a:lvl5pPr>
            <a:lvl6pPr>
              <a:defRPr sz="1350" b="0">
                <a:solidFill>
                  <a:srgbClr val="526378"/>
                </a:solidFill>
                <a:latin typeface="AppleGothic"/>
                <a:ea typeface="AppleGothic"/>
                <a:cs typeface="AppleGothic"/>
              </a:defRPr>
            </a:lvl6pPr>
            <a:lvl7pPr>
              <a:defRPr sz="1350" b="0">
                <a:solidFill>
                  <a:srgbClr val="526378"/>
                </a:solidFill>
                <a:latin typeface="AppleGothic"/>
                <a:ea typeface="AppleGothic"/>
                <a:cs typeface="AppleGothic"/>
              </a:defRPr>
            </a:lvl7pPr>
            <a:lvl8pPr>
              <a:defRPr sz="1350" b="0">
                <a:solidFill>
                  <a:srgbClr val="526378"/>
                </a:solidFill>
                <a:latin typeface="AppleGothic"/>
                <a:ea typeface="AppleGothic"/>
                <a:cs typeface="AppleGothic"/>
              </a:defRPr>
            </a:lvl8pPr>
            <a:lvl9pPr>
              <a:defRPr sz="1350" b="0">
                <a:solidFill>
                  <a:srgbClr val="526378"/>
                </a:solidFill>
                <a:latin typeface="AppleGothic"/>
                <a:ea typeface="AppleGothic"/>
                <a:cs typeface="AppleGothic"/>
              </a:defRPr>
            </a:lvl9pPr>
          </a:lstStyle>
          <a:p xmlns:a="http://schemas.openxmlformats.org/drawingml/2006/main">
            <a:pPr>
              <a:defRPr sz="1350" b="0">
                <a:solidFill>
                  <a:srgbClr val="526378"/>
                </a:solidFill>
                <a:latin typeface="AppleGothic"/>
                <a:ea typeface="AppleGothic"/>
                <a:cs typeface="AppleGothic"/>
              </a:defRPr>
            </a:pPr>
            <a:r>
              <a:rPr sz="1350" b="0">
                <a:solidFill>
                  <a:srgbClr val="526378"/>
                </a:solidFill>
                <a:latin typeface="AppleGothic"/>
                <a:ea typeface="AppleGothic"/>
                <a:cs typeface="AppleGothic"/>
              </a:rPr>
              <a:t>Lab 1, cell 27. Saved proposals around GT 3 before and after filtering</a:t>
            </a:r>
          </a:p>
        </p:txBody>
      </p:sp>
      <p:sp>
        <p:nvSpPr>
          <p:cNvPr id="6" name="">
            <a:extLst xmlns:a="http://schemas.openxmlformats.org/drawingml/2006/main">
              <a:ext uri="{FF2B5EF4-FFF2-40B4-BE49-F238E27FC236}">
                <a16:creationId xmlns:a16="http://schemas.microsoft.com/office/drawing/2014/main" id="{F96BD658-71B3-4A65-A448-65B2ED365058}"/>
              </a:ext>
            </a:extLst>
          </p:cNvPr>
          <p:cNvSpPr>
            <a:spLocks xmlns:a="http://schemas.openxmlformats.org/drawingml/2006/main" noGrp="1"/>
          </p:cNvSpPr>
          <p:nvPr/>
        </p:nvSpPr>
        <p:spPr>
          <a:xfrm xmlns:a="http://schemas.openxmlformats.org/drawingml/2006/main">
            <a:off x="11144250" y="6400800"/>
            <a:ext cx="5143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62748C"/>
                </a:solidFill>
                <a:latin typeface="AppleGothic"/>
                <a:ea typeface="AppleGothic"/>
                <a:cs typeface="AppleGothic"/>
              </a:defRPr>
            </a:defPPr>
            <a:lvl1pPr>
              <a:defRPr sz="1350" b="0">
                <a:solidFill>
                  <a:srgbClr val="62748C"/>
                </a:solidFill>
                <a:latin typeface="AppleGothic"/>
                <a:ea typeface="AppleGothic"/>
                <a:cs typeface="AppleGothic"/>
              </a:defRPr>
            </a:lvl1pPr>
            <a:lvl2pPr>
              <a:defRPr sz="1350" b="0">
                <a:solidFill>
                  <a:srgbClr val="62748C"/>
                </a:solidFill>
                <a:latin typeface="AppleGothic"/>
                <a:ea typeface="AppleGothic"/>
                <a:cs typeface="AppleGothic"/>
              </a:defRPr>
            </a:lvl2pPr>
            <a:lvl3pPr>
              <a:defRPr sz="1350" b="0">
                <a:solidFill>
                  <a:srgbClr val="62748C"/>
                </a:solidFill>
                <a:latin typeface="AppleGothic"/>
                <a:ea typeface="AppleGothic"/>
                <a:cs typeface="AppleGothic"/>
              </a:defRPr>
            </a:lvl3pPr>
            <a:lvl4pPr>
              <a:defRPr sz="1350" b="0">
                <a:solidFill>
                  <a:srgbClr val="62748C"/>
                </a:solidFill>
                <a:latin typeface="AppleGothic"/>
                <a:ea typeface="AppleGothic"/>
                <a:cs typeface="AppleGothic"/>
              </a:defRPr>
            </a:lvl4pPr>
            <a:lvl5pPr>
              <a:defRPr sz="1350" b="0">
                <a:solidFill>
                  <a:srgbClr val="62748C"/>
                </a:solidFill>
                <a:latin typeface="AppleGothic"/>
                <a:ea typeface="AppleGothic"/>
                <a:cs typeface="AppleGothic"/>
              </a:defRPr>
            </a:lvl5pPr>
            <a:lvl6pPr>
              <a:defRPr sz="1350" b="0">
                <a:solidFill>
                  <a:srgbClr val="62748C"/>
                </a:solidFill>
                <a:latin typeface="AppleGothic"/>
                <a:ea typeface="AppleGothic"/>
                <a:cs typeface="AppleGothic"/>
              </a:defRPr>
            </a:lvl6pPr>
            <a:lvl7pPr>
              <a:defRPr sz="1350" b="0">
                <a:solidFill>
                  <a:srgbClr val="62748C"/>
                </a:solidFill>
                <a:latin typeface="AppleGothic"/>
                <a:ea typeface="AppleGothic"/>
                <a:cs typeface="AppleGothic"/>
              </a:defRPr>
            </a:lvl7pPr>
            <a:lvl8pPr>
              <a:defRPr sz="1350" b="0">
                <a:solidFill>
                  <a:srgbClr val="62748C"/>
                </a:solidFill>
                <a:latin typeface="AppleGothic"/>
                <a:ea typeface="AppleGothic"/>
                <a:cs typeface="AppleGothic"/>
              </a:defRPr>
            </a:lvl8pPr>
            <a:lvl9pPr>
              <a:defRPr sz="1350" b="0">
                <a:solidFill>
                  <a:srgbClr val="62748C"/>
                </a:solidFill>
                <a:latin typeface="AppleGothic"/>
                <a:ea typeface="AppleGothic"/>
                <a:cs typeface="AppleGothic"/>
              </a:defRPr>
            </a:lvl9pPr>
          </a:lstStyle>
          <a:p xmlns:a="http://schemas.openxmlformats.org/drawingml/2006/main">
            <a:pPr>
              <a:defRPr sz="1350" b="0">
                <a:solidFill>
                  <a:srgbClr val="62748C"/>
                </a:solidFill>
                <a:latin typeface="AppleGothic"/>
                <a:ea typeface="AppleGothic"/>
                <a:cs typeface="AppleGothic"/>
              </a:defRPr>
            </a:pPr>
            <a:r>
              <a:rPr sz="1350" b="0">
                <a:solidFill>
                  <a:srgbClr val="62748C"/>
                </a:solidFill>
                <a:latin typeface="AppleGothic"/>
                <a:ea typeface="AppleGothic"/>
                <a:cs typeface="AppleGothic"/>
              </a:rPr>
              <a:t>27</a:t>
            </a:r>
          </a:p>
        </p:txBody>
      </p:sp>
    </p:spTree>
    <p:extLst>
      <p:ext uri="{BB962C8B-B14F-4D97-AF65-F5344CB8AC3E}">
        <p14:creationId xmlns:p14="http://schemas.microsoft.com/office/powerpoint/2010/main" val="1294754706"/>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EBB381F1-1DE7-46CD-8AA9-8820A234B74A}"/>
              </a:ext>
            </a:extLst>
          </p:cNvPr>
          <p:cNvSpPr>
            <a:spLocks xmlns:a="http://schemas.openxmlformats.org/drawingml/2006/main" noGrp="1"/>
          </p:cNvSpPr>
          <p:nvPr/>
        </p:nvSpPr>
        <p:spPr>
          <a:xfrm xmlns:a="http://schemas.openxmlformats.org/drawingml/2006/main">
            <a:off x="533400" y="342900"/>
            <a:ext cx="111252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150" b="1">
                <a:solidFill>
                  <a:srgbClr val="15243B"/>
                </a:solidFill>
                <a:latin typeface="AppleGothic"/>
                <a:ea typeface="AppleGothic"/>
                <a:cs typeface="AppleGothic"/>
              </a:defRPr>
            </a:defPPr>
            <a:lvl1pPr>
              <a:defRPr sz="3150" b="1">
                <a:solidFill>
                  <a:srgbClr val="15243B"/>
                </a:solidFill>
                <a:latin typeface="AppleGothic"/>
                <a:ea typeface="AppleGothic"/>
                <a:cs typeface="AppleGothic"/>
              </a:defRPr>
            </a:lvl1pPr>
            <a:lvl2pPr>
              <a:defRPr sz="3150" b="1">
                <a:solidFill>
                  <a:srgbClr val="15243B"/>
                </a:solidFill>
                <a:latin typeface="AppleGothic"/>
                <a:ea typeface="AppleGothic"/>
                <a:cs typeface="AppleGothic"/>
              </a:defRPr>
            </a:lvl2pPr>
            <a:lvl3pPr>
              <a:defRPr sz="3150" b="1">
                <a:solidFill>
                  <a:srgbClr val="15243B"/>
                </a:solidFill>
                <a:latin typeface="AppleGothic"/>
                <a:ea typeface="AppleGothic"/>
                <a:cs typeface="AppleGothic"/>
              </a:defRPr>
            </a:lvl3pPr>
            <a:lvl4pPr>
              <a:defRPr sz="3150" b="1">
                <a:solidFill>
                  <a:srgbClr val="15243B"/>
                </a:solidFill>
                <a:latin typeface="AppleGothic"/>
                <a:ea typeface="AppleGothic"/>
                <a:cs typeface="AppleGothic"/>
              </a:defRPr>
            </a:lvl4pPr>
            <a:lvl5pPr>
              <a:defRPr sz="3150" b="1">
                <a:solidFill>
                  <a:srgbClr val="15243B"/>
                </a:solidFill>
                <a:latin typeface="AppleGothic"/>
                <a:ea typeface="AppleGothic"/>
                <a:cs typeface="AppleGothic"/>
              </a:defRPr>
            </a:lvl5pPr>
            <a:lvl6pPr>
              <a:defRPr sz="3150" b="1">
                <a:solidFill>
                  <a:srgbClr val="15243B"/>
                </a:solidFill>
                <a:latin typeface="AppleGothic"/>
                <a:ea typeface="AppleGothic"/>
                <a:cs typeface="AppleGothic"/>
              </a:defRPr>
            </a:lvl6pPr>
            <a:lvl7pPr>
              <a:defRPr sz="3150" b="1">
                <a:solidFill>
                  <a:srgbClr val="15243B"/>
                </a:solidFill>
                <a:latin typeface="AppleGothic"/>
                <a:ea typeface="AppleGothic"/>
                <a:cs typeface="AppleGothic"/>
              </a:defRPr>
            </a:lvl7pPr>
            <a:lvl8pPr>
              <a:defRPr sz="3150" b="1">
                <a:solidFill>
                  <a:srgbClr val="15243B"/>
                </a:solidFill>
                <a:latin typeface="AppleGothic"/>
                <a:ea typeface="AppleGothic"/>
                <a:cs typeface="AppleGothic"/>
              </a:defRPr>
            </a:lvl8pPr>
            <a:lvl9pPr>
              <a:defRPr sz="3150" b="1">
                <a:solidFill>
                  <a:srgbClr val="15243B"/>
                </a:solidFill>
                <a:latin typeface="AppleGothic"/>
                <a:ea typeface="AppleGothic"/>
                <a:cs typeface="AppleGothic"/>
              </a:defRPr>
            </a:lvl9pPr>
          </a:lstStyle>
          <a:p xmlns:a="http://schemas.openxmlformats.org/drawingml/2006/main">
            <a:pPr>
              <a:defRPr sz="3150" b="1">
                <a:solidFill>
                  <a:srgbClr val="15243B"/>
                </a:solidFill>
                <a:latin typeface="AppleGothic"/>
                <a:ea typeface="AppleGothic"/>
                <a:cs typeface="AppleGothic"/>
              </a:defRPr>
            </a:pPr>
            <a:r>
              <a:rPr sz="3150" b="1">
                <a:solidFill>
                  <a:srgbClr val="15243B"/>
                </a:solidFill>
                <a:latin typeface="AppleGothic"/>
                <a:ea typeface="AppleGothic"/>
                <a:cs typeface="AppleGothic"/>
              </a:rPr>
              <a:t>Dense Anchors and Focal Loss</a:t>
            </a:r>
          </a:p>
        </p:txBody>
      </p:sp>
      <p:sp>
        <p:nvSpPr>
          <p:cNvPr id="2" name="">
            <a:extLst xmlns:a="http://schemas.openxmlformats.org/drawingml/2006/main">
              <a:ext uri="{FF2B5EF4-FFF2-40B4-BE49-F238E27FC236}">
                <a16:creationId xmlns:a16="http://schemas.microsoft.com/office/drawing/2014/main" id="{178B8046-4601-428D-9308-73DAA68E617B}"/>
              </a:ext>
            </a:extLst>
          </p:cNvPr>
          <p:cNvSpPr>
            <a:spLocks xmlns:a="http://schemas.openxmlformats.org/drawingml/2006/main" noGrp="1"/>
          </p:cNvSpPr>
          <p:nvPr/>
        </p:nvSpPr>
        <p:spPr>
          <a:xfrm xmlns:a="http://schemas.openxmlformats.org/drawingml/2006/main">
            <a:off x="533400" y="1066800"/>
            <a:ext cx="111252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1">
                <a:solidFill>
                  <a:srgbClr val="2164CB"/>
                </a:solidFill>
                <a:latin typeface="AppleGothic"/>
                <a:ea typeface="AppleGothic"/>
                <a:cs typeface="AppleGothic"/>
              </a:defRPr>
            </a:defPPr>
            <a:lvl1pPr>
              <a:defRPr sz="2175" b="1">
                <a:solidFill>
                  <a:srgbClr val="2164CB"/>
                </a:solidFill>
                <a:latin typeface="AppleGothic"/>
                <a:ea typeface="AppleGothic"/>
                <a:cs typeface="AppleGothic"/>
              </a:defRPr>
            </a:lvl1pPr>
            <a:lvl2pPr>
              <a:defRPr sz="2175" b="1">
                <a:solidFill>
                  <a:srgbClr val="2164CB"/>
                </a:solidFill>
                <a:latin typeface="AppleGothic"/>
                <a:ea typeface="AppleGothic"/>
                <a:cs typeface="AppleGothic"/>
              </a:defRPr>
            </a:lvl2pPr>
            <a:lvl3pPr>
              <a:defRPr sz="2175" b="1">
                <a:solidFill>
                  <a:srgbClr val="2164CB"/>
                </a:solidFill>
                <a:latin typeface="AppleGothic"/>
                <a:ea typeface="AppleGothic"/>
                <a:cs typeface="AppleGothic"/>
              </a:defRPr>
            </a:lvl3pPr>
            <a:lvl4pPr>
              <a:defRPr sz="2175" b="1">
                <a:solidFill>
                  <a:srgbClr val="2164CB"/>
                </a:solidFill>
                <a:latin typeface="AppleGothic"/>
                <a:ea typeface="AppleGothic"/>
                <a:cs typeface="AppleGothic"/>
              </a:defRPr>
            </a:lvl4pPr>
            <a:lvl5pPr>
              <a:defRPr sz="2175" b="1">
                <a:solidFill>
                  <a:srgbClr val="2164CB"/>
                </a:solidFill>
                <a:latin typeface="AppleGothic"/>
                <a:ea typeface="AppleGothic"/>
                <a:cs typeface="AppleGothic"/>
              </a:defRPr>
            </a:lvl5pPr>
            <a:lvl6pPr>
              <a:defRPr sz="2175" b="1">
                <a:solidFill>
                  <a:srgbClr val="2164CB"/>
                </a:solidFill>
                <a:latin typeface="AppleGothic"/>
                <a:ea typeface="AppleGothic"/>
                <a:cs typeface="AppleGothic"/>
              </a:defRPr>
            </a:lvl6pPr>
            <a:lvl7pPr>
              <a:defRPr sz="2175" b="1">
                <a:solidFill>
                  <a:srgbClr val="2164CB"/>
                </a:solidFill>
                <a:latin typeface="AppleGothic"/>
                <a:ea typeface="AppleGothic"/>
                <a:cs typeface="AppleGothic"/>
              </a:defRPr>
            </a:lvl7pPr>
            <a:lvl8pPr>
              <a:defRPr sz="2175" b="1">
                <a:solidFill>
                  <a:srgbClr val="2164CB"/>
                </a:solidFill>
                <a:latin typeface="AppleGothic"/>
                <a:ea typeface="AppleGothic"/>
                <a:cs typeface="AppleGothic"/>
              </a:defRPr>
            </a:lvl8pPr>
            <a:lvl9pPr>
              <a:defRPr sz="2175" b="1">
                <a:solidFill>
                  <a:srgbClr val="2164CB"/>
                </a:solidFill>
                <a:latin typeface="AppleGothic"/>
                <a:ea typeface="AppleGothic"/>
                <a:cs typeface="AppleGothic"/>
              </a:defRPr>
            </a:lvl9pPr>
          </a:lstStyle>
          <a:p xmlns:a="http://schemas.openxmlformats.org/drawingml/2006/main">
            <a:pPr>
              <a:defRPr sz="2175" b="1">
                <a:solidFill>
                  <a:srgbClr val="2164CB"/>
                </a:solidFill>
                <a:latin typeface="AppleGothic"/>
                <a:ea typeface="AppleGothic"/>
                <a:cs typeface="AppleGothic"/>
              </a:defRPr>
            </a:pPr>
            <a:r>
              <a:rPr sz="2175" b="1">
                <a:solidFill>
                  <a:srgbClr val="2164CB"/>
                </a:solidFill>
                <a:latin typeface="AppleGothic"/>
                <a:ea typeface="AppleGothic"/>
                <a:cs typeface="AppleGothic"/>
              </a:rPr>
              <a:t>Focal loss는 맞히기 쉬운 negative의 기여를 줄인다. Anchor 자체를 없애는 방식은 아니다</a:t>
            </a:r>
          </a:p>
        </p:txBody>
      </p:sp>
      <p:pic>
        <p:nvPicPr>
          <p:cNvPr id="3" name="">
            <a:extLst xmlns:a="http://schemas.openxmlformats.org/drawingml/2006/main">
              <a:ext uri="{FF2B5EF4-FFF2-40B4-BE49-F238E27FC236}">
                <a16:creationId xmlns:a16="http://schemas.microsoft.com/office/drawing/2014/main" id="{CD70C0BE-EABB-4750-B8EE-FD29AE896777}"/>
              </a:ext>
            </a:extLst>
          </p:cNvPr>
          <p:cNvPicPr>
            <a:picLocks xmlns:a="http://schemas.openxmlformats.org/drawingml/2006/main" noChangeAspect="1"/>
          </p:cNvPicPr>
          <p:nvPr/>
        </p:nvPicPr>
        <p:blipFill>
          <a:blip xmlns:r="http://schemas.openxmlformats.org/officeDocument/2006/relationships" xmlns:a="http://schemas.openxmlformats.org/drawingml/2006/main" r:embed="R7d93165cbbb9471d"/>
          <a:stretch xmlns:a="http://schemas.openxmlformats.org/drawingml/2006/main"/>
        </p:blipFill>
        <p:spPr>
          <a:xfrm xmlns:a="http://schemas.openxmlformats.org/drawingml/2006/main">
            <a:off x="533400" y="2784110"/>
            <a:ext cx="7143750" cy="2261331"/>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787059B2-AF9B-4ABF-8DD9-AFA85F71E3B0}"/>
              </a:ext>
            </a:extLst>
          </p:cNvPr>
          <p:cNvSpPr>
            <a:spLocks xmlns:a="http://schemas.openxmlformats.org/drawingml/2006/main" noGrp="1"/>
          </p:cNvSpPr>
          <p:nvPr/>
        </p:nvSpPr>
        <p:spPr>
          <a:xfrm xmlns:a="http://schemas.openxmlformats.org/drawingml/2006/main">
            <a:off x="7981950" y="2114550"/>
            <a:ext cx="3676650" cy="3667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75" b="0">
                <a:solidFill>
                  <a:srgbClr val="15243B"/>
                </a:solidFill>
                <a:latin typeface="AppleGothic"/>
                <a:ea typeface="AppleGothic"/>
                <a:cs typeface="AppleGothic"/>
              </a:defRPr>
            </a:defPPr>
            <a:lvl1pPr>
              <a:defRPr sz="1875" b="0">
                <a:solidFill>
                  <a:srgbClr val="15243B"/>
                </a:solidFill>
                <a:latin typeface="AppleGothic"/>
                <a:ea typeface="AppleGothic"/>
                <a:cs typeface="AppleGothic"/>
              </a:defRPr>
            </a:lvl1pPr>
            <a:lvl2pPr>
              <a:defRPr sz="1875" b="0">
                <a:solidFill>
                  <a:srgbClr val="15243B"/>
                </a:solidFill>
                <a:latin typeface="AppleGothic"/>
                <a:ea typeface="AppleGothic"/>
                <a:cs typeface="AppleGothic"/>
              </a:defRPr>
            </a:lvl2pPr>
            <a:lvl3pPr>
              <a:defRPr sz="1875" b="0">
                <a:solidFill>
                  <a:srgbClr val="15243B"/>
                </a:solidFill>
                <a:latin typeface="AppleGothic"/>
                <a:ea typeface="AppleGothic"/>
                <a:cs typeface="AppleGothic"/>
              </a:defRPr>
            </a:lvl3pPr>
            <a:lvl4pPr>
              <a:defRPr sz="1875" b="0">
                <a:solidFill>
                  <a:srgbClr val="15243B"/>
                </a:solidFill>
                <a:latin typeface="AppleGothic"/>
                <a:ea typeface="AppleGothic"/>
                <a:cs typeface="AppleGothic"/>
              </a:defRPr>
            </a:lvl4pPr>
            <a:lvl5pPr>
              <a:defRPr sz="1875" b="0">
                <a:solidFill>
                  <a:srgbClr val="15243B"/>
                </a:solidFill>
                <a:latin typeface="AppleGothic"/>
                <a:ea typeface="AppleGothic"/>
                <a:cs typeface="AppleGothic"/>
              </a:defRPr>
            </a:lvl5pPr>
            <a:lvl6pPr>
              <a:defRPr sz="1875" b="0">
                <a:solidFill>
                  <a:srgbClr val="15243B"/>
                </a:solidFill>
                <a:latin typeface="AppleGothic"/>
                <a:ea typeface="AppleGothic"/>
                <a:cs typeface="AppleGothic"/>
              </a:defRPr>
            </a:lvl6pPr>
            <a:lvl7pPr>
              <a:defRPr sz="1875" b="0">
                <a:solidFill>
                  <a:srgbClr val="15243B"/>
                </a:solidFill>
                <a:latin typeface="AppleGothic"/>
                <a:ea typeface="AppleGothic"/>
                <a:cs typeface="AppleGothic"/>
              </a:defRPr>
            </a:lvl7pPr>
            <a:lvl8pPr>
              <a:defRPr sz="1875" b="0">
                <a:solidFill>
                  <a:srgbClr val="15243B"/>
                </a:solidFill>
                <a:latin typeface="AppleGothic"/>
                <a:ea typeface="AppleGothic"/>
                <a:cs typeface="AppleGothic"/>
              </a:defRPr>
            </a:lvl8pPr>
            <a:lvl9pPr>
              <a:defRPr sz="1875" b="0">
                <a:solidFill>
                  <a:srgbClr val="15243B"/>
                </a:solidFill>
                <a:latin typeface="AppleGothic"/>
                <a:ea typeface="AppleGothic"/>
                <a:cs typeface="AppleGothic"/>
              </a:defRPr>
            </a:lvl9pPr>
          </a:lstStyle>
          <a:p xmlns:a="http://schemas.openxmlformats.org/drawingml/2006/main">
            <a:pPr>
              <a:defRPr sz="1875" b="0">
                <a:solidFill>
                  <a:srgbClr val="15243B"/>
                </a:solidFill>
                <a:latin typeface="AppleGothic"/>
                <a:ea typeface="AppleGothic"/>
                <a:cs typeface="AppleGothic"/>
              </a:defRPr>
            </a:pPr>
            <a:r>
              <a:rPr sz="1875" b="0">
                <a:solidFill>
                  <a:srgbClr val="15243B"/>
                </a:solidFill>
                <a:latin typeface="AppleGothic"/>
                <a:ea typeface="AppleGothic"/>
                <a:cs typeface="AppleGothic"/>
              </a:rPr>
              <a:t>학습 대상 94,683개 중 positive는 77개, negative는 94,606개다. Ignore 168개는 제외한다.</a:t>
            </a:r>
          </a:p>
          <a:p xmlns:a="http://schemas.openxmlformats.org/drawingml/2006/main">
            <a:r>
              <a:t/>
            </a:r>
          </a:p>
          <a:p xmlns:a="http://schemas.openxmlformats.org/drawingml/2006/main">
            <a:pPr>
              <a:defRPr sz="1875" b="0">
                <a:solidFill>
                  <a:srgbClr val="15243B"/>
                </a:solidFill>
                <a:latin typeface="AppleGothic"/>
                <a:ea typeface="AppleGothic"/>
                <a:cs typeface="AppleGothic"/>
              </a:defRPr>
            </a:pPr>
            <a:r>
              <a:rPr sz="1875" b="0">
                <a:solidFill>
                  <a:srgbClr val="15243B"/>
                </a:solidFill>
                <a:latin typeface="AppleGothic"/>
                <a:ea typeface="AppleGothic"/>
                <a:cs typeface="AppleGothic"/>
              </a:rPr>
              <a:t>p=0.01 prior에서 배경 loss 비중은 CE 72.8%→FL 0.1%다. p=0.5에서는 감소하지 않는다.</a:t>
            </a:r>
          </a:p>
        </p:txBody>
      </p:sp>
      <p:sp>
        <p:nvSpPr>
          <p:cNvPr id="5" name="">
            <a:extLst xmlns:a="http://schemas.openxmlformats.org/drawingml/2006/main">
              <a:ext uri="{FF2B5EF4-FFF2-40B4-BE49-F238E27FC236}">
                <a16:creationId xmlns:a16="http://schemas.microsoft.com/office/drawing/2014/main" id="{7DDB3F7D-C213-4AB4-A037-346CE3563AF4}"/>
              </a:ext>
            </a:extLst>
          </p:cNvPr>
          <p:cNvSpPr>
            <a:spLocks xmlns:a="http://schemas.openxmlformats.org/drawingml/2006/main" noGrp="1"/>
          </p:cNvSpPr>
          <p:nvPr/>
        </p:nvSpPr>
        <p:spPr>
          <a:xfrm xmlns:a="http://schemas.openxmlformats.org/drawingml/2006/main">
            <a:off x="533400" y="5895975"/>
            <a:ext cx="1112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526378"/>
                </a:solidFill>
                <a:latin typeface="AppleGothic"/>
                <a:ea typeface="AppleGothic"/>
                <a:cs typeface="AppleGothic"/>
              </a:defRPr>
            </a:defPPr>
            <a:lvl1pPr>
              <a:defRPr sz="1350" b="0">
                <a:solidFill>
                  <a:srgbClr val="526378"/>
                </a:solidFill>
                <a:latin typeface="AppleGothic"/>
                <a:ea typeface="AppleGothic"/>
                <a:cs typeface="AppleGothic"/>
              </a:defRPr>
            </a:lvl1pPr>
            <a:lvl2pPr>
              <a:defRPr sz="1350" b="0">
                <a:solidFill>
                  <a:srgbClr val="526378"/>
                </a:solidFill>
                <a:latin typeface="AppleGothic"/>
                <a:ea typeface="AppleGothic"/>
                <a:cs typeface="AppleGothic"/>
              </a:defRPr>
            </a:lvl2pPr>
            <a:lvl3pPr>
              <a:defRPr sz="1350" b="0">
                <a:solidFill>
                  <a:srgbClr val="526378"/>
                </a:solidFill>
                <a:latin typeface="AppleGothic"/>
                <a:ea typeface="AppleGothic"/>
                <a:cs typeface="AppleGothic"/>
              </a:defRPr>
            </a:lvl3pPr>
            <a:lvl4pPr>
              <a:defRPr sz="1350" b="0">
                <a:solidFill>
                  <a:srgbClr val="526378"/>
                </a:solidFill>
                <a:latin typeface="AppleGothic"/>
                <a:ea typeface="AppleGothic"/>
                <a:cs typeface="AppleGothic"/>
              </a:defRPr>
            </a:lvl4pPr>
            <a:lvl5pPr>
              <a:defRPr sz="1350" b="0">
                <a:solidFill>
                  <a:srgbClr val="526378"/>
                </a:solidFill>
                <a:latin typeface="AppleGothic"/>
                <a:ea typeface="AppleGothic"/>
                <a:cs typeface="AppleGothic"/>
              </a:defRPr>
            </a:lvl5pPr>
            <a:lvl6pPr>
              <a:defRPr sz="1350" b="0">
                <a:solidFill>
                  <a:srgbClr val="526378"/>
                </a:solidFill>
                <a:latin typeface="AppleGothic"/>
                <a:ea typeface="AppleGothic"/>
                <a:cs typeface="AppleGothic"/>
              </a:defRPr>
            </a:lvl6pPr>
            <a:lvl7pPr>
              <a:defRPr sz="1350" b="0">
                <a:solidFill>
                  <a:srgbClr val="526378"/>
                </a:solidFill>
                <a:latin typeface="AppleGothic"/>
                <a:ea typeface="AppleGothic"/>
                <a:cs typeface="AppleGothic"/>
              </a:defRPr>
            </a:lvl7pPr>
            <a:lvl8pPr>
              <a:defRPr sz="1350" b="0">
                <a:solidFill>
                  <a:srgbClr val="526378"/>
                </a:solidFill>
                <a:latin typeface="AppleGothic"/>
                <a:ea typeface="AppleGothic"/>
                <a:cs typeface="AppleGothic"/>
              </a:defRPr>
            </a:lvl8pPr>
            <a:lvl9pPr>
              <a:defRPr sz="1350" b="0">
                <a:solidFill>
                  <a:srgbClr val="526378"/>
                </a:solidFill>
                <a:latin typeface="AppleGothic"/>
                <a:ea typeface="AppleGothic"/>
                <a:cs typeface="AppleGothic"/>
              </a:defRPr>
            </a:lvl9pPr>
          </a:lstStyle>
          <a:p xmlns:a="http://schemas.openxmlformats.org/drawingml/2006/main">
            <a:pPr>
              <a:defRPr sz="1350" b="0">
                <a:solidFill>
                  <a:srgbClr val="526378"/>
                </a:solidFill>
                <a:latin typeface="AppleGothic"/>
                <a:ea typeface="AppleGothic"/>
                <a:cs typeface="AppleGothic"/>
              </a:defRPr>
            </a:pPr>
            <a:r>
              <a:rPr sz="1350" b="0">
                <a:solidFill>
                  <a:srgbClr val="526378"/>
                </a:solidFill>
                <a:latin typeface="AppleGothic"/>
                <a:ea typeface="AppleGothic"/>
                <a:cs typeface="AppleGothic"/>
              </a:rPr>
              <a:t>Lab 1, cell 59. Focal-loss curves and saved CE/FL loss shares</a:t>
            </a:r>
          </a:p>
        </p:txBody>
      </p:sp>
      <p:sp>
        <p:nvSpPr>
          <p:cNvPr id="6" name="">
            <a:extLst xmlns:a="http://schemas.openxmlformats.org/drawingml/2006/main">
              <a:ext uri="{FF2B5EF4-FFF2-40B4-BE49-F238E27FC236}">
                <a16:creationId xmlns:a16="http://schemas.microsoft.com/office/drawing/2014/main" id="{75CEA18A-19FA-4C83-8B9D-CB2987BBE7C3}"/>
              </a:ext>
            </a:extLst>
          </p:cNvPr>
          <p:cNvSpPr>
            <a:spLocks xmlns:a="http://schemas.openxmlformats.org/drawingml/2006/main" noGrp="1"/>
          </p:cNvSpPr>
          <p:nvPr/>
        </p:nvSpPr>
        <p:spPr>
          <a:xfrm xmlns:a="http://schemas.openxmlformats.org/drawingml/2006/main">
            <a:off x="11144250" y="6400800"/>
            <a:ext cx="5143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62748C"/>
                </a:solidFill>
                <a:latin typeface="AppleGothic"/>
                <a:ea typeface="AppleGothic"/>
                <a:cs typeface="AppleGothic"/>
              </a:defRPr>
            </a:defPPr>
            <a:lvl1pPr>
              <a:defRPr sz="1350" b="0">
                <a:solidFill>
                  <a:srgbClr val="62748C"/>
                </a:solidFill>
                <a:latin typeface="AppleGothic"/>
                <a:ea typeface="AppleGothic"/>
                <a:cs typeface="AppleGothic"/>
              </a:defRPr>
            </a:lvl1pPr>
            <a:lvl2pPr>
              <a:defRPr sz="1350" b="0">
                <a:solidFill>
                  <a:srgbClr val="62748C"/>
                </a:solidFill>
                <a:latin typeface="AppleGothic"/>
                <a:ea typeface="AppleGothic"/>
                <a:cs typeface="AppleGothic"/>
              </a:defRPr>
            </a:lvl2pPr>
            <a:lvl3pPr>
              <a:defRPr sz="1350" b="0">
                <a:solidFill>
                  <a:srgbClr val="62748C"/>
                </a:solidFill>
                <a:latin typeface="AppleGothic"/>
                <a:ea typeface="AppleGothic"/>
                <a:cs typeface="AppleGothic"/>
              </a:defRPr>
            </a:lvl3pPr>
            <a:lvl4pPr>
              <a:defRPr sz="1350" b="0">
                <a:solidFill>
                  <a:srgbClr val="62748C"/>
                </a:solidFill>
                <a:latin typeface="AppleGothic"/>
                <a:ea typeface="AppleGothic"/>
                <a:cs typeface="AppleGothic"/>
              </a:defRPr>
            </a:lvl4pPr>
            <a:lvl5pPr>
              <a:defRPr sz="1350" b="0">
                <a:solidFill>
                  <a:srgbClr val="62748C"/>
                </a:solidFill>
                <a:latin typeface="AppleGothic"/>
                <a:ea typeface="AppleGothic"/>
                <a:cs typeface="AppleGothic"/>
              </a:defRPr>
            </a:lvl5pPr>
            <a:lvl6pPr>
              <a:defRPr sz="1350" b="0">
                <a:solidFill>
                  <a:srgbClr val="62748C"/>
                </a:solidFill>
                <a:latin typeface="AppleGothic"/>
                <a:ea typeface="AppleGothic"/>
                <a:cs typeface="AppleGothic"/>
              </a:defRPr>
            </a:lvl6pPr>
            <a:lvl7pPr>
              <a:defRPr sz="1350" b="0">
                <a:solidFill>
                  <a:srgbClr val="62748C"/>
                </a:solidFill>
                <a:latin typeface="AppleGothic"/>
                <a:ea typeface="AppleGothic"/>
                <a:cs typeface="AppleGothic"/>
              </a:defRPr>
            </a:lvl7pPr>
            <a:lvl8pPr>
              <a:defRPr sz="1350" b="0">
                <a:solidFill>
                  <a:srgbClr val="62748C"/>
                </a:solidFill>
                <a:latin typeface="AppleGothic"/>
                <a:ea typeface="AppleGothic"/>
                <a:cs typeface="AppleGothic"/>
              </a:defRPr>
            </a:lvl8pPr>
            <a:lvl9pPr>
              <a:defRPr sz="1350" b="0">
                <a:solidFill>
                  <a:srgbClr val="62748C"/>
                </a:solidFill>
                <a:latin typeface="AppleGothic"/>
                <a:ea typeface="AppleGothic"/>
                <a:cs typeface="AppleGothic"/>
              </a:defRPr>
            </a:lvl9pPr>
          </a:lstStyle>
          <a:p xmlns:a="http://schemas.openxmlformats.org/drawingml/2006/main">
            <a:pPr>
              <a:defRPr sz="1350" b="0">
                <a:solidFill>
                  <a:srgbClr val="62748C"/>
                </a:solidFill>
                <a:latin typeface="AppleGothic"/>
                <a:ea typeface="AppleGothic"/>
                <a:cs typeface="AppleGothic"/>
              </a:defRPr>
            </a:pPr>
            <a:r>
              <a:rPr sz="1350" b="0">
                <a:solidFill>
                  <a:srgbClr val="62748C"/>
                </a:solidFill>
                <a:latin typeface="AppleGothic"/>
                <a:ea typeface="AppleGothic"/>
                <a:cs typeface="AppleGothic"/>
              </a:rPr>
              <a:t>28</a:t>
            </a:r>
          </a:p>
        </p:txBody>
      </p:sp>
    </p:spTree>
    <p:extLst>
      <p:ext uri="{BB962C8B-B14F-4D97-AF65-F5344CB8AC3E}">
        <p14:creationId xmlns:p14="http://schemas.microsoft.com/office/powerpoint/2010/main" val="79615259"/>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3D04C7AF-B93A-4980-A67E-32812AA14031}"/>
              </a:ext>
            </a:extLst>
          </p:cNvPr>
          <p:cNvSpPr>
            <a:spLocks xmlns:a="http://schemas.openxmlformats.org/drawingml/2006/main" noGrp="1"/>
          </p:cNvSpPr>
          <p:nvPr/>
        </p:nvSpPr>
        <p:spPr>
          <a:xfrm xmlns:a="http://schemas.openxmlformats.org/drawingml/2006/main">
            <a:off x="533400" y="342900"/>
            <a:ext cx="111252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150" b="1">
                <a:solidFill>
                  <a:srgbClr val="15243B"/>
                </a:solidFill>
                <a:latin typeface="AppleGothic"/>
                <a:ea typeface="AppleGothic"/>
                <a:cs typeface="AppleGothic"/>
              </a:defRPr>
            </a:defPPr>
            <a:lvl1pPr>
              <a:defRPr sz="3150" b="1">
                <a:solidFill>
                  <a:srgbClr val="15243B"/>
                </a:solidFill>
                <a:latin typeface="AppleGothic"/>
                <a:ea typeface="AppleGothic"/>
                <a:cs typeface="AppleGothic"/>
              </a:defRPr>
            </a:lvl1pPr>
            <a:lvl2pPr>
              <a:defRPr sz="3150" b="1">
                <a:solidFill>
                  <a:srgbClr val="15243B"/>
                </a:solidFill>
                <a:latin typeface="AppleGothic"/>
                <a:ea typeface="AppleGothic"/>
                <a:cs typeface="AppleGothic"/>
              </a:defRPr>
            </a:lvl2pPr>
            <a:lvl3pPr>
              <a:defRPr sz="3150" b="1">
                <a:solidFill>
                  <a:srgbClr val="15243B"/>
                </a:solidFill>
                <a:latin typeface="AppleGothic"/>
                <a:ea typeface="AppleGothic"/>
                <a:cs typeface="AppleGothic"/>
              </a:defRPr>
            </a:lvl3pPr>
            <a:lvl4pPr>
              <a:defRPr sz="3150" b="1">
                <a:solidFill>
                  <a:srgbClr val="15243B"/>
                </a:solidFill>
                <a:latin typeface="AppleGothic"/>
                <a:ea typeface="AppleGothic"/>
                <a:cs typeface="AppleGothic"/>
              </a:defRPr>
            </a:lvl4pPr>
            <a:lvl5pPr>
              <a:defRPr sz="3150" b="1">
                <a:solidFill>
                  <a:srgbClr val="15243B"/>
                </a:solidFill>
                <a:latin typeface="AppleGothic"/>
                <a:ea typeface="AppleGothic"/>
                <a:cs typeface="AppleGothic"/>
              </a:defRPr>
            </a:lvl5pPr>
            <a:lvl6pPr>
              <a:defRPr sz="3150" b="1">
                <a:solidFill>
                  <a:srgbClr val="15243B"/>
                </a:solidFill>
                <a:latin typeface="AppleGothic"/>
                <a:ea typeface="AppleGothic"/>
                <a:cs typeface="AppleGothic"/>
              </a:defRPr>
            </a:lvl6pPr>
            <a:lvl7pPr>
              <a:defRPr sz="3150" b="1">
                <a:solidFill>
                  <a:srgbClr val="15243B"/>
                </a:solidFill>
                <a:latin typeface="AppleGothic"/>
                <a:ea typeface="AppleGothic"/>
                <a:cs typeface="AppleGothic"/>
              </a:defRPr>
            </a:lvl7pPr>
            <a:lvl8pPr>
              <a:defRPr sz="3150" b="1">
                <a:solidFill>
                  <a:srgbClr val="15243B"/>
                </a:solidFill>
                <a:latin typeface="AppleGothic"/>
                <a:ea typeface="AppleGothic"/>
                <a:cs typeface="AppleGothic"/>
              </a:defRPr>
            </a:lvl8pPr>
            <a:lvl9pPr>
              <a:defRPr sz="3150" b="1">
                <a:solidFill>
                  <a:srgbClr val="15243B"/>
                </a:solidFill>
                <a:latin typeface="AppleGothic"/>
                <a:ea typeface="AppleGothic"/>
                <a:cs typeface="AppleGothic"/>
              </a:defRPr>
            </a:lvl9pPr>
          </a:lstStyle>
          <a:p xmlns:a="http://schemas.openxmlformats.org/drawingml/2006/main">
            <a:pPr>
              <a:defRPr sz="3150" b="1">
                <a:solidFill>
                  <a:srgbClr val="15243B"/>
                </a:solidFill>
                <a:latin typeface="AppleGothic"/>
                <a:ea typeface="AppleGothic"/>
                <a:cs typeface="AppleGothic"/>
              </a:defRPr>
            </a:pPr>
            <a:r>
              <a:rPr sz="3150" b="1">
                <a:solidFill>
                  <a:srgbClr val="15243B"/>
                </a:solidFill>
                <a:latin typeface="AppleGothic"/>
                <a:ea typeface="AppleGothic"/>
                <a:cs typeface="AppleGothic"/>
              </a:rPr>
              <a:t>Two-Stage vs One-Stage</a:t>
            </a:r>
          </a:p>
        </p:txBody>
      </p:sp>
      <p:sp>
        <p:nvSpPr>
          <p:cNvPr id="2" name="">
            <a:extLst xmlns:a="http://schemas.openxmlformats.org/drawingml/2006/main">
              <a:ext uri="{FF2B5EF4-FFF2-40B4-BE49-F238E27FC236}">
                <a16:creationId xmlns:a16="http://schemas.microsoft.com/office/drawing/2014/main" id="{A9D3A1B8-CCDA-4CC7-B445-6BDC5B4D2E1F}"/>
              </a:ext>
            </a:extLst>
          </p:cNvPr>
          <p:cNvSpPr>
            <a:spLocks xmlns:a="http://schemas.openxmlformats.org/drawingml/2006/main" noGrp="1"/>
          </p:cNvSpPr>
          <p:nvPr/>
        </p:nvSpPr>
        <p:spPr>
          <a:xfrm xmlns:a="http://schemas.openxmlformats.org/drawingml/2006/main">
            <a:off x="533400" y="1066800"/>
            <a:ext cx="111252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1">
                <a:solidFill>
                  <a:srgbClr val="2164CB"/>
                </a:solidFill>
                <a:latin typeface="AppleGothic"/>
                <a:ea typeface="AppleGothic"/>
                <a:cs typeface="AppleGothic"/>
              </a:defRPr>
            </a:defPPr>
            <a:lvl1pPr>
              <a:defRPr sz="2175" b="1">
                <a:solidFill>
                  <a:srgbClr val="2164CB"/>
                </a:solidFill>
                <a:latin typeface="AppleGothic"/>
                <a:ea typeface="AppleGothic"/>
                <a:cs typeface="AppleGothic"/>
              </a:defRPr>
            </a:lvl1pPr>
            <a:lvl2pPr>
              <a:defRPr sz="2175" b="1">
                <a:solidFill>
                  <a:srgbClr val="2164CB"/>
                </a:solidFill>
                <a:latin typeface="AppleGothic"/>
                <a:ea typeface="AppleGothic"/>
                <a:cs typeface="AppleGothic"/>
              </a:defRPr>
            </a:lvl2pPr>
            <a:lvl3pPr>
              <a:defRPr sz="2175" b="1">
                <a:solidFill>
                  <a:srgbClr val="2164CB"/>
                </a:solidFill>
                <a:latin typeface="AppleGothic"/>
                <a:ea typeface="AppleGothic"/>
                <a:cs typeface="AppleGothic"/>
              </a:defRPr>
            </a:lvl3pPr>
            <a:lvl4pPr>
              <a:defRPr sz="2175" b="1">
                <a:solidFill>
                  <a:srgbClr val="2164CB"/>
                </a:solidFill>
                <a:latin typeface="AppleGothic"/>
                <a:ea typeface="AppleGothic"/>
                <a:cs typeface="AppleGothic"/>
              </a:defRPr>
            </a:lvl4pPr>
            <a:lvl5pPr>
              <a:defRPr sz="2175" b="1">
                <a:solidFill>
                  <a:srgbClr val="2164CB"/>
                </a:solidFill>
                <a:latin typeface="AppleGothic"/>
                <a:ea typeface="AppleGothic"/>
                <a:cs typeface="AppleGothic"/>
              </a:defRPr>
            </a:lvl5pPr>
            <a:lvl6pPr>
              <a:defRPr sz="2175" b="1">
                <a:solidFill>
                  <a:srgbClr val="2164CB"/>
                </a:solidFill>
                <a:latin typeface="AppleGothic"/>
                <a:ea typeface="AppleGothic"/>
                <a:cs typeface="AppleGothic"/>
              </a:defRPr>
            </a:lvl6pPr>
            <a:lvl7pPr>
              <a:defRPr sz="2175" b="1">
                <a:solidFill>
                  <a:srgbClr val="2164CB"/>
                </a:solidFill>
                <a:latin typeface="AppleGothic"/>
                <a:ea typeface="AppleGothic"/>
                <a:cs typeface="AppleGothic"/>
              </a:defRPr>
            </a:lvl7pPr>
            <a:lvl8pPr>
              <a:defRPr sz="2175" b="1">
                <a:solidFill>
                  <a:srgbClr val="2164CB"/>
                </a:solidFill>
                <a:latin typeface="AppleGothic"/>
                <a:ea typeface="AppleGothic"/>
                <a:cs typeface="AppleGothic"/>
              </a:defRPr>
            </a:lvl8pPr>
            <a:lvl9pPr>
              <a:defRPr sz="2175" b="1">
                <a:solidFill>
                  <a:srgbClr val="2164CB"/>
                </a:solidFill>
                <a:latin typeface="AppleGothic"/>
                <a:ea typeface="AppleGothic"/>
                <a:cs typeface="AppleGothic"/>
              </a:defRPr>
            </a:lvl9pPr>
          </a:lstStyle>
          <a:p xmlns:a="http://schemas.openxmlformats.org/drawingml/2006/main">
            <a:pPr>
              <a:defRPr sz="2175" b="1">
                <a:solidFill>
                  <a:srgbClr val="2164CB"/>
                </a:solidFill>
                <a:latin typeface="AppleGothic"/>
                <a:ea typeface="AppleGothic"/>
                <a:cs typeface="AppleGothic"/>
              </a:defRPr>
            </a:pPr>
            <a:r>
              <a:rPr sz="2175" b="1">
                <a:solidFill>
                  <a:srgbClr val="2164CB"/>
                </a:solidFill>
                <a:latin typeface="AppleGothic"/>
                <a:ea typeface="AppleGothic"/>
                <a:cs typeface="AppleGothic"/>
              </a:rPr>
              <a:t>두 방식 모두 anchor·GT matching을 쓰지만 후보 선택과 class 예측의 위치가 다르다</a:t>
            </a:r>
          </a:p>
        </p:txBody>
      </p:sp>
      <p:graphicFrame>
        <p:nvGraphicFramePr>
          <p:cNvPr id="3" name="">
            <a:extLst xmlns:a="http://schemas.openxmlformats.org/drawingml/2006/main">
              <a:ext uri="{FF2B5EF4-FFF2-40B4-BE49-F238E27FC236}">
                <a16:creationId xmlns:a16="http://schemas.microsoft.com/office/drawing/2014/main" id="{F1620627-6825-43EA-AFD8-9B0A2EEA9D38}"/>
              </a:ext>
            </a:extLst>
          </p:cNvPr>
          <p:cNvGraphicFramePr/>
          <p:nvPr/>
        </p:nvGraphicFramePr>
        <p:xfrm>
          <a:off xmlns:a="http://schemas.openxmlformats.org/drawingml/2006/main" x="533400" y="2057400"/>
          <a:ext xmlns:a="http://schemas.openxmlformats.org/drawingml/2006/main" cx="11125200" cy="2952750"/>
        </p:xfrm>
        <a:graphic xmlns:a="http://schemas.openxmlformats.org/drawingml/2006/main">
          <a:graphicData uri="http://schemas.openxmlformats.org/drawingml/2006/table">
            <a:tbl>
              <a:tblPr/>
              <a:tblGrid>
                <a:gridCol w="3708400"/>
                <a:gridCol w="3708400"/>
                <a:gridCol w="3708400"/>
              </a:tblGrid>
              <a:tr h="590550">
                <a:tc>
                  <a:txBody>
                    <a:bodyPr/>
                    <a:lstStyle/>
                    <a:p>
                      <a:r>
                        <a:rPr sz="1800" b="1">
                          <a:solidFill>
                            <a:srgbClr val="2164CB"/>
                          </a:solidFill>
                          <a:latin typeface="AppleGothic"/>
                          <a:ea typeface="AppleGothic"/>
                          <a:cs typeface="AppleGothic"/>
                        </a:rPr>
                        <a:t>Step</a:t>
                      </a:r>
                    </a:p>
                  </a:txBody>
                  <a:tcPr marL="114300" marR="114300" marT="95250" marB="95250">
                    <a:lnL w="9525">
                      <a:solidFill>
                        <a:srgbClr val="D7DFEA"/>
                      </a:solidFill>
                      <a:prstDash val="solid"/>
                    </a:lnL>
                    <a:lnR w="9525">
                      <a:solidFill>
                        <a:srgbClr val="D7DFEA"/>
                      </a:solidFill>
                      <a:prstDash val="solid"/>
                    </a:lnR>
                    <a:lnT w="9525">
                      <a:solidFill>
                        <a:srgbClr val="D7DFEA"/>
                      </a:solidFill>
                      <a:prstDash val="solid"/>
                    </a:lnT>
                    <a:lnB w="9525">
                      <a:solidFill>
                        <a:srgbClr val="D7DFEA"/>
                      </a:solidFill>
                      <a:prstDash val="solid"/>
                    </a:lnB>
                    <a:solidFill>
                      <a:srgbClr val="EAF1FC"/>
                    </a:solidFill>
                  </a:tcPr>
                </a:tc>
                <a:tc>
                  <a:txBody>
                    <a:bodyPr/>
                    <a:lstStyle/>
                    <a:p>
                      <a:r>
                        <a:rPr sz="1800" b="1">
                          <a:solidFill>
                            <a:srgbClr val="2164CB"/>
                          </a:solidFill>
                          <a:latin typeface="AppleGothic"/>
                          <a:ea typeface="AppleGothic"/>
                          <a:cs typeface="AppleGothic"/>
                        </a:rPr>
                        <a:t>Faster R-CNN</a:t>
                      </a:r>
                    </a:p>
                  </a:txBody>
                  <a:tcPr marL="114300" marR="114300" marT="95250" marB="95250">
                    <a:lnR w="9525">
                      <a:solidFill>
                        <a:srgbClr val="D7DFEA"/>
                      </a:solidFill>
                      <a:prstDash val="solid"/>
                    </a:lnR>
                    <a:lnT w="9525">
                      <a:solidFill>
                        <a:srgbClr val="D7DFEA"/>
                      </a:solidFill>
                      <a:prstDash val="solid"/>
                    </a:lnT>
                    <a:lnB w="9525">
                      <a:solidFill>
                        <a:srgbClr val="D7DFEA"/>
                      </a:solidFill>
                      <a:prstDash val="solid"/>
                    </a:lnB>
                    <a:solidFill>
                      <a:srgbClr val="EAF1FC"/>
                    </a:solidFill>
                  </a:tcPr>
                </a:tc>
                <a:tc>
                  <a:txBody>
                    <a:bodyPr/>
                    <a:lstStyle/>
                    <a:p>
                      <a:r>
                        <a:rPr sz="1800" b="1">
                          <a:solidFill>
                            <a:srgbClr val="2164CB"/>
                          </a:solidFill>
                          <a:latin typeface="AppleGothic"/>
                          <a:ea typeface="AppleGothic"/>
                          <a:cs typeface="AppleGothic"/>
                        </a:rPr>
                        <a:t>RetinaNet</a:t>
                      </a:r>
                    </a:p>
                  </a:txBody>
                  <a:tcPr marL="114300" marR="114300" marT="95250" marB="95250">
                    <a:lnR w="9525">
                      <a:solidFill>
                        <a:srgbClr val="D7DFEA"/>
                      </a:solidFill>
                      <a:prstDash val="solid"/>
                    </a:lnR>
                    <a:lnT w="9525">
                      <a:solidFill>
                        <a:srgbClr val="D7DFEA"/>
                      </a:solidFill>
                      <a:prstDash val="solid"/>
                    </a:lnT>
                    <a:lnB w="9525">
                      <a:solidFill>
                        <a:srgbClr val="D7DFEA"/>
                      </a:solidFill>
                      <a:prstDash val="solid"/>
                    </a:lnB>
                    <a:solidFill>
                      <a:srgbClr val="EAF1FC"/>
                    </a:solidFill>
                  </a:tcPr>
                </a:tc>
              </a:tr>
              <a:tr h="590550">
                <a:tc>
                  <a:txBody>
                    <a:bodyPr/>
                    <a:lstStyle/>
                    <a:p>
                      <a:r>
                        <a:rPr sz="1800">
                          <a:solidFill>
                            <a:srgbClr val="15243B"/>
                          </a:solidFill>
                          <a:latin typeface="AppleGothic"/>
                          <a:ea typeface="AppleGothic"/>
                          <a:cs typeface="AppleGothic"/>
                        </a:rPr>
                        <a:t>Candidates</a:t>
                      </a:r>
                    </a:p>
                  </a:txBody>
                  <a:tcPr marL="114300" marR="114300" marT="95250" marB="95250">
                    <a:lnL w="9525">
                      <a:solidFill>
                        <a:srgbClr val="D7DFEA"/>
                      </a:solidFill>
                      <a:prstDash val="solid"/>
                    </a:lnL>
                    <a:lnR w="9525">
                      <a:solidFill>
                        <a:srgbClr val="D7DFEA"/>
                      </a:solidFill>
                      <a:prstDash val="solid"/>
                    </a:lnR>
                    <a:lnB w="9525">
                      <a:solidFill>
                        <a:srgbClr val="D7DFEA"/>
                      </a:solidFill>
                      <a:prstDash val="solid"/>
                    </a:lnB>
                  </a:tcPr>
                </a:tc>
                <a:tc>
                  <a:txBody>
                    <a:bodyPr/>
                    <a:lstStyle/>
                    <a:p>
                      <a:r>
                        <a:rPr sz="1800">
                          <a:solidFill>
                            <a:srgbClr val="15243B"/>
                          </a:solidFill>
                          <a:latin typeface="AppleGothic"/>
                          <a:ea typeface="AppleGothic"/>
                          <a:cs typeface="AppleGothic"/>
                        </a:rPr>
                        <a:t>RPN → proposal → RoI</a:t>
                      </a:r>
                    </a:p>
                  </a:txBody>
                  <a:tcPr marL="114300" marR="114300" marT="95250" marB="95250">
                    <a:lnR w="9525">
                      <a:solidFill>
                        <a:srgbClr val="D7DFEA"/>
                      </a:solidFill>
                      <a:prstDash val="solid"/>
                    </a:lnR>
                    <a:lnB w="9525">
                      <a:solidFill>
                        <a:srgbClr val="D7DFEA"/>
                      </a:solidFill>
                      <a:prstDash val="solid"/>
                    </a:lnB>
                  </a:tcPr>
                </a:tc>
                <a:tc>
                  <a:txBody>
                    <a:bodyPr/>
                    <a:lstStyle/>
                    <a:p>
                      <a:r>
                        <a:rPr sz="1800">
                          <a:solidFill>
                            <a:srgbClr val="15243B"/>
                          </a:solidFill>
                          <a:latin typeface="AppleGothic"/>
                          <a:ea typeface="AppleGothic"/>
                          <a:cs typeface="AppleGothic"/>
                        </a:rPr>
                        <a:t>각 FPN 위치의 dense anchor</a:t>
                      </a:r>
                    </a:p>
                  </a:txBody>
                  <a:tcPr marL="114300" marR="114300" marT="95250" marB="95250">
                    <a:lnR w="9525">
                      <a:solidFill>
                        <a:srgbClr val="D7DFEA"/>
                      </a:solidFill>
                      <a:prstDash val="solid"/>
                    </a:lnR>
                    <a:lnB w="9525">
                      <a:solidFill>
                        <a:srgbClr val="D7DFEA"/>
                      </a:solidFill>
                      <a:prstDash val="solid"/>
                    </a:lnB>
                  </a:tcPr>
                </a:tc>
              </a:tr>
              <a:tr h="590550">
                <a:tc>
                  <a:txBody>
                    <a:bodyPr/>
                    <a:lstStyle/>
                    <a:p>
                      <a:r>
                        <a:rPr sz="1800">
                          <a:solidFill>
                            <a:srgbClr val="15243B"/>
                          </a:solidFill>
                          <a:latin typeface="AppleGothic"/>
                          <a:ea typeface="AppleGothic"/>
                          <a:cs typeface="AppleGothic"/>
                        </a:rPr>
                        <a:t>Classification</a:t>
                      </a:r>
                    </a:p>
                  </a:txBody>
                  <a:tcPr marL="114300" marR="114300" marT="95250" marB="95250">
                    <a:lnL w="9525">
                      <a:solidFill>
                        <a:srgbClr val="D7DFEA"/>
                      </a:solidFill>
                      <a:prstDash val="solid"/>
                    </a:lnL>
                    <a:lnR w="9525">
                      <a:solidFill>
                        <a:srgbClr val="D7DFEA"/>
                      </a:solidFill>
                      <a:prstDash val="solid"/>
                    </a:lnR>
                    <a:lnB w="9525">
                      <a:solidFill>
                        <a:srgbClr val="D7DFEA"/>
                      </a:solidFill>
                      <a:prstDash val="solid"/>
                    </a:lnB>
                  </a:tcPr>
                </a:tc>
                <a:tc>
                  <a:txBody>
                    <a:bodyPr/>
                    <a:lstStyle/>
                    <a:p>
                      <a:r>
                        <a:rPr sz="1800">
                          <a:solidFill>
                            <a:srgbClr val="15243B"/>
                          </a:solidFill>
                          <a:latin typeface="AppleGothic"/>
                          <a:ea typeface="AppleGothic"/>
                          <a:cs typeface="AppleGothic"/>
                        </a:rPr>
                        <a:t>objectness 뒤 RoI class</a:t>
                      </a:r>
                    </a:p>
                  </a:txBody>
                  <a:tcPr marL="114300" marR="114300" marT="95250" marB="95250">
                    <a:lnR w="9525">
                      <a:solidFill>
                        <a:srgbClr val="D7DFEA"/>
                      </a:solidFill>
                      <a:prstDash val="solid"/>
                    </a:lnR>
                    <a:lnB w="9525">
                      <a:solidFill>
                        <a:srgbClr val="D7DFEA"/>
                      </a:solidFill>
                      <a:prstDash val="solid"/>
                    </a:lnB>
                  </a:tcPr>
                </a:tc>
                <a:tc>
                  <a:txBody>
                    <a:bodyPr/>
                    <a:lstStyle/>
                    <a:p>
                      <a:r>
                        <a:rPr sz="1800">
                          <a:solidFill>
                            <a:srgbClr val="15243B"/>
                          </a:solidFill>
                          <a:latin typeface="AppleGothic"/>
                          <a:ea typeface="AppleGothic"/>
                          <a:cs typeface="AppleGothic"/>
                        </a:rPr>
                        <a:t>anchor에서 바로 class</a:t>
                      </a:r>
                    </a:p>
                  </a:txBody>
                  <a:tcPr marL="114300" marR="114300" marT="95250" marB="95250">
                    <a:lnR w="9525">
                      <a:solidFill>
                        <a:srgbClr val="D7DFEA"/>
                      </a:solidFill>
                      <a:prstDash val="solid"/>
                    </a:lnR>
                    <a:lnB w="9525">
                      <a:solidFill>
                        <a:srgbClr val="D7DFEA"/>
                      </a:solidFill>
                      <a:prstDash val="solid"/>
                    </a:lnB>
                  </a:tcPr>
                </a:tc>
              </a:tr>
              <a:tr h="590550">
                <a:tc>
                  <a:txBody>
                    <a:bodyPr/>
                    <a:lstStyle/>
                    <a:p>
                      <a:r>
                        <a:rPr sz="1800">
                          <a:solidFill>
                            <a:srgbClr val="15243B"/>
                          </a:solidFill>
                          <a:latin typeface="AppleGothic"/>
                          <a:ea typeface="AppleGothic"/>
                          <a:cs typeface="AppleGothic"/>
                        </a:rPr>
                        <a:t>Imbalance</a:t>
                      </a:r>
                    </a:p>
                  </a:txBody>
                  <a:tcPr marL="114300" marR="114300" marT="95250" marB="95250">
                    <a:lnL w="9525">
                      <a:solidFill>
                        <a:srgbClr val="D7DFEA"/>
                      </a:solidFill>
                      <a:prstDash val="solid"/>
                    </a:lnL>
                    <a:lnR w="9525">
                      <a:solidFill>
                        <a:srgbClr val="D7DFEA"/>
                      </a:solidFill>
                      <a:prstDash val="solid"/>
                    </a:lnR>
                    <a:lnB w="9525">
                      <a:solidFill>
                        <a:srgbClr val="D7DFEA"/>
                      </a:solidFill>
                      <a:prstDash val="solid"/>
                    </a:lnB>
                  </a:tcPr>
                </a:tc>
                <a:tc>
                  <a:txBody>
                    <a:bodyPr/>
                    <a:lstStyle/>
                    <a:p>
                      <a:r>
                        <a:rPr sz="1800">
                          <a:solidFill>
                            <a:srgbClr val="15243B"/>
                          </a:solidFill>
                          <a:latin typeface="AppleGothic"/>
                          <a:ea typeface="AppleGothic"/>
                          <a:cs typeface="AppleGothic"/>
                        </a:rPr>
                        <a:t>RPN/RoI sampling</a:t>
                      </a:r>
                    </a:p>
                  </a:txBody>
                  <a:tcPr marL="114300" marR="114300" marT="95250" marB="95250">
                    <a:lnR w="9525">
                      <a:solidFill>
                        <a:srgbClr val="D7DFEA"/>
                      </a:solidFill>
                      <a:prstDash val="solid"/>
                    </a:lnR>
                    <a:lnB w="9525">
                      <a:solidFill>
                        <a:srgbClr val="D7DFEA"/>
                      </a:solidFill>
                      <a:prstDash val="solid"/>
                    </a:lnB>
                  </a:tcPr>
                </a:tc>
                <a:tc>
                  <a:txBody>
                    <a:bodyPr/>
                    <a:lstStyle/>
                    <a:p>
                      <a:r>
                        <a:rPr sz="1800">
                          <a:solidFill>
                            <a:srgbClr val="15243B"/>
                          </a:solidFill>
                          <a:latin typeface="AppleGothic"/>
                          <a:ea typeface="AppleGothic"/>
                          <a:cs typeface="AppleGothic"/>
                        </a:rPr>
                        <a:t>focal loss · ignore 제외</a:t>
                      </a:r>
                    </a:p>
                  </a:txBody>
                  <a:tcPr marL="114300" marR="114300" marT="95250" marB="95250">
                    <a:lnR w="9525">
                      <a:solidFill>
                        <a:srgbClr val="D7DFEA"/>
                      </a:solidFill>
                      <a:prstDash val="solid"/>
                    </a:lnR>
                    <a:lnB w="9525">
                      <a:solidFill>
                        <a:srgbClr val="D7DFEA"/>
                      </a:solidFill>
                      <a:prstDash val="solid"/>
                    </a:lnB>
                  </a:tcPr>
                </a:tc>
              </a:tr>
              <a:tr h="590550">
                <a:tc>
                  <a:txBody>
                    <a:bodyPr/>
                    <a:lstStyle/>
                    <a:p>
                      <a:r>
                        <a:rPr sz="1800">
                          <a:solidFill>
                            <a:srgbClr val="15243B"/>
                          </a:solidFill>
                          <a:latin typeface="AppleGothic"/>
                          <a:ea typeface="AppleGothic"/>
                          <a:cs typeface="AppleGothic"/>
                        </a:rPr>
                        <a:t>Box refinement</a:t>
                      </a:r>
                    </a:p>
                  </a:txBody>
                  <a:tcPr marL="114300" marR="114300" marT="95250" marB="95250">
                    <a:lnL w="9525">
                      <a:solidFill>
                        <a:srgbClr val="D7DFEA"/>
                      </a:solidFill>
                      <a:prstDash val="solid"/>
                    </a:lnL>
                    <a:lnR w="9525">
                      <a:solidFill>
                        <a:srgbClr val="D7DFEA"/>
                      </a:solidFill>
                      <a:prstDash val="solid"/>
                    </a:lnR>
                    <a:lnB w="9525">
                      <a:solidFill>
                        <a:srgbClr val="D7DFEA"/>
                      </a:solidFill>
                      <a:prstDash val="solid"/>
                    </a:lnB>
                  </a:tcPr>
                </a:tc>
                <a:tc>
                  <a:txBody>
                    <a:bodyPr/>
                    <a:lstStyle/>
                    <a:p>
                      <a:r>
                        <a:rPr sz="1800">
                          <a:solidFill>
                            <a:srgbClr val="15243B"/>
                          </a:solidFill>
                          <a:latin typeface="AppleGothic"/>
                          <a:ea typeface="AppleGothic"/>
                          <a:cs typeface="AppleGothic"/>
                        </a:rPr>
                        <a:t>RPN + RoI 두 번</a:t>
                      </a:r>
                    </a:p>
                  </a:txBody>
                  <a:tcPr marL="114300" marR="114300" marT="95250" marB="95250">
                    <a:lnR w="9525">
                      <a:solidFill>
                        <a:srgbClr val="D7DFEA"/>
                      </a:solidFill>
                      <a:prstDash val="solid"/>
                    </a:lnR>
                    <a:lnB w="9525">
                      <a:solidFill>
                        <a:srgbClr val="D7DFEA"/>
                      </a:solidFill>
                      <a:prstDash val="solid"/>
                    </a:lnB>
                  </a:tcPr>
                </a:tc>
                <a:tc>
                  <a:txBody>
                    <a:bodyPr/>
                    <a:lstStyle/>
                    <a:p>
                      <a:r>
                        <a:rPr sz="1800">
                          <a:solidFill>
                            <a:srgbClr val="15243B"/>
                          </a:solidFill>
                          <a:latin typeface="AppleGothic"/>
                          <a:ea typeface="AppleGothic"/>
                          <a:cs typeface="AppleGothic"/>
                        </a:rPr>
                        <a:t>dense head에서 한 번</a:t>
                      </a:r>
                    </a:p>
                  </a:txBody>
                  <a:tcPr marL="114300" marR="114300" marT="95250" marB="95250">
                    <a:lnR w="9525">
                      <a:solidFill>
                        <a:srgbClr val="D7DFEA"/>
                      </a:solidFill>
                      <a:prstDash val="solid"/>
                    </a:lnR>
                    <a:lnB w="9525">
                      <a:solidFill>
                        <a:srgbClr val="D7DFEA"/>
                      </a:solidFill>
                      <a:prstDash val="solid"/>
                    </a:lnB>
                  </a:tcPr>
                </a:tc>
              </a:tr>
            </a:tbl>
          </a:graphicData>
        </a:graphic>
      </p:graphicFrame>
      <p:sp>
        <p:nvSpPr>
          <p:cNvPr id="4" name="">
            <a:extLst xmlns:a="http://schemas.openxmlformats.org/drawingml/2006/main">
              <a:ext uri="{FF2B5EF4-FFF2-40B4-BE49-F238E27FC236}">
                <a16:creationId xmlns:a16="http://schemas.microsoft.com/office/drawing/2014/main" id="{B09217D7-400D-4CE6-BC9B-5F9275546445}"/>
              </a:ext>
            </a:extLst>
          </p:cNvPr>
          <p:cNvSpPr>
            <a:spLocks xmlns:a="http://schemas.openxmlformats.org/drawingml/2006/main" noGrp="1"/>
          </p:cNvSpPr>
          <p:nvPr/>
        </p:nvSpPr>
        <p:spPr>
          <a:xfrm xmlns:a="http://schemas.openxmlformats.org/drawingml/2006/main">
            <a:off x="533400" y="5391150"/>
            <a:ext cx="11125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15243B"/>
                </a:solidFill>
                <a:latin typeface="AppleGothic"/>
                <a:ea typeface="AppleGothic"/>
                <a:cs typeface="AppleGothic"/>
              </a:defRPr>
            </a:defPPr>
            <a:lvl1pPr>
              <a:defRPr sz="1800" b="0">
                <a:solidFill>
                  <a:srgbClr val="15243B"/>
                </a:solidFill>
                <a:latin typeface="AppleGothic"/>
                <a:ea typeface="AppleGothic"/>
                <a:cs typeface="AppleGothic"/>
              </a:defRPr>
            </a:lvl1pPr>
            <a:lvl2pPr>
              <a:defRPr sz="1800" b="0">
                <a:solidFill>
                  <a:srgbClr val="15243B"/>
                </a:solidFill>
                <a:latin typeface="AppleGothic"/>
                <a:ea typeface="AppleGothic"/>
                <a:cs typeface="AppleGothic"/>
              </a:defRPr>
            </a:lvl2pPr>
            <a:lvl3pPr>
              <a:defRPr sz="1800" b="0">
                <a:solidFill>
                  <a:srgbClr val="15243B"/>
                </a:solidFill>
                <a:latin typeface="AppleGothic"/>
                <a:ea typeface="AppleGothic"/>
                <a:cs typeface="AppleGothic"/>
              </a:defRPr>
            </a:lvl3pPr>
            <a:lvl4pPr>
              <a:defRPr sz="1800" b="0">
                <a:solidFill>
                  <a:srgbClr val="15243B"/>
                </a:solidFill>
                <a:latin typeface="AppleGothic"/>
                <a:ea typeface="AppleGothic"/>
                <a:cs typeface="AppleGothic"/>
              </a:defRPr>
            </a:lvl4pPr>
            <a:lvl5pPr>
              <a:defRPr sz="1800" b="0">
                <a:solidFill>
                  <a:srgbClr val="15243B"/>
                </a:solidFill>
                <a:latin typeface="AppleGothic"/>
                <a:ea typeface="AppleGothic"/>
                <a:cs typeface="AppleGothic"/>
              </a:defRPr>
            </a:lvl5pPr>
            <a:lvl6pPr>
              <a:defRPr sz="1800" b="0">
                <a:solidFill>
                  <a:srgbClr val="15243B"/>
                </a:solidFill>
                <a:latin typeface="AppleGothic"/>
                <a:ea typeface="AppleGothic"/>
                <a:cs typeface="AppleGothic"/>
              </a:defRPr>
            </a:lvl6pPr>
            <a:lvl7pPr>
              <a:defRPr sz="1800" b="0">
                <a:solidFill>
                  <a:srgbClr val="15243B"/>
                </a:solidFill>
                <a:latin typeface="AppleGothic"/>
                <a:ea typeface="AppleGothic"/>
                <a:cs typeface="AppleGothic"/>
              </a:defRPr>
            </a:lvl7pPr>
            <a:lvl8pPr>
              <a:defRPr sz="1800" b="0">
                <a:solidFill>
                  <a:srgbClr val="15243B"/>
                </a:solidFill>
                <a:latin typeface="AppleGothic"/>
                <a:ea typeface="AppleGothic"/>
                <a:cs typeface="AppleGothic"/>
              </a:defRPr>
            </a:lvl8pPr>
            <a:lvl9pPr>
              <a:defRPr sz="1800" b="0">
                <a:solidFill>
                  <a:srgbClr val="15243B"/>
                </a:solidFill>
                <a:latin typeface="AppleGothic"/>
                <a:ea typeface="AppleGothic"/>
                <a:cs typeface="AppleGothic"/>
              </a:defRPr>
            </a:lvl9pPr>
          </a:lstStyle>
          <a:p xmlns:a="http://schemas.openxmlformats.org/drawingml/2006/main">
            <a:pPr>
              <a:defRPr sz="1800" b="0">
                <a:solidFill>
                  <a:srgbClr val="15243B"/>
                </a:solidFill>
                <a:latin typeface="AppleGothic"/>
                <a:ea typeface="AppleGothic"/>
                <a:cs typeface="AppleGothic"/>
              </a:defRPr>
            </a:pPr>
            <a:r>
              <a:rPr sz="1800" b="0">
                <a:solidFill>
                  <a:srgbClr val="15243B"/>
                </a:solidFill>
                <a:latin typeface="AppleGothic"/>
                <a:ea typeface="AppleGothic"/>
                <a:cs typeface="AppleGothic"/>
              </a:rPr>
              <a:t>RPN이 바꾼 proposal은 RoI 단계에서 새로운 기준 box가 된다.</a:t>
            </a:r>
          </a:p>
          <a:p xmlns:a="http://schemas.openxmlformats.org/drawingml/2006/main">
            <a:pPr>
              <a:defRPr sz="1800" b="0">
                <a:solidFill>
                  <a:srgbClr val="15243B"/>
                </a:solidFill>
                <a:latin typeface="AppleGothic"/>
                <a:ea typeface="AppleGothic"/>
                <a:cs typeface="AppleGothic"/>
              </a:defRPr>
            </a:pPr>
            <a:r>
              <a:rPr sz="1800" b="0">
                <a:solidFill>
                  <a:srgbClr val="15243B"/>
                </a:solidFill>
                <a:latin typeface="AppleGothic"/>
                <a:ea typeface="AppleGothic"/>
                <a:cs typeface="AppleGothic"/>
              </a:rPr>
              <a:t>RetinaNet은 sampled subset 대신 valid anchor를 쓰되 쉬운 예측의 loss를 줄인다.</a:t>
            </a:r>
          </a:p>
        </p:txBody>
      </p:sp>
      <p:sp>
        <p:nvSpPr>
          <p:cNvPr id="5" name="">
            <a:extLst xmlns:a="http://schemas.openxmlformats.org/drawingml/2006/main">
              <a:ext uri="{FF2B5EF4-FFF2-40B4-BE49-F238E27FC236}">
                <a16:creationId xmlns:a16="http://schemas.microsoft.com/office/drawing/2014/main" id="{6AC415C4-8D28-4AFA-8A07-4A83D756F077}"/>
              </a:ext>
            </a:extLst>
          </p:cNvPr>
          <p:cNvSpPr>
            <a:spLocks xmlns:a="http://schemas.openxmlformats.org/drawingml/2006/main" noGrp="1"/>
          </p:cNvSpPr>
          <p:nvPr/>
        </p:nvSpPr>
        <p:spPr>
          <a:xfrm xmlns:a="http://schemas.openxmlformats.org/drawingml/2006/main">
            <a:off x="11144250" y="6400800"/>
            <a:ext cx="5143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62748C"/>
                </a:solidFill>
                <a:latin typeface="AppleGothic"/>
                <a:ea typeface="AppleGothic"/>
                <a:cs typeface="AppleGothic"/>
              </a:defRPr>
            </a:defPPr>
            <a:lvl1pPr>
              <a:defRPr sz="1350" b="0">
                <a:solidFill>
                  <a:srgbClr val="62748C"/>
                </a:solidFill>
                <a:latin typeface="AppleGothic"/>
                <a:ea typeface="AppleGothic"/>
                <a:cs typeface="AppleGothic"/>
              </a:defRPr>
            </a:lvl1pPr>
            <a:lvl2pPr>
              <a:defRPr sz="1350" b="0">
                <a:solidFill>
                  <a:srgbClr val="62748C"/>
                </a:solidFill>
                <a:latin typeface="AppleGothic"/>
                <a:ea typeface="AppleGothic"/>
                <a:cs typeface="AppleGothic"/>
              </a:defRPr>
            </a:lvl2pPr>
            <a:lvl3pPr>
              <a:defRPr sz="1350" b="0">
                <a:solidFill>
                  <a:srgbClr val="62748C"/>
                </a:solidFill>
                <a:latin typeface="AppleGothic"/>
                <a:ea typeface="AppleGothic"/>
                <a:cs typeface="AppleGothic"/>
              </a:defRPr>
            </a:lvl3pPr>
            <a:lvl4pPr>
              <a:defRPr sz="1350" b="0">
                <a:solidFill>
                  <a:srgbClr val="62748C"/>
                </a:solidFill>
                <a:latin typeface="AppleGothic"/>
                <a:ea typeface="AppleGothic"/>
                <a:cs typeface="AppleGothic"/>
              </a:defRPr>
            </a:lvl4pPr>
            <a:lvl5pPr>
              <a:defRPr sz="1350" b="0">
                <a:solidFill>
                  <a:srgbClr val="62748C"/>
                </a:solidFill>
                <a:latin typeface="AppleGothic"/>
                <a:ea typeface="AppleGothic"/>
                <a:cs typeface="AppleGothic"/>
              </a:defRPr>
            </a:lvl5pPr>
            <a:lvl6pPr>
              <a:defRPr sz="1350" b="0">
                <a:solidFill>
                  <a:srgbClr val="62748C"/>
                </a:solidFill>
                <a:latin typeface="AppleGothic"/>
                <a:ea typeface="AppleGothic"/>
                <a:cs typeface="AppleGothic"/>
              </a:defRPr>
            </a:lvl6pPr>
            <a:lvl7pPr>
              <a:defRPr sz="1350" b="0">
                <a:solidFill>
                  <a:srgbClr val="62748C"/>
                </a:solidFill>
                <a:latin typeface="AppleGothic"/>
                <a:ea typeface="AppleGothic"/>
                <a:cs typeface="AppleGothic"/>
              </a:defRPr>
            </a:lvl7pPr>
            <a:lvl8pPr>
              <a:defRPr sz="1350" b="0">
                <a:solidFill>
                  <a:srgbClr val="62748C"/>
                </a:solidFill>
                <a:latin typeface="AppleGothic"/>
                <a:ea typeface="AppleGothic"/>
                <a:cs typeface="AppleGothic"/>
              </a:defRPr>
            </a:lvl8pPr>
            <a:lvl9pPr>
              <a:defRPr sz="1350" b="0">
                <a:solidFill>
                  <a:srgbClr val="62748C"/>
                </a:solidFill>
                <a:latin typeface="AppleGothic"/>
                <a:ea typeface="AppleGothic"/>
                <a:cs typeface="AppleGothic"/>
              </a:defRPr>
            </a:lvl9pPr>
          </a:lstStyle>
          <a:p xmlns:a="http://schemas.openxmlformats.org/drawingml/2006/main">
            <a:pPr>
              <a:defRPr sz="1350" b="0">
                <a:solidFill>
                  <a:srgbClr val="62748C"/>
                </a:solidFill>
                <a:latin typeface="AppleGothic"/>
                <a:ea typeface="AppleGothic"/>
                <a:cs typeface="AppleGothic"/>
              </a:defRPr>
            </a:pPr>
            <a:r>
              <a:rPr sz="1350" b="0">
                <a:solidFill>
                  <a:srgbClr val="62748C"/>
                </a:solidFill>
                <a:latin typeface="AppleGothic"/>
                <a:ea typeface="AppleGothic"/>
                <a:cs typeface="AppleGothic"/>
              </a:rPr>
              <a:t>29</a:t>
            </a:r>
          </a:p>
        </p:txBody>
      </p:sp>
    </p:spTree>
    <p:extLst>
      <p:ext uri="{BB962C8B-B14F-4D97-AF65-F5344CB8AC3E}">
        <p14:creationId xmlns:p14="http://schemas.microsoft.com/office/powerpoint/2010/main" val="1230049792"/>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13B669E-DBA6-468F-8EFA-6A65DD36DB75}"/>
              </a:ext>
            </a:extLst>
          </p:cNvPr>
          <p:cNvSpPr>
            <a:spLocks xmlns:a="http://schemas.openxmlformats.org/drawingml/2006/main" noGrp="1"/>
          </p:cNvSpPr>
          <p:nvPr/>
        </p:nvSpPr>
        <p:spPr>
          <a:xfrm xmlns:a="http://schemas.openxmlformats.org/drawingml/2006/main">
            <a:off x="533400" y="342900"/>
            <a:ext cx="111252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150" b="1">
                <a:solidFill>
                  <a:srgbClr val="15243B"/>
                </a:solidFill>
                <a:latin typeface="AppleGothic"/>
                <a:ea typeface="AppleGothic"/>
                <a:cs typeface="AppleGothic"/>
              </a:defRPr>
            </a:defPPr>
            <a:lvl1pPr>
              <a:defRPr sz="3150" b="1">
                <a:solidFill>
                  <a:srgbClr val="15243B"/>
                </a:solidFill>
                <a:latin typeface="AppleGothic"/>
                <a:ea typeface="AppleGothic"/>
                <a:cs typeface="AppleGothic"/>
              </a:defRPr>
            </a:lvl1pPr>
            <a:lvl2pPr>
              <a:defRPr sz="3150" b="1">
                <a:solidFill>
                  <a:srgbClr val="15243B"/>
                </a:solidFill>
                <a:latin typeface="AppleGothic"/>
                <a:ea typeface="AppleGothic"/>
                <a:cs typeface="AppleGothic"/>
              </a:defRPr>
            </a:lvl2pPr>
            <a:lvl3pPr>
              <a:defRPr sz="3150" b="1">
                <a:solidFill>
                  <a:srgbClr val="15243B"/>
                </a:solidFill>
                <a:latin typeface="AppleGothic"/>
                <a:ea typeface="AppleGothic"/>
                <a:cs typeface="AppleGothic"/>
              </a:defRPr>
            </a:lvl3pPr>
            <a:lvl4pPr>
              <a:defRPr sz="3150" b="1">
                <a:solidFill>
                  <a:srgbClr val="15243B"/>
                </a:solidFill>
                <a:latin typeface="AppleGothic"/>
                <a:ea typeface="AppleGothic"/>
                <a:cs typeface="AppleGothic"/>
              </a:defRPr>
            </a:lvl4pPr>
            <a:lvl5pPr>
              <a:defRPr sz="3150" b="1">
                <a:solidFill>
                  <a:srgbClr val="15243B"/>
                </a:solidFill>
                <a:latin typeface="AppleGothic"/>
                <a:ea typeface="AppleGothic"/>
                <a:cs typeface="AppleGothic"/>
              </a:defRPr>
            </a:lvl5pPr>
            <a:lvl6pPr>
              <a:defRPr sz="3150" b="1">
                <a:solidFill>
                  <a:srgbClr val="15243B"/>
                </a:solidFill>
                <a:latin typeface="AppleGothic"/>
                <a:ea typeface="AppleGothic"/>
                <a:cs typeface="AppleGothic"/>
              </a:defRPr>
            </a:lvl6pPr>
            <a:lvl7pPr>
              <a:defRPr sz="3150" b="1">
                <a:solidFill>
                  <a:srgbClr val="15243B"/>
                </a:solidFill>
                <a:latin typeface="AppleGothic"/>
                <a:ea typeface="AppleGothic"/>
                <a:cs typeface="AppleGothic"/>
              </a:defRPr>
            </a:lvl7pPr>
            <a:lvl8pPr>
              <a:defRPr sz="3150" b="1">
                <a:solidFill>
                  <a:srgbClr val="15243B"/>
                </a:solidFill>
                <a:latin typeface="AppleGothic"/>
                <a:ea typeface="AppleGothic"/>
                <a:cs typeface="AppleGothic"/>
              </a:defRPr>
            </a:lvl8pPr>
            <a:lvl9pPr>
              <a:defRPr sz="3150" b="1">
                <a:solidFill>
                  <a:srgbClr val="15243B"/>
                </a:solidFill>
                <a:latin typeface="AppleGothic"/>
                <a:ea typeface="AppleGothic"/>
                <a:cs typeface="AppleGothic"/>
              </a:defRPr>
            </a:lvl9pPr>
          </a:lstStyle>
          <a:p xmlns:a="http://schemas.openxmlformats.org/drawingml/2006/main">
            <a:pPr>
              <a:defRPr sz="3150" b="1">
                <a:solidFill>
                  <a:srgbClr val="15243B"/>
                </a:solidFill>
                <a:latin typeface="AppleGothic"/>
                <a:ea typeface="AppleGothic"/>
                <a:cs typeface="AppleGothic"/>
              </a:defRPr>
            </a:pPr>
            <a:r>
              <a:rPr sz="3150" b="1">
                <a:solidFill>
                  <a:srgbClr val="15243B"/>
                </a:solidFill>
                <a:latin typeface="AppleGothic"/>
                <a:ea typeface="AppleGothic"/>
                <a:cs typeface="AppleGothic"/>
              </a:rPr>
              <a:t>Lab 2 Evidence</a:t>
            </a:r>
          </a:p>
        </p:txBody>
      </p:sp>
      <p:sp>
        <p:nvSpPr>
          <p:cNvPr id="2" name="">
            <a:extLst xmlns:a="http://schemas.openxmlformats.org/drawingml/2006/main">
              <a:ext uri="{FF2B5EF4-FFF2-40B4-BE49-F238E27FC236}">
                <a16:creationId xmlns:a16="http://schemas.microsoft.com/office/drawing/2014/main" id="{F2FF7350-2744-4333-8781-9DF02D0FFAD1}"/>
              </a:ext>
            </a:extLst>
          </p:cNvPr>
          <p:cNvSpPr>
            <a:spLocks xmlns:a="http://schemas.openxmlformats.org/drawingml/2006/main" noGrp="1"/>
          </p:cNvSpPr>
          <p:nvPr/>
        </p:nvSpPr>
        <p:spPr>
          <a:xfrm xmlns:a="http://schemas.openxmlformats.org/drawingml/2006/main">
            <a:off x="533400" y="1066800"/>
            <a:ext cx="111252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1">
                <a:solidFill>
                  <a:srgbClr val="2164CB"/>
                </a:solidFill>
                <a:latin typeface="AppleGothic"/>
                <a:ea typeface="AppleGothic"/>
                <a:cs typeface="AppleGothic"/>
              </a:defRPr>
            </a:defPPr>
            <a:lvl1pPr>
              <a:defRPr sz="2175" b="1">
                <a:solidFill>
                  <a:srgbClr val="2164CB"/>
                </a:solidFill>
                <a:latin typeface="AppleGothic"/>
                <a:ea typeface="AppleGothic"/>
                <a:cs typeface="AppleGothic"/>
              </a:defRPr>
            </a:lvl1pPr>
            <a:lvl2pPr>
              <a:defRPr sz="2175" b="1">
                <a:solidFill>
                  <a:srgbClr val="2164CB"/>
                </a:solidFill>
                <a:latin typeface="AppleGothic"/>
                <a:ea typeface="AppleGothic"/>
                <a:cs typeface="AppleGothic"/>
              </a:defRPr>
            </a:lvl2pPr>
            <a:lvl3pPr>
              <a:defRPr sz="2175" b="1">
                <a:solidFill>
                  <a:srgbClr val="2164CB"/>
                </a:solidFill>
                <a:latin typeface="AppleGothic"/>
                <a:ea typeface="AppleGothic"/>
                <a:cs typeface="AppleGothic"/>
              </a:defRPr>
            </a:lvl3pPr>
            <a:lvl4pPr>
              <a:defRPr sz="2175" b="1">
                <a:solidFill>
                  <a:srgbClr val="2164CB"/>
                </a:solidFill>
                <a:latin typeface="AppleGothic"/>
                <a:ea typeface="AppleGothic"/>
                <a:cs typeface="AppleGothic"/>
              </a:defRPr>
            </a:lvl4pPr>
            <a:lvl5pPr>
              <a:defRPr sz="2175" b="1">
                <a:solidFill>
                  <a:srgbClr val="2164CB"/>
                </a:solidFill>
                <a:latin typeface="AppleGothic"/>
                <a:ea typeface="AppleGothic"/>
                <a:cs typeface="AppleGothic"/>
              </a:defRPr>
            </a:lvl5pPr>
            <a:lvl6pPr>
              <a:defRPr sz="2175" b="1">
                <a:solidFill>
                  <a:srgbClr val="2164CB"/>
                </a:solidFill>
                <a:latin typeface="AppleGothic"/>
                <a:ea typeface="AppleGothic"/>
                <a:cs typeface="AppleGothic"/>
              </a:defRPr>
            </a:lvl6pPr>
            <a:lvl7pPr>
              <a:defRPr sz="2175" b="1">
                <a:solidFill>
                  <a:srgbClr val="2164CB"/>
                </a:solidFill>
                <a:latin typeface="AppleGothic"/>
                <a:ea typeface="AppleGothic"/>
                <a:cs typeface="AppleGothic"/>
              </a:defRPr>
            </a:lvl7pPr>
            <a:lvl8pPr>
              <a:defRPr sz="2175" b="1">
                <a:solidFill>
                  <a:srgbClr val="2164CB"/>
                </a:solidFill>
                <a:latin typeface="AppleGothic"/>
                <a:ea typeface="AppleGothic"/>
                <a:cs typeface="AppleGothic"/>
              </a:defRPr>
            </a:lvl8pPr>
            <a:lvl9pPr>
              <a:defRPr sz="2175" b="1">
                <a:solidFill>
                  <a:srgbClr val="2164CB"/>
                </a:solidFill>
                <a:latin typeface="AppleGothic"/>
                <a:ea typeface="AppleGothic"/>
                <a:cs typeface="AppleGothic"/>
              </a:defRPr>
            </a:lvl9pPr>
          </a:lstStyle>
          <a:p xmlns:a="http://schemas.openxmlformats.org/drawingml/2006/main">
            <a:pPr>
              <a:defRPr sz="2175" b="1">
                <a:solidFill>
                  <a:srgbClr val="2164CB"/>
                </a:solidFill>
                <a:latin typeface="AppleGothic"/>
                <a:ea typeface="AppleGothic"/>
                <a:cs typeface="AppleGothic"/>
              </a:defRPr>
            </a:pPr>
            <a:r>
              <a:rPr sz="2175" b="1">
                <a:solidFill>
                  <a:srgbClr val="2164CB"/>
                </a:solidFill>
                <a:latin typeface="AppleGothic"/>
                <a:ea typeface="AppleGothic"/>
                <a:cs typeface="AppleGothic"/>
              </a:rPr>
              <a:t>Lab 2는 point range, voxel size, point cap을 분리해 sparse tensor를 만든다</a:t>
            </a:r>
          </a:p>
        </p:txBody>
      </p:sp>
      <p:pic>
        <p:nvPicPr>
          <p:cNvPr id="3" name="">
            <a:extLst xmlns:a="http://schemas.openxmlformats.org/drawingml/2006/main">
              <a:ext uri="{FF2B5EF4-FFF2-40B4-BE49-F238E27FC236}">
                <a16:creationId xmlns:a16="http://schemas.microsoft.com/office/drawing/2014/main" id="{E05B71C5-10C4-41E7-B2AA-ADC742D1B4E7}"/>
              </a:ext>
            </a:extLst>
          </p:cNvPr>
          <p:cNvPicPr>
            <a:picLocks xmlns:a="http://schemas.openxmlformats.org/drawingml/2006/main" noChangeAspect="1"/>
          </p:cNvPicPr>
          <p:nvPr/>
        </p:nvPicPr>
        <p:blipFill>
          <a:blip xmlns:r="http://schemas.openxmlformats.org/officeDocument/2006/relationships" xmlns:a="http://schemas.openxmlformats.org/drawingml/2006/main" r:embed="Rcd19d2a993554325"/>
          <a:stretch xmlns:a="http://schemas.openxmlformats.org/drawingml/2006/main"/>
        </p:blipFill>
        <p:spPr>
          <a:xfrm xmlns:a="http://schemas.openxmlformats.org/drawingml/2006/main">
            <a:off x="533400" y="2883564"/>
            <a:ext cx="7143750" cy="2062422"/>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42B155E8-536B-4098-BE2F-C0296E54A48D}"/>
              </a:ext>
            </a:extLst>
          </p:cNvPr>
          <p:cNvSpPr>
            <a:spLocks xmlns:a="http://schemas.openxmlformats.org/drawingml/2006/main" noGrp="1"/>
          </p:cNvSpPr>
          <p:nvPr/>
        </p:nvSpPr>
        <p:spPr>
          <a:xfrm xmlns:a="http://schemas.openxmlformats.org/drawingml/2006/main">
            <a:off x="7981950" y="2114550"/>
            <a:ext cx="3676650" cy="3667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75" b="0">
                <a:solidFill>
                  <a:srgbClr val="15243B"/>
                </a:solidFill>
                <a:latin typeface="AppleGothic"/>
                <a:ea typeface="AppleGothic"/>
                <a:cs typeface="AppleGothic"/>
              </a:defRPr>
            </a:defPPr>
            <a:lvl1pPr>
              <a:defRPr sz="1875" b="0">
                <a:solidFill>
                  <a:srgbClr val="15243B"/>
                </a:solidFill>
                <a:latin typeface="AppleGothic"/>
                <a:ea typeface="AppleGothic"/>
                <a:cs typeface="AppleGothic"/>
              </a:defRPr>
            </a:lvl1pPr>
            <a:lvl2pPr>
              <a:defRPr sz="1875" b="0">
                <a:solidFill>
                  <a:srgbClr val="15243B"/>
                </a:solidFill>
                <a:latin typeface="AppleGothic"/>
                <a:ea typeface="AppleGothic"/>
                <a:cs typeface="AppleGothic"/>
              </a:defRPr>
            </a:lvl2pPr>
            <a:lvl3pPr>
              <a:defRPr sz="1875" b="0">
                <a:solidFill>
                  <a:srgbClr val="15243B"/>
                </a:solidFill>
                <a:latin typeface="AppleGothic"/>
                <a:ea typeface="AppleGothic"/>
                <a:cs typeface="AppleGothic"/>
              </a:defRPr>
            </a:lvl3pPr>
            <a:lvl4pPr>
              <a:defRPr sz="1875" b="0">
                <a:solidFill>
                  <a:srgbClr val="15243B"/>
                </a:solidFill>
                <a:latin typeface="AppleGothic"/>
                <a:ea typeface="AppleGothic"/>
                <a:cs typeface="AppleGothic"/>
              </a:defRPr>
            </a:lvl4pPr>
            <a:lvl5pPr>
              <a:defRPr sz="1875" b="0">
                <a:solidFill>
                  <a:srgbClr val="15243B"/>
                </a:solidFill>
                <a:latin typeface="AppleGothic"/>
                <a:ea typeface="AppleGothic"/>
                <a:cs typeface="AppleGothic"/>
              </a:defRPr>
            </a:lvl5pPr>
            <a:lvl6pPr>
              <a:defRPr sz="1875" b="0">
                <a:solidFill>
                  <a:srgbClr val="15243B"/>
                </a:solidFill>
                <a:latin typeface="AppleGothic"/>
                <a:ea typeface="AppleGothic"/>
                <a:cs typeface="AppleGothic"/>
              </a:defRPr>
            </a:lvl6pPr>
            <a:lvl7pPr>
              <a:defRPr sz="1875" b="0">
                <a:solidFill>
                  <a:srgbClr val="15243B"/>
                </a:solidFill>
                <a:latin typeface="AppleGothic"/>
                <a:ea typeface="AppleGothic"/>
                <a:cs typeface="AppleGothic"/>
              </a:defRPr>
            </a:lvl7pPr>
            <a:lvl8pPr>
              <a:defRPr sz="1875" b="0">
                <a:solidFill>
                  <a:srgbClr val="15243B"/>
                </a:solidFill>
                <a:latin typeface="AppleGothic"/>
                <a:ea typeface="AppleGothic"/>
                <a:cs typeface="AppleGothic"/>
              </a:defRPr>
            </a:lvl8pPr>
            <a:lvl9pPr>
              <a:defRPr sz="1875" b="0">
                <a:solidFill>
                  <a:srgbClr val="15243B"/>
                </a:solidFill>
                <a:latin typeface="AppleGothic"/>
                <a:ea typeface="AppleGothic"/>
                <a:cs typeface="AppleGothic"/>
              </a:defRPr>
            </a:lvl9pPr>
          </a:lstStyle>
          <a:p xmlns:a="http://schemas.openxmlformats.org/drawingml/2006/main">
            <a:pPr>
              <a:defRPr sz="1875" b="0">
                <a:solidFill>
                  <a:srgbClr val="15243B"/>
                </a:solidFill>
                <a:latin typeface="AppleGothic"/>
                <a:ea typeface="AppleGothic"/>
                <a:cs typeface="AppleGothic"/>
              </a:defRPr>
            </a:pPr>
            <a:r>
              <a:rPr sz="1875" b="0">
                <a:solidFill>
                  <a:srgbClr val="15243B"/>
                </a:solidFill>
                <a:latin typeface="AppleGothic"/>
                <a:ea typeface="AppleGothic"/>
                <a:cs typeface="AppleGothic"/>
              </a:rPr>
              <a:t>Voxel은 0.2×0.2×0.4 m이고 grid는 256×256×10이다.</a:t>
            </a:r>
          </a:p>
          <a:p xmlns:a="http://schemas.openxmlformats.org/drawingml/2006/main">
            <a:r>
              <a:t/>
            </a:r>
          </a:p>
          <a:p xmlns:a="http://schemas.openxmlformats.org/drawingml/2006/main">
            <a:pPr>
              <a:defRPr sz="1875" b="0">
                <a:solidFill>
                  <a:srgbClr val="15243B"/>
                </a:solidFill>
                <a:latin typeface="AppleGothic"/>
                <a:ea typeface="AppleGothic"/>
                <a:cs typeface="AppleGothic"/>
              </a:defRPr>
            </a:pPr>
            <a:r>
              <a:rPr sz="1875" b="0">
                <a:solidFill>
                  <a:srgbClr val="15243B"/>
                </a:solidFill>
                <a:latin typeface="AppleGothic"/>
                <a:ea typeface="AppleGothic"/>
                <a:cs typeface="AppleGothic"/>
              </a:rPr>
              <a:t>T=32는 voxel당 point cap이다. 저장 AP는 synthetic center-distance AP이며 KITTI 공식 성능이 아니다.</a:t>
            </a:r>
          </a:p>
        </p:txBody>
      </p:sp>
      <p:sp>
        <p:nvSpPr>
          <p:cNvPr id="5" name="">
            <a:extLst xmlns:a="http://schemas.openxmlformats.org/drawingml/2006/main">
              <a:ext uri="{FF2B5EF4-FFF2-40B4-BE49-F238E27FC236}">
                <a16:creationId xmlns:a16="http://schemas.microsoft.com/office/drawing/2014/main" id="{91685531-70E0-4A31-A5FD-16E6F5243B91}"/>
              </a:ext>
            </a:extLst>
          </p:cNvPr>
          <p:cNvSpPr>
            <a:spLocks xmlns:a="http://schemas.openxmlformats.org/drawingml/2006/main" noGrp="1"/>
          </p:cNvSpPr>
          <p:nvPr/>
        </p:nvSpPr>
        <p:spPr>
          <a:xfrm xmlns:a="http://schemas.openxmlformats.org/drawingml/2006/main">
            <a:off x="533400" y="5895975"/>
            <a:ext cx="1112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526378"/>
                </a:solidFill>
                <a:latin typeface="AppleGothic"/>
                <a:ea typeface="AppleGothic"/>
                <a:cs typeface="AppleGothic"/>
              </a:defRPr>
            </a:defPPr>
            <a:lvl1pPr>
              <a:defRPr sz="1350" b="0">
                <a:solidFill>
                  <a:srgbClr val="526378"/>
                </a:solidFill>
                <a:latin typeface="AppleGothic"/>
                <a:ea typeface="AppleGothic"/>
                <a:cs typeface="AppleGothic"/>
              </a:defRPr>
            </a:lvl1pPr>
            <a:lvl2pPr>
              <a:defRPr sz="1350" b="0">
                <a:solidFill>
                  <a:srgbClr val="526378"/>
                </a:solidFill>
                <a:latin typeface="AppleGothic"/>
                <a:ea typeface="AppleGothic"/>
                <a:cs typeface="AppleGothic"/>
              </a:defRPr>
            </a:lvl2pPr>
            <a:lvl3pPr>
              <a:defRPr sz="1350" b="0">
                <a:solidFill>
                  <a:srgbClr val="526378"/>
                </a:solidFill>
                <a:latin typeface="AppleGothic"/>
                <a:ea typeface="AppleGothic"/>
                <a:cs typeface="AppleGothic"/>
              </a:defRPr>
            </a:lvl3pPr>
            <a:lvl4pPr>
              <a:defRPr sz="1350" b="0">
                <a:solidFill>
                  <a:srgbClr val="526378"/>
                </a:solidFill>
                <a:latin typeface="AppleGothic"/>
                <a:ea typeface="AppleGothic"/>
                <a:cs typeface="AppleGothic"/>
              </a:defRPr>
            </a:lvl4pPr>
            <a:lvl5pPr>
              <a:defRPr sz="1350" b="0">
                <a:solidFill>
                  <a:srgbClr val="526378"/>
                </a:solidFill>
                <a:latin typeface="AppleGothic"/>
                <a:ea typeface="AppleGothic"/>
                <a:cs typeface="AppleGothic"/>
              </a:defRPr>
            </a:lvl5pPr>
            <a:lvl6pPr>
              <a:defRPr sz="1350" b="0">
                <a:solidFill>
                  <a:srgbClr val="526378"/>
                </a:solidFill>
                <a:latin typeface="AppleGothic"/>
                <a:ea typeface="AppleGothic"/>
                <a:cs typeface="AppleGothic"/>
              </a:defRPr>
            </a:lvl6pPr>
            <a:lvl7pPr>
              <a:defRPr sz="1350" b="0">
                <a:solidFill>
                  <a:srgbClr val="526378"/>
                </a:solidFill>
                <a:latin typeface="AppleGothic"/>
                <a:ea typeface="AppleGothic"/>
                <a:cs typeface="AppleGothic"/>
              </a:defRPr>
            </a:lvl7pPr>
            <a:lvl8pPr>
              <a:defRPr sz="1350" b="0">
                <a:solidFill>
                  <a:srgbClr val="526378"/>
                </a:solidFill>
                <a:latin typeface="AppleGothic"/>
                <a:ea typeface="AppleGothic"/>
                <a:cs typeface="AppleGothic"/>
              </a:defRPr>
            </a:lvl8pPr>
            <a:lvl9pPr>
              <a:defRPr sz="1350" b="0">
                <a:solidFill>
                  <a:srgbClr val="526378"/>
                </a:solidFill>
                <a:latin typeface="AppleGothic"/>
                <a:ea typeface="AppleGothic"/>
                <a:cs typeface="AppleGothic"/>
              </a:defRPr>
            </a:lvl9pPr>
          </a:lstStyle>
          <a:p xmlns:a="http://schemas.openxmlformats.org/drawingml/2006/main">
            <a:pPr>
              <a:defRPr sz="1350" b="0">
                <a:solidFill>
                  <a:srgbClr val="526378"/>
                </a:solidFill>
                <a:latin typeface="AppleGothic"/>
                <a:ea typeface="AppleGothic"/>
                <a:cs typeface="AppleGothic"/>
              </a:defRPr>
            </a:pPr>
            <a:r>
              <a:rPr sz="1350" b="0">
                <a:solidFill>
                  <a:srgbClr val="526378"/>
                </a:solidFill>
                <a:latin typeface="AppleGothic"/>
                <a:ea typeface="AppleGothic"/>
                <a:cs typeface="AppleGothic"/>
              </a:rPr>
              <a:t>Lab 2 notebook, cell 25. Point-count histogram and voxel grids</a:t>
            </a:r>
          </a:p>
        </p:txBody>
      </p:sp>
      <p:sp>
        <p:nvSpPr>
          <p:cNvPr id="6" name="">
            <a:extLst xmlns:a="http://schemas.openxmlformats.org/drawingml/2006/main">
              <a:ext uri="{FF2B5EF4-FFF2-40B4-BE49-F238E27FC236}">
                <a16:creationId xmlns:a16="http://schemas.microsoft.com/office/drawing/2014/main" id="{1053CDF1-070B-411C-A412-919A9118BF7F}"/>
              </a:ext>
            </a:extLst>
          </p:cNvPr>
          <p:cNvSpPr>
            <a:spLocks xmlns:a="http://schemas.openxmlformats.org/drawingml/2006/main" noGrp="1"/>
          </p:cNvSpPr>
          <p:nvPr/>
        </p:nvSpPr>
        <p:spPr>
          <a:xfrm xmlns:a="http://schemas.openxmlformats.org/drawingml/2006/main">
            <a:off x="11144250" y="6400800"/>
            <a:ext cx="5143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62748C"/>
                </a:solidFill>
                <a:latin typeface="AppleGothic"/>
                <a:ea typeface="AppleGothic"/>
                <a:cs typeface="AppleGothic"/>
              </a:defRPr>
            </a:defPPr>
            <a:lvl1pPr>
              <a:defRPr sz="1350" b="0">
                <a:solidFill>
                  <a:srgbClr val="62748C"/>
                </a:solidFill>
                <a:latin typeface="AppleGothic"/>
                <a:ea typeface="AppleGothic"/>
                <a:cs typeface="AppleGothic"/>
              </a:defRPr>
            </a:lvl1pPr>
            <a:lvl2pPr>
              <a:defRPr sz="1350" b="0">
                <a:solidFill>
                  <a:srgbClr val="62748C"/>
                </a:solidFill>
                <a:latin typeface="AppleGothic"/>
                <a:ea typeface="AppleGothic"/>
                <a:cs typeface="AppleGothic"/>
              </a:defRPr>
            </a:lvl2pPr>
            <a:lvl3pPr>
              <a:defRPr sz="1350" b="0">
                <a:solidFill>
                  <a:srgbClr val="62748C"/>
                </a:solidFill>
                <a:latin typeface="AppleGothic"/>
                <a:ea typeface="AppleGothic"/>
                <a:cs typeface="AppleGothic"/>
              </a:defRPr>
            </a:lvl3pPr>
            <a:lvl4pPr>
              <a:defRPr sz="1350" b="0">
                <a:solidFill>
                  <a:srgbClr val="62748C"/>
                </a:solidFill>
                <a:latin typeface="AppleGothic"/>
                <a:ea typeface="AppleGothic"/>
                <a:cs typeface="AppleGothic"/>
              </a:defRPr>
            </a:lvl4pPr>
            <a:lvl5pPr>
              <a:defRPr sz="1350" b="0">
                <a:solidFill>
                  <a:srgbClr val="62748C"/>
                </a:solidFill>
                <a:latin typeface="AppleGothic"/>
                <a:ea typeface="AppleGothic"/>
                <a:cs typeface="AppleGothic"/>
              </a:defRPr>
            </a:lvl5pPr>
            <a:lvl6pPr>
              <a:defRPr sz="1350" b="0">
                <a:solidFill>
                  <a:srgbClr val="62748C"/>
                </a:solidFill>
                <a:latin typeface="AppleGothic"/>
                <a:ea typeface="AppleGothic"/>
                <a:cs typeface="AppleGothic"/>
              </a:defRPr>
            </a:lvl6pPr>
            <a:lvl7pPr>
              <a:defRPr sz="1350" b="0">
                <a:solidFill>
                  <a:srgbClr val="62748C"/>
                </a:solidFill>
                <a:latin typeface="AppleGothic"/>
                <a:ea typeface="AppleGothic"/>
                <a:cs typeface="AppleGothic"/>
              </a:defRPr>
            </a:lvl7pPr>
            <a:lvl8pPr>
              <a:defRPr sz="1350" b="0">
                <a:solidFill>
                  <a:srgbClr val="62748C"/>
                </a:solidFill>
                <a:latin typeface="AppleGothic"/>
                <a:ea typeface="AppleGothic"/>
                <a:cs typeface="AppleGothic"/>
              </a:defRPr>
            </a:lvl8pPr>
            <a:lvl9pPr>
              <a:defRPr sz="1350" b="0">
                <a:solidFill>
                  <a:srgbClr val="62748C"/>
                </a:solidFill>
                <a:latin typeface="AppleGothic"/>
                <a:ea typeface="AppleGothic"/>
                <a:cs typeface="AppleGothic"/>
              </a:defRPr>
            </a:lvl9pPr>
          </a:lstStyle>
          <a:p xmlns:a="http://schemas.openxmlformats.org/drawingml/2006/main">
            <a:pPr>
              <a:defRPr sz="1350" b="0">
                <a:solidFill>
                  <a:srgbClr val="62748C"/>
                </a:solidFill>
                <a:latin typeface="AppleGothic"/>
                <a:ea typeface="AppleGothic"/>
                <a:cs typeface="AppleGothic"/>
              </a:defRPr>
            </a:pPr>
            <a:r>
              <a:rPr sz="1350" b="0">
                <a:solidFill>
                  <a:srgbClr val="62748C"/>
                </a:solidFill>
                <a:latin typeface="AppleGothic"/>
                <a:ea typeface="AppleGothic"/>
                <a:cs typeface="AppleGothic"/>
              </a:rPr>
              <a:t>30</a:t>
            </a:r>
          </a:p>
        </p:txBody>
      </p:sp>
    </p:spTree>
    <p:extLst>
      <p:ext uri="{BB962C8B-B14F-4D97-AF65-F5344CB8AC3E}">
        <p14:creationId xmlns:p14="http://schemas.microsoft.com/office/powerpoint/2010/main" val="1471518004"/>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D8AE5386-CA33-4F0A-B22D-E896B60FC239}"/>
              </a:ext>
            </a:extLst>
          </p:cNvPr>
          <p:cNvSpPr>
            <a:spLocks xmlns:a="http://schemas.openxmlformats.org/drawingml/2006/main" noGrp="1"/>
          </p:cNvSpPr>
          <p:nvPr/>
        </p:nvSpPr>
        <p:spPr>
          <a:xfrm xmlns:a="http://schemas.openxmlformats.org/drawingml/2006/main">
            <a:off x="533400" y="342900"/>
            <a:ext cx="111252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150" b="1">
                <a:solidFill>
                  <a:srgbClr val="15243B"/>
                </a:solidFill>
                <a:latin typeface="AppleGothic"/>
                <a:ea typeface="AppleGothic"/>
                <a:cs typeface="AppleGothic"/>
              </a:defRPr>
            </a:defPPr>
            <a:lvl1pPr>
              <a:defRPr sz="3150" b="1">
                <a:solidFill>
                  <a:srgbClr val="15243B"/>
                </a:solidFill>
                <a:latin typeface="AppleGothic"/>
                <a:ea typeface="AppleGothic"/>
                <a:cs typeface="AppleGothic"/>
              </a:defRPr>
            </a:lvl1pPr>
            <a:lvl2pPr>
              <a:defRPr sz="3150" b="1">
                <a:solidFill>
                  <a:srgbClr val="15243B"/>
                </a:solidFill>
                <a:latin typeface="AppleGothic"/>
                <a:ea typeface="AppleGothic"/>
                <a:cs typeface="AppleGothic"/>
              </a:defRPr>
            </a:lvl2pPr>
            <a:lvl3pPr>
              <a:defRPr sz="3150" b="1">
                <a:solidFill>
                  <a:srgbClr val="15243B"/>
                </a:solidFill>
                <a:latin typeface="AppleGothic"/>
                <a:ea typeface="AppleGothic"/>
                <a:cs typeface="AppleGothic"/>
              </a:defRPr>
            </a:lvl3pPr>
            <a:lvl4pPr>
              <a:defRPr sz="3150" b="1">
                <a:solidFill>
                  <a:srgbClr val="15243B"/>
                </a:solidFill>
                <a:latin typeface="AppleGothic"/>
                <a:ea typeface="AppleGothic"/>
                <a:cs typeface="AppleGothic"/>
              </a:defRPr>
            </a:lvl4pPr>
            <a:lvl5pPr>
              <a:defRPr sz="3150" b="1">
                <a:solidFill>
                  <a:srgbClr val="15243B"/>
                </a:solidFill>
                <a:latin typeface="AppleGothic"/>
                <a:ea typeface="AppleGothic"/>
                <a:cs typeface="AppleGothic"/>
              </a:defRPr>
            </a:lvl5pPr>
            <a:lvl6pPr>
              <a:defRPr sz="3150" b="1">
                <a:solidFill>
                  <a:srgbClr val="15243B"/>
                </a:solidFill>
                <a:latin typeface="AppleGothic"/>
                <a:ea typeface="AppleGothic"/>
                <a:cs typeface="AppleGothic"/>
              </a:defRPr>
            </a:lvl6pPr>
            <a:lvl7pPr>
              <a:defRPr sz="3150" b="1">
                <a:solidFill>
                  <a:srgbClr val="15243B"/>
                </a:solidFill>
                <a:latin typeface="AppleGothic"/>
                <a:ea typeface="AppleGothic"/>
                <a:cs typeface="AppleGothic"/>
              </a:defRPr>
            </a:lvl7pPr>
            <a:lvl8pPr>
              <a:defRPr sz="3150" b="1">
                <a:solidFill>
                  <a:srgbClr val="15243B"/>
                </a:solidFill>
                <a:latin typeface="AppleGothic"/>
                <a:ea typeface="AppleGothic"/>
                <a:cs typeface="AppleGothic"/>
              </a:defRPr>
            </a:lvl8pPr>
            <a:lvl9pPr>
              <a:defRPr sz="3150" b="1">
                <a:solidFill>
                  <a:srgbClr val="15243B"/>
                </a:solidFill>
                <a:latin typeface="AppleGothic"/>
                <a:ea typeface="AppleGothic"/>
                <a:cs typeface="AppleGothic"/>
              </a:defRPr>
            </a:lvl9pPr>
          </a:lstStyle>
          <a:p xmlns:a="http://schemas.openxmlformats.org/drawingml/2006/main">
            <a:pPr>
              <a:defRPr sz="3150" b="1">
                <a:solidFill>
                  <a:srgbClr val="15243B"/>
                </a:solidFill>
                <a:latin typeface="AppleGothic"/>
                <a:ea typeface="AppleGothic"/>
                <a:cs typeface="AppleGothic"/>
              </a:defRPr>
            </a:pPr>
            <a:r>
              <a:rPr sz="3150" b="1">
                <a:solidFill>
                  <a:srgbClr val="15243B"/>
                </a:solidFill>
                <a:latin typeface="AppleGothic"/>
                <a:ea typeface="AppleGothic"/>
                <a:cs typeface="AppleGothic"/>
              </a:rPr>
              <a:t>Point Sets and Input Representations</a:t>
            </a:r>
          </a:p>
        </p:txBody>
      </p:sp>
      <p:sp>
        <p:nvSpPr>
          <p:cNvPr id="2" name="">
            <a:extLst xmlns:a="http://schemas.openxmlformats.org/drawingml/2006/main">
              <a:ext uri="{FF2B5EF4-FFF2-40B4-BE49-F238E27FC236}">
                <a16:creationId xmlns:a16="http://schemas.microsoft.com/office/drawing/2014/main" id="{E26D6CAC-5593-44F2-92F1-45679C484447}"/>
              </a:ext>
            </a:extLst>
          </p:cNvPr>
          <p:cNvSpPr>
            <a:spLocks xmlns:a="http://schemas.openxmlformats.org/drawingml/2006/main" noGrp="1"/>
          </p:cNvSpPr>
          <p:nvPr/>
        </p:nvSpPr>
        <p:spPr>
          <a:xfrm xmlns:a="http://schemas.openxmlformats.org/drawingml/2006/main">
            <a:off x="533400" y="1066800"/>
            <a:ext cx="111252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1">
                <a:solidFill>
                  <a:srgbClr val="2164CB"/>
                </a:solidFill>
                <a:latin typeface="AppleGothic"/>
                <a:ea typeface="AppleGothic"/>
                <a:cs typeface="AppleGothic"/>
              </a:defRPr>
            </a:defPPr>
            <a:lvl1pPr>
              <a:defRPr sz="2175" b="1">
                <a:solidFill>
                  <a:srgbClr val="2164CB"/>
                </a:solidFill>
                <a:latin typeface="AppleGothic"/>
                <a:ea typeface="AppleGothic"/>
                <a:cs typeface="AppleGothic"/>
              </a:defRPr>
            </a:lvl1pPr>
            <a:lvl2pPr>
              <a:defRPr sz="2175" b="1">
                <a:solidFill>
                  <a:srgbClr val="2164CB"/>
                </a:solidFill>
                <a:latin typeface="AppleGothic"/>
                <a:ea typeface="AppleGothic"/>
                <a:cs typeface="AppleGothic"/>
              </a:defRPr>
            </a:lvl2pPr>
            <a:lvl3pPr>
              <a:defRPr sz="2175" b="1">
                <a:solidFill>
                  <a:srgbClr val="2164CB"/>
                </a:solidFill>
                <a:latin typeface="AppleGothic"/>
                <a:ea typeface="AppleGothic"/>
                <a:cs typeface="AppleGothic"/>
              </a:defRPr>
            </a:lvl3pPr>
            <a:lvl4pPr>
              <a:defRPr sz="2175" b="1">
                <a:solidFill>
                  <a:srgbClr val="2164CB"/>
                </a:solidFill>
                <a:latin typeface="AppleGothic"/>
                <a:ea typeface="AppleGothic"/>
                <a:cs typeface="AppleGothic"/>
              </a:defRPr>
            </a:lvl4pPr>
            <a:lvl5pPr>
              <a:defRPr sz="2175" b="1">
                <a:solidFill>
                  <a:srgbClr val="2164CB"/>
                </a:solidFill>
                <a:latin typeface="AppleGothic"/>
                <a:ea typeface="AppleGothic"/>
                <a:cs typeface="AppleGothic"/>
              </a:defRPr>
            </a:lvl5pPr>
            <a:lvl6pPr>
              <a:defRPr sz="2175" b="1">
                <a:solidFill>
                  <a:srgbClr val="2164CB"/>
                </a:solidFill>
                <a:latin typeface="AppleGothic"/>
                <a:ea typeface="AppleGothic"/>
                <a:cs typeface="AppleGothic"/>
              </a:defRPr>
            </a:lvl6pPr>
            <a:lvl7pPr>
              <a:defRPr sz="2175" b="1">
                <a:solidFill>
                  <a:srgbClr val="2164CB"/>
                </a:solidFill>
                <a:latin typeface="AppleGothic"/>
                <a:ea typeface="AppleGothic"/>
                <a:cs typeface="AppleGothic"/>
              </a:defRPr>
            </a:lvl7pPr>
            <a:lvl8pPr>
              <a:defRPr sz="2175" b="1">
                <a:solidFill>
                  <a:srgbClr val="2164CB"/>
                </a:solidFill>
                <a:latin typeface="AppleGothic"/>
                <a:ea typeface="AppleGothic"/>
                <a:cs typeface="AppleGothic"/>
              </a:defRPr>
            </a:lvl8pPr>
            <a:lvl9pPr>
              <a:defRPr sz="2175" b="1">
                <a:solidFill>
                  <a:srgbClr val="2164CB"/>
                </a:solidFill>
                <a:latin typeface="AppleGothic"/>
                <a:ea typeface="AppleGothic"/>
                <a:cs typeface="AppleGothic"/>
              </a:defRPr>
            </a:lvl9pPr>
          </a:lstStyle>
          <a:p xmlns:a="http://schemas.openxmlformats.org/drawingml/2006/main">
            <a:pPr>
              <a:defRPr sz="2175" b="1">
                <a:solidFill>
                  <a:srgbClr val="2164CB"/>
                </a:solidFill>
                <a:latin typeface="AppleGothic"/>
                <a:ea typeface="AppleGothic"/>
                <a:cs typeface="AppleGothic"/>
              </a:defRPr>
            </a:pPr>
            <a:r>
              <a:rPr sz="2175" b="1">
                <a:solidFill>
                  <a:srgbClr val="2164CB"/>
                </a:solidFill>
                <a:latin typeface="AppleGothic"/>
                <a:ea typeface="AppleGothic"/>
                <a:cs typeface="AppleGothic"/>
              </a:rPr>
              <a:t>Point cloud는 순서 없는 가변 길이 집합이다. 표현 방식이 계산 가능한 이웃 구조를 바꾼다</a:t>
            </a:r>
          </a:p>
        </p:txBody>
      </p:sp>
      <p:graphicFrame>
        <p:nvGraphicFramePr>
          <p:cNvPr id="3" name="">
            <a:extLst xmlns:a="http://schemas.openxmlformats.org/drawingml/2006/main">
              <a:ext uri="{FF2B5EF4-FFF2-40B4-BE49-F238E27FC236}">
                <a16:creationId xmlns:a16="http://schemas.microsoft.com/office/drawing/2014/main" id="{72E816F9-1E60-4E96-896C-92F3B28FCE05}"/>
              </a:ext>
            </a:extLst>
          </p:cNvPr>
          <p:cNvGraphicFramePr/>
          <p:nvPr/>
        </p:nvGraphicFramePr>
        <p:xfrm>
          <a:off xmlns:a="http://schemas.openxmlformats.org/drawingml/2006/main" x="533400" y="2057400"/>
          <a:ext xmlns:a="http://schemas.openxmlformats.org/drawingml/2006/main" cx="11125200" cy="2952750"/>
        </p:xfrm>
        <a:graphic xmlns:a="http://schemas.openxmlformats.org/drawingml/2006/main">
          <a:graphicData uri="http://schemas.openxmlformats.org/drawingml/2006/table">
            <a:tbl>
              <a:tblPr/>
              <a:tblGrid>
                <a:gridCol w="3708400"/>
                <a:gridCol w="3708400"/>
                <a:gridCol w="3708400"/>
              </a:tblGrid>
              <a:tr h="590550">
                <a:tc>
                  <a:txBody>
                    <a:bodyPr/>
                    <a:lstStyle/>
                    <a:p>
                      <a:r>
                        <a:rPr sz="1800" b="1">
                          <a:solidFill>
                            <a:srgbClr val="2164CB"/>
                          </a:solidFill>
                          <a:latin typeface="AppleGothic"/>
                          <a:ea typeface="AppleGothic"/>
                          <a:cs typeface="AppleGothic"/>
                        </a:rPr>
                        <a:t>Representation</a:t>
                      </a:r>
                    </a:p>
                  </a:txBody>
                  <a:tcPr marL="114300" marR="114300" marT="95250" marB="95250">
                    <a:lnL w="9525">
                      <a:solidFill>
                        <a:srgbClr val="D7DFEA"/>
                      </a:solidFill>
                      <a:prstDash val="solid"/>
                    </a:lnL>
                    <a:lnR w="9525">
                      <a:solidFill>
                        <a:srgbClr val="D7DFEA"/>
                      </a:solidFill>
                      <a:prstDash val="solid"/>
                    </a:lnR>
                    <a:lnT w="9525">
                      <a:solidFill>
                        <a:srgbClr val="D7DFEA"/>
                      </a:solidFill>
                      <a:prstDash val="solid"/>
                    </a:lnT>
                    <a:lnB w="9525">
                      <a:solidFill>
                        <a:srgbClr val="D7DFEA"/>
                      </a:solidFill>
                      <a:prstDash val="solid"/>
                    </a:lnB>
                    <a:solidFill>
                      <a:srgbClr val="EAF1FC"/>
                    </a:solidFill>
                  </a:tcPr>
                </a:tc>
                <a:tc>
                  <a:txBody>
                    <a:bodyPr/>
                    <a:lstStyle/>
                    <a:p>
                      <a:r>
                        <a:rPr sz="1800" b="1">
                          <a:solidFill>
                            <a:srgbClr val="2164CB"/>
                          </a:solidFill>
                          <a:latin typeface="AppleGothic"/>
                          <a:ea typeface="AppleGothic"/>
                          <a:cs typeface="AppleGothic"/>
                        </a:rPr>
                        <a:t>Input handling</a:t>
                      </a:r>
                    </a:p>
                  </a:txBody>
                  <a:tcPr marL="114300" marR="114300" marT="95250" marB="95250">
                    <a:lnR w="9525">
                      <a:solidFill>
                        <a:srgbClr val="D7DFEA"/>
                      </a:solidFill>
                      <a:prstDash val="solid"/>
                    </a:lnR>
                    <a:lnT w="9525">
                      <a:solidFill>
                        <a:srgbClr val="D7DFEA"/>
                      </a:solidFill>
                      <a:prstDash val="solid"/>
                    </a:lnT>
                    <a:lnB w="9525">
                      <a:solidFill>
                        <a:srgbClr val="D7DFEA"/>
                      </a:solidFill>
                      <a:prstDash val="solid"/>
                    </a:lnB>
                    <a:solidFill>
                      <a:srgbClr val="EAF1FC"/>
                    </a:solidFill>
                  </a:tcPr>
                </a:tc>
                <a:tc>
                  <a:txBody>
                    <a:bodyPr/>
                    <a:lstStyle/>
                    <a:p>
                      <a:r>
                        <a:rPr sz="1800" b="1">
                          <a:solidFill>
                            <a:srgbClr val="2164CB"/>
                          </a:solidFill>
                          <a:latin typeface="AppleGothic"/>
                          <a:ea typeface="AppleGothic"/>
                          <a:cs typeface="AppleGothic"/>
                        </a:rPr>
                        <a:t>What changes</a:t>
                      </a:r>
                    </a:p>
                  </a:txBody>
                  <a:tcPr marL="114300" marR="114300" marT="95250" marB="95250">
                    <a:lnR w="9525">
                      <a:solidFill>
                        <a:srgbClr val="D7DFEA"/>
                      </a:solidFill>
                      <a:prstDash val="solid"/>
                    </a:lnR>
                    <a:lnT w="9525">
                      <a:solidFill>
                        <a:srgbClr val="D7DFEA"/>
                      </a:solidFill>
                      <a:prstDash val="solid"/>
                    </a:lnT>
                    <a:lnB w="9525">
                      <a:solidFill>
                        <a:srgbClr val="D7DFEA"/>
                      </a:solidFill>
                      <a:prstDash val="solid"/>
                    </a:lnB>
                    <a:solidFill>
                      <a:srgbClr val="EAF1FC"/>
                    </a:solidFill>
                  </a:tcPr>
                </a:tc>
              </a:tr>
              <a:tr h="590550">
                <a:tc>
                  <a:txBody>
                    <a:bodyPr/>
                    <a:lstStyle/>
                    <a:p>
                      <a:r>
                        <a:rPr sz="1800">
                          <a:solidFill>
                            <a:srgbClr val="15243B"/>
                          </a:solidFill>
                          <a:latin typeface="AppleGothic"/>
                          <a:ea typeface="AppleGothic"/>
                          <a:cs typeface="AppleGothic"/>
                        </a:rPr>
                        <a:t>Raw points</a:t>
                      </a:r>
                    </a:p>
                  </a:txBody>
                  <a:tcPr marL="114300" marR="114300" marT="95250" marB="95250">
                    <a:lnL w="9525">
                      <a:solidFill>
                        <a:srgbClr val="D7DFEA"/>
                      </a:solidFill>
                      <a:prstDash val="solid"/>
                    </a:lnL>
                    <a:lnR w="9525">
                      <a:solidFill>
                        <a:srgbClr val="D7DFEA"/>
                      </a:solidFill>
                      <a:prstDash val="solid"/>
                    </a:lnR>
                    <a:lnB w="9525">
                      <a:solidFill>
                        <a:srgbClr val="D7DFEA"/>
                      </a:solidFill>
                      <a:prstDash val="solid"/>
                    </a:lnB>
                  </a:tcPr>
                </a:tc>
                <a:tc>
                  <a:txBody>
                    <a:bodyPr/>
                    <a:lstStyle/>
                    <a:p>
                      <a:r>
                        <a:rPr sz="1800">
                          <a:solidFill>
                            <a:srgbClr val="15243B"/>
                          </a:solidFill>
                          <a:latin typeface="AppleGothic"/>
                          <a:ea typeface="AppleGothic"/>
                          <a:cs typeface="AppleGothic"/>
                        </a:rPr>
                        <a:t>N×4: x, y, z, reflectance</a:t>
                      </a:r>
                    </a:p>
                  </a:txBody>
                  <a:tcPr marL="114300" marR="114300" marT="95250" marB="95250">
                    <a:lnR w="9525">
                      <a:solidFill>
                        <a:srgbClr val="D7DFEA"/>
                      </a:solidFill>
                      <a:prstDash val="solid"/>
                    </a:lnR>
                    <a:lnB w="9525">
                      <a:solidFill>
                        <a:srgbClr val="D7DFEA"/>
                      </a:solidFill>
                      <a:prstDash val="solid"/>
                    </a:lnB>
                  </a:tcPr>
                </a:tc>
                <a:tc>
                  <a:txBody>
                    <a:bodyPr/>
                    <a:lstStyle/>
                    <a:p>
                      <a:r>
                        <a:rPr sz="1800">
                          <a:solidFill>
                            <a:srgbClr val="15243B"/>
                          </a:solidFill>
                          <a:latin typeface="AppleGothic"/>
                          <a:ea typeface="AppleGothic"/>
                          <a:cs typeface="AppleGothic"/>
                        </a:rPr>
                        <a:t>행 순서가 바뀌어도 같은 점 집합</a:t>
                      </a:r>
                    </a:p>
                  </a:txBody>
                  <a:tcPr marL="114300" marR="114300" marT="95250" marB="95250">
                    <a:lnR w="9525">
                      <a:solidFill>
                        <a:srgbClr val="D7DFEA"/>
                      </a:solidFill>
                      <a:prstDash val="solid"/>
                    </a:lnR>
                    <a:lnB w="9525">
                      <a:solidFill>
                        <a:srgbClr val="D7DFEA"/>
                      </a:solidFill>
                      <a:prstDash val="solid"/>
                    </a:lnB>
                  </a:tcPr>
                </a:tc>
              </a:tr>
              <a:tr h="590550">
                <a:tc>
                  <a:txBody>
                    <a:bodyPr/>
                    <a:lstStyle/>
                    <a:p>
                      <a:r>
                        <a:rPr sz="1800">
                          <a:solidFill>
                            <a:srgbClr val="15243B"/>
                          </a:solidFill>
                          <a:latin typeface="AppleGothic"/>
                          <a:ea typeface="AppleGothic"/>
                          <a:cs typeface="AppleGothic"/>
                        </a:rPr>
                        <a:t>PIXOR-style BEV</a:t>
                      </a:r>
                    </a:p>
                  </a:txBody>
                  <a:tcPr marL="114300" marR="114300" marT="95250" marB="95250">
                    <a:lnL w="9525">
                      <a:solidFill>
                        <a:srgbClr val="D7DFEA"/>
                      </a:solidFill>
                      <a:prstDash val="solid"/>
                    </a:lnL>
                    <a:lnR w="9525">
                      <a:solidFill>
                        <a:srgbClr val="D7DFEA"/>
                      </a:solidFill>
                      <a:prstDash val="solid"/>
                    </a:lnR>
                    <a:lnB w="9525">
                      <a:solidFill>
                        <a:srgbClr val="D7DFEA"/>
                      </a:solidFill>
                      <a:prstDash val="solid"/>
                    </a:lnB>
                  </a:tcPr>
                </a:tc>
                <a:tc>
                  <a:txBody>
                    <a:bodyPr/>
                    <a:lstStyle/>
                    <a:p>
                      <a:r>
                        <a:rPr sz="1800">
                          <a:solidFill>
                            <a:srgbClr val="15243B"/>
                          </a:solidFill>
                          <a:latin typeface="AppleGothic"/>
                          <a:ea typeface="AppleGothic"/>
                          <a:cs typeface="AppleGothic"/>
                        </a:rPr>
                        <a:t>height별 occupancy channel</a:t>
                      </a:r>
                    </a:p>
                  </a:txBody>
                  <a:tcPr marL="114300" marR="114300" marT="95250" marB="95250">
                    <a:lnR w="9525">
                      <a:solidFill>
                        <a:srgbClr val="D7DFEA"/>
                      </a:solidFill>
                      <a:prstDash val="solid"/>
                    </a:lnR>
                    <a:lnB w="9525">
                      <a:solidFill>
                        <a:srgbClr val="D7DFEA"/>
                      </a:solidFill>
                      <a:prstDash val="solid"/>
                    </a:lnB>
                  </a:tcPr>
                </a:tc>
                <a:tc>
                  <a:txBody>
                    <a:bodyPr/>
                    <a:lstStyle/>
                    <a:p>
                      <a:r>
                        <a:rPr sz="1800">
                          <a:solidFill>
                            <a:srgbClr val="15243B"/>
                          </a:solidFill>
                          <a:latin typeface="AppleGothic"/>
                          <a:ea typeface="AppleGothic"/>
                          <a:cs typeface="AppleGothic"/>
                        </a:rPr>
                        <a:t>3D 위치를 2D grid로 요약</a:t>
                      </a:r>
                    </a:p>
                  </a:txBody>
                  <a:tcPr marL="114300" marR="114300" marT="95250" marB="95250">
                    <a:lnR w="9525">
                      <a:solidFill>
                        <a:srgbClr val="D7DFEA"/>
                      </a:solidFill>
                      <a:prstDash val="solid"/>
                    </a:lnR>
                    <a:lnB w="9525">
                      <a:solidFill>
                        <a:srgbClr val="D7DFEA"/>
                      </a:solidFill>
                      <a:prstDash val="solid"/>
                    </a:lnB>
                  </a:tcPr>
                </a:tc>
              </a:tr>
              <a:tr h="590550">
                <a:tc>
                  <a:txBody>
                    <a:bodyPr/>
                    <a:lstStyle/>
                    <a:p>
                      <a:r>
                        <a:rPr sz="1800">
                          <a:solidFill>
                            <a:srgbClr val="15243B"/>
                          </a:solidFill>
                          <a:latin typeface="AppleGothic"/>
                          <a:ea typeface="AppleGothic"/>
                          <a:cs typeface="AppleGothic"/>
                        </a:rPr>
                        <a:t>VoxelNet-style</a:t>
                      </a:r>
                    </a:p>
                  </a:txBody>
                  <a:tcPr marL="114300" marR="114300" marT="95250" marB="95250">
                    <a:lnL w="9525">
                      <a:solidFill>
                        <a:srgbClr val="D7DFEA"/>
                      </a:solidFill>
                      <a:prstDash val="solid"/>
                    </a:lnL>
                    <a:lnR w="9525">
                      <a:solidFill>
                        <a:srgbClr val="D7DFEA"/>
                      </a:solidFill>
                      <a:prstDash val="solid"/>
                    </a:lnR>
                    <a:lnB w="9525">
                      <a:solidFill>
                        <a:srgbClr val="D7DFEA"/>
                      </a:solidFill>
                      <a:prstDash val="solid"/>
                    </a:lnB>
                  </a:tcPr>
                </a:tc>
                <a:tc>
                  <a:txBody>
                    <a:bodyPr/>
                    <a:lstStyle/>
                    <a:p>
                      <a:r>
                        <a:rPr sz="1800">
                          <a:solidFill>
                            <a:srgbClr val="15243B"/>
                          </a:solidFill>
                          <a:latin typeface="AppleGothic"/>
                          <a:ea typeface="AppleGothic"/>
                          <a:cs typeface="AppleGothic"/>
                        </a:rPr>
                        <a:t>voxel 안의 특징을 학습</a:t>
                      </a:r>
                    </a:p>
                  </a:txBody>
                  <a:tcPr marL="114300" marR="114300" marT="95250" marB="95250">
                    <a:lnR w="9525">
                      <a:solidFill>
                        <a:srgbClr val="D7DFEA"/>
                      </a:solidFill>
                      <a:prstDash val="solid"/>
                    </a:lnR>
                    <a:lnB w="9525">
                      <a:solidFill>
                        <a:srgbClr val="D7DFEA"/>
                      </a:solidFill>
                      <a:prstDash val="solid"/>
                    </a:lnB>
                  </a:tcPr>
                </a:tc>
                <a:tc>
                  <a:txBody>
                    <a:bodyPr/>
                    <a:lstStyle/>
                    <a:p>
                      <a:r>
                        <a:rPr sz="1800">
                          <a:solidFill>
                            <a:srgbClr val="15243B"/>
                          </a:solidFill>
                          <a:latin typeface="AppleGothic"/>
                          <a:ea typeface="AppleGothic"/>
                          <a:cs typeface="AppleGothic"/>
                        </a:rPr>
                        <a:t>불규칙 점 → 3D grid feature</a:t>
                      </a:r>
                    </a:p>
                  </a:txBody>
                  <a:tcPr marL="114300" marR="114300" marT="95250" marB="95250">
                    <a:lnR w="9525">
                      <a:solidFill>
                        <a:srgbClr val="D7DFEA"/>
                      </a:solidFill>
                      <a:prstDash val="solid"/>
                    </a:lnR>
                    <a:lnB w="9525">
                      <a:solidFill>
                        <a:srgbClr val="D7DFEA"/>
                      </a:solidFill>
                      <a:prstDash val="solid"/>
                    </a:lnB>
                  </a:tcPr>
                </a:tc>
              </a:tr>
              <a:tr h="590550">
                <a:tc>
                  <a:txBody>
                    <a:bodyPr/>
                    <a:lstStyle/>
                    <a:p>
                      <a:r>
                        <a:rPr sz="1800">
                          <a:solidFill>
                            <a:srgbClr val="15243B"/>
                          </a:solidFill>
                          <a:latin typeface="AppleGothic"/>
                          <a:ea typeface="AppleGothic"/>
                          <a:cs typeface="AppleGothic"/>
                        </a:rPr>
                        <a:t>PointRCNN-style</a:t>
                      </a:r>
                    </a:p>
                  </a:txBody>
                  <a:tcPr marL="114300" marR="114300" marT="95250" marB="95250">
                    <a:lnL w="9525">
                      <a:solidFill>
                        <a:srgbClr val="D7DFEA"/>
                      </a:solidFill>
                      <a:prstDash val="solid"/>
                    </a:lnL>
                    <a:lnR w="9525">
                      <a:solidFill>
                        <a:srgbClr val="D7DFEA"/>
                      </a:solidFill>
                      <a:prstDash val="solid"/>
                    </a:lnR>
                    <a:lnB w="9525">
                      <a:solidFill>
                        <a:srgbClr val="D7DFEA"/>
                      </a:solidFill>
                      <a:prstDash val="solid"/>
                    </a:lnB>
                  </a:tcPr>
                </a:tc>
                <a:tc>
                  <a:txBody>
                    <a:bodyPr/>
                    <a:lstStyle/>
                    <a:p>
                      <a:r>
                        <a:rPr sz="1800">
                          <a:solidFill>
                            <a:srgbClr val="15243B"/>
                          </a:solidFill>
                          <a:latin typeface="AppleGothic"/>
                          <a:ea typeface="AppleGothic"/>
                          <a:cs typeface="AppleGothic"/>
                        </a:rPr>
                        <a:t>raw point에서 후보 생성</a:t>
                      </a:r>
                    </a:p>
                  </a:txBody>
                  <a:tcPr marL="114300" marR="114300" marT="95250" marB="95250">
                    <a:lnR w="9525">
                      <a:solidFill>
                        <a:srgbClr val="D7DFEA"/>
                      </a:solidFill>
                      <a:prstDash val="solid"/>
                    </a:lnR>
                    <a:lnB w="9525">
                      <a:solidFill>
                        <a:srgbClr val="D7DFEA"/>
                      </a:solidFill>
                      <a:prstDash val="solid"/>
                    </a:lnB>
                  </a:tcPr>
                </a:tc>
                <a:tc>
                  <a:txBody>
                    <a:bodyPr/>
                    <a:lstStyle/>
                    <a:p>
                      <a:r>
                        <a:rPr sz="1800">
                          <a:solidFill>
                            <a:srgbClr val="15243B"/>
                          </a:solidFill>
                          <a:latin typeface="AppleGothic"/>
                          <a:ea typeface="AppleGothic"/>
                          <a:cs typeface="AppleGothic"/>
                        </a:rPr>
                        <a:t>점 단위 구조를 직접 처리</a:t>
                      </a:r>
                    </a:p>
                  </a:txBody>
                  <a:tcPr marL="114300" marR="114300" marT="95250" marB="95250">
                    <a:lnR w="9525">
                      <a:solidFill>
                        <a:srgbClr val="D7DFEA"/>
                      </a:solidFill>
                      <a:prstDash val="solid"/>
                    </a:lnR>
                    <a:lnB w="9525">
                      <a:solidFill>
                        <a:srgbClr val="D7DFEA"/>
                      </a:solidFill>
                      <a:prstDash val="solid"/>
                    </a:lnB>
                  </a:tcPr>
                </a:tc>
              </a:tr>
            </a:tbl>
          </a:graphicData>
        </a:graphic>
      </p:graphicFrame>
      <p:sp>
        <p:nvSpPr>
          <p:cNvPr id="4" name="">
            <a:extLst xmlns:a="http://schemas.openxmlformats.org/drawingml/2006/main">
              <a:ext uri="{FF2B5EF4-FFF2-40B4-BE49-F238E27FC236}">
                <a16:creationId xmlns:a16="http://schemas.microsoft.com/office/drawing/2014/main" id="{9B9A031C-CEB9-4014-87C0-C14F5F822C18}"/>
              </a:ext>
            </a:extLst>
          </p:cNvPr>
          <p:cNvSpPr>
            <a:spLocks xmlns:a="http://schemas.openxmlformats.org/drawingml/2006/main" noGrp="1"/>
          </p:cNvSpPr>
          <p:nvPr/>
        </p:nvSpPr>
        <p:spPr>
          <a:xfrm xmlns:a="http://schemas.openxmlformats.org/drawingml/2006/main">
            <a:off x="533400" y="5391150"/>
            <a:ext cx="11125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15243B"/>
                </a:solidFill>
                <a:latin typeface="AppleGothic"/>
                <a:ea typeface="AppleGothic"/>
                <a:cs typeface="AppleGothic"/>
              </a:defRPr>
            </a:defPPr>
            <a:lvl1pPr>
              <a:defRPr sz="1800" b="0">
                <a:solidFill>
                  <a:srgbClr val="15243B"/>
                </a:solidFill>
                <a:latin typeface="AppleGothic"/>
                <a:ea typeface="AppleGothic"/>
                <a:cs typeface="AppleGothic"/>
              </a:defRPr>
            </a:lvl1pPr>
            <a:lvl2pPr>
              <a:defRPr sz="1800" b="0">
                <a:solidFill>
                  <a:srgbClr val="15243B"/>
                </a:solidFill>
                <a:latin typeface="AppleGothic"/>
                <a:ea typeface="AppleGothic"/>
                <a:cs typeface="AppleGothic"/>
              </a:defRPr>
            </a:lvl2pPr>
            <a:lvl3pPr>
              <a:defRPr sz="1800" b="0">
                <a:solidFill>
                  <a:srgbClr val="15243B"/>
                </a:solidFill>
                <a:latin typeface="AppleGothic"/>
                <a:ea typeface="AppleGothic"/>
                <a:cs typeface="AppleGothic"/>
              </a:defRPr>
            </a:lvl3pPr>
            <a:lvl4pPr>
              <a:defRPr sz="1800" b="0">
                <a:solidFill>
                  <a:srgbClr val="15243B"/>
                </a:solidFill>
                <a:latin typeface="AppleGothic"/>
                <a:ea typeface="AppleGothic"/>
                <a:cs typeface="AppleGothic"/>
              </a:defRPr>
            </a:lvl4pPr>
            <a:lvl5pPr>
              <a:defRPr sz="1800" b="0">
                <a:solidFill>
                  <a:srgbClr val="15243B"/>
                </a:solidFill>
                <a:latin typeface="AppleGothic"/>
                <a:ea typeface="AppleGothic"/>
                <a:cs typeface="AppleGothic"/>
              </a:defRPr>
            </a:lvl5pPr>
            <a:lvl6pPr>
              <a:defRPr sz="1800" b="0">
                <a:solidFill>
                  <a:srgbClr val="15243B"/>
                </a:solidFill>
                <a:latin typeface="AppleGothic"/>
                <a:ea typeface="AppleGothic"/>
                <a:cs typeface="AppleGothic"/>
              </a:defRPr>
            </a:lvl6pPr>
            <a:lvl7pPr>
              <a:defRPr sz="1800" b="0">
                <a:solidFill>
                  <a:srgbClr val="15243B"/>
                </a:solidFill>
                <a:latin typeface="AppleGothic"/>
                <a:ea typeface="AppleGothic"/>
                <a:cs typeface="AppleGothic"/>
              </a:defRPr>
            </a:lvl7pPr>
            <a:lvl8pPr>
              <a:defRPr sz="1800" b="0">
                <a:solidFill>
                  <a:srgbClr val="15243B"/>
                </a:solidFill>
                <a:latin typeface="AppleGothic"/>
                <a:ea typeface="AppleGothic"/>
                <a:cs typeface="AppleGothic"/>
              </a:defRPr>
            </a:lvl8pPr>
            <a:lvl9pPr>
              <a:defRPr sz="1800" b="0">
                <a:solidFill>
                  <a:srgbClr val="15243B"/>
                </a:solidFill>
                <a:latin typeface="AppleGothic"/>
                <a:ea typeface="AppleGothic"/>
                <a:cs typeface="AppleGothic"/>
              </a:defRPr>
            </a:lvl9pPr>
          </a:lstStyle>
          <a:p xmlns:a="http://schemas.openxmlformats.org/drawingml/2006/main">
            <a:pPr>
              <a:defRPr sz="1800" b="0">
                <a:solidFill>
                  <a:srgbClr val="15243B"/>
                </a:solidFill>
                <a:latin typeface="AppleGothic"/>
                <a:ea typeface="AppleGothic"/>
                <a:cs typeface="AppleGothic"/>
              </a:defRPr>
            </a:pPr>
            <a:r>
              <a:rPr sz="1800" b="0">
                <a:solidFill>
                  <a:srgbClr val="15243B"/>
                </a:solidFill>
                <a:latin typeface="AppleGothic"/>
                <a:ea typeface="AppleGothic"/>
                <a:cs typeface="AppleGothic"/>
              </a:rPr>
              <a:t>저장된 KITTI frame은 (17,238, 4)다. 다른 frame도 N이 같을 필요는 없다.</a:t>
            </a:r>
          </a:p>
          <a:p xmlns:a="http://schemas.openxmlformats.org/drawingml/2006/main">
            <a:pPr>
              <a:defRPr sz="1800" b="0">
                <a:solidFill>
                  <a:srgbClr val="15243B"/>
                </a:solidFill>
                <a:latin typeface="AppleGothic"/>
                <a:ea typeface="AppleGothic"/>
                <a:cs typeface="AppleGothic"/>
              </a:defRPr>
            </a:pPr>
            <a:r>
              <a:rPr sz="1800" b="0">
                <a:solidFill>
                  <a:srgbClr val="15243B"/>
                </a:solidFill>
                <a:latin typeface="AppleGothic"/>
                <a:ea typeface="AppleGothic"/>
                <a:cs typeface="AppleGothic"/>
              </a:rPr>
              <a:t>Point 좌표를 바꾸는 것과 행 순서를 섞는 것은 다르다.</a:t>
            </a:r>
          </a:p>
        </p:txBody>
      </p:sp>
      <p:sp>
        <p:nvSpPr>
          <p:cNvPr id="5" name="">
            <a:extLst xmlns:a="http://schemas.openxmlformats.org/drawingml/2006/main">
              <a:ext uri="{FF2B5EF4-FFF2-40B4-BE49-F238E27FC236}">
                <a16:creationId xmlns:a16="http://schemas.microsoft.com/office/drawing/2014/main" id="{06D9FEDD-442C-4947-8F86-4EEDBFCED9D6}"/>
              </a:ext>
            </a:extLst>
          </p:cNvPr>
          <p:cNvSpPr>
            <a:spLocks xmlns:a="http://schemas.openxmlformats.org/drawingml/2006/main" noGrp="1"/>
          </p:cNvSpPr>
          <p:nvPr/>
        </p:nvSpPr>
        <p:spPr>
          <a:xfrm xmlns:a="http://schemas.openxmlformats.org/drawingml/2006/main">
            <a:off x="11144250" y="6400800"/>
            <a:ext cx="5143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62748C"/>
                </a:solidFill>
                <a:latin typeface="AppleGothic"/>
                <a:ea typeface="AppleGothic"/>
                <a:cs typeface="AppleGothic"/>
              </a:defRPr>
            </a:defPPr>
            <a:lvl1pPr>
              <a:defRPr sz="1350" b="0">
                <a:solidFill>
                  <a:srgbClr val="62748C"/>
                </a:solidFill>
                <a:latin typeface="AppleGothic"/>
                <a:ea typeface="AppleGothic"/>
                <a:cs typeface="AppleGothic"/>
              </a:defRPr>
            </a:lvl1pPr>
            <a:lvl2pPr>
              <a:defRPr sz="1350" b="0">
                <a:solidFill>
                  <a:srgbClr val="62748C"/>
                </a:solidFill>
                <a:latin typeface="AppleGothic"/>
                <a:ea typeface="AppleGothic"/>
                <a:cs typeface="AppleGothic"/>
              </a:defRPr>
            </a:lvl2pPr>
            <a:lvl3pPr>
              <a:defRPr sz="1350" b="0">
                <a:solidFill>
                  <a:srgbClr val="62748C"/>
                </a:solidFill>
                <a:latin typeface="AppleGothic"/>
                <a:ea typeface="AppleGothic"/>
                <a:cs typeface="AppleGothic"/>
              </a:defRPr>
            </a:lvl3pPr>
            <a:lvl4pPr>
              <a:defRPr sz="1350" b="0">
                <a:solidFill>
                  <a:srgbClr val="62748C"/>
                </a:solidFill>
                <a:latin typeface="AppleGothic"/>
                <a:ea typeface="AppleGothic"/>
                <a:cs typeface="AppleGothic"/>
              </a:defRPr>
            </a:lvl4pPr>
            <a:lvl5pPr>
              <a:defRPr sz="1350" b="0">
                <a:solidFill>
                  <a:srgbClr val="62748C"/>
                </a:solidFill>
                <a:latin typeface="AppleGothic"/>
                <a:ea typeface="AppleGothic"/>
                <a:cs typeface="AppleGothic"/>
              </a:defRPr>
            </a:lvl5pPr>
            <a:lvl6pPr>
              <a:defRPr sz="1350" b="0">
                <a:solidFill>
                  <a:srgbClr val="62748C"/>
                </a:solidFill>
                <a:latin typeface="AppleGothic"/>
                <a:ea typeface="AppleGothic"/>
                <a:cs typeface="AppleGothic"/>
              </a:defRPr>
            </a:lvl6pPr>
            <a:lvl7pPr>
              <a:defRPr sz="1350" b="0">
                <a:solidFill>
                  <a:srgbClr val="62748C"/>
                </a:solidFill>
                <a:latin typeface="AppleGothic"/>
                <a:ea typeface="AppleGothic"/>
                <a:cs typeface="AppleGothic"/>
              </a:defRPr>
            </a:lvl7pPr>
            <a:lvl8pPr>
              <a:defRPr sz="1350" b="0">
                <a:solidFill>
                  <a:srgbClr val="62748C"/>
                </a:solidFill>
                <a:latin typeface="AppleGothic"/>
                <a:ea typeface="AppleGothic"/>
                <a:cs typeface="AppleGothic"/>
              </a:defRPr>
            </a:lvl8pPr>
            <a:lvl9pPr>
              <a:defRPr sz="1350" b="0">
                <a:solidFill>
                  <a:srgbClr val="62748C"/>
                </a:solidFill>
                <a:latin typeface="AppleGothic"/>
                <a:ea typeface="AppleGothic"/>
                <a:cs typeface="AppleGothic"/>
              </a:defRPr>
            </a:lvl9pPr>
          </a:lstStyle>
          <a:p xmlns:a="http://schemas.openxmlformats.org/drawingml/2006/main">
            <a:pPr>
              <a:defRPr sz="1350" b="0">
                <a:solidFill>
                  <a:srgbClr val="62748C"/>
                </a:solidFill>
                <a:latin typeface="AppleGothic"/>
                <a:ea typeface="AppleGothic"/>
                <a:cs typeface="AppleGothic"/>
              </a:defRPr>
            </a:pPr>
            <a:r>
              <a:rPr sz="1350" b="0">
                <a:solidFill>
                  <a:srgbClr val="62748C"/>
                </a:solidFill>
                <a:latin typeface="AppleGothic"/>
                <a:ea typeface="AppleGothic"/>
                <a:cs typeface="AppleGothic"/>
              </a:rPr>
              <a:t>31</a:t>
            </a:r>
          </a:p>
        </p:txBody>
      </p:sp>
    </p:spTree>
    <p:extLst>
      <p:ext uri="{BB962C8B-B14F-4D97-AF65-F5344CB8AC3E}">
        <p14:creationId xmlns:p14="http://schemas.microsoft.com/office/powerpoint/2010/main" val="1922439895"/>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8E001613-CE89-4529-950E-2CCBD7BA8351}"/>
              </a:ext>
            </a:extLst>
          </p:cNvPr>
          <p:cNvSpPr>
            <a:spLocks xmlns:a="http://schemas.openxmlformats.org/drawingml/2006/main" noGrp="1"/>
          </p:cNvSpPr>
          <p:nvPr/>
        </p:nvSpPr>
        <p:spPr>
          <a:xfrm xmlns:a="http://schemas.openxmlformats.org/drawingml/2006/main">
            <a:off x="533400" y="342900"/>
            <a:ext cx="111252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150" b="1">
                <a:solidFill>
                  <a:srgbClr val="15243B"/>
                </a:solidFill>
                <a:latin typeface="AppleGothic"/>
                <a:ea typeface="AppleGothic"/>
                <a:cs typeface="AppleGothic"/>
              </a:defRPr>
            </a:defPPr>
            <a:lvl1pPr>
              <a:defRPr sz="3150" b="1">
                <a:solidFill>
                  <a:srgbClr val="15243B"/>
                </a:solidFill>
                <a:latin typeface="AppleGothic"/>
                <a:ea typeface="AppleGothic"/>
                <a:cs typeface="AppleGothic"/>
              </a:defRPr>
            </a:lvl1pPr>
            <a:lvl2pPr>
              <a:defRPr sz="3150" b="1">
                <a:solidFill>
                  <a:srgbClr val="15243B"/>
                </a:solidFill>
                <a:latin typeface="AppleGothic"/>
                <a:ea typeface="AppleGothic"/>
                <a:cs typeface="AppleGothic"/>
              </a:defRPr>
            </a:lvl2pPr>
            <a:lvl3pPr>
              <a:defRPr sz="3150" b="1">
                <a:solidFill>
                  <a:srgbClr val="15243B"/>
                </a:solidFill>
                <a:latin typeface="AppleGothic"/>
                <a:ea typeface="AppleGothic"/>
                <a:cs typeface="AppleGothic"/>
              </a:defRPr>
            </a:lvl3pPr>
            <a:lvl4pPr>
              <a:defRPr sz="3150" b="1">
                <a:solidFill>
                  <a:srgbClr val="15243B"/>
                </a:solidFill>
                <a:latin typeface="AppleGothic"/>
                <a:ea typeface="AppleGothic"/>
                <a:cs typeface="AppleGothic"/>
              </a:defRPr>
            </a:lvl4pPr>
            <a:lvl5pPr>
              <a:defRPr sz="3150" b="1">
                <a:solidFill>
                  <a:srgbClr val="15243B"/>
                </a:solidFill>
                <a:latin typeface="AppleGothic"/>
                <a:ea typeface="AppleGothic"/>
                <a:cs typeface="AppleGothic"/>
              </a:defRPr>
            </a:lvl5pPr>
            <a:lvl6pPr>
              <a:defRPr sz="3150" b="1">
                <a:solidFill>
                  <a:srgbClr val="15243B"/>
                </a:solidFill>
                <a:latin typeface="AppleGothic"/>
                <a:ea typeface="AppleGothic"/>
                <a:cs typeface="AppleGothic"/>
              </a:defRPr>
            </a:lvl6pPr>
            <a:lvl7pPr>
              <a:defRPr sz="3150" b="1">
                <a:solidFill>
                  <a:srgbClr val="15243B"/>
                </a:solidFill>
                <a:latin typeface="AppleGothic"/>
                <a:ea typeface="AppleGothic"/>
                <a:cs typeface="AppleGothic"/>
              </a:defRPr>
            </a:lvl7pPr>
            <a:lvl8pPr>
              <a:defRPr sz="3150" b="1">
                <a:solidFill>
                  <a:srgbClr val="15243B"/>
                </a:solidFill>
                <a:latin typeface="AppleGothic"/>
                <a:ea typeface="AppleGothic"/>
                <a:cs typeface="AppleGothic"/>
              </a:defRPr>
            </a:lvl8pPr>
            <a:lvl9pPr>
              <a:defRPr sz="3150" b="1">
                <a:solidFill>
                  <a:srgbClr val="15243B"/>
                </a:solidFill>
                <a:latin typeface="AppleGothic"/>
                <a:ea typeface="AppleGothic"/>
                <a:cs typeface="AppleGothic"/>
              </a:defRPr>
            </a:lvl9pPr>
          </a:lstStyle>
          <a:p xmlns:a="http://schemas.openxmlformats.org/drawingml/2006/main">
            <a:pPr>
              <a:defRPr sz="3150" b="1">
                <a:solidFill>
                  <a:srgbClr val="15243B"/>
                </a:solidFill>
                <a:latin typeface="AppleGothic"/>
                <a:ea typeface="AppleGothic"/>
                <a:cs typeface="AppleGothic"/>
              </a:defRPr>
            </a:pPr>
            <a:r>
              <a:rPr sz="3150" b="1">
                <a:solidFill>
                  <a:srgbClr val="15243B"/>
                </a:solidFill>
                <a:latin typeface="AppleGothic"/>
                <a:ea typeface="AppleGothic"/>
                <a:cs typeface="AppleGothic"/>
              </a:rPr>
              <a:t>PIXOR Height Slices</a:t>
            </a:r>
          </a:p>
        </p:txBody>
      </p:sp>
      <p:sp>
        <p:nvSpPr>
          <p:cNvPr id="2" name="">
            <a:extLst xmlns:a="http://schemas.openxmlformats.org/drawingml/2006/main">
              <a:ext uri="{FF2B5EF4-FFF2-40B4-BE49-F238E27FC236}">
                <a16:creationId xmlns:a16="http://schemas.microsoft.com/office/drawing/2014/main" id="{12C3F06E-3911-44B7-A455-961A255D5175}"/>
              </a:ext>
            </a:extLst>
          </p:cNvPr>
          <p:cNvSpPr>
            <a:spLocks xmlns:a="http://schemas.openxmlformats.org/drawingml/2006/main" noGrp="1"/>
          </p:cNvSpPr>
          <p:nvPr/>
        </p:nvSpPr>
        <p:spPr>
          <a:xfrm xmlns:a="http://schemas.openxmlformats.org/drawingml/2006/main">
            <a:off x="533400" y="1066800"/>
            <a:ext cx="111252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1">
                <a:solidFill>
                  <a:srgbClr val="2164CB"/>
                </a:solidFill>
                <a:latin typeface="AppleGothic"/>
                <a:ea typeface="AppleGothic"/>
                <a:cs typeface="AppleGothic"/>
              </a:defRPr>
            </a:defPPr>
            <a:lvl1pPr>
              <a:defRPr sz="2175" b="1">
                <a:solidFill>
                  <a:srgbClr val="2164CB"/>
                </a:solidFill>
                <a:latin typeface="AppleGothic"/>
                <a:ea typeface="AppleGothic"/>
                <a:cs typeface="AppleGothic"/>
              </a:defRPr>
            </a:lvl1pPr>
            <a:lvl2pPr>
              <a:defRPr sz="2175" b="1">
                <a:solidFill>
                  <a:srgbClr val="2164CB"/>
                </a:solidFill>
                <a:latin typeface="AppleGothic"/>
                <a:ea typeface="AppleGothic"/>
                <a:cs typeface="AppleGothic"/>
              </a:defRPr>
            </a:lvl2pPr>
            <a:lvl3pPr>
              <a:defRPr sz="2175" b="1">
                <a:solidFill>
                  <a:srgbClr val="2164CB"/>
                </a:solidFill>
                <a:latin typeface="AppleGothic"/>
                <a:ea typeface="AppleGothic"/>
                <a:cs typeface="AppleGothic"/>
              </a:defRPr>
            </a:lvl3pPr>
            <a:lvl4pPr>
              <a:defRPr sz="2175" b="1">
                <a:solidFill>
                  <a:srgbClr val="2164CB"/>
                </a:solidFill>
                <a:latin typeface="AppleGothic"/>
                <a:ea typeface="AppleGothic"/>
                <a:cs typeface="AppleGothic"/>
              </a:defRPr>
            </a:lvl4pPr>
            <a:lvl5pPr>
              <a:defRPr sz="2175" b="1">
                <a:solidFill>
                  <a:srgbClr val="2164CB"/>
                </a:solidFill>
                <a:latin typeface="AppleGothic"/>
                <a:ea typeface="AppleGothic"/>
                <a:cs typeface="AppleGothic"/>
              </a:defRPr>
            </a:lvl5pPr>
            <a:lvl6pPr>
              <a:defRPr sz="2175" b="1">
                <a:solidFill>
                  <a:srgbClr val="2164CB"/>
                </a:solidFill>
                <a:latin typeface="AppleGothic"/>
                <a:ea typeface="AppleGothic"/>
                <a:cs typeface="AppleGothic"/>
              </a:defRPr>
            </a:lvl6pPr>
            <a:lvl7pPr>
              <a:defRPr sz="2175" b="1">
                <a:solidFill>
                  <a:srgbClr val="2164CB"/>
                </a:solidFill>
                <a:latin typeface="AppleGothic"/>
                <a:ea typeface="AppleGothic"/>
                <a:cs typeface="AppleGothic"/>
              </a:defRPr>
            </a:lvl7pPr>
            <a:lvl8pPr>
              <a:defRPr sz="2175" b="1">
                <a:solidFill>
                  <a:srgbClr val="2164CB"/>
                </a:solidFill>
                <a:latin typeface="AppleGothic"/>
                <a:ea typeface="AppleGothic"/>
                <a:cs typeface="AppleGothic"/>
              </a:defRPr>
            </a:lvl8pPr>
            <a:lvl9pPr>
              <a:defRPr sz="2175" b="1">
                <a:solidFill>
                  <a:srgbClr val="2164CB"/>
                </a:solidFill>
                <a:latin typeface="AppleGothic"/>
                <a:ea typeface="AppleGothic"/>
                <a:cs typeface="AppleGothic"/>
              </a:defRPr>
            </a:lvl9pPr>
          </a:lstStyle>
          <a:p xmlns:a="http://schemas.openxmlformats.org/drawingml/2006/main">
            <a:pPr>
              <a:defRPr sz="2175" b="1">
                <a:solidFill>
                  <a:srgbClr val="2164CB"/>
                </a:solidFill>
                <a:latin typeface="AppleGothic"/>
                <a:ea typeface="AppleGothic"/>
                <a:cs typeface="AppleGothic"/>
              </a:defRPr>
            </a:pPr>
            <a:r>
              <a:rPr sz="2175" b="1">
                <a:solidFill>
                  <a:srgbClr val="2164CB"/>
                </a:solidFill>
                <a:latin typeface="AppleGothic"/>
                <a:ea typeface="AppleGothic"/>
                <a:cs typeface="AppleGothic"/>
              </a:rPr>
              <a:t>Height channel은 같은 BEV 위치에서 도로와 차량이 어느 높이를 차지하는지 구분한다</a:t>
            </a:r>
          </a:p>
        </p:txBody>
      </p:sp>
      <p:pic>
        <p:nvPicPr>
          <p:cNvPr id="3" name="">
            <a:extLst xmlns:a="http://schemas.openxmlformats.org/drawingml/2006/main">
              <a:ext uri="{FF2B5EF4-FFF2-40B4-BE49-F238E27FC236}">
                <a16:creationId xmlns:a16="http://schemas.microsoft.com/office/drawing/2014/main" id="{FCA6B6A9-B94E-4AF7-BD06-6E74D987FBFA}"/>
              </a:ext>
            </a:extLst>
          </p:cNvPr>
          <p:cNvPicPr>
            <a:picLocks xmlns:a="http://schemas.openxmlformats.org/drawingml/2006/main" noChangeAspect="1"/>
          </p:cNvPicPr>
          <p:nvPr/>
        </p:nvPicPr>
        <p:blipFill>
          <a:blip xmlns:r="http://schemas.openxmlformats.org/officeDocument/2006/relationships" xmlns:a="http://schemas.openxmlformats.org/drawingml/2006/main" r:embed="R23134085002347ba"/>
          <a:stretch xmlns:a="http://schemas.openxmlformats.org/drawingml/2006/main"/>
        </p:blipFill>
        <p:spPr>
          <a:xfrm xmlns:a="http://schemas.openxmlformats.org/drawingml/2006/main">
            <a:off x="533400" y="2237547"/>
            <a:ext cx="7143750" cy="3354457"/>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E4F18CF0-0D2C-413F-B15F-0D4922F8706F}"/>
              </a:ext>
            </a:extLst>
          </p:cNvPr>
          <p:cNvSpPr>
            <a:spLocks xmlns:a="http://schemas.openxmlformats.org/drawingml/2006/main" noGrp="1"/>
          </p:cNvSpPr>
          <p:nvPr/>
        </p:nvSpPr>
        <p:spPr>
          <a:xfrm xmlns:a="http://schemas.openxmlformats.org/drawingml/2006/main">
            <a:off x="7981950" y="2114550"/>
            <a:ext cx="3676650" cy="3667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75" b="0">
                <a:solidFill>
                  <a:srgbClr val="15243B"/>
                </a:solidFill>
                <a:latin typeface="AppleGothic"/>
                <a:ea typeface="AppleGothic"/>
                <a:cs typeface="AppleGothic"/>
              </a:defRPr>
            </a:defPPr>
            <a:lvl1pPr>
              <a:defRPr sz="1875" b="0">
                <a:solidFill>
                  <a:srgbClr val="15243B"/>
                </a:solidFill>
                <a:latin typeface="AppleGothic"/>
                <a:ea typeface="AppleGothic"/>
                <a:cs typeface="AppleGothic"/>
              </a:defRPr>
            </a:lvl1pPr>
            <a:lvl2pPr>
              <a:defRPr sz="1875" b="0">
                <a:solidFill>
                  <a:srgbClr val="15243B"/>
                </a:solidFill>
                <a:latin typeface="AppleGothic"/>
                <a:ea typeface="AppleGothic"/>
                <a:cs typeface="AppleGothic"/>
              </a:defRPr>
            </a:lvl2pPr>
            <a:lvl3pPr>
              <a:defRPr sz="1875" b="0">
                <a:solidFill>
                  <a:srgbClr val="15243B"/>
                </a:solidFill>
                <a:latin typeface="AppleGothic"/>
                <a:ea typeface="AppleGothic"/>
                <a:cs typeface="AppleGothic"/>
              </a:defRPr>
            </a:lvl3pPr>
            <a:lvl4pPr>
              <a:defRPr sz="1875" b="0">
                <a:solidFill>
                  <a:srgbClr val="15243B"/>
                </a:solidFill>
                <a:latin typeface="AppleGothic"/>
                <a:ea typeface="AppleGothic"/>
                <a:cs typeface="AppleGothic"/>
              </a:defRPr>
            </a:lvl4pPr>
            <a:lvl5pPr>
              <a:defRPr sz="1875" b="0">
                <a:solidFill>
                  <a:srgbClr val="15243B"/>
                </a:solidFill>
                <a:latin typeface="AppleGothic"/>
                <a:ea typeface="AppleGothic"/>
                <a:cs typeface="AppleGothic"/>
              </a:defRPr>
            </a:lvl5pPr>
            <a:lvl6pPr>
              <a:defRPr sz="1875" b="0">
                <a:solidFill>
                  <a:srgbClr val="15243B"/>
                </a:solidFill>
                <a:latin typeface="AppleGothic"/>
                <a:ea typeface="AppleGothic"/>
                <a:cs typeface="AppleGothic"/>
              </a:defRPr>
            </a:lvl6pPr>
            <a:lvl7pPr>
              <a:defRPr sz="1875" b="0">
                <a:solidFill>
                  <a:srgbClr val="15243B"/>
                </a:solidFill>
                <a:latin typeface="AppleGothic"/>
                <a:ea typeface="AppleGothic"/>
                <a:cs typeface="AppleGothic"/>
              </a:defRPr>
            </a:lvl7pPr>
            <a:lvl8pPr>
              <a:defRPr sz="1875" b="0">
                <a:solidFill>
                  <a:srgbClr val="15243B"/>
                </a:solidFill>
                <a:latin typeface="AppleGothic"/>
                <a:ea typeface="AppleGothic"/>
                <a:cs typeface="AppleGothic"/>
              </a:defRPr>
            </a:lvl8pPr>
            <a:lvl9pPr>
              <a:defRPr sz="1875" b="0">
                <a:solidFill>
                  <a:srgbClr val="15243B"/>
                </a:solidFill>
                <a:latin typeface="AppleGothic"/>
                <a:ea typeface="AppleGothic"/>
                <a:cs typeface="AppleGothic"/>
              </a:defRPr>
            </a:lvl9pPr>
          </a:lstStyle>
          <a:p xmlns:a="http://schemas.openxmlformats.org/drawingml/2006/main">
            <a:pPr>
              <a:defRPr sz="1875" b="0">
                <a:solidFill>
                  <a:srgbClr val="15243B"/>
                </a:solidFill>
                <a:latin typeface="AppleGothic"/>
                <a:ea typeface="AppleGothic"/>
                <a:cs typeface="AppleGothic"/>
              </a:defRPr>
            </a:pPr>
            <a:r>
              <a:rPr sz="1875" b="0">
                <a:solidFill>
                  <a:srgbClr val="15243B"/>
                </a:solidFill>
                <a:latin typeface="AppleGothic"/>
                <a:ea typeface="AppleGothic"/>
                <a:cs typeface="AppleGothic"/>
              </a:rPr>
              <a:t>왼쪽 [−1.5,−1.0) m에는 차량, 오른쪽 [−2.0,−1.5) m에는 도로 점이 많다.</a:t>
            </a:r>
          </a:p>
          <a:p xmlns:a="http://schemas.openxmlformats.org/drawingml/2006/main">
            <a:r>
              <a:t/>
            </a:r>
          </a:p>
          <a:p xmlns:a="http://schemas.openxmlformats.org/drawingml/2006/main">
            <a:pPr>
              <a:defRPr sz="1875" b="0">
                <a:solidFill>
                  <a:srgbClr val="15243B"/>
                </a:solidFill>
                <a:latin typeface="AppleGothic"/>
                <a:ea typeface="AppleGothic"/>
                <a:cs typeface="AppleGothic"/>
              </a:defRPr>
            </a:pPr>
            <a:r>
              <a:rPr sz="1875" b="0">
                <a:solidFill>
                  <a:srgbClr val="15243B"/>
                </a:solidFill>
                <a:latin typeface="AppleGothic"/>
                <a:ea typeface="AppleGothic"/>
                <a:cs typeface="AppleGothic"/>
              </a:rPr>
              <a:t>빨간 선은 GT box 투영이다. 실제 점은 흰 occupancy다. 실행 배열은 높이 7채널이며 reflectance는 합치지 않았다.</a:t>
            </a:r>
          </a:p>
        </p:txBody>
      </p:sp>
      <p:sp>
        <p:nvSpPr>
          <p:cNvPr id="5" name="">
            <a:extLst xmlns:a="http://schemas.openxmlformats.org/drawingml/2006/main">
              <a:ext uri="{FF2B5EF4-FFF2-40B4-BE49-F238E27FC236}">
                <a16:creationId xmlns:a16="http://schemas.microsoft.com/office/drawing/2014/main" id="{17A2B1EF-A1BB-4287-BF3E-4C708846E6A7}"/>
              </a:ext>
            </a:extLst>
          </p:cNvPr>
          <p:cNvSpPr>
            <a:spLocks xmlns:a="http://schemas.openxmlformats.org/drawingml/2006/main" noGrp="1"/>
          </p:cNvSpPr>
          <p:nvPr/>
        </p:nvSpPr>
        <p:spPr>
          <a:xfrm xmlns:a="http://schemas.openxmlformats.org/drawingml/2006/main">
            <a:off x="533400" y="5895975"/>
            <a:ext cx="1112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526378"/>
                </a:solidFill>
                <a:latin typeface="AppleGothic"/>
                <a:ea typeface="AppleGothic"/>
                <a:cs typeface="AppleGothic"/>
              </a:defRPr>
            </a:defPPr>
            <a:lvl1pPr>
              <a:defRPr sz="1350" b="0">
                <a:solidFill>
                  <a:srgbClr val="526378"/>
                </a:solidFill>
                <a:latin typeface="AppleGothic"/>
                <a:ea typeface="AppleGothic"/>
                <a:cs typeface="AppleGothic"/>
              </a:defRPr>
            </a:lvl1pPr>
            <a:lvl2pPr>
              <a:defRPr sz="1350" b="0">
                <a:solidFill>
                  <a:srgbClr val="526378"/>
                </a:solidFill>
                <a:latin typeface="AppleGothic"/>
                <a:ea typeface="AppleGothic"/>
                <a:cs typeface="AppleGothic"/>
              </a:defRPr>
            </a:lvl2pPr>
            <a:lvl3pPr>
              <a:defRPr sz="1350" b="0">
                <a:solidFill>
                  <a:srgbClr val="526378"/>
                </a:solidFill>
                <a:latin typeface="AppleGothic"/>
                <a:ea typeface="AppleGothic"/>
                <a:cs typeface="AppleGothic"/>
              </a:defRPr>
            </a:lvl3pPr>
            <a:lvl4pPr>
              <a:defRPr sz="1350" b="0">
                <a:solidFill>
                  <a:srgbClr val="526378"/>
                </a:solidFill>
                <a:latin typeface="AppleGothic"/>
                <a:ea typeface="AppleGothic"/>
                <a:cs typeface="AppleGothic"/>
              </a:defRPr>
            </a:lvl4pPr>
            <a:lvl5pPr>
              <a:defRPr sz="1350" b="0">
                <a:solidFill>
                  <a:srgbClr val="526378"/>
                </a:solidFill>
                <a:latin typeface="AppleGothic"/>
                <a:ea typeface="AppleGothic"/>
                <a:cs typeface="AppleGothic"/>
              </a:defRPr>
            </a:lvl5pPr>
            <a:lvl6pPr>
              <a:defRPr sz="1350" b="0">
                <a:solidFill>
                  <a:srgbClr val="526378"/>
                </a:solidFill>
                <a:latin typeface="AppleGothic"/>
                <a:ea typeface="AppleGothic"/>
                <a:cs typeface="AppleGothic"/>
              </a:defRPr>
            </a:lvl6pPr>
            <a:lvl7pPr>
              <a:defRPr sz="1350" b="0">
                <a:solidFill>
                  <a:srgbClr val="526378"/>
                </a:solidFill>
                <a:latin typeface="AppleGothic"/>
                <a:ea typeface="AppleGothic"/>
                <a:cs typeface="AppleGothic"/>
              </a:defRPr>
            </a:lvl7pPr>
            <a:lvl8pPr>
              <a:defRPr sz="1350" b="0">
                <a:solidFill>
                  <a:srgbClr val="526378"/>
                </a:solidFill>
                <a:latin typeface="AppleGothic"/>
                <a:ea typeface="AppleGothic"/>
                <a:cs typeface="AppleGothic"/>
              </a:defRPr>
            </a:lvl8pPr>
            <a:lvl9pPr>
              <a:defRPr sz="1350" b="0">
                <a:solidFill>
                  <a:srgbClr val="526378"/>
                </a:solidFill>
                <a:latin typeface="AppleGothic"/>
                <a:ea typeface="AppleGothic"/>
                <a:cs typeface="AppleGothic"/>
              </a:defRPr>
            </a:lvl9pPr>
          </a:lstStyle>
          <a:p xmlns:a="http://schemas.openxmlformats.org/drawingml/2006/main">
            <a:pPr>
              <a:defRPr sz="1350" b="0">
                <a:solidFill>
                  <a:srgbClr val="526378"/>
                </a:solidFill>
                <a:latin typeface="AppleGothic"/>
                <a:ea typeface="AppleGothic"/>
                <a:cs typeface="AppleGothic"/>
              </a:defRPr>
            </a:pPr>
            <a:r>
              <a:rPr sz="1350" b="0">
                <a:solidFill>
                  <a:srgbClr val="526378"/>
                </a:solidFill>
                <a:latin typeface="AppleGothic"/>
                <a:ea typeface="AppleGothic"/>
                <a:cs typeface="AppleGothic"/>
              </a:rPr>
              <a:t>Lab 2, cell 15. Original occupancy panels cropped to car and ground height bands</a:t>
            </a:r>
          </a:p>
        </p:txBody>
      </p:sp>
      <p:sp>
        <p:nvSpPr>
          <p:cNvPr id="6" name="">
            <a:extLst xmlns:a="http://schemas.openxmlformats.org/drawingml/2006/main">
              <a:ext uri="{FF2B5EF4-FFF2-40B4-BE49-F238E27FC236}">
                <a16:creationId xmlns:a16="http://schemas.microsoft.com/office/drawing/2014/main" id="{DAB9E61A-2085-499F-8EDF-7D0557934718}"/>
              </a:ext>
            </a:extLst>
          </p:cNvPr>
          <p:cNvSpPr>
            <a:spLocks xmlns:a="http://schemas.openxmlformats.org/drawingml/2006/main" noGrp="1"/>
          </p:cNvSpPr>
          <p:nvPr/>
        </p:nvSpPr>
        <p:spPr>
          <a:xfrm xmlns:a="http://schemas.openxmlformats.org/drawingml/2006/main">
            <a:off x="11144250" y="6400800"/>
            <a:ext cx="5143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62748C"/>
                </a:solidFill>
                <a:latin typeface="AppleGothic"/>
                <a:ea typeface="AppleGothic"/>
                <a:cs typeface="AppleGothic"/>
              </a:defRPr>
            </a:defPPr>
            <a:lvl1pPr>
              <a:defRPr sz="1350" b="0">
                <a:solidFill>
                  <a:srgbClr val="62748C"/>
                </a:solidFill>
                <a:latin typeface="AppleGothic"/>
                <a:ea typeface="AppleGothic"/>
                <a:cs typeface="AppleGothic"/>
              </a:defRPr>
            </a:lvl1pPr>
            <a:lvl2pPr>
              <a:defRPr sz="1350" b="0">
                <a:solidFill>
                  <a:srgbClr val="62748C"/>
                </a:solidFill>
                <a:latin typeface="AppleGothic"/>
                <a:ea typeface="AppleGothic"/>
                <a:cs typeface="AppleGothic"/>
              </a:defRPr>
            </a:lvl2pPr>
            <a:lvl3pPr>
              <a:defRPr sz="1350" b="0">
                <a:solidFill>
                  <a:srgbClr val="62748C"/>
                </a:solidFill>
                <a:latin typeface="AppleGothic"/>
                <a:ea typeface="AppleGothic"/>
                <a:cs typeface="AppleGothic"/>
              </a:defRPr>
            </a:lvl3pPr>
            <a:lvl4pPr>
              <a:defRPr sz="1350" b="0">
                <a:solidFill>
                  <a:srgbClr val="62748C"/>
                </a:solidFill>
                <a:latin typeface="AppleGothic"/>
                <a:ea typeface="AppleGothic"/>
                <a:cs typeface="AppleGothic"/>
              </a:defRPr>
            </a:lvl4pPr>
            <a:lvl5pPr>
              <a:defRPr sz="1350" b="0">
                <a:solidFill>
                  <a:srgbClr val="62748C"/>
                </a:solidFill>
                <a:latin typeface="AppleGothic"/>
                <a:ea typeface="AppleGothic"/>
                <a:cs typeface="AppleGothic"/>
              </a:defRPr>
            </a:lvl5pPr>
            <a:lvl6pPr>
              <a:defRPr sz="1350" b="0">
                <a:solidFill>
                  <a:srgbClr val="62748C"/>
                </a:solidFill>
                <a:latin typeface="AppleGothic"/>
                <a:ea typeface="AppleGothic"/>
                <a:cs typeface="AppleGothic"/>
              </a:defRPr>
            </a:lvl6pPr>
            <a:lvl7pPr>
              <a:defRPr sz="1350" b="0">
                <a:solidFill>
                  <a:srgbClr val="62748C"/>
                </a:solidFill>
                <a:latin typeface="AppleGothic"/>
                <a:ea typeface="AppleGothic"/>
                <a:cs typeface="AppleGothic"/>
              </a:defRPr>
            </a:lvl7pPr>
            <a:lvl8pPr>
              <a:defRPr sz="1350" b="0">
                <a:solidFill>
                  <a:srgbClr val="62748C"/>
                </a:solidFill>
                <a:latin typeface="AppleGothic"/>
                <a:ea typeface="AppleGothic"/>
                <a:cs typeface="AppleGothic"/>
              </a:defRPr>
            </a:lvl8pPr>
            <a:lvl9pPr>
              <a:defRPr sz="1350" b="0">
                <a:solidFill>
                  <a:srgbClr val="62748C"/>
                </a:solidFill>
                <a:latin typeface="AppleGothic"/>
                <a:ea typeface="AppleGothic"/>
                <a:cs typeface="AppleGothic"/>
              </a:defRPr>
            </a:lvl9pPr>
          </a:lstStyle>
          <a:p xmlns:a="http://schemas.openxmlformats.org/drawingml/2006/main">
            <a:pPr>
              <a:defRPr sz="1350" b="0">
                <a:solidFill>
                  <a:srgbClr val="62748C"/>
                </a:solidFill>
                <a:latin typeface="AppleGothic"/>
                <a:ea typeface="AppleGothic"/>
                <a:cs typeface="AppleGothic"/>
              </a:defRPr>
            </a:pPr>
            <a:r>
              <a:rPr sz="1350" b="0">
                <a:solidFill>
                  <a:srgbClr val="62748C"/>
                </a:solidFill>
                <a:latin typeface="AppleGothic"/>
                <a:ea typeface="AppleGothic"/>
                <a:cs typeface="AppleGothic"/>
              </a:rPr>
              <a:t>32</a:t>
            </a:r>
          </a:p>
        </p:txBody>
      </p:sp>
    </p:spTree>
    <p:extLst>
      <p:ext uri="{BB962C8B-B14F-4D97-AF65-F5344CB8AC3E}">
        <p14:creationId xmlns:p14="http://schemas.microsoft.com/office/powerpoint/2010/main" val="1066295348"/>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85E8187-89D1-4CD9-AF31-86CBBFCE9903}"/>
              </a:ext>
            </a:extLst>
          </p:cNvPr>
          <p:cNvSpPr>
            <a:spLocks xmlns:a="http://schemas.openxmlformats.org/drawingml/2006/main" noGrp="1"/>
          </p:cNvSpPr>
          <p:nvPr/>
        </p:nvSpPr>
        <p:spPr>
          <a:xfrm xmlns:a="http://schemas.openxmlformats.org/drawingml/2006/main">
            <a:off x="533400" y="342900"/>
            <a:ext cx="111252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150" b="1">
                <a:solidFill>
                  <a:srgbClr val="15243B"/>
                </a:solidFill>
                <a:latin typeface="AppleGothic"/>
                <a:ea typeface="AppleGothic"/>
                <a:cs typeface="AppleGothic"/>
              </a:defRPr>
            </a:defPPr>
            <a:lvl1pPr>
              <a:defRPr sz="3150" b="1">
                <a:solidFill>
                  <a:srgbClr val="15243B"/>
                </a:solidFill>
                <a:latin typeface="AppleGothic"/>
                <a:ea typeface="AppleGothic"/>
                <a:cs typeface="AppleGothic"/>
              </a:defRPr>
            </a:lvl1pPr>
            <a:lvl2pPr>
              <a:defRPr sz="3150" b="1">
                <a:solidFill>
                  <a:srgbClr val="15243B"/>
                </a:solidFill>
                <a:latin typeface="AppleGothic"/>
                <a:ea typeface="AppleGothic"/>
                <a:cs typeface="AppleGothic"/>
              </a:defRPr>
            </a:lvl2pPr>
            <a:lvl3pPr>
              <a:defRPr sz="3150" b="1">
                <a:solidFill>
                  <a:srgbClr val="15243B"/>
                </a:solidFill>
                <a:latin typeface="AppleGothic"/>
                <a:ea typeface="AppleGothic"/>
                <a:cs typeface="AppleGothic"/>
              </a:defRPr>
            </a:lvl3pPr>
            <a:lvl4pPr>
              <a:defRPr sz="3150" b="1">
                <a:solidFill>
                  <a:srgbClr val="15243B"/>
                </a:solidFill>
                <a:latin typeface="AppleGothic"/>
                <a:ea typeface="AppleGothic"/>
                <a:cs typeface="AppleGothic"/>
              </a:defRPr>
            </a:lvl4pPr>
            <a:lvl5pPr>
              <a:defRPr sz="3150" b="1">
                <a:solidFill>
                  <a:srgbClr val="15243B"/>
                </a:solidFill>
                <a:latin typeface="AppleGothic"/>
                <a:ea typeface="AppleGothic"/>
                <a:cs typeface="AppleGothic"/>
              </a:defRPr>
            </a:lvl5pPr>
            <a:lvl6pPr>
              <a:defRPr sz="3150" b="1">
                <a:solidFill>
                  <a:srgbClr val="15243B"/>
                </a:solidFill>
                <a:latin typeface="AppleGothic"/>
                <a:ea typeface="AppleGothic"/>
                <a:cs typeface="AppleGothic"/>
              </a:defRPr>
            </a:lvl6pPr>
            <a:lvl7pPr>
              <a:defRPr sz="3150" b="1">
                <a:solidFill>
                  <a:srgbClr val="15243B"/>
                </a:solidFill>
                <a:latin typeface="AppleGothic"/>
                <a:ea typeface="AppleGothic"/>
                <a:cs typeface="AppleGothic"/>
              </a:defRPr>
            </a:lvl7pPr>
            <a:lvl8pPr>
              <a:defRPr sz="3150" b="1">
                <a:solidFill>
                  <a:srgbClr val="15243B"/>
                </a:solidFill>
                <a:latin typeface="AppleGothic"/>
                <a:ea typeface="AppleGothic"/>
                <a:cs typeface="AppleGothic"/>
              </a:defRPr>
            </a:lvl8pPr>
            <a:lvl9pPr>
              <a:defRPr sz="3150" b="1">
                <a:solidFill>
                  <a:srgbClr val="15243B"/>
                </a:solidFill>
                <a:latin typeface="AppleGothic"/>
                <a:ea typeface="AppleGothic"/>
                <a:cs typeface="AppleGothic"/>
              </a:defRPr>
            </a:lvl9pPr>
          </a:lstStyle>
          <a:p xmlns:a="http://schemas.openxmlformats.org/drawingml/2006/main">
            <a:pPr>
              <a:defRPr sz="3150" b="1">
                <a:solidFill>
                  <a:srgbClr val="15243B"/>
                </a:solidFill>
                <a:latin typeface="AppleGothic"/>
                <a:ea typeface="AppleGothic"/>
                <a:cs typeface="AppleGothic"/>
              </a:defRPr>
            </a:pPr>
            <a:r>
              <a:rPr sz="3150" b="1">
                <a:solidFill>
                  <a:srgbClr val="15243B"/>
                </a:solidFill>
                <a:latin typeface="AppleGothic"/>
                <a:ea typeface="AppleGothic"/>
                <a:cs typeface="AppleGothic"/>
              </a:rPr>
              <a:t>Range and Point Sparsity</a:t>
            </a:r>
          </a:p>
        </p:txBody>
      </p:sp>
      <p:sp>
        <p:nvSpPr>
          <p:cNvPr id="2" name="">
            <a:extLst xmlns:a="http://schemas.openxmlformats.org/drawingml/2006/main">
              <a:ext uri="{FF2B5EF4-FFF2-40B4-BE49-F238E27FC236}">
                <a16:creationId xmlns:a16="http://schemas.microsoft.com/office/drawing/2014/main" id="{82C9BE32-9FD1-4E60-96A1-0E880F110D79}"/>
              </a:ext>
            </a:extLst>
          </p:cNvPr>
          <p:cNvSpPr>
            <a:spLocks xmlns:a="http://schemas.openxmlformats.org/drawingml/2006/main" noGrp="1"/>
          </p:cNvSpPr>
          <p:nvPr/>
        </p:nvSpPr>
        <p:spPr>
          <a:xfrm xmlns:a="http://schemas.openxmlformats.org/drawingml/2006/main">
            <a:off x="533400" y="1066800"/>
            <a:ext cx="111252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1">
                <a:solidFill>
                  <a:srgbClr val="2164CB"/>
                </a:solidFill>
                <a:latin typeface="AppleGothic"/>
                <a:ea typeface="AppleGothic"/>
                <a:cs typeface="AppleGothic"/>
              </a:defRPr>
            </a:defPPr>
            <a:lvl1pPr>
              <a:defRPr sz="2175" b="1">
                <a:solidFill>
                  <a:srgbClr val="2164CB"/>
                </a:solidFill>
                <a:latin typeface="AppleGothic"/>
                <a:ea typeface="AppleGothic"/>
                <a:cs typeface="AppleGothic"/>
              </a:defRPr>
            </a:lvl1pPr>
            <a:lvl2pPr>
              <a:defRPr sz="2175" b="1">
                <a:solidFill>
                  <a:srgbClr val="2164CB"/>
                </a:solidFill>
                <a:latin typeface="AppleGothic"/>
                <a:ea typeface="AppleGothic"/>
                <a:cs typeface="AppleGothic"/>
              </a:defRPr>
            </a:lvl2pPr>
            <a:lvl3pPr>
              <a:defRPr sz="2175" b="1">
                <a:solidFill>
                  <a:srgbClr val="2164CB"/>
                </a:solidFill>
                <a:latin typeface="AppleGothic"/>
                <a:ea typeface="AppleGothic"/>
                <a:cs typeface="AppleGothic"/>
              </a:defRPr>
            </a:lvl3pPr>
            <a:lvl4pPr>
              <a:defRPr sz="2175" b="1">
                <a:solidFill>
                  <a:srgbClr val="2164CB"/>
                </a:solidFill>
                <a:latin typeface="AppleGothic"/>
                <a:ea typeface="AppleGothic"/>
                <a:cs typeface="AppleGothic"/>
              </a:defRPr>
            </a:lvl4pPr>
            <a:lvl5pPr>
              <a:defRPr sz="2175" b="1">
                <a:solidFill>
                  <a:srgbClr val="2164CB"/>
                </a:solidFill>
                <a:latin typeface="AppleGothic"/>
                <a:ea typeface="AppleGothic"/>
                <a:cs typeface="AppleGothic"/>
              </a:defRPr>
            </a:lvl5pPr>
            <a:lvl6pPr>
              <a:defRPr sz="2175" b="1">
                <a:solidFill>
                  <a:srgbClr val="2164CB"/>
                </a:solidFill>
                <a:latin typeface="AppleGothic"/>
                <a:ea typeface="AppleGothic"/>
                <a:cs typeface="AppleGothic"/>
              </a:defRPr>
            </a:lvl6pPr>
            <a:lvl7pPr>
              <a:defRPr sz="2175" b="1">
                <a:solidFill>
                  <a:srgbClr val="2164CB"/>
                </a:solidFill>
                <a:latin typeface="AppleGothic"/>
                <a:ea typeface="AppleGothic"/>
                <a:cs typeface="AppleGothic"/>
              </a:defRPr>
            </a:lvl7pPr>
            <a:lvl8pPr>
              <a:defRPr sz="2175" b="1">
                <a:solidFill>
                  <a:srgbClr val="2164CB"/>
                </a:solidFill>
                <a:latin typeface="AppleGothic"/>
                <a:ea typeface="AppleGothic"/>
                <a:cs typeface="AppleGothic"/>
              </a:defRPr>
            </a:lvl8pPr>
            <a:lvl9pPr>
              <a:defRPr sz="2175" b="1">
                <a:solidFill>
                  <a:srgbClr val="2164CB"/>
                </a:solidFill>
                <a:latin typeface="AppleGothic"/>
                <a:ea typeface="AppleGothic"/>
                <a:cs typeface="AppleGothic"/>
              </a:defRPr>
            </a:lvl9pPr>
          </a:lstStyle>
          <a:p xmlns:a="http://schemas.openxmlformats.org/drawingml/2006/main">
            <a:pPr>
              <a:defRPr sz="2175" b="1">
                <a:solidFill>
                  <a:srgbClr val="2164CB"/>
                </a:solidFill>
                <a:latin typeface="AppleGothic"/>
                <a:ea typeface="AppleGothic"/>
                <a:cs typeface="AppleGothic"/>
              </a:defRPr>
            </a:pPr>
            <a:r>
              <a:rPr sz="2175" b="1">
                <a:solidFill>
                  <a:srgbClr val="2164CB"/>
                </a:solidFill>
                <a:latin typeface="AppleGothic"/>
                <a:ea typeface="AppleGothic"/>
                <a:cs typeface="AppleGothic"/>
              </a:rPr>
              <a:t>같은 각도 간격의 LiDAR는 멀수록 표면의 점 간격이 커져 작은 객체의 증거가 줄어든다</a:t>
            </a:r>
          </a:p>
        </p:txBody>
      </p:sp>
      <p:pic>
        <p:nvPicPr>
          <p:cNvPr id="3" name="">
            <a:extLst xmlns:a="http://schemas.openxmlformats.org/drawingml/2006/main">
              <a:ext uri="{FF2B5EF4-FFF2-40B4-BE49-F238E27FC236}">
                <a16:creationId xmlns:a16="http://schemas.microsoft.com/office/drawing/2014/main" id="{CEEA6ADE-0FF0-4FB7-9EDF-74604E67E836}"/>
              </a:ext>
            </a:extLst>
          </p:cNvPr>
          <p:cNvPicPr>
            <a:picLocks xmlns:a="http://schemas.openxmlformats.org/drawingml/2006/main" noChangeAspect="1"/>
          </p:cNvPicPr>
          <p:nvPr/>
        </p:nvPicPr>
        <p:blipFill>
          <a:blip xmlns:r="http://schemas.openxmlformats.org/officeDocument/2006/relationships" xmlns:a="http://schemas.openxmlformats.org/drawingml/2006/main" r:embed="Rc01c7545119a4291"/>
          <a:stretch xmlns:a="http://schemas.openxmlformats.org/drawingml/2006/main"/>
        </p:blipFill>
        <p:spPr>
          <a:xfrm xmlns:a="http://schemas.openxmlformats.org/drawingml/2006/main">
            <a:off x="786077" y="2057400"/>
            <a:ext cx="6638396" cy="3714750"/>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103CA608-F4CD-46D0-93D1-497393760865}"/>
              </a:ext>
            </a:extLst>
          </p:cNvPr>
          <p:cNvSpPr>
            <a:spLocks xmlns:a="http://schemas.openxmlformats.org/drawingml/2006/main" noGrp="1"/>
          </p:cNvSpPr>
          <p:nvPr/>
        </p:nvSpPr>
        <p:spPr>
          <a:xfrm xmlns:a="http://schemas.openxmlformats.org/drawingml/2006/main">
            <a:off x="7981950" y="2114550"/>
            <a:ext cx="3676650" cy="3667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75" b="0">
                <a:solidFill>
                  <a:srgbClr val="15243B"/>
                </a:solidFill>
                <a:latin typeface="AppleGothic"/>
                <a:ea typeface="AppleGothic"/>
                <a:cs typeface="AppleGothic"/>
              </a:defRPr>
            </a:defPPr>
            <a:lvl1pPr>
              <a:defRPr sz="1875" b="0">
                <a:solidFill>
                  <a:srgbClr val="15243B"/>
                </a:solidFill>
                <a:latin typeface="AppleGothic"/>
                <a:ea typeface="AppleGothic"/>
                <a:cs typeface="AppleGothic"/>
              </a:defRPr>
            </a:lvl1pPr>
            <a:lvl2pPr>
              <a:defRPr sz="1875" b="0">
                <a:solidFill>
                  <a:srgbClr val="15243B"/>
                </a:solidFill>
                <a:latin typeface="AppleGothic"/>
                <a:ea typeface="AppleGothic"/>
                <a:cs typeface="AppleGothic"/>
              </a:defRPr>
            </a:lvl2pPr>
            <a:lvl3pPr>
              <a:defRPr sz="1875" b="0">
                <a:solidFill>
                  <a:srgbClr val="15243B"/>
                </a:solidFill>
                <a:latin typeface="AppleGothic"/>
                <a:ea typeface="AppleGothic"/>
                <a:cs typeface="AppleGothic"/>
              </a:defRPr>
            </a:lvl3pPr>
            <a:lvl4pPr>
              <a:defRPr sz="1875" b="0">
                <a:solidFill>
                  <a:srgbClr val="15243B"/>
                </a:solidFill>
                <a:latin typeface="AppleGothic"/>
                <a:ea typeface="AppleGothic"/>
                <a:cs typeface="AppleGothic"/>
              </a:defRPr>
            </a:lvl4pPr>
            <a:lvl5pPr>
              <a:defRPr sz="1875" b="0">
                <a:solidFill>
                  <a:srgbClr val="15243B"/>
                </a:solidFill>
                <a:latin typeface="AppleGothic"/>
                <a:ea typeface="AppleGothic"/>
                <a:cs typeface="AppleGothic"/>
              </a:defRPr>
            </a:lvl5pPr>
            <a:lvl6pPr>
              <a:defRPr sz="1875" b="0">
                <a:solidFill>
                  <a:srgbClr val="15243B"/>
                </a:solidFill>
                <a:latin typeface="AppleGothic"/>
                <a:ea typeface="AppleGothic"/>
                <a:cs typeface="AppleGothic"/>
              </a:defRPr>
            </a:lvl6pPr>
            <a:lvl7pPr>
              <a:defRPr sz="1875" b="0">
                <a:solidFill>
                  <a:srgbClr val="15243B"/>
                </a:solidFill>
                <a:latin typeface="AppleGothic"/>
                <a:ea typeface="AppleGothic"/>
                <a:cs typeface="AppleGothic"/>
              </a:defRPr>
            </a:lvl7pPr>
            <a:lvl8pPr>
              <a:defRPr sz="1875" b="0">
                <a:solidFill>
                  <a:srgbClr val="15243B"/>
                </a:solidFill>
                <a:latin typeface="AppleGothic"/>
                <a:ea typeface="AppleGothic"/>
                <a:cs typeface="AppleGothic"/>
              </a:defRPr>
            </a:lvl8pPr>
            <a:lvl9pPr>
              <a:defRPr sz="1875" b="0">
                <a:solidFill>
                  <a:srgbClr val="15243B"/>
                </a:solidFill>
                <a:latin typeface="AppleGothic"/>
                <a:ea typeface="AppleGothic"/>
                <a:cs typeface="AppleGothic"/>
              </a:defRPr>
            </a:lvl9pPr>
          </a:lstStyle>
          <a:p xmlns:a="http://schemas.openxmlformats.org/drawingml/2006/main">
            <a:pPr>
              <a:defRPr sz="1875" b="0">
                <a:solidFill>
                  <a:srgbClr val="15243B"/>
                </a:solidFill>
                <a:latin typeface="AppleGothic"/>
                <a:ea typeface="AppleGothic"/>
                <a:cs typeface="AppleGothic"/>
              </a:defRPr>
            </a:pPr>
            <a:r>
              <a:rPr sz="1875" b="0">
                <a:solidFill>
                  <a:srgbClr val="15243B"/>
                </a:solidFill>
                <a:latin typeface="AppleGothic"/>
                <a:ea typeface="AppleGothic"/>
                <a:cs typeface="AppleGothic"/>
              </a:rPr>
              <a:t>가로는 BEV 거리(m), 세로는 객체 내부 point 수(log)다. 빨간 별은 실제 KITTI 차량이다.</a:t>
            </a:r>
          </a:p>
          <a:p xmlns:a="http://schemas.openxmlformats.org/drawingml/2006/main">
            <a:r>
              <a:t/>
            </a:r>
          </a:p>
          <a:p xmlns:a="http://schemas.openxmlformats.org/drawingml/2006/main">
            <a:pPr>
              <a:defRPr sz="1875" b="0">
                <a:solidFill>
                  <a:srgbClr val="15243B"/>
                </a:solidFill>
                <a:latin typeface="AppleGothic"/>
                <a:ea typeface="AppleGothic"/>
                <a:cs typeface="AppleGothic"/>
              </a:defRPr>
            </a:pPr>
            <a:r>
              <a:rPr sz="1875" b="0">
                <a:solidFill>
                  <a:srgbClr val="15243B"/>
                </a:solidFill>
                <a:latin typeface="AppleGothic"/>
                <a:ea typeface="AppleGothic"/>
                <a:cs typeface="AppleGothic"/>
              </a:rPr>
              <a:t>예: 8.2 m에서 1,933점, 21.9 m에서 169점, 34.3 m에서 54점. 가림·방향도 점 수에 영향을 준다.</a:t>
            </a:r>
          </a:p>
        </p:txBody>
      </p:sp>
      <p:sp>
        <p:nvSpPr>
          <p:cNvPr id="5" name="">
            <a:extLst xmlns:a="http://schemas.openxmlformats.org/drawingml/2006/main">
              <a:ext uri="{FF2B5EF4-FFF2-40B4-BE49-F238E27FC236}">
                <a16:creationId xmlns:a16="http://schemas.microsoft.com/office/drawing/2014/main" id="{1DB5B3C3-54B9-4D78-B673-5F1B60932E5B}"/>
              </a:ext>
            </a:extLst>
          </p:cNvPr>
          <p:cNvSpPr>
            <a:spLocks xmlns:a="http://schemas.openxmlformats.org/drawingml/2006/main" noGrp="1"/>
          </p:cNvSpPr>
          <p:nvPr/>
        </p:nvSpPr>
        <p:spPr>
          <a:xfrm xmlns:a="http://schemas.openxmlformats.org/drawingml/2006/main">
            <a:off x="533400" y="5895975"/>
            <a:ext cx="1112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526378"/>
                </a:solidFill>
                <a:latin typeface="AppleGothic"/>
                <a:ea typeface="AppleGothic"/>
                <a:cs typeface="AppleGothic"/>
              </a:defRPr>
            </a:defPPr>
            <a:lvl1pPr>
              <a:defRPr sz="1350" b="0">
                <a:solidFill>
                  <a:srgbClr val="526378"/>
                </a:solidFill>
                <a:latin typeface="AppleGothic"/>
                <a:ea typeface="AppleGothic"/>
                <a:cs typeface="AppleGothic"/>
              </a:defRPr>
            </a:lvl1pPr>
            <a:lvl2pPr>
              <a:defRPr sz="1350" b="0">
                <a:solidFill>
                  <a:srgbClr val="526378"/>
                </a:solidFill>
                <a:latin typeface="AppleGothic"/>
                <a:ea typeface="AppleGothic"/>
                <a:cs typeface="AppleGothic"/>
              </a:defRPr>
            </a:lvl2pPr>
            <a:lvl3pPr>
              <a:defRPr sz="1350" b="0">
                <a:solidFill>
                  <a:srgbClr val="526378"/>
                </a:solidFill>
                <a:latin typeface="AppleGothic"/>
                <a:ea typeface="AppleGothic"/>
                <a:cs typeface="AppleGothic"/>
              </a:defRPr>
            </a:lvl3pPr>
            <a:lvl4pPr>
              <a:defRPr sz="1350" b="0">
                <a:solidFill>
                  <a:srgbClr val="526378"/>
                </a:solidFill>
                <a:latin typeface="AppleGothic"/>
                <a:ea typeface="AppleGothic"/>
                <a:cs typeface="AppleGothic"/>
              </a:defRPr>
            </a:lvl4pPr>
            <a:lvl5pPr>
              <a:defRPr sz="1350" b="0">
                <a:solidFill>
                  <a:srgbClr val="526378"/>
                </a:solidFill>
                <a:latin typeface="AppleGothic"/>
                <a:ea typeface="AppleGothic"/>
                <a:cs typeface="AppleGothic"/>
              </a:defRPr>
            </a:lvl5pPr>
            <a:lvl6pPr>
              <a:defRPr sz="1350" b="0">
                <a:solidFill>
                  <a:srgbClr val="526378"/>
                </a:solidFill>
                <a:latin typeface="AppleGothic"/>
                <a:ea typeface="AppleGothic"/>
                <a:cs typeface="AppleGothic"/>
              </a:defRPr>
            </a:lvl6pPr>
            <a:lvl7pPr>
              <a:defRPr sz="1350" b="0">
                <a:solidFill>
                  <a:srgbClr val="526378"/>
                </a:solidFill>
                <a:latin typeface="AppleGothic"/>
                <a:ea typeface="AppleGothic"/>
                <a:cs typeface="AppleGothic"/>
              </a:defRPr>
            </a:lvl7pPr>
            <a:lvl8pPr>
              <a:defRPr sz="1350" b="0">
                <a:solidFill>
                  <a:srgbClr val="526378"/>
                </a:solidFill>
                <a:latin typeface="AppleGothic"/>
                <a:ea typeface="AppleGothic"/>
                <a:cs typeface="AppleGothic"/>
              </a:defRPr>
            </a:lvl8pPr>
            <a:lvl9pPr>
              <a:defRPr sz="1350" b="0">
                <a:solidFill>
                  <a:srgbClr val="526378"/>
                </a:solidFill>
                <a:latin typeface="AppleGothic"/>
                <a:ea typeface="AppleGothic"/>
                <a:cs typeface="AppleGothic"/>
              </a:defRPr>
            </a:lvl9pPr>
          </a:lstStyle>
          <a:p xmlns:a="http://schemas.openxmlformats.org/drawingml/2006/main">
            <a:pPr>
              <a:defRPr sz="1350" b="0">
                <a:solidFill>
                  <a:srgbClr val="526378"/>
                </a:solidFill>
                <a:latin typeface="AppleGothic"/>
                <a:ea typeface="AppleGothic"/>
                <a:cs typeface="AppleGothic"/>
              </a:defRPr>
            </a:pPr>
            <a:r>
              <a:rPr sz="1350" b="0">
                <a:solidFill>
                  <a:srgbClr val="526378"/>
                </a:solidFill>
                <a:latin typeface="AppleGothic"/>
                <a:ea typeface="AppleGothic"/>
                <a:cs typeface="AppleGothic"/>
              </a:rPr>
              <a:t>Lab 2, cell 21. Synthetic samples and real KITTI cars; point-count axis is logarithmic</a:t>
            </a:r>
          </a:p>
        </p:txBody>
      </p:sp>
      <p:sp>
        <p:nvSpPr>
          <p:cNvPr id="6" name="">
            <a:extLst xmlns:a="http://schemas.openxmlformats.org/drawingml/2006/main">
              <a:ext uri="{FF2B5EF4-FFF2-40B4-BE49-F238E27FC236}">
                <a16:creationId xmlns:a16="http://schemas.microsoft.com/office/drawing/2014/main" id="{7DB20220-2F1B-4F43-BA47-4CA2A2CC0038}"/>
              </a:ext>
            </a:extLst>
          </p:cNvPr>
          <p:cNvSpPr>
            <a:spLocks xmlns:a="http://schemas.openxmlformats.org/drawingml/2006/main" noGrp="1"/>
          </p:cNvSpPr>
          <p:nvPr/>
        </p:nvSpPr>
        <p:spPr>
          <a:xfrm xmlns:a="http://schemas.openxmlformats.org/drawingml/2006/main">
            <a:off x="11144250" y="6400800"/>
            <a:ext cx="5143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62748C"/>
                </a:solidFill>
                <a:latin typeface="AppleGothic"/>
                <a:ea typeface="AppleGothic"/>
                <a:cs typeface="AppleGothic"/>
              </a:defRPr>
            </a:defPPr>
            <a:lvl1pPr>
              <a:defRPr sz="1350" b="0">
                <a:solidFill>
                  <a:srgbClr val="62748C"/>
                </a:solidFill>
                <a:latin typeface="AppleGothic"/>
                <a:ea typeface="AppleGothic"/>
                <a:cs typeface="AppleGothic"/>
              </a:defRPr>
            </a:lvl1pPr>
            <a:lvl2pPr>
              <a:defRPr sz="1350" b="0">
                <a:solidFill>
                  <a:srgbClr val="62748C"/>
                </a:solidFill>
                <a:latin typeface="AppleGothic"/>
                <a:ea typeface="AppleGothic"/>
                <a:cs typeface="AppleGothic"/>
              </a:defRPr>
            </a:lvl2pPr>
            <a:lvl3pPr>
              <a:defRPr sz="1350" b="0">
                <a:solidFill>
                  <a:srgbClr val="62748C"/>
                </a:solidFill>
                <a:latin typeface="AppleGothic"/>
                <a:ea typeface="AppleGothic"/>
                <a:cs typeface="AppleGothic"/>
              </a:defRPr>
            </a:lvl3pPr>
            <a:lvl4pPr>
              <a:defRPr sz="1350" b="0">
                <a:solidFill>
                  <a:srgbClr val="62748C"/>
                </a:solidFill>
                <a:latin typeface="AppleGothic"/>
                <a:ea typeface="AppleGothic"/>
                <a:cs typeface="AppleGothic"/>
              </a:defRPr>
            </a:lvl4pPr>
            <a:lvl5pPr>
              <a:defRPr sz="1350" b="0">
                <a:solidFill>
                  <a:srgbClr val="62748C"/>
                </a:solidFill>
                <a:latin typeface="AppleGothic"/>
                <a:ea typeface="AppleGothic"/>
                <a:cs typeface="AppleGothic"/>
              </a:defRPr>
            </a:lvl5pPr>
            <a:lvl6pPr>
              <a:defRPr sz="1350" b="0">
                <a:solidFill>
                  <a:srgbClr val="62748C"/>
                </a:solidFill>
                <a:latin typeface="AppleGothic"/>
                <a:ea typeface="AppleGothic"/>
                <a:cs typeface="AppleGothic"/>
              </a:defRPr>
            </a:lvl6pPr>
            <a:lvl7pPr>
              <a:defRPr sz="1350" b="0">
                <a:solidFill>
                  <a:srgbClr val="62748C"/>
                </a:solidFill>
                <a:latin typeface="AppleGothic"/>
                <a:ea typeface="AppleGothic"/>
                <a:cs typeface="AppleGothic"/>
              </a:defRPr>
            </a:lvl7pPr>
            <a:lvl8pPr>
              <a:defRPr sz="1350" b="0">
                <a:solidFill>
                  <a:srgbClr val="62748C"/>
                </a:solidFill>
                <a:latin typeface="AppleGothic"/>
                <a:ea typeface="AppleGothic"/>
                <a:cs typeface="AppleGothic"/>
              </a:defRPr>
            </a:lvl8pPr>
            <a:lvl9pPr>
              <a:defRPr sz="1350" b="0">
                <a:solidFill>
                  <a:srgbClr val="62748C"/>
                </a:solidFill>
                <a:latin typeface="AppleGothic"/>
                <a:ea typeface="AppleGothic"/>
                <a:cs typeface="AppleGothic"/>
              </a:defRPr>
            </a:lvl9pPr>
          </a:lstStyle>
          <a:p xmlns:a="http://schemas.openxmlformats.org/drawingml/2006/main">
            <a:pPr>
              <a:defRPr sz="1350" b="0">
                <a:solidFill>
                  <a:srgbClr val="62748C"/>
                </a:solidFill>
                <a:latin typeface="AppleGothic"/>
                <a:ea typeface="AppleGothic"/>
                <a:cs typeface="AppleGothic"/>
              </a:defRPr>
            </a:pPr>
            <a:r>
              <a:rPr sz="1350" b="0">
                <a:solidFill>
                  <a:srgbClr val="62748C"/>
                </a:solidFill>
                <a:latin typeface="AppleGothic"/>
                <a:ea typeface="AppleGothic"/>
                <a:cs typeface="AppleGothic"/>
              </a:rPr>
              <a:t>33</a:t>
            </a:r>
          </a:p>
        </p:txBody>
      </p:sp>
    </p:spTree>
    <p:extLst>
      <p:ext uri="{BB962C8B-B14F-4D97-AF65-F5344CB8AC3E}">
        <p14:creationId xmlns:p14="http://schemas.microsoft.com/office/powerpoint/2010/main" val="1477772329"/>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A680F7B7-9C10-450E-B644-24C6757043E2}"/>
              </a:ext>
            </a:extLst>
          </p:cNvPr>
          <p:cNvSpPr>
            <a:spLocks xmlns:a="http://schemas.openxmlformats.org/drawingml/2006/main" noGrp="1"/>
          </p:cNvSpPr>
          <p:nvPr/>
        </p:nvSpPr>
        <p:spPr>
          <a:xfrm xmlns:a="http://schemas.openxmlformats.org/drawingml/2006/main">
            <a:off x="533400" y="342900"/>
            <a:ext cx="111252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150" b="1">
                <a:solidFill>
                  <a:srgbClr val="15243B"/>
                </a:solidFill>
                <a:latin typeface="AppleGothic"/>
                <a:ea typeface="AppleGothic"/>
                <a:cs typeface="AppleGothic"/>
              </a:defRPr>
            </a:defPPr>
            <a:lvl1pPr>
              <a:defRPr sz="3150" b="1">
                <a:solidFill>
                  <a:srgbClr val="15243B"/>
                </a:solidFill>
                <a:latin typeface="AppleGothic"/>
                <a:ea typeface="AppleGothic"/>
                <a:cs typeface="AppleGothic"/>
              </a:defRPr>
            </a:lvl1pPr>
            <a:lvl2pPr>
              <a:defRPr sz="3150" b="1">
                <a:solidFill>
                  <a:srgbClr val="15243B"/>
                </a:solidFill>
                <a:latin typeface="AppleGothic"/>
                <a:ea typeface="AppleGothic"/>
                <a:cs typeface="AppleGothic"/>
              </a:defRPr>
            </a:lvl2pPr>
            <a:lvl3pPr>
              <a:defRPr sz="3150" b="1">
                <a:solidFill>
                  <a:srgbClr val="15243B"/>
                </a:solidFill>
                <a:latin typeface="AppleGothic"/>
                <a:ea typeface="AppleGothic"/>
                <a:cs typeface="AppleGothic"/>
              </a:defRPr>
            </a:lvl3pPr>
            <a:lvl4pPr>
              <a:defRPr sz="3150" b="1">
                <a:solidFill>
                  <a:srgbClr val="15243B"/>
                </a:solidFill>
                <a:latin typeface="AppleGothic"/>
                <a:ea typeface="AppleGothic"/>
                <a:cs typeface="AppleGothic"/>
              </a:defRPr>
            </a:lvl4pPr>
            <a:lvl5pPr>
              <a:defRPr sz="3150" b="1">
                <a:solidFill>
                  <a:srgbClr val="15243B"/>
                </a:solidFill>
                <a:latin typeface="AppleGothic"/>
                <a:ea typeface="AppleGothic"/>
                <a:cs typeface="AppleGothic"/>
              </a:defRPr>
            </a:lvl5pPr>
            <a:lvl6pPr>
              <a:defRPr sz="3150" b="1">
                <a:solidFill>
                  <a:srgbClr val="15243B"/>
                </a:solidFill>
                <a:latin typeface="AppleGothic"/>
                <a:ea typeface="AppleGothic"/>
                <a:cs typeface="AppleGothic"/>
              </a:defRPr>
            </a:lvl6pPr>
            <a:lvl7pPr>
              <a:defRPr sz="3150" b="1">
                <a:solidFill>
                  <a:srgbClr val="15243B"/>
                </a:solidFill>
                <a:latin typeface="AppleGothic"/>
                <a:ea typeface="AppleGothic"/>
                <a:cs typeface="AppleGothic"/>
              </a:defRPr>
            </a:lvl7pPr>
            <a:lvl8pPr>
              <a:defRPr sz="3150" b="1">
                <a:solidFill>
                  <a:srgbClr val="15243B"/>
                </a:solidFill>
                <a:latin typeface="AppleGothic"/>
                <a:ea typeface="AppleGothic"/>
                <a:cs typeface="AppleGothic"/>
              </a:defRPr>
            </a:lvl8pPr>
            <a:lvl9pPr>
              <a:defRPr sz="3150" b="1">
                <a:solidFill>
                  <a:srgbClr val="15243B"/>
                </a:solidFill>
                <a:latin typeface="AppleGothic"/>
                <a:ea typeface="AppleGothic"/>
                <a:cs typeface="AppleGothic"/>
              </a:defRPr>
            </a:lvl9pPr>
          </a:lstStyle>
          <a:p xmlns:a="http://schemas.openxmlformats.org/drawingml/2006/main">
            <a:pPr>
              <a:defRPr sz="3150" b="1">
                <a:solidFill>
                  <a:srgbClr val="15243B"/>
                </a:solidFill>
                <a:latin typeface="AppleGothic"/>
                <a:ea typeface="AppleGothic"/>
                <a:cs typeface="AppleGothic"/>
              </a:defRPr>
            </a:pPr>
            <a:r>
              <a:rPr sz="3150" b="1">
                <a:solidFill>
                  <a:srgbClr val="15243B"/>
                </a:solidFill>
                <a:latin typeface="AppleGothic"/>
                <a:ea typeface="AppleGothic"/>
                <a:cs typeface="AppleGothic"/>
              </a:rPr>
              <a:t>Voxel Features and BEV</a:t>
            </a:r>
          </a:p>
        </p:txBody>
      </p:sp>
      <p:sp>
        <p:nvSpPr>
          <p:cNvPr id="2" name="">
            <a:extLst xmlns:a="http://schemas.openxmlformats.org/drawingml/2006/main">
              <a:ext uri="{FF2B5EF4-FFF2-40B4-BE49-F238E27FC236}">
                <a16:creationId xmlns:a16="http://schemas.microsoft.com/office/drawing/2014/main" id="{EBBDCEA3-C272-4113-A59F-1C5EA52B009A}"/>
              </a:ext>
            </a:extLst>
          </p:cNvPr>
          <p:cNvSpPr>
            <a:spLocks xmlns:a="http://schemas.openxmlformats.org/drawingml/2006/main" noGrp="1"/>
          </p:cNvSpPr>
          <p:nvPr/>
        </p:nvSpPr>
        <p:spPr>
          <a:xfrm xmlns:a="http://schemas.openxmlformats.org/drawingml/2006/main">
            <a:off x="533400" y="1066800"/>
            <a:ext cx="111252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1">
                <a:solidFill>
                  <a:srgbClr val="2164CB"/>
                </a:solidFill>
                <a:latin typeface="AppleGothic"/>
                <a:ea typeface="AppleGothic"/>
                <a:cs typeface="AppleGothic"/>
              </a:defRPr>
            </a:defPPr>
            <a:lvl1pPr>
              <a:defRPr sz="2175" b="1">
                <a:solidFill>
                  <a:srgbClr val="2164CB"/>
                </a:solidFill>
                <a:latin typeface="AppleGothic"/>
                <a:ea typeface="AppleGothic"/>
                <a:cs typeface="AppleGothic"/>
              </a:defRPr>
            </a:lvl1pPr>
            <a:lvl2pPr>
              <a:defRPr sz="2175" b="1">
                <a:solidFill>
                  <a:srgbClr val="2164CB"/>
                </a:solidFill>
                <a:latin typeface="AppleGothic"/>
                <a:ea typeface="AppleGothic"/>
                <a:cs typeface="AppleGothic"/>
              </a:defRPr>
            </a:lvl2pPr>
            <a:lvl3pPr>
              <a:defRPr sz="2175" b="1">
                <a:solidFill>
                  <a:srgbClr val="2164CB"/>
                </a:solidFill>
                <a:latin typeface="AppleGothic"/>
                <a:ea typeface="AppleGothic"/>
                <a:cs typeface="AppleGothic"/>
              </a:defRPr>
            </a:lvl3pPr>
            <a:lvl4pPr>
              <a:defRPr sz="2175" b="1">
                <a:solidFill>
                  <a:srgbClr val="2164CB"/>
                </a:solidFill>
                <a:latin typeface="AppleGothic"/>
                <a:ea typeface="AppleGothic"/>
                <a:cs typeface="AppleGothic"/>
              </a:defRPr>
            </a:lvl4pPr>
            <a:lvl5pPr>
              <a:defRPr sz="2175" b="1">
                <a:solidFill>
                  <a:srgbClr val="2164CB"/>
                </a:solidFill>
                <a:latin typeface="AppleGothic"/>
                <a:ea typeface="AppleGothic"/>
                <a:cs typeface="AppleGothic"/>
              </a:defRPr>
            </a:lvl5pPr>
            <a:lvl6pPr>
              <a:defRPr sz="2175" b="1">
                <a:solidFill>
                  <a:srgbClr val="2164CB"/>
                </a:solidFill>
                <a:latin typeface="AppleGothic"/>
                <a:ea typeface="AppleGothic"/>
                <a:cs typeface="AppleGothic"/>
              </a:defRPr>
            </a:lvl6pPr>
            <a:lvl7pPr>
              <a:defRPr sz="2175" b="1">
                <a:solidFill>
                  <a:srgbClr val="2164CB"/>
                </a:solidFill>
                <a:latin typeface="AppleGothic"/>
                <a:ea typeface="AppleGothic"/>
                <a:cs typeface="AppleGothic"/>
              </a:defRPr>
            </a:lvl7pPr>
            <a:lvl8pPr>
              <a:defRPr sz="2175" b="1">
                <a:solidFill>
                  <a:srgbClr val="2164CB"/>
                </a:solidFill>
                <a:latin typeface="AppleGothic"/>
                <a:ea typeface="AppleGothic"/>
                <a:cs typeface="AppleGothic"/>
              </a:defRPr>
            </a:lvl8pPr>
            <a:lvl9pPr>
              <a:defRPr sz="2175" b="1">
                <a:solidFill>
                  <a:srgbClr val="2164CB"/>
                </a:solidFill>
                <a:latin typeface="AppleGothic"/>
                <a:ea typeface="AppleGothic"/>
                <a:cs typeface="AppleGothic"/>
              </a:defRPr>
            </a:lvl9pPr>
          </a:lstStyle>
          <a:p xmlns:a="http://schemas.openxmlformats.org/drawingml/2006/main">
            <a:pPr>
              <a:defRPr sz="2175" b="1">
                <a:solidFill>
                  <a:srgbClr val="2164CB"/>
                </a:solidFill>
                <a:latin typeface="AppleGothic"/>
                <a:ea typeface="AppleGothic"/>
                <a:cs typeface="AppleGothic"/>
              </a:defRPr>
            </a:pPr>
            <a:r>
              <a:rPr sz="2175" b="1">
                <a:solidFill>
                  <a:srgbClr val="2164CB"/>
                </a:solidFill>
                <a:latin typeface="AppleGothic"/>
                <a:ea typeface="AppleGothic"/>
                <a:cs typeface="AppleGothic"/>
              </a:rPr>
              <a:t>Voxel 안에서는 점을 요약하고, voxel 사이에서는 3D convolution으로 문맥을 합친다</a:t>
            </a:r>
          </a:p>
        </p:txBody>
      </p:sp>
      <p:graphicFrame>
        <p:nvGraphicFramePr>
          <p:cNvPr id="3" name="">
            <a:extLst xmlns:a="http://schemas.openxmlformats.org/drawingml/2006/main">
              <a:ext uri="{FF2B5EF4-FFF2-40B4-BE49-F238E27FC236}">
                <a16:creationId xmlns:a16="http://schemas.microsoft.com/office/drawing/2014/main" id="{5BAF78A7-9D92-4082-B591-CD7EB1A01C70}"/>
              </a:ext>
            </a:extLst>
          </p:cNvPr>
          <p:cNvGraphicFramePr/>
          <p:nvPr/>
        </p:nvGraphicFramePr>
        <p:xfrm>
          <a:off xmlns:a="http://schemas.openxmlformats.org/drawingml/2006/main" x="533400" y="2057400"/>
          <a:ext xmlns:a="http://schemas.openxmlformats.org/drawingml/2006/main" cx="11125200" cy="2952750"/>
        </p:xfrm>
        <a:graphic xmlns:a="http://schemas.openxmlformats.org/drawingml/2006/main">
          <a:graphicData uri="http://schemas.openxmlformats.org/drawingml/2006/table">
            <a:tbl>
              <a:tblPr/>
              <a:tblGrid>
                <a:gridCol w="3708400"/>
                <a:gridCol w="3708400"/>
                <a:gridCol w="3708400"/>
              </a:tblGrid>
              <a:tr h="590550">
                <a:tc>
                  <a:txBody>
                    <a:bodyPr/>
                    <a:lstStyle/>
                    <a:p>
                      <a:r>
                        <a:rPr sz="1800" b="1">
                          <a:solidFill>
                            <a:srgbClr val="2164CB"/>
                          </a:solidFill>
                          <a:latin typeface="AppleGothic"/>
                          <a:ea typeface="AppleGothic"/>
                          <a:cs typeface="AppleGothic"/>
                        </a:rPr>
                        <a:t>Stage</a:t>
                      </a:r>
                    </a:p>
                  </a:txBody>
                  <a:tcPr marL="114300" marR="114300" marT="95250" marB="95250">
                    <a:lnL w="9525">
                      <a:solidFill>
                        <a:srgbClr val="D7DFEA"/>
                      </a:solidFill>
                      <a:prstDash val="solid"/>
                    </a:lnL>
                    <a:lnR w="9525">
                      <a:solidFill>
                        <a:srgbClr val="D7DFEA"/>
                      </a:solidFill>
                      <a:prstDash val="solid"/>
                    </a:lnR>
                    <a:lnT w="9525">
                      <a:solidFill>
                        <a:srgbClr val="D7DFEA"/>
                      </a:solidFill>
                      <a:prstDash val="solid"/>
                    </a:lnT>
                    <a:lnB w="9525">
                      <a:solidFill>
                        <a:srgbClr val="D7DFEA"/>
                      </a:solidFill>
                      <a:prstDash val="solid"/>
                    </a:lnB>
                    <a:solidFill>
                      <a:srgbClr val="EAF1FC"/>
                    </a:solidFill>
                  </a:tcPr>
                </a:tc>
                <a:tc>
                  <a:txBody>
                    <a:bodyPr/>
                    <a:lstStyle/>
                    <a:p>
                      <a:r>
                        <a:rPr sz="1800" b="1">
                          <a:solidFill>
                            <a:srgbClr val="2164CB"/>
                          </a:solidFill>
                          <a:latin typeface="AppleGothic"/>
                          <a:ea typeface="AppleGothic"/>
                          <a:cs typeface="AppleGothic"/>
                        </a:rPr>
                        <a:t>Saved shape</a:t>
                      </a:r>
                    </a:p>
                  </a:txBody>
                  <a:tcPr marL="114300" marR="114300" marT="95250" marB="95250">
                    <a:lnR w="9525">
                      <a:solidFill>
                        <a:srgbClr val="D7DFEA"/>
                      </a:solidFill>
                      <a:prstDash val="solid"/>
                    </a:lnR>
                    <a:lnT w="9525">
                      <a:solidFill>
                        <a:srgbClr val="D7DFEA"/>
                      </a:solidFill>
                      <a:prstDash val="solid"/>
                    </a:lnT>
                    <a:lnB w="9525">
                      <a:solidFill>
                        <a:srgbClr val="D7DFEA"/>
                      </a:solidFill>
                      <a:prstDash val="solid"/>
                    </a:lnB>
                    <a:solidFill>
                      <a:srgbClr val="EAF1FC"/>
                    </a:solidFill>
                  </a:tcPr>
                </a:tc>
                <a:tc>
                  <a:txBody>
                    <a:bodyPr/>
                    <a:lstStyle/>
                    <a:p>
                      <a:r>
                        <a:rPr sz="1800" b="1">
                          <a:solidFill>
                            <a:srgbClr val="2164CB"/>
                          </a:solidFill>
                          <a:latin typeface="AppleGothic"/>
                          <a:ea typeface="AppleGothic"/>
                          <a:cs typeface="AppleGothic"/>
                        </a:rPr>
                        <a:t>Meaning</a:t>
                      </a:r>
                    </a:p>
                  </a:txBody>
                  <a:tcPr marL="114300" marR="114300" marT="95250" marB="95250">
                    <a:lnR w="9525">
                      <a:solidFill>
                        <a:srgbClr val="D7DFEA"/>
                      </a:solidFill>
                      <a:prstDash val="solid"/>
                    </a:lnR>
                    <a:lnT w="9525">
                      <a:solidFill>
                        <a:srgbClr val="D7DFEA"/>
                      </a:solidFill>
                      <a:prstDash val="solid"/>
                    </a:lnT>
                    <a:lnB w="9525">
                      <a:solidFill>
                        <a:srgbClr val="D7DFEA"/>
                      </a:solidFill>
                      <a:prstDash val="solid"/>
                    </a:lnB>
                    <a:solidFill>
                      <a:srgbClr val="EAF1FC"/>
                    </a:solidFill>
                  </a:tcPr>
                </a:tc>
              </a:tr>
              <a:tr h="590550">
                <a:tc>
                  <a:txBody>
                    <a:bodyPr/>
                    <a:lstStyle/>
                    <a:p>
                      <a:r>
                        <a:rPr sz="1800">
                          <a:solidFill>
                            <a:srgbClr val="15243B"/>
                          </a:solidFill>
                          <a:latin typeface="AppleGothic"/>
                          <a:ea typeface="AppleGothic"/>
                          <a:cs typeface="AppleGothic"/>
                        </a:rPr>
                        <a:t>Point features</a:t>
                      </a:r>
                    </a:p>
                  </a:txBody>
                  <a:tcPr marL="114300" marR="114300" marT="95250" marB="95250">
                    <a:lnL w="9525">
                      <a:solidFill>
                        <a:srgbClr val="D7DFEA"/>
                      </a:solidFill>
                      <a:prstDash val="solid"/>
                    </a:lnL>
                    <a:lnR w="9525">
                      <a:solidFill>
                        <a:srgbClr val="D7DFEA"/>
                      </a:solidFill>
                      <a:prstDash val="solid"/>
                    </a:lnR>
                    <a:lnB w="9525">
                      <a:solidFill>
                        <a:srgbClr val="D7DFEA"/>
                      </a:solidFill>
                      <a:prstDash val="solid"/>
                    </a:lnB>
                  </a:tcPr>
                </a:tc>
                <a:tc>
                  <a:txBody>
                    <a:bodyPr/>
                    <a:lstStyle/>
                    <a:p>
                      <a:r>
                        <a:rPr sz="1800">
                          <a:solidFill>
                            <a:srgbClr val="15243B"/>
                          </a:solidFill>
                          <a:latin typeface="AppleGothic"/>
                          <a:ea typeface="AppleGothic"/>
                          <a:cs typeface="AppleGothic"/>
                        </a:rPr>
                        <a:t>V×32×7</a:t>
                      </a:r>
                    </a:p>
                  </a:txBody>
                  <a:tcPr marL="114300" marR="114300" marT="95250" marB="95250">
                    <a:lnR w="9525">
                      <a:solidFill>
                        <a:srgbClr val="D7DFEA"/>
                      </a:solidFill>
                      <a:prstDash val="solid"/>
                    </a:lnR>
                    <a:lnB w="9525">
                      <a:solidFill>
                        <a:srgbClr val="D7DFEA"/>
                      </a:solidFill>
                      <a:prstDash val="solid"/>
                    </a:lnB>
                  </a:tcPr>
                </a:tc>
                <a:tc>
                  <a:txBody>
                    <a:bodyPr/>
                    <a:lstStyle/>
                    <a:p>
                      <a:r>
                        <a:rPr sz="1800">
                          <a:solidFill>
                            <a:srgbClr val="15243B"/>
                          </a:solidFill>
                          <a:latin typeface="AppleGothic"/>
                          <a:ea typeface="AppleGothic"/>
                          <a:cs typeface="AppleGothic"/>
                        </a:rPr>
                        <a:t>좌표·reflectance·평균 상대 좌표</a:t>
                      </a:r>
                    </a:p>
                  </a:txBody>
                  <a:tcPr marL="114300" marR="114300" marT="95250" marB="95250">
                    <a:lnR w="9525">
                      <a:solidFill>
                        <a:srgbClr val="D7DFEA"/>
                      </a:solidFill>
                      <a:prstDash val="solid"/>
                    </a:lnR>
                    <a:lnB w="9525">
                      <a:solidFill>
                        <a:srgbClr val="D7DFEA"/>
                      </a:solidFill>
                      <a:prstDash val="solid"/>
                    </a:lnB>
                  </a:tcPr>
                </a:tc>
              </a:tr>
              <a:tr h="590550">
                <a:tc>
                  <a:txBody>
                    <a:bodyPr/>
                    <a:lstStyle/>
                    <a:p>
                      <a:r>
                        <a:rPr sz="1800">
                          <a:solidFill>
                            <a:srgbClr val="15243B"/>
                          </a:solidFill>
                          <a:latin typeface="AppleGothic"/>
                          <a:ea typeface="AppleGothic"/>
                          <a:cs typeface="AppleGothic"/>
                        </a:rPr>
                        <a:t>VFE + max</a:t>
                      </a:r>
                    </a:p>
                  </a:txBody>
                  <a:tcPr marL="114300" marR="114300" marT="95250" marB="95250">
                    <a:lnL w="9525">
                      <a:solidFill>
                        <a:srgbClr val="D7DFEA"/>
                      </a:solidFill>
                      <a:prstDash val="solid"/>
                    </a:lnL>
                    <a:lnR w="9525">
                      <a:solidFill>
                        <a:srgbClr val="D7DFEA"/>
                      </a:solidFill>
                      <a:prstDash val="solid"/>
                    </a:lnR>
                    <a:lnB w="9525">
                      <a:solidFill>
                        <a:srgbClr val="D7DFEA"/>
                      </a:solidFill>
                      <a:prstDash val="solid"/>
                    </a:lnB>
                  </a:tcPr>
                </a:tc>
                <a:tc>
                  <a:txBody>
                    <a:bodyPr/>
                    <a:lstStyle/>
                    <a:p>
                      <a:r>
                        <a:rPr sz="1800">
                          <a:solidFill>
                            <a:srgbClr val="15243B"/>
                          </a:solidFill>
                          <a:latin typeface="AppleGothic"/>
                          <a:ea typeface="AppleGothic"/>
                          <a:cs typeface="AppleGothic"/>
                        </a:rPr>
                        <a:t>V×64</a:t>
                      </a:r>
                    </a:p>
                  </a:txBody>
                  <a:tcPr marL="114300" marR="114300" marT="95250" marB="95250">
                    <a:lnR w="9525">
                      <a:solidFill>
                        <a:srgbClr val="D7DFEA"/>
                      </a:solidFill>
                      <a:prstDash val="solid"/>
                    </a:lnR>
                    <a:lnB w="9525">
                      <a:solidFill>
                        <a:srgbClr val="D7DFEA"/>
                      </a:solidFill>
                      <a:prstDash val="solid"/>
                    </a:lnB>
                  </a:tcPr>
                </a:tc>
                <a:tc>
                  <a:txBody>
                    <a:bodyPr/>
                    <a:lstStyle/>
                    <a:p>
                      <a:r>
                        <a:rPr sz="1800">
                          <a:solidFill>
                            <a:srgbClr val="15243B"/>
                          </a:solidFill>
                          <a:latin typeface="AppleGothic"/>
                          <a:ea typeface="AppleGothic"/>
                          <a:cs typeface="AppleGothic"/>
                        </a:rPr>
                        <a:t>voxel마다 고정 길이 특징</a:t>
                      </a:r>
                    </a:p>
                  </a:txBody>
                  <a:tcPr marL="114300" marR="114300" marT="95250" marB="95250">
                    <a:lnR w="9525">
                      <a:solidFill>
                        <a:srgbClr val="D7DFEA"/>
                      </a:solidFill>
                      <a:prstDash val="solid"/>
                    </a:lnR>
                    <a:lnB w="9525">
                      <a:solidFill>
                        <a:srgbClr val="D7DFEA"/>
                      </a:solidFill>
                      <a:prstDash val="solid"/>
                    </a:lnB>
                  </a:tcPr>
                </a:tc>
              </a:tr>
              <a:tr h="590550">
                <a:tc>
                  <a:txBody>
                    <a:bodyPr/>
                    <a:lstStyle/>
                    <a:p>
                      <a:r>
                        <a:rPr sz="1800">
                          <a:solidFill>
                            <a:srgbClr val="15243B"/>
                          </a:solidFill>
                          <a:latin typeface="AppleGothic"/>
                          <a:ea typeface="AppleGothic"/>
                          <a:cs typeface="AppleGothic"/>
                        </a:rPr>
                        <a:t>Scatter / 3D conv</a:t>
                      </a:r>
                    </a:p>
                  </a:txBody>
                  <a:tcPr marL="114300" marR="114300" marT="95250" marB="95250">
                    <a:lnL w="9525">
                      <a:solidFill>
                        <a:srgbClr val="D7DFEA"/>
                      </a:solidFill>
                      <a:prstDash val="solid"/>
                    </a:lnL>
                    <a:lnR w="9525">
                      <a:solidFill>
                        <a:srgbClr val="D7DFEA"/>
                      </a:solidFill>
                      <a:prstDash val="solid"/>
                    </a:lnR>
                    <a:lnB w="9525">
                      <a:solidFill>
                        <a:srgbClr val="D7DFEA"/>
                      </a:solidFill>
                      <a:prstDash val="solid"/>
                    </a:lnB>
                  </a:tcPr>
                </a:tc>
                <a:tc>
                  <a:txBody>
                    <a:bodyPr/>
                    <a:lstStyle/>
                    <a:p>
                      <a:r>
                        <a:rPr sz="1800">
                          <a:solidFill>
                            <a:srgbClr val="15243B"/>
                          </a:solidFill>
                          <a:latin typeface="AppleGothic"/>
                          <a:ea typeface="AppleGothic"/>
                          <a:cs typeface="AppleGothic"/>
                        </a:rPr>
                        <a:t>1×64×10×256×256</a:t>
                      </a:r>
                    </a:p>
                    <a:p>
                      <a:r>
                        <a:rPr sz="1800">
                          <a:solidFill>
                            <a:srgbClr val="15243B"/>
                          </a:solidFill>
                          <a:latin typeface="AppleGothic"/>
                          <a:ea typeface="AppleGothic"/>
                          <a:cs typeface="AppleGothic"/>
                        </a:rPr>
                        <a:t>→1×32×3×256×256</a:t>
                      </a:r>
                    </a:p>
                  </a:txBody>
                  <a:tcPr marL="114300" marR="114300" marT="95250" marB="95250">
                    <a:lnR w="9525">
                      <a:solidFill>
                        <a:srgbClr val="D7DFEA"/>
                      </a:solidFill>
                      <a:prstDash val="solid"/>
                    </a:lnR>
                    <a:lnB w="9525">
                      <a:solidFill>
                        <a:srgbClr val="D7DFEA"/>
                      </a:solidFill>
                      <a:prstDash val="solid"/>
                    </a:lnB>
                  </a:tcPr>
                </a:tc>
                <a:tc>
                  <a:txBody>
                    <a:bodyPr/>
                    <a:lstStyle/>
                    <a:p>
                      <a:r>
                        <a:rPr sz="1800">
                          <a:solidFill>
                            <a:srgbClr val="15243B"/>
                          </a:solidFill>
                          <a:latin typeface="AppleGothic"/>
                          <a:ea typeface="AppleGothic"/>
                          <a:cs typeface="AppleGothic"/>
                        </a:rPr>
                        <a:t>grid 배치 뒤 3D 이웃 결합</a:t>
                      </a:r>
                    </a:p>
                  </a:txBody>
                  <a:tcPr marL="114300" marR="114300" marT="95250" marB="95250">
                    <a:lnR w="9525">
                      <a:solidFill>
                        <a:srgbClr val="D7DFEA"/>
                      </a:solidFill>
                      <a:prstDash val="solid"/>
                    </a:lnR>
                    <a:lnB w="9525">
                      <a:solidFill>
                        <a:srgbClr val="D7DFEA"/>
                      </a:solidFill>
                      <a:prstDash val="solid"/>
                    </a:lnB>
                  </a:tcPr>
                </a:tc>
              </a:tr>
              <a:tr h="590550">
                <a:tc>
                  <a:txBody>
                    <a:bodyPr/>
                    <a:lstStyle/>
                    <a:p>
                      <a:r>
                        <a:rPr sz="1800">
                          <a:solidFill>
                            <a:srgbClr val="15243B"/>
                          </a:solidFill>
                          <a:latin typeface="AppleGothic"/>
                          <a:ea typeface="AppleGothic"/>
                          <a:cs typeface="AppleGothic"/>
                        </a:rPr>
                        <a:t>BEV / box head</a:t>
                      </a:r>
                    </a:p>
                  </a:txBody>
                  <a:tcPr marL="114300" marR="114300" marT="95250" marB="95250">
                    <a:lnL w="9525">
                      <a:solidFill>
                        <a:srgbClr val="D7DFEA"/>
                      </a:solidFill>
                      <a:prstDash val="solid"/>
                    </a:lnL>
                    <a:lnR w="9525">
                      <a:solidFill>
                        <a:srgbClr val="D7DFEA"/>
                      </a:solidFill>
                      <a:prstDash val="solid"/>
                    </a:lnR>
                    <a:lnB w="9525">
                      <a:solidFill>
                        <a:srgbClr val="D7DFEA"/>
                      </a:solidFill>
                      <a:prstDash val="solid"/>
                    </a:lnB>
                  </a:tcPr>
                </a:tc>
                <a:tc>
                  <a:txBody>
                    <a:bodyPr/>
                    <a:lstStyle/>
                    <a:p>
                      <a:r>
                        <a:rPr sz="1800">
                          <a:solidFill>
                            <a:srgbClr val="15243B"/>
                          </a:solidFill>
                          <a:latin typeface="AppleGothic"/>
                          <a:ea typeface="AppleGothic"/>
                          <a:cs typeface="AppleGothic"/>
                        </a:rPr>
                        <a:t>1×96×256×256</a:t>
                      </a:r>
                    </a:p>
                    <a:p>
                      <a:r>
                        <a:rPr sz="1800">
                          <a:solidFill>
                            <a:srgbClr val="15243B"/>
                          </a:solidFill>
                          <a:latin typeface="AppleGothic"/>
                          <a:ea typeface="AppleGothic"/>
                          <a:cs typeface="AppleGothic"/>
                        </a:rPr>
                        <a:t>→65,536×7</a:t>
                      </a:r>
                    </a:p>
                  </a:txBody>
                  <a:tcPr marL="114300" marR="114300" marT="95250" marB="95250">
                    <a:lnR w="9525">
                      <a:solidFill>
                        <a:srgbClr val="D7DFEA"/>
                      </a:solidFill>
                      <a:prstDash val="solid"/>
                    </a:lnR>
                    <a:lnB w="9525">
                      <a:solidFill>
                        <a:srgbClr val="D7DFEA"/>
                      </a:solidFill>
                      <a:prstDash val="solid"/>
                    </a:lnB>
                  </a:tcPr>
                </a:tc>
                <a:tc>
                  <a:txBody>
                    <a:bodyPr/>
                    <a:lstStyle/>
                    <a:p>
                      <a:r>
                        <a:rPr sz="1800">
                          <a:solidFill>
                            <a:srgbClr val="15243B"/>
                          </a:solidFill>
                          <a:latin typeface="AppleGothic"/>
                          <a:ea typeface="AppleGothic"/>
                          <a:cs typeface="AppleGothic"/>
                        </a:rPr>
                        <a:t>height를 channel에 합쳐 box 예측</a:t>
                      </a:r>
                    </a:p>
                  </a:txBody>
                  <a:tcPr marL="114300" marR="114300" marT="95250" marB="95250">
                    <a:lnR w="9525">
                      <a:solidFill>
                        <a:srgbClr val="D7DFEA"/>
                      </a:solidFill>
                      <a:prstDash val="solid"/>
                    </a:lnR>
                    <a:lnB w="9525">
                      <a:solidFill>
                        <a:srgbClr val="D7DFEA"/>
                      </a:solidFill>
                      <a:prstDash val="solid"/>
                    </a:lnB>
                  </a:tcPr>
                </a:tc>
              </a:tr>
            </a:tbl>
          </a:graphicData>
        </a:graphic>
      </p:graphicFrame>
      <p:sp>
        <p:nvSpPr>
          <p:cNvPr id="4" name="">
            <a:extLst xmlns:a="http://schemas.openxmlformats.org/drawingml/2006/main">
              <a:ext uri="{FF2B5EF4-FFF2-40B4-BE49-F238E27FC236}">
                <a16:creationId xmlns:a16="http://schemas.microsoft.com/office/drawing/2014/main" id="{EE37AA11-5693-42DF-A550-4DD0A9536D66}"/>
              </a:ext>
            </a:extLst>
          </p:cNvPr>
          <p:cNvSpPr>
            <a:spLocks xmlns:a="http://schemas.openxmlformats.org/drawingml/2006/main" noGrp="1"/>
          </p:cNvSpPr>
          <p:nvPr/>
        </p:nvSpPr>
        <p:spPr>
          <a:xfrm xmlns:a="http://schemas.openxmlformats.org/drawingml/2006/main">
            <a:off x="533400" y="5391150"/>
            <a:ext cx="11125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15243B"/>
                </a:solidFill>
                <a:latin typeface="AppleGothic"/>
                <a:ea typeface="AppleGothic"/>
                <a:cs typeface="AppleGothic"/>
              </a:defRPr>
            </a:defPPr>
            <a:lvl1pPr>
              <a:defRPr sz="1800" b="0">
                <a:solidFill>
                  <a:srgbClr val="15243B"/>
                </a:solidFill>
                <a:latin typeface="AppleGothic"/>
                <a:ea typeface="AppleGothic"/>
                <a:cs typeface="AppleGothic"/>
              </a:defRPr>
            </a:lvl1pPr>
            <a:lvl2pPr>
              <a:defRPr sz="1800" b="0">
                <a:solidFill>
                  <a:srgbClr val="15243B"/>
                </a:solidFill>
                <a:latin typeface="AppleGothic"/>
                <a:ea typeface="AppleGothic"/>
                <a:cs typeface="AppleGothic"/>
              </a:defRPr>
            </a:lvl2pPr>
            <a:lvl3pPr>
              <a:defRPr sz="1800" b="0">
                <a:solidFill>
                  <a:srgbClr val="15243B"/>
                </a:solidFill>
                <a:latin typeface="AppleGothic"/>
                <a:ea typeface="AppleGothic"/>
                <a:cs typeface="AppleGothic"/>
              </a:defRPr>
            </a:lvl3pPr>
            <a:lvl4pPr>
              <a:defRPr sz="1800" b="0">
                <a:solidFill>
                  <a:srgbClr val="15243B"/>
                </a:solidFill>
                <a:latin typeface="AppleGothic"/>
                <a:ea typeface="AppleGothic"/>
                <a:cs typeface="AppleGothic"/>
              </a:defRPr>
            </a:lvl4pPr>
            <a:lvl5pPr>
              <a:defRPr sz="1800" b="0">
                <a:solidFill>
                  <a:srgbClr val="15243B"/>
                </a:solidFill>
                <a:latin typeface="AppleGothic"/>
                <a:ea typeface="AppleGothic"/>
                <a:cs typeface="AppleGothic"/>
              </a:defRPr>
            </a:lvl5pPr>
            <a:lvl6pPr>
              <a:defRPr sz="1800" b="0">
                <a:solidFill>
                  <a:srgbClr val="15243B"/>
                </a:solidFill>
                <a:latin typeface="AppleGothic"/>
                <a:ea typeface="AppleGothic"/>
                <a:cs typeface="AppleGothic"/>
              </a:defRPr>
            </a:lvl6pPr>
            <a:lvl7pPr>
              <a:defRPr sz="1800" b="0">
                <a:solidFill>
                  <a:srgbClr val="15243B"/>
                </a:solidFill>
                <a:latin typeface="AppleGothic"/>
                <a:ea typeface="AppleGothic"/>
                <a:cs typeface="AppleGothic"/>
              </a:defRPr>
            </a:lvl7pPr>
            <a:lvl8pPr>
              <a:defRPr sz="1800" b="0">
                <a:solidFill>
                  <a:srgbClr val="15243B"/>
                </a:solidFill>
                <a:latin typeface="AppleGothic"/>
                <a:ea typeface="AppleGothic"/>
                <a:cs typeface="AppleGothic"/>
              </a:defRPr>
            </a:lvl8pPr>
            <a:lvl9pPr>
              <a:defRPr sz="1800" b="0">
                <a:solidFill>
                  <a:srgbClr val="15243B"/>
                </a:solidFill>
                <a:latin typeface="AppleGothic"/>
                <a:ea typeface="AppleGothic"/>
                <a:cs typeface="AppleGothic"/>
              </a:defRPr>
            </a:lvl9pPr>
          </a:lstStyle>
          <a:p xmlns:a="http://schemas.openxmlformats.org/drawingml/2006/main">
            <a:pPr>
              <a:defRPr sz="1800" b="0">
                <a:solidFill>
                  <a:srgbClr val="15243B"/>
                </a:solidFill>
                <a:latin typeface="AppleGothic"/>
                <a:ea typeface="AppleGothic"/>
                <a:cs typeface="AppleGothic"/>
              </a:defRPr>
            </a:pPr>
            <a:r>
              <a:rPr sz="1800" b="0">
                <a:solidFill>
                  <a:srgbClr val="15243B"/>
                </a:solidFill>
                <a:latin typeface="AppleGothic"/>
                <a:ea typeface="AppleGothic"/>
                <a:cs typeface="AppleGothic"/>
              </a:rPr>
              <a:t>Point cap 32는 voxel 개수가 아니다. 저장 장면의 occupied voxel V는 7,236개다.</a:t>
            </a:r>
          </a:p>
          <a:p xmlns:a="http://schemas.openxmlformats.org/drawingml/2006/main">
            <a:pPr>
              <a:defRPr sz="1800" b="0">
                <a:solidFill>
                  <a:srgbClr val="15243B"/>
                </a:solidFill>
                <a:latin typeface="AppleGothic"/>
                <a:ea typeface="AppleGothic"/>
                <a:cs typeface="AppleGothic"/>
              </a:defRPr>
            </a:pPr>
            <a:r>
              <a:rPr sz="1800" b="0">
                <a:solidFill>
                  <a:srgbClr val="15243B"/>
                </a:solidFill>
                <a:latin typeface="AppleGothic"/>
                <a:ea typeface="AppleGothic"/>
                <a:cs typeface="AppleGothic"/>
              </a:rPr>
              <a:t>32 channels×3 height=96 channels다. Height를 평균으로 버린 것이 아니다.</a:t>
            </a:r>
          </a:p>
        </p:txBody>
      </p:sp>
      <p:sp>
        <p:nvSpPr>
          <p:cNvPr id="5" name="">
            <a:extLst xmlns:a="http://schemas.openxmlformats.org/drawingml/2006/main">
              <a:ext uri="{FF2B5EF4-FFF2-40B4-BE49-F238E27FC236}">
                <a16:creationId xmlns:a16="http://schemas.microsoft.com/office/drawing/2014/main" id="{7B76D47F-914C-4524-BB21-24398BDA8E19}"/>
              </a:ext>
            </a:extLst>
          </p:cNvPr>
          <p:cNvSpPr>
            <a:spLocks xmlns:a="http://schemas.openxmlformats.org/drawingml/2006/main" noGrp="1"/>
          </p:cNvSpPr>
          <p:nvPr/>
        </p:nvSpPr>
        <p:spPr>
          <a:xfrm xmlns:a="http://schemas.openxmlformats.org/drawingml/2006/main">
            <a:off x="11144250" y="6400800"/>
            <a:ext cx="5143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62748C"/>
                </a:solidFill>
                <a:latin typeface="AppleGothic"/>
                <a:ea typeface="AppleGothic"/>
                <a:cs typeface="AppleGothic"/>
              </a:defRPr>
            </a:defPPr>
            <a:lvl1pPr>
              <a:defRPr sz="1350" b="0">
                <a:solidFill>
                  <a:srgbClr val="62748C"/>
                </a:solidFill>
                <a:latin typeface="AppleGothic"/>
                <a:ea typeface="AppleGothic"/>
                <a:cs typeface="AppleGothic"/>
              </a:defRPr>
            </a:lvl1pPr>
            <a:lvl2pPr>
              <a:defRPr sz="1350" b="0">
                <a:solidFill>
                  <a:srgbClr val="62748C"/>
                </a:solidFill>
                <a:latin typeface="AppleGothic"/>
                <a:ea typeface="AppleGothic"/>
                <a:cs typeface="AppleGothic"/>
              </a:defRPr>
            </a:lvl2pPr>
            <a:lvl3pPr>
              <a:defRPr sz="1350" b="0">
                <a:solidFill>
                  <a:srgbClr val="62748C"/>
                </a:solidFill>
                <a:latin typeface="AppleGothic"/>
                <a:ea typeface="AppleGothic"/>
                <a:cs typeface="AppleGothic"/>
              </a:defRPr>
            </a:lvl3pPr>
            <a:lvl4pPr>
              <a:defRPr sz="1350" b="0">
                <a:solidFill>
                  <a:srgbClr val="62748C"/>
                </a:solidFill>
                <a:latin typeface="AppleGothic"/>
                <a:ea typeface="AppleGothic"/>
                <a:cs typeface="AppleGothic"/>
              </a:defRPr>
            </a:lvl4pPr>
            <a:lvl5pPr>
              <a:defRPr sz="1350" b="0">
                <a:solidFill>
                  <a:srgbClr val="62748C"/>
                </a:solidFill>
                <a:latin typeface="AppleGothic"/>
                <a:ea typeface="AppleGothic"/>
                <a:cs typeface="AppleGothic"/>
              </a:defRPr>
            </a:lvl5pPr>
            <a:lvl6pPr>
              <a:defRPr sz="1350" b="0">
                <a:solidFill>
                  <a:srgbClr val="62748C"/>
                </a:solidFill>
                <a:latin typeface="AppleGothic"/>
                <a:ea typeface="AppleGothic"/>
                <a:cs typeface="AppleGothic"/>
              </a:defRPr>
            </a:lvl6pPr>
            <a:lvl7pPr>
              <a:defRPr sz="1350" b="0">
                <a:solidFill>
                  <a:srgbClr val="62748C"/>
                </a:solidFill>
                <a:latin typeface="AppleGothic"/>
                <a:ea typeface="AppleGothic"/>
                <a:cs typeface="AppleGothic"/>
              </a:defRPr>
            </a:lvl7pPr>
            <a:lvl8pPr>
              <a:defRPr sz="1350" b="0">
                <a:solidFill>
                  <a:srgbClr val="62748C"/>
                </a:solidFill>
                <a:latin typeface="AppleGothic"/>
                <a:ea typeface="AppleGothic"/>
                <a:cs typeface="AppleGothic"/>
              </a:defRPr>
            </a:lvl8pPr>
            <a:lvl9pPr>
              <a:defRPr sz="1350" b="0">
                <a:solidFill>
                  <a:srgbClr val="62748C"/>
                </a:solidFill>
                <a:latin typeface="AppleGothic"/>
                <a:ea typeface="AppleGothic"/>
                <a:cs typeface="AppleGothic"/>
              </a:defRPr>
            </a:lvl9pPr>
          </a:lstStyle>
          <a:p xmlns:a="http://schemas.openxmlformats.org/drawingml/2006/main">
            <a:pPr>
              <a:defRPr sz="1350" b="0">
                <a:solidFill>
                  <a:srgbClr val="62748C"/>
                </a:solidFill>
                <a:latin typeface="AppleGothic"/>
                <a:ea typeface="AppleGothic"/>
                <a:cs typeface="AppleGothic"/>
              </a:defRPr>
            </a:pPr>
            <a:r>
              <a:rPr sz="1350" b="0">
                <a:solidFill>
                  <a:srgbClr val="62748C"/>
                </a:solidFill>
                <a:latin typeface="AppleGothic"/>
                <a:ea typeface="AppleGothic"/>
                <a:cs typeface="AppleGothic"/>
              </a:rPr>
              <a:t>34</a:t>
            </a:r>
          </a:p>
        </p:txBody>
      </p:sp>
    </p:spTree>
    <p:extLst>
      <p:ext uri="{BB962C8B-B14F-4D97-AF65-F5344CB8AC3E}">
        <p14:creationId xmlns:p14="http://schemas.microsoft.com/office/powerpoint/2010/main" val="1387545449"/>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93307704-009B-4C27-B718-DEC82C069FA4}"/>
              </a:ext>
            </a:extLst>
          </p:cNvPr>
          <p:cNvSpPr>
            <a:spLocks xmlns:a="http://schemas.openxmlformats.org/drawingml/2006/main" noGrp="1"/>
          </p:cNvSpPr>
          <p:nvPr/>
        </p:nvSpPr>
        <p:spPr>
          <a:xfrm xmlns:a="http://schemas.openxmlformats.org/drawingml/2006/main">
            <a:off x="533400" y="342900"/>
            <a:ext cx="111252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150" b="1">
                <a:solidFill>
                  <a:srgbClr val="15243B"/>
                </a:solidFill>
                <a:latin typeface="AppleGothic"/>
                <a:ea typeface="AppleGothic"/>
                <a:cs typeface="AppleGothic"/>
              </a:defRPr>
            </a:defPPr>
            <a:lvl1pPr>
              <a:defRPr sz="3150" b="1">
                <a:solidFill>
                  <a:srgbClr val="15243B"/>
                </a:solidFill>
                <a:latin typeface="AppleGothic"/>
                <a:ea typeface="AppleGothic"/>
                <a:cs typeface="AppleGothic"/>
              </a:defRPr>
            </a:lvl1pPr>
            <a:lvl2pPr>
              <a:defRPr sz="3150" b="1">
                <a:solidFill>
                  <a:srgbClr val="15243B"/>
                </a:solidFill>
                <a:latin typeface="AppleGothic"/>
                <a:ea typeface="AppleGothic"/>
                <a:cs typeface="AppleGothic"/>
              </a:defRPr>
            </a:lvl2pPr>
            <a:lvl3pPr>
              <a:defRPr sz="3150" b="1">
                <a:solidFill>
                  <a:srgbClr val="15243B"/>
                </a:solidFill>
                <a:latin typeface="AppleGothic"/>
                <a:ea typeface="AppleGothic"/>
                <a:cs typeface="AppleGothic"/>
              </a:defRPr>
            </a:lvl3pPr>
            <a:lvl4pPr>
              <a:defRPr sz="3150" b="1">
                <a:solidFill>
                  <a:srgbClr val="15243B"/>
                </a:solidFill>
                <a:latin typeface="AppleGothic"/>
                <a:ea typeface="AppleGothic"/>
                <a:cs typeface="AppleGothic"/>
              </a:defRPr>
            </a:lvl4pPr>
            <a:lvl5pPr>
              <a:defRPr sz="3150" b="1">
                <a:solidFill>
                  <a:srgbClr val="15243B"/>
                </a:solidFill>
                <a:latin typeface="AppleGothic"/>
                <a:ea typeface="AppleGothic"/>
                <a:cs typeface="AppleGothic"/>
              </a:defRPr>
            </a:lvl5pPr>
            <a:lvl6pPr>
              <a:defRPr sz="3150" b="1">
                <a:solidFill>
                  <a:srgbClr val="15243B"/>
                </a:solidFill>
                <a:latin typeface="AppleGothic"/>
                <a:ea typeface="AppleGothic"/>
                <a:cs typeface="AppleGothic"/>
              </a:defRPr>
            </a:lvl6pPr>
            <a:lvl7pPr>
              <a:defRPr sz="3150" b="1">
                <a:solidFill>
                  <a:srgbClr val="15243B"/>
                </a:solidFill>
                <a:latin typeface="AppleGothic"/>
                <a:ea typeface="AppleGothic"/>
                <a:cs typeface="AppleGothic"/>
              </a:defRPr>
            </a:lvl7pPr>
            <a:lvl8pPr>
              <a:defRPr sz="3150" b="1">
                <a:solidFill>
                  <a:srgbClr val="15243B"/>
                </a:solidFill>
                <a:latin typeface="AppleGothic"/>
                <a:ea typeface="AppleGothic"/>
                <a:cs typeface="AppleGothic"/>
              </a:defRPr>
            </a:lvl8pPr>
            <a:lvl9pPr>
              <a:defRPr sz="3150" b="1">
                <a:solidFill>
                  <a:srgbClr val="15243B"/>
                </a:solidFill>
                <a:latin typeface="AppleGothic"/>
                <a:ea typeface="AppleGothic"/>
                <a:cs typeface="AppleGothic"/>
              </a:defRPr>
            </a:lvl9pPr>
          </a:lstStyle>
          <a:p xmlns:a="http://schemas.openxmlformats.org/drawingml/2006/main">
            <a:pPr>
              <a:defRPr sz="3150" b="1">
                <a:solidFill>
                  <a:srgbClr val="15243B"/>
                </a:solidFill>
                <a:latin typeface="AppleGothic"/>
                <a:ea typeface="AppleGothic"/>
                <a:cs typeface="AppleGothic"/>
              </a:defRPr>
            </a:pPr>
            <a:r>
              <a:rPr sz="3150" b="1">
                <a:solidFill>
                  <a:srgbClr val="15243B"/>
                </a:solidFill>
                <a:latin typeface="AppleGothic"/>
                <a:ea typeface="AppleGothic"/>
                <a:cs typeface="AppleGothic"/>
              </a:rPr>
              <a:t>Training Score Maps</a:t>
            </a:r>
          </a:p>
        </p:txBody>
      </p:sp>
      <p:sp>
        <p:nvSpPr>
          <p:cNvPr id="2" name="">
            <a:extLst xmlns:a="http://schemas.openxmlformats.org/drawingml/2006/main">
              <a:ext uri="{FF2B5EF4-FFF2-40B4-BE49-F238E27FC236}">
                <a16:creationId xmlns:a16="http://schemas.microsoft.com/office/drawing/2014/main" id="{5AD59EBA-B5AF-4AAE-8F60-210F2BDEA6E6}"/>
              </a:ext>
            </a:extLst>
          </p:cNvPr>
          <p:cNvSpPr>
            <a:spLocks xmlns:a="http://schemas.openxmlformats.org/drawingml/2006/main" noGrp="1"/>
          </p:cNvSpPr>
          <p:nvPr/>
        </p:nvSpPr>
        <p:spPr>
          <a:xfrm xmlns:a="http://schemas.openxmlformats.org/drawingml/2006/main">
            <a:off x="533400" y="1066800"/>
            <a:ext cx="111252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1">
                <a:solidFill>
                  <a:srgbClr val="2164CB"/>
                </a:solidFill>
                <a:latin typeface="AppleGothic"/>
                <a:ea typeface="AppleGothic"/>
                <a:cs typeface="AppleGothic"/>
              </a:defRPr>
            </a:defPPr>
            <a:lvl1pPr>
              <a:defRPr sz="2175" b="1">
                <a:solidFill>
                  <a:srgbClr val="2164CB"/>
                </a:solidFill>
                <a:latin typeface="AppleGothic"/>
                <a:ea typeface="AppleGothic"/>
                <a:cs typeface="AppleGothic"/>
              </a:defRPr>
            </a:lvl1pPr>
            <a:lvl2pPr>
              <a:defRPr sz="2175" b="1">
                <a:solidFill>
                  <a:srgbClr val="2164CB"/>
                </a:solidFill>
                <a:latin typeface="AppleGothic"/>
                <a:ea typeface="AppleGothic"/>
                <a:cs typeface="AppleGothic"/>
              </a:defRPr>
            </a:lvl2pPr>
            <a:lvl3pPr>
              <a:defRPr sz="2175" b="1">
                <a:solidFill>
                  <a:srgbClr val="2164CB"/>
                </a:solidFill>
                <a:latin typeface="AppleGothic"/>
                <a:ea typeface="AppleGothic"/>
                <a:cs typeface="AppleGothic"/>
              </a:defRPr>
            </a:lvl3pPr>
            <a:lvl4pPr>
              <a:defRPr sz="2175" b="1">
                <a:solidFill>
                  <a:srgbClr val="2164CB"/>
                </a:solidFill>
                <a:latin typeface="AppleGothic"/>
                <a:ea typeface="AppleGothic"/>
                <a:cs typeface="AppleGothic"/>
              </a:defRPr>
            </a:lvl4pPr>
            <a:lvl5pPr>
              <a:defRPr sz="2175" b="1">
                <a:solidFill>
                  <a:srgbClr val="2164CB"/>
                </a:solidFill>
                <a:latin typeface="AppleGothic"/>
                <a:ea typeface="AppleGothic"/>
                <a:cs typeface="AppleGothic"/>
              </a:defRPr>
            </a:lvl5pPr>
            <a:lvl6pPr>
              <a:defRPr sz="2175" b="1">
                <a:solidFill>
                  <a:srgbClr val="2164CB"/>
                </a:solidFill>
                <a:latin typeface="AppleGothic"/>
                <a:ea typeface="AppleGothic"/>
                <a:cs typeface="AppleGothic"/>
              </a:defRPr>
            </a:lvl6pPr>
            <a:lvl7pPr>
              <a:defRPr sz="2175" b="1">
                <a:solidFill>
                  <a:srgbClr val="2164CB"/>
                </a:solidFill>
                <a:latin typeface="AppleGothic"/>
                <a:ea typeface="AppleGothic"/>
                <a:cs typeface="AppleGothic"/>
              </a:defRPr>
            </a:lvl7pPr>
            <a:lvl8pPr>
              <a:defRPr sz="2175" b="1">
                <a:solidFill>
                  <a:srgbClr val="2164CB"/>
                </a:solidFill>
                <a:latin typeface="AppleGothic"/>
                <a:ea typeface="AppleGothic"/>
                <a:cs typeface="AppleGothic"/>
              </a:defRPr>
            </a:lvl8pPr>
            <a:lvl9pPr>
              <a:defRPr sz="2175" b="1">
                <a:solidFill>
                  <a:srgbClr val="2164CB"/>
                </a:solidFill>
                <a:latin typeface="AppleGothic"/>
                <a:ea typeface="AppleGothic"/>
                <a:cs typeface="AppleGothic"/>
              </a:defRPr>
            </a:lvl9pPr>
          </a:lstStyle>
          <a:p xmlns:a="http://schemas.openxmlformats.org/drawingml/2006/main">
            <a:pPr>
              <a:defRPr sz="2175" b="1">
                <a:solidFill>
                  <a:srgbClr val="2164CB"/>
                </a:solidFill>
                <a:latin typeface="AppleGothic"/>
                <a:ea typeface="AppleGothic"/>
                <a:cs typeface="AppleGothic"/>
              </a:defRPr>
            </a:pPr>
            <a:r>
              <a:rPr sz="2175" b="1">
                <a:solidFill>
                  <a:srgbClr val="2164CB"/>
                </a:solidFill>
                <a:latin typeface="AppleGothic"/>
                <a:ea typeface="AppleGothic"/>
                <a:cs typeface="AppleGothic"/>
              </a:rPr>
              <a:t>왼쪽은 Car 확률, 가운데는 NMS 전 top-100 box, 오른쪽은 score&gt;0.5 최종 box다.</a:t>
            </a:r>
          </a:p>
          <a:p xmlns:a="http://schemas.openxmlformats.org/drawingml/2006/main">
            <a:pPr>
              <a:defRPr sz="2175" b="1">
                <a:solidFill>
                  <a:srgbClr val="2164CB"/>
                </a:solidFill>
                <a:latin typeface="AppleGothic"/>
                <a:ea typeface="AppleGothic"/>
                <a:cs typeface="AppleGothic"/>
              </a:defRPr>
            </a:pPr>
            <a:r>
              <a:rPr sz="2175" b="1">
                <a:solidFill>
                  <a:srgbClr val="2164CB"/>
                </a:solidFill>
                <a:latin typeface="AppleGothic"/>
                <a:ea typeface="AppleGothic"/>
                <a:cs typeface="AppleGothic"/>
              </a:rPr>
              <a:t>학습 뒤 객체 부근에 score가 모여도 false positive는 남을 수 있다</a:t>
            </a:r>
          </a:p>
        </p:txBody>
      </p:sp>
      <p:pic>
        <p:nvPicPr>
          <p:cNvPr id="3" name="">
            <a:extLst xmlns:a="http://schemas.openxmlformats.org/drawingml/2006/main">
              <a:ext uri="{FF2B5EF4-FFF2-40B4-BE49-F238E27FC236}">
                <a16:creationId xmlns:a16="http://schemas.microsoft.com/office/drawing/2014/main" id="{F1C2D700-3E58-441E-8BD9-01452712C2B4}"/>
              </a:ext>
            </a:extLst>
          </p:cNvPr>
          <p:cNvPicPr>
            <a:picLocks xmlns:a="http://schemas.openxmlformats.org/drawingml/2006/main" noChangeAspect="1"/>
          </p:cNvPicPr>
          <p:nvPr/>
        </p:nvPicPr>
        <p:blipFill>
          <a:blip xmlns:r="http://schemas.openxmlformats.org/officeDocument/2006/relationships" xmlns:a="http://schemas.openxmlformats.org/drawingml/2006/main" r:embed="R32d608a74ecf4a28"/>
          <a:stretch xmlns:a="http://schemas.openxmlformats.org/drawingml/2006/main"/>
        </p:blipFill>
        <p:spPr>
          <a:xfrm xmlns:a="http://schemas.openxmlformats.org/drawingml/2006/main">
            <a:off x="533400" y="2144451"/>
            <a:ext cx="11125200" cy="3512073"/>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D537CEC2-6593-45B6-92F5-EBE7C60A4CD5}"/>
              </a:ext>
            </a:extLst>
          </p:cNvPr>
          <p:cNvSpPr>
            <a:spLocks xmlns:a="http://schemas.openxmlformats.org/drawingml/2006/main" noGrp="1"/>
          </p:cNvSpPr>
          <p:nvPr/>
        </p:nvSpPr>
        <p:spPr>
          <a:xfrm xmlns:a="http://schemas.openxmlformats.org/drawingml/2006/main">
            <a:off x="533400" y="6067425"/>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526378"/>
                </a:solidFill>
                <a:latin typeface="AppleGothic"/>
                <a:ea typeface="AppleGothic"/>
                <a:cs typeface="AppleGothic"/>
              </a:defRPr>
            </a:defPPr>
            <a:lvl1pPr>
              <a:defRPr sz="1350" b="0">
                <a:solidFill>
                  <a:srgbClr val="526378"/>
                </a:solidFill>
                <a:latin typeface="AppleGothic"/>
                <a:ea typeface="AppleGothic"/>
                <a:cs typeface="AppleGothic"/>
              </a:defRPr>
            </a:lvl1pPr>
            <a:lvl2pPr>
              <a:defRPr sz="1350" b="0">
                <a:solidFill>
                  <a:srgbClr val="526378"/>
                </a:solidFill>
                <a:latin typeface="AppleGothic"/>
                <a:ea typeface="AppleGothic"/>
                <a:cs typeface="AppleGothic"/>
              </a:defRPr>
            </a:lvl2pPr>
            <a:lvl3pPr>
              <a:defRPr sz="1350" b="0">
                <a:solidFill>
                  <a:srgbClr val="526378"/>
                </a:solidFill>
                <a:latin typeface="AppleGothic"/>
                <a:ea typeface="AppleGothic"/>
                <a:cs typeface="AppleGothic"/>
              </a:defRPr>
            </a:lvl3pPr>
            <a:lvl4pPr>
              <a:defRPr sz="1350" b="0">
                <a:solidFill>
                  <a:srgbClr val="526378"/>
                </a:solidFill>
                <a:latin typeface="AppleGothic"/>
                <a:ea typeface="AppleGothic"/>
                <a:cs typeface="AppleGothic"/>
              </a:defRPr>
            </a:lvl4pPr>
            <a:lvl5pPr>
              <a:defRPr sz="1350" b="0">
                <a:solidFill>
                  <a:srgbClr val="526378"/>
                </a:solidFill>
                <a:latin typeface="AppleGothic"/>
                <a:ea typeface="AppleGothic"/>
                <a:cs typeface="AppleGothic"/>
              </a:defRPr>
            </a:lvl5pPr>
            <a:lvl6pPr>
              <a:defRPr sz="1350" b="0">
                <a:solidFill>
                  <a:srgbClr val="526378"/>
                </a:solidFill>
                <a:latin typeface="AppleGothic"/>
                <a:ea typeface="AppleGothic"/>
                <a:cs typeface="AppleGothic"/>
              </a:defRPr>
            </a:lvl6pPr>
            <a:lvl7pPr>
              <a:defRPr sz="1350" b="0">
                <a:solidFill>
                  <a:srgbClr val="526378"/>
                </a:solidFill>
                <a:latin typeface="AppleGothic"/>
                <a:ea typeface="AppleGothic"/>
                <a:cs typeface="AppleGothic"/>
              </a:defRPr>
            </a:lvl7pPr>
            <a:lvl8pPr>
              <a:defRPr sz="1350" b="0">
                <a:solidFill>
                  <a:srgbClr val="526378"/>
                </a:solidFill>
                <a:latin typeface="AppleGothic"/>
                <a:ea typeface="AppleGothic"/>
                <a:cs typeface="AppleGothic"/>
              </a:defRPr>
            </a:lvl8pPr>
            <a:lvl9pPr>
              <a:defRPr sz="1350" b="0">
                <a:solidFill>
                  <a:srgbClr val="526378"/>
                </a:solidFill>
                <a:latin typeface="AppleGothic"/>
                <a:ea typeface="AppleGothic"/>
                <a:cs typeface="AppleGothic"/>
              </a:defRPr>
            </a:lvl9pPr>
          </a:lstStyle>
          <a:p xmlns:a="http://schemas.openxmlformats.org/drawingml/2006/main">
            <a:pPr>
              <a:defRPr sz="1350" b="0">
                <a:solidFill>
                  <a:srgbClr val="526378"/>
                </a:solidFill>
                <a:latin typeface="AppleGothic"/>
                <a:ea typeface="AppleGothic"/>
                <a:cs typeface="AppleGothic"/>
              </a:defRPr>
            </a:pPr>
            <a:r>
              <a:rPr sz="1350" b="0">
                <a:solidFill>
                  <a:srgbClr val="526378"/>
                </a:solidFill>
                <a:latin typeface="AppleGothic"/>
                <a:ea typeface="AppleGothic"/>
                <a:cs typeface="AppleGothic"/>
              </a:rPr>
              <a:t>Lab 2, cell 38. Original epoch-15 row; map colors share the fixed 0–1 probability scale</a:t>
            </a:r>
          </a:p>
        </p:txBody>
      </p:sp>
      <p:sp>
        <p:nvSpPr>
          <p:cNvPr id="5" name="">
            <a:extLst xmlns:a="http://schemas.openxmlformats.org/drawingml/2006/main">
              <a:ext uri="{FF2B5EF4-FFF2-40B4-BE49-F238E27FC236}">
                <a16:creationId xmlns:a16="http://schemas.microsoft.com/office/drawing/2014/main" id="{56C3C0F9-2EF0-4798-9135-6D31539657CC}"/>
              </a:ext>
            </a:extLst>
          </p:cNvPr>
          <p:cNvSpPr>
            <a:spLocks xmlns:a="http://schemas.openxmlformats.org/drawingml/2006/main" noGrp="1"/>
          </p:cNvSpPr>
          <p:nvPr/>
        </p:nvSpPr>
        <p:spPr>
          <a:xfrm xmlns:a="http://schemas.openxmlformats.org/drawingml/2006/main">
            <a:off x="11144250" y="6400800"/>
            <a:ext cx="5143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62748C"/>
                </a:solidFill>
                <a:latin typeface="AppleGothic"/>
                <a:ea typeface="AppleGothic"/>
                <a:cs typeface="AppleGothic"/>
              </a:defRPr>
            </a:defPPr>
            <a:lvl1pPr>
              <a:defRPr sz="1350" b="0">
                <a:solidFill>
                  <a:srgbClr val="62748C"/>
                </a:solidFill>
                <a:latin typeface="AppleGothic"/>
                <a:ea typeface="AppleGothic"/>
                <a:cs typeface="AppleGothic"/>
              </a:defRPr>
            </a:lvl1pPr>
            <a:lvl2pPr>
              <a:defRPr sz="1350" b="0">
                <a:solidFill>
                  <a:srgbClr val="62748C"/>
                </a:solidFill>
                <a:latin typeface="AppleGothic"/>
                <a:ea typeface="AppleGothic"/>
                <a:cs typeface="AppleGothic"/>
              </a:defRPr>
            </a:lvl2pPr>
            <a:lvl3pPr>
              <a:defRPr sz="1350" b="0">
                <a:solidFill>
                  <a:srgbClr val="62748C"/>
                </a:solidFill>
                <a:latin typeface="AppleGothic"/>
                <a:ea typeface="AppleGothic"/>
                <a:cs typeface="AppleGothic"/>
              </a:defRPr>
            </a:lvl3pPr>
            <a:lvl4pPr>
              <a:defRPr sz="1350" b="0">
                <a:solidFill>
                  <a:srgbClr val="62748C"/>
                </a:solidFill>
                <a:latin typeface="AppleGothic"/>
                <a:ea typeface="AppleGothic"/>
                <a:cs typeface="AppleGothic"/>
              </a:defRPr>
            </a:lvl4pPr>
            <a:lvl5pPr>
              <a:defRPr sz="1350" b="0">
                <a:solidFill>
                  <a:srgbClr val="62748C"/>
                </a:solidFill>
                <a:latin typeface="AppleGothic"/>
                <a:ea typeface="AppleGothic"/>
                <a:cs typeface="AppleGothic"/>
              </a:defRPr>
            </a:lvl5pPr>
            <a:lvl6pPr>
              <a:defRPr sz="1350" b="0">
                <a:solidFill>
                  <a:srgbClr val="62748C"/>
                </a:solidFill>
                <a:latin typeface="AppleGothic"/>
                <a:ea typeface="AppleGothic"/>
                <a:cs typeface="AppleGothic"/>
              </a:defRPr>
            </a:lvl6pPr>
            <a:lvl7pPr>
              <a:defRPr sz="1350" b="0">
                <a:solidFill>
                  <a:srgbClr val="62748C"/>
                </a:solidFill>
                <a:latin typeface="AppleGothic"/>
                <a:ea typeface="AppleGothic"/>
                <a:cs typeface="AppleGothic"/>
              </a:defRPr>
            </a:lvl7pPr>
            <a:lvl8pPr>
              <a:defRPr sz="1350" b="0">
                <a:solidFill>
                  <a:srgbClr val="62748C"/>
                </a:solidFill>
                <a:latin typeface="AppleGothic"/>
                <a:ea typeface="AppleGothic"/>
                <a:cs typeface="AppleGothic"/>
              </a:defRPr>
            </a:lvl8pPr>
            <a:lvl9pPr>
              <a:defRPr sz="1350" b="0">
                <a:solidFill>
                  <a:srgbClr val="62748C"/>
                </a:solidFill>
                <a:latin typeface="AppleGothic"/>
                <a:ea typeface="AppleGothic"/>
                <a:cs typeface="AppleGothic"/>
              </a:defRPr>
            </a:lvl9pPr>
          </a:lstStyle>
          <a:p xmlns:a="http://schemas.openxmlformats.org/drawingml/2006/main">
            <a:pPr>
              <a:defRPr sz="1350" b="0">
                <a:solidFill>
                  <a:srgbClr val="62748C"/>
                </a:solidFill>
                <a:latin typeface="AppleGothic"/>
                <a:ea typeface="AppleGothic"/>
                <a:cs typeface="AppleGothic"/>
              </a:defRPr>
            </a:pPr>
            <a:r>
              <a:rPr sz="1350" b="0">
                <a:solidFill>
                  <a:srgbClr val="62748C"/>
                </a:solidFill>
                <a:latin typeface="AppleGothic"/>
                <a:ea typeface="AppleGothic"/>
                <a:cs typeface="AppleGothic"/>
              </a:rPr>
              <a:t>35</a:t>
            </a:r>
          </a:p>
        </p:txBody>
      </p:sp>
    </p:spTree>
    <p:extLst>
      <p:ext uri="{BB962C8B-B14F-4D97-AF65-F5344CB8AC3E}">
        <p14:creationId xmlns:p14="http://schemas.microsoft.com/office/powerpoint/2010/main" val="1113425809"/>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F0B92E98-26D5-4F94-9D55-2BE428571ADC}"/>
              </a:ext>
            </a:extLst>
          </p:cNvPr>
          <p:cNvSpPr>
            <a:spLocks xmlns:a="http://schemas.openxmlformats.org/drawingml/2006/main" noGrp="1"/>
          </p:cNvSpPr>
          <p:nvPr/>
        </p:nvSpPr>
        <p:spPr>
          <a:xfrm xmlns:a="http://schemas.openxmlformats.org/drawingml/2006/main">
            <a:off x="533400" y="342900"/>
            <a:ext cx="111252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150" b="1">
                <a:solidFill>
                  <a:srgbClr val="15243B"/>
                </a:solidFill>
                <a:latin typeface="AppleGothic"/>
                <a:ea typeface="AppleGothic"/>
                <a:cs typeface="AppleGothic"/>
              </a:defRPr>
            </a:defPPr>
            <a:lvl1pPr>
              <a:defRPr sz="3150" b="1">
                <a:solidFill>
                  <a:srgbClr val="15243B"/>
                </a:solidFill>
                <a:latin typeface="AppleGothic"/>
                <a:ea typeface="AppleGothic"/>
                <a:cs typeface="AppleGothic"/>
              </a:defRPr>
            </a:lvl1pPr>
            <a:lvl2pPr>
              <a:defRPr sz="3150" b="1">
                <a:solidFill>
                  <a:srgbClr val="15243B"/>
                </a:solidFill>
                <a:latin typeface="AppleGothic"/>
                <a:ea typeface="AppleGothic"/>
                <a:cs typeface="AppleGothic"/>
              </a:defRPr>
            </a:lvl2pPr>
            <a:lvl3pPr>
              <a:defRPr sz="3150" b="1">
                <a:solidFill>
                  <a:srgbClr val="15243B"/>
                </a:solidFill>
                <a:latin typeface="AppleGothic"/>
                <a:ea typeface="AppleGothic"/>
                <a:cs typeface="AppleGothic"/>
              </a:defRPr>
            </a:lvl3pPr>
            <a:lvl4pPr>
              <a:defRPr sz="3150" b="1">
                <a:solidFill>
                  <a:srgbClr val="15243B"/>
                </a:solidFill>
                <a:latin typeface="AppleGothic"/>
                <a:ea typeface="AppleGothic"/>
                <a:cs typeface="AppleGothic"/>
              </a:defRPr>
            </a:lvl4pPr>
            <a:lvl5pPr>
              <a:defRPr sz="3150" b="1">
                <a:solidFill>
                  <a:srgbClr val="15243B"/>
                </a:solidFill>
                <a:latin typeface="AppleGothic"/>
                <a:ea typeface="AppleGothic"/>
                <a:cs typeface="AppleGothic"/>
              </a:defRPr>
            </a:lvl5pPr>
            <a:lvl6pPr>
              <a:defRPr sz="3150" b="1">
                <a:solidFill>
                  <a:srgbClr val="15243B"/>
                </a:solidFill>
                <a:latin typeface="AppleGothic"/>
                <a:ea typeface="AppleGothic"/>
                <a:cs typeface="AppleGothic"/>
              </a:defRPr>
            </a:lvl6pPr>
            <a:lvl7pPr>
              <a:defRPr sz="3150" b="1">
                <a:solidFill>
                  <a:srgbClr val="15243B"/>
                </a:solidFill>
                <a:latin typeface="AppleGothic"/>
                <a:ea typeface="AppleGothic"/>
                <a:cs typeface="AppleGothic"/>
              </a:defRPr>
            </a:lvl7pPr>
            <a:lvl8pPr>
              <a:defRPr sz="3150" b="1">
                <a:solidFill>
                  <a:srgbClr val="15243B"/>
                </a:solidFill>
                <a:latin typeface="AppleGothic"/>
                <a:ea typeface="AppleGothic"/>
                <a:cs typeface="AppleGothic"/>
              </a:defRPr>
            </a:lvl8pPr>
            <a:lvl9pPr>
              <a:defRPr sz="3150" b="1">
                <a:solidFill>
                  <a:srgbClr val="15243B"/>
                </a:solidFill>
                <a:latin typeface="AppleGothic"/>
                <a:ea typeface="AppleGothic"/>
                <a:cs typeface="AppleGothic"/>
              </a:defRPr>
            </a:lvl9pPr>
          </a:lstStyle>
          <a:p xmlns:a="http://schemas.openxmlformats.org/drawingml/2006/main">
            <a:pPr>
              <a:defRPr sz="3150" b="1">
                <a:solidFill>
                  <a:srgbClr val="15243B"/>
                </a:solidFill>
                <a:latin typeface="AppleGothic"/>
                <a:ea typeface="AppleGothic"/>
                <a:cs typeface="AppleGothic"/>
              </a:defRPr>
            </a:pPr>
            <a:r>
              <a:rPr sz="3150" b="1">
                <a:solidFill>
                  <a:srgbClr val="15243B"/>
                </a:solidFill>
                <a:latin typeface="AppleGothic"/>
                <a:ea typeface="AppleGothic"/>
                <a:cs typeface="AppleGothic"/>
              </a:rPr>
              <a:t>Validation and Transfer</a:t>
            </a:r>
          </a:p>
        </p:txBody>
      </p:sp>
      <p:sp>
        <p:nvSpPr>
          <p:cNvPr id="2" name="">
            <a:extLst xmlns:a="http://schemas.openxmlformats.org/drawingml/2006/main">
              <a:ext uri="{FF2B5EF4-FFF2-40B4-BE49-F238E27FC236}">
                <a16:creationId xmlns:a16="http://schemas.microsoft.com/office/drawing/2014/main" id="{B39E1BFD-FB9B-4301-A869-5592238D5F25}"/>
              </a:ext>
            </a:extLst>
          </p:cNvPr>
          <p:cNvSpPr>
            <a:spLocks xmlns:a="http://schemas.openxmlformats.org/drawingml/2006/main" noGrp="1"/>
          </p:cNvSpPr>
          <p:nvPr/>
        </p:nvSpPr>
        <p:spPr>
          <a:xfrm xmlns:a="http://schemas.openxmlformats.org/drawingml/2006/main">
            <a:off x="533400" y="1066800"/>
            <a:ext cx="111252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1">
                <a:solidFill>
                  <a:srgbClr val="2164CB"/>
                </a:solidFill>
                <a:latin typeface="AppleGothic"/>
                <a:ea typeface="AppleGothic"/>
                <a:cs typeface="AppleGothic"/>
              </a:defRPr>
            </a:defPPr>
            <a:lvl1pPr>
              <a:defRPr sz="2175" b="1">
                <a:solidFill>
                  <a:srgbClr val="2164CB"/>
                </a:solidFill>
                <a:latin typeface="AppleGothic"/>
                <a:ea typeface="AppleGothic"/>
                <a:cs typeface="AppleGothic"/>
              </a:defRPr>
            </a:lvl1pPr>
            <a:lvl2pPr>
              <a:defRPr sz="2175" b="1">
                <a:solidFill>
                  <a:srgbClr val="2164CB"/>
                </a:solidFill>
                <a:latin typeface="AppleGothic"/>
                <a:ea typeface="AppleGothic"/>
                <a:cs typeface="AppleGothic"/>
              </a:defRPr>
            </a:lvl2pPr>
            <a:lvl3pPr>
              <a:defRPr sz="2175" b="1">
                <a:solidFill>
                  <a:srgbClr val="2164CB"/>
                </a:solidFill>
                <a:latin typeface="AppleGothic"/>
                <a:ea typeface="AppleGothic"/>
                <a:cs typeface="AppleGothic"/>
              </a:defRPr>
            </a:lvl3pPr>
            <a:lvl4pPr>
              <a:defRPr sz="2175" b="1">
                <a:solidFill>
                  <a:srgbClr val="2164CB"/>
                </a:solidFill>
                <a:latin typeface="AppleGothic"/>
                <a:ea typeface="AppleGothic"/>
                <a:cs typeface="AppleGothic"/>
              </a:defRPr>
            </a:lvl4pPr>
            <a:lvl5pPr>
              <a:defRPr sz="2175" b="1">
                <a:solidFill>
                  <a:srgbClr val="2164CB"/>
                </a:solidFill>
                <a:latin typeface="AppleGothic"/>
                <a:ea typeface="AppleGothic"/>
                <a:cs typeface="AppleGothic"/>
              </a:defRPr>
            </a:lvl5pPr>
            <a:lvl6pPr>
              <a:defRPr sz="2175" b="1">
                <a:solidFill>
                  <a:srgbClr val="2164CB"/>
                </a:solidFill>
                <a:latin typeface="AppleGothic"/>
                <a:ea typeface="AppleGothic"/>
                <a:cs typeface="AppleGothic"/>
              </a:defRPr>
            </a:lvl6pPr>
            <a:lvl7pPr>
              <a:defRPr sz="2175" b="1">
                <a:solidFill>
                  <a:srgbClr val="2164CB"/>
                </a:solidFill>
                <a:latin typeface="AppleGothic"/>
                <a:ea typeface="AppleGothic"/>
                <a:cs typeface="AppleGothic"/>
              </a:defRPr>
            </a:lvl7pPr>
            <a:lvl8pPr>
              <a:defRPr sz="2175" b="1">
                <a:solidFill>
                  <a:srgbClr val="2164CB"/>
                </a:solidFill>
                <a:latin typeface="AppleGothic"/>
                <a:ea typeface="AppleGothic"/>
                <a:cs typeface="AppleGothic"/>
              </a:defRPr>
            </a:lvl8pPr>
            <a:lvl9pPr>
              <a:defRPr sz="2175" b="1">
                <a:solidFill>
                  <a:srgbClr val="2164CB"/>
                </a:solidFill>
                <a:latin typeface="AppleGothic"/>
                <a:ea typeface="AppleGothic"/>
                <a:cs typeface="AppleGothic"/>
              </a:defRPr>
            </a:lvl9pPr>
          </a:lstStyle>
          <a:p xmlns:a="http://schemas.openxmlformats.org/drawingml/2006/main">
            <a:pPr>
              <a:defRPr sz="2175" b="1">
                <a:solidFill>
                  <a:srgbClr val="2164CB"/>
                </a:solidFill>
                <a:latin typeface="AppleGothic"/>
                <a:ea typeface="AppleGothic"/>
                <a:cs typeface="AppleGothic"/>
              </a:defRPr>
            </a:pPr>
            <a:r>
              <a:rPr sz="2175" b="1">
                <a:solidFill>
                  <a:srgbClr val="2164CB"/>
                </a:solidFill>
                <a:latin typeface="AppleGothic"/>
                <a:ea typeface="AppleGothic"/>
                <a:cs typeface="AppleGothic"/>
              </a:rPr>
              <a:t>AP는 어떤 정답 매칭 규칙으로 계산했는지와 함께 읽어야 한다</a:t>
            </a:r>
          </a:p>
        </p:txBody>
      </p:sp>
      <p:graphicFrame>
        <p:nvGraphicFramePr>
          <p:cNvPr id="3" name="">
            <a:extLst xmlns:a="http://schemas.openxmlformats.org/drawingml/2006/main">
              <a:ext uri="{FF2B5EF4-FFF2-40B4-BE49-F238E27FC236}">
                <a16:creationId xmlns:a16="http://schemas.microsoft.com/office/drawing/2014/main" id="{44002964-9757-4D3D-8A8A-5628DC1863DA}"/>
              </a:ext>
            </a:extLst>
          </p:cNvPr>
          <p:cNvGraphicFramePr/>
          <p:nvPr/>
        </p:nvGraphicFramePr>
        <p:xfrm>
          <a:off xmlns:a="http://schemas.openxmlformats.org/drawingml/2006/main" x="533400" y="2057400"/>
          <a:ext xmlns:a="http://schemas.openxmlformats.org/drawingml/2006/main" cx="11125200" cy="2952750"/>
        </p:xfrm>
        <a:graphic xmlns:a="http://schemas.openxmlformats.org/drawingml/2006/main">
          <a:graphicData uri="http://schemas.openxmlformats.org/drawingml/2006/table">
            <a:tbl>
              <a:tblPr/>
              <a:tblGrid>
                <a:gridCol w="3708400"/>
                <a:gridCol w="3708400"/>
                <a:gridCol w="3708400"/>
              </a:tblGrid>
              <a:tr h="590550">
                <a:tc>
                  <a:txBody>
                    <a:bodyPr/>
                    <a:lstStyle/>
                    <a:p>
                      <a:r>
                        <a:rPr sz="1800" b="1">
                          <a:solidFill>
                            <a:srgbClr val="2164CB"/>
                          </a:solidFill>
                          <a:latin typeface="AppleGothic"/>
                          <a:ea typeface="AppleGothic"/>
                          <a:cs typeface="AppleGothic"/>
                        </a:rPr>
                        <a:t>Saved validation</a:t>
                      </a:r>
                    </a:p>
                  </a:txBody>
                  <a:tcPr marL="114300" marR="114300" marT="95250" marB="95250">
                    <a:lnL w="9525">
                      <a:solidFill>
                        <a:srgbClr val="D7DFEA"/>
                      </a:solidFill>
                      <a:prstDash val="solid"/>
                    </a:lnL>
                    <a:lnR w="9525">
                      <a:solidFill>
                        <a:srgbClr val="D7DFEA"/>
                      </a:solidFill>
                      <a:prstDash val="solid"/>
                    </a:lnR>
                    <a:lnT w="9525">
                      <a:solidFill>
                        <a:srgbClr val="D7DFEA"/>
                      </a:solidFill>
                      <a:prstDash val="solid"/>
                    </a:lnT>
                    <a:lnB w="9525">
                      <a:solidFill>
                        <a:srgbClr val="D7DFEA"/>
                      </a:solidFill>
                      <a:prstDash val="solid"/>
                    </a:lnB>
                    <a:solidFill>
                      <a:srgbClr val="EAF1FC"/>
                    </a:solidFill>
                  </a:tcPr>
                </a:tc>
                <a:tc>
                  <a:txBody>
                    <a:bodyPr/>
                    <a:lstStyle/>
                    <a:p>
                      <a:r>
                        <a:rPr sz="1800" b="1">
                          <a:solidFill>
                            <a:srgbClr val="2164CB"/>
                          </a:solidFill>
                          <a:latin typeface="AppleGothic"/>
                          <a:ea typeface="AppleGothic"/>
                          <a:cs typeface="AppleGothic"/>
                        </a:rPr>
                        <a:t>Car</a:t>
                      </a:r>
                    </a:p>
                  </a:txBody>
                  <a:tcPr marL="114300" marR="114300" marT="95250" marB="95250">
                    <a:lnR w="9525">
                      <a:solidFill>
                        <a:srgbClr val="D7DFEA"/>
                      </a:solidFill>
                      <a:prstDash val="solid"/>
                    </a:lnR>
                    <a:lnT w="9525">
                      <a:solidFill>
                        <a:srgbClr val="D7DFEA"/>
                      </a:solidFill>
                      <a:prstDash val="solid"/>
                    </a:lnT>
                    <a:lnB w="9525">
                      <a:solidFill>
                        <a:srgbClr val="D7DFEA"/>
                      </a:solidFill>
                      <a:prstDash val="solid"/>
                    </a:lnB>
                    <a:solidFill>
                      <a:srgbClr val="EAF1FC"/>
                    </a:solidFill>
                  </a:tcPr>
                </a:tc>
                <a:tc>
                  <a:txBody>
                    <a:bodyPr/>
                    <a:lstStyle/>
                    <a:p>
                      <a:r>
                        <a:rPr sz="1800" b="1">
                          <a:solidFill>
                            <a:srgbClr val="2164CB"/>
                          </a:solidFill>
                          <a:latin typeface="AppleGothic"/>
                          <a:ea typeface="AppleGothic"/>
                          <a:cs typeface="AppleGothic"/>
                        </a:rPr>
                        <a:t>Pedestrian</a:t>
                      </a:r>
                    </a:p>
                  </a:txBody>
                  <a:tcPr marL="114300" marR="114300" marT="95250" marB="95250">
                    <a:lnR w="9525">
                      <a:solidFill>
                        <a:srgbClr val="D7DFEA"/>
                      </a:solidFill>
                      <a:prstDash val="solid"/>
                    </a:lnR>
                    <a:lnT w="9525">
                      <a:solidFill>
                        <a:srgbClr val="D7DFEA"/>
                      </a:solidFill>
                      <a:prstDash val="solid"/>
                    </a:lnT>
                    <a:lnB w="9525">
                      <a:solidFill>
                        <a:srgbClr val="D7DFEA"/>
                      </a:solidFill>
                      <a:prstDash val="solid"/>
                    </a:lnB>
                    <a:solidFill>
                      <a:srgbClr val="EAF1FC"/>
                    </a:solidFill>
                  </a:tcPr>
                </a:tc>
              </a:tr>
              <a:tr h="590550">
                <a:tc>
                  <a:txBody>
                    <a:bodyPr/>
                    <a:lstStyle/>
                    <a:p>
                      <a:r>
                        <a:rPr sz="1800">
                          <a:solidFill>
                            <a:srgbClr val="15243B"/>
                          </a:solidFill>
                          <a:latin typeface="AppleGothic"/>
                          <a:ea typeface="AppleGothic"/>
                          <a:cs typeface="AppleGothic"/>
                        </a:rPr>
                        <a:t>Epoch 0 AP</a:t>
                      </a:r>
                    </a:p>
                  </a:txBody>
                  <a:tcPr marL="114300" marR="114300" marT="95250" marB="95250">
                    <a:lnL w="9525">
                      <a:solidFill>
                        <a:srgbClr val="D7DFEA"/>
                      </a:solidFill>
                      <a:prstDash val="solid"/>
                    </a:lnL>
                    <a:lnR w="9525">
                      <a:solidFill>
                        <a:srgbClr val="D7DFEA"/>
                      </a:solidFill>
                      <a:prstDash val="solid"/>
                    </a:lnR>
                    <a:lnB w="9525">
                      <a:solidFill>
                        <a:srgbClr val="D7DFEA"/>
                      </a:solidFill>
                      <a:prstDash val="solid"/>
                    </a:lnB>
                  </a:tcPr>
                </a:tc>
                <a:tc>
                  <a:txBody>
                    <a:bodyPr/>
                    <a:lstStyle/>
                    <a:p>
                      <a:r>
                        <a:rPr sz="1800">
                          <a:solidFill>
                            <a:srgbClr val="15243B"/>
                          </a:solidFill>
                          <a:latin typeface="AppleGothic"/>
                          <a:ea typeface="AppleGothic"/>
                          <a:cs typeface="AppleGothic"/>
                        </a:rPr>
                        <a:t>0.067</a:t>
                      </a:r>
                    </a:p>
                  </a:txBody>
                  <a:tcPr marL="114300" marR="114300" marT="95250" marB="95250">
                    <a:lnR w="9525">
                      <a:solidFill>
                        <a:srgbClr val="D7DFEA"/>
                      </a:solidFill>
                      <a:prstDash val="solid"/>
                    </a:lnR>
                    <a:lnB w="9525">
                      <a:solidFill>
                        <a:srgbClr val="D7DFEA"/>
                      </a:solidFill>
                      <a:prstDash val="solid"/>
                    </a:lnB>
                  </a:tcPr>
                </a:tc>
                <a:tc>
                  <a:txBody>
                    <a:bodyPr/>
                    <a:lstStyle/>
                    <a:p>
                      <a:r>
                        <a:rPr sz="1800">
                          <a:solidFill>
                            <a:srgbClr val="15243B"/>
                          </a:solidFill>
                          <a:latin typeface="AppleGothic"/>
                          <a:ea typeface="AppleGothic"/>
                          <a:cs typeface="AppleGothic"/>
                        </a:rPr>
                        <a:t>0.000</a:t>
                      </a:r>
                    </a:p>
                  </a:txBody>
                  <a:tcPr marL="114300" marR="114300" marT="95250" marB="95250">
                    <a:lnR w="9525">
                      <a:solidFill>
                        <a:srgbClr val="D7DFEA"/>
                      </a:solidFill>
                      <a:prstDash val="solid"/>
                    </a:lnR>
                    <a:lnB w="9525">
                      <a:solidFill>
                        <a:srgbClr val="D7DFEA"/>
                      </a:solidFill>
                      <a:prstDash val="solid"/>
                    </a:lnB>
                  </a:tcPr>
                </a:tc>
              </a:tr>
              <a:tr h="590550">
                <a:tc>
                  <a:txBody>
                    <a:bodyPr/>
                    <a:lstStyle/>
                    <a:p>
                      <a:r>
                        <a:rPr sz="1800">
                          <a:solidFill>
                            <a:srgbClr val="15243B"/>
                          </a:solidFill>
                          <a:latin typeface="AppleGothic"/>
                          <a:ea typeface="AppleGothic"/>
                          <a:cs typeface="AppleGothic"/>
                        </a:rPr>
                        <a:t>Epoch 8 AP</a:t>
                      </a:r>
                    </a:p>
                  </a:txBody>
                  <a:tcPr marL="114300" marR="114300" marT="95250" marB="95250">
                    <a:lnL w="9525">
                      <a:solidFill>
                        <a:srgbClr val="D7DFEA"/>
                      </a:solidFill>
                      <a:prstDash val="solid"/>
                    </a:lnL>
                    <a:lnR w="9525">
                      <a:solidFill>
                        <a:srgbClr val="D7DFEA"/>
                      </a:solidFill>
                      <a:prstDash val="solid"/>
                    </a:lnR>
                    <a:lnB w="9525">
                      <a:solidFill>
                        <a:srgbClr val="D7DFEA"/>
                      </a:solidFill>
                      <a:prstDash val="solid"/>
                    </a:lnB>
                  </a:tcPr>
                </a:tc>
                <a:tc>
                  <a:txBody>
                    <a:bodyPr/>
                    <a:lstStyle/>
                    <a:p>
                      <a:r>
                        <a:rPr sz="1800">
                          <a:solidFill>
                            <a:srgbClr val="15243B"/>
                          </a:solidFill>
                          <a:latin typeface="AppleGothic"/>
                          <a:ea typeface="AppleGothic"/>
                          <a:cs typeface="AppleGothic"/>
                        </a:rPr>
                        <a:t>0.943</a:t>
                      </a:r>
                    </a:p>
                  </a:txBody>
                  <a:tcPr marL="114300" marR="114300" marT="95250" marB="95250">
                    <a:lnR w="9525">
                      <a:solidFill>
                        <a:srgbClr val="D7DFEA"/>
                      </a:solidFill>
                      <a:prstDash val="solid"/>
                    </a:lnR>
                    <a:lnB w="9525">
                      <a:solidFill>
                        <a:srgbClr val="D7DFEA"/>
                      </a:solidFill>
                      <a:prstDash val="solid"/>
                    </a:lnB>
                  </a:tcPr>
                </a:tc>
                <a:tc>
                  <a:txBody>
                    <a:bodyPr/>
                    <a:lstStyle/>
                    <a:p>
                      <a:r>
                        <a:rPr sz="1800">
                          <a:solidFill>
                            <a:srgbClr val="15243B"/>
                          </a:solidFill>
                          <a:latin typeface="AppleGothic"/>
                          <a:ea typeface="AppleGothic"/>
                          <a:cs typeface="AppleGothic"/>
                        </a:rPr>
                        <a:t>0.922</a:t>
                      </a:r>
                    </a:p>
                  </a:txBody>
                  <a:tcPr marL="114300" marR="114300" marT="95250" marB="95250">
                    <a:lnR w="9525">
                      <a:solidFill>
                        <a:srgbClr val="D7DFEA"/>
                      </a:solidFill>
                      <a:prstDash val="solid"/>
                    </a:lnR>
                    <a:lnB w="9525">
                      <a:solidFill>
                        <a:srgbClr val="D7DFEA"/>
                      </a:solidFill>
                      <a:prstDash val="solid"/>
                    </a:lnB>
                  </a:tcPr>
                </a:tc>
              </a:tr>
              <a:tr h="590550">
                <a:tc>
                  <a:txBody>
                    <a:bodyPr/>
                    <a:lstStyle/>
                    <a:p>
                      <a:r>
                        <a:rPr sz="1800">
                          <a:solidFill>
                            <a:srgbClr val="15243B"/>
                          </a:solidFill>
                          <a:latin typeface="AppleGothic"/>
                          <a:ea typeface="AppleGothic"/>
                          <a:cs typeface="AppleGothic"/>
                        </a:rPr>
                        <a:t>Epoch 15 AP</a:t>
                      </a:r>
                    </a:p>
                  </a:txBody>
                  <a:tcPr marL="114300" marR="114300" marT="95250" marB="95250">
                    <a:lnL w="9525">
                      <a:solidFill>
                        <a:srgbClr val="D7DFEA"/>
                      </a:solidFill>
                      <a:prstDash val="solid"/>
                    </a:lnL>
                    <a:lnR w="9525">
                      <a:solidFill>
                        <a:srgbClr val="D7DFEA"/>
                      </a:solidFill>
                      <a:prstDash val="solid"/>
                    </a:lnR>
                    <a:lnB w="9525">
                      <a:solidFill>
                        <a:srgbClr val="D7DFEA"/>
                      </a:solidFill>
                      <a:prstDash val="solid"/>
                    </a:lnB>
                  </a:tcPr>
                </a:tc>
                <a:tc>
                  <a:txBody>
                    <a:bodyPr/>
                    <a:lstStyle/>
                    <a:p>
                      <a:r>
                        <a:rPr sz="1800">
                          <a:solidFill>
                            <a:srgbClr val="15243B"/>
                          </a:solidFill>
                          <a:latin typeface="AppleGothic"/>
                          <a:ea typeface="AppleGothic"/>
                          <a:cs typeface="AppleGothic"/>
                        </a:rPr>
                        <a:t>0.948</a:t>
                      </a:r>
                    </a:p>
                  </a:txBody>
                  <a:tcPr marL="114300" marR="114300" marT="95250" marB="95250">
                    <a:lnR w="9525">
                      <a:solidFill>
                        <a:srgbClr val="D7DFEA"/>
                      </a:solidFill>
                      <a:prstDash val="solid"/>
                    </a:lnR>
                    <a:lnB w="9525">
                      <a:solidFill>
                        <a:srgbClr val="D7DFEA"/>
                      </a:solidFill>
                      <a:prstDash val="solid"/>
                    </a:lnB>
                  </a:tcPr>
                </a:tc>
                <a:tc>
                  <a:txBody>
                    <a:bodyPr/>
                    <a:lstStyle/>
                    <a:p>
                      <a:r>
                        <a:rPr sz="1800">
                          <a:solidFill>
                            <a:srgbClr val="15243B"/>
                          </a:solidFill>
                          <a:latin typeface="AppleGothic"/>
                          <a:ea typeface="AppleGothic"/>
                          <a:cs typeface="AppleGothic"/>
                        </a:rPr>
                        <a:t>0.912</a:t>
                      </a:r>
                    </a:p>
                  </a:txBody>
                  <a:tcPr marL="114300" marR="114300" marT="95250" marB="95250">
                    <a:lnR w="9525">
                      <a:solidFill>
                        <a:srgbClr val="D7DFEA"/>
                      </a:solidFill>
                      <a:prstDash val="solid"/>
                    </a:lnR>
                    <a:lnB w="9525">
                      <a:solidFill>
                        <a:srgbClr val="D7DFEA"/>
                      </a:solidFill>
                      <a:prstDash val="solid"/>
                    </a:lnB>
                  </a:tcPr>
                </a:tc>
              </a:tr>
              <a:tr h="590550">
                <a:tc>
                  <a:txBody>
                    <a:bodyPr/>
                    <a:lstStyle/>
                    <a:p>
                      <a:r>
                        <a:rPr sz="1800">
                          <a:solidFill>
                            <a:srgbClr val="15243B"/>
                          </a:solidFill>
                          <a:latin typeface="AppleGothic"/>
                          <a:ea typeface="AppleGothic"/>
                          <a:cs typeface="AppleGothic"/>
                        </a:rPr>
                        <a:t>Center match</a:t>
                      </a:r>
                    </a:p>
                  </a:txBody>
                  <a:tcPr marL="114300" marR="114300" marT="95250" marB="95250">
                    <a:lnL w="9525">
                      <a:solidFill>
                        <a:srgbClr val="D7DFEA"/>
                      </a:solidFill>
                      <a:prstDash val="solid"/>
                    </a:lnL>
                    <a:lnR w="9525">
                      <a:solidFill>
                        <a:srgbClr val="D7DFEA"/>
                      </a:solidFill>
                      <a:prstDash val="solid"/>
                    </a:lnR>
                    <a:lnB w="9525">
                      <a:solidFill>
                        <a:srgbClr val="D7DFEA"/>
                      </a:solidFill>
                      <a:prstDash val="solid"/>
                    </a:lnB>
                  </a:tcPr>
                </a:tc>
                <a:tc>
                  <a:txBody>
                    <a:bodyPr/>
                    <a:lstStyle/>
                    <a:p>
                      <a:r>
                        <a:rPr sz="1800">
                          <a:solidFill>
                            <a:srgbClr val="15243B"/>
                          </a:solidFill>
                          <a:latin typeface="AppleGothic"/>
                          <a:ea typeface="AppleGothic"/>
                          <a:cs typeface="AppleGothic"/>
                        </a:rPr>
                        <a:t>BEV distance &lt;2 m</a:t>
                      </a:r>
                    </a:p>
                  </a:txBody>
                  <a:tcPr marL="114300" marR="114300" marT="95250" marB="95250">
                    <a:lnR w="9525">
                      <a:solidFill>
                        <a:srgbClr val="D7DFEA"/>
                      </a:solidFill>
                      <a:prstDash val="solid"/>
                    </a:lnR>
                    <a:lnB w="9525">
                      <a:solidFill>
                        <a:srgbClr val="D7DFEA"/>
                      </a:solidFill>
                      <a:prstDash val="solid"/>
                    </a:lnB>
                  </a:tcPr>
                </a:tc>
                <a:tc>
                  <a:txBody>
                    <a:bodyPr/>
                    <a:lstStyle/>
                    <a:p>
                      <a:r>
                        <a:rPr sz="1800">
                          <a:solidFill>
                            <a:srgbClr val="15243B"/>
                          </a:solidFill>
                          <a:latin typeface="AppleGothic"/>
                          <a:ea typeface="AppleGothic"/>
                          <a:cs typeface="AppleGothic"/>
                        </a:rPr>
                        <a:t>BEV distance &lt;1 m</a:t>
                      </a:r>
                    </a:p>
                  </a:txBody>
                  <a:tcPr marL="114300" marR="114300" marT="95250" marB="95250">
                    <a:lnR w="9525">
                      <a:solidFill>
                        <a:srgbClr val="D7DFEA"/>
                      </a:solidFill>
                      <a:prstDash val="solid"/>
                    </a:lnR>
                    <a:lnB w="9525">
                      <a:solidFill>
                        <a:srgbClr val="D7DFEA"/>
                      </a:solidFill>
                      <a:prstDash val="solid"/>
                    </a:lnB>
                  </a:tcPr>
                </a:tc>
              </a:tr>
            </a:tbl>
          </a:graphicData>
        </a:graphic>
      </p:graphicFrame>
      <p:sp>
        <p:nvSpPr>
          <p:cNvPr id="4" name="">
            <a:extLst xmlns:a="http://schemas.openxmlformats.org/drawingml/2006/main">
              <a:ext uri="{FF2B5EF4-FFF2-40B4-BE49-F238E27FC236}">
                <a16:creationId xmlns:a16="http://schemas.microsoft.com/office/drawing/2014/main" id="{9045C82B-F93B-4C02-9F05-BA1A2C1C8ABA}"/>
              </a:ext>
            </a:extLst>
          </p:cNvPr>
          <p:cNvSpPr>
            <a:spLocks xmlns:a="http://schemas.openxmlformats.org/drawingml/2006/main" noGrp="1"/>
          </p:cNvSpPr>
          <p:nvPr/>
        </p:nvSpPr>
        <p:spPr>
          <a:xfrm xmlns:a="http://schemas.openxmlformats.org/drawingml/2006/main">
            <a:off x="533400" y="5391150"/>
            <a:ext cx="11125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15243B"/>
                </a:solidFill>
                <a:latin typeface="AppleGothic"/>
                <a:ea typeface="AppleGothic"/>
                <a:cs typeface="AppleGothic"/>
              </a:defRPr>
            </a:defPPr>
            <a:lvl1pPr>
              <a:defRPr sz="1800" b="0">
                <a:solidFill>
                  <a:srgbClr val="15243B"/>
                </a:solidFill>
                <a:latin typeface="AppleGothic"/>
                <a:ea typeface="AppleGothic"/>
                <a:cs typeface="AppleGothic"/>
              </a:defRPr>
            </a:lvl1pPr>
            <a:lvl2pPr>
              <a:defRPr sz="1800" b="0">
                <a:solidFill>
                  <a:srgbClr val="15243B"/>
                </a:solidFill>
                <a:latin typeface="AppleGothic"/>
                <a:ea typeface="AppleGothic"/>
                <a:cs typeface="AppleGothic"/>
              </a:defRPr>
            </a:lvl2pPr>
            <a:lvl3pPr>
              <a:defRPr sz="1800" b="0">
                <a:solidFill>
                  <a:srgbClr val="15243B"/>
                </a:solidFill>
                <a:latin typeface="AppleGothic"/>
                <a:ea typeface="AppleGothic"/>
                <a:cs typeface="AppleGothic"/>
              </a:defRPr>
            </a:lvl3pPr>
            <a:lvl4pPr>
              <a:defRPr sz="1800" b="0">
                <a:solidFill>
                  <a:srgbClr val="15243B"/>
                </a:solidFill>
                <a:latin typeface="AppleGothic"/>
                <a:ea typeface="AppleGothic"/>
                <a:cs typeface="AppleGothic"/>
              </a:defRPr>
            </a:lvl4pPr>
            <a:lvl5pPr>
              <a:defRPr sz="1800" b="0">
                <a:solidFill>
                  <a:srgbClr val="15243B"/>
                </a:solidFill>
                <a:latin typeface="AppleGothic"/>
                <a:ea typeface="AppleGothic"/>
                <a:cs typeface="AppleGothic"/>
              </a:defRPr>
            </a:lvl5pPr>
            <a:lvl6pPr>
              <a:defRPr sz="1800" b="0">
                <a:solidFill>
                  <a:srgbClr val="15243B"/>
                </a:solidFill>
                <a:latin typeface="AppleGothic"/>
                <a:ea typeface="AppleGothic"/>
                <a:cs typeface="AppleGothic"/>
              </a:defRPr>
            </a:lvl6pPr>
            <a:lvl7pPr>
              <a:defRPr sz="1800" b="0">
                <a:solidFill>
                  <a:srgbClr val="15243B"/>
                </a:solidFill>
                <a:latin typeface="AppleGothic"/>
                <a:ea typeface="AppleGothic"/>
                <a:cs typeface="AppleGothic"/>
              </a:defRPr>
            </a:lvl7pPr>
            <a:lvl8pPr>
              <a:defRPr sz="1800" b="0">
                <a:solidFill>
                  <a:srgbClr val="15243B"/>
                </a:solidFill>
                <a:latin typeface="AppleGothic"/>
                <a:ea typeface="AppleGothic"/>
                <a:cs typeface="AppleGothic"/>
              </a:defRPr>
            </a:lvl8pPr>
            <a:lvl9pPr>
              <a:defRPr sz="1800" b="0">
                <a:solidFill>
                  <a:srgbClr val="15243B"/>
                </a:solidFill>
                <a:latin typeface="AppleGothic"/>
                <a:ea typeface="AppleGothic"/>
                <a:cs typeface="AppleGothic"/>
              </a:defRPr>
            </a:lvl9pPr>
          </a:lstStyle>
          <a:p xmlns:a="http://schemas.openxmlformats.org/drawingml/2006/main">
            <a:pPr>
              <a:defRPr sz="1800" b="0">
                <a:solidFill>
                  <a:srgbClr val="15243B"/>
                </a:solidFill>
                <a:latin typeface="AppleGothic"/>
                <a:ea typeface="AppleGothic"/>
                <a:cs typeface="AppleGothic"/>
              </a:defRPr>
            </a:pPr>
            <a:r>
              <a:rPr sz="1800" b="0">
                <a:solidFill>
                  <a:srgbClr val="15243B"/>
                </a:solidFill>
                <a:latin typeface="AppleGothic"/>
                <a:ea typeface="AppleGothic"/>
                <a:cs typeface="AppleGothic"/>
              </a:rPr>
              <a:t>합성 train 600 / validation 60 scenes의 수치다. KITTI 공식 3D-IoU AP가 아니다.</a:t>
            </a:r>
          </a:p>
          <a:p xmlns:a="http://schemas.openxmlformats.org/drawingml/2006/main">
            <a:pPr>
              <a:defRPr sz="1800" b="0">
                <a:solidFill>
                  <a:srgbClr val="15243B"/>
                </a:solidFill>
                <a:latin typeface="AppleGothic"/>
                <a:ea typeface="AppleGothic"/>
                <a:cs typeface="AppleGothic"/>
              </a:defRPr>
            </a:pPr>
            <a:r>
              <a:rPr sz="1800" b="0">
                <a:solidFill>
                  <a:srgbClr val="15243B"/>
                </a:solidFill>
                <a:latin typeface="AppleGothic"/>
                <a:ea typeface="AppleGothic"/>
                <a:cs typeface="AppleGothic"/>
              </a:rPr>
              <a:t>실제 KITTI 전이는 별도 정성 확인이다. Fine-tuning 효과도 실제 검증 자료로 확인해야 한다.</a:t>
            </a:r>
          </a:p>
        </p:txBody>
      </p:sp>
      <p:sp>
        <p:nvSpPr>
          <p:cNvPr id="5" name="">
            <a:extLst xmlns:a="http://schemas.openxmlformats.org/drawingml/2006/main">
              <a:ext uri="{FF2B5EF4-FFF2-40B4-BE49-F238E27FC236}">
                <a16:creationId xmlns:a16="http://schemas.microsoft.com/office/drawing/2014/main" id="{4DDB25D6-B95E-463E-B11D-1134888787D1}"/>
              </a:ext>
            </a:extLst>
          </p:cNvPr>
          <p:cNvSpPr>
            <a:spLocks xmlns:a="http://schemas.openxmlformats.org/drawingml/2006/main" noGrp="1"/>
          </p:cNvSpPr>
          <p:nvPr/>
        </p:nvSpPr>
        <p:spPr>
          <a:xfrm xmlns:a="http://schemas.openxmlformats.org/drawingml/2006/main">
            <a:off x="11144250" y="6400800"/>
            <a:ext cx="5143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62748C"/>
                </a:solidFill>
                <a:latin typeface="AppleGothic"/>
                <a:ea typeface="AppleGothic"/>
                <a:cs typeface="AppleGothic"/>
              </a:defRPr>
            </a:defPPr>
            <a:lvl1pPr>
              <a:defRPr sz="1350" b="0">
                <a:solidFill>
                  <a:srgbClr val="62748C"/>
                </a:solidFill>
                <a:latin typeface="AppleGothic"/>
                <a:ea typeface="AppleGothic"/>
                <a:cs typeface="AppleGothic"/>
              </a:defRPr>
            </a:lvl1pPr>
            <a:lvl2pPr>
              <a:defRPr sz="1350" b="0">
                <a:solidFill>
                  <a:srgbClr val="62748C"/>
                </a:solidFill>
                <a:latin typeface="AppleGothic"/>
                <a:ea typeface="AppleGothic"/>
                <a:cs typeface="AppleGothic"/>
              </a:defRPr>
            </a:lvl2pPr>
            <a:lvl3pPr>
              <a:defRPr sz="1350" b="0">
                <a:solidFill>
                  <a:srgbClr val="62748C"/>
                </a:solidFill>
                <a:latin typeface="AppleGothic"/>
                <a:ea typeface="AppleGothic"/>
                <a:cs typeface="AppleGothic"/>
              </a:defRPr>
            </a:lvl3pPr>
            <a:lvl4pPr>
              <a:defRPr sz="1350" b="0">
                <a:solidFill>
                  <a:srgbClr val="62748C"/>
                </a:solidFill>
                <a:latin typeface="AppleGothic"/>
                <a:ea typeface="AppleGothic"/>
                <a:cs typeface="AppleGothic"/>
              </a:defRPr>
            </a:lvl4pPr>
            <a:lvl5pPr>
              <a:defRPr sz="1350" b="0">
                <a:solidFill>
                  <a:srgbClr val="62748C"/>
                </a:solidFill>
                <a:latin typeface="AppleGothic"/>
                <a:ea typeface="AppleGothic"/>
                <a:cs typeface="AppleGothic"/>
              </a:defRPr>
            </a:lvl5pPr>
            <a:lvl6pPr>
              <a:defRPr sz="1350" b="0">
                <a:solidFill>
                  <a:srgbClr val="62748C"/>
                </a:solidFill>
                <a:latin typeface="AppleGothic"/>
                <a:ea typeface="AppleGothic"/>
                <a:cs typeface="AppleGothic"/>
              </a:defRPr>
            </a:lvl6pPr>
            <a:lvl7pPr>
              <a:defRPr sz="1350" b="0">
                <a:solidFill>
                  <a:srgbClr val="62748C"/>
                </a:solidFill>
                <a:latin typeface="AppleGothic"/>
                <a:ea typeface="AppleGothic"/>
                <a:cs typeface="AppleGothic"/>
              </a:defRPr>
            </a:lvl7pPr>
            <a:lvl8pPr>
              <a:defRPr sz="1350" b="0">
                <a:solidFill>
                  <a:srgbClr val="62748C"/>
                </a:solidFill>
                <a:latin typeface="AppleGothic"/>
                <a:ea typeface="AppleGothic"/>
                <a:cs typeface="AppleGothic"/>
              </a:defRPr>
            </a:lvl8pPr>
            <a:lvl9pPr>
              <a:defRPr sz="1350" b="0">
                <a:solidFill>
                  <a:srgbClr val="62748C"/>
                </a:solidFill>
                <a:latin typeface="AppleGothic"/>
                <a:ea typeface="AppleGothic"/>
                <a:cs typeface="AppleGothic"/>
              </a:defRPr>
            </a:lvl9pPr>
          </a:lstStyle>
          <a:p xmlns:a="http://schemas.openxmlformats.org/drawingml/2006/main">
            <a:pPr>
              <a:defRPr sz="1350" b="0">
                <a:solidFill>
                  <a:srgbClr val="62748C"/>
                </a:solidFill>
                <a:latin typeface="AppleGothic"/>
                <a:ea typeface="AppleGothic"/>
                <a:cs typeface="AppleGothic"/>
              </a:defRPr>
            </a:pPr>
            <a:r>
              <a:rPr sz="1350" b="0">
                <a:solidFill>
                  <a:srgbClr val="62748C"/>
                </a:solidFill>
                <a:latin typeface="AppleGothic"/>
                <a:ea typeface="AppleGothic"/>
                <a:cs typeface="AppleGothic"/>
              </a:rPr>
              <a:t>36</a:t>
            </a:r>
          </a:p>
        </p:txBody>
      </p:sp>
    </p:spTree>
    <p:extLst>
      <p:ext uri="{BB962C8B-B14F-4D97-AF65-F5344CB8AC3E}">
        <p14:creationId xmlns:p14="http://schemas.microsoft.com/office/powerpoint/2010/main" val="1095559842"/>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D0CBAE42-0751-436B-BE3C-438B6CB5BA2C}"/>
              </a:ext>
            </a:extLst>
          </p:cNvPr>
          <p:cNvSpPr>
            <a:spLocks xmlns:a="http://schemas.openxmlformats.org/drawingml/2006/main" noGrp="1"/>
          </p:cNvSpPr>
          <p:nvPr/>
        </p:nvSpPr>
        <p:spPr>
          <a:xfrm xmlns:a="http://schemas.openxmlformats.org/drawingml/2006/main">
            <a:off x="533400" y="342900"/>
            <a:ext cx="111252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150" b="1">
                <a:solidFill>
                  <a:srgbClr val="15243B"/>
                </a:solidFill>
                <a:latin typeface="AppleGothic"/>
                <a:ea typeface="AppleGothic"/>
                <a:cs typeface="AppleGothic"/>
              </a:defRPr>
            </a:defPPr>
            <a:lvl1pPr>
              <a:defRPr sz="3150" b="1">
                <a:solidFill>
                  <a:srgbClr val="15243B"/>
                </a:solidFill>
                <a:latin typeface="AppleGothic"/>
                <a:ea typeface="AppleGothic"/>
                <a:cs typeface="AppleGothic"/>
              </a:defRPr>
            </a:lvl1pPr>
            <a:lvl2pPr>
              <a:defRPr sz="3150" b="1">
                <a:solidFill>
                  <a:srgbClr val="15243B"/>
                </a:solidFill>
                <a:latin typeface="AppleGothic"/>
                <a:ea typeface="AppleGothic"/>
                <a:cs typeface="AppleGothic"/>
              </a:defRPr>
            </a:lvl2pPr>
            <a:lvl3pPr>
              <a:defRPr sz="3150" b="1">
                <a:solidFill>
                  <a:srgbClr val="15243B"/>
                </a:solidFill>
                <a:latin typeface="AppleGothic"/>
                <a:ea typeface="AppleGothic"/>
                <a:cs typeface="AppleGothic"/>
              </a:defRPr>
            </a:lvl3pPr>
            <a:lvl4pPr>
              <a:defRPr sz="3150" b="1">
                <a:solidFill>
                  <a:srgbClr val="15243B"/>
                </a:solidFill>
                <a:latin typeface="AppleGothic"/>
                <a:ea typeface="AppleGothic"/>
                <a:cs typeface="AppleGothic"/>
              </a:defRPr>
            </a:lvl4pPr>
            <a:lvl5pPr>
              <a:defRPr sz="3150" b="1">
                <a:solidFill>
                  <a:srgbClr val="15243B"/>
                </a:solidFill>
                <a:latin typeface="AppleGothic"/>
                <a:ea typeface="AppleGothic"/>
                <a:cs typeface="AppleGothic"/>
              </a:defRPr>
            </a:lvl5pPr>
            <a:lvl6pPr>
              <a:defRPr sz="3150" b="1">
                <a:solidFill>
                  <a:srgbClr val="15243B"/>
                </a:solidFill>
                <a:latin typeface="AppleGothic"/>
                <a:ea typeface="AppleGothic"/>
                <a:cs typeface="AppleGothic"/>
              </a:defRPr>
            </a:lvl6pPr>
            <a:lvl7pPr>
              <a:defRPr sz="3150" b="1">
                <a:solidFill>
                  <a:srgbClr val="15243B"/>
                </a:solidFill>
                <a:latin typeface="AppleGothic"/>
                <a:ea typeface="AppleGothic"/>
                <a:cs typeface="AppleGothic"/>
              </a:defRPr>
            </a:lvl7pPr>
            <a:lvl8pPr>
              <a:defRPr sz="3150" b="1">
                <a:solidFill>
                  <a:srgbClr val="15243B"/>
                </a:solidFill>
                <a:latin typeface="AppleGothic"/>
                <a:ea typeface="AppleGothic"/>
                <a:cs typeface="AppleGothic"/>
              </a:defRPr>
            </a:lvl8pPr>
            <a:lvl9pPr>
              <a:defRPr sz="3150" b="1">
                <a:solidFill>
                  <a:srgbClr val="15243B"/>
                </a:solidFill>
                <a:latin typeface="AppleGothic"/>
                <a:ea typeface="AppleGothic"/>
                <a:cs typeface="AppleGothic"/>
              </a:defRPr>
            </a:lvl9pPr>
          </a:lstStyle>
          <a:p xmlns:a="http://schemas.openxmlformats.org/drawingml/2006/main">
            <a:pPr>
              <a:defRPr sz="3150" b="1">
                <a:solidFill>
                  <a:srgbClr val="15243B"/>
                </a:solidFill>
                <a:latin typeface="AppleGothic"/>
                <a:ea typeface="AppleGothic"/>
                <a:cs typeface="AppleGothic"/>
              </a:defRPr>
            </a:pPr>
            <a:r>
              <a:rPr sz="3150" b="1">
                <a:solidFill>
                  <a:srgbClr val="15243B"/>
                </a:solidFill>
                <a:latin typeface="AppleGothic"/>
                <a:ea typeface="AppleGothic"/>
                <a:cs typeface="AppleGothic"/>
              </a:rPr>
              <a:t>Final Recap</a:t>
            </a:r>
          </a:p>
        </p:txBody>
      </p:sp>
      <p:sp>
        <p:nvSpPr>
          <p:cNvPr id="2" name="">
            <a:extLst xmlns:a="http://schemas.openxmlformats.org/drawingml/2006/main">
              <a:ext uri="{FF2B5EF4-FFF2-40B4-BE49-F238E27FC236}">
                <a16:creationId xmlns:a16="http://schemas.microsoft.com/office/drawing/2014/main" id="{49EAF39F-0848-4B0A-A860-0BCC172E493B}"/>
              </a:ext>
            </a:extLst>
          </p:cNvPr>
          <p:cNvSpPr>
            <a:spLocks xmlns:a="http://schemas.openxmlformats.org/drawingml/2006/main" noGrp="1"/>
          </p:cNvSpPr>
          <p:nvPr/>
        </p:nvSpPr>
        <p:spPr>
          <a:xfrm xmlns:a="http://schemas.openxmlformats.org/drawingml/2006/main">
            <a:off x="533400" y="1066800"/>
            <a:ext cx="111252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1">
                <a:solidFill>
                  <a:srgbClr val="2164CB"/>
                </a:solidFill>
                <a:latin typeface="AppleGothic"/>
                <a:ea typeface="AppleGothic"/>
                <a:cs typeface="AppleGothic"/>
              </a:defRPr>
            </a:defPPr>
            <a:lvl1pPr>
              <a:defRPr sz="2175" b="1">
                <a:solidFill>
                  <a:srgbClr val="2164CB"/>
                </a:solidFill>
                <a:latin typeface="AppleGothic"/>
                <a:ea typeface="AppleGothic"/>
                <a:cs typeface="AppleGothic"/>
              </a:defRPr>
            </a:lvl1pPr>
            <a:lvl2pPr>
              <a:defRPr sz="2175" b="1">
                <a:solidFill>
                  <a:srgbClr val="2164CB"/>
                </a:solidFill>
                <a:latin typeface="AppleGothic"/>
                <a:ea typeface="AppleGothic"/>
                <a:cs typeface="AppleGothic"/>
              </a:defRPr>
            </a:lvl2pPr>
            <a:lvl3pPr>
              <a:defRPr sz="2175" b="1">
                <a:solidFill>
                  <a:srgbClr val="2164CB"/>
                </a:solidFill>
                <a:latin typeface="AppleGothic"/>
                <a:ea typeface="AppleGothic"/>
                <a:cs typeface="AppleGothic"/>
              </a:defRPr>
            </a:lvl3pPr>
            <a:lvl4pPr>
              <a:defRPr sz="2175" b="1">
                <a:solidFill>
                  <a:srgbClr val="2164CB"/>
                </a:solidFill>
                <a:latin typeface="AppleGothic"/>
                <a:ea typeface="AppleGothic"/>
                <a:cs typeface="AppleGothic"/>
              </a:defRPr>
            </a:lvl4pPr>
            <a:lvl5pPr>
              <a:defRPr sz="2175" b="1">
                <a:solidFill>
                  <a:srgbClr val="2164CB"/>
                </a:solidFill>
                <a:latin typeface="AppleGothic"/>
                <a:ea typeface="AppleGothic"/>
                <a:cs typeface="AppleGothic"/>
              </a:defRPr>
            </a:lvl5pPr>
            <a:lvl6pPr>
              <a:defRPr sz="2175" b="1">
                <a:solidFill>
                  <a:srgbClr val="2164CB"/>
                </a:solidFill>
                <a:latin typeface="AppleGothic"/>
                <a:ea typeface="AppleGothic"/>
                <a:cs typeface="AppleGothic"/>
              </a:defRPr>
            </a:lvl6pPr>
            <a:lvl7pPr>
              <a:defRPr sz="2175" b="1">
                <a:solidFill>
                  <a:srgbClr val="2164CB"/>
                </a:solidFill>
                <a:latin typeface="AppleGothic"/>
                <a:ea typeface="AppleGothic"/>
                <a:cs typeface="AppleGothic"/>
              </a:defRPr>
            </a:lvl7pPr>
            <a:lvl8pPr>
              <a:defRPr sz="2175" b="1">
                <a:solidFill>
                  <a:srgbClr val="2164CB"/>
                </a:solidFill>
                <a:latin typeface="AppleGothic"/>
                <a:ea typeface="AppleGothic"/>
                <a:cs typeface="AppleGothic"/>
              </a:defRPr>
            </a:lvl8pPr>
            <a:lvl9pPr>
              <a:defRPr sz="2175" b="1">
                <a:solidFill>
                  <a:srgbClr val="2164CB"/>
                </a:solidFill>
                <a:latin typeface="AppleGothic"/>
                <a:ea typeface="AppleGothic"/>
                <a:cs typeface="AppleGothic"/>
              </a:defRPr>
            </a:lvl9pPr>
          </a:lstStyle>
          <a:p xmlns:a="http://schemas.openxmlformats.org/drawingml/2006/main">
            <a:pPr>
              <a:defRPr sz="2175" b="1">
                <a:solidFill>
                  <a:srgbClr val="2164CB"/>
                </a:solidFill>
                <a:latin typeface="AppleGothic"/>
                <a:ea typeface="AppleGothic"/>
                <a:cs typeface="AppleGothic"/>
              </a:defRPr>
            </a:pPr>
            <a:r>
              <a:rPr sz="2175" b="1">
                <a:solidFill>
                  <a:srgbClr val="2164CB"/>
                </a:solidFill>
                <a:latin typeface="AppleGothic"/>
                <a:ea typeface="AppleGothic"/>
                <a:cs typeface="AppleGothic"/>
              </a:rPr>
              <a:t>측정값, 표현, 후보, 예측, 평가를 같은 흐름으로 연결하면 모델 차이가 보인다</a:t>
            </a:r>
          </a:p>
        </p:txBody>
      </p:sp>
      <p:graphicFrame>
        <p:nvGraphicFramePr>
          <p:cNvPr id="3" name="">
            <a:extLst xmlns:a="http://schemas.openxmlformats.org/drawingml/2006/main">
              <a:ext uri="{FF2B5EF4-FFF2-40B4-BE49-F238E27FC236}">
                <a16:creationId xmlns:a16="http://schemas.microsoft.com/office/drawing/2014/main" id="{5A64935F-228D-4CD4-B188-C2D87CD78125}"/>
              </a:ext>
            </a:extLst>
          </p:cNvPr>
          <p:cNvGraphicFramePr/>
          <p:nvPr/>
        </p:nvGraphicFramePr>
        <p:xfrm>
          <a:off xmlns:a="http://schemas.openxmlformats.org/drawingml/2006/main" x="533400" y="2057400"/>
          <a:ext xmlns:a="http://schemas.openxmlformats.org/drawingml/2006/main" cx="11125200" cy="3124200"/>
        </p:xfrm>
        <a:graphic xmlns:a="http://schemas.openxmlformats.org/drawingml/2006/main">
          <a:graphicData uri="http://schemas.openxmlformats.org/drawingml/2006/table">
            <a:tbl>
              <a:tblPr/>
              <a:tblGrid>
                <a:gridCol w="5562600"/>
                <a:gridCol w="5562600"/>
              </a:tblGrid>
              <a:tr h="520700">
                <a:tc>
                  <a:txBody>
                    <a:bodyPr/>
                    <a:lstStyle/>
                    <a:p>
                      <a:r>
                        <a:rPr sz="1800" b="1">
                          <a:solidFill>
                            <a:srgbClr val="2164CB"/>
                          </a:solidFill>
                          <a:latin typeface="AppleGothic"/>
                          <a:ea typeface="AppleGothic"/>
                          <a:cs typeface="AppleGothic"/>
                        </a:rPr>
                        <a:t>Question</a:t>
                      </a:r>
                    </a:p>
                  </a:txBody>
                  <a:tcPr marL="114300" marR="114300" marT="95250" marB="95250">
                    <a:lnL w="9525">
                      <a:solidFill>
                        <a:srgbClr val="D7DFEA"/>
                      </a:solidFill>
                      <a:prstDash val="solid"/>
                    </a:lnL>
                    <a:lnR w="9525">
                      <a:solidFill>
                        <a:srgbClr val="D7DFEA"/>
                      </a:solidFill>
                      <a:prstDash val="solid"/>
                    </a:lnR>
                    <a:lnT w="9525">
                      <a:solidFill>
                        <a:srgbClr val="D7DFEA"/>
                      </a:solidFill>
                      <a:prstDash val="solid"/>
                    </a:lnT>
                    <a:lnB w="9525">
                      <a:solidFill>
                        <a:srgbClr val="D7DFEA"/>
                      </a:solidFill>
                      <a:prstDash val="solid"/>
                    </a:lnB>
                    <a:solidFill>
                      <a:srgbClr val="EAF1FC"/>
                    </a:solidFill>
                  </a:tcPr>
                </a:tc>
                <a:tc>
                  <a:txBody>
                    <a:bodyPr/>
                    <a:lstStyle/>
                    <a:p>
                      <a:r>
                        <a:rPr sz="1800" b="1">
                          <a:solidFill>
                            <a:srgbClr val="2164CB"/>
                          </a:solidFill>
                          <a:latin typeface="AppleGothic"/>
                          <a:ea typeface="AppleGothic"/>
                          <a:cs typeface="AppleGothic"/>
                        </a:rPr>
                        <a:t>Check</a:t>
                      </a:r>
                    </a:p>
                  </a:txBody>
                  <a:tcPr marL="114300" marR="114300" marT="95250" marB="95250">
                    <a:lnR w="9525">
                      <a:solidFill>
                        <a:srgbClr val="D7DFEA"/>
                      </a:solidFill>
                      <a:prstDash val="solid"/>
                    </a:lnR>
                    <a:lnT w="9525">
                      <a:solidFill>
                        <a:srgbClr val="D7DFEA"/>
                      </a:solidFill>
                      <a:prstDash val="solid"/>
                    </a:lnT>
                    <a:lnB w="9525">
                      <a:solidFill>
                        <a:srgbClr val="D7DFEA"/>
                      </a:solidFill>
                      <a:prstDash val="solid"/>
                    </a:lnB>
                    <a:solidFill>
                      <a:srgbClr val="EAF1FC"/>
                    </a:solidFill>
                  </a:tcPr>
                </a:tc>
              </a:tr>
              <a:tr h="520700">
                <a:tc>
                  <a:txBody>
                    <a:bodyPr/>
                    <a:lstStyle/>
                    <a:p>
                      <a:r>
                        <a:rPr sz="1800">
                          <a:solidFill>
                            <a:srgbClr val="15243B"/>
                          </a:solidFill>
                          <a:latin typeface="AppleGothic"/>
                          <a:ea typeface="AppleGothic"/>
                          <a:cs typeface="AppleGothic"/>
                        </a:rPr>
                        <a:t>무엇을 측정했나</a:t>
                      </a:r>
                    </a:p>
                  </a:txBody>
                  <a:tcPr marL="114300" marR="114300" marT="95250" marB="95250">
                    <a:lnL w="9525">
                      <a:solidFill>
                        <a:srgbClr val="D7DFEA"/>
                      </a:solidFill>
                      <a:prstDash val="solid"/>
                    </a:lnL>
                    <a:lnR w="9525">
                      <a:solidFill>
                        <a:srgbClr val="D7DFEA"/>
                      </a:solidFill>
                      <a:prstDash val="solid"/>
                    </a:lnR>
                    <a:lnB w="9525">
                      <a:solidFill>
                        <a:srgbClr val="D7DFEA"/>
                      </a:solidFill>
                      <a:prstDash val="solid"/>
                    </a:lnB>
                  </a:tcPr>
                </a:tc>
                <a:tc>
                  <a:txBody>
                    <a:bodyPr/>
                    <a:lstStyle/>
                    <a:p>
                      <a:r>
                        <a:rPr sz="1800">
                          <a:solidFill>
                            <a:srgbClr val="15243B"/>
                          </a:solidFill>
                          <a:latin typeface="AppleGothic"/>
                          <a:ea typeface="AppleGothic"/>
                          <a:cs typeface="AppleGothic"/>
                        </a:rPr>
                        <a:t>sensor와 coordinate</a:t>
                      </a:r>
                    </a:p>
                  </a:txBody>
                  <a:tcPr marL="114300" marR="114300" marT="95250" marB="95250">
                    <a:lnR w="9525">
                      <a:solidFill>
                        <a:srgbClr val="D7DFEA"/>
                      </a:solidFill>
                      <a:prstDash val="solid"/>
                    </a:lnR>
                    <a:lnB w="9525">
                      <a:solidFill>
                        <a:srgbClr val="D7DFEA"/>
                      </a:solidFill>
                      <a:prstDash val="solid"/>
                    </a:lnB>
                  </a:tcPr>
                </a:tc>
              </a:tr>
              <a:tr h="520700">
                <a:tc>
                  <a:txBody>
                    <a:bodyPr/>
                    <a:lstStyle/>
                    <a:p>
                      <a:r>
                        <a:rPr sz="1800">
                          <a:solidFill>
                            <a:srgbClr val="15243B"/>
                          </a:solidFill>
                          <a:latin typeface="AppleGothic"/>
                          <a:ea typeface="AppleGothic"/>
                          <a:cs typeface="AppleGothic"/>
                        </a:rPr>
                        <a:t>어떻게 표현했나</a:t>
                      </a:r>
                    </a:p>
                  </a:txBody>
                  <a:tcPr marL="114300" marR="114300" marT="95250" marB="95250">
                    <a:lnL w="9525">
                      <a:solidFill>
                        <a:srgbClr val="D7DFEA"/>
                      </a:solidFill>
                      <a:prstDash val="solid"/>
                    </a:lnL>
                    <a:lnR w="9525">
                      <a:solidFill>
                        <a:srgbClr val="D7DFEA"/>
                      </a:solidFill>
                      <a:prstDash val="solid"/>
                    </a:lnR>
                    <a:lnB w="9525">
                      <a:solidFill>
                        <a:srgbClr val="D7DFEA"/>
                      </a:solidFill>
                      <a:prstDash val="solid"/>
                    </a:lnB>
                  </a:tcPr>
                </a:tc>
                <a:tc>
                  <a:txBody>
                    <a:bodyPr/>
                    <a:lstStyle/>
                    <a:p>
                      <a:r>
                        <a:rPr sz="1800">
                          <a:solidFill>
                            <a:srgbClr val="15243B"/>
                          </a:solidFill>
                          <a:latin typeface="AppleGothic"/>
                          <a:ea typeface="AppleGothic"/>
                          <a:cs typeface="AppleGothic"/>
                        </a:rPr>
                        <a:t>image, point, voxel, BEV</a:t>
                      </a:r>
                    </a:p>
                  </a:txBody>
                  <a:tcPr marL="114300" marR="114300" marT="95250" marB="95250">
                    <a:lnR w="9525">
                      <a:solidFill>
                        <a:srgbClr val="D7DFEA"/>
                      </a:solidFill>
                      <a:prstDash val="solid"/>
                    </a:lnR>
                    <a:lnB w="9525">
                      <a:solidFill>
                        <a:srgbClr val="D7DFEA"/>
                      </a:solidFill>
                      <a:prstDash val="solid"/>
                    </a:lnB>
                  </a:tcPr>
                </a:tc>
              </a:tr>
              <a:tr h="520700">
                <a:tc>
                  <a:txBody>
                    <a:bodyPr/>
                    <a:lstStyle/>
                    <a:p>
                      <a:r>
                        <a:rPr sz="1800">
                          <a:solidFill>
                            <a:srgbClr val="15243B"/>
                          </a:solidFill>
                          <a:latin typeface="AppleGothic"/>
                          <a:ea typeface="AppleGothic"/>
                          <a:cs typeface="AppleGothic"/>
                        </a:rPr>
                        <a:t>후보는 어디서 왔나</a:t>
                      </a:r>
                    </a:p>
                  </a:txBody>
                  <a:tcPr marL="114300" marR="114300" marT="95250" marB="95250">
                    <a:lnL w="9525">
                      <a:solidFill>
                        <a:srgbClr val="D7DFEA"/>
                      </a:solidFill>
                      <a:prstDash val="solid"/>
                    </a:lnL>
                    <a:lnR w="9525">
                      <a:solidFill>
                        <a:srgbClr val="D7DFEA"/>
                      </a:solidFill>
                      <a:prstDash val="solid"/>
                    </a:lnR>
                    <a:lnB w="9525">
                      <a:solidFill>
                        <a:srgbClr val="D7DFEA"/>
                      </a:solidFill>
                      <a:prstDash val="solid"/>
                    </a:lnB>
                  </a:tcPr>
                </a:tc>
                <a:tc>
                  <a:txBody>
                    <a:bodyPr/>
                    <a:lstStyle/>
                    <a:p>
                      <a:r>
                        <a:rPr sz="1800">
                          <a:solidFill>
                            <a:srgbClr val="15243B"/>
                          </a:solidFill>
                          <a:latin typeface="AppleGothic"/>
                          <a:ea typeface="AppleGothic"/>
                          <a:cs typeface="AppleGothic"/>
                        </a:rPr>
                        <a:t>anchor, point, image, BEV</a:t>
                      </a:r>
                    </a:p>
                  </a:txBody>
                  <a:tcPr marL="114300" marR="114300" marT="95250" marB="95250">
                    <a:lnR w="9525">
                      <a:solidFill>
                        <a:srgbClr val="D7DFEA"/>
                      </a:solidFill>
                      <a:prstDash val="solid"/>
                    </a:lnR>
                    <a:lnB w="9525">
                      <a:solidFill>
                        <a:srgbClr val="D7DFEA"/>
                      </a:solidFill>
                      <a:prstDash val="solid"/>
                    </a:lnB>
                  </a:tcPr>
                </a:tc>
              </a:tr>
              <a:tr h="520700">
                <a:tc>
                  <a:txBody>
                    <a:bodyPr/>
                    <a:lstStyle/>
                    <a:p>
                      <a:r>
                        <a:rPr sz="1800">
                          <a:solidFill>
                            <a:srgbClr val="15243B"/>
                          </a:solidFill>
                          <a:latin typeface="AppleGothic"/>
                          <a:ea typeface="AppleGothic"/>
                          <a:cs typeface="AppleGothic"/>
                        </a:rPr>
                        <a:t>무엇을 예측했나</a:t>
                      </a:r>
                    </a:p>
                  </a:txBody>
                  <a:tcPr marL="114300" marR="114300" marT="95250" marB="95250">
                    <a:lnL w="9525">
                      <a:solidFill>
                        <a:srgbClr val="D7DFEA"/>
                      </a:solidFill>
                      <a:prstDash val="solid"/>
                    </a:lnL>
                    <a:lnR w="9525">
                      <a:solidFill>
                        <a:srgbClr val="D7DFEA"/>
                      </a:solidFill>
                      <a:prstDash val="solid"/>
                    </a:lnR>
                    <a:lnB w="9525">
                      <a:solidFill>
                        <a:srgbClr val="D7DFEA"/>
                      </a:solidFill>
                      <a:prstDash val="solid"/>
                    </a:lnB>
                  </a:tcPr>
                </a:tc>
                <a:tc>
                  <a:txBody>
                    <a:bodyPr/>
                    <a:lstStyle/>
                    <a:p>
                      <a:r>
                        <a:rPr sz="1800">
                          <a:solidFill>
                            <a:srgbClr val="15243B"/>
                          </a:solidFill>
                          <a:latin typeface="AppleGothic"/>
                          <a:ea typeface="AppleGothic"/>
                          <a:cs typeface="AppleGothic"/>
                        </a:rPr>
                        <a:t>class, box, mask, depth</a:t>
                      </a:r>
                    </a:p>
                  </a:txBody>
                  <a:tcPr marL="114300" marR="114300" marT="95250" marB="95250">
                    <a:lnR w="9525">
                      <a:solidFill>
                        <a:srgbClr val="D7DFEA"/>
                      </a:solidFill>
                      <a:prstDash val="solid"/>
                    </a:lnR>
                    <a:lnB w="9525">
                      <a:solidFill>
                        <a:srgbClr val="D7DFEA"/>
                      </a:solidFill>
                      <a:prstDash val="solid"/>
                    </a:lnB>
                  </a:tcPr>
                </a:tc>
              </a:tr>
              <a:tr h="520700">
                <a:tc>
                  <a:txBody>
                    <a:bodyPr/>
                    <a:lstStyle/>
                    <a:p>
                      <a:r>
                        <a:rPr sz="1800">
                          <a:solidFill>
                            <a:srgbClr val="15243B"/>
                          </a:solidFill>
                          <a:latin typeface="AppleGothic"/>
                          <a:ea typeface="AppleGothic"/>
                          <a:cs typeface="AppleGothic"/>
                        </a:rPr>
                        <a:t>어떻게 평가했나</a:t>
                      </a:r>
                    </a:p>
                  </a:txBody>
                  <a:tcPr marL="114300" marR="114300" marT="95250" marB="95250">
                    <a:lnL w="9525">
                      <a:solidFill>
                        <a:srgbClr val="D7DFEA"/>
                      </a:solidFill>
                      <a:prstDash val="solid"/>
                    </a:lnL>
                    <a:lnR w="9525">
                      <a:solidFill>
                        <a:srgbClr val="D7DFEA"/>
                      </a:solidFill>
                      <a:prstDash val="solid"/>
                    </a:lnR>
                    <a:lnB w="9525">
                      <a:solidFill>
                        <a:srgbClr val="D7DFEA"/>
                      </a:solidFill>
                      <a:prstDash val="solid"/>
                    </a:lnB>
                  </a:tcPr>
                </a:tc>
                <a:tc>
                  <a:txBody>
                    <a:bodyPr/>
                    <a:lstStyle/>
                    <a:p>
                      <a:r>
                        <a:rPr sz="1800">
                          <a:solidFill>
                            <a:srgbClr val="15243B"/>
                          </a:solidFill>
                          <a:latin typeface="AppleGothic"/>
                          <a:ea typeface="AppleGothic"/>
                          <a:cs typeface="AppleGothic"/>
                        </a:rPr>
                        <a:t>IoU, matching, PR, AP</a:t>
                      </a:r>
                    </a:p>
                  </a:txBody>
                  <a:tcPr marL="114300" marR="114300" marT="95250" marB="95250">
                    <a:lnR w="9525">
                      <a:solidFill>
                        <a:srgbClr val="D7DFEA"/>
                      </a:solidFill>
                      <a:prstDash val="solid"/>
                    </a:lnR>
                    <a:lnB w="9525">
                      <a:solidFill>
                        <a:srgbClr val="D7DFEA"/>
                      </a:solidFill>
                      <a:prstDash val="solid"/>
                    </a:lnB>
                  </a:tcPr>
                </a:tc>
              </a:tr>
            </a:tbl>
          </a:graphicData>
        </a:graphic>
      </p:graphicFrame>
      <p:sp>
        <p:nvSpPr>
          <p:cNvPr id="4" name="">
            <a:extLst xmlns:a="http://schemas.openxmlformats.org/drawingml/2006/main">
              <a:ext uri="{FF2B5EF4-FFF2-40B4-BE49-F238E27FC236}">
                <a16:creationId xmlns:a16="http://schemas.microsoft.com/office/drawing/2014/main" id="{BB29C122-76C4-44B1-A87C-62AC30AD1A93}"/>
              </a:ext>
            </a:extLst>
          </p:cNvPr>
          <p:cNvSpPr>
            <a:spLocks xmlns:a="http://schemas.openxmlformats.org/drawingml/2006/main" noGrp="1"/>
          </p:cNvSpPr>
          <p:nvPr/>
        </p:nvSpPr>
        <p:spPr>
          <a:xfrm xmlns:a="http://schemas.openxmlformats.org/drawingml/2006/main">
            <a:off x="533400" y="5391150"/>
            <a:ext cx="11125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15243B"/>
                </a:solidFill>
                <a:latin typeface="AppleGothic"/>
                <a:ea typeface="AppleGothic"/>
                <a:cs typeface="AppleGothic"/>
              </a:defRPr>
            </a:defPPr>
            <a:lvl1pPr>
              <a:defRPr sz="1800" b="0">
                <a:solidFill>
                  <a:srgbClr val="15243B"/>
                </a:solidFill>
                <a:latin typeface="AppleGothic"/>
                <a:ea typeface="AppleGothic"/>
                <a:cs typeface="AppleGothic"/>
              </a:defRPr>
            </a:lvl1pPr>
            <a:lvl2pPr>
              <a:defRPr sz="1800" b="0">
                <a:solidFill>
                  <a:srgbClr val="15243B"/>
                </a:solidFill>
                <a:latin typeface="AppleGothic"/>
                <a:ea typeface="AppleGothic"/>
                <a:cs typeface="AppleGothic"/>
              </a:defRPr>
            </a:lvl2pPr>
            <a:lvl3pPr>
              <a:defRPr sz="1800" b="0">
                <a:solidFill>
                  <a:srgbClr val="15243B"/>
                </a:solidFill>
                <a:latin typeface="AppleGothic"/>
                <a:ea typeface="AppleGothic"/>
                <a:cs typeface="AppleGothic"/>
              </a:defRPr>
            </a:lvl3pPr>
            <a:lvl4pPr>
              <a:defRPr sz="1800" b="0">
                <a:solidFill>
                  <a:srgbClr val="15243B"/>
                </a:solidFill>
                <a:latin typeface="AppleGothic"/>
                <a:ea typeface="AppleGothic"/>
                <a:cs typeface="AppleGothic"/>
              </a:defRPr>
            </a:lvl4pPr>
            <a:lvl5pPr>
              <a:defRPr sz="1800" b="0">
                <a:solidFill>
                  <a:srgbClr val="15243B"/>
                </a:solidFill>
                <a:latin typeface="AppleGothic"/>
                <a:ea typeface="AppleGothic"/>
                <a:cs typeface="AppleGothic"/>
              </a:defRPr>
            </a:lvl5pPr>
            <a:lvl6pPr>
              <a:defRPr sz="1800" b="0">
                <a:solidFill>
                  <a:srgbClr val="15243B"/>
                </a:solidFill>
                <a:latin typeface="AppleGothic"/>
                <a:ea typeface="AppleGothic"/>
                <a:cs typeface="AppleGothic"/>
              </a:defRPr>
            </a:lvl6pPr>
            <a:lvl7pPr>
              <a:defRPr sz="1800" b="0">
                <a:solidFill>
                  <a:srgbClr val="15243B"/>
                </a:solidFill>
                <a:latin typeface="AppleGothic"/>
                <a:ea typeface="AppleGothic"/>
                <a:cs typeface="AppleGothic"/>
              </a:defRPr>
            </a:lvl7pPr>
            <a:lvl8pPr>
              <a:defRPr sz="1800" b="0">
                <a:solidFill>
                  <a:srgbClr val="15243B"/>
                </a:solidFill>
                <a:latin typeface="AppleGothic"/>
                <a:ea typeface="AppleGothic"/>
                <a:cs typeface="AppleGothic"/>
              </a:defRPr>
            </a:lvl8pPr>
            <a:lvl9pPr>
              <a:defRPr sz="1800" b="0">
                <a:solidFill>
                  <a:srgbClr val="15243B"/>
                </a:solidFill>
                <a:latin typeface="AppleGothic"/>
                <a:ea typeface="AppleGothic"/>
                <a:cs typeface="AppleGothic"/>
              </a:defRPr>
            </a:lvl9pPr>
          </a:lstStyle>
          <a:p xmlns:a="http://schemas.openxmlformats.org/drawingml/2006/main">
            <a:pPr>
              <a:defRPr sz="1800" b="0">
                <a:solidFill>
                  <a:srgbClr val="15243B"/>
                </a:solidFill>
                <a:latin typeface="AppleGothic"/>
                <a:ea typeface="AppleGothic"/>
                <a:cs typeface="AppleGothic"/>
              </a:defRPr>
            </a:pPr>
            <a:r>
              <a:rPr sz="1800" b="0">
                <a:solidFill>
                  <a:srgbClr val="15243B"/>
                </a:solidFill>
                <a:latin typeface="AppleGothic"/>
                <a:ea typeface="AppleGothic"/>
                <a:cs typeface="AppleGothic"/>
              </a:rPr>
              <a:t>수식은 좌표계와 단위를 먼저 확인하고 작은 수치로 검산한다.</a:t>
            </a:r>
          </a:p>
          <a:p xmlns:a="http://schemas.openxmlformats.org/drawingml/2006/main">
            <a:pPr>
              <a:defRPr sz="1800" b="0">
                <a:solidFill>
                  <a:srgbClr val="15243B"/>
                </a:solidFill>
                <a:latin typeface="AppleGothic"/>
                <a:ea typeface="AppleGothic"/>
                <a:cs typeface="AppleGothic"/>
              </a:defRPr>
            </a:pPr>
            <a:r>
              <a:rPr sz="1800" b="0">
                <a:solidFill>
                  <a:srgbClr val="15243B"/>
                </a:solidFill>
                <a:latin typeface="AppleGothic"/>
                <a:ea typeface="AppleGothic"/>
                <a:cs typeface="AppleGothic"/>
              </a:rPr>
              <a:t>논문 비교에서는 직접 확장과 같은 문제의 대안을 구분한다.</a:t>
            </a:r>
          </a:p>
        </p:txBody>
      </p:sp>
      <p:sp>
        <p:nvSpPr>
          <p:cNvPr id="5" name="">
            <a:extLst xmlns:a="http://schemas.openxmlformats.org/drawingml/2006/main">
              <a:ext uri="{FF2B5EF4-FFF2-40B4-BE49-F238E27FC236}">
                <a16:creationId xmlns:a16="http://schemas.microsoft.com/office/drawing/2014/main" id="{6DEF00C8-5086-455E-AB6C-6CE910F2CBA3}"/>
              </a:ext>
            </a:extLst>
          </p:cNvPr>
          <p:cNvSpPr>
            <a:spLocks xmlns:a="http://schemas.openxmlformats.org/drawingml/2006/main" noGrp="1"/>
          </p:cNvSpPr>
          <p:nvPr/>
        </p:nvSpPr>
        <p:spPr>
          <a:xfrm xmlns:a="http://schemas.openxmlformats.org/drawingml/2006/main">
            <a:off x="11144250" y="6400800"/>
            <a:ext cx="5143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62748C"/>
                </a:solidFill>
                <a:latin typeface="AppleGothic"/>
                <a:ea typeface="AppleGothic"/>
                <a:cs typeface="AppleGothic"/>
              </a:defRPr>
            </a:defPPr>
            <a:lvl1pPr>
              <a:defRPr sz="1350" b="0">
                <a:solidFill>
                  <a:srgbClr val="62748C"/>
                </a:solidFill>
                <a:latin typeface="AppleGothic"/>
                <a:ea typeface="AppleGothic"/>
                <a:cs typeface="AppleGothic"/>
              </a:defRPr>
            </a:lvl1pPr>
            <a:lvl2pPr>
              <a:defRPr sz="1350" b="0">
                <a:solidFill>
                  <a:srgbClr val="62748C"/>
                </a:solidFill>
                <a:latin typeface="AppleGothic"/>
                <a:ea typeface="AppleGothic"/>
                <a:cs typeface="AppleGothic"/>
              </a:defRPr>
            </a:lvl2pPr>
            <a:lvl3pPr>
              <a:defRPr sz="1350" b="0">
                <a:solidFill>
                  <a:srgbClr val="62748C"/>
                </a:solidFill>
                <a:latin typeface="AppleGothic"/>
                <a:ea typeface="AppleGothic"/>
                <a:cs typeface="AppleGothic"/>
              </a:defRPr>
            </a:lvl3pPr>
            <a:lvl4pPr>
              <a:defRPr sz="1350" b="0">
                <a:solidFill>
                  <a:srgbClr val="62748C"/>
                </a:solidFill>
                <a:latin typeface="AppleGothic"/>
                <a:ea typeface="AppleGothic"/>
                <a:cs typeface="AppleGothic"/>
              </a:defRPr>
            </a:lvl4pPr>
            <a:lvl5pPr>
              <a:defRPr sz="1350" b="0">
                <a:solidFill>
                  <a:srgbClr val="62748C"/>
                </a:solidFill>
                <a:latin typeface="AppleGothic"/>
                <a:ea typeface="AppleGothic"/>
                <a:cs typeface="AppleGothic"/>
              </a:defRPr>
            </a:lvl5pPr>
            <a:lvl6pPr>
              <a:defRPr sz="1350" b="0">
                <a:solidFill>
                  <a:srgbClr val="62748C"/>
                </a:solidFill>
                <a:latin typeface="AppleGothic"/>
                <a:ea typeface="AppleGothic"/>
                <a:cs typeface="AppleGothic"/>
              </a:defRPr>
            </a:lvl6pPr>
            <a:lvl7pPr>
              <a:defRPr sz="1350" b="0">
                <a:solidFill>
                  <a:srgbClr val="62748C"/>
                </a:solidFill>
                <a:latin typeface="AppleGothic"/>
                <a:ea typeface="AppleGothic"/>
                <a:cs typeface="AppleGothic"/>
              </a:defRPr>
            </a:lvl7pPr>
            <a:lvl8pPr>
              <a:defRPr sz="1350" b="0">
                <a:solidFill>
                  <a:srgbClr val="62748C"/>
                </a:solidFill>
                <a:latin typeface="AppleGothic"/>
                <a:ea typeface="AppleGothic"/>
                <a:cs typeface="AppleGothic"/>
              </a:defRPr>
            </a:lvl8pPr>
            <a:lvl9pPr>
              <a:defRPr sz="1350" b="0">
                <a:solidFill>
                  <a:srgbClr val="62748C"/>
                </a:solidFill>
                <a:latin typeface="AppleGothic"/>
                <a:ea typeface="AppleGothic"/>
                <a:cs typeface="AppleGothic"/>
              </a:defRPr>
            </a:lvl9pPr>
          </a:lstStyle>
          <a:p xmlns:a="http://schemas.openxmlformats.org/drawingml/2006/main">
            <a:pPr>
              <a:defRPr sz="1350" b="0">
                <a:solidFill>
                  <a:srgbClr val="62748C"/>
                </a:solidFill>
                <a:latin typeface="AppleGothic"/>
                <a:ea typeface="AppleGothic"/>
                <a:cs typeface="AppleGothic"/>
              </a:defRPr>
            </a:pPr>
            <a:r>
              <a:rPr sz="1350" b="0">
                <a:solidFill>
                  <a:srgbClr val="62748C"/>
                </a:solidFill>
                <a:latin typeface="AppleGothic"/>
                <a:ea typeface="AppleGothic"/>
                <a:cs typeface="AppleGothic"/>
              </a:rPr>
              <a:t>37</a:t>
            </a:r>
          </a:p>
        </p:txBody>
      </p:sp>
    </p:spTree>
    <p:extLst>
      <p:ext uri="{BB962C8B-B14F-4D97-AF65-F5344CB8AC3E}">
        <p14:creationId xmlns:p14="http://schemas.microsoft.com/office/powerpoint/2010/main" val="164924435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2026-10-19T13:21:33.5370000Z</dcterms:created>
  <dcterms:modified xsi:type="dcterms:W3CDTF">2026-10-19T13:21:33.5370000Z</dcterms:modified>
</coreProperties>
</file>
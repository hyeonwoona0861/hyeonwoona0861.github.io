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fc997bc3fa45a6" /><Relationship Type="http://schemas.openxmlformats.org/officeDocument/2006/relationships/extended-properties" Target="/docProps/app.xml" Id="Re38cb427cb1f40f2" /><Relationship Type="http://schemas.openxmlformats.org/officeDocument/2006/relationships/officeDocument" Target="/ppt/presentation.xml" Id="Rb5ef6c11986a49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b27a4edf644b8e"/>
  </p:sldMasterIdLst>
  <p:notesMasterIdLst>
    <p:notesMasterId xmlns:r="http://schemas.openxmlformats.org/officeDocument/2006/relationships" r:id="R56db2e682bda4774"/>
  </p:notesMasterIdLst>
  <p:sldIdLst>
    <p:sldId xmlns:r="http://schemas.openxmlformats.org/officeDocument/2006/relationships" id="256" r:id="Ra28b45a079214516"/>
    <p:sldId xmlns:r="http://schemas.openxmlformats.org/officeDocument/2006/relationships" id="257" r:id="Reafd5cf8a2f1495c"/>
    <p:sldId xmlns:r="http://schemas.openxmlformats.org/officeDocument/2006/relationships" id="258" r:id="R6e7e33a4f4ee4602"/>
    <p:sldId xmlns:r="http://schemas.openxmlformats.org/officeDocument/2006/relationships" id="259" r:id="R2c37b3d22f574e5a"/>
    <p:sldId xmlns:r="http://schemas.openxmlformats.org/officeDocument/2006/relationships" id="260" r:id="Rfb22c104570d49fd"/>
    <p:sldId xmlns:r="http://schemas.openxmlformats.org/officeDocument/2006/relationships" id="261" r:id="Rcb0d85b9ff5c4d74"/>
    <p:sldId xmlns:r="http://schemas.openxmlformats.org/officeDocument/2006/relationships" id="262" r:id="R3eeff78cbfc64b86"/>
    <p:sldId xmlns:r="http://schemas.openxmlformats.org/officeDocument/2006/relationships" id="263" r:id="R3b98056ecf4c41a0"/>
    <p:sldId xmlns:r="http://schemas.openxmlformats.org/officeDocument/2006/relationships" id="264" r:id="Ra7dee8b1b8d84353"/>
    <p:sldId xmlns:r="http://schemas.openxmlformats.org/officeDocument/2006/relationships" id="265" r:id="R1118bbee78ac41ea"/>
    <p:sldId xmlns:r="http://schemas.openxmlformats.org/officeDocument/2006/relationships" id="266" r:id="R903a78324e5c4145"/>
    <p:sldId xmlns:r="http://schemas.openxmlformats.org/officeDocument/2006/relationships" id="267" r:id="R76308b92dd68496a"/>
    <p:sldId xmlns:r="http://schemas.openxmlformats.org/officeDocument/2006/relationships" id="268" r:id="R586d453419de435e"/>
    <p:sldId xmlns:r="http://schemas.openxmlformats.org/officeDocument/2006/relationships" id="269" r:id="Re7d40ddd0dcc4c0c"/>
    <p:sldId xmlns:r="http://schemas.openxmlformats.org/officeDocument/2006/relationships" id="270" r:id="R0449018861f24952"/>
    <p:sldId xmlns:r="http://schemas.openxmlformats.org/officeDocument/2006/relationships" id="271" r:id="Re0ef85379bdb4c9d"/>
    <p:sldId xmlns:r="http://schemas.openxmlformats.org/officeDocument/2006/relationships" id="272" r:id="R269a6ce200a64f1e"/>
    <p:sldId xmlns:r="http://schemas.openxmlformats.org/officeDocument/2006/relationships" id="273" r:id="R9916ca2122ae4f9b"/>
    <p:sldId xmlns:r="http://schemas.openxmlformats.org/officeDocument/2006/relationships" id="274" r:id="Ra4017f6863a44ab6"/>
    <p:sldId xmlns:r="http://schemas.openxmlformats.org/officeDocument/2006/relationships" id="275" r:id="Rf2b95ef2304d4a9c"/>
    <p:sldId xmlns:r="http://schemas.openxmlformats.org/officeDocument/2006/relationships" id="276" r:id="Rd9690eec32904f94"/>
    <p:sldId xmlns:r="http://schemas.openxmlformats.org/officeDocument/2006/relationships" id="277" r:id="R9374b685255942eb"/>
    <p:sldId xmlns:r="http://schemas.openxmlformats.org/officeDocument/2006/relationships" id="278" r:id="Rcbb404fd63994668"/>
    <p:sldId xmlns:r="http://schemas.openxmlformats.org/officeDocument/2006/relationships" id="279" r:id="R19a3df0f3a884e91"/>
    <p:sldId xmlns:r="http://schemas.openxmlformats.org/officeDocument/2006/relationships" id="280" r:id="Ra05fff57017048c2"/>
    <p:sldId xmlns:r="http://schemas.openxmlformats.org/officeDocument/2006/relationships" id="281" r:id="R2ec1167809994d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215d9836414648" /><Relationship Type="http://schemas.openxmlformats.org/officeDocument/2006/relationships/slideMaster" Target="/ppt/slideMasters/slideMaster1.xml" Id="Rb8b27a4edf644b8e" /><Relationship Type="http://schemas.openxmlformats.org/officeDocument/2006/relationships/notesMaster" Target="/ppt/notesMasters/notesMaster1.xml" Id="R56db2e682bda4774" /><Relationship Type="http://schemas.openxmlformats.org/officeDocument/2006/relationships/presProps" Target="/ppt/presProps.xml" Id="Rce5485dbaacc416e" /><Relationship Type="http://schemas.openxmlformats.org/officeDocument/2006/relationships/tableStyles" Target="/ppt/tableStyles.xml" Id="Rbdda44d1b38e4df3" /><Relationship Type="http://schemas.openxmlformats.org/officeDocument/2006/relationships/slide" Target="/ppt/slides/slide1.xml" Id="Ra28b45a079214516" /><Relationship Type="http://schemas.openxmlformats.org/officeDocument/2006/relationships/slide" Target="/ppt/slides/slide2.xml" Id="Reafd5cf8a2f1495c" /><Relationship Type="http://schemas.openxmlformats.org/officeDocument/2006/relationships/slide" Target="/ppt/slides/slide3.xml" Id="R6e7e33a4f4ee4602" /><Relationship Type="http://schemas.openxmlformats.org/officeDocument/2006/relationships/slide" Target="/ppt/slides/slide4.xml" Id="R2c37b3d22f574e5a" /><Relationship Type="http://schemas.openxmlformats.org/officeDocument/2006/relationships/slide" Target="/ppt/slides/slide5.xml" Id="Rfb22c104570d49fd" /><Relationship Type="http://schemas.openxmlformats.org/officeDocument/2006/relationships/slide" Target="/ppt/slides/slide6.xml" Id="Rcb0d85b9ff5c4d74" /><Relationship Type="http://schemas.openxmlformats.org/officeDocument/2006/relationships/slide" Target="/ppt/slides/slide7.xml" Id="R3eeff78cbfc64b86" /><Relationship Type="http://schemas.openxmlformats.org/officeDocument/2006/relationships/slide" Target="/ppt/slides/slide8.xml" Id="R3b98056ecf4c41a0" /><Relationship Type="http://schemas.openxmlformats.org/officeDocument/2006/relationships/slide" Target="/ppt/slides/slide9.xml" Id="Ra7dee8b1b8d84353" /><Relationship Type="http://schemas.openxmlformats.org/officeDocument/2006/relationships/slide" Target="/ppt/slides/slide10.xml" Id="R1118bbee78ac41ea" /><Relationship Type="http://schemas.openxmlformats.org/officeDocument/2006/relationships/slide" Target="/ppt/slides/slide11.xml" Id="R903a78324e5c4145" /><Relationship Type="http://schemas.openxmlformats.org/officeDocument/2006/relationships/slide" Target="/ppt/slides/slide12.xml" Id="R76308b92dd68496a" /><Relationship Type="http://schemas.openxmlformats.org/officeDocument/2006/relationships/slide" Target="/ppt/slides/slide13.xml" Id="R586d453419de435e" /><Relationship Type="http://schemas.openxmlformats.org/officeDocument/2006/relationships/slide" Target="/ppt/slides/slide14.xml" Id="Re7d40ddd0dcc4c0c" /><Relationship Type="http://schemas.openxmlformats.org/officeDocument/2006/relationships/slide" Target="/ppt/slides/slide15.xml" Id="R0449018861f24952" /><Relationship Type="http://schemas.openxmlformats.org/officeDocument/2006/relationships/slide" Target="/ppt/slides/slide16.xml" Id="Re0ef85379bdb4c9d" /><Relationship Type="http://schemas.openxmlformats.org/officeDocument/2006/relationships/slide" Target="/ppt/slides/slide17.xml" Id="R269a6ce200a64f1e" /><Relationship Type="http://schemas.openxmlformats.org/officeDocument/2006/relationships/slide" Target="/ppt/slides/slide18.xml" Id="R9916ca2122ae4f9b" /><Relationship Type="http://schemas.openxmlformats.org/officeDocument/2006/relationships/slide" Target="/ppt/slides/slide19.xml" Id="Ra4017f6863a44ab6" /><Relationship Type="http://schemas.openxmlformats.org/officeDocument/2006/relationships/slide" Target="/ppt/slides/slide20.xml" Id="Rf2b95ef2304d4a9c" /><Relationship Type="http://schemas.openxmlformats.org/officeDocument/2006/relationships/slide" Target="/ppt/slides/slide21.xml" Id="Rd9690eec32904f94" /><Relationship Type="http://schemas.openxmlformats.org/officeDocument/2006/relationships/slide" Target="/ppt/slides/slide22.xml" Id="R9374b685255942eb" /><Relationship Type="http://schemas.openxmlformats.org/officeDocument/2006/relationships/slide" Target="/ppt/slides/slide23.xml" Id="Rcbb404fd63994668" /><Relationship Type="http://schemas.openxmlformats.org/officeDocument/2006/relationships/slide" Target="/ppt/slides/slide24.xml" Id="R19a3df0f3a884e91" /><Relationship Type="http://schemas.openxmlformats.org/officeDocument/2006/relationships/slide" Target="/ppt/slides/slide25.xml" Id="Ra05fff57017048c2" /><Relationship Type="http://schemas.openxmlformats.org/officeDocument/2006/relationships/slide" Target="/ppt/slides/slide26.xml" Id="R2ec1167809994d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f2e53e4b2a4b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73d4e3a0a74bc6" /><Relationship Type="http://schemas.openxmlformats.org/officeDocument/2006/relationships/notesMaster" Target="/ppt/notesMasters/notesMaster1.xml" Id="R69ba9cb3302347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7228048267446d" /><Relationship Type="http://schemas.openxmlformats.org/officeDocument/2006/relationships/notesMaster" Target="/ppt/notesMasters/notesMaster1.xml" Id="R405999b2882347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5a65a3ad894d3b" /><Relationship Type="http://schemas.openxmlformats.org/officeDocument/2006/relationships/notesMaster" Target="/ppt/notesMasters/notesMaster1.xml" Id="Rca6d1767ec7e49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3e82b0dcde40ba" /><Relationship Type="http://schemas.openxmlformats.org/officeDocument/2006/relationships/notesMaster" Target="/ppt/notesMasters/notesMaster1.xml" Id="R4cc6904157d342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9b9a4c4d5842fa" /><Relationship Type="http://schemas.openxmlformats.org/officeDocument/2006/relationships/notesMaster" Target="/ppt/notesMasters/notesMaster1.xml" Id="R0cf80aff465342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01b7feb97d4194" /><Relationship Type="http://schemas.openxmlformats.org/officeDocument/2006/relationships/notesMaster" Target="/ppt/notesMasters/notesMaster1.xml" Id="Rb7ba393941914e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d44ebf6153470c" /><Relationship Type="http://schemas.openxmlformats.org/officeDocument/2006/relationships/notesMaster" Target="/ppt/notesMasters/notesMaster1.xml" Id="R65e76a999c0b4f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854a4f974044fb" /><Relationship Type="http://schemas.openxmlformats.org/officeDocument/2006/relationships/notesMaster" Target="/ppt/notesMasters/notesMaster1.xml" Id="R7a3157a9445d43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4d25bd1b7a4763" /><Relationship Type="http://schemas.openxmlformats.org/officeDocument/2006/relationships/notesMaster" Target="/ppt/notesMasters/notesMaster1.xml" Id="Ra06507ab64da41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103e706cfb4952" /><Relationship Type="http://schemas.openxmlformats.org/officeDocument/2006/relationships/notesMaster" Target="/ppt/notesMasters/notesMaster1.xml" Id="R08809671e4cc4e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3c340b903248ba" /><Relationship Type="http://schemas.openxmlformats.org/officeDocument/2006/relationships/notesMaster" Target="/ppt/notesMasters/notesMaster1.xml" Id="R51fcc3871af54e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c287ddbe3447c8" /><Relationship Type="http://schemas.openxmlformats.org/officeDocument/2006/relationships/notesMaster" Target="/ppt/notesMasters/notesMaster1.xml" Id="R41e62796ea6344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2add74c5bd498e" /><Relationship Type="http://schemas.openxmlformats.org/officeDocument/2006/relationships/notesMaster" Target="/ppt/notesMasters/notesMaster1.xml" Id="R2587814ad08947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8d586dcbbf4e1e" /><Relationship Type="http://schemas.openxmlformats.org/officeDocument/2006/relationships/notesMaster" Target="/ppt/notesMasters/notesMaster1.xml" Id="R94ed43b5f19b4c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ddb89beee243de" /><Relationship Type="http://schemas.openxmlformats.org/officeDocument/2006/relationships/notesMaster" Target="/ppt/notesMasters/notesMaster1.xml" Id="R1d3da8f1e25346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d19e45a60046d6" /><Relationship Type="http://schemas.openxmlformats.org/officeDocument/2006/relationships/notesMaster" Target="/ppt/notesMasters/notesMaster1.xml" Id="R03f46c7ba99f4d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650c4b91454cd1" /><Relationship Type="http://schemas.openxmlformats.org/officeDocument/2006/relationships/notesMaster" Target="/ppt/notesMasters/notesMaster1.xml" Id="R4928c438a58b4b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d34b00d95347a9" /><Relationship Type="http://schemas.openxmlformats.org/officeDocument/2006/relationships/notesMaster" Target="/ppt/notesMasters/notesMaster1.xml" Id="Rbe39a93ddafb468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2bcf54909364d1f" /><Relationship Type="http://schemas.openxmlformats.org/officeDocument/2006/relationships/notesMaster" Target="/ppt/notesMasters/notesMaster1.xml" Id="Re9329f2bc4ae41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8234be764ba43c4" /><Relationship Type="http://schemas.openxmlformats.org/officeDocument/2006/relationships/notesMaster" Target="/ppt/notesMasters/notesMaster1.xml" Id="R3b07c21d68c04cf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2544cb4905b4d17" /><Relationship Type="http://schemas.openxmlformats.org/officeDocument/2006/relationships/notesMaster" Target="/ppt/notesMasters/notesMaster1.xml" Id="R959ee8a181d841a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177e209a66b4c7a" /><Relationship Type="http://schemas.openxmlformats.org/officeDocument/2006/relationships/notesMaster" Target="/ppt/notesMasters/notesMaster1.xml" Id="R7d401ed630d44c2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338e83587f4e37" /><Relationship Type="http://schemas.openxmlformats.org/officeDocument/2006/relationships/notesMaster" Target="/ppt/notesMasters/notesMaster1.xml" Id="R55b2c79b3e864ca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7d892de3af8449d" /><Relationship Type="http://schemas.openxmlformats.org/officeDocument/2006/relationships/notesMaster" Target="/ppt/notesMasters/notesMaster1.xml" Id="Rb342680dd7ac421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993d2d8d22b4ef1" /><Relationship Type="http://schemas.openxmlformats.org/officeDocument/2006/relationships/notesMaster" Target="/ppt/notesMasters/notesMaster1.xml" Id="R15d8ac6c60a1426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ed6a34a63b9465e" /><Relationship Type="http://schemas.openxmlformats.org/officeDocument/2006/relationships/notesMaster" Target="/ppt/notesMasters/notesMaster1.xml" Id="R7c75e3cb9bb04d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공개 총정리: https://hyeonwoona0861.github.io/study/autonomous-driving/midterm-review-through-lab-02/ . 범위는 총정리의 Source Materials와 동일하다.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공개 총정리의 전체 흐름과 Study Guide를 요약했다: https://hyeonwoona0861.github.io/study/autonomous-driving/midterm-review-through-lab-02/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2의 Camera pp. 9–14, LiDAR pp. 15–21, RADAR pp. 22–23을 요약했다. 공개 PDF: https://hyeonwoona0861.github.io/assets/pdfs/study/autonomous-driving/02-sensors.pdf#page=9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그림: Lecture 2 p. 17, https://hyeonwoona0861.github.io/assets/pdfs/study/autonomous-driving/02-sensors.pdf#page=17 . 그림의 x, y, z 축과 3D boxes를 함께 읽는다.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그림: Lecture 9 p. 18, https://hyeonwoona0861.github.io/assets/pdfs/study/autonomous-driving/lecture-09-3d-perception-01.pdf#page=18 . Projection 식과 calibration 조건은 공개 총정리 section 1.2의 해설을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Stereo 개념은 Lecture 2 p. 14, https://hyeonwoona0861.github.io/assets/pdfs/study/autonomous-driving/02-sensors.pdf#page=14 . 수치는 총정리 section 1.3의 설명용 계산이며 실험 결과가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3의 CNN 분류 구조와 Lectures 4–8의 detection, segmentation 출력을 대조했다. Lecture 3 p. 27: https://hyeonwoona0861.github.io/assets/pdfs/study/autonomous-driving/lecture-03-perception-01.pdf#page=27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그림: Lecture 3 p. 53, https://hyeonwoona0861.github.io/assets/pdfs/study/autonomous-driving/lecture-03-perception-01.pdf#page=53 . 논문 관계: VGG https://arxiv.org/abs/1409.1556 , ResNet https://arxiv.org/abs/1512.03385 , ViT https://arxiv.org/abs/2010.11929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그림: Lecture 4 p. 20, https://hyeonwoona0861.github.io/assets/pdfs/study/autonomous-driving/lecture-04-perception-02.pdf#page=20 . 1/3 계산은 총정리 section 3.1의 설명용 예시다.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그림: Lecture 5 p. 12, https://hyeonwoona0861.github.io/assets/pdfs/study/autonomous-driving/lecture-05-perception-03.pdf#page=12 . AP 0.625는 총정리 section 3.4의 설명용 계산이며 benchmark 결과가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그림: Lecture 4 p. 32, https://hyeonwoona0861.github.io/assets/pdfs/study/autonomous-driving/lecture-04-perception-02.pdf#page=32 . 원 논문: https://arxiv.org/abs/1311.2524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그림: Lecture 6 p. 16, https://hyeonwoona0861.github.io/assets/pdfs/study/autonomous-driving/lecture-06-perception-04.pdf#page=16 . 수치 예시는 총정리 section 7.3의 encode/decode 설명용 계산이다. Faster R-CNN: https://arxiv.org/abs/1506.01497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그림: Lecture 6 p. 31, https://hyeonwoona0861.github.io/assets/pdfs/study/autonomous-driving/lecture-06-perception-04.pdf#page=31 . FPN 논문: https://arxiv.org/abs/1612.03144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그림: Lecture 7 p. 9, https://hyeonwoona0861.github.io/assets/pdfs/study/autonomous-driving/lecture-07-perception-05.pdf#page=9 . RetinaNet과 focal loss: https://arxiv.org/abs/1708.02002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그림: Lecture 7 p. 18, https://hyeonwoona0861.github.io/assets/pdfs/study/autonomous-driving/lecture-07-perception-05.pdf#page=18 . FCOS: https://arxiv.org/abs/1904.01355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결과: Lecture 8 p. 25, https://hyeonwoona0861.github.io/assets/pdfs/study/autonomous-driving/lecture-08-perception-06.pdf#page=25 . Mask R-CNN 구조는 p. 23, https://hyeonwoona0861.github.io/assets/pdfs/study/autonomous-driving/lecture-08-perception-06.pdf#page=23 . 원 논문: https://arxiv.org/abs/1703.06870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그림: Lecture 9 p. 18, https://hyeonwoona0861.github.io/assets/pdfs/study/autonomous-driving/lecture-09-3d-perception-01.pdf#page=18 . Mono3D: https://openaccess.thecvf.com/content_cvpr_2016/html/Chen_Monocular_3D_Object_CVPR_2016_paper.html . MonoRCNN: https://openaccess.thecvf.com/content/ICCV2021/html/Shi_Geometry-Based_Distance_Decomposition_for_Monocular_3D_Object_Detection_ICCV_2021_paper.html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그림: Lecture 9 p. 36, https://hyeonwoona0861.github.io/assets/pdfs/study/autonomous-driving/lecture-09-3d-perception-01.pdf#page=36 . Pseudo-LiDAR: https://openaccess.thecvf.com/content_CVPR_2019/html/Wang_Pseudo-LiDAR_From_Visual_Depth_Estimation_Bridging_the_Gap_in_3D_CVPR_2019_paper.html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그림: Lecture 10 p. 12, https://hyeonwoona0861.github.io/assets/pdfs/study/autonomous-driving/lecture-10-3d-perception-02.pdf#page=12 . Max 예시는 순열 불변성을 보이는 설명용 계산이며 실험 출력이 아니다. PointNet: https://arxiv.org/abs/1612.00593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표현 비교는 Lecture 10 pp. 10–37, https://hyeonwoona0861.github.io/assets/pdfs/study/autonomous-driving/lecture-10-3d-perception-02.pdf#page=10 와 총정리 section 8.3을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그림: Lecture 10 p. 29, https://hyeonwoona0861.github.io/assets/pdfs/study/autonomous-driving/lecture-10-3d-perception-02.pdf#page=29 . VoxelNet: https://openaccess.thecvf.com/content_cvpr_2018/html/Zhou_VoxelNet_End-to-End_Learning_CVPR_2018_paper.html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그림: Lecture 11 p. 14, https://hyeonwoona0861.github.io/assets/pdfs/study/autonomous-driving/lecture-11-3d-perception-03.pdf#page=14 . Frustum PointNets: https://openaccess.thecvf.com/content_cvpr_2018/html/Qi_Frustum_PointNets_for_CVPR_2018_paper.html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그림: Lecture 11 p. 21, https://hyeonwoona0861.github.io/assets/pdfs/study/autonomous-driving/lecture-11-3d-perception-03.pdf#page=21 . Fusion 시점 비교는 p. 20이다. MV3D: https://openaccess.thecvf.com/content_cvpr_2017/html/Chen_Multi-View_3D_Object_CVPR_2017_paper.html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저장 출력: https://hyeonwoona0861.github.io/assets/notebooks/study/autonomous-driving/assignment-02-two-stage-vs-one-stage.ipynb , cell 27, 0-based. 이 그림은 최종 detection이나 dataset AP가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저장 출력: https://hyeonwoona0861.github.io/assets/notebooks/study/autonomous-driving/assignment-03-lidar-3d-object-detection.ipynb , cell 25, 0-based. 실험은 synthetic train 600 scenes와 validation 60 scenes이며 KITTI sample은 표현 관찰과 정성 transfer 확인에만 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공개 총정리의 마지막 핵심 정리와 Study Guide를 압축했다: https://hyeonwoona0861.github.io/study/autonomous-driving/midterm-review-through-lab-02/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fb660cbb142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d559d51dd41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43c12ee8c42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d12e35c494b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6cd4b551de447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5d1b86c45e4a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4BF3D4-00EB-47F2-A1AD-EDFA9719DB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D0C329-D7EF-4CBF-97E2-78B075ACBE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EB7DA6B-5CA8-4F9D-A3EB-8A0A30DA9E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572832-BA28-4887-8D92-8A207075A2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CF559B-C0B1-4E6F-BAF9-11424355BE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91FEF2-D11C-4B63-B6AC-E38B6B173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460B70-D0F5-4E23-BBF6-4E495455F4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A1CF14-7244-48FD-B3A5-19629CB39B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01D9EE-ED40-478C-8053-B41852FCDC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D331C5-EB68-4ECC-B99F-E9EC71E117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953a323cd34d3a" /><Relationship Type="http://schemas.openxmlformats.org/officeDocument/2006/relationships/slideLayout" Target="/ppt/slideLayouts/slideLayout1.xml" Id="Rd8816938c75c4e1c" /><Relationship Type="http://schemas.openxmlformats.org/officeDocument/2006/relationships/slideLayout" Target="/ppt/slideLayouts/slideLayout2.xml" Id="R5e0fc938c3294f86" /><Relationship Type="http://schemas.openxmlformats.org/officeDocument/2006/relationships/slideLayout" Target="/ppt/slideLayouts/slideLayout3.xml" Id="R9f8bdf32c4dd4a46" /><Relationship Type="http://schemas.openxmlformats.org/officeDocument/2006/relationships/slideLayout" Target="/ppt/slideLayouts/slideLayout4.xml" Id="Rf2df82a6ba7f46be" /><Relationship Type="http://schemas.openxmlformats.org/officeDocument/2006/relationships/slideLayout" Target="/ppt/slideLayouts/slideLayout5.xml" Id="Ra7196010ca074fd3" /><Relationship Type="http://schemas.openxmlformats.org/officeDocument/2006/relationships/slideLayout" Target="/ppt/slideLayouts/slideLayout6.xml" Id="R3ecc60bac4354b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816938c75c4e1c"/>
    <p:sldLayoutId xmlns:r="http://schemas.openxmlformats.org/officeDocument/2006/relationships" id="2147483650" r:id="R5e0fc938c3294f86"/>
    <p:sldLayoutId xmlns:r="http://schemas.openxmlformats.org/officeDocument/2006/relationships" id="2147483651" r:id="R9f8bdf32c4dd4a46"/>
    <p:sldLayoutId xmlns:r="http://schemas.openxmlformats.org/officeDocument/2006/relationships" id="2147483652" r:id="Rf2df82a6ba7f46be"/>
    <p:sldLayoutId xmlns:r="http://schemas.openxmlformats.org/officeDocument/2006/relationships" id="2147483653" r:id="Ra7196010ca074fd3"/>
    <p:sldLayoutId xmlns:r="http://schemas.openxmlformats.org/officeDocument/2006/relationships" id="2147483654" r:id="R3ecc60bac4354b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77958f46264f5f" /><Relationship Type="http://schemas.openxmlformats.org/officeDocument/2006/relationships/notesSlide" Target="/ppt/notesSlides/notesSlide1.xml" Id="R530a7ac53c9b4b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325c26da4b4816" /><Relationship Type="http://schemas.openxmlformats.org/officeDocument/2006/relationships/notesSlide" Target="/ppt/notesSlides/notesSlide2.xml" Id="R2949efa22cd946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b222ac7854732" /><Relationship Type="http://schemas.openxmlformats.org/officeDocument/2006/relationships/notesSlide" Target="/ppt/notesSlides/notesSlide3.xml" Id="R4b024a6b9d114c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8d13d8a39d4766" /><Relationship Type="http://schemas.openxmlformats.org/officeDocument/2006/relationships/image" Target="/ppt/media/image.png" Id="R9cc42c8d10014540" /><Relationship Type="http://schemas.openxmlformats.org/officeDocument/2006/relationships/notesSlide" Target="/ppt/notesSlides/notesSlide4.xml" Id="R4f625710550940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5688cb079a4584" /><Relationship Type="http://schemas.openxmlformats.org/officeDocument/2006/relationships/notesSlide" Target="/ppt/notesSlides/notesSlide5.xml" Id="R764665bc563445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c4aa86c0094266" /><Relationship Type="http://schemas.openxmlformats.org/officeDocument/2006/relationships/notesSlide" Target="/ppt/notesSlides/notesSlide6.xml" Id="Rd7f2575c8cc64e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1afa4c1a034f22" /><Relationship Type="http://schemas.openxmlformats.org/officeDocument/2006/relationships/notesSlide" Target="/ppt/notesSlides/notesSlide7.xml" Id="Re239c278d0f549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b1fbcbd5a4e08" /><Relationship Type="http://schemas.openxmlformats.org/officeDocument/2006/relationships/image" Target="/ppt/media/image2.png" Id="Rcd7d487723ff4a3c" /><Relationship Type="http://schemas.openxmlformats.org/officeDocument/2006/relationships/notesSlide" Target="/ppt/notesSlides/notesSlide8.xml" Id="R2b1109d074a344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3ca22f0a764821" /><Relationship Type="http://schemas.openxmlformats.org/officeDocument/2006/relationships/image" Target="/ppt/media/image3.png" Id="R6f03ee1e391b4bc7" /><Relationship Type="http://schemas.openxmlformats.org/officeDocument/2006/relationships/notesSlide" Target="/ppt/notesSlides/notesSlide9.xml" Id="R01dc09e7fb4747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103ee1bdd246f9" /><Relationship Type="http://schemas.openxmlformats.org/officeDocument/2006/relationships/image" Target="/ppt/media/image4.png" Id="R55c4df8440ba40a6" /><Relationship Type="http://schemas.openxmlformats.org/officeDocument/2006/relationships/notesSlide" Target="/ppt/notesSlides/notesSlide10.xml" Id="R3ead8049617c43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108410ed314d1a" /><Relationship Type="http://schemas.openxmlformats.org/officeDocument/2006/relationships/image" Target="/ppt/media/image5.png" Id="R5aded9099ef04c71" /><Relationship Type="http://schemas.openxmlformats.org/officeDocument/2006/relationships/notesSlide" Target="/ppt/notesSlides/notesSlide11.xml" Id="R76380b71e2f24b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1e7a4a981b4628" /><Relationship Type="http://schemas.openxmlformats.org/officeDocument/2006/relationships/image" Target="/ppt/media/image6.png" Id="R24699db1c01840fb" /><Relationship Type="http://schemas.openxmlformats.org/officeDocument/2006/relationships/notesSlide" Target="/ppt/notesSlides/notesSlide12.xml" Id="R8797667647c44b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81473b35bc4f76" /><Relationship Type="http://schemas.openxmlformats.org/officeDocument/2006/relationships/image" Target="/ppt/media/image7.png" Id="R41b5dff291cf4ddb" /><Relationship Type="http://schemas.openxmlformats.org/officeDocument/2006/relationships/notesSlide" Target="/ppt/notesSlides/notesSlide13.xml" Id="Ra2ff1d663b134f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ad0a0cf10f4a48" /><Relationship Type="http://schemas.openxmlformats.org/officeDocument/2006/relationships/image" Target="/ppt/media/image8.png" Id="Rd0b6f0a7c1b14f38" /><Relationship Type="http://schemas.openxmlformats.org/officeDocument/2006/relationships/notesSlide" Target="/ppt/notesSlides/notesSlide14.xml" Id="Rf14027d2f8254e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dc3e0f536540a5" /><Relationship Type="http://schemas.openxmlformats.org/officeDocument/2006/relationships/image" Target="/ppt/media/image9.png" Id="Rbac12390b79e4a0e" /><Relationship Type="http://schemas.openxmlformats.org/officeDocument/2006/relationships/notesSlide" Target="/ppt/notesSlides/notesSlide15.xml" Id="Rbaf3d0e9359c4b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9f77a9a654a9d" /><Relationship Type="http://schemas.openxmlformats.org/officeDocument/2006/relationships/image" Target="/ppt/media/image10.png" Id="Rf46df568f00b4084" /><Relationship Type="http://schemas.openxmlformats.org/officeDocument/2006/relationships/notesSlide" Target="/ppt/notesSlides/notesSlide16.xml" Id="Re690d03bcd914a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6e44cc41e4edb" /><Relationship Type="http://schemas.openxmlformats.org/officeDocument/2006/relationships/image" Target="/ppt/media/image11.png" Id="Rba1753749df749dc" /><Relationship Type="http://schemas.openxmlformats.org/officeDocument/2006/relationships/notesSlide" Target="/ppt/notesSlides/notesSlide17.xml" Id="R6709772c820347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eb40c1b7144c9c" /><Relationship Type="http://schemas.openxmlformats.org/officeDocument/2006/relationships/image" Target="/ppt/media/image12.png" Id="R8b38e788df1741c3" /><Relationship Type="http://schemas.openxmlformats.org/officeDocument/2006/relationships/notesSlide" Target="/ppt/notesSlides/notesSlide18.xml" Id="Rcb382a3e14a942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a64df123af4b52" /><Relationship Type="http://schemas.openxmlformats.org/officeDocument/2006/relationships/image" Target="/ppt/media/image13.png" Id="Rf0bae5ef44ff4e7c" /><Relationship Type="http://schemas.openxmlformats.org/officeDocument/2006/relationships/notesSlide" Target="/ppt/notesSlides/notesSlide19.xml" Id="R41cd10c36024437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53c4451624b4b" /><Relationship Type="http://schemas.openxmlformats.org/officeDocument/2006/relationships/notesSlide" Target="/ppt/notesSlides/notesSlide20.xml" Id="R384eea350fe4494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48d4e0646649e4" /><Relationship Type="http://schemas.openxmlformats.org/officeDocument/2006/relationships/image" Target="/ppt/media/image14.png" Id="R9cafe1fc98674e25" /><Relationship Type="http://schemas.openxmlformats.org/officeDocument/2006/relationships/notesSlide" Target="/ppt/notesSlides/notesSlide21.xml" Id="R335055f03c974ff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661db680b4470f" /><Relationship Type="http://schemas.openxmlformats.org/officeDocument/2006/relationships/image" Target="/ppt/media/image15.png" Id="R577ea0f9e7844e7a" /><Relationship Type="http://schemas.openxmlformats.org/officeDocument/2006/relationships/notesSlide" Target="/ppt/notesSlides/notesSlide22.xml" Id="R89d4bac6159643e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2d0121da2942ab" /><Relationship Type="http://schemas.openxmlformats.org/officeDocument/2006/relationships/image" Target="/ppt/media/image16.png" Id="Re78948fb309b414b" /><Relationship Type="http://schemas.openxmlformats.org/officeDocument/2006/relationships/notesSlide" Target="/ppt/notesSlides/notesSlide23.xml" Id="R39bd8ac211344cb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e0cf78f684011" /><Relationship Type="http://schemas.openxmlformats.org/officeDocument/2006/relationships/image" Target="/ppt/media/image17.png" Id="Rad2d90aae0584134" /><Relationship Type="http://schemas.openxmlformats.org/officeDocument/2006/relationships/notesSlide" Target="/ppt/notesSlides/notesSlide24.xml" Id="R330e0be27eb0492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39c54142f24691" /><Relationship Type="http://schemas.openxmlformats.org/officeDocument/2006/relationships/image" Target="/ppt/media/image18.png" Id="R6d8c9a8a4a654411" /><Relationship Type="http://schemas.openxmlformats.org/officeDocument/2006/relationships/notesSlide" Target="/ppt/notesSlides/notesSlide25.xml" Id="R54c3e605258f4c2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05f0640cdd4ecb" /><Relationship Type="http://schemas.openxmlformats.org/officeDocument/2006/relationships/notesSlide" Target="/ppt/notesSlides/notesSlide26.xml" Id="Readb2f9d1fff48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B580A-04B4-4BFF-9EF7-205D3585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2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Autonomous Driving Computing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56E55-8C03-42DC-8D09-DB71BC61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Midterm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5B110-D6A4-4D99-8603-DA81E5F0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528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센서 측정에서 3D 검출까지 이어지는 중간고사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D10D9-3B8B-4712-8AF4-4E61A911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Lectures 2–11</a:t>
            </a:r>
          </a:p>
          <a:p xmlns:a="http://schemas.openxmlformats.org/drawingml/2006/main">
            <a: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Assignment 1, Lab 1, and Lab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C43B3-556A-43C9-8B18-F8387B40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7705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CE65E-9790-4A5D-828F-EB54FB79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Exam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780DB-C4A8-4DC6-A4A7-A5EE298F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범위는 측정, 2D perception, 3D perception, 두 실습으로 나뉜다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4BEDC-6A93-42E3-B806-D960C7D0C9FB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08400"/>
                <a:gridCol w="3708400"/>
                <a:gridCol w="37084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Block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Coverage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Review focus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Sensors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Lecture 2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측정값과 실패 조건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2D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Lectures 3–8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표현, 검출, 분할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3D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Lectures 9–11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깊이, point, fusion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Practice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Assignment 1, Labs 1–2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계산과 tensor 흐름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C6C55-025B-4F67-A1A5-C44F493E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계산은 좌표, IoU, AP, box offset, voxel index를 중심으로 본다.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논문은 문제의식과 바꾼 연산을 연결해서 비교한다.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C4B5C-D0C0-454E-9507-74950266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35612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62238-8952-4474-B390-56C126F5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Sensor Modalities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804A3-4067-4B37-9B19-DFE50F91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센서마다 직접 측정하는 물리량과 실패 조건이 다르다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2ADAC-C164-4B7F-A595-FF422A23F6CB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781300"/>
                <a:gridCol w="2781300"/>
                <a:gridCol w="27813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Sensor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Direct signal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Strength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Main limit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Camera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RGB intensity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class와 표지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조도와 depth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Stereo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disparity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metric depth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대응점 오차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LiDAR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range points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3D geometry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희소성과 날씨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RADAR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range, Doppler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장거리와 속도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각해상도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3012E-EC42-4856-85EE-5E0CDD42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Camera는 의미와 texture에 강하지만 metric depth가 모호하다.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LiDAR는 3D geometry를 주고 RADAR는 range와 상대 속도에 강하다.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2BBA6-5244-42F0-B623-0E608CFC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02728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DEE0D-F1A6-4EF8-AA29-4B870140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LiDAR Geometry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A5B5C-CABC-477E-A880-6F64199B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LiDAR point는 표면까지의 직접 거리 측정을 3D 좌표로 표현한다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6E10E-5B76-47AA-9A54-7F62B76E69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42c8d10014540"/>
          <a:stretch xmlns:a="http://schemas.openxmlformats.org/drawingml/2006/main"/>
        </p:blipFill>
        <p:spPr>
          <a:xfrm xmlns:a="http://schemas.openxmlformats.org/drawingml/2006/main">
            <a:off x="802525" y="2057400"/>
            <a:ext cx="6605501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D7DDC-1F7B-40EC-B6ED-37E3446A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축과 단위를 먼저 읽고 점의 희소성이 거리와 가림에 따라 달라짐을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Box는 point cloud와 같은 좌표계에 있어야 겹침과 거리를 계산할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1862F-79CF-4AC4-AF89-57C506AF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2, p. 17. LiDAR sample frame and 3D point cloud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13D49-6D45-49CE-83EB-A3E791F0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959510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26444-3BCC-4AD7-BD96-8DC054E3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Camera Projection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26B72-649D-45E1-9EB3-1AC5C9CD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한 pixel은 하나의 3D 점이 아니라 camera center에서 뻗는 ray를 정한다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58AA0-1259-47AE-B54D-86AE7ED93F9E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781300"/>
                <a:gridCol w="2781300"/>
                <a:gridCol w="27813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Stage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Input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Operation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Output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World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X̃w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homogeneous point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3D position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Extrinsic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R, 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world to camera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Xc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Intrinsic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K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ray to pixel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u, v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Inverse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u, v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depth required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3D point or ray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B9820-6B60-446A-9B4E-1D10CD6F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 [u,v,1]^T = K [R|t] X_w (homogeneous)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Extrinsic은 좌표계를, intrinsic은 ray를 pixel로 바꾼다.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Depth가 없으면 같은 ray 위의 여러 3D 위치가 같은 pixel에 투영된다.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72582-73F0-4C98-AEA9-EEDFD5D4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12727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75AFF-EF5C-4052-9F99-6F06837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Stereo Depth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77D00-2CFE-455B-984D-47AEABE7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Stereo depth는 disparity가 작아질수록 작은 pixel 오차에 더 민감하다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4564C-E6C2-4AC1-8442-547156C7F78E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781300"/>
                <a:gridCol w="2781300"/>
                <a:gridCol w="27813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Disparity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Depth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 px error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Meaning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35 px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10.8 m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약 0.31 m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근거리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7 px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54.0 m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약 7.71 m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원거리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 px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정의 불가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무한대 방향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대응 실패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2DF7A-4DA6-4F54-98D8-D7DE4D11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Rectification과 matched calibration 조건에서 Z = fB/d를 쓴다.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f=700 px, B=0.54 m이면 d=35 px에서 10.8 m, d=7 px에서 54 m다.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72747-AB27-4FAD-A0AB-EBE087C0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1554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59186-FC74-4052-AD9E-053477AC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Perception Tasks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7D541-8E3C-4855-A27B-16950396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Task가 바뀌면 출력 단위와 필요한 label도 바뀐다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9B78F-367E-4E45-9F85-2C1ED3BD7E18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08400"/>
                <a:gridCol w="3708400"/>
                <a:gridCol w="3708400"/>
              </a:tblGrid>
              <a:tr h="520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Task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Output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Question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Classification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class score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무엇인가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Localization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class + one box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 객체는 어디인가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Detection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boxes + scores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각 객체는 어디인가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Semantic seg.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pixel classes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각 pixel의 종류는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Instance seg.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object masks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class의 개체는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2CFF6-004D-404D-B123-2454BD02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Classification은 image 하나에 class를 낸다.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Detection과 segmentation은 위치, 개체, pixel 수준 출력을 요구한다.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F0A74-63A7-4798-B832-13116947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280159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06C21-0B31-4898-9221-911AD370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Visual Backbones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DA3C9-8D8D-4199-BC19-0FBBD97D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Backbone은 입력을 feature로 바꾸고 detector head는 class와 위치를 예측한다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5557F-B1E7-4C71-9397-FEF31D6B91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d487723ff4a3c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EBF93-8C5F-4EF6-8538-9F69FAB7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VGG는 3×3 convolution을 쌓고 ResNet은 residual shortcut으로 깊은 최적화를 돕는다.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ViT는 patch token과 위치 정보를 self-attention으로 결합한다.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F6BB8-C773-4643-AECF-26B41150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3, p. 53. ViT patch embedding and Transformer encoder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16F43-F49B-47C8-A33F-24C4733B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884520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867DD-635F-4C3B-8835-82919C75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Intersection over Union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4B82D-F3EE-4782-B488-E7518F2B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IoU는 교집합 넓이를 합집합 넓이로 나눈 겹침 비율이다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75683-7573-45B6-9F35-A58C8F57D4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3ee1e391b4bc7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11E1A-8DAC-41C5-A341-D98262DA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같은 IoU라도 anchor와 GT, prediction과 GT, prediction끼리의 비교를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A와 B의 넓이가 16, 교집합이 8이면 IoU는 8/(16+16−8)=1/3이다.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1DD1E-4D5D-4D2D-8A52-7AFF83E3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4, p. 20. IoU increases as predicted and ground-truth boxes overlap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D4FA3-AC60-499E-9689-23261278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702134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809FF-30CF-45B6-964D-5799ADCD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Average Precision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0CE5E-C9A5-4E37-99A1-FCEA6662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AP는 confidence 순서로 만든 precision-recall curve의 면적이다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9D800-D962-4601-96CA-BE2EA1D591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4df8440ba40a6"/>
          <a:stretch xmlns:a="http://schemas.openxmlformats.org/drawingml/2006/main"/>
        </p:blipFill>
        <p:spPr>
          <a:xfrm xmlns:a="http://schemas.openxmlformats.org/drawingml/2006/main">
            <a:off x="802525" y="2057400"/>
            <a:ext cx="6605501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E9EC0-AC15-480D-9F26-8D422E5D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각 prediction은 같은 image와 class의 아직 쓰지 않은 GT에 한 번만 매칭한다.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TP, FP, TP, TP, FP와 GT 4개인 예시의 all-points AP는 0.625다.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651A7-717F-4AE1-BD91-F71BE793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5, p. 12. First confidence-ranked detection gives precision 1 and recall 0.33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8EC5B-6F96-40B2-BDCD-96B1FBA0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605484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D0424-0123-4A8E-BA1D-26DBC4B3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R-CNN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B2027-A951-4B8C-AB2A-C0C8287A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R-CNN은 약 2,000개 proposal마다 ConvNet을 반복해 계산한다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74E2C-C51E-41C4-94A0-4C282A2B55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ed9099ef04c71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671C0-B17F-4251-91CF-6EC9437D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Selective Search가 후보를 만들고 각 region을 warp해 class와 box를 예측한다.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겹치는 region이 같은 image feature를 반복 계산하는 점이 핵심 병목이다.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25F34-A2EF-4A86-93CC-C0B756A6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4, p. 32. Region-wise ConvNet computation in R-CNN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81788-349C-45D0-900F-1596DE29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42097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68FBA-366A-4E0A-A08C-520D28F1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Anchors and RPN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C21FA-A2EE-4A99-845C-D47DFB20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Anchor는 기준 box이고 RPN은 objectness와 box offset을 예측한다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B6A36-B7B3-434D-B8BF-BB882D8B78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99db1c01840fb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80BA0-C578-4ED0-8886-F3745574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Anchor (50,40,20,10)에서 GT (54,38,30,5)의 target은 (0.2,−0.2,0.4055,−0.6931)이다.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Decode는 목표값을 되돌리는 검산이며 실제 prediction이 GT와 같다는 뜻이 아니다.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85BC6-D714-414A-AB36-1AF2AECC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6, p. 16. RPN outputs objectness and four transforms for K anchors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02A4B-B68E-42D7-A1CE-D6A72804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763862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CB09B-4C74-4009-B9BF-AC32137A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Feature Pyramid Network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08EC8-976D-4BDD-8723-FD75BFE5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FPN은 깊은 층의 의미 정보와 얕은 층의 세밀한 위치 정보를 합친다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97A47-789A-4BD4-81B3-8F721F0468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5dff291cf4ddb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06D8F-73BB-4361-BEBB-BAFA8954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Top-down upsampling과 lateral connection이 여러 해상도의 feature를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FPN은 detector 전체가 아니라 RPN이나 dense head가 쓰는 multi-scale feature 구조다.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F7307-980D-46F0-A1B9-E2302879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6, p. 31. Four scale-handling strategies and FPN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ECFEA-D205-4A71-AB4B-85E20A06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279530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5F3AE-D865-4F9F-98F8-873783F6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RetinaNet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F6DC9-AD85-4CFC-820F-91881CFF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RetinaNet은 dense anchors의 심한 foreground-background 불균형을 다룬다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86487-C2A7-43A5-AEB7-AFF4E5B2D6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6f0a7c1b14f38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37016-6CAD-4BB9-B200-2AEA5ABC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FPN의 각 위치와 anchor에서 class score와 box offset을 예측한다.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Focal loss는 쉬운 negative를 삭제하지 않고 해당 gradient의 비중을 줄인다.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9EE41-C91D-4CF5-BD07-92135E38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7, p. 9. Anchor-based dense classification and regression heads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04BC9-05AA-4F51-B213-A6F44628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640039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0D99A-1457-43FE-AA3D-8C294089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FCOS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71C1E-F7D5-4DF5-AC18-4CE103E1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FCOS는 anchor template 대신 위치에서 box 네 변까지의 거리를 예측한다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1DAA5-A735-4399-9D4B-E72E8FE452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12390b79e4a0e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38783-E212-4D81-A2A4-7A47515E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출력은 class, left-top-right-bottom 거리, centerness다.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Anchor-free여도 positive location assignment와 NMS는 남는다.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C3CD4-2C60-41F9-AB0B-C6E5EC0B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7, p. 18. FCOS distances and centerness from each feature location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7F92C-A835-401D-9E5B-A8F7A5AE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68859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D91A5-BEBD-428E-8A37-F129BB83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Instance Segmentation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83D6D-B104-41EB-B9CC-E3394D62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Instance segmentation은 같은 class의 객체도 서로 다른 mask로 분리한다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13CD4-1670-4F4C-9155-5A9ACFEEB2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df568f00b4084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A31F2-EA20-46BD-A72F-41B4ACD7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Mask R-CNN은 Faster R-CNN의 class와 box 경로에 object별 mask branch를 더한다.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RoIAlign은 좌표 반올림을 피하고 mask 경계의 공간 정렬을 보존한다.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599C4-0527-4A84-901F-84328400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8, p. 25. Separate masks for different object instances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31345-DFA2-4FF8-B67F-AED8E4D0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422526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18401-37B5-4292-99AE-56A0FC1C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Monocular 3D Ambiguity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F31D7-5D57-4E92-B2BA-FFEF3169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단안 영상의 2D box는 3D 공간에서 하나의 frustum만 정한다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2FD8C-7005-42CA-BF7C-71D216FCC0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753749df749dc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C6B99-65D2-4D76-9F69-E6617CEA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Frustum 안의 여러 위치와 크기가 같은 2D 관측을 만들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Mono3D와 MonoRCNN은 prior와 geometry로 이 depth 모호성을 줄인다.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F33DD-08B0-4382-963C-72D61216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9, p. 18. Multiple 3D boxes can match one image observation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5C78D-AA71-4F6A-8B60-FF55912B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572004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9D08E-B424-46C9-8044-8F775EDA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Pseudo-LiDAR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BA8A5-BD1D-41CB-963A-6D1FBDF9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Pseudo-LiDAR는 예측 depth를 metric 3D point cloud로 역투영한다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D68CD-3620-496D-9B7E-AB247A6410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8e788df1741c3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42267-16BB-4874-8DDD-081668E8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Image grid보다 3D 이웃 관계를 드러내 LiDAR detector를 적용할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표현을 바꿔도 잘못 추정한 depth와 calibration 오차는 그대로 남는다.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B9EAE-38CA-4EF8-901A-584E3DCC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9, p. 36. Image depth to pseudo point cloud and 3D detector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66708-9293-4695-A2FD-6B6FCE27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071200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09F75-B16E-4612-AFFB-FAD455A5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PointNet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916AD-C1E3-470E-82A7-C9E49AF6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Shared MLP과 symmetric max pooling이 point 순서에 무관한 global feature를 만든다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1624E-C024-40F3-B710-C0DD215642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ae5ef44ff4e7c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192F8-D796-409E-8568-D1C8B458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특징이 p1=(1,5), p2=(4,2), p3=(3,7)이면 max는 (4,7)이다.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점 순서를 바꿔도 후보 값 집합과 max가 같지만 좌표 회전 불변성까지 보장하지는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7735F-BBC4-4BB3-A5CA-A835B3F6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10, p. 12. Point-wise MLP, max pooling, and global 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823C1-7BBB-476A-BE4B-F454A422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89759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DC80B-6B3B-4432-904D-E839B433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3D Representations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BB76D-244C-4419-B951-AB46FB69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같은 point cloud도 표현에 따라 보존 정보와 계산 구조가 달라진다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52893-BB99-484E-95DD-420ECC9C1678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781300"/>
                <a:gridCol w="2781300"/>
                <a:gridCol w="27813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Representation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Preserves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Tradeoff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Example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Raw points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개별 3D 측정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불규칙 집합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PointNet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Voxels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3D local grid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양자화와 sparse 계산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VoxelNet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BEV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지면 footprint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height 요약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PIXOR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Image projection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RGB 대응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가림과 희소성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Fusion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93668-E93E-4ED4-AE82-9395983D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Point는 개별 측정을 유지하고 voxel은 3D grid 이웃을 만든다.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BEV는 높이를 channel이나 통계로 요약해 2D convolution을 쉽게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0CBDC-CDF9-48DA-B6A7-0E03EB06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183947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9E08C-4243-4614-91A9-9077BEBE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VoxelNet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637BB-B8F0-4B0D-A036-9DBDC2A3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VoxelNet은 voxel 내부의 point 특징을 학습하고 3D grid에서 이웃 정보를 모은다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93831-3BEA-4C8E-9B97-942EBDE608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fe1fc98674e25"/>
          <a:stretch xmlns:a="http://schemas.openxmlformats.org/drawingml/2006/main"/>
        </p:blipFill>
        <p:spPr>
          <a:xfrm xmlns:a="http://schemas.openxmlformats.org/drawingml/2006/main">
            <a:off x="802525" y="2057400"/>
            <a:ext cx="6605501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843A8-89A6-4155-B2B6-97435FC3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VFE는 point 특징과 voxel별 max feature를 결합해 sparse voxel tensor를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3D convolution 뒤 height 정보를 channel로 합쳐 BEV detection head에 전달한다.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92226-3A60-4083-B694-0662E470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10, p. 29. Voxel partition, grouping, sampling, and VFE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8F76A-D81E-4F85-BF93-14AD306D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085558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748CA-BBEA-46BB-A933-9B6E835A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Frustum PointNets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FBBAD-DF38-4D3C-827B-2C2C1B33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Frustum PointNets는 image box로 3D 탐색 범위를 줄인 뒤 point를 처리한다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8E594-6C27-4D05-AE63-C5A0E22870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ea0f9e7844e7a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165BC-6F4D-4A17-A155-8DFC868F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객체 point 분리, 중심 보정, amodal 3D box 추정이 세 단계로 이어진다.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2D detector가 객체를 놓치면 frustum이 생기지 않아 뒤 단계도 복구하기 어렵다.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9F3AC-4E69-4EC0-8D9E-028473CB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11, p. 14. Image proposal, point segmentation, and 3D box estimation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070D7-DDDB-438A-AFC1-1BFA1CF7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997510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7DA8C-189F-4D5F-A2B6-9832F397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MV3D Fusion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CCC9C-47BC-4CF5-A49C-1F04A182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MV3D는 LiDAR BEV proposal을 여러 view에 투영해 feature를 결합한다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4F64A-E768-467E-9B6A-FFC1D94026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948fb309b414b"/>
          <a:stretch xmlns:a="http://schemas.openxmlformats.org/drawingml/2006/main"/>
        </p:blipFill>
        <p:spPr>
          <a:xfrm xmlns:a="http://schemas.openxmlformats.org/drawingml/2006/main">
            <a:off x="802525" y="2057400"/>
            <a:ext cx="6605501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EF493-6604-4F87-9488-5D775981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BEV, LiDAR front view, RGB의 RoI feature를 같은 3D proposal 단위로 맞춘다.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Calibration이나 BEV proposal이 틀리면 deep fusion 뒤에도 오류가 남는다.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51F19-AE11-4B88-8C5E-441A76D3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11, p. 21. BEV proposals and deep fusion across three 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034E7-69D2-4BE3-AA91-45676868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135454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C48E6-F583-47E6-85A5-852EBE05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Lab 1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1EEF6-39B9-453D-93F6-0E406EBB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Lab 1은 two-stage proposal과 one-stage dense prediction을 같은 image에서 추적한다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E87B7-C177-4208-A18B-0C9BDECBDF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d90aae0584134"/>
          <a:stretch xmlns:a="http://schemas.openxmlformats.org/drawingml/2006/main"/>
        </p:blipFill>
        <p:spPr>
          <a:xfrm xmlns:a="http://schemas.openxmlformats.org/drawingml/2006/main">
            <a:off x="533400" y="2536427"/>
            <a:ext cx="7143750" cy="275669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BE68B-5112-4C65-B8C1-D35C1BD7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청록 box는 RPN top-50 proposal이고 흰 점선은 GT다.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초기화와 COCO 모델의 차이는 저장된 한 출력이며 proposal 수만으로 성능을 판정할 수 없다.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F9EB0-5774-4549-AD0B-15BE22E1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Lab 1 solution notebook, cell 27. Saved RPN proposals before final classification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E73D6-3BD9-4359-A6DA-B2BFE8CE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599179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7FB2A-905E-4D35-A8B9-D9D940DC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Lab 2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F142D-5536-4CEB-9D81-2D053AB8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Lab 2는 point range, voxel size, point cap을 분리해 sparse tensor를 만든다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6D53D-8A83-4706-9DBE-FAFCFA754F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c9a8a4a654411"/>
          <a:stretch xmlns:a="http://schemas.openxmlformats.org/drawingml/2006/main"/>
        </p:blipFill>
        <p:spPr>
          <a:xfrm xmlns:a="http://schemas.openxmlformats.org/drawingml/2006/main">
            <a:off x="533400" y="2883564"/>
            <a:ext cx="7143750" cy="206242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225CD-9793-4767-A42B-AFC11F59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Voxel은 0.2×0.2×0.4 m이고 grid는 256×256×10이다.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T=32는 voxel당 point cap이다. 저장 AP는 synthetic center-distance AP이며 KITTI 공식 성능이 아니다.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02931-7858-46E9-8E67-6DB1275B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Lab 2 notebook, cell 25. Point-count histogram and voxel grids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F8457-9B81-41CB-BBD1-A735C908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49330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06817-613B-4380-A2DF-D859A695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Final 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B737E-B110-4CF6-B600-36CB7C81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측정값, 표현, 후보, 예측, 평가를 같은 흐름으로 연결하면 모델 차이가 보인다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D4F14-EA02-403F-BAC0-AF05BCB27A05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62600"/>
                <a:gridCol w="5562600"/>
              </a:tblGrid>
              <a:tr h="520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Question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Check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무엇을 측정했나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sensor와 coordinate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어떻게 표현했나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image, point, voxel, BEV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후보는 어디서 왔나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anchor, point, image, BEV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무엇을 예측했나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class, box, mask, depth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어떻게 평가했나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IoU, matching, PR, AP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D867F-D197-44B5-82DA-F28CB252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수식은 좌표계와 단위를 먼저 확인하고 작은 수치로 검산한다.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논문 비교에서는 직접 확장과 같은 문제의 대안을 구분한다.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A08B9-15FC-4001-B9B0-3E99C34A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53469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2026-10-18T10:55:21.9960000Z</dcterms:created>
  <dcterms:modified xsi:type="dcterms:W3CDTF">2026-10-18T10:55:21.9960000Z</dcterms:modified>
</coreProperties>
</file>